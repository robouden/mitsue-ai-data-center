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6"/>
          <a:sy n="0" d="2"/>
        </p:scale>
        <p:origin x="1212807120"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750548957"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274612746"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1907767722"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320257747"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603665356"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396831922"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D3CFB75A-811A-4B4A-8D8D-529027194582}"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2630879" name="PlaceHolder 1"/>
          <p:cNvSpPr>
            <a:spLocks noGrp="1"/>
          </p:cNvSpPr>
          <p:nvPr>
            <p:ph type="sldImg"/>
          </p:nvPr>
        </p:nvSpPr>
        <p:spPr bwMode="auto">
          <a:xfrm>
            <a:off x="685800" y="1143000"/>
            <a:ext cx="5485680" cy="3085560"/>
          </a:xfrm>
          <a:prstGeom prst="rect">
            <a:avLst/>
          </a:prstGeom>
          <a:ln w="0">
            <a:noFill/>
          </a:ln>
        </p:spPr>
      </p:sp>
      <p:sp>
        <p:nvSpPr>
          <p:cNvPr id="2661452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468875217"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E99B006-4D73-41F3-9242-38B7786BC3E0}"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6699440" name="PlaceHolder 1"/>
          <p:cNvSpPr>
            <a:spLocks noGrp="1"/>
          </p:cNvSpPr>
          <p:nvPr>
            <p:ph type="sldImg"/>
          </p:nvPr>
        </p:nvSpPr>
        <p:spPr bwMode="auto">
          <a:xfrm>
            <a:off x="685800" y="1143000"/>
            <a:ext cx="5485680" cy="3085560"/>
          </a:xfrm>
          <a:prstGeom prst="rect">
            <a:avLst/>
          </a:prstGeom>
          <a:ln w="0">
            <a:noFill/>
          </a:ln>
        </p:spPr>
      </p:sp>
      <p:sp>
        <p:nvSpPr>
          <p:cNvPr id="92776786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en-US" sz="2000" b="0" u="none" strike="noStrike">
                <a:solidFill>
                  <a:srgbClr val="000000"/>
                </a:solidFill>
                <a:latin typeface="Arial"/>
              </a:rPr>
              <a:t>s, event. Just trust-building, charter drafting, and assembling the founding team.</a:t>
            </a:r>
            <a:endParaRPr lang="en-US" sz="2000" b="0" u="none" strike="noStrike">
              <a:solidFill>
                <a:srgbClr val="000000"/>
              </a:solidFill>
              <a:latin typeface="Arial"/>
            </a:endParaRPr>
          </a:p>
        </p:txBody>
      </p:sp>
      <p:sp>
        <p:nvSpPr>
          <p:cNvPr id="587197072"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1129D0D-DA53-49F9-9B7A-2DA8B697D4A1}"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1114778" name="PlaceHolder 1"/>
          <p:cNvSpPr>
            <a:spLocks noGrp="1"/>
          </p:cNvSpPr>
          <p:nvPr>
            <p:ph type="sldImg"/>
          </p:nvPr>
        </p:nvSpPr>
        <p:spPr bwMode="auto">
          <a:xfrm>
            <a:off x="685800" y="1143000"/>
            <a:ext cx="5485680" cy="3085560"/>
          </a:xfrm>
          <a:prstGeom prst="rect">
            <a:avLst/>
          </a:prstGeom>
          <a:ln w="0">
            <a:noFill/>
          </a:ln>
        </p:spPr>
      </p:sp>
      <p:sp>
        <p:nvSpPr>
          <p:cNvPr id="192952727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en-US" sz="2000" b="0" u="none" strike="noStrike">
                <a:solidFill>
                  <a:srgbClr val="000000"/>
                </a:solidFill>
                <a:latin typeface="Arial"/>
              </a:rPr>
              <a:t>The Japanese passenger cars will be electric soon,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311799405"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BE72C9DA-4793-41A7-9CD0-88C10A52A55A}"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40645774" name="PlaceHolder 1"/>
          <p:cNvSpPr>
            <a:spLocks noGrp="1"/>
          </p:cNvSpPr>
          <p:nvPr>
            <p:ph type="sldImg"/>
          </p:nvPr>
        </p:nvSpPr>
        <p:spPr bwMode="auto">
          <a:xfrm>
            <a:off x="685800" y="1143000"/>
            <a:ext cx="5485680" cy="3085560"/>
          </a:xfrm>
          <a:prstGeom prst="rect">
            <a:avLst/>
          </a:prstGeom>
          <a:ln w="0">
            <a:noFill/>
          </a:ln>
        </p:spPr>
      </p:sp>
      <p:sp>
        <p:nvSpPr>
          <p:cNvPr id="178193500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en-US" sz="2000" b="0" u="none" strike="noStrike">
                <a:solidFill>
                  <a:srgbClr val="000000"/>
                </a:solidFill>
                <a:latin typeface="Arial"/>
              </a:rPr>
              <a:t>cedar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160213590"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124A28D8-90F5-4628-BAA7-6F66BBAB725D}"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3659671" name="PlaceHolder 1"/>
          <p:cNvSpPr>
            <a:spLocks noGrp="1"/>
          </p:cNvSpPr>
          <p:nvPr>
            <p:ph type="sldImg"/>
          </p:nvPr>
        </p:nvSpPr>
        <p:spPr bwMode="auto">
          <a:xfrm>
            <a:off x="685800" y="1143000"/>
            <a:ext cx="5485680" cy="3085560"/>
          </a:xfrm>
          <a:prstGeom prst="rect">
            <a:avLst/>
          </a:prstGeom>
          <a:ln w="0">
            <a:noFill/>
          </a:ln>
        </p:spPr>
      </p:sp>
      <p:sp>
        <p:nvSpPr>
          <p:cNvPr id="158417755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en-US" sz="2000" b="0" u="none" strike="noStrike">
                <a:solidFill>
                  <a:srgbClr val="000000"/>
                </a:solidFill>
                <a:latin typeface="Arial"/>
              </a:rPr>
              <a:t>cedar 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885736817"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D446A9A-4EF1-4B6D-B6DF-5DE9DA9CB5D9}"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3027885" name="PlaceHolder 1"/>
          <p:cNvSpPr>
            <a:spLocks noGrp="1"/>
          </p:cNvSpPr>
          <p:nvPr>
            <p:ph type="sldImg"/>
          </p:nvPr>
        </p:nvSpPr>
        <p:spPr bwMode="auto">
          <a:xfrm>
            <a:off x="685800" y="1143000"/>
            <a:ext cx="5485680" cy="3085560"/>
          </a:xfrm>
          <a:prstGeom prst="rect">
            <a:avLst/>
          </a:prstGeom>
          <a:ln w="0">
            <a:noFill/>
          </a:ln>
        </p:spPr>
      </p:sp>
      <p:sp>
        <p:nvSpPr>
          <p:cNvPr id="72640852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1086776485"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FFD885A-18A4-49F3-A9D0-5FBD5D1D577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5770154" name="PlaceHolder 1"/>
          <p:cNvSpPr>
            <a:spLocks noGrp="1"/>
          </p:cNvSpPr>
          <p:nvPr>
            <p:ph type="sldImg"/>
          </p:nvPr>
        </p:nvSpPr>
        <p:spPr bwMode="auto">
          <a:xfrm>
            <a:off x="685800" y="1143000"/>
            <a:ext cx="5485680" cy="3085560"/>
          </a:xfrm>
          <a:prstGeom prst="rect">
            <a:avLst/>
          </a:prstGeom>
          <a:ln w="0">
            <a:noFill/>
          </a:ln>
        </p:spPr>
      </p:sp>
      <p:sp>
        <p:nvSpPr>
          <p:cNvPr id="183790466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closed</a:t>
            </a:r>
            <a:r>
              <a:rPr lang="en-US" sz="2000" b="0" u="none" strike="noStrike">
                <a:solidFill>
                  <a:srgbClr val="000000"/>
                </a:solidFill>
                <a:latin typeface="Arial"/>
              </a:rPr>
              <a:t> school building or empty factory,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2105006913"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2A8DDE9C-CDA4-4B89-ACCD-11B700F96F76}"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394598" name="PlaceHolder 1"/>
          <p:cNvSpPr>
            <a:spLocks noGrp="1"/>
          </p:cNvSpPr>
          <p:nvPr>
            <p:ph type="sldImg"/>
          </p:nvPr>
        </p:nvSpPr>
        <p:spPr bwMode="auto">
          <a:xfrm>
            <a:off x="685800" y="1143000"/>
            <a:ext cx="5485680" cy="3085560"/>
          </a:xfrm>
          <a:prstGeom prst="rect">
            <a:avLst/>
          </a:prstGeom>
          <a:ln w="0">
            <a:noFill/>
          </a:ln>
        </p:spPr>
      </p:sp>
      <p:sp>
        <p:nvSpPr>
          <p:cNvPr id="15614898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2081786504"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9E78C7-CBF8-44D4-A702-70646A24E1D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3516272" name="PlaceHolder 1"/>
          <p:cNvSpPr>
            <a:spLocks noGrp="1"/>
          </p:cNvSpPr>
          <p:nvPr>
            <p:ph type="sldImg"/>
          </p:nvPr>
        </p:nvSpPr>
        <p:spPr bwMode="auto">
          <a:xfrm>
            <a:off x="685800" y="1143000"/>
            <a:ext cx="5485680" cy="3085560"/>
          </a:xfrm>
          <a:prstGeom prst="rect">
            <a:avLst/>
          </a:prstGeom>
          <a:ln w="0">
            <a:noFill/>
          </a:ln>
        </p:spPr>
      </p:sp>
      <p:sp>
        <p:nvSpPr>
          <p:cNvPr id="129306772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a:t>
            </a:r>
            <a:r>
              <a:rPr lang="en-US" sz="2000" b="0" u="none" strike="noStrike">
                <a:solidFill>
                  <a:srgbClr val="000000"/>
                </a:solidFill>
                <a:latin typeface="Arial"/>
              </a:rPr>
              <a:t>hree advisors have committed: Joi Ito, Ray Ozzie and Takuo Dome. And we have a project manager. 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1669323747"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BFB03E7-88E6-41E8-859B-AA1375368CE3}"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0398613" name="PlaceHolder 1"/>
          <p:cNvSpPr>
            <a:spLocks noGrp="1"/>
          </p:cNvSpPr>
          <p:nvPr>
            <p:ph type="sldImg"/>
          </p:nvPr>
        </p:nvSpPr>
        <p:spPr bwMode="auto">
          <a:xfrm>
            <a:off x="685800" y="1143000"/>
            <a:ext cx="5485680" cy="3085560"/>
          </a:xfrm>
          <a:prstGeom prst="rect">
            <a:avLst/>
          </a:prstGeom>
          <a:ln w="0">
            <a:noFill/>
          </a:ln>
        </p:spPr>
      </p:sp>
      <p:sp>
        <p:nvSpPr>
          <p:cNvPr id="140534406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866811722"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544B33AE-FBCF-46B6-84DE-8E1B65B01AEF}"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78246119" name="PlaceHolder 1"/>
          <p:cNvSpPr>
            <a:spLocks noGrp="1"/>
          </p:cNvSpPr>
          <p:nvPr>
            <p:ph type="sldImg"/>
          </p:nvPr>
        </p:nvSpPr>
        <p:spPr bwMode="auto">
          <a:xfrm>
            <a:off x="216000" y="812520"/>
            <a:ext cx="7126920" cy="4008600"/>
          </a:xfrm>
          <a:prstGeom prst="rect">
            <a:avLst/>
          </a:prstGeom>
          <a:ln w="0">
            <a:noFill/>
          </a:ln>
        </p:spPr>
      </p:sp>
      <p:sp>
        <p:nvSpPr>
          <p:cNvPr id="1362662274" name="PlaceHolder 2"/>
          <p:cNvSpPr>
            <a:spLocks noGrp="1"/>
          </p:cNvSpPr>
          <p:nvPr>
            <p:ph type="body"/>
          </p:nvPr>
        </p:nvSpPr>
        <p:spPr bwMode="auto">
          <a:xfrm>
            <a:off x="756000" y="5078520"/>
            <a:ext cx="6047280" cy="4810680"/>
          </a:xfrm>
          <a:prstGeom prst="rect">
            <a:avLst/>
          </a:prstGeom>
          <a:noFill/>
          <a:ln w="0">
            <a:noFill/>
          </a:ln>
        </p:spPr>
        <p:txBody>
          <a:bodyPr lIns="0" tIns="0" rIns="0" bIns="0" anchor="t">
            <a:noAutofit/>
          </a:bodyPr>
          <a:p>
            <a:pPr indent="0" algn="l">
              <a:buNone/>
              <a:defRPr/>
            </a:pPr>
            <a:endParaRPr lang="en-US" sz="1800" b="0" u="none" strike="noStrike">
              <a:solidFill>
                <a:srgbClr val="000000"/>
              </a:solidFill>
              <a:latin typeface="Arial"/>
            </a:endParaRPr>
          </a:p>
        </p:txBody>
      </p:sp>
      <p:sp>
        <p:nvSpPr>
          <p:cNvPr id="1131329546" name="PlaceHolder 3"/>
          <p:cNvSpPr>
            <a:spLocks noGrp="1"/>
          </p:cNvSpPr>
          <p:nvPr>
            <p:ph type="sldNum" idx="14"/>
          </p:nvPr>
        </p:nvSpPr>
        <p:spPr bwMode="auto">
          <a:xfrm>
            <a:off x="4278960" y="10157400"/>
            <a:ext cx="3280320" cy="533880"/>
          </a:xfrm>
          <a:prstGeom prst="rect">
            <a:avLst/>
          </a:prstGeom>
          <a:noFill/>
          <a:ln w="0">
            <a:noFill/>
          </a:ln>
        </p:spPr>
        <p:txBody>
          <a:bodyPr lIns="0" tIns="0" rIns="0" bIns="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5267043" name="PlaceHolder 1"/>
          <p:cNvSpPr>
            <a:spLocks noGrp="1"/>
          </p:cNvSpPr>
          <p:nvPr>
            <p:ph type="sldImg"/>
          </p:nvPr>
        </p:nvSpPr>
        <p:spPr bwMode="auto">
          <a:xfrm>
            <a:off x="685800" y="1143000"/>
            <a:ext cx="5485680" cy="3085560"/>
          </a:xfrm>
          <a:prstGeom prst="rect">
            <a:avLst/>
          </a:prstGeom>
          <a:ln w="0">
            <a:noFill/>
          </a:ln>
        </p:spPr>
      </p:sp>
      <p:sp>
        <p:nvSpPr>
          <p:cNvPr id="36722960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745640079"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E96DB6FB-C349-4983-A7D4-BEFEEA08711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430633854"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a:t>
            </a:r>
            <a:r>
              <a:rPr lang="en-US" sz="1800" b="0" u="none" strike="noStrike">
                <a:solidFill>
                  <a:schemeClr val="dk1"/>
                </a:solidFill>
                <a:latin typeface="Calibri"/>
              </a:rPr>
              <a:t>title text format</a:t>
            </a:r>
            <a:endParaRPr lang="en-US" sz="1800" b="0" u="none" strike="noStrike">
              <a:solidFill>
                <a:schemeClr val="dk1"/>
              </a:solidFill>
              <a:latin typeface="Calibri"/>
            </a:endParaRPr>
          </a:p>
        </p:txBody>
      </p:sp>
      <p:sp>
        <p:nvSpPr>
          <p:cNvPr id="605655601"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004173206" name="Shape 0"/>
          <p:cNvSpPr/>
          <p:nvPr/>
        </p:nvSpPr>
        <p:spPr bwMode="auto">
          <a:xfrm>
            <a:off x="1047600" y="762120"/>
            <a:ext cx="532800" cy="53280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547022097" name="Text 1"/>
          <p:cNvSpPr/>
          <p:nvPr/>
        </p:nvSpPr>
        <p:spPr bwMode="auto">
          <a:xfrm>
            <a:off x="1047600" y="762120"/>
            <a:ext cx="608760" cy="570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188513966" name="Text 2"/>
          <p:cNvSpPr/>
          <p:nvPr/>
        </p:nvSpPr>
        <p:spPr bwMode="auto">
          <a:xfrm>
            <a:off x="1714680" y="89532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258869023" name="Text 3"/>
          <p:cNvSpPr/>
          <p:nvPr/>
        </p:nvSpPr>
        <p:spPr bwMode="auto">
          <a:xfrm>
            <a:off x="11809800" y="762120"/>
            <a:ext cx="5592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1666264470" name="Text 4"/>
          <p:cNvSpPr/>
          <p:nvPr/>
        </p:nvSpPr>
        <p:spPr bwMode="auto">
          <a:xfrm>
            <a:off x="1047600" y="1866960"/>
            <a:ext cx="88290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433574570" name="Text 5"/>
          <p:cNvSpPr/>
          <p:nvPr/>
        </p:nvSpPr>
        <p:spPr bwMode="auto">
          <a:xfrm>
            <a:off x="1047600" y="2476440"/>
            <a:ext cx="8829000" cy="4825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543590805" name="Text 6"/>
          <p:cNvSpPr/>
          <p:nvPr/>
        </p:nvSpPr>
        <p:spPr bwMode="auto">
          <a:xfrm>
            <a:off x="1047600" y="7607880"/>
            <a:ext cx="4591440" cy="1237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1014897329" name="Image 0" descr="preencoded.png"/>
          <p:cNvPicPr/>
          <p:nvPr/>
        </p:nvPicPr>
        <p:blipFill rotWithShape="1">
          <a:blip r:embed="rId3"/>
          <a:stretch/>
        </p:blipFill>
        <p:spPr bwMode="auto">
          <a:xfrm>
            <a:off x="10382400" y="1866960"/>
            <a:ext cx="6857280" cy="6095160"/>
          </a:xfrm>
          <a:prstGeom prst="rect">
            <a:avLst/>
          </a:prstGeom>
          <a:noFill/>
          <a:ln w="0">
            <a:noFill/>
          </a:ln>
        </p:spPr>
      </p:pic>
      <p:sp>
        <p:nvSpPr>
          <p:cNvPr id="1281721574"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1168354844" name="Text 8"/>
          <p:cNvSpPr/>
          <p:nvPr/>
        </p:nvSpPr>
        <p:spPr bwMode="auto">
          <a:xfrm>
            <a:off x="13830480" y="9258480"/>
            <a:ext cx="3511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122211406"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16796399"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751511998"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2127413385" name="Text 3"/>
          <p:cNvSpPr/>
          <p:nvPr/>
        </p:nvSpPr>
        <p:spPr bwMode="auto">
          <a:xfrm>
            <a:off x="14451840" y="762120"/>
            <a:ext cx="2871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648405746" name="Text 4"/>
          <p:cNvSpPr/>
          <p:nvPr/>
        </p:nvSpPr>
        <p:spPr bwMode="auto">
          <a:xfrm>
            <a:off x="1047600" y="1695600"/>
            <a:ext cx="79459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943464520" name="Text 5"/>
          <p:cNvSpPr/>
          <p:nvPr/>
        </p:nvSpPr>
        <p:spPr bwMode="auto">
          <a:xfrm flipH="0" flipV="0">
            <a:off x="1047600" y="2182320"/>
            <a:ext cx="7945920" cy="374723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85000" lnSpcReduction="3000"/>
          </a:bodyPr>
          <a:p>
            <a:pPr defTabSz="914400">
              <a:lnSpc>
                <a:spcPct val="98000"/>
              </a:lnSpc>
              <a:tabLst>
                <a:tab pos="0" algn="l"/>
              </a:tabLst>
              <a:defRPr/>
            </a:pPr>
            <a:r>
              <a:rPr lang="en-US" sz="7200" b="0" u="none" strike="noStrike" spc="-85">
                <a:solidFill>
                  <a:srgbClr val="1F2A24"/>
                </a:solidFill>
                <a:latin typeface="Georgia"/>
                <a:ea typeface="Georgia"/>
              </a:rPr>
              <a:t>One vacant school building. One </a:t>
            </a:r>
            <a:r>
              <a:rPr lang="en-US" sz="7200" b="0" i="1" u="none" strike="noStrike" spc="-85">
                <a:solidFill>
                  <a:srgbClr val="C4663A"/>
                </a:solidFill>
                <a:latin typeface="Georgia"/>
                <a:ea typeface="Georgia"/>
              </a:rPr>
              <a:t>tired </a:t>
            </a:r>
            <a:r>
              <a:rPr lang="en-US" sz="7200" b="0" i="1" u="none" strike="noStrike" spc="-85">
                <a:solidFill>
                  <a:srgbClr val="C4663A"/>
                </a:solidFill>
                <a:latin typeface="Georgia"/>
                <a:ea typeface="Georgia"/>
              </a:rPr>
              <a:t>forest. </a:t>
            </a:r>
            <a:r>
              <a:rPr lang="en-US" sz="7200" b="0" u="none" strike="noStrike" spc="-85">
                <a:solidFill>
                  <a:srgbClr val="1F2A24"/>
                </a:solidFill>
                <a:latin typeface="Georgia"/>
                <a:ea typeface="Georgia"/>
              </a:rPr>
              <a:t>One short list of ideas.</a:t>
            </a:r>
            <a:endParaRPr lang="en-US" sz="7200" b="0" u="none" strike="noStrike">
              <a:solidFill>
                <a:srgbClr val="000000"/>
              </a:solidFill>
              <a:latin typeface="Arial"/>
            </a:endParaRPr>
          </a:p>
        </p:txBody>
      </p:sp>
      <p:sp>
        <p:nvSpPr>
          <p:cNvPr id="198465412" name="Text 6"/>
          <p:cNvSpPr/>
          <p:nvPr/>
        </p:nvSpPr>
        <p:spPr bwMode="auto">
          <a:xfrm>
            <a:off x="1102320" y="6118200"/>
            <a:ext cx="7945920" cy="158436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t>
            </a:r>
            <a:r>
              <a:rPr lang="en-US" sz="2100" b="0" u="none" strike="noStrike">
                <a:solidFill>
                  <a:srgbClr val="1F2A24"/>
                </a:solidFill>
                <a:latin typeface="Arial"/>
                <a:ea typeface="Arial"/>
              </a:rPr>
              <a:t>and moved to a new building — the old building sits empty. The cedar plantations around it are old and </a:t>
            </a:r>
            <a:r>
              <a:rPr lang="en-US" sz="2100" b="0" u="none" strike="noStrike">
                <a:solidFill>
                  <a:srgbClr val="1F2A24"/>
                </a:solidFill>
                <a:latin typeface="Arial"/>
                <a:ea typeface="Arial"/>
              </a:rPr>
              <a:t>unmanaged. The grid is fragile. None of this is unusual in rural Japan — that's the whole point.</a:t>
            </a:r>
            <a:endParaRPr lang="en-US" sz="2100" b="0" u="none" strike="noStrike">
              <a:solidFill>
                <a:srgbClr val="000000"/>
              </a:solidFill>
              <a:latin typeface="Arial"/>
            </a:endParaRPr>
          </a:p>
        </p:txBody>
      </p:sp>
      <p:sp>
        <p:nvSpPr>
          <p:cNvPr id="1588536600" name="Text 7"/>
          <p:cNvSpPr/>
          <p:nvPr/>
        </p:nvSpPr>
        <p:spPr bwMode="auto">
          <a:xfrm>
            <a:off x="1143000" y="8229600"/>
            <a:ext cx="794592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453192630" name="Shape 8"/>
          <p:cNvSpPr/>
          <p:nvPr/>
        </p:nvSpPr>
        <p:spPr bwMode="auto">
          <a:xfrm>
            <a:off x="9655920" y="2391480"/>
            <a:ext cx="7714440" cy="5094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90936813" name="Text 9"/>
          <p:cNvSpPr/>
          <p:nvPr/>
        </p:nvSpPr>
        <p:spPr bwMode="auto">
          <a:xfrm>
            <a:off x="10008360" y="2743920"/>
            <a:ext cx="7220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1431958589" name="Text 10"/>
          <p:cNvSpPr/>
          <p:nvPr/>
        </p:nvSpPr>
        <p:spPr bwMode="auto">
          <a:xfrm>
            <a:off x="10008360" y="3258360"/>
            <a:ext cx="7220160" cy="1561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653053467" name="Shape 11"/>
          <p:cNvSpPr/>
          <p:nvPr/>
        </p:nvSpPr>
        <p:spPr bwMode="auto">
          <a:xfrm>
            <a:off x="10008360" y="5087160"/>
            <a:ext cx="700956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883410657" name="Text 12"/>
          <p:cNvSpPr/>
          <p:nvPr/>
        </p:nvSpPr>
        <p:spPr bwMode="auto">
          <a:xfrm>
            <a:off x="1000836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499477391" name="Text 13"/>
          <p:cNvSpPr/>
          <p:nvPr/>
        </p:nvSpPr>
        <p:spPr bwMode="auto">
          <a:xfrm>
            <a:off x="1000836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424657135" name="Text 14"/>
          <p:cNvSpPr/>
          <p:nvPr/>
        </p:nvSpPr>
        <p:spPr bwMode="auto">
          <a:xfrm>
            <a:off x="1362780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769546842" name="Text 15"/>
          <p:cNvSpPr/>
          <p:nvPr/>
        </p:nvSpPr>
        <p:spPr bwMode="auto">
          <a:xfrm>
            <a:off x="1362780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721973220" name="Text 16"/>
          <p:cNvSpPr/>
          <p:nvPr/>
        </p:nvSpPr>
        <p:spPr bwMode="auto">
          <a:xfrm>
            <a:off x="1000836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1410965123" name="Text 17"/>
          <p:cNvSpPr/>
          <p:nvPr/>
        </p:nvSpPr>
        <p:spPr bwMode="auto">
          <a:xfrm>
            <a:off x="1000836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1132652736" name="Text 18"/>
          <p:cNvSpPr/>
          <p:nvPr/>
        </p:nvSpPr>
        <p:spPr bwMode="auto">
          <a:xfrm>
            <a:off x="1362780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1734057368" name="Text 19"/>
          <p:cNvSpPr/>
          <p:nvPr/>
        </p:nvSpPr>
        <p:spPr bwMode="auto">
          <a:xfrm>
            <a:off x="1362780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883203456" name="Text 20"/>
          <p:cNvSpPr/>
          <p:nvPr/>
        </p:nvSpPr>
        <p:spPr bwMode="auto">
          <a:xfrm>
            <a:off x="8993880" y="9565200"/>
            <a:ext cx="79459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2045005227" name="Text 21"/>
          <p:cNvSpPr/>
          <p:nvPr/>
        </p:nvSpPr>
        <p:spPr bwMode="auto">
          <a:xfrm>
            <a:off x="1143000" y="952524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1004241967" name="Text 22"/>
          <p:cNvSpPr/>
          <p:nvPr/>
        </p:nvSpPr>
        <p:spPr bwMode="auto">
          <a:xfrm>
            <a:off x="16137000" y="9525240"/>
            <a:ext cx="1464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609269197"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19626256"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854051155"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473541075" name="Text 3"/>
          <p:cNvSpPr/>
          <p:nvPr/>
        </p:nvSpPr>
        <p:spPr bwMode="auto">
          <a:xfrm>
            <a:off x="11188079" y="762120"/>
            <a:ext cx="6233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856675607" name="Text 4"/>
          <p:cNvSpPr/>
          <p:nvPr/>
        </p:nvSpPr>
        <p:spPr bwMode="auto">
          <a:xfrm>
            <a:off x="1047600" y="1619280"/>
            <a:ext cx="1387152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589304260" name="Text 5"/>
          <p:cNvSpPr/>
          <p:nvPr/>
        </p:nvSpPr>
        <p:spPr bwMode="auto">
          <a:xfrm>
            <a:off x="1047600" y="3554280"/>
            <a:ext cx="1667772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337715177" name="Shape 6"/>
          <p:cNvSpPr/>
          <p:nvPr/>
        </p:nvSpPr>
        <p:spPr bwMode="auto">
          <a:xfrm>
            <a:off x="10476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32257165" name="Text 7"/>
          <p:cNvSpPr/>
          <p:nvPr/>
        </p:nvSpPr>
        <p:spPr bwMode="auto">
          <a:xfrm>
            <a:off x="10476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1709900708" name="Image 0" descr="preencoded.png"/>
          <p:cNvPicPr/>
          <p:nvPr/>
        </p:nvPicPr>
        <p:blipFill rotWithShape="1">
          <a:blip r:embed="rId3"/>
          <a:stretch/>
        </p:blipFill>
        <p:spPr bwMode="auto">
          <a:xfrm>
            <a:off x="1047600" y="5078520"/>
            <a:ext cx="3832920" cy="1142280"/>
          </a:xfrm>
          <a:prstGeom prst="rect">
            <a:avLst/>
          </a:prstGeom>
          <a:noFill/>
          <a:ln w="0">
            <a:noFill/>
          </a:ln>
        </p:spPr>
      </p:pic>
      <p:sp>
        <p:nvSpPr>
          <p:cNvPr id="1028486687" name="Text 8"/>
          <p:cNvSpPr/>
          <p:nvPr/>
        </p:nvSpPr>
        <p:spPr bwMode="auto">
          <a:xfrm>
            <a:off x="10476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Japan targets 100% electrified new car sales by 2035.</a:t>
            </a:r>
            <a:endParaRPr lang="en-US" sz="3000" b="0" u="none" strike="noStrike">
              <a:solidFill>
                <a:srgbClr val="000000"/>
              </a:solidFill>
              <a:latin typeface="Arial"/>
            </a:endParaRPr>
          </a:p>
        </p:txBody>
      </p:sp>
      <p:sp>
        <p:nvSpPr>
          <p:cNvPr id="263400866" name="Text 9"/>
          <p:cNvSpPr/>
          <p:nvPr/>
        </p:nvSpPr>
        <p:spPr bwMode="auto">
          <a:xfrm>
            <a:off x="1047600" y="7269840"/>
            <a:ext cx="3948120" cy="1058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In the EVs, PHEVs and FCVs — not pure-EV. Rural grids need distributed generation and charging; extension is slow and expensive.</a:t>
            </a:r>
            <a:endParaRPr lang="en-US" sz="1800" b="0" u="none" strike="noStrike">
              <a:solidFill>
                <a:srgbClr val="000000"/>
              </a:solidFill>
              <a:latin typeface="Arial"/>
            </a:endParaRPr>
          </a:p>
        </p:txBody>
      </p:sp>
      <p:sp>
        <p:nvSpPr>
          <p:cNvPr id="857012340" name="Shape 10"/>
          <p:cNvSpPr/>
          <p:nvPr/>
        </p:nvSpPr>
        <p:spPr bwMode="auto">
          <a:xfrm>
            <a:off x="516744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05259894" name="Text 11"/>
          <p:cNvSpPr/>
          <p:nvPr/>
        </p:nvSpPr>
        <p:spPr bwMode="auto">
          <a:xfrm>
            <a:off x="516744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1905734407" name="Image 1" descr="preencoded.png"/>
          <p:cNvPicPr/>
          <p:nvPr/>
        </p:nvPicPr>
        <p:blipFill rotWithShape="1">
          <a:blip r:embed="rId4"/>
          <a:stretch/>
        </p:blipFill>
        <p:spPr bwMode="auto">
          <a:xfrm>
            <a:off x="5167440" y="5078520"/>
            <a:ext cx="3832920" cy="1142280"/>
          </a:xfrm>
          <a:prstGeom prst="rect">
            <a:avLst/>
          </a:prstGeom>
          <a:noFill/>
          <a:ln w="0">
            <a:noFill/>
          </a:ln>
        </p:spPr>
      </p:pic>
      <p:sp>
        <p:nvSpPr>
          <p:cNvPr id="845049481" name="Text 12"/>
          <p:cNvSpPr/>
          <p:nvPr/>
        </p:nvSpPr>
        <p:spPr bwMode="auto">
          <a:xfrm>
            <a:off x="516744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904609944" name="Text 13"/>
          <p:cNvSpPr/>
          <p:nvPr/>
        </p:nvSpPr>
        <p:spPr bwMode="auto">
          <a:xfrm>
            <a:off x="516744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1105947500" name="Shape 14"/>
          <p:cNvSpPr/>
          <p:nvPr/>
        </p:nvSpPr>
        <p:spPr bwMode="auto">
          <a:xfrm>
            <a:off x="928692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19099285" name="Text 15"/>
          <p:cNvSpPr/>
          <p:nvPr/>
        </p:nvSpPr>
        <p:spPr bwMode="auto">
          <a:xfrm>
            <a:off x="928692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1593823960" name="Image 2" descr="preencoded.png"/>
          <p:cNvPicPr/>
          <p:nvPr/>
        </p:nvPicPr>
        <p:blipFill rotWithShape="1">
          <a:blip r:embed="rId5"/>
          <a:stretch/>
        </p:blipFill>
        <p:spPr bwMode="auto">
          <a:xfrm>
            <a:off x="9286920" y="5078520"/>
            <a:ext cx="3832920" cy="1142280"/>
          </a:xfrm>
          <a:prstGeom prst="rect">
            <a:avLst/>
          </a:prstGeom>
          <a:noFill/>
          <a:ln w="0">
            <a:noFill/>
          </a:ln>
        </p:spPr>
      </p:pic>
      <p:sp>
        <p:nvSpPr>
          <p:cNvPr id="1131148519" name="Text 16"/>
          <p:cNvSpPr/>
          <p:nvPr/>
        </p:nvSpPr>
        <p:spPr bwMode="auto">
          <a:xfrm>
            <a:off x="928692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2129292524" name="Text 17"/>
          <p:cNvSpPr/>
          <p:nvPr/>
        </p:nvSpPr>
        <p:spPr bwMode="auto">
          <a:xfrm>
            <a:off x="928692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1046520962" name="Shape 18"/>
          <p:cNvSpPr/>
          <p:nvPr/>
        </p:nvSpPr>
        <p:spPr bwMode="auto">
          <a:xfrm>
            <a:off x="134064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32872716" name="Text 19"/>
          <p:cNvSpPr/>
          <p:nvPr/>
        </p:nvSpPr>
        <p:spPr bwMode="auto">
          <a:xfrm>
            <a:off x="134064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698315031" name="Image 3" descr="preencoded.png"/>
          <p:cNvPicPr/>
          <p:nvPr/>
        </p:nvPicPr>
        <p:blipFill rotWithShape="1">
          <a:blip r:embed="rId6"/>
          <a:stretch/>
        </p:blipFill>
        <p:spPr bwMode="auto">
          <a:xfrm>
            <a:off x="13406400" y="5078520"/>
            <a:ext cx="3832920" cy="1142280"/>
          </a:xfrm>
          <a:prstGeom prst="rect">
            <a:avLst/>
          </a:prstGeom>
          <a:noFill/>
          <a:ln w="0">
            <a:noFill/>
          </a:ln>
        </p:spPr>
      </p:pic>
      <p:sp>
        <p:nvSpPr>
          <p:cNvPr id="1929013258" name="Text 20"/>
          <p:cNvSpPr/>
          <p:nvPr/>
        </p:nvSpPr>
        <p:spPr bwMode="auto">
          <a:xfrm>
            <a:off x="134064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1803314817" name="Text 21"/>
          <p:cNvSpPr/>
          <p:nvPr/>
        </p:nvSpPr>
        <p:spPr bwMode="auto">
          <a:xfrm>
            <a:off x="13425120" y="725112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1688444490" name="Text 2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1015079905" name="Text 23"/>
          <p:cNvSpPr/>
          <p:nvPr/>
        </p:nvSpPr>
        <p:spPr bwMode="auto">
          <a:xfrm>
            <a:off x="10411200" y="9258480"/>
            <a:ext cx="7033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268467146"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7611820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322859923"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759218750"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1333734001"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30057193" name="Text 5"/>
          <p:cNvSpPr/>
          <p:nvPr/>
        </p:nvSpPr>
        <p:spPr bwMode="auto">
          <a:xfrm>
            <a:off x="1047600" y="1790640"/>
            <a:ext cx="16677720" cy="367596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0000" lnSpcReduction="2000"/>
          </a:bodyPr>
          <a:p>
            <a:pPr defTabSz="914400">
              <a:lnSpc>
                <a:spcPct val="95000"/>
              </a:lnSpc>
              <a:tabLst>
                <a:tab pos="0" algn="l"/>
              </a:tabLst>
              <a:defRPr/>
            </a:pPr>
            <a:r>
              <a:rPr lang="en-US" sz="14000" b="0" u="none" strike="noStrike" spc="-150" baseline="-25000">
                <a:solidFill>
                  <a:srgbClr val="F3ECE0"/>
                </a:solidFill>
                <a:latin typeface="Georgia"/>
                <a:ea typeface="Georgia"/>
              </a:rPr>
              <a:t>Forest. Power. Compute. </a:t>
            </a:r>
            <a:r>
              <a:rPr lang="en-US" sz="14000" b="0" i="1" u="none" strike="noStrike" spc="-150" baseline="-25000">
                <a:solidFill>
                  <a:srgbClr val="F3B486"/>
                </a:solidFill>
                <a:latin typeface="Georgia"/>
                <a:ea typeface="Georgia"/>
              </a:rPr>
              <a:t>One ledger.</a:t>
            </a:r>
            <a:endParaRPr lang="en-US" sz="14000" b="0" u="none" strike="noStrike">
              <a:solidFill>
                <a:srgbClr val="FFFFFF"/>
              </a:solidFill>
              <a:latin typeface="Arial"/>
            </a:endParaRPr>
          </a:p>
        </p:txBody>
      </p:sp>
      <p:sp>
        <p:nvSpPr>
          <p:cNvPr id="850663365" name="Text 6"/>
          <p:cNvSpPr/>
          <p:nvPr/>
        </p:nvSpPr>
        <p:spPr bwMode="auto">
          <a:xfrm>
            <a:off x="1047600" y="5829480"/>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515815850"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1476740264"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1108891662"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768165503"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59708828"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199735488"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61164894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33581021"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352231564"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813999085"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1216223217"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429393622"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55284009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52170144"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731596405" name="Text 3"/>
          <p:cNvSpPr/>
          <p:nvPr/>
        </p:nvSpPr>
        <p:spPr bwMode="auto">
          <a:xfrm>
            <a:off x="12376800" y="762120"/>
            <a:ext cx="50086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544714218" name="Text 4"/>
          <p:cNvSpPr/>
          <p:nvPr/>
        </p:nvSpPr>
        <p:spPr bwMode="auto">
          <a:xfrm>
            <a:off x="1047600" y="1695600"/>
            <a:ext cx="8324280" cy="251100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1353394200" name="Text 5"/>
          <p:cNvSpPr/>
          <p:nvPr/>
        </p:nvSpPr>
        <p:spPr bwMode="auto">
          <a:xfrm>
            <a:off x="1047600" y="4340520"/>
            <a:ext cx="8324280" cy="1584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1203772219" name="Text 6"/>
          <p:cNvSpPr/>
          <p:nvPr/>
        </p:nvSpPr>
        <p:spPr bwMode="auto">
          <a:xfrm>
            <a:off x="1047600" y="6154200"/>
            <a:ext cx="832428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1142151014" name="Text 7"/>
          <p:cNvSpPr/>
          <p:nvPr/>
        </p:nvSpPr>
        <p:spPr bwMode="auto">
          <a:xfrm>
            <a:off x="1047600" y="7194240"/>
            <a:ext cx="832428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1093284061" name="Text 9"/>
          <p:cNvSpPr/>
          <p:nvPr/>
        </p:nvSpPr>
        <p:spPr bwMode="auto">
          <a:xfrm>
            <a:off x="104760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1346438252" name="Text 10"/>
          <p:cNvSpPr/>
          <p:nvPr/>
        </p:nvSpPr>
        <p:spPr bwMode="auto">
          <a:xfrm>
            <a:off x="104760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251056123" name="Text 11"/>
          <p:cNvSpPr/>
          <p:nvPr/>
        </p:nvSpPr>
        <p:spPr bwMode="auto">
          <a:xfrm>
            <a:off x="383724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1450712891" name="Text 12"/>
          <p:cNvSpPr/>
          <p:nvPr/>
        </p:nvSpPr>
        <p:spPr bwMode="auto">
          <a:xfrm>
            <a:off x="383724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305586657" name="Text 13"/>
          <p:cNvSpPr/>
          <p:nvPr/>
        </p:nvSpPr>
        <p:spPr bwMode="auto">
          <a:xfrm>
            <a:off x="662652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1771350161" name="Text 14"/>
          <p:cNvSpPr/>
          <p:nvPr/>
        </p:nvSpPr>
        <p:spPr bwMode="auto">
          <a:xfrm>
            <a:off x="662652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365561957" name="Shape 15"/>
          <p:cNvSpPr/>
          <p:nvPr/>
        </p:nvSpPr>
        <p:spPr bwMode="auto">
          <a:xfrm>
            <a:off x="9892440" y="1695600"/>
            <a:ext cx="7347240" cy="3333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92245725" name="Text 16"/>
          <p:cNvSpPr/>
          <p:nvPr/>
        </p:nvSpPr>
        <p:spPr bwMode="auto">
          <a:xfrm>
            <a:off x="10168560" y="197172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2087583831" name="Image 0" descr="preencoded.png"/>
          <p:cNvPicPr/>
          <p:nvPr/>
        </p:nvPicPr>
        <p:blipFill rotWithShape="1">
          <a:blip r:embed="rId3"/>
          <a:stretch/>
        </p:blipFill>
        <p:spPr bwMode="auto">
          <a:xfrm>
            <a:off x="10168560" y="2486160"/>
            <a:ext cx="6794640" cy="1523160"/>
          </a:xfrm>
          <a:prstGeom prst="rect">
            <a:avLst/>
          </a:prstGeom>
          <a:noFill/>
          <a:ln w="0">
            <a:noFill/>
          </a:ln>
        </p:spPr>
      </p:pic>
      <p:sp>
        <p:nvSpPr>
          <p:cNvPr id="710141801" name="Text 17"/>
          <p:cNvSpPr/>
          <p:nvPr/>
        </p:nvSpPr>
        <p:spPr bwMode="auto">
          <a:xfrm>
            <a:off x="10168560" y="404820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194854043" name="Shape 18"/>
          <p:cNvSpPr/>
          <p:nvPr/>
        </p:nvSpPr>
        <p:spPr bwMode="auto">
          <a:xfrm>
            <a:off x="9892440" y="5729760"/>
            <a:ext cx="7347240" cy="31852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73120865" name="Text 19"/>
          <p:cNvSpPr/>
          <p:nvPr/>
        </p:nvSpPr>
        <p:spPr bwMode="auto">
          <a:xfrm>
            <a:off x="10168560" y="600588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969196761" name="Image 1" descr="preencoded.png"/>
          <p:cNvPicPr/>
          <p:nvPr/>
        </p:nvPicPr>
        <p:blipFill rotWithShape="1">
          <a:blip r:embed="rId4"/>
          <a:stretch/>
        </p:blipFill>
        <p:spPr bwMode="auto">
          <a:xfrm>
            <a:off x="10168560" y="6520320"/>
            <a:ext cx="6794640" cy="1523160"/>
          </a:xfrm>
          <a:prstGeom prst="rect">
            <a:avLst/>
          </a:prstGeom>
          <a:noFill/>
          <a:ln w="0">
            <a:noFill/>
          </a:ln>
        </p:spPr>
      </p:pic>
      <p:sp>
        <p:nvSpPr>
          <p:cNvPr id="274421649" name="Text 20"/>
          <p:cNvSpPr/>
          <p:nvPr/>
        </p:nvSpPr>
        <p:spPr bwMode="auto">
          <a:xfrm>
            <a:off x="10168560" y="808236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1077717134" name="Text 21"/>
          <p:cNvSpPr/>
          <p:nvPr/>
        </p:nvSpPr>
        <p:spPr bwMode="auto">
          <a:xfrm>
            <a:off x="1047600" y="953532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2094391823" name="Text 22"/>
          <p:cNvSpPr/>
          <p:nvPr/>
        </p:nvSpPr>
        <p:spPr bwMode="auto">
          <a:xfrm>
            <a:off x="9323280" y="9535320"/>
            <a:ext cx="81536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463850644"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273918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723066841"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781490413" name="Text 3"/>
          <p:cNvSpPr/>
          <p:nvPr/>
        </p:nvSpPr>
        <p:spPr bwMode="auto">
          <a:xfrm>
            <a:off x="12129840" y="762120"/>
            <a:ext cx="526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379619822" name="Text 4"/>
          <p:cNvSpPr/>
          <p:nvPr/>
        </p:nvSpPr>
        <p:spPr bwMode="auto">
          <a:xfrm>
            <a:off x="1047600" y="1695600"/>
            <a:ext cx="1502784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1330632677" name="Text 5"/>
          <p:cNvSpPr/>
          <p:nvPr/>
        </p:nvSpPr>
        <p:spPr bwMode="auto">
          <a:xfrm>
            <a:off x="1047600" y="3935519"/>
            <a:ext cx="1221696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1686980382" name="Shape 6"/>
          <p:cNvSpPr/>
          <p:nvPr/>
        </p:nvSpPr>
        <p:spPr bwMode="auto">
          <a:xfrm>
            <a:off x="952920" y="5640840"/>
            <a:ext cx="16191720" cy="28170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1357318734" name="Image 0" descr="preencoded.png"/>
          <p:cNvPicPr/>
          <p:nvPr/>
        </p:nvPicPr>
        <p:blipFill rotWithShape="1">
          <a:blip r:embed="rId3"/>
          <a:stretch/>
        </p:blipFill>
        <p:spPr bwMode="auto">
          <a:xfrm>
            <a:off x="1305360" y="5993280"/>
            <a:ext cx="15486840" cy="2112120"/>
          </a:xfrm>
          <a:prstGeom prst="rect">
            <a:avLst/>
          </a:prstGeom>
          <a:noFill/>
          <a:ln w="0">
            <a:noFill/>
          </a:ln>
        </p:spPr>
      </p:pic>
      <p:sp>
        <p:nvSpPr>
          <p:cNvPr id="1851927572"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1821421489" name="Text 8"/>
          <p:cNvSpPr/>
          <p:nvPr/>
        </p:nvSpPr>
        <p:spPr bwMode="auto">
          <a:xfrm>
            <a:off x="8546040" y="9258480"/>
            <a:ext cx="895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450573687"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38149171"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24481416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428564554" name="Text 3"/>
          <p:cNvSpPr/>
          <p:nvPr/>
        </p:nvSpPr>
        <p:spPr bwMode="auto">
          <a:xfrm>
            <a:off x="10859040" y="762120"/>
            <a:ext cx="6572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1862750881" name="Text 4"/>
          <p:cNvSpPr/>
          <p:nvPr/>
        </p:nvSpPr>
        <p:spPr bwMode="auto">
          <a:xfrm>
            <a:off x="1047600" y="1695600"/>
            <a:ext cx="7945920" cy="262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945676161" name="Text 5"/>
          <p:cNvSpPr/>
          <p:nvPr/>
        </p:nvSpPr>
        <p:spPr bwMode="auto">
          <a:xfrm>
            <a:off x="1047600" y="3710880"/>
            <a:ext cx="7945920" cy="198396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a:lnSpc>
                <a:spcPct val="100000"/>
              </a:lnSpc>
              <a:defRPr/>
            </a:pPr>
            <a:r>
              <a:rPr lang="en-US" sz="1900" b="0" u="none" strike="noStrike">
                <a:solidFill>
                  <a:srgbClr val="1F2A24"/>
                </a:solidFill>
                <a:latin typeface="Arial"/>
                <a:ea typeface="Arial"/>
              </a:rPr>
              <a:t>"A data center in the heart of the community."</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1F2A24"/>
                </a:solidFill>
                <a:latin typeface="Arial"/>
                <a:ea typeface="Arial"/>
              </a:rPr>
              <a:t>"The Mitsue Taiken Koryukan — a community exchange center available for reuse — repurposed as a small, energy-efficient edge-compute facility — powered entirely by locally generated renewable energy. Phase 2 expands into a larger old factory building in Mitsue."</a:t>
            </a:r>
            <a:endParaRPr lang="en-US" sz="1900" b="0" u="none" strike="noStrike">
              <a:solidFill>
                <a:srgbClr val="000000"/>
              </a:solidFill>
              <a:latin typeface="Arial"/>
            </a:endParaRPr>
          </a:p>
        </p:txBody>
      </p:sp>
      <p:sp>
        <p:nvSpPr>
          <p:cNvPr id="118531659" name="Text 6"/>
          <p:cNvSpPr/>
          <p:nvPr/>
        </p:nvSpPr>
        <p:spPr bwMode="auto">
          <a:xfrm>
            <a:off x="1047600" y="6017760"/>
            <a:ext cx="794592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817214533" name="Shape 7"/>
          <p:cNvSpPr/>
          <p:nvPr/>
        </p:nvSpPr>
        <p:spPr bwMode="auto">
          <a:xfrm>
            <a:off x="1047600" y="8251560"/>
            <a:ext cx="771444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780948148" name="Text 8"/>
          <p:cNvSpPr/>
          <p:nvPr/>
        </p:nvSpPr>
        <p:spPr bwMode="auto">
          <a:xfrm>
            <a:off x="104760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1351265593" name="Text 9"/>
          <p:cNvSpPr/>
          <p:nvPr/>
        </p:nvSpPr>
        <p:spPr bwMode="auto">
          <a:xfrm>
            <a:off x="104760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1605504758" name="Text 10"/>
          <p:cNvSpPr/>
          <p:nvPr/>
        </p:nvSpPr>
        <p:spPr bwMode="auto">
          <a:xfrm>
            <a:off x="36957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228167415" name="Text 11"/>
          <p:cNvSpPr/>
          <p:nvPr/>
        </p:nvSpPr>
        <p:spPr bwMode="auto">
          <a:xfrm>
            <a:off x="36957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1502307744" name="Text 12"/>
          <p:cNvSpPr/>
          <p:nvPr/>
        </p:nvSpPr>
        <p:spPr bwMode="auto">
          <a:xfrm>
            <a:off x="63435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766447647" name="Text 13"/>
          <p:cNvSpPr/>
          <p:nvPr/>
        </p:nvSpPr>
        <p:spPr bwMode="auto">
          <a:xfrm>
            <a:off x="63435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90623764" name="Shape 14"/>
          <p:cNvSpPr/>
          <p:nvPr/>
        </p:nvSpPr>
        <p:spPr bwMode="auto">
          <a:xfrm>
            <a:off x="9524880" y="1695600"/>
            <a:ext cx="7714440" cy="651384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18282047" name="Text 15"/>
          <p:cNvSpPr/>
          <p:nvPr/>
        </p:nvSpPr>
        <p:spPr bwMode="auto">
          <a:xfrm>
            <a:off x="10010880" y="2181240"/>
            <a:ext cx="6945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1665254792" name="Image 0" descr="preencoded.png"/>
          <p:cNvPicPr/>
          <p:nvPr/>
        </p:nvPicPr>
        <p:blipFill rotWithShape="1">
          <a:blip r:embed="rId3"/>
          <a:stretch/>
        </p:blipFill>
        <p:spPr bwMode="auto">
          <a:xfrm>
            <a:off x="10010880" y="2676600"/>
            <a:ext cx="6743160" cy="5009039"/>
          </a:xfrm>
          <a:prstGeom prst="rect">
            <a:avLst/>
          </a:prstGeom>
          <a:noFill/>
          <a:ln w="0">
            <a:noFill/>
          </a:ln>
        </p:spPr>
      </p:pic>
      <p:sp>
        <p:nvSpPr>
          <p:cNvPr id="1497777129" name="Text 16"/>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2042790936" name="Text 17"/>
          <p:cNvSpPr/>
          <p:nvPr/>
        </p:nvSpPr>
        <p:spPr bwMode="auto">
          <a:xfrm>
            <a:off x="6836400" y="9258480"/>
            <a:ext cx="10715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35684241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19899553"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2044236616"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935124273" name="Text 3"/>
          <p:cNvSpPr/>
          <p:nvPr/>
        </p:nvSpPr>
        <p:spPr bwMode="auto">
          <a:xfrm>
            <a:off x="10877400" y="762120"/>
            <a:ext cx="6553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1580024837" name="Text 4"/>
          <p:cNvSpPr/>
          <p:nvPr/>
        </p:nvSpPr>
        <p:spPr bwMode="auto">
          <a:xfrm>
            <a:off x="1047600" y="1790640"/>
            <a:ext cx="16677720" cy="2332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1833154947" name="Text 5"/>
          <p:cNvSpPr/>
          <p:nvPr/>
        </p:nvSpPr>
        <p:spPr bwMode="auto">
          <a:xfrm>
            <a:off x="1047600" y="4486320"/>
            <a:ext cx="12216960" cy="424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2064789277" name="Shape 6"/>
          <p:cNvSpPr/>
          <p:nvPr/>
        </p:nvSpPr>
        <p:spPr bwMode="auto">
          <a:xfrm>
            <a:off x="104760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938517129" name="Text 7"/>
          <p:cNvSpPr/>
          <p:nvPr/>
        </p:nvSpPr>
        <p:spPr bwMode="auto">
          <a:xfrm>
            <a:off x="104760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314005200" name="Text 8"/>
          <p:cNvSpPr/>
          <p:nvPr/>
        </p:nvSpPr>
        <p:spPr bwMode="auto">
          <a:xfrm>
            <a:off x="86112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478162064" name="Shape 9"/>
          <p:cNvSpPr/>
          <p:nvPr/>
        </p:nvSpPr>
        <p:spPr bwMode="auto">
          <a:xfrm>
            <a:off x="657216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071256431" name="Text 10"/>
          <p:cNvSpPr/>
          <p:nvPr/>
        </p:nvSpPr>
        <p:spPr bwMode="auto">
          <a:xfrm>
            <a:off x="657216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2075582368" name="Text 11"/>
          <p:cNvSpPr/>
          <p:nvPr/>
        </p:nvSpPr>
        <p:spPr bwMode="auto">
          <a:xfrm>
            <a:off x="638568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1958589982" name="Shape 12"/>
          <p:cNvSpPr/>
          <p:nvPr/>
        </p:nvSpPr>
        <p:spPr bwMode="auto">
          <a:xfrm>
            <a:off x="1209672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682565265" name="Text 13"/>
          <p:cNvSpPr/>
          <p:nvPr/>
        </p:nvSpPr>
        <p:spPr bwMode="auto">
          <a:xfrm>
            <a:off x="1209672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288527730" name="Text 14"/>
          <p:cNvSpPr/>
          <p:nvPr/>
        </p:nvSpPr>
        <p:spPr bwMode="auto">
          <a:xfrm>
            <a:off x="1191024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2087232348" name="Text 15"/>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1481781152" name="Text 16"/>
          <p:cNvSpPr/>
          <p:nvPr/>
        </p:nvSpPr>
        <p:spPr bwMode="auto">
          <a:xfrm>
            <a:off x="8235360" y="9258480"/>
            <a:ext cx="9274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04244112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7913927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608524414"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308383756" name="Text 3"/>
          <p:cNvSpPr/>
          <p:nvPr/>
        </p:nvSpPr>
        <p:spPr bwMode="auto">
          <a:xfrm>
            <a:off x="11654640" y="76212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116478049" name="Text 4"/>
          <p:cNvSpPr/>
          <p:nvPr/>
        </p:nvSpPr>
        <p:spPr bwMode="auto">
          <a:xfrm>
            <a:off x="1047600" y="1657440"/>
            <a:ext cx="83242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488905955" name="Text 5"/>
          <p:cNvSpPr/>
          <p:nvPr/>
        </p:nvSpPr>
        <p:spPr bwMode="auto">
          <a:xfrm>
            <a:off x="1047600" y="2133720"/>
            <a:ext cx="8324280" cy="5000039"/>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861192776" name="Text 6"/>
          <p:cNvSpPr/>
          <p:nvPr/>
        </p:nvSpPr>
        <p:spPr bwMode="auto">
          <a:xfrm>
            <a:off x="1047600" y="5850720"/>
            <a:ext cx="824616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2071145913" name="Shape 7"/>
          <p:cNvSpPr/>
          <p:nvPr/>
        </p:nvSpPr>
        <p:spPr bwMode="auto">
          <a:xfrm>
            <a:off x="1047600" y="7353720"/>
            <a:ext cx="808200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50463145" name="Text 8"/>
          <p:cNvSpPr/>
          <p:nvPr/>
        </p:nvSpPr>
        <p:spPr bwMode="auto">
          <a:xfrm>
            <a:off x="1047600" y="7410960"/>
            <a:ext cx="832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257876874" name="Text 9"/>
          <p:cNvSpPr/>
          <p:nvPr/>
        </p:nvSpPr>
        <p:spPr bwMode="auto">
          <a:xfrm>
            <a:off x="1047600" y="7849080"/>
            <a:ext cx="333648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Joi Ito</a:t>
            </a:r>
            <a:endParaRPr lang="en-US" sz="3900" b="0" u="none" strike="noStrike">
              <a:solidFill>
                <a:srgbClr val="000000"/>
              </a:solidFill>
              <a:latin typeface="Arial"/>
            </a:endParaRPr>
          </a:p>
        </p:txBody>
      </p:sp>
      <p:sp>
        <p:nvSpPr>
          <p:cNvPr id="891883029" name="Text 10"/>
          <p:cNvSpPr/>
          <p:nvPr/>
        </p:nvSpPr>
        <p:spPr bwMode="auto">
          <a:xfrm>
            <a:off x="1047600" y="8448840"/>
            <a:ext cx="3336480" cy="7992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900" b="0" u="none" strike="noStrike">
                <a:solidFill>
                  <a:srgbClr val="4C554F"/>
                </a:solidFill>
                <a:latin typeface="Arial"/>
                <a:ea typeface="Arial"/>
              </a:rPr>
              <a:t>Former Director, </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4C554F"/>
                </a:solidFill>
                <a:latin typeface="Arial"/>
                <a:ea typeface="Arial"/>
              </a:rPr>
              <a:t>MIT Media Lab</a:t>
            </a:r>
            <a:endParaRPr lang="en-US" sz="1900" b="0" u="none" strike="noStrike">
              <a:solidFill>
                <a:srgbClr val="000000"/>
              </a:solidFill>
              <a:latin typeface="Arial"/>
            </a:endParaRPr>
          </a:p>
        </p:txBody>
      </p:sp>
      <p:sp>
        <p:nvSpPr>
          <p:cNvPr id="1171080026" name="Text 11"/>
          <p:cNvSpPr/>
          <p:nvPr/>
        </p:nvSpPr>
        <p:spPr bwMode="auto">
          <a:xfrm>
            <a:off x="3184920"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187419157" name="Text 12"/>
          <p:cNvSpPr/>
          <p:nvPr/>
        </p:nvSpPr>
        <p:spPr bwMode="auto">
          <a:xfrm>
            <a:off x="3184920" y="8448840"/>
            <a:ext cx="3807720" cy="79920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405778437" name="Shape 13"/>
          <p:cNvSpPr/>
          <p:nvPr/>
        </p:nvSpPr>
        <p:spPr bwMode="auto">
          <a:xfrm>
            <a:off x="9892440" y="1657440"/>
            <a:ext cx="7347240" cy="2757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77093762" name="Text 14"/>
          <p:cNvSpPr/>
          <p:nvPr/>
        </p:nvSpPr>
        <p:spPr bwMode="auto">
          <a:xfrm>
            <a:off x="10187640" y="19144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2040906494" name="Text 15"/>
          <p:cNvSpPr/>
          <p:nvPr/>
        </p:nvSpPr>
        <p:spPr bwMode="auto">
          <a:xfrm>
            <a:off x="10237320" y="2343240"/>
            <a:ext cx="6783480" cy="170892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Joi Ito, Ray Ozzie, Takuo Dome</a:t>
            </a:r>
            <a:endParaRPr lang="en-US" sz="1800" b="0" u="none" strike="noStrike">
              <a:solidFill>
                <a:srgbClr val="000000"/>
              </a:solidFill>
              <a:latin typeface="Arial"/>
            </a:endParaRPr>
          </a:p>
        </p:txBody>
      </p:sp>
      <p:sp>
        <p:nvSpPr>
          <p:cNvPr id="1937605928" name="Shape 16"/>
          <p:cNvSpPr/>
          <p:nvPr/>
        </p:nvSpPr>
        <p:spPr bwMode="auto">
          <a:xfrm>
            <a:off x="9892440" y="4624560"/>
            <a:ext cx="7347240" cy="2423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94021539" name="Text 17"/>
          <p:cNvSpPr/>
          <p:nvPr/>
        </p:nvSpPr>
        <p:spPr bwMode="auto">
          <a:xfrm>
            <a:off x="10187640" y="4881960"/>
            <a:ext cx="6959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623576847" name="Text 18"/>
          <p:cNvSpPr/>
          <p:nvPr/>
        </p:nvSpPr>
        <p:spPr bwMode="auto">
          <a:xfrm>
            <a:off x="10237320" y="528192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411236257" name="Shape 19"/>
          <p:cNvSpPr/>
          <p:nvPr/>
        </p:nvSpPr>
        <p:spPr bwMode="auto">
          <a:xfrm>
            <a:off x="9892440" y="7230240"/>
            <a:ext cx="7347240" cy="2270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5870783" name="Text 20"/>
          <p:cNvSpPr/>
          <p:nvPr/>
        </p:nvSpPr>
        <p:spPr bwMode="auto">
          <a:xfrm>
            <a:off x="10187640" y="75160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399647915" name="Text 21"/>
          <p:cNvSpPr/>
          <p:nvPr/>
        </p:nvSpPr>
        <p:spPr bwMode="auto">
          <a:xfrm>
            <a:off x="10237320" y="794484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1289328702" name="Text 22"/>
          <p:cNvSpPr/>
          <p:nvPr/>
        </p:nvSpPr>
        <p:spPr bwMode="auto">
          <a:xfrm>
            <a:off x="1061280" y="97596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938711488" name="Text 23"/>
          <p:cNvSpPr/>
          <p:nvPr/>
        </p:nvSpPr>
        <p:spPr bwMode="auto">
          <a:xfrm>
            <a:off x="11486880" y="975960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1511786505" name="Text 11"/>
          <p:cNvSpPr/>
          <p:nvPr/>
        </p:nvSpPr>
        <p:spPr bwMode="auto">
          <a:xfrm>
            <a:off x="5622840" y="79156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583813448" name="Text 12"/>
          <p:cNvSpPr/>
          <p:nvPr/>
        </p:nvSpPr>
        <p:spPr bwMode="auto">
          <a:xfrm>
            <a:off x="5608800" y="8448840"/>
            <a:ext cx="3520800" cy="7614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10523732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49734095"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7612940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88452050" name="Text 3"/>
          <p:cNvSpPr/>
          <p:nvPr/>
        </p:nvSpPr>
        <p:spPr bwMode="auto">
          <a:xfrm>
            <a:off x="13985640" y="762120"/>
            <a:ext cx="3351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1436524863" name="Text 4"/>
          <p:cNvSpPr/>
          <p:nvPr/>
        </p:nvSpPr>
        <p:spPr bwMode="auto">
          <a:xfrm>
            <a:off x="1047600" y="1428840"/>
            <a:ext cx="11560320" cy="15404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1697641830" name="Text 5"/>
          <p:cNvSpPr/>
          <p:nvPr/>
        </p:nvSpPr>
        <p:spPr bwMode="auto">
          <a:xfrm>
            <a:off x="1047600" y="3255480"/>
            <a:ext cx="10477079" cy="1031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572686450" name="Shape 6"/>
          <p:cNvSpPr/>
          <p:nvPr/>
        </p:nvSpPr>
        <p:spPr bwMode="auto">
          <a:xfrm>
            <a:off x="1047600" y="4726440"/>
            <a:ext cx="3131280" cy="131580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13387840" name="Text 7"/>
          <p:cNvSpPr/>
          <p:nvPr/>
        </p:nvSpPr>
        <p:spPr bwMode="auto">
          <a:xfrm>
            <a:off x="12096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01757144" name="Text 8"/>
          <p:cNvSpPr/>
          <p:nvPr/>
        </p:nvSpPr>
        <p:spPr bwMode="auto">
          <a:xfrm>
            <a:off x="12096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753936732" name="Text 9"/>
          <p:cNvSpPr/>
          <p:nvPr/>
        </p:nvSpPr>
        <p:spPr bwMode="auto">
          <a:xfrm>
            <a:off x="12096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433417317" name="Shape 10"/>
          <p:cNvSpPr/>
          <p:nvPr/>
        </p:nvSpPr>
        <p:spPr bwMode="auto">
          <a:xfrm>
            <a:off x="43128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74320194" name="Text 11"/>
          <p:cNvSpPr/>
          <p:nvPr/>
        </p:nvSpPr>
        <p:spPr bwMode="auto">
          <a:xfrm>
            <a:off x="44748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534211188" name="Text 12"/>
          <p:cNvSpPr/>
          <p:nvPr/>
        </p:nvSpPr>
        <p:spPr bwMode="auto">
          <a:xfrm>
            <a:off x="44748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298017008" name="Text 13"/>
          <p:cNvSpPr/>
          <p:nvPr/>
        </p:nvSpPr>
        <p:spPr bwMode="auto">
          <a:xfrm>
            <a:off x="44748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1875347064" name="Shape 14"/>
          <p:cNvSpPr/>
          <p:nvPr/>
        </p:nvSpPr>
        <p:spPr bwMode="auto">
          <a:xfrm>
            <a:off x="75780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48405031" name="Text 15"/>
          <p:cNvSpPr/>
          <p:nvPr/>
        </p:nvSpPr>
        <p:spPr bwMode="auto">
          <a:xfrm>
            <a:off x="77400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667936574" name="Text 16"/>
          <p:cNvSpPr/>
          <p:nvPr/>
        </p:nvSpPr>
        <p:spPr bwMode="auto">
          <a:xfrm>
            <a:off x="77400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246762247" name="Text 17"/>
          <p:cNvSpPr/>
          <p:nvPr/>
        </p:nvSpPr>
        <p:spPr bwMode="auto">
          <a:xfrm>
            <a:off x="77400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1280257487" name="Shape 18"/>
          <p:cNvSpPr/>
          <p:nvPr/>
        </p:nvSpPr>
        <p:spPr bwMode="auto">
          <a:xfrm>
            <a:off x="108432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28231593" name="Text 19"/>
          <p:cNvSpPr/>
          <p:nvPr/>
        </p:nvSpPr>
        <p:spPr bwMode="auto">
          <a:xfrm>
            <a:off x="110052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334089431" name="Text 20"/>
          <p:cNvSpPr/>
          <p:nvPr/>
        </p:nvSpPr>
        <p:spPr bwMode="auto">
          <a:xfrm>
            <a:off x="110052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2026797039" name="Text 21"/>
          <p:cNvSpPr/>
          <p:nvPr/>
        </p:nvSpPr>
        <p:spPr bwMode="auto">
          <a:xfrm>
            <a:off x="110052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2033014868" name="Shape 22"/>
          <p:cNvSpPr/>
          <p:nvPr/>
        </p:nvSpPr>
        <p:spPr bwMode="auto">
          <a:xfrm>
            <a:off x="141084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00512892" name="Text 23"/>
          <p:cNvSpPr/>
          <p:nvPr/>
        </p:nvSpPr>
        <p:spPr bwMode="auto">
          <a:xfrm>
            <a:off x="142704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1512844360" name="Text 24"/>
          <p:cNvSpPr/>
          <p:nvPr/>
        </p:nvSpPr>
        <p:spPr bwMode="auto">
          <a:xfrm>
            <a:off x="142704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683719854" name="Text 25"/>
          <p:cNvSpPr/>
          <p:nvPr/>
        </p:nvSpPr>
        <p:spPr bwMode="auto">
          <a:xfrm>
            <a:off x="142704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50554103" name="Text 26"/>
          <p:cNvSpPr/>
          <p:nvPr/>
        </p:nvSpPr>
        <p:spPr bwMode="auto">
          <a:xfrm>
            <a:off x="42660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170234615" name="Text 27"/>
          <p:cNvSpPr/>
          <p:nvPr/>
        </p:nvSpPr>
        <p:spPr bwMode="auto">
          <a:xfrm>
            <a:off x="75312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735310619" name="Text 28"/>
          <p:cNvSpPr/>
          <p:nvPr/>
        </p:nvSpPr>
        <p:spPr bwMode="auto">
          <a:xfrm>
            <a:off x="107964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791081227" name="Text 29"/>
          <p:cNvSpPr/>
          <p:nvPr/>
        </p:nvSpPr>
        <p:spPr bwMode="auto">
          <a:xfrm>
            <a:off x="140616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466074660" name="Text 30"/>
          <p:cNvSpPr/>
          <p:nvPr/>
        </p:nvSpPr>
        <p:spPr bwMode="auto">
          <a:xfrm>
            <a:off x="1047600" y="6557039"/>
            <a:ext cx="9453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361933809" name="Shape 31"/>
          <p:cNvSpPr/>
          <p:nvPr/>
        </p:nvSpPr>
        <p:spPr bwMode="auto">
          <a:xfrm>
            <a:off x="1047600" y="7266600"/>
            <a:ext cx="9178200" cy="864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989115737" name="Text 32"/>
          <p:cNvSpPr/>
          <p:nvPr/>
        </p:nvSpPr>
        <p:spPr bwMode="auto">
          <a:xfrm>
            <a:off x="1123920" y="693792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1541003900" name="Text 33"/>
          <p:cNvSpPr/>
          <p:nvPr/>
        </p:nvSpPr>
        <p:spPr bwMode="auto">
          <a:xfrm>
            <a:off x="2605320" y="6937920"/>
            <a:ext cx="509364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706173779" name="Text 34"/>
          <p:cNvSpPr/>
          <p:nvPr/>
        </p:nvSpPr>
        <p:spPr bwMode="auto">
          <a:xfrm>
            <a:off x="7623000" y="6937920"/>
            <a:ext cx="108432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747697750" name="Text 35"/>
          <p:cNvSpPr/>
          <p:nvPr/>
        </p:nvSpPr>
        <p:spPr bwMode="auto">
          <a:xfrm>
            <a:off x="8784360" y="6937920"/>
            <a:ext cx="136548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382123822" name="Shape 36"/>
          <p:cNvSpPr/>
          <p:nvPr/>
        </p:nvSpPr>
        <p:spPr bwMode="auto">
          <a:xfrm>
            <a:off x="1047600" y="759996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680167141" name="Text 37"/>
          <p:cNvSpPr/>
          <p:nvPr/>
        </p:nvSpPr>
        <p:spPr bwMode="auto">
          <a:xfrm>
            <a:off x="1123920" y="730476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2122243568" name="Text 38"/>
          <p:cNvSpPr/>
          <p:nvPr/>
        </p:nvSpPr>
        <p:spPr bwMode="auto">
          <a:xfrm>
            <a:off x="2538720" y="728568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330916909" name="Text 39"/>
          <p:cNvSpPr/>
          <p:nvPr/>
        </p:nvSpPr>
        <p:spPr bwMode="auto">
          <a:xfrm>
            <a:off x="7556400" y="728568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943276859" name="Text 40"/>
          <p:cNvSpPr/>
          <p:nvPr/>
        </p:nvSpPr>
        <p:spPr bwMode="auto">
          <a:xfrm>
            <a:off x="8717760" y="728568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1303729904" name="Shape 41"/>
          <p:cNvSpPr/>
          <p:nvPr/>
        </p:nvSpPr>
        <p:spPr bwMode="auto">
          <a:xfrm>
            <a:off x="1047600" y="793332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69338681" name="Text 42"/>
          <p:cNvSpPr/>
          <p:nvPr/>
        </p:nvSpPr>
        <p:spPr bwMode="auto">
          <a:xfrm>
            <a:off x="1123920" y="763812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1210150107" name="Text 43"/>
          <p:cNvSpPr/>
          <p:nvPr/>
        </p:nvSpPr>
        <p:spPr bwMode="auto">
          <a:xfrm>
            <a:off x="2538720" y="7619039"/>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1998794915" name="Text 44"/>
          <p:cNvSpPr/>
          <p:nvPr/>
        </p:nvSpPr>
        <p:spPr bwMode="auto">
          <a:xfrm>
            <a:off x="7556400" y="7619039"/>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536159063" name="Text 45"/>
          <p:cNvSpPr/>
          <p:nvPr/>
        </p:nvSpPr>
        <p:spPr bwMode="auto">
          <a:xfrm>
            <a:off x="8717760" y="7619039"/>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327599581" name="Shape 46"/>
          <p:cNvSpPr/>
          <p:nvPr/>
        </p:nvSpPr>
        <p:spPr bwMode="auto">
          <a:xfrm>
            <a:off x="1047600" y="826668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182672228" name="Text 47"/>
          <p:cNvSpPr/>
          <p:nvPr/>
        </p:nvSpPr>
        <p:spPr bwMode="auto">
          <a:xfrm>
            <a:off x="1123920" y="797148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1588055433" name="Text 48"/>
          <p:cNvSpPr/>
          <p:nvPr/>
        </p:nvSpPr>
        <p:spPr bwMode="auto">
          <a:xfrm>
            <a:off x="2538720" y="795240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964798771" name="Text 49"/>
          <p:cNvSpPr/>
          <p:nvPr/>
        </p:nvSpPr>
        <p:spPr bwMode="auto">
          <a:xfrm>
            <a:off x="7556400" y="795240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662496933" name="Text 50"/>
          <p:cNvSpPr/>
          <p:nvPr/>
        </p:nvSpPr>
        <p:spPr bwMode="auto">
          <a:xfrm>
            <a:off x="8717760" y="795240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718280529" name="Shape 51"/>
          <p:cNvSpPr/>
          <p:nvPr/>
        </p:nvSpPr>
        <p:spPr bwMode="auto">
          <a:xfrm>
            <a:off x="1047600" y="860004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270534272" name="Text 52"/>
          <p:cNvSpPr/>
          <p:nvPr/>
        </p:nvSpPr>
        <p:spPr bwMode="auto">
          <a:xfrm>
            <a:off x="1123920" y="830484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406896383" name="Text 53"/>
          <p:cNvSpPr/>
          <p:nvPr/>
        </p:nvSpPr>
        <p:spPr bwMode="auto">
          <a:xfrm>
            <a:off x="2538720" y="828576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155502903" name="Text 54"/>
          <p:cNvSpPr/>
          <p:nvPr/>
        </p:nvSpPr>
        <p:spPr bwMode="auto">
          <a:xfrm>
            <a:off x="7556400" y="828576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566506691" name="Text 55"/>
          <p:cNvSpPr/>
          <p:nvPr/>
        </p:nvSpPr>
        <p:spPr bwMode="auto">
          <a:xfrm>
            <a:off x="8717760" y="828576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1244751355" name="Shape 56"/>
          <p:cNvSpPr/>
          <p:nvPr/>
        </p:nvSpPr>
        <p:spPr bwMode="auto">
          <a:xfrm>
            <a:off x="1047600" y="893340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310041281" name="Text 57"/>
          <p:cNvSpPr/>
          <p:nvPr/>
        </p:nvSpPr>
        <p:spPr bwMode="auto">
          <a:xfrm>
            <a:off x="1123920" y="863820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919485193" name="Text 58"/>
          <p:cNvSpPr/>
          <p:nvPr/>
        </p:nvSpPr>
        <p:spPr bwMode="auto">
          <a:xfrm>
            <a:off x="2538720" y="861912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368476700" name="Text 59"/>
          <p:cNvSpPr/>
          <p:nvPr/>
        </p:nvSpPr>
        <p:spPr bwMode="auto">
          <a:xfrm>
            <a:off x="7556400" y="861912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27366746" name="Text 60"/>
          <p:cNvSpPr/>
          <p:nvPr/>
        </p:nvSpPr>
        <p:spPr bwMode="auto">
          <a:xfrm>
            <a:off x="8717760" y="861912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225099370" name="Text 61"/>
          <p:cNvSpPr/>
          <p:nvPr/>
        </p:nvSpPr>
        <p:spPr bwMode="auto">
          <a:xfrm>
            <a:off x="1123920" y="897156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25995623" name="Text 62"/>
          <p:cNvSpPr/>
          <p:nvPr/>
        </p:nvSpPr>
        <p:spPr bwMode="auto">
          <a:xfrm>
            <a:off x="2538720" y="8952480"/>
            <a:ext cx="5226840" cy="3754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1582622979" name="Text 63"/>
          <p:cNvSpPr/>
          <p:nvPr/>
        </p:nvSpPr>
        <p:spPr bwMode="auto">
          <a:xfrm>
            <a:off x="7556400" y="8952480"/>
            <a:ext cx="12178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1905887362" name="Text 64"/>
          <p:cNvSpPr/>
          <p:nvPr/>
        </p:nvSpPr>
        <p:spPr bwMode="auto">
          <a:xfrm>
            <a:off x="8717760" y="8952480"/>
            <a:ext cx="14986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532490828" name="Text 65"/>
          <p:cNvSpPr/>
          <p:nvPr/>
        </p:nvSpPr>
        <p:spPr bwMode="auto">
          <a:xfrm>
            <a:off x="10683720" y="6557039"/>
            <a:ext cx="6752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1744610689" name="Text 66"/>
          <p:cNvSpPr/>
          <p:nvPr/>
        </p:nvSpPr>
        <p:spPr bwMode="auto">
          <a:xfrm>
            <a:off x="1068372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582891509" name="Text 67"/>
          <p:cNvSpPr/>
          <p:nvPr/>
        </p:nvSpPr>
        <p:spPr bwMode="auto">
          <a:xfrm>
            <a:off x="1409544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2127016270" name="Text 68"/>
          <p:cNvSpPr/>
          <p:nvPr/>
        </p:nvSpPr>
        <p:spPr bwMode="auto">
          <a:xfrm>
            <a:off x="1068372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1427229589" name="Text 69"/>
          <p:cNvSpPr/>
          <p:nvPr/>
        </p:nvSpPr>
        <p:spPr bwMode="auto">
          <a:xfrm>
            <a:off x="1409544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1684290793" name="Text 70"/>
          <p:cNvSpPr/>
          <p:nvPr/>
        </p:nvSpPr>
        <p:spPr bwMode="auto">
          <a:xfrm>
            <a:off x="1068372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1038335411" name="Text 71"/>
          <p:cNvSpPr/>
          <p:nvPr/>
        </p:nvSpPr>
        <p:spPr bwMode="auto">
          <a:xfrm>
            <a:off x="1409544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648123342" name="Text 7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18877453" name="Text 73"/>
          <p:cNvSpPr/>
          <p:nvPr/>
        </p:nvSpPr>
        <p:spPr bwMode="auto">
          <a:xfrm>
            <a:off x="11965320" y="9258480"/>
            <a:ext cx="54324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91964188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7567716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18998012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894247186"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11 · VILLAGE RE PLAN</a:t>
            </a:r>
            <a:endParaRPr lang="en-US" sz="1800" b="0" u="none" strike="noStrike">
              <a:solidFill>
                <a:srgbClr val="FFFFFF"/>
              </a:solidFill>
              <a:latin typeface="Arial"/>
            </a:endParaRPr>
          </a:p>
        </p:txBody>
      </p:sp>
      <p:sp>
        <p:nvSpPr>
          <p:cNvPr id="1830292505"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ALIGNMENT WITH THE VILLAGE'S RENEWABLE ENERGY PLAN</a:t>
            </a:r>
            <a:endParaRPr lang="en-US" sz="1800" b="0" u="none" strike="noStrike">
              <a:solidFill>
                <a:srgbClr val="FFFFFF"/>
              </a:solidFill>
              <a:latin typeface="Arial"/>
            </a:endParaRPr>
          </a:p>
        </p:txBody>
      </p:sp>
      <p:sp>
        <p:nvSpPr>
          <p:cNvPr id="1179039335" name="Text 6"/>
          <p:cNvSpPr/>
          <p:nvPr/>
        </p:nvSpPr>
        <p:spPr bwMode="auto">
          <a:xfrm>
            <a:off x="1047599" y="6424792"/>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御杖村再エネ導入最大化計画（</a:t>
            </a:r>
            <a:r>
              <a:rPr lang="en-US" sz="2700" b="0" u="none" strike="noStrike">
                <a:solidFill>
                  <a:srgbClr val="F3ECE0">
                    <a:alpha val="57000"/>
                  </a:srgbClr>
                </a:solidFill>
                <a:latin typeface="Noto Serif JP"/>
                <a:ea typeface="Noto Serif JP"/>
              </a:rPr>
              <a:t>2025</a:t>
            </a:r>
            <a:r>
              <a:rPr lang="zh-CN" sz="2700" b="0" u="none" strike="noStrike">
                <a:solidFill>
                  <a:srgbClr val="F3ECE0">
                    <a:alpha val="57000"/>
                  </a:srgbClr>
                </a:solidFill>
                <a:latin typeface="Noto Serif JP"/>
                <a:ea typeface="Noto Serif JP"/>
              </a:rPr>
              <a:t>年・環境省補助）の官民連携 運営体制として実行します。</a:t>
            </a:r>
            <a:endParaRPr lang="en-US" sz="2700" b="0" u="none" strike="noStrike">
              <a:solidFill>
                <a:srgbClr val="FFFFFF"/>
              </a:solidFill>
              <a:latin typeface="Arial"/>
            </a:endParaRPr>
          </a:p>
        </p:txBody>
      </p:sp>
      <p:sp>
        <p:nvSpPr>
          <p:cNvPr id="1156991809"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478077331"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One resilient site</a:t>
            </a:r>
            <a:endParaRPr lang="en-US" sz="4800" b="0" u="none" strike="noStrike">
              <a:solidFill>
                <a:srgbClr val="FFFFFF"/>
              </a:solidFill>
              <a:latin typeface="Arial"/>
            </a:endParaRPr>
          </a:p>
        </p:txBody>
      </p:sp>
      <p:sp>
        <p:nvSpPr>
          <p:cNvPr id="1620001812"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The plan targets one renewable + storage + EV resilient site (now zero). Our data center is that site.</a:t>
            </a:r>
            <a:endParaRPr lang="en-US" sz="1800" b="0" u="none" strike="noStrike">
              <a:solidFill>
                <a:srgbClr val="FFFFFF"/>
              </a:solidFill>
              <a:latin typeface="Arial"/>
            </a:endParaRPr>
          </a:p>
        </p:txBody>
      </p:sp>
      <p:sp>
        <p:nvSpPr>
          <p:cNvPr id="2078002705"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96844998"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EV-charging priority</a:t>
            </a:r>
            <a:endParaRPr lang="en-US" sz="4800" b="0" u="none" strike="noStrike">
              <a:solidFill>
                <a:srgbClr val="FFFFFF"/>
              </a:solidFill>
              <a:latin typeface="Arial"/>
            </a:endParaRPr>
          </a:p>
        </p:txBody>
      </p:sp>
      <p:sp>
        <p:nvSpPr>
          <p:cNvPr id="1132609809"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45000"/>
              </a:lnSpc>
              <a:tabLst>
                <a:tab pos="0" algn="l"/>
              </a:tabLst>
              <a:defRPr/>
            </a:pPr>
            <a:r>
              <a:rPr lang="en-US" sz="1800" b="0" u="none" strike="noStrike">
                <a:solidFill>
                  <a:srgbClr val="F3ECE0">
                    <a:alpha val="85000"/>
                  </a:srgbClr>
                </a:solidFill>
                <a:latin typeface="Arial"/>
                <a:ea typeface="Arial"/>
              </a:rPr>
              <a:t>Transport = 46% of village emissions. We deliver the plan's priority EV charging at public facilities.</a:t>
            </a:r>
            <a:endParaRPr lang="en-US" sz="1800" b="0" u="none" strike="noStrike">
              <a:solidFill>
                <a:srgbClr val="FFFFFF"/>
              </a:solidFill>
              <a:latin typeface="Arial"/>
            </a:endParaRPr>
          </a:p>
        </p:txBody>
      </p:sp>
      <p:sp>
        <p:nvSpPr>
          <p:cNvPr id="206828818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07933340"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00000"/>
              </a:lnSpc>
              <a:tabLst>
                <a:tab pos="0" algn="l"/>
              </a:tabLst>
              <a:defRPr/>
            </a:pPr>
            <a:r>
              <a:rPr lang="en-US" sz="4800" b="0" u="none" strike="noStrike" spc="-47">
                <a:solidFill>
                  <a:srgbClr val="F3ECE0"/>
                </a:solidFill>
                <a:latin typeface="Georgia"/>
                <a:ea typeface="Georgia"/>
              </a:rPr>
              <a:t>Forest J-Credit + </a:t>
            </a:r>
            <a:r>
              <a:rPr lang="zh-CN" sz="4800" b="0" u="none" strike="noStrike" spc="-47">
                <a:solidFill>
                  <a:srgbClr val="F3ECE0"/>
                </a:solidFill>
                <a:latin typeface="Georgia"/>
                <a:ea typeface="Georgia"/>
              </a:rPr>
              <a:t>交付金</a:t>
            </a:r>
            <a:endParaRPr lang="en-US" sz="4800" b="0" u="none" strike="noStrike">
              <a:solidFill>
                <a:srgbClr val="FFFFFF"/>
              </a:solidFill>
              <a:latin typeface="Arial"/>
            </a:endParaRPr>
          </a:p>
        </p:txBody>
      </p:sp>
      <p:sp>
        <p:nvSpPr>
          <p:cNvPr id="1860419621"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tabLst>
                <a:tab pos="0" algn="l"/>
              </a:tabLst>
              <a:defRPr/>
            </a:pPr>
            <a:r>
              <a:rPr lang="en-US" sz="1800" b="0" u="none" strike="noStrike">
                <a:solidFill>
                  <a:srgbClr val="F3ECE0">
                    <a:alpha val="85000"/>
                  </a:srgbClr>
                </a:solidFill>
                <a:latin typeface="Arial"/>
                <a:ea typeface="Arial"/>
              </a:rPr>
              <a:t>Biomass CHP supplies the forest-carbon/J-Credit mechanism. Unlocks the village-led </a:t>
            </a:r>
            <a:r>
              <a:rPr lang="zh-CN" sz="1800" b="0" u="none" strike="noStrike">
                <a:solidFill>
                  <a:srgbClr val="F3ECE0">
                    <a:alpha val="85000"/>
                  </a:srgbClr>
                </a:solidFill>
                <a:latin typeface="Arial"/>
                <a:ea typeface="Arial"/>
              </a:rPr>
              <a:t>交付金</a:t>
            </a:r>
            <a:r>
              <a:rPr lang="en-US" sz="1800" b="0" u="none" strike="noStrike">
                <a:solidFill>
                  <a:srgbClr val="F3ECE0">
                    <a:alpha val="85000"/>
                  </a:srgbClr>
                </a:solidFill>
                <a:latin typeface="Arial"/>
                <a:ea typeface="Arial"/>
              </a:rPr>
              <a:t>: 2/3-3/4 subsidy on solar/battery/EV, via the village.</a:t>
            </a:r>
            <a:endParaRPr lang="en-US" sz="1800" b="0" u="none" strike="noStrike">
              <a:solidFill>
                <a:srgbClr val="FFFFFF"/>
              </a:solidFill>
              <a:latin typeface="Arial"/>
            </a:endParaRPr>
          </a:p>
        </p:txBody>
      </p:sp>
      <p:sp>
        <p:nvSpPr>
          <p:cNvPr id="1921949246"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12 / 12</a:t>
            </a:r>
            <a:endParaRPr lang="en-US" sz="1800" b="0" u="none" strike="noStrike">
              <a:solidFill>
                <a:srgbClr val="FFFFFF"/>
              </a:solidFill>
              <a:latin typeface="Arial"/>
            </a:endParaRPr>
          </a:p>
        </p:txBody>
      </p:sp>
      <p:sp>
        <p:nvSpPr>
          <p:cNvPr id="206288281"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BIOMASS CHP STAYS PRIMARY · SOLAR/BATTERY/EV COMPLEMENTARY · FUNDING FLOWS THROUGH THE VILLAGE</a:t>
            </a:r>
            <a:endParaRPr lang="en-US" sz="1800" b="0" u="none" strike="noStrike">
              <a:solidFill>
                <a:srgbClr val="FFFFFF"/>
              </a:solidFill>
              <a:latin typeface="Arial"/>
            </a:endParaRPr>
          </a:p>
        </p:txBody>
      </p:sp>
      <p:sp>
        <p:nvSpPr>
          <p:cNvPr id="222322429" name="Text 4"/>
          <p:cNvSpPr/>
          <p:nvPr/>
        </p:nvSpPr>
        <p:spPr bwMode="auto">
          <a:xfrm flipH="0" flipV="0">
            <a:off x="1047599" y="1523519"/>
            <a:ext cx="16677720" cy="4117836"/>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55000" lnSpcReduction="9000"/>
          </a:bodyPr>
          <a:p>
            <a:pPr defTabSz="914400">
              <a:lnSpc>
                <a:spcPct val="95000"/>
              </a:lnSpc>
              <a:defRPr/>
            </a:pPr>
            <a:r>
              <a:rPr lang="en-US" sz="21000" b="0" i="0" u="none" strike="noStrike" cap="none" spc="-149" baseline="-25000">
                <a:solidFill>
                  <a:srgbClr val="F3ECE0"/>
                </a:solidFill>
                <a:latin typeface="Georgia"/>
                <a:ea typeface="Georgia"/>
                <a:cs typeface="Georgia"/>
              </a:rPr>
              <a:t>We don't ask the village to adopt a new idea. We run </a:t>
            </a:r>
            <a:r>
              <a:rPr lang="en-US" sz="21000" b="0" i="1" u="none" strike="noStrike" cap="none" spc="-149" baseline="-25000">
                <a:solidFill>
                  <a:srgbClr val="F3B486"/>
                </a:solidFill>
                <a:latin typeface="Georgia"/>
                <a:ea typeface="Georgia"/>
                <a:cs typeface="Georgia"/>
              </a:rPr>
              <a:t>the plan it already wrote.</a:t>
            </a:r>
            <a:endParaRPr sz="9000" b="0" u="none" strike="noStrike">
              <a:solidFill>
                <a:srgbClr val="FFFFFF"/>
              </a:solidFill>
              <a:latin typeface="Arial"/>
            </a:endParaRPr>
          </a:p>
          <a:p>
            <a:pPr defTabSz="914400">
              <a:lnSpc>
                <a:spcPct val="100000"/>
              </a:lnSpc>
              <a:tabLst>
                <a:tab pos="0" algn="l"/>
              </a:tabLst>
              <a:defRPr/>
            </a:pPr>
            <a:endParaRPr lang="en-US" sz="90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315274537"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6283331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469874587"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574574968" name="Text 3"/>
          <p:cNvSpPr/>
          <p:nvPr/>
        </p:nvSpPr>
        <p:spPr bwMode="auto">
          <a:xfrm>
            <a:off x="11343600" y="762120"/>
            <a:ext cx="6072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1635407687" name="Text 4"/>
          <p:cNvSpPr/>
          <p:nvPr/>
        </p:nvSpPr>
        <p:spPr bwMode="auto">
          <a:xfrm>
            <a:off x="1047600" y="2025000"/>
            <a:ext cx="8668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698944171" name="Text 5"/>
          <p:cNvSpPr/>
          <p:nvPr/>
        </p:nvSpPr>
        <p:spPr bwMode="auto">
          <a:xfrm>
            <a:off x="1047600" y="2743200"/>
            <a:ext cx="8668440" cy="5087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20460978" name="Text 6"/>
          <p:cNvSpPr/>
          <p:nvPr/>
        </p:nvSpPr>
        <p:spPr bwMode="auto">
          <a:xfrm>
            <a:off x="10226520" y="20250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887549364" name="Text 7"/>
          <p:cNvSpPr/>
          <p:nvPr/>
        </p:nvSpPr>
        <p:spPr bwMode="auto">
          <a:xfrm>
            <a:off x="10053000" y="2424960"/>
            <a:ext cx="7262640" cy="152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20162666" name="Shape 8"/>
          <p:cNvSpPr/>
          <p:nvPr/>
        </p:nvSpPr>
        <p:spPr bwMode="auto">
          <a:xfrm>
            <a:off x="10226520" y="419688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250391645" name="Shape 9"/>
          <p:cNvSpPr/>
          <p:nvPr/>
        </p:nvSpPr>
        <p:spPr bwMode="auto">
          <a:xfrm>
            <a:off x="10226520" y="4415760"/>
            <a:ext cx="1618560" cy="161856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591689768" name="Image 0" descr="preencoded.png"/>
          <p:cNvPicPr/>
          <p:nvPr/>
        </p:nvPicPr>
        <p:blipFill rotWithShape="1">
          <a:blip r:embed="rId3"/>
          <a:stretch/>
        </p:blipFill>
        <p:spPr bwMode="auto">
          <a:xfrm>
            <a:off x="10321560" y="4511160"/>
            <a:ext cx="1428120" cy="1428120"/>
          </a:xfrm>
          <a:prstGeom prst="rect">
            <a:avLst/>
          </a:prstGeom>
          <a:noFill/>
          <a:ln w="0">
            <a:noFill/>
          </a:ln>
        </p:spPr>
      </p:pic>
      <p:sp>
        <p:nvSpPr>
          <p:cNvPr id="748064877" name="Text 10"/>
          <p:cNvSpPr/>
          <p:nvPr/>
        </p:nvSpPr>
        <p:spPr bwMode="auto">
          <a:xfrm>
            <a:off x="12112200" y="4530240"/>
            <a:ext cx="52812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1651704390" name="Text 11"/>
          <p:cNvSpPr/>
          <p:nvPr/>
        </p:nvSpPr>
        <p:spPr bwMode="auto">
          <a:xfrm>
            <a:off x="12112200" y="4853880"/>
            <a:ext cx="5281200" cy="3708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866531897" name="Text 12"/>
          <p:cNvSpPr/>
          <p:nvPr/>
        </p:nvSpPr>
        <p:spPr bwMode="auto">
          <a:xfrm>
            <a:off x="12112200" y="5244480"/>
            <a:ext cx="5281200" cy="475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605733338" name="Text 13"/>
          <p:cNvSpPr/>
          <p:nvPr/>
        </p:nvSpPr>
        <p:spPr bwMode="auto">
          <a:xfrm>
            <a:off x="12112200" y="5701680"/>
            <a:ext cx="5281200" cy="256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1414107989" name="Shape 14"/>
          <p:cNvSpPr/>
          <p:nvPr/>
        </p:nvSpPr>
        <p:spPr bwMode="auto">
          <a:xfrm>
            <a:off x="10226520" y="626364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710166665" name="Text 16"/>
          <p:cNvSpPr/>
          <p:nvPr/>
        </p:nvSpPr>
        <p:spPr bwMode="auto">
          <a:xfrm>
            <a:off x="10226520" y="6768360"/>
            <a:ext cx="7223760" cy="46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486648962" name="Text 17"/>
          <p:cNvSpPr/>
          <p:nvPr/>
        </p:nvSpPr>
        <p:spPr bwMode="auto">
          <a:xfrm>
            <a:off x="10226520" y="7197840"/>
            <a:ext cx="7200360" cy="341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698075141" name="Text 18"/>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1853668245" name="Text 19"/>
          <p:cNvSpPr/>
          <p:nvPr/>
        </p:nvSpPr>
        <p:spPr bwMode="auto">
          <a:xfrm>
            <a:off x="12916079" y="9182160"/>
            <a:ext cx="445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
        <p:nvSpPr>
          <p:cNvPr id="1595407480" name="Text 31"/>
          <p:cNvSpPr/>
          <p:nvPr/>
        </p:nvSpPr>
        <p:spPr bwMode="auto">
          <a:xfrm>
            <a:off x="10149840" y="63252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LEADER</a:t>
            </a:r>
            <a:r>
              <a:rPr lang="ja-JP" sz="1800" b="0" u="none" strike="noStrike" spc="214">
                <a:solidFill>
                  <a:srgbClr val="F3ECE0">
                    <a:alpha val="67000"/>
                  </a:srgbClr>
                </a:solidFill>
                <a:latin typeface="Courier New"/>
                <a:ea typeface="Courier New"/>
              </a:rPr>
              <a:t> </a:t>
            </a:r>
            <a:r>
              <a:rPr lang="en-US" sz="1800" b="0" u="none" strike="noStrike" spc="214">
                <a:solidFill>
                  <a:srgbClr val="F3ECE0">
                    <a:alpha val="67000"/>
                  </a:srgbClr>
                </a:solidFill>
                <a:latin typeface="Courier New"/>
                <a:ea typeface="Courier New"/>
              </a:rPr>
              <a:t>NOW</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ONLYOFFICE/9.4.0.129</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9</cp:revision>
  <dcterms:created xsi:type="dcterms:W3CDTF">2026-05-28T12:44:33Z</dcterms:created>
  <dcterms:modified xsi:type="dcterms:W3CDTF">2026-06-07T04:27:54Z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12</vt:i4>
  </property>
  <property fmtid="{D5CDD505-2E9C-101B-9397-08002B2CF9AE}" pid="4" name="PresentationFormat">
    <vt:lpwstr>On-screen Show (4:3)</vt:lpwstr>
  </property>
  <property fmtid="{D5CDD505-2E9C-101B-9397-08002B2CF9AE}" pid="5" name="Slides">
    <vt:i4>12</vt:i4>
  </property>
</Properties>
</file>