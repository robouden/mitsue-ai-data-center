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212807120"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587821322"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060402697"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023206737"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431624879"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726064838"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42301917"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D3CFB75A-811A-4B4A-8D8D-529027194582}"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4883192" name="PlaceHolder 1"/>
          <p:cNvSpPr>
            <a:spLocks noGrp="1"/>
          </p:cNvSpPr>
          <p:nvPr>
            <p:ph type="sldImg"/>
          </p:nvPr>
        </p:nvSpPr>
        <p:spPr bwMode="auto">
          <a:xfrm>
            <a:off x="685800" y="1143000"/>
            <a:ext cx="5485680" cy="3085560"/>
          </a:xfrm>
          <a:prstGeom prst="rect">
            <a:avLst/>
          </a:prstGeom>
          <a:ln w="0">
            <a:noFill/>
          </a:ln>
        </p:spPr>
      </p:sp>
      <p:sp>
        <p:nvSpPr>
          <p:cNvPr id="38857734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705662927"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E99B006-4D73-41F3-9242-38B7786BC3E0}"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6518000" name="PlaceHolder 1"/>
          <p:cNvSpPr>
            <a:spLocks noGrp="1"/>
          </p:cNvSpPr>
          <p:nvPr>
            <p:ph type="sldImg"/>
          </p:nvPr>
        </p:nvSpPr>
        <p:spPr bwMode="auto">
          <a:xfrm>
            <a:off x="685800" y="1143000"/>
            <a:ext cx="5485680" cy="3085560"/>
          </a:xfrm>
          <a:prstGeom prst="rect">
            <a:avLst/>
          </a:prstGeom>
          <a:ln w="0">
            <a:noFill/>
          </a:ln>
        </p:spPr>
      </p:sp>
      <p:sp>
        <p:nvSpPr>
          <p:cNvPr id="181824094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en-US" sz="2000" b="0" u="none" strike="noStrike">
                <a:solidFill>
                  <a:srgbClr val="000000"/>
                </a:solidFill>
                <a:latin typeface="Arial"/>
              </a:rPr>
              <a:t>s, event. Just trust-building, charter drafting, and assembling the founding team.</a:t>
            </a:r>
            <a:endParaRPr lang="en-US" sz="2000" b="0" u="none" strike="noStrike">
              <a:solidFill>
                <a:srgbClr val="000000"/>
              </a:solidFill>
              <a:latin typeface="Arial"/>
            </a:endParaRPr>
          </a:p>
        </p:txBody>
      </p:sp>
      <p:sp>
        <p:nvSpPr>
          <p:cNvPr id="1606374804"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1129D0D-DA53-49F9-9B7A-2DA8B697D4A1}"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1768835" name="PlaceHolder 1"/>
          <p:cNvSpPr>
            <a:spLocks noGrp="1"/>
          </p:cNvSpPr>
          <p:nvPr>
            <p:ph type="sldImg"/>
          </p:nvPr>
        </p:nvSpPr>
        <p:spPr bwMode="auto">
          <a:xfrm>
            <a:off x="685800" y="1143000"/>
            <a:ext cx="5485680" cy="3085560"/>
          </a:xfrm>
          <a:prstGeom prst="rect">
            <a:avLst/>
          </a:prstGeom>
          <a:ln w="0">
            <a:noFill/>
          </a:ln>
        </p:spPr>
      </p:sp>
      <p:sp>
        <p:nvSpPr>
          <p:cNvPr id="203595839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en-US" sz="2000" b="0" u="none" strike="noStrike">
                <a:solidFill>
                  <a:srgbClr val="000000"/>
                </a:solidFill>
                <a:latin typeface="Arial"/>
              </a:rPr>
              <a:t>The Japanese passenger cars will be electric soon,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157099112"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BE72C9DA-4793-41A7-9CD0-88C10A52A55A}"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9866120" name="PlaceHolder 1"/>
          <p:cNvSpPr>
            <a:spLocks noGrp="1"/>
          </p:cNvSpPr>
          <p:nvPr>
            <p:ph type="sldImg"/>
          </p:nvPr>
        </p:nvSpPr>
        <p:spPr bwMode="auto">
          <a:xfrm>
            <a:off x="685800" y="1143000"/>
            <a:ext cx="5485680" cy="3085560"/>
          </a:xfrm>
          <a:prstGeom prst="rect">
            <a:avLst/>
          </a:prstGeom>
          <a:ln w="0">
            <a:noFill/>
          </a:ln>
        </p:spPr>
      </p:sp>
      <p:sp>
        <p:nvSpPr>
          <p:cNvPr id="155959889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en-US" sz="2000" b="0" u="none" strike="noStrike">
                <a:solidFill>
                  <a:srgbClr val="000000"/>
                </a:solidFill>
                <a:latin typeface="Arial"/>
              </a:rPr>
              <a:t>cedar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1746693159"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124A28D8-90F5-4628-BAA7-6F66BBAB725D}"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0809413" name="PlaceHolder 1"/>
          <p:cNvSpPr>
            <a:spLocks noGrp="1"/>
          </p:cNvSpPr>
          <p:nvPr>
            <p:ph type="sldImg"/>
          </p:nvPr>
        </p:nvSpPr>
        <p:spPr bwMode="auto">
          <a:xfrm>
            <a:off x="685800" y="1143000"/>
            <a:ext cx="5485680" cy="3085560"/>
          </a:xfrm>
          <a:prstGeom prst="rect">
            <a:avLst/>
          </a:prstGeom>
          <a:ln w="0">
            <a:noFill/>
          </a:ln>
        </p:spPr>
      </p:sp>
      <p:sp>
        <p:nvSpPr>
          <p:cNvPr id="2501253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en-US" sz="2000" b="0" u="none" strike="noStrike">
                <a:solidFill>
                  <a:srgbClr val="000000"/>
                </a:solidFill>
                <a:latin typeface="Arial"/>
              </a:rPr>
              <a:t>cedar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569462522"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D446A9A-4EF1-4B6D-B6DF-5DE9DA9CB5D9}"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5865552" name="PlaceHolder 1"/>
          <p:cNvSpPr>
            <a:spLocks noGrp="1"/>
          </p:cNvSpPr>
          <p:nvPr>
            <p:ph type="sldImg"/>
          </p:nvPr>
        </p:nvSpPr>
        <p:spPr bwMode="auto">
          <a:xfrm>
            <a:off x="685800" y="1143000"/>
            <a:ext cx="5485680" cy="3085560"/>
          </a:xfrm>
          <a:prstGeom prst="rect">
            <a:avLst/>
          </a:prstGeom>
          <a:ln w="0">
            <a:noFill/>
          </a:ln>
        </p:spPr>
      </p:sp>
      <p:sp>
        <p:nvSpPr>
          <p:cNvPr id="7703330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575292519"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FFD885A-18A4-49F3-A9D0-5FBD5D1D577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0980789" name="PlaceHolder 1"/>
          <p:cNvSpPr>
            <a:spLocks noGrp="1"/>
          </p:cNvSpPr>
          <p:nvPr>
            <p:ph type="sldImg"/>
          </p:nvPr>
        </p:nvSpPr>
        <p:spPr bwMode="auto">
          <a:xfrm>
            <a:off x="685800" y="1143000"/>
            <a:ext cx="5485680" cy="3085560"/>
          </a:xfrm>
          <a:prstGeom prst="rect">
            <a:avLst/>
          </a:prstGeom>
          <a:ln w="0">
            <a:noFill/>
          </a:ln>
        </p:spPr>
      </p:sp>
      <p:sp>
        <p:nvSpPr>
          <p:cNvPr id="165269867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closed</a:t>
            </a:r>
            <a:r>
              <a:rPr lang="en-US" sz="2000" b="0" u="none" strike="noStrike">
                <a:solidFill>
                  <a:srgbClr val="000000"/>
                </a:solidFill>
                <a:latin typeface="Arial"/>
              </a:rPr>
              <a:t> school building or empty factory,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770155183"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2A8DDE9C-CDA4-4B89-ACCD-11B700F96F76}"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7388506" name="PlaceHolder 1"/>
          <p:cNvSpPr>
            <a:spLocks noGrp="1"/>
          </p:cNvSpPr>
          <p:nvPr>
            <p:ph type="sldImg"/>
          </p:nvPr>
        </p:nvSpPr>
        <p:spPr bwMode="auto">
          <a:xfrm>
            <a:off x="685800" y="1143000"/>
            <a:ext cx="5485680" cy="3085560"/>
          </a:xfrm>
          <a:prstGeom prst="rect">
            <a:avLst/>
          </a:prstGeom>
          <a:ln w="0">
            <a:noFill/>
          </a:ln>
        </p:spPr>
      </p:sp>
      <p:sp>
        <p:nvSpPr>
          <p:cNvPr id="2728197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898648635"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9E78C7-CBF8-44D4-A702-70646A24E1D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878641" name="PlaceHolder 1"/>
          <p:cNvSpPr>
            <a:spLocks noGrp="1"/>
          </p:cNvSpPr>
          <p:nvPr>
            <p:ph type="sldImg"/>
          </p:nvPr>
        </p:nvSpPr>
        <p:spPr bwMode="auto">
          <a:xfrm>
            <a:off x="685800" y="1143000"/>
            <a:ext cx="5485680" cy="3085560"/>
          </a:xfrm>
          <a:prstGeom prst="rect">
            <a:avLst/>
          </a:prstGeom>
          <a:ln w="0">
            <a:noFill/>
          </a:ln>
        </p:spPr>
      </p:sp>
      <p:sp>
        <p:nvSpPr>
          <p:cNvPr id="191574902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en-US" sz="2000" b="0" u="none" strike="noStrike">
                <a:solidFill>
                  <a:srgbClr val="000000"/>
                </a:solidFill>
                <a:latin typeface="Arial"/>
              </a:rPr>
              <a:t>hree advisors have committed: Joi Ito, Ray Ozzie and Takuo Dome. And we have a project manager. 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813368268"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BFB03E7-88E6-41E8-859B-AA1375368CE3}"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4254768" name="PlaceHolder 1"/>
          <p:cNvSpPr>
            <a:spLocks noGrp="1"/>
          </p:cNvSpPr>
          <p:nvPr>
            <p:ph type="sldImg"/>
          </p:nvPr>
        </p:nvSpPr>
        <p:spPr bwMode="auto">
          <a:xfrm>
            <a:off x="685800" y="1143000"/>
            <a:ext cx="5485680" cy="3085560"/>
          </a:xfrm>
          <a:prstGeom prst="rect">
            <a:avLst/>
          </a:prstGeom>
          <a:ln w="0">
            <a:noFill/>
          </a:ln>
        </p:spPr>
      </p:sp>
      <p:sp>
        <p:nvSpPr>
          <p:cNvPr id="169465673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1980201305"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544B33AE-FBCF-46B6-84DE-8E1B65B01AEF}"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687424" name="PlaceHolder 1"/>
          <p:cNvSpPr>
            <a:spLocks noGrp="1"/>
          </p:cNvSpPr>
          <p:nvPr>
            <p:ph type="sldImg"/>
          </p:nvPr>
        </p:nvSpPr>
        <p:spPr bwMode="auto">
          <a:xfrm>
            <a:off x="216000" y="812520"/>
            <a:ext cx="7126920" cy="4008600"/>
          </a:xfrm>
          <a:prstGeom prst="rect">
            <a:avLst/>
          </a:prstGeom>
          <a:ln w="0">
            <a:noFill/>
          </a:ln>
        </p:spPr>
      </p:sp>
      <p:sp>
        <p:nvSpPr>
          <p:cNvPr id="1579727826" name="PlaceHolder 2"/>
          <p:cNvSpPr>
            <a:spLocks noGrp="1"/>
          </p:cNvSpPr>
          <p:nvPr>
            <p:ph type="body"/>
          </p:nvPr>
        </p:nvSpPr>
        <p:spPr bwMode="auto">
          <a:xfrm>
            <a:off x="756000" y="5078520"/>
            <a:ext cx="6047280" cy="4810680"/>
          </a:xfrm>
          <a:prstGeom prst="rect">
            <a:avLst/>
          </a:prstGeom>
          <a:noFill/>
          <a:ln w="0">
            <a:noFill/>
          </a:ln>
        </p:spPr>
        <p:txBody>
          <a:bodyPr lIns="0" tIns="0" rIns="0" bIns="0" anchor="t">
            <a:noAutofit/>
          </a:bodyPr>
          <a:p>
            <a:pPr indent="0" algn="l">
              <a:buNone/>
              <a:defRPr/>
            </a:pPr>
            <a:endParaRPr lang="en-US" sz="1800" b="0" u="none" strike="noStrike">
              <a:solidFill>
                <a:srgbClr val="000000"/>
              </a:solidFill>
              <a:latin typeface="Arial"/>
            </a:endParaRPr>
          </a:p>
        </p:txBody>
      </p:sp>
      <p:sp>
        <p:nvSpPr>
          <p:cNvPr id="844841386" name="PlaceHolder 3"/>
          <p:cNvSpPr>
            <a:spLocks noGrp="1"/>
          </p:cNvSpPr>
          <p:nvPr>
            <p:ph type="sldNum" idx="14"/>
          </p:nvPr>
        </p:nvSpPr>
        <p:spPr bwMode="auto">
          <a:xfrm>
            <a:off x="4278960" y="10157400"/>
            <a:ext cx="3280320" cy="533880"/>
          </a:xfrm>
          <a:prstGeom prst="rect">
            <a:avLst/>
          </a:prstGeom>
          <a:noFill/>
          <a:ln w="0">
            <a:noFill/>
          </a:ln>
        </p:spPr>
        <p:txBody>
          <a:bodyPr lIns="0" tIns="0" rIns="0" bIns="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4223810" name="PlaceHolder 1"/>
          <p:cNvSpPr>
            <a:spLocks noGrp="1"/>
          </p:cNvSpPr>
          <p:nvPr>
            <p:ph type="sldImg"/>
          </p:nvPr>
        </p:nvSpPr>
        <p:spPr bwMode="auto">
          <a:xfrm>
            <a:off x="685800" y="1143000"/>
            <a:ext cx="5485680" cy="3085560"/>
          </a:xfrm>
          <a:prstGeom prst="rect">
            <a:avLst/>
          </a:prstGeom>
          <a:ln w="0">
            <a:noFill/>
          </a:ln>
        </p:spPr>
      </p:sp>
      <p:sp>
        <p:nvSpPr>
          <p:cNvPr id="152788286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82749516"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E96DB6FB-C349-4983-A7D4-BEFEEA08711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217461729"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a:t>
            </a:r>
            <a:r>
              <a:rPr lang="en-US" sz="1800" b="0" u="none" strike="noStrike">
                <a:solidFill>
                  <a:schemeClr val="dk1"/>
                </a:solidFill>
                <a:latin typeface="Calibri"/>
              </a:rPr>
              <a:t>title text format</a:t>
            </a:r>
            <a:endParaRPr lang="en-US" sz="1800" b="0" u="none" strike="noStrike">
              <a:solidFill>
                <a:schemeClr val="dk1"/>
              </a:solidFill>
              <a:latin typeface="Calibri"/>
            </a:endParaRPr>
          </a:p>
        </p:txBody>
      </p:sp>
      <p:sp>
        <p:nvSpPr>
          <p:cNvPr id="1944315250"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88033948" name="Shape 0"/>
          <p:cNvSpPr/>
          <p:nvPr/>
        </p:nvSpPr>
        <p:spPr bwMode="auto">
          <a:xfrm>
            <a:off x="1047600" y="762120"/>
            <a:ext cx="532800" cy="53280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12539021" name="Text 1"/>
          <p:cNvSpPr/>
          <p:nvPr/>
        </p:nvSpPr>
        <p:spPr bwMode="auto">
          <a:xfrm>
            <a:off x="1047600" y="762120"/>
            <a:ext cx="608760" cy="570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729225923" name="Text 2"/>
          <p:cNvSpPr/>
          <p:nvPr/>
        </p:nvSpPr>
        <p:spPr bwMode="auto">
          <a:xfrm>
            <a:off x="1714680" y="89532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69960389" name="Text 3"/>
          <p:cNvSpPr/>
          <p:nvPr/>
        </p:nvSpPr>
        <p:spPr bwMode="auto">
          <a:xfrm>
            <a:off x="11809800" y="762120"/>
            <a:ext cx="5592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4723405" name="Text 4"/>
          <p:cNvSpPr/>
          <p:nvPr/>
        </p:nvSpPr>
        <p:spPr bwMode="auto">
          <a:xfrm>
            <a:off x="1047600" y="1866960"/>
            <a:ext cx="88290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127700994" name="Text 5"/>
          <p:cNvSpPr/>
          <p:nvPr/>
        </p:nvSpPr>
        <p:spPr bwMode="auto">
          <a:xfrm>
            <a:off x="1047600" y="2476440"/>
            <a:ext cx="8829000" cy="482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627960202" name="Text 6"/>
          <p:cNvSpPr/>
          <p:nvPr/>
        </p:nvSpPr>
        <p:spPr bwMode="auto">
          <a:xfrm>
            <a:off x="1047600" y="7607880"/>
            <a:ext cx="4591440" cy="1237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750516610" name="Image 0" descr="preencoded.png"/>
          <p:cNvPicPr/>
          <p:nvPr/>
        </p:nvPicPr>
        <p:blipFill rotWithShape="1">
          <a:blip r:embed="rId3"/>
          <a:stretch/>
        </p:blipFill>
        <p:spPr bwMode="auto">
          <a:xfrm>
            <a:off x="10382400" y="1866960"/>
            <a:ext cx="6857280" cy="6095160"/>
          </a:xfrm>
          <a:prstGeom prst="rect">
            <a:avLst/>
          </a:prstGeom>
          <a:noFill/>
          <a:ln w="0">
            <a:noFill/>
          </a:ln>
        </p:spPr>
      </p:pic>
      <p:sp>
        <p:nvSpPr>
          <p:cNvPr id="1560426425"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838390516" name="Text 8"/>
          <p:cNvSpPr/>
          <p:nvPr/>
        </p:nvSpPr>
        <p:spPr bwMode="auto">
          <a:xfrm>
            <a:off x="13830480" y="9258480"/>
            <a:ext cx="3511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82366579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9267488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4321555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30228129" name="Text 3"/>
          <p:cNvSpPr/>
          <p:nvPr/>
        </p:nvSpPr>
        <p:spPr bwMode="auto">
          <a:xfrm>
            <a:off x="14451840" y="762120"/>
            <a:ext cx="2871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134955933" name="Text 4"/>
          <p:cNvSpPr/>
          <p:nvPr/>
        </p:nvSpPr>
        <p:spPr bwMode="auto">
          <a:xfrm>
            <a:off x="1047600" y="1695600"/>
            <a:ext cx="79459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38240548" name="Text 5"/>
          <p:cNvSpPr/>
          <p:nvPr/>
        </p:nvSpPr>
        <p:spPr bwMode="auto">
          <a:xfrm flipH="0" flipV="0">
            <a:off x="1047600" y="2182320"/>
            <a:ext cx="7945920" cy="3747238"/>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85000" lnSpcReduction="3000"/>
          </a:bodyPr>
          <a:p>
            <a:pPr defTabSz="914400">
              <a:lnSpc>
                <a:spcPct val="98000"/>
              </a:lnSpc>
              <a:tabLst>
                <a:tab pos="0" algn="l"/>
              </a:tabLst>
              <a:defRPr/>
            </a:pPr>
            <a:r>
              <a:rPr lang="en-US" sz="7200" b="0" u="none" strike="noStrike" spc="-85">
                <a:solidFill>
                  <a:srgbClr val="1F2A24"/>
                </a:solidFill>
                <a:latin typeface="Georgia"/>
                <a:ea typeface="Georgia"/>
              </a:rPr>
              <a:t>One vacant school building. One </a:t>
            </a:r>
            <a:r>
              <a:rPr lang="en-US" sz="7200" b="0" i="1" u="none" strike="noStrike" spc="-85">
                <a:solidFill>
                  <a:srgbClr val="C4663A"/>
                </a:solidFill>
                <a:latin typeface="Georgia"/>
                <a:ea typeface="Georgia"/>
              </a:rPr>
              <a:t>tired </a:t>
            </a:r>
            <a:r>
              <a:rPr lang="en-US" sz="7200" b="0" i="1" u="none" strike="noStrike" spc="-85">
                <a:solidFill>
                  <a:srgbClr val="C4663A"/>
                </a:solidFill>
                <a:latin typeface="Georgia"/>
                <a:ea typeface="Georgia"/>
              </a:rPr>
              <a:t>forest. </a:t>
            </a:r>
            <a:r>
              <a:rPr lang="en-US" sz="7200" b="0" u="none" strike="noStrike" spc="-85">
                <a:solidFill>
                  <a:srgbClr val="1F2A24"/>
                </a:solidFill>
                <a:latin typeface="Georgia"/>
                <a:ea typeface="Georgia"/>
              </a:rPr>
              <a:t>One short list of ideas.</a:t>
            </a:r>
            <a:endParaRPr lang="en-US" sz="7200" b="0" u="none" strike="noStrike">
              <a:solidFill>
                <a:srgbClr val="000000"/>
              </a:solidFill>
              <a:latin typeface="Arial"/>
            </a:endParaRPr>
          </a:p>
        </p:txBody>
      </p:sp>
      <p:sp>
        <p:nvSpPr>
          <p:cNvPr id="430092792" name="Text 6"/>
          <p:cNvSpPr/>
          <p:nvPr/>
        </p:nvSpPr>
        <p:spPr bwMode="auto">
          <a:xfrm>
            <a:off x="1102320" y="6118200"/>
            <a:ext cx="7945920" cy="158436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t>
            </a:r>
            <a:r>
              <a:rPr lang="en-US" sz="2100" b="0" u="none" strike="noStrike">
                <a:solidFill>
                  <a:srgbClr val="1F2A24"/>
                </a:solidFill>
                <a:latin typeface="Arial"/>
                <a:ea typeface="Arial"/>
              </a:rPr>
              <a:t>and moved to a new building — the old building sits empty. The cedar plantations around it are old and </a:t>
            </a:r>
            <a:r>
              <a:rPr lang="en-US" sz="2100" b="0" u="none" strike="noStrike">
                <a:solidFill>
                  <a:srgbClr val="1F2A24"/>
                </a:solidFill>
                <a:latin typeface="Arial"/>
                <a:ea typeface="Arial"/>
              </a:rPr>
              <a:t>unmanaged. The grid is fragile. None of this is unusual in rural Japan — that's the whole point.</a:t>
            </a:r>
            <a:endParaRPr lang="en-US" sz="2100" b="0" u="none" strike="noStrike">
              <a:solidFill>
                <a:srgbClr val="000000"/>
              </a:solidFill>
              <a:latin typeface="Arial"/>
            </a:endParaRPr>
          </a:p>
        </p:txBody>
      </p:sp>
      <p:sp>
        <p:nvSpPr>
          <p:cNvPr id="274282241" name="Text 7"/>
          <p:cNvSpPr/>
          <p:nvPr/>
        </p:nvSpPr>
        <p:spPr bwMode="auto">
          <a:xfrm>
            <a:off x="1143000" y="8229600"/>
            <a:ext cx="794592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698984298" name="Shape 8"/>
          <p:cNvSpPr/>
          <p:nvPr/>
        </p:nvSpPr>
        <p:spPr bwMode="auto">
          <a:xfrm>
            <a:off x="9655920" y="2391480"/>
            <a:ext cx="7714440" cy="5094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60027905" name="Text 9"/>
          <p:cNvSpPr/>
          <p:nvPr/>
        </p:nvSpPr>
        <p:spPr bwMode="auto">
          <a:xfrm>
            <a:off x="10008360" y="2743920"/>
            <a:ext cx="7220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226498309" name="Text 10"/>
          <p:cNvSpPr/>
          <p:nvPr/>
        </p:nvSpPr>
        <p:spPr bwMode="auto">
          <a:xfrm>
            <a:off x="10008360" y="3258360"/>
            <a:ext cx="7220160" cy="1561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1701075448" name="Shape 11"/>
          <p:cNvSpPr/>
          <p:nvPr/>
        </p:nvSpPr>
        <p:spPr bwMode="auto">
          <a:xfrm>
            <a:off x="10008360" y="5087160"/>
            <a:ext cx="700956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19625306" name="Text 12"/>
          <p:cNvSpPr/>
          <p:nvPr/>
        </p:nvSpPr>
        <p:spPr bwMode="auto">
          <a:xfrm>
            <a:off x="1000836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2096594506" name="Text 13"/>
          <p:cNvSpPr/>
          <p:nvPr/>
        </p:nvSpPr>
        <p:spPr bwMode="auto">
          <a:xfrm>
            <a:off x="1000836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544615274" name="Text 14"/>
          <p:cNvSpPr/>
          <p:nvPr/>
        </p:nvSpPr>
        <p:spPr bwMode="auto">
          <a:xfrm>
            <a:off x="1362780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195900908" name="Text 15"/>
          <p:cNvSpPr/>
          <p:nvPr/>
        </p:nvSpPr>
        <p:spPr bwMode="auto">
          <a:xfrm>
            <a:off x="1362780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574355336" name="Text 16"/>
          <p:cNvSpPr/>
          <p:nvPr/>
        </p:nvSpPr>
        <p:spPr bwMode="auto">
          <a:xfrm>
            <a:off x="1000836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457478355" name="Text 17"/>
          <p:cNvSpPr/>
          <p:nvPr/>
        </p:nvSpPr>
        <p:spPr bwMode="auto">
          <a:xfrm>
            <a:off x="1000836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2038025932" name="Text 18"/>
          <p:cNvSpPr/>
          <p:nvPr/>
        </p:nvSpPr>
        <p:spPr bwMode="auto">
          <a:xfrm>
            <a:off x="1362780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61531151" name="Text 19"/>
          <p:cNvSpPr/>
          <p:nvPr/>
        </p:nvSpPr>
        <p:spPr bwMode="auto">
          <a:xfrm>
            <a:off x="1362780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1895369323" name="Text 20"/>
          <p:cNvSpPr/>
          <p:nvPr/>
        </p:nvSpPr>
        <p:spPr bwMode="auto">
          <a:xfrm>
            <a:off x="8993880" y="9565200"/>
            <a:ext cx="79459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611105037" name="Text 21"/>
          <p:cNvSpPr/>
          <p:nvPr/>
        </p:nvSpPr>
        <p:spPr bwMode="auto">
          <a:xfrm>
            <a:off x="1143000" y="952524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60005435" name="Text 22"/>
          <p:cNvSpPr/>
          <p:nvPr/>
        </p:nvSpPr>
        <p:spPr bwMode="auto">
          <a:xfrm>
            <a:off x="16137000" y="9525240"/>
            <a:ext cx="1464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69513403"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5037930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41453361"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371229567" name="Text 3"/>
          <p:cNvSpPr/>
          <p:nvPr/>
        </p:nvSpPr>
        <p:spPr bwMode="auto">
          <a:xfrm>
            <a:off x="11188079" y="762120"/>
            <a:ext cx="6233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584469057" name="Text 4"/>
          <p:cNvSpPr/>
          <p:nvPr/>
        </p:nvSpPr>
        <p:spPr bwMode="auto">
          <a:xfrm>
            <a:off x="1047600" y="1619280"/>
            <a:ext cx="1387152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1829950530" name="Text 5"/>
          <p:cNvSpPr/>
          <p:nvPr/>
        </p:nvSpPr>
        <p:spPr bwMode="auto">
          <a:xfrm>
            <a:off x="1047600" y="3554280"/>
            <a:ext cx="1667772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760780902" name="Shape 6"/>
          <p:cNvSpPr/>
          <p:nvPr/>
        </p:nvSpPr>
        <p:spPr bwMode="auto">
          <a:xfrm>
            <a:off x="10476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69829031" name="Text 7"/>
          <p:cNvSpPr/>
          <p:nvPr/>
        </p:nvSpPr>
        <p:spPr bwMode="auto">
          <a:xfrm>
            <a:off x="10476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935371361" name="Image 0" descr="preencoded.png"/>
          <p:cNvPicPr/>
          <p:nvPr/>
        </p:nvPicPr>
        <p:blipFill rotWithShape="1">
          <a:blip r:embed="rId3"/>
          <a:stretch/>
        </p:blipFill>
        <p:spPr bwMode="auto">
          <a:xfrm>
            <a:off x="1047600" y="5078520"/>
            <a:ext cx="3832920" cy="1142280"/>
          </a:xfrm>
          <a:prstGeom prst="rect">
            <a:avLst/>
          </a:prstGeom>
          <a:noFill/>
          <a:ln w="0">
            <a:noFill/>
          </a:ln>
        </p:spPr>
      </p:pic>
      <p:sp>
        <p:nvSpPr>
          <p:cNvPr id="1357370725" name="Text 8"/>
          <p:cNvSpPr/>
          <p:nvPr/>
        </p:nvSpPr>
        <p:spPr bwMode="auto">
          <a:xfrm>
            <a:off x="10476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Japan targets 100% electrified new car sales by 2035.</a:t>
            </a:r>
            <a:endParaRPr lang="en-US" sz="3000" b="0" u="none" strike="noStrike">
              <a:solidFill>
                <a:srgbClr val="000000"/>
              </a:solidFill>
              <a:latin typeface="Arial"/>
            </a:endParaRPr>
          </a:p>
        </p:txBody>
      </p:sp>
      <p:sp>
        <p:nvSpPr>
          <p:cNvPr id="1430463210" name="Text 9"/>
          <p:cNvSpPr/>
          <p:nvPr/>
        </p:nvSpPr>
        <p:spPr bwMode="auto">
          <a:xfrm>
            <a:off x="1047600" y="7269840"/>
            <a:ext cx="3948120" cy="1058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In the EVs, PHEVs and FCVs — not pure-EV. Rural grids need distributed generation and charging; extension is slow and expensive.</a:t>
            </a:r>
            <a:endParaRPr lang="en-US" sz="1800" b="0" u="none" strike="noStrike">
              <a:solidFill>
                <a:srgbClr val="000000"/>
              </a:solidFill>
              <a:latin typeface="Arial"/>
            </a:endParaRPr>
          </a:p>
        </p:txBody>
      </p:sp>
      <p:sp>
        <p:nvSpPr>
          <p:cNvPr id="665961781" name="Shape 10"/>
          <p:cNvSpPr/>
          <p:nvPr/>
        </p:nvSpPr>
        <p:spPr bwMode="auto">
          <a:xfrm>
            <a:off x="516744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429591118" name="Text 11"/>
          <p:cNvSpPr/>
          <p:nvPr/>
        </p:nvSpPr>
        <p:spPr bwMode="auto">
          <a:xfrm>
            <a:off x="516744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129453831" name="Image 1" descr="preencoded.png"/>
          <p:cNvPicPr/>
          <p:nvPr/>
        </p:nvPicPr>
        <p:blipFill rotWithShape="1">
          <a:blip r:embed="rId4"/>
          <a:stretch/>
        </p:blipFill>
        <p:spPr bwMode="auto">
          <a:xfrm>
            <a:off x="5167440" y="5078520"/>
            <a:ext cx="3832920" cy="1142280"/>
          </a:xfrm>
          <a:prstGeom prst="rect">
            <a:avLst/>
          </a:prstGeom>
          <a:noFill/>
          <a:ln w="0">
            <a:noFill/>
          </a:ln>
        </p:spPr>
      </p:pic>
      <p:sp>
        <p:nvSpPr>
          <p:cNvPr id="698931401" name="Text 12"/>
          <p:cNvSpPr/>
          <p:nvPr/>
        </p:nvSpPr>
        <p:spPr bwMode="auto">
          <a:xfrm>
            <a:off x="516744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1564755667" name="Text 13"/>
          <p:cNvSpPr/>
          <p:nvPr/>
        </p:nvSpPr>
        <p:spPr bwMode="auto">
          <a:xfrm>
            <a:off x="516744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071908816" name="Shape 14"/>
          <p:cNvSpPr/>
          <p:nvPr/>
        </p:nvSpPr>
        <p:spPr bwMode="auto">
          <a:xfrm>
            <a:off x="928692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28082850" name="Text 15"/>
          <p:cNvSpPr/>
          <p:nvPr/>
        </p:nvSpPr>
        <p:spPr bwMode="auto">
          <a:xfrm>
            <a:off x="928692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271893856" name="Image 2" descr="preencoded.png"/>
          <p:cNvPicPr/>
          <p:nvPr/>
        </p:nvPicPr>
        <p:blipFill rotWithShape="1">
          <a:blip r:embed="rId5"/>
          <a:stretch/>
        </p:blipFill>
        <p:spPr bwMode="auto">
          <a:xfrm>
            <a:off x="9286920" y="5078520"/>
            <a:ext cx="3832920" cy="1142280"/>
          </a:xfrm>
          <a:prstGeom prst="rect">
            <a:avLst/>
          </a:prstGeom>
          <a:noFill/>
          <a:ln w="0">
            <a:noFill/>
          </a:ln>
        </p:spPr>
      </p:pic>
      <p:sp>
        <p:nvSpPr>
          <p:cNvPr id="32696254" name="Text 16"/>
          <p:cNvSpPr/>
          <p:nvPr/>
        </p:nvSpPr>
        <p:spPr bwMode="auto">
          <a:xfrm>
            <a:off x="928692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974097186" name="Text 17"/>
          <p:cNvSpPr/>
          <p:nvPr/>
        </p:nvSpPr>
        <p:spPr bwMode="auto">
          <a:xfrm>
            <a:off x="928692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81387572" name="Shape 18"/>
          <p:cNvSpPr/>
          <p:nvPr/>
        </p:nvSpPr>
        <p:spPr bwMode="auto">
          <a:xfrm>
            <a:off x="134064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65870567" name="Text 19"/>
          <p:cNvSpPr/>
          <p:nvPr/>
        </p:nvSpPr>
        <p:spPr bwMode="auto">
          <a:xfrm>
            <a:off x="134064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1799452687" name="Image 3" descr="preencoded.png"/>
          <p:cNvPicPr/>
          <p:nvPr/>
        </p:nvPicPr>
        <p:blipFill rotWithShape="1">
          <a:blip r:embed="rId6"/>
          <a:stretch/>
        </p:blipFill>
        <p:spPr bwMode="auto">
          <a:xfrm>
            <a:off x="13406400" y="5078520"/>
            <a:ext cx="3832920" cy="1142280"/>
          </a:xfrm>
          <a:prstGeom prst="rect">
            <a:avLst/>
          </a:prstGeom>
          <a:noFill/>
          <a:ln w="0">
            <a:noFill/>
          </a:ln>
        </p:spPr>
      </p:pic>
      <p:sp>
        <p:nvSpPr>
          <p:cNvPr id="651254532" name="Text 20"/>
          <p:cNvSpPr/>
          <p:nvPr/>
        </p:nvSpPr>
        <p:spPr bwMode="auto">
          <a:xfrm>
            <a:off x="134064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958904689" name="Text 21"/>
          <p:cNvSpPr/>
          <p:nvPr/>
        </p:nvSpPr>
        <p:spPr bwMode="auto">
          <a:xfrm>
            <a:off x="13425120" y="725112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2004727227" name="Text 2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420149401" name="Text 23"/>
          <p:cNvSpPr/>
          <p:nvPr/>
        </p:nvSpPr>
        <p:spPr bwMode="auto">
          <a:xfrm>
            <a:off x="10411200" y="9258480"/>
            <a:ext cx="7033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080061206"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3956491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956661563"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79584189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333062610"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1923230073" name="Text 5"/>
          <p:cNvSpPr/>
          <p:nvPr/>
        </p:nvSpPr>
        <p:spPr bwMode="auto">
          <a:xfrm>
            <a:off x="1047600" y="1790640"/>
            <a:ext cx="16677720" cy="367596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0000" lnSpcReduction="2000"/>
          </a:bodyPr>
          <a:p>
            <a:pPr defTabSz="914400">
              <a:lnSpc>
                <a:spcPct val="95000"/>
              </a:lnSpc>
              <a:tabLst>
                <a:tab pos="0" algn="l"/>
              </a:tabLst>
              <a:defRPr/>
            </a:pPr>
            <a:r>
              <a:rPr lang="en-US" sz="14000" b="0" u="none" strike="noStrike" spc="-150" baseline="-25000">
                <a:solidFill>
                  <a:srgbClr val="F3ECE0"/>
                </a:solidFill>
                <a:latin typeface="Georgia"/>
                <a:ea typeface="Georgia"/>
              </a:rPr>
              <a:t>Forest. Power. Compute. </a:t>
            </a:r>
            <a:r>
              <a:rPr lang="en-US" sz="14000" b="0" i="1" u="none" strike="noStrike" spc="-150" baseline="-25000">
                <a:solidFill>
                  <a:srgbClr val="F3B486"/>
                </a:solidFill>
                <a:latin typeface="Georgia"/>
                <a:ea typeface="Georgia"/>
              </a:rPr>
              <a:t>One ledger.</a:t>
            </a:r>
            <a:endParaRPr lang="en-US" sz="14000" b="0" u="none" strike="noStrike">
              <a:solidFill>
                <a:srgbClr val="FFFFFF"/>
              </a:solidFill>
              <a:latin typeface="Arial"/>
            </a:endParaRPr>
          </a:p>
        </p:txBody>
      </p:sp>
      <p:sp>
        <p:nvSpPr>
          <p:cNvPr id="1890078306" name="Text 6"/>
          <p:cNvSpPr/>
          <p:nvPr/>
        </p:nvSpPr>
        <p:spPr bwMode="auto">
          <a:xfrm>
            <a:off x="1047600" y="5829480"/>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18400290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250303048"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651766513"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959914260"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940004361"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648189147"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125935996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15930006"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649028904"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948514489"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48347046"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77791858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9233116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663484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600442508" name="Text 3"/>
          <p:cNvSpPr/>
          <p:nvPr/>
        </p:nvSpPr>
        <p:spPr bwMode="auto">
          <a:xfrm>
            <a:off x="12376800" y="762120"/>
            <a:ext cx="50086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233878157" name="Text 4"/>
          <p:cNvSpPr/>
          <p:nvPr/>
        </p:nvSpPr>
        <p:spPr bwMode="auto">
          <a:xfrm>
            <a:off x="1047600" y="1695600"/>
            <a:ext cx="8324280" cy="251100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2050839179" name="Text 5"/>
          <p:cNvSpPr/>
          <p:nvPr/>
        </p:nvSpPr>
        <p:spPr bwMode="auto">
          <a:xfrm>
            <a:off x="1047600" y="4340520"/>
            <a:ext cx="8324280" cy="1584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760411215" name="Text 6"/>
          <p:cNvSpPr/>
          <p:nvPr/>
        </p:nvSpPr>
        <p:spPr bwMode="auto">
          <a:xfrm>
            <a:off x="1047600" y="6154200"/>
            <a:ext cx="832428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567455502" name="Text 7"/>
          <p:cNvSpPr/>
          <p:nvPr/>
        </p:nvSpPr>
        <p:spPr bwMode="auto">
          <a:xfrm>
            <a:off x="1047600" y="7194240"/>
            <a:ext cx="832428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427316009" name="Text 9"/>
          <p:cNvSpPr/>
          <p:nvPr/>
        </p:nvSpPr>
        <p:spPr bwMode="auto">
          <a:xfrm>
            <a:off x="104760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1044903909" name="Text 10"/>
          <p:cNvSpPr/>
          <p:nvPr/>
        </p:nvSpPr>
        <p:spPr bwMode="auto">
          <a:xfrm>
            <a:off x="104760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576785506" name="Text 11"/>
          <p:cNvSpPr/>
          <p:nvPr/>
        </p:nvSpPr>
        <p:spPr bwMode="auto">
          <a:xfrm>
            <a:off x="383724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2054802533" name="Text 12"/>
          <p:cNvSpPr/>
          <p:nvPr/>
        </p:nvSpPr>
        <p:spPr bwMode="auto">
          <a:xfrm>
            <a:off x="383724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804985917" name="Text 13"/>
          <p:cNvSpPr/>
          <p:nvPr/>
        </p:nvSpPr>
        <p:spPr bwMode="auto">
          <a:xfrm>
            <a:off x="662652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977277054" name="Text 14"/>
          <p:cNvSpPr/>
          <p:nvPr/>
        </p:nvSpPr>
        <p:spPr bwMode="auto">
          <a:xfrm>
            <a:off x="662652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06232255" name="Shape 15"/>
          <p:cNvSpPr/>
          <p:nvPr/>
        </p:nvSpPr>
        <p:spPr bwMode="auto">
          <a:xfrm>
            <a:off x="9892440" y="1695600"/>
            <a:ext cx="7347240" cy="3333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44784085" name="Text 16"/>
          <p:cNvSpPr/>
          <p:nvPr/>
        </p:nvSpPr>
        <p:spPr bwMode="auto">
          <a:xfrm>
            <a:off x="10168560" y="197172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1545940214" name="Image 0" descr="preencoded.png"/>
          <p:cNvPicPr/>
          <p:nvPr/>
        </p:nvPicPr>
        <p:blipFill rotWithShape="1">
          <a:blip r:embed="rId3"/>
          <a:stretch/>
        </p:blipFill>
        <p:spPr bwMode="auto">
          <a:xfrm>
            <a:off x="10168560" y="2486160"/>
            <a:ext cx="6794640" cy="1523160"/>
          </a:xfrm>
          <a:prstGeom prst="rect">
            <a:avLst/>
          </a:prstGeom>
          <a:noFill/>
          <a:ln w="0">
            <a:noFill/>
          </a:ln>
        </p:spPr>
      </p:pic>
      <p:sp>
        <p:nvSpPr>
          <p:cNvPr id="1763979951" name="Text 17"/>
          <p:cNvSpPr/>
          <p:nvPr/>
        </p:nvSpPr>
        <p:spPr bwMode="auto">
          <a:xfrm>
            <a:off x="10168560" y="404820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878671556" name="Shape 18"/>
          <p:cNvSpPr/>
          <p:nvPr/>
        </p:nvSpPr>
        <p:spPr bwMode="auto">
          <a:xfrm>
            <a:off x="9892440" y="5729760"/>
            <a:ext cx="7347240" cy="31852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65512276" name="Text 19"/>
          <p:cNvSpPr/>
          <p:nvPr/>
        </p:nvSpPr>
        <p:spPr bwMode="auto">
          <a:xfrm>
            <a:off x="10168560" y="600588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39085578" name="Image 1" descr="preencoded.png"/>
          <p:cNvPicPr/>
          <p:nvPr/>
        </p:nvPicPr>
        <p:blipFill rotWithShape="1">
          <a:blip r:embed="rId4"/>
          <a:stretch/>
        </p:blipFill>
        <p:spPr bwMode="auto">
          <a:xfrm>
            <a:off x="10168560" y="6520320"/>
            <a:ext cx="6794640" cy="1523160"/>
          </a:xfrm>
          <a:prstGeom prst="rect">
            <a:avLst/>
          </a:prstGeom>
          <a:noFill/>
          <a:ln w="0">
            <a:noFill/>
          </a:ln>
        </p:spPr>
      </p:pic>
      <p:sp>
        <p:nvSpPr>
          <p:cNvPr id="556946829" name="Text 20"/>
          <p:cNvSpPr/>
          <p:nvPr/>
        </p:nvSpPr>
        <p:spPr bwMode="auto">
          <a:xfrm>
            <a:off x="10168560" y="808236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84090481" name="Text 21"/>
          <p:cNvSpPr/>
          <p:nvPr/>
        </p:nvSpPr>
        <p:spPr bwMode="auto">
          <a:xfrm>
            <a:off x="1047600" y="953532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1665388593" name="Text 22"/>
          <p:cNvSpPr/>
          <p:nvPr/>
        </p:nvSpPr>
        <p:spPr bwMode="auto">
          <a:xfrm>
            <a:off x="9323280" y="9535320"/>
            <a:ext cx="81536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30755712"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6037930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86173797"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15017798" name="Text 3"/>
          <p:cNvSpPr/>
          <p:nvPr/>
        </p:nvSpPr>
        <p:spPr bwMode="auto">
          <a:xfrm>
            <a:off x="12129840" y="762120"/>
            <a:ext cx="526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878002428" name="Text 4"/>
          <p:cNvSpPr/>
          <p:nvPr/>
        </p:nvSpPr>
        <p:spPr bwMode="auto">
          <a:xfrm>
            <a:off x="1047600" y="1695600"/>
            <a:ext cx="1502784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674851238" name="Text 5"/>
          <p:cNvSpPr/>
          <p:nvPr/>
        </p:nvSpPr>
        <p:spPr bwMode="auto">
          <a:xfrm>
            <a:off x="1047600" y="3935519"/>
            <a:ext cx="1221696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754196127" name="Shape 6"/>
          <p:cNvSpPr/>
          <p:nvPr/>
        </p:nvSpPr>
        <p:spPr bwMode="auto">
          <a:xfrm>
            <a:off x="952920" y="5640840"/>
            <a:ext cx="16191720" cy="2817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11841968" name="Image 0" descr="preencoded.png"/>
          <p:cNvPicPr/>
          <p:nvPr/>
        </p:nvPicPr>
        <p:blipFill rotWithShape="1">
          <a:blip r:embed="rId3"/>
          <a:stretch/>
        </p:blipFill>
        <p:spPr bwMode="auto">
          <a:xfrm>
            <a:off x="1305360" y="5993280"/>
            <a:ext cx="15486840" cy="2112120"/>
          </a:xfrm>
          <a:prstGeom prst="rect">
            <a:avLst/>
          </a:prstGeom>
          <a:noFill/>
          <a:ln w="0">
            <a:noFill/>
          </a:ln>
        </p:spPr>
      </p:pic>
      <p:sp>
        <p:nvSpPr>
          <p:cNvPr id="2087396952"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1931515640" name="Text 8"/>
          <p:cNvSpPr/>
          <p:nvPr/>
        </p:nvSpPr>
        <p:spPr bwMode="auto">
          <a:xfrm>
            <a:off x="8546040" y="9258480"/>
            <a:ext cx="895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9959688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643411"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85792836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983970349" name="Text 3"/>
          <p:cNvSpPr/>
          <p:nvPr/>
        </p:nvSpPr>
        <p:spPr bwMode="auto">
          <a:xfrm>
            <a:off x="10859040" y="762120"/>
            <a:ext cx="6572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1928682043" name="Text 4"/>
          <p:cNvSpPr/>
          <p:nvPr/>
        </p:nvSpPr>
        <p:spPr bwMode="auto">
          <a:xfrm>
            <a:off x="1047600" y="1695600"/>
            <a:ext cx="7945920" cy="262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1470310615" name="Text 5"/>
          <p:cNvSpPr/>
          <p:nvPr/>
        </p:nvSpPr>
        <p:spPr bwMode="auto">
          <a:xfrm>
            <a:off x="1047600" y="3710880"/>
            <a:ext cx="7945920" cy="198396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a:lnSpc>
                <a:spcPct val="100000"/>
              </a:lnSpc>
              <a:defRPr/>
            </a:pPr>
            <a:r>
              <a:rPr lang="en-US" sz="1900" b="0" u="none" strike="noStrike">
                <a:solidFill>
                  <a:srgbClr val="1F2A24"/>
                </a:solidFill>
                <a:latin typeface="Arial"/>
                <a:ea typeface="Arial"/>
              </a:rPr>
              <a:t>"A data center in the heart of the community."</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1F2A24"/>
                </a:solidFill>
                <a:latin typeface="Arial"/>
                <a:ea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1900" b="0" u="none" strike="noStrike">
              <a:solidFill>
                <a:srgbClr val="000000"/>
              </a:solidFill>
              <a:latin typeface="Arial"/>
            </a:endParaRPr>
          </a:p>
        </p:txBody>
      </p:sp>
      <p:sp>
        <p:nvSpPr>
          <p:cNvPr id="1006911488" name="Text 6"/>
          <p:cNvSpPr/>
          <p:nvPr/>
        </p:nvSpPr>
        <p:spPr bwMode="auto">
          <a:xfrm>
            <a:off x="1047600" y="6017760"/>
            <a:ext cx="794592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1826533774" name="Shape 7"/>
          <p:cNvSpPr/>
          <p:nvPr/>
        </p:nvSpPr>
        <p:spPr bwMode="auto">
          <a:xfrm>
            <a:off x="1047600" y="8251560"/>
            <a:ext cx="771444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15595066" name="Text 8"/>
          <p:cNvSpPr/>
          <p:nvPr/>
        </p:nvSpPr>
        <p:spPr bwMode="auto">
          <a:xfrm>
            <a:off x="104760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270126778" name="Text 9"/>
          <p:cNvSpPr/>
          <p:nvPr/>
        </p:nvSpPr>
        <p:spPr bwMode="auto">
          <a:xfrm>
            <a:off x="104760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328626872" name="Text 10"/>
          <p:cNvSpPr/>
          <p:nvPr/>
        </p:nvSpPr>
        <p:spPr bwMode="auto">
          <a:xfrm>
            <a:off x="36957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121976212" name="Text 11"/>
          <p:cNvSpPr/>
          <p:nvPr/>
        </p:nvSpPr>
        <p:spPr bwMode="auto">
          <a:xfrm>
            <a:off x="36957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976663992" name="Text 12"/>
          <p:cNvSpPr/>
          <p:nvPr/>
        </p:nvSpPr>
        <p:spPr bwMode="auto">
          <a:xfrm>
            <a:off x="63435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1867475575" name="Text 13"/>
          <p:cNvSpPr/>
          <p:nvPr/>
        </p:nvSpPr>
        <p:spPr bwMode="auto">
          <a:xfrm>
            <a:off x="63435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1847193330" name="Shape 14"/>
          <p:cNvSpPr/>
          <p:nvPr/>
        </p:nvSpPr>
        <p:spPr bwMode="auto">
          <a:xfrm>
            <a:off x="9524880" y="1695600"/>
            <a:ext cx="7714440" cy="651384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32405298" name="Text 15"/>
          <p:cNvSpPr/>
          <p:nvPr/>
        </p:nvSpPr>
        <p:spPr bwMode="auto">
          <a:xfrm>
            <a:off x="10010880" y="2181240"/>
            <a:ext cx="6945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908766300" name="Image 0" descr="preencoded.png"/>
          <p:cNvPicPr/>
          <p:nvPr/>
        </p:nvPicPr>
        <p:blipFill rotWithShape="1">
          <a:blip r:embed="rId3"/>
          <a:stretch/>
        </p:blipFill>
        <p:spPr bwMode="auto">
          <a:xfrm>
            <a:off x="10010880" y="2676600"/>
            <a:ext cx="6743160" cy="5009039"/>
          </a:xfrm>
          <a:prstGeom prst="rect">
            <a:avLst/>
          </a:prstGeom>
          <a:noFill/>
          <a:ln w="0">
            <a:noFill/>
          </a:ln>
        </p:spPr>
      </p:pic>
      <p:sp>
        <p:nvSpPr>
          <p:cNvPr id="160612037" name="Text 16"/>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994453907" name="Text 17"/>
          <p:cNvSpPr/>
          <p:nvPr/>
        </p:nvSpPr>
        <p:spPr bwMode="auto">
          <a:xfrm>
            <a:off x="6836400" y="9258480"/>
            <a:ext cx="10715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55514637"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18989533"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06881480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207279293" name="Text 3"/>
          <p:cNvSpPr/>
          <p:nvPr/>
        </p:nvSpPr>
        <p:spPr bwMode="auto">
          <a:xfrm>
            <a:off x="10877400" y="762120"/>
            <a:ext cx="6553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1232678384" name="Text 4"/>
          <p:cNvSpPr/>
          <p:nvPr/>
        </p:nvSpPr>
        <p:spPr bwMode="auto">
          <a:xfrm>
            <a:off x="1047600" y="1790640"/>
            <a:ext cx="16677720" cy="2332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1107107847" name="Text 5"/>
          <p:cNvSpPr/>
          <p:nvPr/>
        </p:nvSpPr>
        <p:spPr bwMode="auto">
          <a:xfrm>
            <a:off x="1047600" y="4486320"/>
            <a:ext cx="12216960" cy="424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1336406185" name="Shape 6"/>
          <p:cNvSpPr/>
          <p:nvPr/>
        </p:nvSpPr>
        <p:spPr bwMode="auto">
          <a:xfrm>
            <a:off x="104760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465776926" name="Text 7"/>
          <p:cNvSpPr/>
          <p:nvPr/>
        </p:nvSpPr>
        <p:spPr bwMode="auto">
          <a:xfrm>
            <a:off x="104760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956016087" name="Text 8"/>
          <p:cNvSpPr/>
          <p:nvPr/>
        </p:nvSpPr>
        <p:spPr bwMode="auto">
          <a:xfrm>
            <a:off x="86112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303220032" name="Shape 9"/>
          <p:cNvSpPr/>
          <p:nvPr/>
        </p:nvSpPr>
        <p:spPr bwMode="auto">
          <a:xfrm>
            <a:off x="657216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67249334" name="Text 10"/>
          <p:cNvSpPr/>
          <p:nvPr/>
        </p:nvSpPr>
        <p:spPr bwMode="auto">
          <a:xfrm>
            <a:off x="657216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1293647505" name="Text 11"/>
          <p:cNvSpPr/>
          <p:nvPr/>
        </p:nvSpPr>
        <p:spPr bwMode="auto">
          <a:xfrm>
            <a:off x="638568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82132355" name="Shape 12"/>
          <p:cNvSpPr/>
          <p:nvPr/>
        </p:nvSpPr>
        <p:spPr bwMode="auto">
          <a:xfrm>
            <a:off x="1209672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05499520" name="Text 13"/>
          <p:cNvSpPr/>
          <p:nvPr/>
        </p:nvSpPr>
        <p:spPr bwMode="auto">
          <a:xfrm>
            <a:off x="1209672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1795136970" name="Text 14"/>
          <p:cNvSpPr/>
          <p:nvPr/>
        </p:nvSpPr>
        <p:spPr bwMode="auto">
          <a:xfrm>
            <a:off x="1191024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337470506" name="Text 15"/>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1955705268" name="Text 16"/>
          <p:cNvSpPr/>
          <p:nvPr/>
        </p:nvSpPr>
        <p:spPr bwMode="auto">
          <a:xfrm>
            <a:off x="8235360" y="9258480"/>
            <a:ext cx="9274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42382326"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05320728"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6817967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816954103" name="Text 3"/>
          <p:cNvSpPr/>
          <p:nvPr/>
        </p:nvSpPr>
        <p:spPr bwMode="auto">
          <a:xfrm>
            <a:off x="11654640" y="76212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1453090325" name="Text 4"/>
          <p:cNvSpPr/>
          <p:nvPr/>
        </p:nvSpPr>
        <p:spPr bwMode="auto">
          <a:xfrm>
            <a:off x="1047600" y="1657440"/>
            <a:ext cx="83242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82458211" name="Text 5"/>
          <p:cNvSpPr/>
          <p:nvPr/>
        </p:nvSpPr>
        <p:spPr bwMode="auto">
          <a:xfrm>
            <a:off x="1047600" y="2133720"/>
            <a:ext cx="8324280" cy="5000039"/>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1137641924" name="Text 6"/>
          <p:cNvSpPr/>
          <p:nvPr/>
        </p:nvSpPr>
        <p:spPr bwMode="auto">
          <a:xfrm>
            <a:off x="1047600" y="5850720"/>
            <a:ext cx="824616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466410382" name="Shape 7"/>
          <p:cNvSpPr/>
          <p:nvPr/>
        </p:nvSpPr>
        <p:spPr bwMode="auto">
          <a:xfrm>
            <a:off x="1047600" y="7353720"/>
            <a:ext cx="808200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28580544" name="Text 8"/>
          <p:cNvSpPr/>
          <p:nvPr/>
        </p:nvSpPr>
        <p:spPr bwMode="auto">
          <a:xfrm>
            <a:off x="1047600" y="7410960"/>
            <a:ext cx="832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59234150" name="Text 9"/>
          <p:cNvSpPr/>
          <p:nvPr/>
        </p:nvSpPr>
        <p:spPr bwMode="auto">
          <a:xfrm>
            <a:off x="1047600" y="7849080"/>
            <a:ext cx="333648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endParaRPr lang="en-US" sz="3900" b="0" u="none" strike="noStrike">
              <a:solidFill>
                <a:srgbClr val="000000"/>
              </a:solidFill>
              <a:latin typeface="Arial"/>
            </a:endParaRPr>
          </a:p>
        </p:txBody>
      </p:sp>
      <p:sp>
        <p:nvSpPr>
          <p:cNvPr id="1937581696" name="Text 10"/>
          <p:cNvSpPr/>
          <p:nvPr/>
        </p:nvSpPr>
        <p:spPr bwMode="auto">
          <a:xfrm>
            <a:off x="1047600" y="8448840"/>
            <a:ext cx="3336480" cy="79920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endParaRPr lang="en-US" sz="1900" b="0" u="none" strike="noStrike">
              <a:solidFill>
                <a:srgbClr val="000000"/>
              </a:solidFill>
              <a:latin typeface="Arial"/>
            </a:endParaRPr>
          </a:p>
        </p:txBody>
      </p:sp>
      <p:sp>
        <p:nvSpPr>
          <p:cNvPr id="696495354" name="Text 11"/>
          <p:cNvSpPr/>
          <p:nvPr/>
        </p:nvSpPr>
        <p:spPr bwMode="auto">
          <a:xfrm>
            <a:off x="1061280"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718714885" name="Text 12"/>
          <p:cNvSpPr/>
          <p:nvPr/>
        </p:nvSpPr>
        <p:spPr bwMode="auto">
          <a:xfrm>
            <a:off x="1061280" y="8448840"/>
            <a:ext cx="3807720" cy="79920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1388643071" name="Shape 13"/>
          <p:cNvSpPr/>
          <p:nvPr/>
        </p:nvSpPr>
        <p:spPr bwMode="auto">
          <a:xfrm>
            <a:off x="9892440" y="1657440"/>
            <a:ext cx="7347240" cy="2757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68525620" name="Text 14"/>
          <p:cNvSpPr/>
          <p:nvPr/>
        </p:nvSpPr>
        <p:spPr bwMode="auto">
          <a:xfrm>
            <a:off x="10187640" y="19144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2119513788" name="Text 15"/>
          <p:cNvSpPr/>
          <p:nvPr/>
        </p:nvSpPr>
        <p:spPr bwMode="auto">
          <a:xfrm>
            <a:off x="10237320" y="2343240"/>
            <a:ext cx="6783480" cy="170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Ray Ozzie, Takuo Dome</a:t>
            </a:r>
            <a:endParaRPr lang="en-US" sz="1800" b="0" u="none" strike="noStrike">
              <a:solidFill>
                <a:srgbClr val="000000"/>
              </a:solidFill>
              <a:latin typeface="Arial"/>
            </a:endParaRPr>
          </a:p>
        </p:txBody>
      </p:sp>
      <p:sp>
        <p:nvSpPr>
          <p:cNvPr id="477508849" name="Shape 16"/>
          <p:cNvSpPr/>
          <p:nvPr/>
        </p:nvSpPr>
        <p:spPr bwMode="auto">
          <a:xfrm>
            <a:off x="9892440" y="4624560"/>
            <a:ext cx="7347240" cy="2423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263312" name="Text 17"/>
          <p:cNvSpPr/>
          <p:nvPr/>
        </p:nvSpPr>
        <p:spPr bwMode="auto">
          <a:xfrm>
            <a:off x="10187640" y="4881960"/>
            <a:ext cx="6959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581245486" name="Text 18"/>
          <p:cNvSpPr/>
          <p:nvPr/>
        </p:nvSpPr>
        <p:spPr bwMode="auto">
          <a:xfrm>
            <a:off x="10237320" y="528192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773296721" name="Shape 19"/>
          <p:cNvSpPr/>
          <p:nvPr/>
        </p:nvSpPr>
        <p:spPr bwMode="auto">
          <a:xfrm>
            <a:off x="9892440" y="7230240"/>
            <a:ext cx="7347240" cy="2270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74567887" name="Text 20"/>
          <p:cNvSpPr/>
          <p:nvPr/>
        </p:nvSpPr>
        <p:spPr bwMode="auto">
          <a:xfrm>
            <a:off x="10187640" y="75160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056346172" name="Text 21"/>
          <p:cNvSpPr/>
          <p:nvPr/>
        </p:nvSpPr>
        <p:spPr bwMode="auto">
          <a:xfrm>
            <a:off x="10237320" y="794484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1702503335" name="Text 22"/>
          <p:cNvSpPr/>
          <p:nvPr/>
        </p:nvSpPr>
        <p:spPr bwMode="auto">
          <a:xfrm>
            <a:off x="1061280" y="97596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1753262371" name="Text 23"/>
          <p:cNvSpPr/>
          <p:nvPr/>
        </p:nvSpPr>
        <p:spPr bwMode="auto">
          <a:xfrm>
            <a:off x="11486880" y="975960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448721175" name="Text 11"/>
          <p:cNvSpPr/>
          <p:nvPr/>
        </p:nvSpPr>
        <p:spPr bwMode="auto">
          <a:xfrm>
            <a:off x="5019055"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1291681528" name="Text 12"/>
          <p:cNvSpPr/>
          <p:nvPr/>
        </p:nvSpPr>
        <p:spPr bwMode="auto">
          <a:xfrm>
            <a:off x="5019055" y="8448480"/>
            <a:ext cx="3520800" cy="7614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534545394"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6781990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759947848"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19873370" name="Text 3"/>
          <p:cNvSpPr/>
          <p:nvPr/>
        </p:nvSpPr>
        <p:spPr bwMode="auto">
          <a:xfrm>
            <a:off x="13985640" y="762120"/>
            <a:ext cx="3351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943844609" name="Text 4"/>
          <p:cNvSpPr/>
          <p:nvPr/>
        </p:nvSpPr>
        <p:spPr bwMode="auto">
          <a:xfrm>
            <a:off x="1047600" y="1428840"/>
            <a:ext cx="11560320" cy="15404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244000049" name="Text 5"/>
          <p:cNvSpPr/>
          <p:nvPr/>
        </p:nvSpPr>
        <p:spPr bwMode="auto">
          <a:xfrm>
            <a:off x="1047600" y="3255480"/>
            <a:ext cx="10477079" cy="1031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234308425" name="Shape 6"/>
          <p:cNvSpPr/>
          <p:nvPr/>
        </p:nvSpPr>
        <p:spPr bwMode="auto">
          <a:xfrm>
            <a:off x="1047600" y="4726440"/>
            <a:ext cx="3131280" cy="131580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3158570" name="Text 7"/>
          <p:cNvSpPr/>
          <p:nvPr/>
        </p:nvSpPr>
        <p:spPr bwMode="auto">
          <a:xfrm>
            <a:off x="12096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311139927" name="Text 8"/>
          <p:cNvSpPr/>
          <p:nvPr/>
        </p:nvSpPr>
        <p:spPr bwMode="auto">
          <a:xfrm>
            <a:off x="12096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348518450" name="Text 9"/>
          <p:cNvSpPr/>
          <p:nvPr/>
        </p:nvSpPr>
        <p:spPr bwMode="auto">
          <a:xfrm>
            <a:off x="12096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86026385" name="Shape 10"/>
          <p:cNvSpPr/>
          <p:nvPr/>
        </p:nvSpPr>
        <p:spPr bwMode="auto">
          <a:xfrm>
            <a:off x="43128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28881617" name="Text 11"/>
          <p:cNvSpPr/>
          <p:nvPr/>
        </p:nvSpPr>
        <p:spPr bwMode="auto">
          <a:xfrm>
            <a:off x="44748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189111382" name="Text 12"/>
          <p:cNvSpPr/>
          <p:nvPr/>
        </p:nvSpPr>
        <p:spPr bwMode="auto">
          <a:xfrm>
            <a:off x="44748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94711882" name="Text 13"/>
          <p:cNvSpPr/>
          <p:nvPr/>
        </p:nvSpPr>
        <p:spPr bwMode="auto">
          <a:xfrm>
            <a:off x="44748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267022583" name="Shape 14"/>
          <p:cNvSpPr/>
          <p:nvPr/>
        </p:nvSpPr>
        <p:spPr bwMode="auto">
          <a:xfrm>
            <a:off x="75780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4365118" name="Text 15"/>
          <p:cNvSpPr/>
          <p:nvPr/>
        </p:nvSpPr>
        <p:spPr bwMode="auto">
          <a:xfrm>
            <a:off x="77400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431793207" name="Text 16"/>
          <p:cNvSpPr/>
          <p:nvPr/>
        </p:nvSpPr>
        <p:spPr bwMode="auto">
          <a:xfrm>
            <a:off x="77400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761461289" name="Text 17"/>
          <p:cNvSpPr/>
          <p:nvPr/>
        </p:nvSpPr>
        <p:spPr bwMode="auto">
          <a:xfrm>
            <a:off x="77400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587032343" name="Shape 18"/>
          <p:cNvSpPr/>
          <p:nvPr/>
        </p:nvSpPr>
        <p:spPr bwMode="auto">
          <a:xfrm>
            <a:off x="108432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2763331" name="Text 19"/>
          <p:cNvSpPr/>
          <p:nvPr/>
        </p:nvSpPr>
        <p:spPr bwMode="auto">
          <a:xfrm>
            <a:off x="110052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240342922" name="Text 20"/>
          <p:cNvSpPr/>
          <p:nvPr/>
        </p:nvSpPr>
        <p:spPr bwMode="auto">
          <a:xfrm>
            <a:off x="110052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539243268" name="Text 21"/>
          <p:cNvSpPr/>
          <p:nvPr/>
        </p:nvSpPr>
        <p:spPr bwMode="auto">
          <a:xfrm>
            <a:off x="110052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1885418180" name="Shape 22"/>
          <p:cNvSpPr/>
          <p:nvPr/>
        </p:nvSpPr>
        <p:spPr bwMode="auto">
          <a:xfrm>
            <a:off x="141084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4341818" name="Text 23"/>
          <p:cNvSpPr/>
          <p:nvPr/>
        </p:nvSpPr>
        <p:spPr bwMode="auto">
          <a:xfrm>
            <a:off x="142704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698829229" name="Text 24"/>
          <p:cNvSpPr/>
          <p:nvPr/>
        </p:nvSpPr>
        <p:spPr bwMode="auto">
          <a:xfrm>
            <a:off x="142704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641425734" name="Text 25"/>
          <p:cNvSpPr/>
          <p:nvPr/>
        </p:nvSpPr>
        <p:spPr bwMode="auto">
          <a:xfrm>
            <a:off x="142704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891691227" name="Text 26"/>
          <p:cNvSpPr/>
          <p:nvPr/>
        </p:nvSpPr>
        <p:spPr bwMode="auto">
          <a:xfrm>
            <a:off x="42660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926823656" name="Text 27"/>
          <p:cNvSpPr/>
          <p:nvPr/>
        </p:nvSpPr>
        <p:spPr bwMode="auto">
          <a:xfrm>
            <a:off x="75312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551006363" name="Text 28"/>
          <p:cNvSpPr/>
          <p:nvPr/>
        </p:nvSpPr>
        <p:spPr bwMode="auto">
          <a:xfrm>
            <a:off x="107964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1234209117" name="Text 29"/>
          <p:cNvSpPr/>
          <p:nvPr/>
        </p:nvSpPr>
        <p:spPr bwMode="auto">
          <a:xfrm>
            <a:off x="140616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1710811886" name="Text 30"/>
          <p:cNvSpPr/>
          <p:nvPr/>
        </p:nvSpPr>
        <p:spPr bwMode="auto">
          <a:xfrm>
            <a:off x="1047600" y="6557039"/>
            <a:ext cx="9453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1430663937" name="Shape 31"/>
          <p:cNvSpPr/>
          <p:nvPr/>
        </p:nvSpPr>
        <p:spPr bwMode="auto">
          <a:xfrm>
            <a:off x="1047600" y="7266600"/>
            <a:ext cx="9178200" cy="864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060341462" name="Text 32"/>
          <p:cNvSpPr/>
          <p:nvPr/>
        </p:nvSpPr>
        <p:spPr bwMode="auto">
          <a:xfrm>
            <a:off x="1123920" y="693792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372328742" name="Text 33"/>
          <p:cNvSpPr/>
          <p:nvPr/>
        </p:nvSpPr>
        <p:spPr bwMode="auto">
          <a:xfrm>
            <a:off x="2605320" y="6937920"/>
            <a:ext cx="509364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1891665371" name="Text 34"/>
          <p:cNvSpPr/>
          <p:nvPr/>
        </p:nvSpPr>
        <p:spPr bwMode="auto">
          <a:xfrm>
            <a:off x="7623000" y="6937920"/>
            <a:ext cx="108432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1587457541" name="Text 35"/>
          <p:cNvSpPr/>
          <p:nvPr/>
        </p:nvSpPr>
        <p:spPr bwMode="auto">
          <a:xfrm>
            <a:off x="8784360" y="6937920"/>
            <a:ext cx="136548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1948649871" name="Shape 36"/>
          <p:cNvSpPr/>
          <p:nvPr/>
        </p:nvSpPr>
        <p:spPr bwMode="auto">
          <a:xfrm>
            <a:off x="1047600" y="759996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27102866" name="Text 37"/>
          <p:cNvSpPr/>
          <p:nvPr/>
        </p:nvSpPr>
        <p:spPr bwMode="auto">
          <a:xfrm>
            <a:off x="1123920" y="730476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1040174745" name="Text 38"/>
          <p:cNvSpPr/>
          <p:nvPr/>
        </p:nvSpPr>
        <p:spPr bwMode="auto">
          <a:xfrm>
            <a:off x="2538720" y="728568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232410835" name="Text 39"/>
          <p:cNvSpPr/>
          <p:nvPr/>
        </p:nvSpPr>
        <p:spPr bwMode="auto">
          <a:xfrm>
            <a:off x="7556400" y="728568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545409016" name="Text 40"/>
          <p:cNvSpPr/>
          <p:nvPr/>
        </p:nvSpPr>
        <p:spPr bwMode="auto">
          <a:xfrm>
            <a:off x="8717760" y="728568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984057492" name="Shape 41"/>
          <p:cNvSpPr/>
          <p:nvPr/>
        </p:nvSpPr>
        <p:spPr bwMode="auto">
          <a:xfrm>
            <a:off x="1047600" y="793332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25492080" name="Text 42"/>
          <p:cNvSpPr/>
          <p:nvPr/>
        </p:nvSpPr>
        <p:spPr bwMode="auto">
          <a:xfrm>
            <a:off x="1123920" y="763812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20013827" name="Text 43"/>
          <p:cNvSpPr/>
          <p:nvPr/>
        </p:nvSpPr>
        <p:spPr bwMode="auto">
          <a:xfrm>
            <a:off x="2538720" y="7619039"/>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784707516" name="Text 44"/>
          <p:cNvSpPr/>
          <p:nvPr/>
        </p:nvSpPr>
        <p:spPr bwMode="auto">
          <a:xfrm>
            <a:off x="7556400" y="7619039"/>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997293875" name="Text 45"/>
          <p:cNvSpPr/>
          <p:nvPr/>
        </p:nvSpPr>
        <p:spPr bwMode="auto">
          <a:xfrm>
            <a:off x="8717760" y="7619039"/>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1432365293" name="Shape 46"/>
          <p:cNvSpPr/>
          <p:nvPr/>
        </p:nvSpPr>
        <p:spPr bwMode="auto">
          <a:xfrm>
            <a:off x="1047600" y="826668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56123510" name="Text 47"/>
          <p:cNvSpPr/>
          <p:nvPr/>
        </p:nvSpPr>
        <p:spPr bwMode="auto">
          <a:xfrm>
            <a:off x="1123920" y="797148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2034682146" name="Text 48"/>
          <p:cNvSpPr/>
          <p:nvPr/>
        </p:nvSpPr>
        <p:spPr bwMode="auto">
          <a:xfrm>
            <a:off x="2538720" y="795240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1397723324" name="Text 49"/>
          <p:cNvSpPr/>
          <p:nvPr/>
        </p:nvSpPr>
        <p:spPr bwMode="auto">
          <a:xfrm>
            <a:off x="7556400" y="795240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449331221" name="Text 50"/>
          <p:cNvSpPr/>
          <p:nvPr/>
        </p:nvSpPr>
        <p:spPr bwMode="auto">
          <a:xfrm>
            <a:off x="8717760" y="795240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655413008" name="Shape 51"/>
          <p:cNvSpPr/>
          <p:nvPr/>
        </p:nvSpPr>
        <p:spPr bwMode="auto">
          <a:xfrm>
            <a:off x="1047600" y="860004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101218140" name="Text 52"/>
          <p:cNvSpPr/>
          <p:nvPr/>
        </p:nvSpPr>
        <p:spPr bwMode="auto">
          <a:xfrm>
            <a:off x="1123920" y="830484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1798803393" name="Text 53"/>
          <p:cNvSpPr/>
          <p:nvPr/>
        </p:nvSpPr>
        <p:spPr bwMode="auto">
          <a:xfrm>
            <a:off x="2538720" y="828576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533044694" name="Text 54"/>
          <p:cNvSpPr/>
          <p:nvPr/>
        </p:nvSpPr>
        <p:spPr bwMode="auto">
          <a:xfrm>
            <a:off x="7556400" y="828576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909590312" name="Text 55"/>
          <p:cNvSpPr/>
          <p:nvPr/>
        </p:nvSpPr>
        <p:spPr bwMode="auto">
          <a:xfrm>
            <a:off x="8717760" y="828576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858890718" name="Shape 56"/>
          <p:cNvSpPr/>
          <p:nvPr/>
        </p:nvSpPr>
        <p:spPr bwMode="auto">
          <a:xfrm>
            <a:off x="1047600" y="893340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68745194" name="Text 57"/>
          <p:cNvSpPr/>
          <p:nvPr/>
        </p:nvSpPr>
        <p:spPr bwMode="auto">
          <a:xfrm>
            <a:off x="1123920" y="863820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401603885" name="Text 58"/>
          <p:cNvSpPr/>
          <p:nvPr/>
        </p:nvSpPr>
        <p:spPr bwMode="auto">
          <a:xfrm>
            <a:off x="2538720" y="861912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450442106" name="Text 59"/>
          <p:cNvSpPr/>
          <p:nvPr/>
        </p:nvSpPr>
        <p:spPr bwMode="auto">
          <a:xfrm>
            <a:off x="7556400" y="861912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972663145" name="Text 60"/>
          <p:cNvSpPr/>
          <p:nvPr/>
        </p:nvSpPr>
        <p:spPr bwMode="auto">
          <a:xfrm>
            <a:off x="8717760" y="861912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238261514" name="Text 61"/>
          <p:cNvSpPr/>
          <p:nvPr/>
        </p:nvSpPr>
        <p:spPr bwMode="auto">
          <a:xfrm>
            <a:off x="1123920" y="897156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859443451" name="Text 62"/>
          <p:cNvSpPr/>
          <p:nvPr/>
        </p:nvSpPr>
        <p:spPr bwMode="auto">
          <a:xfrm>
            <a:off x="2538720" y="8952480"/>
            <a:ext cx="5226840" cy="3754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671191302" name="Text 63"/>
          <p:cNvSpPr/>
          <p:nvPr/>
        </p:nvSpPr>
        <p:spPr bwMode="auto">
          <a:xfrm>
            <a:off x="7556400" y="8952480"/>
            <a:ext cx="12178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583923385" name="Text 64"/>
          <p:cNvSpPr/>
          <p:nvPr/>
        </p:nvSpPr>
        <p:spPr bwMode="auto">
          <a:xfrm>
            <a:off x="8717760" y="8952480"/>
            <a:ext cx="14986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498685216" name="Text 65"/>
          <p:cNvSpPr/>
          <p:nvPr/>
        </p:nvSpPr>
        <p:spPr bwMode="auto">
          <a:xfrm>
            <a:off x="10683720" y="6557039"/>
            <a:ext cx="6752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371705203" name="Text 66"/>
          <p:cNvSpPr/>
          <p:nvPr/>
        </p:nvSpPr>
        <p:spPr bwMode="auto">
          <a:xfrm>
            <a:off x="1068372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957227204" name="Text 67"/>
          <p:cNvSpPr/>
          <p:nvPr/>
        </p:nvSpPr>
        <p:spPr bwMode="auto">
          <a:xfrm>
            <a:off x="1409544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1265025496" name="Text 68"/>
          <p:cNvSpPr/>
          <p:nvPr/>
        </p:nvSpPr>
        <p:spPr bwMode="auto">
          <a:xfrm>
            <a:off x="1068372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842472608" name="Text 69"/>
          <p:cNvSpPr/>
          <p:nvPr/>
        </p:nvSpPr>
        <p:spPr bwMode="auto">
          <a:xfrm>
            <a:off x="1409544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786110422" name="Text 70"/>
          <p:cNvSpPr/>
          <p:nvPr/>
        </p:nvSpPr>
        <p:spPr bwMode="auto">
          <a:xfrm>
            <a:off x="1068372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8619746" name="Text 71"/>
          <p:cNvSpPr/>
          <p:nvPr/>
        </p:nvSpPr>
        <p:spPr bwMode="auto">
          <a:xfrm>
            <a:off x="1409544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2048722134" name="Text 7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261079947" name="Text 73"/>
          <p:cNvSpPr/>
          <p:nvPr/>
        </p:nvSpPr>
        <p:spPr bwMode="auto">
          <a:xfrm>
            <a:off x="11965320" y="9258480"/>
            <a:ext cx="54324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6418017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957969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7230689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45625905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VILLAGE RE PLAN</a:t>
            </a:r>
            <a:endParaRPr lang="en-US" sz="1800" b="0" u="none" strike="noStrike">
              <a:solidFill>
                <a:srgbClr val="FFFFFF"/>
              </a:solidFill>
              <a:latin typeface="Arial"/>
            </a:endParaRPr>
          </a:p>
        </p:txBody>
      </p:sp>
      <p:sp>
        <p:nvSpPr>
          <p:cNvPr id="623726337"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266035588" name="Text 6"/>
          <p:cNvSpPr/>
          <p:nvPr/>
        </p:nvSpPr>
        <p:spPr bwMode="auto">
          <a:xfrm>
            <a:off x="1047599" y="6424792"/>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a:t>
            </a:r>
            <a:r>
              <a:rPr lang="en-US" sz="2700" b="0" u="none" strike="noStrike">
                <a:solidFill>
                  <a:srgbClr val="F3ECE0">
                    <a:alpha val="57000"/>
                  </a:srgbClr>
                </a:solidFill>
                <a:latin typeface="Noto Serif JP"/>
                <a:ea typeface="Noto Serif JP"/>
              </a:rPr>
              <a:t>2025</a:t>
            </a:r>
            <a:r>
              <a:rPr lang="zh-CN" sz="2700" b="0" u="none" strike="noStrike">
                <a:solidFill>
                  <a:srgbClr val="F3ECE0">
                    <a:alpha val="57000"/>
                  </a:srgbClr>
                </a:solidFill>
                <a:latin typeface="Noto Serif JP"/>
                <a:ea typeface="Noto Serif JP"/>
              </a:rPr>
              <a:t>年・環境省補助）の官民連携 運営体制として実行します。</a:t>
            </a:r>
            <a:endParaRPr lang="en-US" sz="2700" b="0" u="none" strike="noStrike">
              <a:solidFill>
                <a:srgbClr val="FFFFFF"/>
              </a:solidFill>
              <a:latin typeface="Arial"/>
            </a:endParaRPr>
          </a:p>
        </p:txBody>
      </p:sp>
      <p:sp>
        <p:nvSpPr>
          <p:cNvPr id="159519799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322080150"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236349124"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238984942"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696775572"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2142076835"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74968163"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5230529"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00000"/>
              </a:lnSpc>
              <a:tabLst>
                <a:tab pos="0" algn="l"/>
              </a:tabLst>
              <a:defRPr/>
            </a:pPr>
            <a:r>
              <a:rPr lang="en-US" sz="4800" b="0" u="none" strike="noStrike" spc="-47">
                <a:solidFill>
                  <a:srgbClr val="F3ECE0"/>
                </a:solidFill>
                <a:latin typeface="Georgia"/>
                <a:ea typeface="Georgia"/>
              </a:rPr>
              <a:t>Forest J-Credit + </a:t>
            </a:r>
            <a:r>
              <a:rPr lang="zh-CN" sz="4800" b="0" u="none" strike="noStrike" spc="-47">
                <a:solidFill>
                  <a:srgbClr val="F3ECE0"/>
                </a:solidFill>
                <a:latin typeface="Georgia"/>
                <a:ea typeface="Georgia"/>
              </a:rPr>
              <a:t>交付金</a:t>
            </a:r>
            <a:endParaRPr lang="en-US" sz="4800" b="0" u="none" strike="noStrike">
              <a:solidFill>
                <a:srgbClr val="FFFFFF"/>
              </a:solidFill>
              <a:latin typeface="Arial"/>
            </a:endParaRPr>
          </a:p>
        </p:txBody>
      </p:sp>
      <p:sp>
        <p:nvSpPr>
          <p:cNvPr id="1822121166"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a:t>
            </a:r>
            <a:r>
              <a:rPr lang="zh-CN" sz="1800" b="0" u="none" strike="noStrike">
                <a:solidFill>
                  <a:srgbClr val="F3ECE0">
                    <a:alpha val="85000"/>
                  </a:srgbClr>
                </a:solidFill>
                <a:latin typeface="Arial"/>
                <a:ea typeface="Arial"/>
              </a:rPr>
              <a:t>交付金</a:t>
            </a:r>
            <a:r>
              <a:rPr lang="en-US" sz="1800" b="0" u="none" strike="noStrike">
                <a:solidFill>
                  <a:srgbClr val="F3ECE0">
                    <a:alpha val="85000"/>
                  </a:srgbClr>
                </a:solidFill>
                <a:latin typeface="Arial"/>
                <a:ea typeface="Arial"/>
              </a:rPr>
              <a:t>: 2/3-3/4 subsidy on solar/battery/EV, via the village.</a:t>
            </a:r>
            <a:endParaRPr lang="en-US" sz="1800" b="0" u="none" strike="noStrike">
              <a:solidFill>
                <a:srgbClr val="FFFFFF"/>
              </a:solidFill>
              <a:latin typeface="Arial"/>
            </a:endParaRPr>
          </a:p>
        </p:txBody>
      </p:sp>
      <p:sp>
        <p:nvSpPr>
          <p:cNvPr id="270434168"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99082569"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
        <p:nvSpPr>
          <p:cNvPr id="1821758436" name="Text 4"/>
          <p:cNvSpPr/>
          <p:nvPr/>
        </p:nvSpPr>
        <p:spPr bwMode="auto">
          <a:xfrm flipH="0" flipV="0">
            <a:off x="1047599" y="1523519"/>
            <a:ext cx="16677720" cy="4117836"/>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55000" lnSpcReduction="9000"/>
          </a:bodyPr>
          <a:p>
            <a:pPr defTabSz="914400">
              <a:lnSpc>
                <a:spcPct val="95000"/>
              </a:lnSpc>
              <a:defRPr/>
            </a:pPr>
            <a:r>
              <a:rPr lang="en-US" sz="21000" b="0" i="0" u="none" strike="noStrike" cap="none" spc="-149" baseline="-25000">
                <a:solidFill>
                  <a:srgbClr val="F3ECE0"/>
                </a:solidFill>
                <a:latin typeface="Georgia"/>
                <a:ea typeface="Georgia"/>
                <a:cs typeface="Georgia"/>
              </a:rPr>
              <a:t>We don't ask the village to adopt a new idea. We run </a:t>
            </a:r>
            <a:r>
              <a:rPr lang="en-US" sz="21000" b="0" i="1" u="none" strike="noStrike" cap="none" spc="-149" baseline="-25000">
                <a:solidFill>
                  <a:srgbClr val="F3B486"/>
                </a:solidFill>
                <a:latin typeface="Georgia"/>
                <a:ea typeface="Georgia"/>
                <a:cs typeface="Georgia"/>
              </a:rPr>
              <a:t>the plan it already wrote.</a:t>
            </a:r>
            <a:endParaRPr sz="9000" b="0" u="none" strike="noStrike">
              <a:solidFill>
                <a:srgbClr val="FFFFFF"/>
              </a:solidFill>
              <a:latin typeface="Arial"/>
            </a:endParaRPr>
          </a:p>
          <a:p>
            <a:pPr defTabSz="914400">
              <a:lnSpc>
                <a:spcPct val="100000"/>
              </a:lnSpc>
              <a:tabLst>
                <a:tab pos="0" algn="l"/>
              </a:tabLst>
              <a:defRPr/>
            </a:pPr>
            <a:endParaRPr lang="en-US" sz="90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97709920"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6868916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859905856"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624235249" name="Text 3"/>
          <p:cNvSpPr/>
          <p:nvPr/>
        </p:nvSpPr>
        <p:spPr bwMode="auto">
          <a:xfrm>
            <a:off x="11343600" y="762120"/>
            <a:ext cx="6072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765226167" name="Text 4"/>
          <p:cNvSpPr/>
          <p:nvPr/>
        </p:nvSpPr>
        <p:spPr bwMode="auto">
          <a:xfrm>
            <a:off x="1047600" y="2025000"/>
            <a:ext cx="8668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312926001" name="Text 5"/>
          <p:cNvSpPr/>
          <p:nvPr/>
        </p:nvSpPr>
        <p:spPr bwMode="auto">
          <a:xfrm>
            <a:off x="1047600" y="2743200"/>
            <a:ext cx="8668440" cy="5087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1934883266" name="Text 6"/>
          <p:cNvSpPr/>
          <p:nvPr/>
        </p:nvSpPr>
        <p:spPr bwMode="auto">
          <a:xfrm>
            <a:off x="10226520" y="20250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1441063089" name="Text 7"/>
          <p:cNvSpPr/>
          <p:nvPr/>
        </p:nvSpPr>
        <p:spPr bwMode="auto">
          <a:xfrm>
            <a:off x="10053000" y="2424960"/>
            <a:ext cx="7262640" cy="152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181713667" name="Shape 8"/>
          <p:cNvSpPr/>
          <p:nvPr/>
        </p:nvSpPr>
        <p:spPr bwMode="auto">
          <a:xfrm>
            <a:off x="10226520" y="419688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90222186" name="Shape 9"/>
          <p:cNvSpPr/>
          <p:nvPr/>
        </p:nvSpPr>
        <p:spPr bwMode="auto">
          <a:xfrm>
            <a:off x="10226520" y="4415760"/>
            <a:ext cx="1618560" cy="161856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22637734" name="Image 0" descr="preencoded.png"/>
          <p:cNvPicPr/>
          <p:nvPr/>
        </p:nvPicPr>
        <p:blipFill rotWithShape="1">
          <a:blip r:embed="rId3"/>
          <a:stretch/>
        </p:blipFill>
        <p:spPr bwMode="auto">
          <a:xfrm>
            <a:off x="10321560" y="4511160"/>
            <a:ext cx="1428120" cy="1428120"/>
          </a:xfrm>
          <a:prstGeom prst="rect">
            <a:avLst/>
          </a:prstGeom>
          <a:noFill/>
          <a:ln w="0">
            <a:noFill/>
          </a:ln>
        </p:spPr>
      </p:pic>
      <p:sp>
        <p:nvSpPr>
          <p:cNvPr id="23919133" name="Text 10"/>
          <p:cNvSpPr/>
          <p:nvPr/>
        </p:nvSpPr>
        <p:spPr bwMode="auto">
          <a:xfrm>
            <a:off x="12112200" y="4530240"/>
            <a:ext cx="52812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423658842" name="Text 11"/>
          <p:cNvSpPr/>
          <p:nvPr/>
        </p:nvSpPr>
        <p:spPr bwMode="auto">
          <a:xfrm>
            <a:off x="12112200" y="4853880"/>
            <a:ext cx="5281200" cy="3708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028277214" name="Text 12"/>
          <p:cNvSpPr/>
          <p:nvPr/>
        </p:nvSpPr>
        <p:spPr bwMode="auto">
          <a:xfrm>
            <a:off x="12112200" y="5244480"/>
            <a:ext cx="5281200" cy="475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2018889322" name="Text 13"/>
          <p:cNvSpPr/>
          <p:nvPr/>
        </p:nvSpPr>
        <p:spPr bwMode="auto">
          <a:xfrm>
            <a:off x="12112200" y="5701680"/>
            <a:ext cx="5281200" cy="256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2142240960" name="Shape 14"/>
          <p:cNvSpPr/>
          <p:nvPr/>
        </p:nvSpPr>
        <p:spPr bwMode="auto">
          <a:xfrm>
            <a:off x="10226520" y="626364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384347380" name="Text 16"/>
          <p:cNvSpPr/>
          <p:nvPr/>
        </p:nvSpPr>
        <p:spPr bwMode="auto">
          <a:xfrm>
            <a:off x="10226520" y="6768360"/>
            <a:ext cx="7223760" cy="46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1721667082" name="Text 17"/>
          <p:cNvSpPr/>
          <p:nvPr/>
        </p:nvSpPr>
        <p:spPr bwMode="auto">
          <a:xfrm>
            <a:off x="10226520" y="7197840"/>
            <a:ext cx="7200360" cy="341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626550944" name="Text 18"/>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2133226157" name="Text 19"/>
          <p:cNvSpPr/>
          <p:nvPr/>
        </p:nvSpPr>
        <p:spPr bwMode="auto">
          <a:xfrm>
            <a:off x="12916079" y="9182160"/>
            <a:ext cx="445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
        <p:nvSpPr>
          <p:cNvPr id="1807326520" name="Text 31"/>
          <p:cNvSpPr/>
          <p:nvPr/>
        </p:nvSpPr>
        <p:spPr bwMode="auto">
          <a:xfrm>
            <a:off x="10149840" y="63252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LEADER</a:t>
            </a:r>
            <a:r>
              <a:rPr lang="ja-JP" sz="1800" b="0" u="none" strike="noStrike" spc="214">
                <a:solidFill>
                  <a:srgbClr val="F3ECE0">
                    <a:alpha val="67000"/>
                  </a:srgbClr>
                </a:solidFill>
                <a:latin typeface="Courier New"/>
                <a:ea typeface="Courier New"/>
              </a:rPr>
              <a:t> </a:t>
            </a:r>
            <a:r>
              <a:rPr lang="en-US" sz="1800" b="0" u="none" strike="noStrike" spc="214">
                <a:solidFill>
                  <a:srgbClr val="F3ECE0">
                    <a:alpha val="67000"/>
                  </a:srgbClr>
                </a:solidFill>
                <a:latin typeface="Courier New"/>
                <a:ea typeface="Courier New"/>
              </a:rPr>
              <a:t>NOW</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10</cp:revision>
  <dcterms:created xsi:type="dcterms:W3CDTF">2026-05-28T12:44:33Z</dcterms:created>
  <dcterms:modified xsi:type="dcterms:W3CDTF">2026-06-17T21:05:59Z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12</vt:i4>
  </property>
  <property fmtid="{D5CDD505-2E9C-101B-9397-08002B2CF9AE}" pid="4" name="PresentationFormat">
    <vt:lpwstr>On-screen Show (4:3)</vt:lpwstr>
  </property>
  <property fmtid="{D5CDD505-2E9C-101B-9397-08002B2CF9AE}" pid="5" name="Slides">
    <vt:i4>12</vt:i4>
  </property>
</Properties>
</file>