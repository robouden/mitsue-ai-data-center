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notesSlides/notesSlide1.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10.xml" ContentType="application/vnd.openxmlformats-officedocument.presentationml.notesSlide+xml"/>
  <Override PartName="/ppt/notesSlides/notesSlide5.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Lst>
  <p:sldSz cx="18288000" cy="10287000"/>
  <p:notesSz cx="10287000" cy="18288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216000" y="812520"/>
            <a:ext cx="7127280" cy="4008960"/>
          </a:xfrm>
          <a:prstGeom prst="rect">
            <a:avLst/>
          </a:prstGeom>
          <a:noFill/>
          <a:ln w="0">
            <a:noFill/>
          </a:ln>
        </p:spPr>
        <p:txBody>
          <a:bodyPr lIns="0" tIns="0" rIns="0" bIns="0" anchor="ctr">
            <a:noAutofit/>
          </a:bodyPr>
          <a:p>
            <a:r>
              <a:rPr lang="en-US" sz="1800" b="0" u="none" strike="noStrike">
                <a:solidFill>
                  <a:schemeClr val="dk1"/>
                </a:solidFill>
                <a:effectLst/>
                <a:uFillTx/>
                <a:latin typeface="Calibri"/>
              </a:rPr>
              <a:t>Click to move the slide</a:t>
            </a:r>
            <a:endParaRPr lang="en-US" sz="1800" b="0" u="none" strike="noStrike">
              <a:solidFill>
                <a:schemeClr val="dk1"/>
              </a:solidFill>
              <a:effectLst/>
              <a:uFillTx/>
              <a:latin typeface="Calibri"/>
            </a:endParaRPr>
          </a:p>
        </p:txBody>
      </p:sp>
      <p:sp>
        <p:nvSpPr>
          <p:cNvPr id="5"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a:t>
            </a:r>
            <a:r>
              <a:rPr lang="en-US" sz="2000" b="0" u="none" strike="noStrike">
                <a:solidFill>
                  <a:srgbClr val="000000"/>
                </a:solidFill>
                <a:effectLst/>
                <a:uFillTx/>
                <a:latin typeface="Arial"/>
              </a:rPr>
              <a:t>notes format</a:t>
            </a:r>
            <a:endParaRPr lang="en-US" sz="2000" b="0" u="none" strike="noStrike">
              <a:solidFill>
                <a:srgbClr val="000000"/>
              </a:solidFill>
              <a:effectLst/>
              <a:uFillTx/>
              <a:latin typeface="Arial"/>
            </a:endParaRPr>
          </a:p>
        </p:txBody>
      </p:sp>
      <p:sp>
        <p:nvSpPr>
          <p:cNvPr id="6"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7"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8"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9"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475A8E8B-BEDB-4988-A6BF-7C4E9B885585}" type="slidenum">
              <a:rPr lang="en-US" sz="1400" b="0" u="none" strike="noStrike">
                <a:solidFill>
                  <a:srgbClr val="000000"/>
                </a:solidFill>
                <a:effectLst/>
                <a:uFillTx/>
                <a:latin typeface="Times New Roman"/>
              </a:rPr>
              <a:t>1</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8" name="PlaceHolder 1"/>
          <p:cNvSpPr>
            <a:spLocks noGrp="1"/>
          </p:cNvSpPr>
          <p:nvPr>
            <p:ph type="sldImg"/>
          </p:nvPr>
        </p:nvSpPr>
        <p:spPr>
          <a:xfrm>
            <a:off x="685800" y="1143000"/>
            <a:ext cx="5486040" cy="3085920"/>
          </a:xfrm>
          <a:prstGeom prst="rect">
            <a:avLst/>
          </a:prstGeom>
          <a:ln w="0">
            <a:noFill/>
          </a:ln>
        </p:spPr>
      </p:sp>
      <p:sp>
        <p:nvSpPr>
          <p:cNvPr id="27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Good afternoon. Thank you for making time. I'm going to walk you through the Mitsue Project — a 25-year initiative in rural Japan. Twenty-five years is a long horizon, so I'll keep this short: about ten minutes. The very short version is on this slide: forest, EV power, and a tiny community-owned data center, all in one mountain village in Nara Prefecture. Three things that sound unrelated. They're not.</a:t>
            </a:r>
            <a:endParaRPr lang="en-US" sz="2000" b="0" u="none" strike="noStrike">
              <a:solidFill>
                <a:srgbClr val="000000"/>
              </a:solidFill>
              <a:effectLst/>
              <a:uFillTx/>
              <a:latin typeface="Arial"/>
            </a:endParaRPr>
          </a:p>
        </p:txBody>
      </p:sp>
      <p:sp>
        <p:nvSpPr>
          <p:cNvPr id="280"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38677EB-BCFE-4A7F-B0B5-97CA1BA1A9A7}"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1" name="PlaceHolder 1"/>
          <p:cNvSpPr>
            <a:spLocks noGrp="1"/>
          </p:cNvSpPr>
          <p:nvPr>
            <p:ph type="sldImg"/>
          </p:nvPr>
        </p:nvSpPr>
        <p:spPr>
          <a:xfrm>
            <a:off x="685800" y="1143000"/>
            <a:ext cx="5486040" cy="3085920"/>
          </a:xfrm>
          <a:prstGeom prst="rect">
            <a:avLst/>
          </a:prstGeom>
          <a:ln w="0">
            <a:noFill/>
          </a:ln>
        </p:spPr>
      </p:sp>
      <p:sp>
        <p:nvSpPr>
          <p:cNvPr id="28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Mitsue Village sits in the mountains of Nara Prefecture. Population is shrinking. The elementary school closed. The cedar plantations around the village are aging. The grid is fragile. None of that is unique to Mitsue — that's actually the point. Whatever works here should work in a thousand other villages with the same pattern. We're in Phase 0: pre-foundation. No press, no website launch event. Just trust-building, charter drafting, and assembling the founding team.</a:t>
            </a:r>
            <a:endParaRPr lang="en-US" sz="2000" b="0" u="none" strike="noStrike">
              <a:solidFill>
                <a:srgbClr val="000000"/>
              </a:solidFill>
              <a:effectLst/>
              <a:uFillTx/>
              <a:latin typeface="Arial"/>
            </a:endParaRPr>
          </a:p>
        </p:txBody>
      </p:sp>
      <p:sp>
        <p:nvSpPr>
          <p:cNvPr id="283"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7F73A12-404C-40EF-9BD2-7D41A6E48A67}"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4" name="PlaceHolder 1"/>
          <p:cNvSpPr>
            <a:spLocks noGrp="1"/>
          </p:cNvSpPr>
          <p:nvPr>
            <p:ph type="sldImg"/>
          </p:nvPr>
        </p:nvSpPr>
        <p:spPr>
          <a:xfrm>
            <a:off x="685800" y="1143000"/>
            <a:ext cx="5486040" cy="3085920"/>
          </a:xfrm>
          <a:prstGeom prst="rect">
            <a:avLst/>
          </a:prstGeom>
          <a:ln w="0">
            <a:noFill/>
          </a:ln>
        </p:spPr>
      </p:sp>
      <p:sp>
        <p:nvSpPr>
          <p:cNvPr id="28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Four problems are converging on rural Japan at the same time. Cedar plantations are no longer managed — they cause pollen, biodiversity loss, landslides. Within roughly ten years most Japanese passenger cars will be electric, and rural grids aren't ready. Closed schools cost municipalities money to maintain. And rural broadband and edge compute lag the cities. Each problem alone is expensive. The Mitsue thesis is that they're cheaper to solve together than separately.</a:t>
            </a:r>
            <a:endParaRPr lang="en-US" sz="2000" b="0" u="none" strike="noStrike">
              <a:solidFill>
                <a:srgbClr val="000000"/>
              </a:solidFill>
              <a:effectLst/>
              <a:uFillTx/>
              <a:latin typeface="Arial"/>
            </a:endParaRPr>
          </a:p>
        </p:txBody>
      </p:sp>
      <p:sp>
        <p:nvSpPr>
          <p:cNvPr id="286" name="PlaceHolder 3"/>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994C129-A87D-4EFA-90B6-0E4D6CC8C011}"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7" name="PlaceHolder 1"/>
          <p:cNvSpPr>
            <a:spLocks noGrp="1"/>
          </p:cNvSpPr>
          <p:nvPr>
            <p:ph type="sldImg"/>
          </p:nvPr>
        </p:nvSpPr>
        <p:spPr>
          <a:xfrm>
            <a:off x="685800" y="1143000"/>
            <a:ext cx="5486040" cy="3085920"/>
          </a:xfrm>
          <a:prstGeom prst="rect">
            <a:avLst/>
          </a:prstGeom>
          <a:ln w="0">
            <a:noFill/>
          </a:ln>
        </p:spPr>
      </p:sp>
      <p:sp>
        <p:nvSpPr>
          <p:cNvPr id="28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So: three integrated activities under one coordinating body. Forest restoration. Distributed renewable energy and EV charging. A small, community-owned data center. The sugi we remove to make way for the native forest becomes the biomass that powers the data center and the cars — the conversion fuels the conversion. The data center anchors the closed school back into village life. They share a single 25-year ledger of methods, finances, and outcomes — published openly.</a:t>
            </a:r>
            <a:endParaRPr lang="en-US" sz="2000" b="0" u="none" strike="noStrike">
              <a:solidFill>
                <a:srgbClr val="000000"/>
              </a:solidFill>
              <a:effectLst/>
              <a:uFillTx/>
              <a:latin typeface="Arial"/>
            </a:endParaRPr>
          </a:p>
        </p:txBody>
      </p:sp>
      <p:sp>
        <p:nvSpPr>
          <p:cNvPr id="289"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C8B6D06-920D-4810-89E7-5F8376D0A4A6}"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0" name="PlaceHolder 1"/>
          <p:cNvSpPr>
            <a:spLocks noGrp="1"/>
          </p:cNvSpPr>
          <p:nvPr>
            <p:ph type="sldImg"/>
          </p:nvPr>
        </p:nvSpPr>
        <p:spPr>
          <a:xfrm>
            <a:off x="685800" y="1143000"/>
            <a:ext cx="5486040" cy="3085920"/>
          </a:xfrm>
          <a:prstGeom prst="rect">
            <a:avLst/>
          </a:prstGeom>
          <a:ln w="0">
            <a:noFill/>
          </a:ln>
        </p:spPr>
      </p:sp>
      <p:sp>
        <p:nvSpPr>
          <p:cNvPr id="29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On forests: phased replacement of aged sugi cedar with native broadleaf — oak, chestnut, konara. The 25-year arc is the ecological clock, not the funding cycle. The community benefit is concrete: less pollen, fewer landslides, a forest that looks and behaves like a forest again. Crucially, the sugi we remove doesn't go to waste — it becomes biomass fuel for the village's energy system. And when the broadleaf forest produces acorns, the bears, boar, and deer find their winter food in the forest instead of in the village vegetable patch.</a:t>
            </a:r>
            <a:endParaRPr lang="en-US" sz="2000" b="0" u="none" strike="noStrike">
              <a:solidFill>
                <a:srgbClr val="000000"/>
              </a:solidFill>
              <a:effectLst/>
              <a:uFillTx/>
              <a:latin typeface="Arial"/>
            </a:endParaRPr>
          </a:p>
        </p:txBody>
      </p:sp>
      <p:sp>
        <p:nvSpPr>
          <p:cNvPr id="292"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CCC8488-C664-4AA8-9D28-CAB3C2E16580}"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3" name="PlaceHolder 1"/>
          <p:cNvSpPr>
            <a:spLocks noGrp="1"/>
          </p:cNvSpPr>
          <p:nvPr>
            <p:ph type="sldImg"/>
          </p:nvPr>
        </p:nvSpPr>
        <p:spPr>
          <a:xfrm>
            <a:off x="685800" y="1143000"/>
            <a:ext cx="5486040" cy="3085920"/>
          </a:xfrm>
          <a:prstGeom prst="rect">
            <a:avLst/>
          </a:prstGeom>
          <a:ln w="0">
            <a:noFill/>
          </a:ln>
        </p:spPr>
      </p:sp>
      <p:sp>
        <p:nvSpPr>
          <p:cNvPr id="29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One unified electrical system. The sugi removed during the forest conversion is the primary fuel — a biomass plant on a shared village bus. Local solar tops it up. A community battery rides through the dark hours. The grid is backup only. EV chargers tie to local generation instead of waiting on grid extension. And — this is the part the village cares about most — on-site generation keeps the school, the clinic, and emergency facilities running through blackouts. Aging distribution lines make outages a real and growing risk. Resilience is built in, not bolted on.</a:t>
            </a:r>
            <a:endParaRPr lang="en-US" sz="2000" b="0" u="none" strike="noStrike">
              <a:solidFill>
                <a:srgbClr val="000000"/>
              </a:solidFill>
              <a:effectLst/>
              <a:uFillTx/>
              <a:latin typeface="Arial"/>
            </a:endParaRPr>
          </a:p>
        </p:txBody>
      </p:sp>
      <p:sp>
        <p:nvSpPr>
          <p:cNvPr id="295" name="PlaceHolder 3"/>
          <p:cNvSpPr>
            <a:spLocks noGrp="1"/>
          </p:cNvSpPr>
          <p:nvPr>
            <p:ph type="sldNum" idx="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7762E9B-153D-47E4-8D12-31BE0A3CFAC0}"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6" name="PlaceHolder 1"/>
          <p:cNvSpPr>
            <a:spLocks noGrp="1"/>
          </p:cNvSpPr>
          <p:nvPr>
            <p:ph type="sldImg"/>
          </p:nvPr>
        </p:nvSpPr>
        <p:spPr>
          <a:xfrm>
            <a:off x="685800" y="1143000"/>
            <a:ext cx="5486040" cy="3085920"/>
          </a:xfrm>
          <a:prstGeom prst="rect">
            <a:avLst/>
          </a:prstGeom>
          <a:ln w="0">
            <a:noFill/>
          </a:ln>
        </p:spPr>
      </p:sp>
      <p:sp>
        <p:nvSpPr>
          <p:cNvPr id="29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 closed Mitsue Elementary School building, repurposed as a small, energy-efficient edge-compute facility. Powered entirely by locally generated renewable energy. Sized for accountability — not hyperscale. The hyperscalers are not the model. The model is: small enough that the village owns it, audits it, and can explain what it does. Heat from the servers can warm greenhouses or community buildings. If it works in Mitsue, the design is published openly so the next village can copy it.</a:t>
            </a:r>
            <a:endParaRPr lang="en-US" sz="2000" b="0" u="none" strike="noStrike">
              <a:solidFill>
                <a:srgbClr val="000000"/>
              </a:solidFill>
              <a:effectLst/>
              <a:uFillTx/>
              <a:latin typeface="Arial"/>
            </a:endParaRPr>
          </a:p>
        </p:txBody>
      </p:sp>
      <p:sp>
        <p:nvSpPr>
          <p:cNvPr id="298" name="PlaceHolder 3"/>
          <p:cNvSpPr>
            <a:spLocks noGrp="1"/>
          </p:cNvSpPr>
          <p:nvPr>
            <p:ph type="sldNum" idx="1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07ECBAD-4A22-4D51-80F5-763C48CDAEE0}"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9" name="PlaceHolder 1"/>
          <p:cNvSpPr>
            <a:spLocks noGrp="1"/>
          </p:cNvSpPr>
          <p:nvPr>
            <p:ph type="sldImg"/>
          </p:nvPr>
        </p:nvSpPr>
        <p:spPr>
          <a:xfrm>
            <a:off x="685800" y="1143000"/>
            <a:ext cx="5486040" cy="3085920"/>
          </a:xfrm>
          <a:prstGeom prst="rect">
            <a:avLst/>
          </a:prstGeom>
          <a:ln w="0">
            <a:noFill/>
          </a:ln>
        </p:spPr>
      </p:sp>
      <p:sp>
        <p:nvSpPr>
          <p:cNvPr id="30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This is the part I want you to remember. The benefits don't depend on the data center being a commercial home run. Forest restoration happens regardless. Wildlife pressure on farms drops. The school building stops bleeding maintenance money. EV charging is in place before the cars need it. Resilience to blackouts is a permanent infrastructure upgrade. The community keeps the upside; we documented everything; other villages get the playbook for free.</a:t>
            </a:r>
            <a:endParaRPr lang="en-US" sz="2000" b="0" u="none" strike="noStrike">
              <a:solidFill>
                <a:srgbClr val="000000"/>
              </a:solidFill>
              <a:effectLst/>
              <a:uFillTx/>
              <a:latin typeface="Arial"/>
            </a:endParaRPr>
          </a:p>
        </p:txBody>
      </p:sp>
      <p:sp>
        <p:nvSpPr>
          <p:cNvPr id="301" name="PlaceHolder 3"/>
          <p:cNvSpPr>
            <a:spLocks noGrp="1"/>
          </p:cNvSpPr>
          <p:nvPr>
            <p:ph type="sldNum" idx="1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0438D0D-1EA0-46F6-ABF7-8980F901FD31}"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2" name="PlaceHolder 1"/>
          <p:cNvSpPr>
            <a:spLocks noGrp="1"/>
          </p:cNvSpPr>
          <p:nvPr>
            <p:ph type="sldImg"/>
          </p:nvPr>
        </p:nvSpPr>
        <p:spPr>
          <a:xfrm>
            <a:off x="685800" y="1143000"/>
            <a:ext cx="5486040" cy="3085920"/>
          </a:xfrm>
          <a:prstGeom prst="rect">
            <a:avLst/>
          </a:prstGeom>
          <a:ln w="0">
            <a:noFill/>
          </a:ln>
        </p:spPr>
      </p:sp>
      <p:sp>
        <p:nvSpPr>
          <p:cNvPr id="30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Where we are today, May 2026. Phase 0, intentionally quiet. Initial meetings with the Vice Mayor and the local forestry group are done. The charter and implementation plan are drafted. The phase and funding-gate flowchart is published. Two advisors have committed: Joi Ito and Ray Ozzie. Next thirty days: approach a Japanese co-founder, meet the Village Mayor, consult administrative scriveners in Nara, finalize the bilingual charter for distribution.</a:t>
            </a:r>
            <a:endParaRPr lang="en-US" sz="2000" b="0" u="none" strike="noStrike">
              <a:solidFill>
                <a:srgbClr val="000000"/>
              </a:solidFill>
              <a:effectLst/>
              <a:uFillTx/>
              <a:latin typeface="Arial"/>
            </a:endParaRPr>
          </a:p>
        </p:txBody>
      </p:sp>
      <p:sp>
        <p:nvSpPr>
          <p:cNvPr id="304" name="PlaceHolder 3"/>
          <p:cNvSpPr>
            <a:spLocks noGrp="1"/>
          </p:cNvSpPr>
          <p:nvPr>
            <p:ph type="sldNum" idx="1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104C59D-D30D-4F8A-968E-3F7CF29B7FCF}"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5" name="PlaceHolder 1"/>
          <p:cNvSpPr>
            <a:spLocks noGrp="1"/>
          </p:cNvSpPr>
          <p:nvPr>
            <p:ph type="sldImg"/>
          </p:nvPr>
        </p:nvSpPr>
        <p:spPr>
          <a:xfrm>
            <a:off x="685800" y="1143000"/>
            <a:ext cx="5486040" cy="3085920"/>
          </a:xfrm>
          <a:prstGeom prst="rect">
            <a:avLst/>
          </a:prstGeom>
          <a:ln w="0">
            <a:noFill/>
          </a:ln>
        </p:spPr>
      </p:sp>
      <p:sp>
        <p:nvSpPr>
          <p:cNvPr id="30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Five phases, four explicit funding gates. If a gate isn't cleared, we hold and re-pitch — we don't accelerate into an under-resourced phase. The funding stack is five layers: founder capital, government grants, foundations, corporate partners, operating revenue. By Year 3 the illustrative total is around 134 million yen. These are planning targets, not commitments. The point of the gates is that we never bet the village on a phase we can't afford.</a:t>
            </a:r>
            <a:endParaRPr lang="en-US" sz="2000" b="0" u="none" strike="noStrike">
              <a:solidFill>
                <a:srgbClr val="000000"/>
              </a:solidFill>
              <a:effectLst/>
              <a:uFillTx/>
              <a:latin typeface="Arial"/>
            </a:endParaRPr>
          </a:p>
        </p:txBody>
      </p:sp>
      <p:sp>
        <p:nvSpPr>
          <p:cNvPr id="307" name="PlaceHolder 3"/>
          <p:cNvSpPr>
            <a:spLocks noGrp="1"/>
          </p:cNvSpPr>
          <p:nvPr>
            <p:ph type="sldNum" idx="1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B053A7E-0DE3-4E7A-957E-257F9CD0E0C3}"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8" name="PlaceHolder 1"/>
          <p:cNvSpPr>
            <a:spLocks noGrp="1"/>
          </p:cNvSpPr>
          <p:nvPr>
            <p:ph type="sldImg"/>
          </p:nvPr>
        </p:nvSpPr>
        <p:spPr>
          <a:xfrm>
            <a:off x="685800" y="1143000"/>
            <a:ext cx="5486040" cy="3085920"/>
          </a:xfrm>
          <a:prstGeom prst="rect">
            <a:avLst/>
          </a:prstGeom>
          <a:ln w="0">
            <a:noFill/>
          </a:ln>
        </p:spPr>
      </p:sp>
      <p:sp>
        <p:nvSpPr>
          <p:cNvPr id="30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What we're looking for from this room. Patient capital — people who think in decades, not quarters. Introductions to Japanese co-founders with rural credibility. Advisory partners for forestry, edge compute, and Japanese nonprofit law. And honest critique: tell us where the thesis is wrong. The documents are all on Codeberg under open licenses. The project lives at mitsue.it. Thank you — happy to take questions.</a:t>
            </a:r>
            <a:endParaRPr lang="en-US" sz="2000" b="0" u="none" strike="noStrike">
              <a:solidFill>
                <a:srgbClr val="000000"/>
              </a:solidFill>
              <a:effectLst/>
              <a:uFillTx/>
              <a:latin typeface="Arial"/>
            </a:endParaRPr>
          </a:p>
        </p:txBody>
      </p:sp>
      <p:sp>
        <p:nvSpPr>
          <p:cNvPr id="310" name="PlaceHolder 3"/>
          <p:cNvSpPr>
            <a:spLocks noGrp="1"/>
          </p:cNvSpPr>
          <p:nvPr>
            <p:ph type="sldNum" idx="1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CB95768-FCFD-46B4-B87F-9DFE09BFC12F}"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lvl1pPr indent="0" algn="l">
              <a:buNone/>
              <a:defRPr lang="en-US" sz="1800" b="0" u="none" strike="noStrike">
                <a:solidFill>
                  <a:schemeClr val="dk1"/>
                </a:solidFill>
                <a:effectLst/>
                <a:uFillTx/>
                <a:latin typeface="Calibri"/>
              </a:defRPr>
            </a:lvl1pPr>
          </a:lstStyle>
          <a:p>
            <a:pPr indent="0" algn="l">
              <a:buNone/>
            </a:pPr>
            <a:r>
              <a:rPr lang="en-US" sz="1800" b="0" u="none" strike="noStrike">
                <a:solidFill>
                  <a:schemeClr val="dk1"/>
                </a:solidFill>
                <a:effectLst/>
                <a:uFillTx/>
                <a:latin typeface="Calibri"/>
              </a:rPr>
              <a:t>Click to edit the title text format</a:t>
            </a:r>
            <a:endParaRPr lang="en-US" sz="1800" b="0" u="none" strike="noStrike">
              <a:solidFill>
                <a:schemeClr val="dk1"/>
              </a:solidFill>
              <a:effectLst/>
              <a:uFillTx/>
              <a:latin typeface="Calibri"/>
            </a:endParaRPr>
          </a:p>
        </p:txBody>
      </p:sp>
      <p:sp>
        <p:nvSpPr>
          <p:cNvPr id="3" name="PlaceHolder 2"/>
          <p:cNvSpPr>
            <a:spLocks noGrp="1"/>
          </p:cNvSpPr>
          <p:nvPr>
            <p:ph type="body"/>
          </p:nvPr>
        </p:nvSpPr>
        <p:spPr>
          <a:xfrm>
            <a:off x="914400" y="2406960"/>
            <a:ext cx="16458840" cy="596592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slideLayout" Target="../slideLayouts/slideLayout1.xml"/><Relationship Id="rId6"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slideLayout" Target="../slideLayouts/slideLayout1.xml"/><Relationship Id="rId4"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xml"/><Relationship Id="rId3" Type="http://schemas.openxmlformats.org/officeDocument/2006/relationships/notesSlide" Target="../notesSlides/notesSlide1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ECE0"/>
        </a:solidFill>
      </p:bgPr>
    </p:bg>
    <p:spTree>
      <p:nvGrpSpPr>
        <p:cNvPr id="1" name=""/>
        <p:cNvGrpSpPr/>
        <p:nvPr/>
      </p:nvGrpSpPr>
      <p:grpSpPr>
        <a:xfrm>
          <a:off x="0" y="0"/>
          <a:ext cx="0" cy="0"/>
          <a:chOff x="0" y="0"/>
          <a:chExt cx="0" cy="0"/>
        </a:xfrm>
      </p:grpSpPr>
      <p:sp>
        <p:nvSpPr>
          <p:cNvPr id="10" name="Shape 0"/>
          <p:cNvSpPr/>
          <p:nvPr/>
        </p:nvSpPr>
        <p:spPr>
          <a:xfrm>
            <a:off x="1047600" y="762120"/>
            <a:ext cx="533160" cy="533160"/>
          </a:xfrm>
          <a:prstGeom prst="ellipse">
            <a:avLst/>
          </a:prstGeom>
          <a:solidFill>
            <a:srgbClr val="2F4A37"/>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1" name="Text 1"/>
          <p:cNvSpPr/>
          <p:nvPr/>
        </p:nvSpPr>
        <p:spPr>
          <a:xfrm>
            <a:off x="1047600" y="762120"/>
            <a:ext cx="609120" cy="5713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zh-CN" sz="2100" b="1" u="none" spc="145" strike="noStrike">
                <a:solidFill>
                  <a:srgbClr val="F3ECE0"/>
                </a:solidFill>
                <a:effectLst/>
                <a:uFillTx/>
                <a:latin typeface="Noto Serif JP"/>
                <a:ea typeface="Noto Serif JP"/>
              </a:rPr>
              <a:t>御</a:t>
            </a:r>
            <a:endParaRPr lang="en-US" sz="2100" b="0" u="none" strike="noStrike">
              <a:solidFill>
                <a:srgbClr val="000000"/>
              </a:solidFill>
              <a:effectLst/>
              <a:uFillTx/>
              <a:latin typeface="Arial"/>
            </a:endParaRPr>
          </a:p>
        </p:txBody>
      </p:sp>
      <p:sp>
        <p:nvSpPr>
          <p:cNvPr id="12" name="Text 2"/>
          <p:cNvSpPr/>
          <p:nvPr/>
        </p:nvSpPr>
        <p:spPr>
          <a:xfrm>
            <a:off x="1714680" y="895320"/>
            <a:ext cx="224244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4C554F"/>
                </a:solidFill>
                <a:effectLst/>
                <a:uFillTx/>
                <a:latin typeface="Courier New"/>
                <a:ea typeface="Courier New"/>
              </a:rPr>
              <a:t>MITSUE PROJECT</a:t>
            </a:r>
            <a:endParaRPr lang="en-US" sz="1800" b="0" u="none" strike="noStrike">
              <a:solidFill>
                <a:srgbClr val="000000"/>
              </a:solidFill>
              <a:effectLst/>
              <a:uFillTx/>
              <a:latin typeface="Arial"/>
            </a:endParaRPr>
          </a:p>
        </p:txBody>
      </p:sp>
      <p:sp>
        <p:nvSpPr>
          <p:cNvPr id="13" name="Text 3"/>
          <p:cNvSpPr/>
          <p:nvPr/>
        </p:nvSpPr>
        <p:spPr>
          <a:xfrm>
            <a:off x="11809800" y="762120"/>
            <a:ext cx="559296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4C554F"/>
                </a:solidFill>
                <a:effectLst/>
                <a:uFillTx/>
                <a:latin typeface="Courier New"/>
                <a:ea typeface="Courier New"/>
              </a:rPr>
              <a:t>PHASE 0 · PRE-</a:t>
            </a:r>
            <a:r>
              <a:rPr lang="en-US" sz="1800" b="0" u="none" spc="145" strike="noStrike">
                <a:solidFill>
                  <a:srgbClr val="4C554F"/>
                </a:solidFill>
                <a:effectLst/>
                <a:uFillTx/>
                <a:latin typeface="Courier New"/>
                <a:ea typeface="Courier New"/>
              </a:rPr>
              <a:t>FOUNDATION · MAY </a:t>
            </a:r>
            <a:r>
              <a:rPr lang="en-US" sz="1800" b="0" u="none" spc="145" strike="noStrike">
                <a:solidFill>
                  <a:srgbClr val="4C554F"/>
                </a:solidFill>
                <a:effectLst/>
                <a:uFillTx/>
                <a:latin typeface="Courier New"/>
                <a:ea typeface="Courier New"/>
              </a:rPr>
              <a:t>2026</a:t>
            </a:r>
            <a:endParaRPr lang="en-US" sz="1800" b="0" u="none" strike="noStrike">
              <a:solidFill>
                <a:srgbClr val="000000"/>
              </a:solidFill>
              <a:effectLst/>
              <a:uFillTx/>
              <a:latin typeface="Arial"/>
            </a:endParaRPr>
          </a:p>
        </p:txBody>
      </p:sp>
      <p:sp>
        <p:nvSpPr>
          <p:cNvPr id="14" name="Text 4"/>
          <p:cNvSpPr/>
          <p:nvPr/>
        </p:nvSpPr>
        <p:spPr>
          <a:xfrm>
            <a:off x="1047600" y="1866960"/>
            <a:ext cx="8829360" cy="3805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800" b="0" u="none" spc="215" strike="noStrike">
                <a:solidFill>
                  <a:srgbClr val="4C554F"/>
                </a:solidFill>
                <a:effectLst/>
                <a:uFillTx/>
                <a:latin typeface="Courier New"/>
                <a:ea typeface="Courier New"/>
              </a:rPr>
              <a:t>A 25-YEAR INITIATIVE · </a:t>
            </a:r>
            <a:r>
              <a:rPr lang="zh-CN" sz="1800" b="0" u="none" spc="215" strike="noStrike">
                <a:solidFill>
                  <a:srgbClr val="4C554F"/>
                </a:solidFill>
                <a:effectLst/>
                <a:uFillTx/>
                <a:latin typeface="Courier New"/>
                <a:ea typeface="Courier New"/>
              </a:rPr>
              <a:t>二十五年計画</a:t>
            </a:r>
            <a:endParaRPr lang="en-US" sz="1800" b="0" u="none" strike="noStrike">
              <a:solidFill>
                <a:srgbClr val="000000"/>
              </a:solidFill>
              <a:effectLst/>
              <a:uFillTx/>
              <a:latin typeface="Arial"/>
            </a:endParaRPr>
          </a:p>
        </p:txBody>
      </p:sp>
      <p:sp>
        <p:nvSpPr>
          <p:cNvPr id="15" name="Text 5"/>
          <p:cNvSpPr/>
          <p:nvPr/>
        </p:nvSpPr>
        <p:spPr>
          <a:xfrm>
            <a:off x="1047600" y="2476440"/>
            <a:ext cx="8829360" cy="482616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97000"/>
              </a:lnSpc>
              <a:tabLst>
                <a:tab pos="0" algn="l"/>
              </a:tabLst>
            </a:pPr>
            <a:r>
              <a:rPr lang="en-US" sz="9600" b="0" u="none" spc="-96" strike="noStrike">
                <a:solidFill>
                  <a:srgbClr val="1F2A24"/>
                </a:solidFill>
                <a:effectLst/>
                <a:uFillTx/>
                <a:latin typeface="Georgia"/>
                <a:ea typeface="Georgia"/>
              </a:rPr>
              <a:t>A modest </a:t>
            </a:r>
            <a:r>
              <a:rPr lang="en-US" sz="9600" b="0" u="none" spc="-96" strike="noStrike">
                <a:solidFill>
                  <a:srgbClr val="1F2A24"/>
                </a:solidFill>
                <a:effectLst/>
                <a:uFillTx/>
                <a:latin typeface="Georgia"/>
                <a:ea typeface="Georgia"/>
              </a:rPr>
              <a:t>plan for a </a:t>
            </a:r>
            <a:r>
              <a:rPr lang="en-US" sz="9600" b="0" u="none" spc="-96" strike="noStrike">
                <a:solidFill>
                  <a:srgbClr val="1F2A24"/>
                </a:solidFill>
                <a:effectLst/>
                <a:uFillTx/>
                <a:latin typeface="Georgia"/>
                <a:ea typeface="Georgia"/>
              </a:rPr>
              <a:t>small </a:t>
            </a:r>
            <a:r>
              <a:rPr lang="en-US" sz="9600" b="0" u="none" spc="-96" strike="noStrike">
                <a:solidFill>
                  <a:srgbClr val="1F2A24"/>
                </a:solidFill>
                <a:effectLst/>
                <a:uFillTx/>
                <a:latin typeface="Georgia"/>
                <a:ea typeface="Georgia"/>
              </a:rPr>
              <a:t>village in </a:t>
            </a:r>
            <a:r>
              <a:rPr lang="en-US" sz="9600" b="0" u="none" spc="-96" strike="noStrike">
                <a:solidFill>
                  <a:srgbClr val="1F2A24"/>
                </a:solidFill>
                <a:effectLst/>
                <a:uFillTx/>
                <a:latin typeface="Georgia"/>
                <a:ea typeface="Georgia"/>
              </a:rPr>
              <a:t>the </a:t>
            </a:r>
            <a:r>
              <a:rPr lang="en-US" sz="9600" b="0" i="1" u="none" spc="-96" strike="noStrike">
                <a:solidFill>
                  <a:srgbClr val="C4663A"/>
                </a:solidFill>
                <a:effectLst/>
                <a:uFillTx/>
                <a:latin typeface="Georgia"/>
                <a:ea typeface="Georgia"/>
              </a:rPr>
              <a:t>mountain</a:t>
            </a:r>
            <a:r>
              <a:rPr lang="en-US" sz="9600" b="0" i="1" u="none" spc="-96" strike="noStrike">
                <a:solidFill>
                  <a:srgbClr val="C4663A"/>
                </a:solidFill>
                <a:effectLst/>
                <a:uFillTx/>
                <a:latin typeface="Georgia"/>
                <a:ea typeface="Georgia"/>
              </a:rPr>
              <a:t>s.</a:t>
            </a:r>
            <a:endParaRPr lang="en-US" sz="9600" b="0" u="none" strike="noStrike">
              <a:solidFill>
                <a:srgbClr val="000000"/>
              </a:solidFill>
              <a:effectLst/>
              <a:uFillTx/>
              <a:latin typeface="Arial"/>
            </a:endParaRPr>
          </a:p>
        </p:txBody>
      </p:sp>
      <p:sp>
        <p:nvSpPr>
          <p:cNvPr id="16" name="Text 6"/>
          <p:cNvSpPr/>
          <p:nvPr/>
        </p:nvSpPr>
        <p:spPr>
          <a:xfrm>
            <a:off x="1047600" y="7607880"/>
            <a:ext cx="4591800" cy="1238040"/>
          </a:xfrm>
          <a:prstGeom prst="rect">
            <a:avLst/>
          </a:prstGeom>
          <a:noFill/>
          <a:ln w="0">
            <a:noFill/>
          </a:ln>
        </p:spPr>
        <p:style>
          <a:lnRef idx="0"/>
          <a:fillRef idx="0"/>
          <a:effectRef idx="0"/>
          <a:fontRef idx="minor"/>
        </p:style>
        <p:txBody>
          <a:bodyPr lIns="25560" tIns="25560" rIns="25560" bIns="25560" anchor="t">
            <a:normAutofit/>
          </a:bodyPr>
          <a:p>
            <a:pPr defTabSz="914400">
              <a:lnSpc>
                <a:spcPct val="140000"/>
              </a:lnSpc>
              <a:tabLst>
                <a:tab pos="0" algn="l"/>
              </a:tabLst>
            </a:pPr>
            <a:r>
              <a:rPr lang="zh-CN" sz="2250" b="0" u="none" strike="noStrike">
                <a:solidFill>
                  <a:srgbClr val="4C554F"/>
                </a:solidFill>
                <a:effectLst/>
                <a:uFillTx/>
                <a:latin typeface="Noto Serif JP"/>
                <a:ea typeface="Noto Serif JP"/>
              </a:rPr>
              <a:t>奈良県御杖村 森林・分散型エネルギ</a:t>
            </a:r>
            <a:r>
              <a:rPr lang="zh-CN" sz="2250" b="0" u="none" strike="noStrike">
                <a:solidFill>
                  <a:srgbClr val="4C554F"/>
                </a:solidFill>
                <a:effectLst/>
                <a:uFillTx/>
                <a:latin typeface="Noto Serif JP"/>
                <a:ea typeface="Noto Serif JP"/>
              </a:rPr>
              <a:t>ー・地域所有のデータセンター</a:t>
            </a:r>
            <a:endParaRPr lang="en-US" sz="2250" b="0" u="none" strike="noStrike">
              <a:solidFill>
                <a:srgbClr val="000000"/>
              </a:solidFill>
              <a:effectLst/>
              <a:uFillTx/>
              <a:latin typeface="Arial"/>
            </a:endParaRPr>
          </a:p>
        </p:txBody>
      </p:sp>
      <p:pic>
        <p:nvPicPr>
          <p:cNvPr id="17" name="Image 0" descr="preencoded.png"/>
          <p:cNvPicPr/>
          <p:nvPr/>
        </p:nvPicPr>
        <p:blipFill>
          <a:blip r:embed="rId1"/>
          <a:stretch/>
        </p:blipFill>
        <p:spPr>
          <a:xfrm>
            <a:off x="10382400" y="1866960"/>
            <a:ext cx="6857640" cy="6095520"/>
          </a:xfrm>
          <a:prstGeom prst="rect">
            <a:avLst/>
          </a:prstGeom>
          <a:noFill/>
          <a:ln w="0">
            <a:noFill/>
          </a:ln>
        </p:spPr>
      </p:pic>
      <p:sp>
        <p:nvSpPr>
          <p:cNvPr id="18" name="Text 7"/>
          <p:cNvSpPr/>
          <p:nvPr/>
        </p:nvSpPr>
        <p:spPr>
          <a:xfrm>
            <a:off x="1047600" y="9258480"/>
            <a:ext cx="115452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4C554F"/>
                </a:solidFill>
                <a:effectLst/>
                <a:uFillTx/>
                <a:latin typeface="Courier New"/>
                <a:ea typeface="Courier New"/>
              </a:rPr>
              <a:t>01 / 11</a:t>
            </a:r>
            <a:endParaRPr lang="en-US" sz="1800" b="0" u="none" strike="noStrike">
              <a:solidFill>
                <a:srgbClr val="000000"/>
              </a:solidFill>
              <a:effectLst/>
              <a:uFillTx/>
              <a:latin typeface="Arial"/>
            </a:endParaRPr>
          </a:p>
        </p:txBody>
      </p:sp>
      <p:sp>
        <p:nvSpPr>
          <p:cNvPr id="19" name="Text 8"/>
          <p:cNvSpPr/>
          <p:nvPr/>
        </p:nvSpPr>
        <p:spPr>
          <a:xfrm>
            <a:off x="13830480" y="9258480"/>
            <a:ext cx="351180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4C554F"/>
                </a:solidFill>
                <a:effectLst/>
                <a:uFillTx/>
                <a:latin typeface="Courier New"/>
                <a:ea typeface="Courier New"/>
              </a:rPr>
              <a:t>FOREST · EV </a:t>
            </a:r>
            <a:r>
              <a:rPr lang="en-US" sz="1800" b="0" u="none" spc="145" strike="noStrike">
                <a:solidFill>
                  <a:srgbClr val="4C554F"/>
                </a:solidFill>
                <a:effectLst/>
                <a:uFillTx/>
                <a:latin typeface="Courier New"/>
                <a:ea typeface="Courier New"/>
              </a:rPr>
              <a:t>POWER · AI</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ECE0"/>
        </a:solidFill>
      </p:bgPr>
    </p:bg>
    <p:spTree>
      <p:nvGrpSpPr>
        <p:cNvPr id="1" name=""/>
        <p:cNvGrpSpPr/>
        <p:nvPr/>
      </p:nvGrpSpPr>
      <p:grpSpPr>
        <a:xfrm>
          <a:off x="0" y="0"/>
          <a:ext cx="0" cy="0"/>
          <a:chOff x="0" y="0"/>
          <a:chExt cx="0" cy="0"/>
        </a:xfrm>
      </p:grpSpPr>
      <p:sp>
        <p:nvSpPr>
          <p:cNvPr id="20" name="Shape 0"/>
          <p:cNvSpPr/>
          <p:nvPr/>
        </p:nvSpPr>
        <p:spPr>
          <a:xfrm>
            <a:off x="1047600" y="762120"/>
            <a:ext cx="456840" cy="456840"/>
          </a:xfrm>
          <a:prstGeom prst="ellipse">
            <a:avLst/>
          </a:prstGeom>
          <a:solidFill>
            <a:srgbClr val="2F4A37"/>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1" name="Text 1"/>
          <p:cNvSpPr/>
          <p:nvPr/>
        </p:nvSpPr>
        <p:spPr>
          <a:xfrm>
            <a:off x="1047600" y="762120"/>
            <a:ext cx="533160" cy="4950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zh-CN" sz="1950" b="1" u="none" spc="145" strike="noStrike">
                <a:solidFill>
                  <a:srgbClr val="F3ECE0"/>
                </a:solidFill>
                <a:effectLst/>
                <a:uFillTx/>
                <a:latin typeface="Noto Serif JP"/>
                <a:ea typeface="Noto Serif JP"/>
              </a:rPr>
              <a:t>御</a:t>
            </a:r>
            <a:endParaRPr lang="en-US" sz="1950" b="0" u="none" strike="noStrike">
              <a:solidFill>
                <a:srgbClr val="000000"/>
              </a:solidFill>
              <a:effectLst/>
              <a:uFillTx/>
              <a:latin typeface="Arial"/>
            </a:endParaRPr>
          </a:p>
        </p:txBody>
      </p:sp>
      <p:sp>
        <p:nvSpPr>
          <p:cNvPr id="22" name="Text 2"/>
          <p:cNvSpPr/>
          <p:nvPr/>
        </p:nvSpPr>
        <p:spPr>
          <a:xfrm>
            <a:off x="1638360" y="857160"/>
            <a:ext cx="224244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4C554F"/>
                </a:solidFill>
                <a:effectLst/>
                <a:uFillTx/>
                <a:latin typeface="Courier New"/>
                <a:ea typeface="Courier New"/>
              </a:rPr>
              <a:t>MITSUE PROJECT</a:t>
            </a:r>
            <a:endParaRPr lang="en-US" sz="1800" b="0" u="none" strike="noStrike">
              <a:solidFill>
                <a:srgbClr val="000000"/>
              </a:solidFill>
              <a:effectLst/>
              <a:uFillTx/>
              <a:latin typeface="Arial"/>
            </a:endParaRPr>
          </a:p>
        </p:txBody>
      </p:sp>
      <p:sp>
        <p:nvSpPr>
          <p:cNvPr id="23" name="Text 3"/>
          <p:cNvSpPr/>
          <p:nvPr/>
        </p:nvSpPr>
        <p:spPr>
          <a:xfrm>
            <a:off x="14451840" y="762120"/>
            <a:ext cx="287172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4C554F"/>
                </a:solidFill>
                <a:effectLst/>
                <a:uFillTx/>
                <a:latin typeface="Courier New"/>
                <a:ea typeface="Courier New"/>
              </a:rPr>
              <a:t>§ 01 · THE </a:t>
            </a:r>
            <a:r>
              <a:rPr lang="en-US" sz="1800" b="0" u="none" spc="145" strike="noStrike">
                <a:solidFill>
                  <a:srgbClr val="4C554F"/>
                </a:solidFill>
                <a:effectLst/>
                <a:uFillTx/>
                <a:latin typeface="Courier New"/>
                <a:ea typeface="Courier New"/>
              </a:rPr>
              <a:t>SETTING</a:t>
            </a:r>
            <a:endParaRPr lang="en-US" sz="1800" b="0" u="none" strike="noStrike">
              <a:solidFill>
                <a:srgbClr val="000000"/>
              </a:solidFill>
              <a:effectLst/>
              <a:uFillTx/>
              <a:latin typeface="Arial"/>
            </a:endParaRPr>
          </a:p>
        </p:txBody>
      </p:sp>
      <p:sp>
        <p:nvSpPr>
          <p:cNvPr id="24" name="Text 4"/>
          <p:cNvSpPr/>
          <p:nvPr/>
        </p:nvSpPr>
        <p:spPr>
          <a:xfrm>
            <a:off x="1047600" y="1695600"/>
            <a:ext cx="7946280" cy="3805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800" b="0" u="none" spc="215" strike="noStrike">
                <a:solidFill>
                  <a:srgbClr val="4C554F"/>
                </a:solidFill>
                <a:effectLst/>
                <a:uFillTx/>
                <a:latin typeface="Courier New"/>
                <a:ea typeface="Courier New"/>
              </a:rPr>
              <a:t>MITSUE VILLAGE · </a:t>
            </a:r>
            <a:r>
              <a:rPr lang="zh-CN" sz="1800" b="0" u="none" spc="215" strike="noStrike">
                <a:solidFill>
                  <a:srgbClr val="4C554F"/>
                </a:solidFill>
                <a:effectLst/>
                <a:uFillTx/>
                <a:latin typeface="Courier New"/>
                <a:ea typeface="Courier New"/>
              </a:rPr>
              <a:t>奈良県御杖村</a:t>
            </a:r>
            <a:endParaRPr lang="en-US" sz="1800" b="0" u="none" strike="noStrike">
              <a:solidFill>
                <a:srgbClr val="000000"/>
              </a:solidFill>
              <a:effectLst/>
              <a:uFillTx/>
              <a:latin typeface="Arial"/>
            </a:endParaRPr>
          </a:p>
        </p:txBody>
      </p:sp>
      <p:sp>
        <p:nvSpPr>
          <p:cNvPr id="25" name="Text 5"/>
          <p:cNvSpPr/>
          <p:nvPr/>
        </p:nvSpPr>
        <p:spPr>
          <a:xfrm>
            <a:off x="1047600" y="1828800"/>
            <a:ext cx="7946280" cy="5275080"/>
          </a:xfrm>
          <a:prstGeom prst="rect">
            <a:avLst/>
          </a:prstGeom>
          <a:noFill/>
          <a:ln w="0">
            <a:noFill/>
          </a:ln>
        </p:spPr>
        <p:style>
          <a:lnRef idx="0"/>
          <a:fillRef idx="0"/>
          <a:effectRef idx="0"/>
          <a:fontRef idx="minor"/>
        </p:style>
        <p:txBody>
          <a:bodyPr lIns="25560" tIns="25560" rIns="25560" bIns="25560" anchor="t">
            <a:normAutofit/>
          </a:bodyPr>
          <a:p>
            <a:pPr defTabSz="914400">
              <a:lnSpc>
                <a:spcPct val="98000"/>
              </a:lnSpc>
              <a:tabLst>
                <a:tab pos="0" algn="l"/>
              </a:tabLst>
            </a:pPr>
            <a:r>
              <a:rPr lang="en-US" sz="8400" b="0" u="none" spc="-85" strike="noStrike">
                <a:solidFill>
                  <a:srgbClr val="1F2A24"/>
                </a:solidFill>
                <a:effectLst/>
                <a:uFillTx/>
                <a:latin typeface="Georgia"/>
                <a:ea typeface="Georgia"/>
              </a:rPr>
              <a:t>One closed school. One </a:t>
            </a:r>
            <a:r>
              <a:rPr lang="en-US" sz="8400" b="0" i="1" u="none" spc="-85" strike="noStrike">
                <a:solidFill>
                  <a:srgbClr val="C4663A"/>
                </a:solidFill>
                <a:effectLst/>
                <a:uFillTx/>
                <a:latin typeface="Georgia"/>
                <a:ea typeface="Georgia"/>
              </a:rPr>
              <a:t>tired </a:t>
            </a:r>
            <a:r>
              <a:rPr lang="en-US" sz="8400" b="0" i="1" u="none" spc="-85" strike="noStrike">
                <a:solidFill>
                  <a:srgbClr val="C4663A"/>
                </a:solidFill>
                <a:effectLst/>
                <a:uFillTx/>
                <a:latin typeface="Georgia"/>
                <a:ea typeface="Georgia"/>
              </a:rPr>
              <a:t>forest. </a:t>
            </a:r>
            <a:r>
              <a:rPr lang="en-US" sz="8400" b="0" u="none" spc="-85" strike="noStrike">
                <a:solidFill>
                  <a:srgbClr val="1F2A24"/>
                </a:solidFill>
                <a:effectLst/>
                <a:uFillTx/>
                <a:latin typeface="Georgia"/>
                <a:ea typeface="Georgia"/>
              </a:rPr>
              <a:t>One short list of ideas.</a:t>
            </a:r>
            <a:endParaRPr lang="en-US" sz="8400" b="0" u="none" strike="noStrike">
              <a:solidFill>
                <a:srgbClr val="000000"/>
              </a:solidFill>
              <a:effectLst/>
              <a:uFillTx/>
              <a:latin typeface="Arial"/>
            </a:endParaRPr>
          </a:p>
        </p:txBody>
      </p:sp>
      <p:sp>
        <p:nvSpPr>
          <p:cNvPr id="26" name="Text 6"/>
          <p:cNvSpPr/>
          <p:nvPr/>
        </p:nvSpPr>
        <p:spPr>
          <a:xfrm>
            <a:off x="1047600" y="6858000"/>
            <a:ext cx="7946280" cy="158472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45000"/>
              </a:lnSpc>
              <a:tabLst>
                <a:tab pos="0" algn="l"/>
              </a:tabLst>
            </a:pPr>
            <a:r>
              <a:rPr lang="en-US" sz="2100" b="0" u="none" strike="noStrike">
                <a:solidFill>
                  <a:srgbClr val="1F2A24"/>
                </a:solidFill>
                <a:effectLst/>
                <a:uFillTx/>
                <a:latin typeface="Arial"/>
                <a:ea typeface="Arial"/>
              </a:rPr>
              <a:t>Mitsue is a mountain village in Nara Prefecture. The elementary school closed. The cedar plantations </a:t>
            </a:r>
            <a:r>
              <a:rPr lang="en-US" sz="2100" b="0" u="none" strike="noStrike">
                <a:solidFill>
                  <a:srgbClr val="1F2A24"/>
                </a:solidFill>
                <a:effectLst/>
                <a:uFillTx/>
                <a:latin typeface="Arial"/>
                <a:ea typeface="Arial"/>
              </a:rPr>
              <a:t>around it are old and unmanaged. The grid is fragile. None of this is unusual in rural Japan — that's the </a:t>
            </a:r>
            <a:r>
              <a:rPr lang="en-US" sz="2100" b="0" u="none" strike="noStrike">
                <a:solidFill>
                  <a:srgbClr val="1F2A24"/>
                </a:solidFill>
                <a:effectLst/>
                <a:uFillTx/>
                <a:latin typeface="Arial"/>
                <a:ea typeface="Arial"/>
              </a:rPr>
              <a:t>whole point.</a:t>
            </a:r>
            <a:endParaRPr lang="en-US" sz="2100" b="0" u="none" strike="noStrike">
              <a:solidFill>
                <a:srgbClr val="000000"/>
              </a:solidFill>
              <a:effectLst/>
              <a:uFillTx/>
              <a:latin typeface="Arial"/>
            </a:endParaRPr>
          </a:p>
        </p:txBody>
      </p:sp>
      <p:sp>
        <p:nvSpPr>
          <p:cNvPr id="27" name="Text 7"/>
          <p:cNvSpPr/>
          <p:nvPr/>
        </p:nvSpPr>
        <p:spPr>
          <a:xfrm>
            <a:off x="1143000" y="8229600"/>
            <a:ext cx="7946280" cy="81108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45000"/>
              </a:lnSpc>
              <a:tabLst>
                <a:tab pos="0" algn="l"/>
              </a:tabLst>
            </a:pPr>
            <a:r>
              <a:rPr lang="en-US" sz="2100" b="0" u="none" strike="noStrike">
                <a:solidFill>
                  <a:srgbClr val="4C554F"/>
                </a:solidFill>
                <a:effectLst/>
                <a:uFillTx/>
                <a:latin typeface="Arial"/>
                <a:ea typeface="Arial"/>
              </a:rPr>
              <a:t>If a small, careful intervention works here, it should be copy-pasteable into a </a:t>
            </a:r>
            <a:r>
              <a:rPr lang="en-US" sz="2100" b="0" u="none" strike="noStrike">
                <a:solidFill>
                  <a:srgbClr val="4C554F"/>
                </a:solidFill>
                <a:effectLst/>
                <a:uFillTx/>
                <a:latin typeface="Arial"/>
                <a:ea typeface="Arial"/>
              </a:rPr>
              <a:t>thousand other villages with the same pattern.</a:t>
            </a:r>
            <a:endParaRPr lang="en-US" sz="2100" b="0" u="none" strike="noStrike">
              <a:solidFill>
                <a:srgbClr val="000000"/>
              </a:solidFill>
              <a:effectLst/>
              <a:uFillTx/>
              <a:latin typeface="Arial"/>
            </a:endParaRPr>
          </a:p>
        </p:txBody>
      </p:sp>
      <p:sp>
        <p:nvSpPr>
          <p:cNvPr id="28" name="Shape 8"/>
          <p:cNvSpPr/>
          <p:nvPr/>
        </p:nvSpPr>
        <p:spPr>
          <a:xfrm>
            <a:off x="9655920" y="2391480"/>
            <a:ext cx="7714800" cy="5094720"/>
          </a:xfrm>
          <a:prstGeom prst="rect">
            <a:avLst/>
          </a:prstGeom>
          <a:solidFill>
            <a:srgbClr val="ECE3D3"/>
          </a:solidFill>
          <a:ln w="9525">
            <a:solidFill>
              <a:srgbClr val="1F2A24"/>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9" name="Text 9"/>
          <p:cNvSpPr/>
          <p:nvPr/>
        </p:nvSpPr>
        <p:spPr>
          <a:xfrm>
            <a:off x="10008360" y="2743920"/>
            <a:ext cx="7220520" cy="3805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800" b="0" u="none" spc="215" strike="noStrike">
                <a:solidFill>
                  <a:srgbClr val="4C554F"/>
                </a:solidFill>
                <a:effectLst/>
                <a:uFillTx/>
                <a:latin typeface="Courier New"/>
                <a:ea typeface="Courier New"/>
              </a:rPr>
              <a:t>COORDINATES · </a:t>
            </a:r>
            <a:r>
              <a:rPr lang="zh-CN" sz="1800" b="0" u="none" spc="215" strike="noStrike">
                <a:solidFill>
                  <a:srgbClr val="4C554F"/>
                </a:solidFill>
                <a:effectLst/>
                <a:uFillTx/>
                <a:latin typeface="Courier New"/>
                <a:ea typeface="Courier New"/>
              </a:rPr>
              <a:t>座標</a:t>
            </a:r>
            <a:endParaRPr lang="en-US" sz="1800" b="0" u="none" strike="noStrike">
              <a:solidFill>
                <a:srgbClr val="000000"/>
              </a:solidFill>
              <a:effectLst/>
              <a:uFillTx/>
              <a:latin typeface="Arial"/>
            </a:endParaRPr>
          </a:p>
        </p:txBody>
      </p:sp>
      <p:sp>
        <p:nvSpPr>
          <p:cNvPr id="30" name="Text 10"/>
          <p:cNvSpPr/>
          <p:nvPr/>
        </p:nvSpPr>
        <p:spPr>
          <a:xfrm>
            <a:off x="10008360" y="3258360"/>
            <a:ext cx="7220520" cy="156168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00000"/>
              </a:lnSpc>
              <a:tabLst>
                <a:tab pos="0" algn="l"/>
              </a:tabLst>
            </a:pPr>
            <a:r>
              <a:rPr lang="en-US" sz="6000" b="0" u="none" spc="-60" strike="noStrike">
                <a:solidFill>
                  <a:srgbClr val="1F2A24"/>
                </a:solidFill>
                <a:effectLst/>
                <a:uFillTx/>
                <a:latin typeface="Georgia"/>
                <a:ea typeface="Georgia"/>
              </a:rPr>
              <a:t>34.4194° N 136.0511° E</a:t>
            </a:r>
            <a:endParaRPr lang="en-US" sz="6000" b="0" u="none" strike="noStrike">
              <a:solidFill>
                <a:srgbClr val="000000"/>
              </a:solidFill>
              <a:effectLst/>
              <a:uFillTx/>
              <a:latin typeface="Arial"/>
            </a:endParaRPr>
          </a:p>
        </p:txBody>
      </p:sp>
      <p:sp>
        <p:nvSpPr>
          <p:cNvPr id="31" name="Shape 11"/>
          <p:cNvSpPr/>
          <p:nvPr/>
        </p:nvSpPr>
        <p:spPr>
          <a:xfrm>
            <a:off x="10008360" y="5087160"/>
            <a:ext cx="7009920" cy="9000"/>
          </a:xfrm>
          <a:prstGeom prst="rect">
            <a:avLst/>
          </a:prstGeom>
          <a:solidFill>
            <a:srgbClr val="1F2A24">
              <a:alpha val="50000"/>
            </a:srgbClr>
          </a:solidFill>
          <a:ln w="0">
            <a:noFill/>
          </a:ln>
        </p:spPr>
        <p:style>
          <a:lnRef idx="0"/>
          <a:fillRef idx="0"/>
          <a:effectRef idx="0"/>
          <a:fontRef idx="minor"/>
        </p:style>
        <p:txBody>
          <a:bodyPr lIns="90000" tIns="-35640" rIns="90000" bIns="-35640" anchor="t">
            <a:noAutofit/>
          </a:bodyPr>
          <a:p>
            <a:endParaRPr lang="en-US" sz="1800" b="0" u="none" strike="noStrike">
              <a:solidFill>
                <a:srgbClr val="FFFFFF"/>
              </a:solidFill>
              <a:effectLst/>
              <a:uFillTx/>
              <a:latin typeface="Arial"/>
            </a:endParaRPr>
          </a:p>
        </p:txBody>
      </p:sp>
      <p:sp>
        <p:nvSpPr>
          <p:cNvPr id="32" name="Text 12"/>
          <p:cNvSpPr/>
          <p:nvPr/>
        </p:nvSpPr>
        <p:spPr>
          <a:xfrm>
            <a:off x="10008360" y="5401440"/>
            <a:ext cx="349236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215" strike="noStrike">
                <a:solidFill>
                  <a:srgbClr val="4C554F"/>
                </a:solidFill>
                <a:effectLst/>
                <a:uFillTx/>
                <a:latin typeface="Courier New"/>
                <a:ea typeface="Courier New"/>
              </a:rPr>
              <a:t>POPULATION</a:t>
            </a:r>
            <a:endParaRPr lang="en-US" sz="1800" b="0" u="none" strike="noStrike">
              <a:solidFill>
                <a:srgbClr val="000000"/>
              </a:solidFill>
              <a:effectLst/>
              <a:uFillTx/>
              <a:latin typeface="Arial"/>
            </a:endParaRPr>
          </a:p>
        </p:txBody>
      </p:sp>
      <p:sp>
        <p:nvSpPr>
          <p:cNvPr id="33" name="Text 13"/>
          <p:cNvSpPr/>
          <p:nvPr/>
        </p:nvSpPr>
        <p:spPr>
          <a:xfrm>
            <a:off x="10008360" y="5668200"/>
            <a:ext cx="3492360" cy="5230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98000"/>
              </a:lnSpc>
              <a:tabLst>
                <a:tab pos="0" algn="l"/>
              </a:tabLst>
            </a:pPr>
            <a:r>
              <a:rPr lang="en-US" sz="3900" b="0" u="none" spc="-40" strike="noStrike">
                <a:solidFill>
                  <a:srgbClr val="1F2A24"/>
                </a:solidFill>
                <a:effectLst/>
                <a:uFillTx/>
                <a:latin typeface="Georgia"/>
                <a:ea typeface="Georgia"/>
              </a:rPr>
              <a:t>≈ 1,400</a:t>
            </a:r>
            <a:endParaRPr lang="en-US" sz="3900" b="0" u="none" strike="noStrike">
              <a:solidFill>
                <a:srgbClr val="000000"/>
              </a:solidFill>
              <a:effectLst/>
              <a:uFillTx/>
              <a:latin typeface="Arial"/>
            </a:endParaRPr>
          </a:p>
        </p:txBody>
      </p:sp>
      <p:sp>
        <p:nvSpPr>
          <p:cNvPr id="34" name="Text 14"/>
          <p:cNvSpPr/>
          <p:nvPr/>
        </p:nvSpPr>
        <p:spPr>
          <a:xfrm>
            <a:off x="13627800" y="5401440"/>
            <a:ext cx="349236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215" strike="noStrike">
                <a:solidFill>
                  <a:srgbClr val="4C554F"/>
                </a:solidFill>
                <a:effectLst/>
                <a:uFillTx/>
                <a:latin typeface="Courier New"/>
                <a:ea typeface="Courier New"/>
              </a:rPr>
              <a:t>SCHOOL CLOSED</a:t>
            </a:r>
            <a:endParaRPr lang="en-US" sz="1800" b="0" u="none" strike="noStrike">
              <a:solidFill>
                <a:srgbClr val="000000"/>
              </a:solidFill>
              <a:effectLst/>
              <a:uFillTx/>
              <a:latin typeface="Arial"/>
            </a:endParaRPr>
          </a:p>
        </p:txBody>
      </p:sp>
      <p:sp>
        <p:nvSpPr>
          <p:cNvPr id="35" name="Text 15"/>
          <p:cNvSpPr/>
          <p:nvPr/>
        </p:nvSpPr>
        <p:spPr>
          <a:xfrm>
            <a:off x="13627800" y="5668200"/>
            <a:ext cx="3492360" cy="5230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98000"/>
              </a:lnSpc>
              <a:tabLst>
                <a:tab pos="0" algn="l"/>
              </a:tabLst>
            </a:pPr>
            <a:r>
              <a:rPr lang="en-US" sz="3900" b="0" u="none" spc="-40" strike="noStrike">
                <a:solidFill>
                  <a:srgbClr val="1F2A24"/>
                </a:solidFill>
                <a:effectLst/>
                <a:uFillTx/>
                <a:latin typeface="Georgia"/>
                <a:ea typeface="Georgia"/>
              </a:rPr>
              <a:t>2020</a:t>
            </a:r>
            <a:endParaRPr lang="en-US" sz="3900" b="0" u="none" strike="noStrike">
              <a:solidFill>
                <a:srgbClr val="000000"/>
              </a:solidFill>
              <a:effectLst/>
              <a:uFillTx/>
              <a:latin typeface="Arial"/>
            </a:endParaRPr>
          </a:p>
        </p:txBody>
      </p:sp>
      <p:sp>
        <p:nvSpPr>
          <p:cNvPr id="36" name="Text 16"/>
          <p:cNvSpPr/>
          <p:nvPr/>
        </p:nvSpPr>
        <p:spPr>
          <a:xfrm>
            <a:off x="10008360" y="6382080"/>
            <a:ext cx="349236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215" strike="noStrike">
                <a:solidFill>
                  <a:srgbClr val="4C554F"/>
                </a:solidFill>
                <a:effectLst/>
                <a:uFillTx/>
                <a:latin typeface="Courier New"/>
                <a:ea typeface="Courier New"/>
              </a:rPr>
              <a:t>FOREST COVER</a:t>
            </a:r>
            <a:endParaRPr lang="en-US" sz="1800" b="0" u="none" strike="noStrike">
              <a:solidFill>
                <a:srgbClr val="000000"/>
              </a:solidFill>
              <a:effectLst/>
              <a:uFillTx/>
              <a:latin typeface="Arial"/>
            </a:endParaRPr>
          </a:p>
        </p:txBody>
      </p:sp>
      <p:sp>
        <p:nvSpPr>
          <p:cNvPr id="37" name="Text 17"/>
          <p:cNvSpPr/>
          <p:nvPr/>
        </p:nvSpPr>
        <p:spPr>
          <a:xfrm>
            <a:off x="10008360" y="6648840"/>
            <a:ext cx="3492360" cy="5230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98000"/>
              </a:lnSpc>
              <a:tabLst>
                <a:tab pos="0" algn="l"/>
              </a:tabLst>
            </a:pPr>
            <a:r>
              <a:rPr lang="en-US" sz="3900" b="0" u="none" spc="-40" strike="noStrike">
                <a:solidFill>
                  <a:srgbClr val="1F2A24"/>
                </a:solidFill>
                <a:effectLst/>
                <a:uFillTx/>
                <a:latin typeface="Georgia"/>
                <a:ea typeface="Georgia"/>
              </a:rPr>
              <a:t>≈ 93%</a:t>
            </a:r>
            <a:endParaRPr lang="en-US" sz="3900" b="0" u="none" strike="noStrike">
              <a:solidFill>
                <a:srgbClr val="000000"/>
              </a:solidFill>
              <a:effectLst/>
              <a:uFillTx/>
              <a:latin typeface="Arial"/>
            </a:endParaRPr>
          </a:p>
        </p:txBody>
      </p:sp>
      <p:sp>
        <p:nvSpPr>
          <p:cNvPr id="38" name="Text 18"/>
          <p:cNvSpPr/>
          <p:nvPr/>
        </p:nvSpPr>
        <p:spPr>
          <a:xfrm>
            <a:off x="13627800" y="6382080"/>
            <a:ext cx="349236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215" strike="noStrike">
                <a:solidFill>
                  <a:srgbClr val="4C554F"/>
                </a:solidFill>
                <a:effectLst/>
                <a:uFillTx/>
                <a:latin typeface="Courier New"/>
                <a:ea typeface="Courier New"/>
              </a:rPr>
              <a:t>PROJECT HORIZON</a:t>
            </a:r>
            <a:endParaRPr lang="en-US" sz="1800" b="0" u="none" strike="noStrike">
              <a:solidFill>
                <a:srgbClr val="000000"/>
              </a:solidFill>
              <a:effectLst/>
              <a:uFillTx/>
              <a:latin typeface="Arial"/>
            </a:endParaRPr>
          </a:p>
        </p:txBody>
      </p:sp>
      <p:sp>
        <p:nvSpPr>
          <p:cNvPr id="39" name="Text 19"/>
          <p:cNvSpPr/>
          <p:nvPr/>
        </p:nvSpPr>
        <p:spPr>
          <a:xfrm>
            <a:off x="13627800" y="6648840"/>
            <a:ext cx="3492360" cy="5230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98000"/>
              </a:lnSpc>
              <a:tabLst>
                <a:tab pos="0" algn="l"/>
              </a:tabLst>
            </a:pPr>
            <a:r>
              <a:rPr lang="en-US" sz="3900" b="0" u="none" spc="-40" strike="noStrike">
                <a:solidFill>
                  <a:srgbClr val="1F2A24"/>
                </a:solidFill>
                <a:effectLst/>
                <a:uFillTx/>
                <a:latin typeface="Georgia"/>
                <a:ea typeface="Georgia"/>
              </a:rPr>
              <a:t>25 yr</a:t>
            </a:r>
            <a:endParaRPr lang="en-US" sz="3900" b="0" u="none" strike="noStrike">
              <a:solidFill>
                <a:srgbClr val="000000"/>
              </a:solidFill>
              <a:effectLst/>
              <a:uFillTx/>
              <a:latin typeface="Arial"/>
            </a:endParaRPr>
          </a:p>
        </p:txBody>
      </p:sp>
      <p:sp>
        <p:nvSpPr>
          <p:cNvPr id="40" name="Text 20"/>
          <p:cNvSpPr/>
          <p:nvPr/>
        </p:nvSpPr>
        <p:spPr>
          <a:xfrm>
            <a:off x="8993880" y="9565200"/>
            <a:ext cx="794628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215" strike="noStrike">
                <a:solidFill>
                  <a:srgbClr val="4C554F"/>
                </a:solidFill>
                <a:effectLst/>
                <a:uFillTx/>
                <a:latin typeface="Courier New"/>
                <a:ea typeface="Courier New"/>
              </a:rPr>
              <a:t>RURAL REVITALIZATION, BUT </a:t>
            </a:r>
            <a:r>
              <a:rPr lang="en-US" sz="1800" b="0" u="none" spc="215" strike="noStrike">
                <a:solidFill>
                  <a:srgbClr val="4C554F"/>
                </a:solidFill>
                <a:effectLst/>
                <a:uFillTx/>
                <a:latin typeface="Courier New"/>
                <a:ea typeface="Courier New"/>
              </a:rPr>
              <a:t>QUIETLY.</a:t>
            </a:r>
            <a:endParaRPr lang="en-US" sz="1800" b="0" u="none" strike="noStrike">
              <a:solidFill>
                <a:srgbClr val="000000"/>
              </a:solidFill>
              <a:effectLst/>
              <a:uFillTx/>
              <a:latin typeface="Arial"/>
            </a:endParaRPr>
          </a:p>
        </p:txBody>
      </p:sp>
      <p:sp>
        <p:nvSpPr>
          <p:cNvPr id="41" name="Text 21"/>
          <p:cNvSpPr/>
          <p:nvPr/>
        </p:nvSpPr>
        <p:spPr>
          <a:xfrm>
            <a:off x="1143000" y="9525240"/>
            <a:ext cx="115452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4C554F"/>
                </a:solidFill>
                <a:effectLst/>
                <a:uFillTx/>
                <a:latin typeface="Courier New"/>
                <a:ea typeface="Courier New"/>
              </a:rPr>
              <a:t>02 / 11</a:t>
            </a:r>
            <a:endParaRPr lang="en-US" sz="1800" b="0" u="none" strike="noStrike">
              <a:solidFill>
                <a:srgbClr val="000000"/>
              </a:solidFill>
              <a:effectLst/>
              <a:uFillTx/>
              <a:latin typeface="Arial"/>
            </a:endParaRPr>
          </a:p>
        </p:txBody>
      </p:sp>
      <p:sp>
        <p:nvSpPr>
          <p:cNvPr id="42" name="Text 22"/>
          <p:cNvSpPr/>
          <p:nvPr/>
        </p:nvSpPr>
        <p:spPr>
          <a:xfrm>
            <a:off x="16137000" y="9525240"/>
            <a:ext cx="146520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4C554F"/>
                </a:solidFill>
                <a:effectLst/>
                <a:uFillTx/>
                <a:latin typeface="Courier New"/>
                <a:ea typeface="Courier New"/>
              </a:rPr>
              <a:t>MITSUE.IT</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ECE0"/>
        </a:solidFill>
      </p:bgPr>
    </p:bg>
    <p:spTree>
      <p:nvGrpSpPr>
        <p:cNvPr id="1" name=""/>
        <p:cNvGrpSpPr/>
        <p:nvPr/>
      </p:nvGrpSpPr>
      <p:grpSpPr>
        <a:xfrm>
          <a:off x="0" y="0"/>
          <a:ext cx="0" cy="0"/>
          <a:chOff x="0" y="0"/>
          <a:chExt cx="0" cy="0"/>
        </a:xfrm>
      </p:grpSpPr>
      <p:sp>
        <p:nvSpPr>
          <p:cNvPr id="43" name="Shape 0"/>
          <p:cNvSpPr/>
          <p:nvPr/>
        </p:nvSpPr>
        <p:spPr>
          <a:xfrm>
            <a:off x="1047600" y="762120"/>
            <a:ext cx="456840" cy="456840"/>
          </a:xfrm>
          <a:prstGeom prst="ellipse">
            <a:avLst/>
          </a:prstGeom>
          <a:solidFill>
            <a:srgbClr val="2F4A37"/>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4" name="Text 1"/>
          <p:cNvSpPr/>
          <p:nvPr/>
        </p:nvSpPr>
        <p:spPr>
          <a:xfrm>
            <a:off x="1047600" y="762120"/>
            <a:ext cx="533160" cy="4950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zh-CN" sz="1950" b="1" u="none" spc="145" strike="noStrike">
                <a:solidFill>
                  <a:srgbClr val="F3ECE0"/>
                </a:solidFill>
                <a:effectLst/>
                <a:uFillTx/>
                <a:latin typeface="Noto Serif JP"/>
                <a:ea typeface="Noto Serif JP"/>
              </a:rPr>
              <a:t>御</a:t>
            </a:r>
            <a:endParaRPr lang="en-US" sz="1950" b="0" u="none" strike="noStrike">
              <a:solidFill>
                <a:srgbClr val="000000"/>
              </a:solidFill>
              <a:effectLst/>
              <a:uFillTx/>
              <a:latin typeface="Arial"/>
            </a:endParaRPr>
          </a:p>
        </p:txBody>
      </p:sp>
      <p:sp>
        <p:nvSpPr>
          <p:cNvPr id="45" name="Text 2"/>
          <p:cNvSpPr/>
          <p:nvPr/>
        </p:nvSpPr>
        <p:spPr>
          <a:xfrm>
            <a:off x="1638360" y="857160"/>
            <a:ext cx="224244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4C554F"/>
                </a:solidFill>
                <a:effectLst/>
                <a:uFillTx/>
                <a:latin typeface="Courier New"/>
                <a:ea typeface="Courier New"/>
              </a:rPr>
              <a:t>MITSUE PROJECT</a:t>
            </a:r>
            <a:endParaRPr lang="en-US" sz="1800" b="0" u="none" strike="noStrike">
              <a:solidFill>
                <a:srgbClr val="000000"/>
              </a:solidFill>
              <a:effectLst/>
              <a:uFillTx/>
              <a:latin typeface="Arial"/>
            </a:endParaRPr>
          </a:p>
        </p:txBody>
      </p:sp>
      <p:sp>
        <p:nvSpPr>
          <p:cNvPr id="46" name="Text 3"/>
          <p:cNvSpPr/>
          <p:nvPr/>
        </p:nvSpPr>
        <p:spPr>
          <a:xfrm>
            <a:off x="11188080" y="762120"/>
            <a:ext cx="623340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4C554F"/>
                </a:solidFill>
                <a:effectLst/>
                <a:uFillTx/>
                <a:latin typeface="Courier New"/>
                <a:ea typeface="Courier New"/>
              </a:rPr>
              <a:t>§ 02 · FOUR PRESSURES, ONE RURAL </a:t>
            </a:r>
            <a:r>
              <a:rPr lang="en-US" sz="1800" b="0" u="none" spc="145" strike="noStrike">
                <a:solidFill>
                  <a:srgbClr val="4C554F"/>
                </a:solidFill>
                <a:effectLst/>
                <a:uFillTx/>
                <a:latin typeface="Courier New"/>
                <a:ea typeface="Courier New"/>
              </a:rPr>
              <a:t>ANSWER</a:t>
            </a:r>
            <a:endParaRPr lang="en-US" sz="1800" b="0" u="none" strike="noStrike">
              <a:solidFill>
                <a:srgbClr val="000000"/>
              </a:solidFill>
              <a:effectLst/>
              <a:uFillTx/>
              <a:latin typeface="Arial"/>
            </a:endParaRPr>
          </a:p>
        </p:txBody>
      </p:sp>
      <p:sp>
        <p:nvSpPr>
          <p:cNvPr id="47" name="Text 4"/>
          <p:cNvSpPr/>
          <p:nvPr/>
        </p:nvSpPr>
        <p:spPr>
          <a:xfrm>
            <a:off x="1047600" y="1619280"/>
            <a:ext cx="13871880" cy="183960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98000"/>
              </a:lnSpc>
              <a:tabLst>
                <a:tab pos="0" algn="l"/>
              </a:tabLst>
            </a:pPr>
            <a:r>
              <a:rPr lang="en-US" sz="7200" b="0" u="none" spc="-71" strike="noStrike">
                <a:solidFill>
                  <a:srgbClr val="1F2A24"/>
                </a:solidFill>
                <a:effectLst/>
                <a:uFillTx/>
                <a:latin typeface="Georgia"/>
                <a:ea typeface="Georgia"/>
              </a:rPr>
              <a:t>Four expensive </a:t>
            </a:r>
            <a:r>
              <a:rPr lang="en-US" sz="7200" b="0" u="none" spc="-71" strike="noStrike">
                <a:solidFill>
                  <a:srgbClr val="1F2A24"/>
                </a:solidFill>
                <a:effectLst/>
                <a:uFillTx/>
                <a:latin typeface="Georgia"/>
                <a:ea typeface="Georgia"/>
              </a:rPr>
              <a:t>problems that turn out </a:t>
            </a:r>
            <a:r>
              <a:rPr lang="en-US" sz="7200" b="0" u="none" spc="-71" strike="noStrike">
                <a:solidFill>
                  <a:srgbClr val="1F2A24"/>
                </a:solidFill>
                <a:effectLst/>
                <a:uFillTx/>
                <a:latin typeface="Georgia"/>
                <a:ea typeface="Georgia"/>
              </a:rPr>
              <a:t>to be </a:t>
            </a:r>
            <a:r>
              <a:rPr lang="en-US" sz="7200" b="0" i="1" u="none" spc="-71" strike="noStrike">
                <a:solidFill>
                  <a:srgbClr val="C4663A"/>
                </a:solidFill>
                <a:effectLst/>
                <a:uFillTx/>
                <a:latin typeface="Georgia"/>
                <a:ea typeface="Georgia"/>
              </a:rPr>
              <a:t>cheaper together.</a:t>
            </a:r>
            <a:endParaRPr lang="en-US" sz="7200" b="0" u="none" strike="noStrike">
              <a:solidFill>
                <a:srgbClr val="000000"/>
              </a:solidFill>
              <a:effectLst/>
              <a:uFillTx/>
              <a:latin typeface="Arial"/>
            </a:endParaRPr>
          </a:p>
        </p:txBody>
      </p:sp>
      <p:sp>
        <p:nvSpPr>
          <p:cNvPr id="48" name="Text 5"/>
          <p:cNvSpPr/>
          <p:nvPr/>
        </p:nvSpPr>
        <p:spPr>
          <a:xfrm>
            <a:off x="1047600" y="3554280"/>
            <a:ext cx="16678080" cy="4377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zh-CN" sz="2100" b="0" u="none" strike="noStrike">
                <a:solidFill>
                  <a:srgbClr val="4C554F"/>
                </a:solidFill>
                <a:effectLst/>
                <a:uFillTx/>
                <a:latin typeface="Noto Serif JP"/>
                <a:ea typeface="Noto Serif JP"/>
              </a:rPr>
              <a:t>四つの構造</a:t>
            </a:r>
            <a:r>
              <a:rPr lang="zh-CN" sz="2100" b="0" u="none" strike="noStrike">
                <a:solidFill>
                  <a:srgbClr val="4C554F"/>
                </a:solidFill>
                <a:effectLst/>
                <a:uFillTx/>
                <a:latin typeface="Noto Serif JP"/>
                <a:ea typeface="Noto Serif JP"/>
              </a:rPr>
              <a:t>的圧力、ひ</a:t>
            </a:r>
            <a:r>
              <a:rPr lang="zh-CN" sz="2100" b="0" u="none" strike="noStrike">
                <a:solidFill>
                  <a:srgbClr val="4C554F"/>
                </a:solidFill>
                <a:effectLst/>
                <a:uFillTx/>
                <a:latin typeface="Noto Serif JP"/>
                <a:ea typeface="Noto Serif JP"/>
              </a:rPr>
              <a:t>とつの農村</a:t>
            </a:r>
            <a:r>
              <a:rPr lang="zh-CN" sz="2100" b="0" u="none" strike="noStrike">
                <a:solidFill>
                  <a:srgbClr val="4C554F"/>
                </a:solidFill>
                <a:effectLst/>
                <a:uFillTx/>
                <a:latin typeface="Noto Serif JP"/>
                <a:ea typeface="Noto Serif JP"/>
              </a:rPr>
              <a:t>型解答</a:t>
            </a:r>
            <a:endParaRPr lang="en-US" sz="2100" b="0" u="none" strike="noStrike">
              <a:solidFill>
                <a:srgbClr val="000000"/>
              </a:solidFill>
              <a:effectLst/>
              <a:uFillTx/>
              <a:latin typeface="Arial"/>
            </a:endParaRPr>
          </a:p>
        </p:txBody>
      </p:sp>
      <p:sp>
        <p:nvSpPr>
          <p:cNvPr id="49" name="Shape 6"/>
          <p:cNvSpPr/>
          <p:nvPr/>
        </p:nvSpPr>
        <p:spPr>
          <a:xfrm>
            <a:off x="1047600" y="4335480"/>
            <a:ext cx="3833280" cy="18720"/>
          </a:xfrm>
          <a:prstGeom prst="rect">
            <a:avLst/>
          </a:prstGeom>
          <a:solidFill>
            <a:srgbClr val="1F2A24"/>
          </a:solidFill>
          <a:ln w="0">
            <a:noFill/>
          </a:ln>
        </p:spPr>
        <p:style>
          <a:lnRef idx="0"/>
          <a:fillRef idx="0"/>
          <a:effectRef idx="0"/>
          <a:fontRef idx="minor"/>
        </p:style>
        <p:txBody>
          <a:bodyPr lIns="90000" tIns="-25920" rIns="90000" bIns="-25920" anchor="t">
            <a:noAutofit/>
          </a:bodyPr>
          <a:p>
            <a:endParaRPr lang="en-US" sz="1800" b="0" u="none" strike="noStrike">
              <a:solidFill>
                <a:srgbClr val="FFFFFF"/>
              </a:solidFill>
              <a:effectLst/>
              <a:uFillTx/>
              <a:latin typeface="Arial"/>
            </a:endParaRPr>
          </a:p>
        </p:txBody>
      </p:sp>
      <p:sp>
        <p:nvSpPr>
          <p:cNvPr id="50" name="Text 7"/>
          <p:cNvSpPr/>
          <p:nvPr/>
        </p:nvSpPr>
        <p:spPr>
          <a:xfrm>
            <a:off x="1047600" y="4621320"/>
            <a:ext cx="394848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215" strike="noStrike">
                <a:solidFill>
                  <a:srgbClr val="4C554F"/>
                </a:solidFill>
                <a:effectLst/>
                <a:uFillTx/>
                <a:latin typeface="Courier New"/>
                <a:ea typeface="Courier New"/>
              </a:rPr>
              <a:t>01 · ENERGY</a:t>
            </a:r>
            <a:endParaRPr lang="en-US" sz="1800" b="0" u="none" strike="noStrike">
              <a:solidFill>
                <a:srgbClr val="000000"/>
              </a:solidFill>
              <a:effectLst/>
              <a:uFillTx/>
              <a:latin typeface="Arial"/>
            </a:endParaRPr>
          </a:p>
        </p:txBody>
      </p:sp>
      <p:pic>
        <p:nvPicPr>
          <p:cNvPr id="51" name="Image 0" descr="preencoded.png"/>
          <p:cNvPicPr/>
          <p:nvPr/>
        </p:nvPicPr>
        <p:blipFill>
          <a:blip r:embed="rId1"/>
          <a:stretch/>
        </p:blipFill>
        <p:spPr>
          <a:xfrm>
            <a:off x="1047600" y="5078520"/>
            <a:ext cx="3833280" cy="1142640"/>
          </a:xfrm>
          <a:prstGeom prst="rect">
            <a:avLst/>
          </a:prstGeom>
          <a:noFill/>
          <a:ln w="0">
            <a:noFill/>
          </a:ln>
        </p:spPr>
      </p:pic>
      <p:sp>
        <p:nvSpPr>
          <p:cNvPr id="52" name="Text 8"/>
          <p:cNvSpPr/>
          <p:nvPr/>
        </p:nvSpPr>
        <p:spPr>
          <a:xfrm>
            <a:off x="1047600" y="6411960"/>
            <a:ext cx="3948480" cy="43776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5000"/>
              </a:lnSpc>
              <a:tabLst>
                <a:tab pos="0" algn="l"/>
              </a:tabLst>
            </a:pPr>
            <a:r>
              <a:rPr lang="en-US" sz="3000" b="0" u="none" spc="-31" strike="noStrike">
                <a:solidFill>
                  <a:srgbClr val="1F2A24"/>
                </a:solidFill>
                <a:effectLst/>
                <a:uFillTx/>
                <a:latin typeface="Georgia"/>
                <a:ea typeface="Georgia"/>
              </a:rPr>
              <a:t>EV cars are coming.</a:t>
            </a:r>
            <a:endParaRPr lang="en-US" sz="3000" b="0" u="none" strike="noStrike">
              <a:solidFill>
                <a:srgbClr val="000000"/>
              </a:solidFill>
              <a:effectLst/>
              <a:uFillTx/>
              <a:latin typeface="Arial"/>
            </a:endParaRPr>
          </a:p>
        </p:txBody>
      </p:sp>
      <p:sp>
        <p:nvSpPr>
          <p:cNvPr id="53" name="Text 9"/>
          <p:cNvSpPr/>
          <p:nvPr/>
        </p:nvSpPr>
        <p:spPr>
          <a:xfrm>
            <a:off x="1047600" y="7269840"/>
            <a:ext cx="3948480" cy="105876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pPr>
            <a:r>
              <a:rPr lang="en-US" sz="1800" b="0" u="none" strike="noStrike">
                <a:solidFill>
                  <a:srgbClr val="4C554F"/>
                </a:solidFill>
                <a:effectLst/>
                <a:uFillTx/>
                <a:latin typeface="Arial"/>
                <a:ea typeface="Arial"/>
              </a:rPr>
              <a:t>In the near future passenger vehicles will be  electric. Rural grids need new distributed generation. Extension is slow and expensive.</a:t>
            </a:r>
            <a:endParaRPr lang="en-US" sz="1800" b="0" u="none" strike="noStrike">
              <a:solidFill>
                <a:srgbClr val="000000"/>
              </a:solidFill>
              <a:effectLst/>
              <a:uFillTx/>
              <a:latin typeface="Arial"/>
            </a:endParaRPr>
          </a:p>
        </p:txBody>
      </p:sp>
      <p:sp>
        <p:nvSpPr>
          <p:cNvPr id="54" name="Shape 10"/>
          <p:cNvSpPr/>
          <p:nvPr/>
        </p:nvSpPr>
        <p:spPr>
          <a:xfrm>
            <a:off x="5167440" y="4335480"/>
            <a:ext cx="3833280" cy="18720"/>
          </a:xfrm>
          <a:prstGeom prst="rect">
            <a:avLst/>
          </a:prstGeom>
          <a:solidFill>
            <a:srgbClr val="1F2A24"/>
          </a:solidFill>
          <a:ln w="0">
            <a:noFill/>
          </a:ln>
        </p:spPr>
        <p:style>
          <a:lnRef idx="0"/>
          <a:fillRef idx="0"/>
          <a:effectRef idx="0"/>
          <a:fontRef idx="minor"/>
        </p:style>
        <p:txBody>
          <a:bodyPr lIns="90000" tIns="-25920" rIns="90000" bIns="-25920" anchor="t">
            <a:noAutofit/>
          </a:bodyPr>
          <a:p>
            <a:endParaRPr lang="en-US" sz="1800" b="0" u="none" strike="noStrike">
              <a:solidFill>
                <a:srgbClr val="FFFFFF"/>
              </a:solidFill>
              <a:effectLst/>
              <a:uFillTx/>
              <a:latin typeface="Arial"/>
            </a:endParaRPr>
          </a:p>
        </p:txBody>
      </p:sp>
      <p:sp>
        <p:nvSpPr>
          <p:cNvPr id="55" name="Text 11"/>
          <p:cNvSpPr/>
          <p:nvPr/>
        </p:nvSpPr>
        <p:spPr>
          <a:xfrm>
            <a:off x="5167440" y="4621320"/>
            <a:ext cx="394848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215" strike="noStrike">
                <a:solidFill>
                  <a:srgbClr val="4C554F"/>
                </a:solidFill>
                <a:effectLst/>
                <a:uFillTx/>
                <a:latin typeface="Courier New"/>
                <a:ea typeface="Courier New"/>
              </a:rPr>
              <a:t>02 · FOREST</a:t>
            </a:r>
            <a:endParaRPr lang="en-US" sz="1800" b="0" u="none" strike="noStrike">
              <a:solidFill>
                <a:srgbClr val="000000"/>
              </a:solidFill>
              <a:effectLst/>
              <a:uFillTx/>
              <a:latin typeface="Arial"/>
            </a:endParaRPr>
          </a:p>
        </p:txBody>
      </p:sp>
      <p:pic>
        <p:nvPicPr>
          <p:cNvPr id="56" name="Image 1" descr="preencoded.png"/>
          <p:cNvPicPr/>
          <p:nvPr/>
        </p:nvPicPr>
        <p:blipFill>
          <a:blip r:embed="rId2"/>
          <a:stretch/>
        </p:blipFill>
        <p:spPr>
          <a:xfrm>
            <a:off x="5167440" y="5078520"/>
            <a:ext cx="3833280" cy="1142640"/>
          </a:xfrm>
          <a:prstGeom prst="rect">
            <a:avLst/>
          </a:prstGeom>
          <a:noFill/>
          <a:ln w="0">
            <a:noFill/>
          </a:ln>
        </p:spPr>
      </p:pic>
      <p:sp>
        <p:nvSpPr>
          <p:cNvPr id="57" name="Text 12"/>
          <p:cNvSpPr/>
          <p:nvPr/>
        </p:nvSpPr>
        <p:spPr>
          <a:xfrm>
            <a:off x="5167440" y="6411960"/>
            <a:ext cx="3948480" cy="83772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5000"/>
              </a:lnSpc>
              <a:tabLst>
                <a:tab pos="0" algn="l"/>
              </a:tabLst>
            </a:pPr>
            <a:r>
              <a:rPr lang="en-US" sz="3000" b="0" u="none" spc="-31" strike="noStrike">
                <a:solidFill>
                  <a:srgbClr val="1F2A24"/>
                </a:solidFill>
                <a:effectLst/>
                <a:uFillTx/>
                <a:latin typeface="Georgia"/>
                <a:ea typeface="Georgia"/>
              </a:rPr>
              <a:t>Cedar is a liability — and a fuel.</a:t>
            </a:r>
            <a:endParaRPr lang="en-US" sz="3000" b="0" u="none" strike="noStrike">
              <a:solidFill>
                <a:srgbClr val="000000"/>
              </a:solidFill>
              <a:effectLst/>
              <a:uFillTx/>
              <a:latin typeface="Arial"/>
            </a:endParaRPr>
          </a:p>
        </p:txBody>
      </p:sp>
      <p:sp>
        <p:nvSpPr>
          <p:cNvPr id="58" name="Text 13"/>
          <p:cNvSpPr/>
          <p:nvPr/>
        </p:nvSpPr>
        <p:spPr>
          <a:xfrm>
            <a:off x="5167440" y="7249680"/>
            <a:ext cx="3948480" cy="13636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pPr>
            <a:r>
              <a:rPr lang="en-US" sz="1800" b="0" u="none" strike="noStrike">
                <a:solidFill>
                  <a:srgbClr val="4C554F"/>
                </a:solidFill>
                <a:effectLst/>
                <a:uFillTx/>
                <a:latin typeface="Arial"/>
                <a:ea typeface="Arial"/>
              </a:rPr>
              <a:t>Aged sugi plantations: pollen, biodiversity loss, landslide risk. Removing them powers the village; replacing them rebuilds the forest.</a:t>
            </a:r>
            <a:endParaRPr lang="en-US" sz="1800" b="0" u="none" strike="noStrike">
              <a:solidFill>
                <a:srgbClr val="000000"/>
              </a:solidFill>
              <a:effectLst/>
              <a:uFillTx/>
              <a:latin typeface="Arial"/>
            </a:endParaRPr>
          </a:p>
        </p:txBody>
      </p:sp>
      <p:sp>
        <p:nvSpPr>
          <p:cNvPr id="59" name="Shape 14"/>
          <p:cNvSpPr/>
          <p:nvPr/>
        </p:nvSpPr>
        <p:spPr>
          <a:xfrm>
            <a:off x="9286920" y="4335480"/>
            <a:ext cx="3833280" cy="18720"/>
          </a:xfrm>
          <a:prstGeom prst="rect">
            <a:avLst/>
          </a:prstGeom>
          <a:solidFill>
            <a:srgbClr val="1F2A24"/>
          </a:solidFill>
          <a:ln w="0">
            <a:noFill/>
          </a:ln>
        </p:spPr>
        <p:style>
          <a:lnRef idx="0"/>
          <a:fillRef idx="0"/>
          <a:effectRef idx="0"/>
          <a:fontRef idx="minor"/>
        </p:style>
        <p:txBody>
          <a:bodyPr lIns="90000" tIns="-25920" rIns="90000" bIns="-25920" anchor="t">
            <a:noAutofit/>
          </a:bodyPr>
          <a:p>
            <a:endParaRPr lang="en-US" sz="1800" b="0" u="none" strike="noStrike">
              <a:solidFill>
                <a:srgbClr val="FFFFFF"/>
              </a:solidFill>
              <a:effectLst/>
              <a:uFillTx/>
              <a:latin typeface="Arial"/>
            </a:endParaRPr>
          </a:p>
        </p:txBody>
      </p:sp>
      <p:sp>
        <p:nvSpPr>
          <p:cNvPr id="60" name="Text 15"/>
          <p:cNvSpPr/>
          <p:nvPr/>
        </p:nvSpPr>
        <p:spPr>
          <a:xfrm>
            <a:off x="9286920" y="4621320"/>
            <a:ext cx="394848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215" strike="noStrike">
                <a:solidFill>
                  <a:srgbClr val="4C554F"/>
                </a:solidFill>
                <a:effectLst/>
                <a:uFillTx/>
                <a:latin typeface="Courier New"/>
                <a:ea typeface="Courier New"/>
              </a:rPr>
              <a:t>03 · STRANDED</a:t>
            </a:r>
            <a:endParaRPr lang="en-US" sz="1800" b="0" u="none" strike="noStrike">
              <a:solidFill>
                <a:srgbClr val="000000"/>
              </a:solidFill>
              <a:effectLst/>
              <a:uFillTx/>
              <a:latin typeface="Arial"/>
            </a:endParaRPr>
          </a:p>
        </p:txBody>
      </p:sp>
      <p:pic>
        <p:nvPicPr>
          <p:cNvPr id="61" name="Image 2" descr="preencoded.png"/>
          <p:cNvPicPr/>
          <p:nvPr/>
        </p:nvPicPr>
        <p:blipFill>
          <a:blip r:embed="rId3"/>
          <a:stretch/>
        </p:blipFill>
        <p:spPr>
          <a:xfrm>
            <a:off x="9286920" y="5078520"/>
            <a:ext cx="3833280" cy="1142640"/>
          </a:xfrm>
          <a:prstGeom prst="rect">
            <a:avLst/>
          </a:prstGeom>
          <a:noFill/>
          <a:ln w="0">
            <a:noFill/>
          </a:ln>
        </p:spPr>
      </p:pic>
      <p:sp>
        <p:nvSpPr>
          <p:cNvPr id="62" name="Text 16"/>
          <p:cNvSpPr/>
          <p:nvPr/>
        </p:nvSpPr>
        <p:spPr>
          <a:xfrm>
            <a:off x="9286920" y="6411960"/>
            <a:ext cx="3948480" cy="83772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05000"/>
              </a:lnSpc>
              <a:tabLst>
                <a:tab pos="0" algn="l"/>
              </a:tabLst>
            </a:pPr>
            <a:r>
              <a:rPr lang="en-US" sz="3000" b="0" u="none" spc="-31" strike="noStrike">
                <a:solidFill>
                  <a:srgbClr val="1F2A24"/>
                </a:solidFill>
                <a:effectLst/>
                <a:uFillTx/>
                <a:latin typeface="Georgia"/>
                <a:ea typeface="Georgia"/>
              </a:rPr>
              <a:t>The school just sits there.</a:t>
            </a:r>
            <a:endParaRPr lang="en-US" sz="3000" b="0" u="none" strike="noStrike">
              <a:solidFill>
                <a:srgbClr val="000000"/>
              </a:solidFill>
              <a:effectLst/>
              <a:uFillTx/>
              <a:latin typeface="Arial"/>
            </a:endParaRPr>
          </a:p>
        </p:txBody>
      </p:sp>
      <p:sp>
        <p:nvSpPr>
          <p:cNvPr id="63" name="Text 17"/>
          <p:cNvSpPr/>
          <p:nvPr/>
        </p:nvSpPr>
        <p:spPr>
          <a:xfrm>
            <a:off x="9286920" y="7249680"/>
            <a:ext cx="3948480" cy="13636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pPr>
            <a:r>
              <a:rPr lang="en-US" sz="1800" b="0" u="none" strike="noStrike">
                <a:solidFill>
                  <a:srgbClr val="4C554F"/>
                </a:solidFill>
                <a:effectLst/>
                <a:uFillTx/>
                <a:latin typeface="Arial"/>
                <a:ea typeface="Arial"/>
              </a:rPr>
              <a:t>Closed schools cost shrinking municipalities money to maintain. Productive reuse turns them into community anchors.</a:t>
            </a:r>
            <a:endParaRPr lang="en-US" sz="1800" b="0" u="none" strike="noStrike">
              <a:solidFill>
                <a:srgbClr val="000000"/>
              </a:solidFill>
              <a:effectLst/>
              <a:uFillTx/>
              <a:latin typeface="Arial"/>
            </a:endParaRPr>
          </a:p>
        </p:txBody>
      </p:sp>
      <p:sp>
        <p:nvSpPr>
          <p:cNvPr id="64" name="Shape 18"/>
          <p:cNvSpPr/>
          <p:nvPr/>
        </p:nvSpPr>
        <p:spPr>
          <a:xfrm>
            <a:off x="13406400" y="4335480"/>
            <a:ext cx="3833280" cy="18720"/>
          </a:xfrm>
          <a:prstGeom prst="rect">
            <a:avLst/>
          </a:prstGeom>
          <a:solidFill>
            <a:srgbClr val="1F2A24"/>
          </a:solidFill>
          <a:ln w="0">
            <a:noFill/>
          </a:ln>
        </p:spPr>
        <p:style>
          <a:lnRef idx="0"/>
          <a:fillRef idx="0"/>
          <a:effectRef idx="0"/>
          <a:fontRef idx="minor"/>
        </p:style>
        <p:txBody>
          <a:bodyPr lIns="90000" tIns="-25920" rIns="90000" bIns="-25920" anchor="t">
            <a:noAutofit/>
          </a:bodyPr>
          <a:p>
            <a:endParaRPr lang="en-US" sz="1800" b="0" u="none" strike="noStrike">
              <a:solidFill>
                <a:srgbClr val="FFFFFF"/>
              </a:solidFill>
              <a:effectLst/>
              <a:uFillTx/>
              <a:latin typeface="Arial"/>
            </a:endParaRPr>
          </a:p>
        </p:txBody>
      </p:sp>
      <p:sp>
        <p:nvSpPr>
          <p:cNvPr id="65" name="Text 19"/>
          <p:cNvSpPr/>
          <p:nvPr/>
        </p:nvSpPr>
        <p:spPr>
          <a:xfrm>
            <a:off x="13406400" y="4621320"/>
            <a:ext cx="394848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215" strike="noStrike">
                <a:solidFill>
                  <a:srgbClr val="4C554F"/>
                </a:solidFill>
                <a:effectLst/>
                <a:uFillTx/>
                <a:latin typeface="Courier New"/>
                <a:ea typeface="Courier New"/>
              </a:rPr>
              <a:t>04 · DIGITAL</a:t>
            </a:r>
            <a:endParaRPr lang="en-US" sz="1800" b="0" u="none" strike="noStrike">
              <a:solidFill>
                <a:srgbClr val="000000"/>
              </a:solidFill>
              <a:effectLst/>
              <a:uFillTx/>
              <a:latin typeface="Arial"/>
            </a:endParaRPr>
          </a:p>
        </p:txBody>
      </p:sp>
      <p:pic>
        <p:nvPicPr>
          <p:cNvPr id="66" name="Image 3" descr="preencoded.png"/>
          <p:cNvPicPr/>
          <p:nvPr/>
        </p:nvPicPr>
        <p:blipFill>
          <a:blip r:embed="rId4"/>
          <a:stretch/>
        </p:blipFill>
        <p:spPr>
          <a:xfrm>
            <a:off x="13406400" y="5078520"/>
            <a:ext cx="3833280" cy="1142640"/>
          </a:xfrm>
          <a:prstGeom prst="rect">
            <a:avLst/>
          </a:prstGeom>
          <a:noFill/>
          <a:ln w="0">
            <a:noFill/>
          </a:ln>
        </p:spPr>
      </p:pic>
      <p:sp>
        <p:nvSpPr>
          <p:cNvPr id="67" name="Text 20"/>
          <p:cNvSpPr/>
          <p:nvPr/>
        </p:nvSpPr>
        <p:spPr>
          <a:xfrm>
            <a:off x="13406400" y="6411960"/>
            <a:ext cx="3948480" cy="43776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5000"/>
              </a:lnSpc>
              <a:tabLst>
                <a:tab pos="0" algn="l"/>
              </a:tabLst>
            </a:pPr>
            <a:r>
              <a:rPr lang="en-US" sz="3000" b="0" u="none" spc="-31" strike="noStrike">
                <a:solidFill>
                  <a:srgbClr val="1F2A24"/>
                </a:solidFill>
                <a:effectLst/>
                <a:uFillTx/>
                <a:latin typeface="Georgia"/>
                <a:ea typeface="Georgia"/>
              </a:rPr>
              <a:t>Rural compute is thin.</a:t>
            </a:r>
            <a:endParaRPr lang="en-US" sz="3000" b="0" u="none" strike="noStrike">
              <a:solidFill>
                <a:srgbClr val="000000"/>
              </a:solidFill>
              <a:effectLst/>
              <a:uFillTx/>
              <a:latin typeface="Arial"/>
            </a:endParaRPr>
          </a:p>
        </p:txBody>
      </p:sp>
      <p:sp>
        <p:nvSpPr>
          <p:cNvPr id="68" name="Text 21"/>
          <p:cNvSpPr/>
          <p:nvPr/>
        </p:nvSpPr>
        <p:spPr>
          <a:xfrm>
            <a:off x="13425120" y="7251120"/>
            <a:ext cx="3948480" cy="13636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pPr>
            <a:r>
              <a:rPr lang="en-US" sz="1800" b="0" u="none" strike="noStrike">
                <a:solidFill>
                  <a:srgbClr val="4C554F"/>
                </a:solidFill>
                <a:effectLst/>
                <a:uFillTx/>
                <a:latin typeface="Arial"/>
                <a:ea typeface="Arial"/>
              </a:rPr>
              <a:t>Broadband and edge-compute capacity lag urban Japan. A small data center closes both gaps at once, on local power.</a:t>
            </a:r>
            <a:endParaRPr lang="en-US" sz="1800" b="0" u="none" strike="noStrike">
              <a:solidFill>
                <a:srgbClr val="000000"/>
              </a:solidFill>
              <a:effectLst/>
              <a:uFillTx/>
              <a:latin typeface="Arial"/>
            </a:endParaRPr>
          </a:p>
        </p:txBody>
      </p:sp>
      <p:sp>
        <p:nvSpPr>
          <p:cNvPr id="69" name="Text 22"/>
          <p:cNvSpPr/>
          <p:nvPr/>
        </p:nvSpPr>
        <p:spPr>
          <a:xfrm>
            <a:off x="1047600" y="9258480"/>
            <a:ext cx="115452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4C554F"/>
                </a:solidFill>
                <a:effectLst/>
                <a:uFillTx/>
                <a:latin typeface="Courier New"/>
                <a:ea typeface="Courier New"/>
              </a:rPr>
              <a:t>03 / 11</a:t>
            </a:r>
            <a:endParaRPr lang="en-US" sz="1800" b="0" u="none" strike="noStrike">
              <a:solidFill>
                <a:srgbClr val="000000"/>
              </a:solidFill>
              <a:effectLst/>
              <a:uFillTx/>
              <a:latin typeface="Arial"/>
            </a:endParaRPr>
          </a:p>
        </p:txBody>
      </p:sp>
      <p:sp>
        <p:nvSpPr>
          <p:cNvPr id="70" name="Text 23"/>
          <p:cNvSpPr/>
          <p:nvPr/>
        </p:nvSpPr>
        <p:spPr>
          <a:xfrm>
            <a:off x="10411200" y="9258480"/>
            <a:ext cx="703368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4C554F"/>
                </a:solidFill>
                <a:effectLst/>
                <a:uFillTx/>
                <a:latin typeface="Courier New"/>
                <a:ea typeface="Courier New"/>
              </a:rPr>
              <a:t>INDIVIDUALLY EXPENSIVE · JOINTLY ADDRESSABLE</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F4A37"/>
        </a:solidFill>
      </p:bgPr>
    </p:bg>
    <p:spTree>
      <p:nvGrpSpPr>
        <p:cNvPr id="1" name=""/>
        <p:cNvGrpSpPr/>
        <p:nvPr/>
      </p:nvGrpSpPr>
      <p:grpSpPr>
        <a:xfrm>
          <a:off x="0" y="0"/>
          <a:ext cx="0" cy="0"/>
          <a:chOff x="0" y="0"/>
          <a:chExt cx="0" cy="0"/>
        </a:xfrm>
      </p:grpSpPr>
      <p:sp>
        <p:nvSpPr>
          <p:cNvPr id="71" name="Shape 0"/>
          <p:cNvSpPr/>
          <p:nvPr/>
        </p:nvSpPr>
        <p:spPr>
          <a:xfrm>
            <a:off x="1047600" y="762120"/>
            <a:ext cx="456840" cy="456840"/>
          </a:xfrm>
          <a:prstGeom prst="ellipse">
            <a:avLst/>
          </a:prstGeom>
          <a:solidFill>
            <a:srgbClr val="F3ECE0"/>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2" name="Text 1"/>
          <p:cNvSpPr/>
          <p:nvPr/>
        </p:nvSpPr>
        <p:spPr>
          <a:xfrm>
            <a:off x="1047600" y="762120"/>
            <a:ext cx="533160" cy="4950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zh-CN" sz="1950" b="1" u="none" spc="145" strike="noStrike">
                <a:solidFill>
                  <a:srgbClr val="2F4A37"/>
                </a:solidFill>
                <a:effectLst/>
                <a:uFillTx/>
                <a:latin typeface="Noto Serif JP"/>
                <a:ea typeface="Noto Serif JP"/>
              </a:rPr>
              <a:t>御</a:t>
            </a:r>
            <a:endParaRPr lang="en-US" sz="1950" b="0" u="none" strike="noStrike">
              <a:solidFill>
                <a:srgbClr val="FFFFFF"/>
              </a:solidFill>
              <a:effectLst/>
              <a:uFillTx/>
              <a:latin typeface="Arial"/>
            </a:endParaRPr>
          </a:p>
        </p:txBody>
      </p:sp>
      <p:sp>
        <p:nvSpPr>
          <p:cNvPr id="73" name="Text 2"/>
          <p:cNvSpPr/>
          <p:nvPr/>
        </p:nvSpPr>
        <p:spPr>
          <a:xfrm>
            <a:off x="1638360" y="857160"/>
            <a:ext cx="224244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F3ECE0">
                    <a:alpha val="67000"/>
                  </a:srgbClr>
                </a:solidFill>
                <a:effectLst/>
                <a:uFillTx/>
                <a:latin typeface="Courier New"/>
                <a:ea typeface="Courier New"/>
              </a:rPr>
              <a:t>MITSUE PROJECT</a:t>
            </a:r>
            <a:endParaRPr lang="en-US" sz="1800" b="0" u="none" strike="noStrike">
              <a:solidFill>
                <a:srgbClr val="FFFFFF"/>
              </a:solidFill>
              <a:effectLst/>
              <a:uFillTx/>
              <a:latin typeface="Arial"/>
            </a:endParaRPr>
          </a:p>
        </p:txBody>
      </p:sp>
      <p:sp>
        <p:nvSpPr>
          <p:cNvPr id="74" name="Text 3"/>
          <p:cNvSpPr/>
          <p:nvPr/>
        </p:nvSpPr>
        <p:spPr>
          <a:xfrm>
            <a:off x="14918040" y="762120"/>
            <a:ext cx="239796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F3ECE0">
                    <a:alpha val="67000"/>
                  </a:srgbClr>
                </a:solidFill>
                <a:effectLst/>
                <a:uFillTx/>
                <a:latin typeface="Courier New"/>
                <a:ea typeface="Courier New"/>
              </a:rPr>
              <a:t>§ 03 · THE IDEA</a:t>
            </a:r>
            <a:endParaRPr lang="en-US" sz="1800" b="0" u="none" strike="noStrike">
              <a:solidFill>
                <a:srgbClr val="FFFFFF"/>
              </a:solidFill>
              <a:effectLst/>
              <a:uFillTx/>
              <a:latin typeface="Arial"/>
            </a:endParaRPr>
          </a:p>
        </p:txBody>
      </p:sp>
      <p:sp>
        <p:nvSpPr>
          <p:cNvPr id="75" name="Text 4"/>
          <p:cNvSpPr/>
          <p:nvPr/>
        </p:nvSpPr>
        <p:spPr>
          <a:xfrm>
            <a:off x="1047600" y="1219320"/>
            <a:ext cx="1667808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215" strike="noStrike">
                <a:solidFill>
                  <a:srgbClr val="F3ECE0">
                    <a:alpha val="67000"/>
                  </a:srgbClr>
                </a:solidFill>
                <a:effectLst/>
                <a:uFillTx/>
                <a:latin typeface="Courier New"/>
                <a:ea typeface="Courier New"/>
              </a:rPr>
              <a:t>THREE ACTIVITIES · ONE COORDINATING BODY</a:t>
            </a:r>
            <a:endParaRPr lang="en-US" sz="1800" b="0" u="none" strike="noStrike">
              <a:solidFill>
                <a:srgbClr val="FFFFFF"/>
              </a:solidFill>
              <a:effectLst/>
              <a:uFillTx/>
              <a:latin typeface="Arial"/>
            </a:endParaRPr>
          </a:p>
        </p:txBody>
      </p:sp>
      <p:sp>
        <p:nvSpPr>
          <p:cNvPr id="76" name="Text 5"/>
          <p:cNvSpPr/>
          <p:nvPr/>
        </p:nvSpPr>
        <p:spPr>
          <a:xfrm>
            <a:off x="1047600" y="1790640"/>
            <a:ext cx="16678080" cy="367632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95000"/>
              </a:lnSpc>
              <a:tabLst>
                <a:tab pos="0" algn="l"/>
              </a:tabLst>
            </a:pPr>
            <a:r>
              <a:rPr lang="en-US" sz="15000" b="0" u="none" spc="-150" strike="noStrike">
                <a:solidFill>
                  <a:srgbClr val="F3ECE0"/>
                </a:solidFill>
                <a:effectLst/>
                <a:uFillTx/>
                <a:latin typeface="Georgia"/>
                <a:ea typeface="Georgia"/>
              </a:rPr>
              <a:t>Forest. Power. Compute. </a:t>
            </a:r>
            <a:r>
              <a:rPr lang="en-US" sz="15000" b="0" i="1" u="none" spc="-150" strike="noStrike">
                <a:solidFill>
                  <a:srgbClr val="F3B486"/>
                </a:solidFill>
                <a:effectLst/>
                <a:uFillTx/>
                <a:latin typeface="Georgia"/>
                <a:ea typeface="Georgia"/>
              </a:rPr>
              <a:t>One ledger.</a:t>
            </a:r>
            <a:endParaRPr lang="en-US" sz="15000" b="0" u="none" strike="noStrike">
              <a:solidFill>
                <a:srgbClr val="FFFFFF"/>
              </a:solidFill>
              <a:effectLst/>
              <a:uFillTx/>
              <a:latin typeface="Arial"/>
            </a:endParaRPr>
          </a:p>
        </p:txBody>
      </p:sp>
      <p:sp>
        <p:nvSpPr>
          <p:cNvPr id="77" name="Text 6"/>
          <p:cNvSpPr/>
          <p:nvPr/>
        </p:nvSpPr>
        <p:spPr>
          <a:xfrm>
            <a:off x="1047600" y="5829480"/>
            <a:ext cx="16678080" cy="5425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zh-CN" sz="2700" b="0" u="none" strike="noStrike">
                <a:solidFill>
                  <a:srgbClr val="F3ECE0">
                    <a:alpha val="57000"/>
                  </a:srgbClr>
                </a:solidFill>
                <a:effectLst/>
                <a:uFillTx/>
                <a:latin typeface="Noto Serif JP"/>
                <a:ea typeface="Noto Serif JP"/>
              </a:rPr>
              <a:t>森林再生・分散型再生可能エネルギー・地域所有のデータセンター — 一つの台帳で。</a:t>
            </a:r>
            <a:endParaRPr lang="en-US" sz="2700" b="0" u="none" strike="noStrike">
              <a:solidFill>
                <a:srgbClr val="FFFFFF"/>
              </a:solidFill>
              <a:effectLst/>
              <a:uFillTx/>
              <a:latin typeface="Arial"/>
            </a:endParaRPr>
          </a:p>
        </p:txBody>
      </p:sp>
      <p:sp>
        <p:nvSpPr>
          <p:cNvPr id="78" name="Text 7"/>
          <p:cNvSpPr/>
          <p:nvPr/>
        </p:nvSpPr>
        <p:spPr>
          <a:xfrm>
            <a:off x="1047600" y="7095960"/>
            <a:ext cx="516672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215" strike="noStrike">
                <a:solidFill>
                  <a:srgbClr val="F3ECE0">
                    <a:alpha val="67000"/>
                  </a:srgbClr>
                </a:solidFill>
                <a:effectLst/>
                <a:uFillTx/>
                <a:latin typeface="Courier New"/>
                <a:ea typeface="Courier New"/>
              </a:rPr>
              <a:t>I</a:t>
            </a:r>
            <a:endParaRPr lang="en-US" sz="1800" b="0" u="none" strike="noStrike">
              <a:solidFill>
                <a:srgbClr val="FFFFFF"/>
              </a:solidFill>
              <a:effectLst/>
              <a:uFillTx/>
              <a:latin typeface="Arial"/>
            </a:endParaRPr>
          </a:p>
        </p:txBody>
      </p:sp>
      <p:sp>
        <p:nvSpPr>
          <p:cNvPr id="79" name="Text 8"/>
          <p:cNvSpPr/>
          <p:nvPr/>
        </p:nvSpPr>
        <p:spPr>
          <a:xfrm>
            <a:off x="1047600" y="7439040"/>
            <a:ext cx="5166720" cy="6472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0000"/>
              </a:lnSpc>
              <a:tabLst>
                <a:tab pos="0" algn="l"/>
              </a:tabLst>
            </a:pPr>
            <a:r>
              <a:rPr lang="en-US" sz="4800" b="0" u="none" spc="-48" strike="noStrike">
                <a:solidFill>
                  <a:srgbClr val="F3ECE0"/>
                </a:solidFill>
                <a:effectLst/>
                <a:uFillTx/>
                <a:latin typeface="Georgia"/>
                <a:ea typeface="Georgia"/>
              </a:rPr>
              <a:t>Forest restoration</a:t>
            </a:r>
            <a:endParaRPr lang="en-US" sz="4800" b="0" u="none" strike="noStrike">
              <a:solidFill>
                <a:srgbClr val="FFFFFF"/>
              </a:solidFill>
              <a:effectLst/>
              <a:uFillTx/>
              <a:latin typeface="Arial"/>
            </a:endParaRPr>
          </a:p>
        </p:txBody>
      </p:sp>
      <p:sp>
        <p:nvSpPr>
          <p:cNvPr id="80" name="Text 9"/>
          <p:cNvSpPr/>
          <p:nvPr/>
        </p:nvSpPr>
        <p:spPr>
          <a:xfrm>
            <a:off x="1047600" y="8182080"/>
            <a:ext cx="5166720" cy="70056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pPr>
            <a:r>
              <a:rPr lang="en-US" sz="1800" b="0" u="none" strike="noStrike">
                <a:solidFill>
                  <a:srgbClr val="F3ECE0">
                    <a:alpha val="85000"/>
                  </a:srgbClr>
                </a:solidFill>
                <a:effectLst/>
                <a:uFillTx/>
                <a:latin typeface="Arial"/>
                <a:ea typeface="Arial"/>
              </a:rPr>
              <a:t>Aged cedar → native broadleaf, on the ecological clock.</a:t>
            </a:r>
            <a:endParaRPr lang="en-US" sz="1800" b="0" u="none" strike="noStrike">
              <a:solidFill>
                <a:srgbClr val="FFFFFF"/>
              </a:solidFill>
              <a:effectLst/>
              <a:uFillTx/>
              <a:latin typeface="Arial"/>
            </a:endParaRPr>
          </a:p>
        </p:txBody>
      </p:sp>
      <p:sp>
        <p:nvSpPr>
          <p:cNvPr id="81" name="Text 10"/>
          <p:cNvSpPr/>
          <p:nvPr/>
        </p:nvSpPr>
        <p:spPr>
          <a:xfrm>
            <a:off x="6635880" y="7095960"/>
            <a:ext cx="516672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215" strike="noStrike">
                <a:solidFill>
                  <a:srgbClr val="F3ECE0">
                    <a:alpha val="67000"/>
                  </a:srgbClr>
                </a:solidFill>
                <a:effectLst/>
                <a:uFillTx/>
                <a:latin typeface="Courier New"/>
                <a:ea typeface="Courier New"/>
              </a:rPr>
              <a:t>II</a:t>
            </a:r>
            <a:endParaRPr lang="en-US" sz="1800" b="0" u="none" strike="noStrike">
              <a:solidFill>
                <a:srgbClr val="FFFFFF"/>
              </a:solidFill>
              <a:effectLst/>
              <a:uFillTx/>
              <a:latin typeface="Arial"/>
            </a:endParaRPr>
          </a:p>
        </p:txBody>
      </p:sp>
      <p:sp>
        <p:nvSpPr>
          <p:cNvPr id="82" name="Text 11"/>
          <p:cNvSpPr/>
          <p:nvPr/>
        </p:nvSpPr>
        <p:spPr>
          <a:xfrm>
            <a:off x="6635880" y="7439040"/>
            <a:ext cx="5166720" cy="6472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0000"/>
              </a:lnSpc>
              <a:tabLst>
                <a:tab pos="0" algn="l"/>
              </a:tabLst>
            </a:pPr>
            <a:r>
              <a:rPr lang="en-US" sz="4800" b="0" u="none" spc="-48" strike="noStrike">
                <a:solidFill>
                  <a:srgbClr val="F3ECE0"/>
                </a:solidFill>
                <a:effectLst/>
                <a:uFillTx/>
                <a:latin typeface="Georgia"/>
                <a:ea typeface="Georgia"/>
              </a:rPr>
              <a:t>Local energy + EV</a:t>
            </a:r>
            <a:endParaRPr lang="en-US" sz="4800" b="0" u="none" strike="noStrike">
              <a:solidFill>
                <a:srgbClr val="FFFFFF"/>
              </a:solidFill>
              <a:effectLst/>
              <a:uFillTx/>
              <a:latin typeface="Arial"/>
            </a:endParaRPr>
          </a:p>
        </p:txBody>
      </p:sp>
      <p:sp>
        <p:nvSpPr>
          <p:cNvPr id="83" name="Text 12"/>
          <p:cNvSpPr/>
          <p:nvPr/>
        </p:nvSpPr>
        <p:spPr>
          <a:xfrm>
            <a:off x="6635880" y="8182080"/>
            <a:ext cx="5166720" cy="103212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45000"/>
              </a:lnSpc>
              <a:tabLst>
                <a:tab pos="0" algn="l"/>
              </a:tabLst>
            </a:pPr>
            <a:r>
              <a:rPr lang="en-US" sz="1800" b="0" u="none" strike="noStrike">
                <a:solidFill>
                  <a:srgbClr val="F3ECE0">
                    <a:alpha val="85000"/>
                  </a:srgbClr>
                </a:solidFill>
                <a:effectLst/>
                <a:uFillTx/>
                <a:latin typeface="Arial"/>
                <a:ea typeface="Arial"/>
              </a:rPr>
              <a:t>Sugi biomass (the trees we remove) + solar + storage. EV chargers and blackout resilience built in.</a:t>
            </a:r>
            <a:endParaRPr lang="en-US" sz="1800" b="0" u="none" strike="noStrike">
              <a:solidFill>
                <a:srgbClr val="FFFFFF"/>
              </a:solidFill>
              <a:effectLst/>
              <a:uFillTx/>
              <a:latin typeface="Arial"/>
            </a:endParaRPr>
          </a:p>
        </p:txBody>
      </p:sp>
      <p:sp>
        <p:nvSpPr>
          <p:cNvPr id="84" name="Text 13"/>
          <p:cNvSpPr/>
          <p:nvPr/>
        </p:nvSpPr>
        <p:spPr>
          <a:xfrm>
            <a:off x="12223800" y="7095960"/>
            <a:ext cx="516672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215" strike="noStrike">
                <a:solidFill>
                  <a:srgbClr val="F3ECE0">
                    <a:alpha val="67000"/>
                  </a:srgbClr>
                </a:solidFill>
                <a:effectLst/>
                <a:uFillTx/>
                <a:latin typeface="Courier New"/>
                <a:ea typeface="Courier New"/>
              </a:rPr>
              <a:t>III</a:t>
            </a:r>
            <a:endParaRPr lang="en-US" sz="1800" b="0" u="none" strike="noStrike">
              <a:solidFill>
                <a:srgbClr val="FFFFFF"/>
              </a:solidFill>
              <a:effectLst/>
              <a:uFillTx/>
              <a:latin typeface="Arial"/>
            </a:endParaRPr>
          </a:p>
        </p:txBody>
      </p:sp>
      <p:sp>
        <p:nvSpPr>
          <p:cNvPr id="85" name="Text 14"/>
          <p:cNvSpPr/>
          <p:nvPr/>
        </p:nvSpPr>
        <p:spPr>
          <a:xfrm>
            <a:off x="12223800" y="7439040"/>
            <a:ext cx="5166720" cy="6472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0000"/>
              </a:lnSpc>
              <a:tabLst>
                <a:tab pos="0" algn="l"/>
              </a:tabLst>
            </a:pPr>
            <a:r>
              <a:rPr lang="en-US" sz="4800" b="0" u="none" spc="-48" strike="noStrike">
                <a:solidFill>
                  <a:srgbClr val="F3ECE0"/>
                </a:solidFill>
                <a:effectLst/>
                <a:uFillTx/>
                <a:latin typeface="Georgia"/>
                <a:ea typeface="Georgia"/>
              </a:rPr>
              <a:t>Edge data center</a:t>
            </a:r>
            <a:endParaRPr lang="en-US" sz="4800" b="0" u="none" strike="noStrike">
              <a:solidFill>
                <a:srgbClr val="FFFFFF"/>
              </a:solidFill>
              <a:effectLst/>
              <a:uFillTx/>
              <a:latin typeface="Arial"/>
            </a:endParaRPr>
          </a:p>
        </p:txBody>
      </p:sp>
      <p:sp>
        <p:nvSpPr>
          <p:cNvPr id="86" name="Text 15"/>
          <p:cNvSpPr/>
          <p:nvPr/>
        </p:nvSpPr>
        <p:spPr>
          <a:xfrm>
            <a:off x="12223800" y="8182080"/>
            <a:ext cx="5166720" cy="70056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pPr>
            <a:r>
              <a:rPr lang="en-US" sz="1800" b="0" u="none" strike="noStrike">
                <a:solidFill>
                  <a:srgbClr val="F3ECE0">
                    <a:alpha val="85000"/>
                  </a:srgbClr>
                </a:solidFill>
                <a:effectLst/>
                <a:uFillTx/>
                <a:latin typeface="Arial"/>
                <a:ea typeface="Arial"/>
              </a:rPr>
              <a:t>Closed school, repurposed. Small enough that the village owns it.</a:t>
            </a:r>
            <a:endParaRPr lang="en-US" sz="1800" b="0" u="none" strike="noStrike">
              <a:solidFill>
                <a:srgbClr val="FFFFFF"/>
              </a:solidFill>
              <a:effectLst/>
              <a:uFillTx/>
              <a:latin typeface="Arial"/>
            </a:endParaRPr>
          </a:p>
        </p:txBody>
      </p:sp>
      <p:sp>
        <p:nvSpPr>
          <p:cNvPr id="87" name="Text 16"/>
          <p:cNvSpPr/>
          <p:nvPr/>
        </p:nvSpPr>
        <p:spPr>
          <a:xfrm>
            <a:off x="1047600" y="9405000"/>
            <a:ext cx="115452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F3ECE0">
                    <a:alpha val="67000"/>
                  </a:srgbClr>
                </a:solidFill>
                <a:effectLst/>
                <a:uFillTx/>
                <a:latin typeface="Courier New"/>
                <a:ea typeface="Courier New"/>
              </a:rPr>
              <a:t>04 / 11</a:t>
            </a:r>
            <a:endParaRPr lang="en-US" sz="1800" b="0" u="none" strike="noStrike">
              <a:solidFill>
                <a:srgbClr val="FFFFFF"/>
              </a:solidFill>
              <a:effectLst/>
              <a:uFillTx/>
              <a:latin typeface="Arial"/>
            </a:endParaRPr>
          </a:p>
        </p:txBody>
      </p:sp>
      <p:sp>
        <p:nvSpPr>
          <p:cNvPr id="88" name="Text 17"/>
          <p:cNvSpPr/>
          <p:nvPr/>
        </p:nvSpPr>
        <p:spPr>
          <a:xfrm>
            <a:off x="7458120" y="9405000"/>
            <a:ext cx="1007496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F3ECE0">
                    <a:alpha val="67000"/>
                  </a:srgbClr>
                </a:solidFill>
                <a:effectLst/>
                <a:uFillTx/>
                <a:latin typeface="Courier New"/>
                <a:ea typeface="Courier New"/>
              </a:rPr>
              <a:t>EACH REINFORCES THE OTHER. MODEST IN SCALE, PATIENT IN HORIZON.</a:t>
            </a:r>
            <a:endParaRPr lang="en-US"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ECE0"/>
        </a:solidFill>
      </p:bgPr>
    </p:bg>
    <p:spTree>
      <p:nvGrpSpPr>
        <p:cNvPr id="1" name=""/>
        <p:cNvGrpSpPr/>
        <p:nvPr/>
      </p:nvGrpSpPr>
      <p:grpSpPr>
        <a:xfrm>
          <a:off x="0" y="0"/>
          <a:ext cx="0" cy="0"/>
          <a:chOff x="0" y="0"/>
          <a:chExt cx="0" cy="0"/>
        </a:xfrm>
      </p:grpSpPr>
      <p:sp>
        <p:nvSpPr>
          <p:cNvPr id="89" name="Shape 0"/>
          <p:cNvSpPr/>
          <p:nvPr/>
        </p:nvSpPr>
        <p:spPr>
          <a:xfrm>
            <a:off x="1047600" y="762120"/>
            <a:ext cx="456840" cy="456840"/>
          </a:xfrm>
          <a:prstGeom prst="ellipse">
            <a:avLst/>
          </a:prstGeom>
          <a:solidFill>
            <a:srgbClr val="2F4A37"/>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0" name="Text 1"/>
          <p:cNvSpPr/>
          <p:nvPr/>
        </p:nvSpPr>
        <p:spPr>
          <a:xfrm>
            <a:off x="1047600" y="762120"/>
            <a:ext cx="533160" cy="4950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zh-CN" sz="1950" b="1" u="none" spc="145" strike="noStrike">
                <a:solidFill>
                  <a:srgbClr val="F3ECE0"/>
                </a:solidFill>
                <a:effectLst/>
                <a:uFillTx/>
                <a:latin typeface="Noto Serif JP"/>
                <a:ea typeface="Noto Serif JP"/>
              </a:rPr>
              <a:t>御</a:t>
            </a:r>
            <a:endParaRPr lang="en-US" sz="1950" b="0" u="none" strike="noStrike">
              <a:solidFill>
                <a:srgbClr val="000000"/>
              </a:solidFill>
              <a:effectLst/>
              <a:uFillTx/>
              <a:latin typeface="Arial"/>
            </a:endParaRPr>
          </a:p>
        </p:txBody>
      </p:sp>
      <p:sp>
        <p:nvSpPr>
          <p:cNvPr id="91" name="Text 2"/>
          <p:cNvSpPr/>
          <p:nvPr/>
        </p:nvSpPr>
        <p:spPr>
          <a:xfrm>
            <a:off x="1638360" y="857160"/>
            <a:ext cx="224244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4C554F"/>
                </a:solidFill>
                <a:effectLst/>
                <a:uFillTx/>
                <a:latin typeface="Courier New"/>
                <a:ea typeface="Courier New"/>
              </a:rPr>
              <a:t>MITSUE PROJECT</a:t>
            </a:r>
            <a:endParaRPr lang="en-US" sz="1800" b="0" u="none" strike="noStrike">
              <a:solidFill>
                <a:srgbClr val="000000"/>
              </a:solidFill>
              <a:effectLst/>
              <a:uFillTx/>
              <a:latin typeface="Arial"/>
            </a:endParaRPr>
          </a:p>
        </p:txBody>
      </p:sp>
      <p:sp>
        <p:nvSpPr>
          <p:cNvPr id="92" name="Text 3"/>
          <p:cNvSpPr/>
          <p:nvPr/>
        </p:nvSpPr>
        <p:spPr>
          <a:xfrm>
            <a:off x="12376800" y="762120"/>
            <a:ext cx="5009040" cy="3805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800" b="0" u="none" spc="145" strike="noStrike">
                <a:solidFill>
                  <a:srgbClr val="4C554F"/>
                </a:solidFill>
                <a:effectLst/>
                <a:uFillTx/>
                <a:latin typeface="Courier New"/>
                <a:ea typeface="Courier New"/>
              </a:rPr>
              <a:t>I · FOREST RESTORATION · </a:t>
            </a:r>
            <a:r>
              <a:rPr lang="zh-CN" sz="1800" b="0" u="none" spc="145" strike="noStrike">
                <a:solidFill>
                  <a:srgbClr val="4C554F"/>
                </a:solidFill>
                <a:effectLst/>
                <a:uFillTx/>
                <a:latin typeface="Courier New"/>
                <a:ea typeface="Courier New"/>
              </a:rPr>
              <a:t>森林再生</a:t>
            </a:r>
            <a:endParaRPr lang="en-US" sz="1800" b="0" u="none" strike="noStrike">
              <a:solidFill>
                <a:srgbClr val="000000"/>
              </a:solidFill>
              <a:effectLst/>
              <a:uFillTx/>
              <a:latin typeface="Arial"/>
            </a:endParaRPr>
          </a:p>
        </p:txBody>
      </p:sp>
      <p:sp>
        <p:nvSpPr>
          <p:cNvPr id="93" name="Text 4"/>
          <p:cNvSpPr/>
          <p:nvPr/>
        </p:nvSpPr>
        <p:spPr>
          <a:xfrm>
            <a:off x="1047600" y="1695600"/>
            <a:ext cx="8324640" cy="2511360"/>
          </a:xfrm>
          <a:prstGeom prst="rect">
            <a:avLst/>
          </a:prstGeom>
          <a:noFill/>
          <a:ln w="0">
            <a:noFill/>
          </a:ln>
        </p:spPr>
        <p:style>
          <a:lnRef idx="0"/>
          <a:fillRef idx="0"/>
          <a:effectRef idx="0"/>
          <a:fontRef idx="minor"/>
        </p:style>
        <p:txBody>
          <a:bodyPr lIns="25560" tIns="25560" rIns="25560" bIns="25560" anchor="t">
            <a:normAutofit/>
          </a:bodyPr>
          <a:p>
            <a:pPr defTabSz="914400">
              <a:lnSpc>
                <a:spcPct val="97000"/>
              </a:lnSpc>
              <a:tabLst>
                <a:tab pos="0" algn="l"/>
              </a:tabLst>
            </a:pPr>
            <a:r>
              <a:rPr lang="en-US" sz="6600" b="0" u="none" spc="-65" strike="noStrike">
                <a:solidFill>
                  <a:srgbClr val="1F2A24"/>
                </a:solidFill>
                <a:effectLst/>
                <a:uFillTx/>
                <a:latin typeface="Georgia"/>
                <a:ea typeface="Georgia"/>
              </a:rPr>
              <a:t>We feed the bears, so the bears </a:t>
            </a:r>
            <a:r>
              <a:rPr lang="en-US" sz="6600" b="0" i="1" u="none" spc="-65" strike="noStrike">
                <a:solidFill>
                  <a:srgbClr val="C4663A"/>
                </a:solidFill>
                <a:effectLst/>
                <a:uFillTx/>
                <a:latin typeface="Georgia"/>
                <a:ea typeface="Georgia"/>
              </a:rPr>
              <a:t>stop visiting.</a:t>
            </a:r>
            <a:endParaRPr lang="en-US" sz="6600" b="0" u="none" strike="noStrike">
              <a:solidFill>
                <a:srgbClr val="000000"/>
              </a:solidFill>
              <a:effectLst/>
              <a:uFillTx/>
              <a:latin typeface="Arial"/>
            </a:endParaRPr>
          </a:p>
        </p:txBody>
      </p:sp>
      <p:sp>
        <p:nvSpPr>
          <p:cNvPr id="94" name="Text 5"/>
          <p:cNvSpPr/>
          <p:nvPr/>
        </p:nvSpPr>
        <p:spPr>
          <a:xfrm>
            <a:off x="1047600" y="4340520"/>
            <a:ext cx="8324640" cy="158472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45000"/>
              </a:lnSpc>
              <a:tabLst>
                <a:tab pos="0" algn="l"/>
              </a:tabLst>
            </a:pPr>
            <a:r>
              <a:rPr lang="en-US" sz="2100" b="0" u="none" strike="noStrike">
                <a:solidFill>
                  <a:srgbClr val="1F2A24"/>
                </a:solidFill>
                <a:effectLst/>
                <a:uFillTx/>
                <a:latin typeface="Arial"/>
                <a:ea typeface="Arial"/>
              </a:rPr>
              <a:t>Phased replacement of aged sugi (cedar) plantations with native broadleaf — oak, chestnut, konara. Done with local landowners and the Forestry Agency. The 25-year arc is the ecological clock, not the funding cycle.</a:t>
            </a:r>
            <a:endParaRPr lang="en-US" sz="2100" b="0" u="none" strike="noStrike">
              <a:solidFill>
                <a:srgbClr val="000000"/>
              </a:solidFill>
              <a:effectLst/>
              <a:uFillTx/>
              <a:latin typeface="Arial"/>
            </a:endParaRPr>
          </a:p>
        </p:txBody>
      </p:sp>
      <p:sp>
        <p:nvSpPr>
          <p:cNvPr id="95" name="Text 6"/>
          <p:cNvSpPr/>
          <p:nvPr/>
        </p:nvSpPr>
        <p:spPr>
          <a:xfrm>
            <a:off x="1047600" y="6154200"/>
            <a:ext cx="8324640" cy="81108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45000"/>
              </a:lnSpc>
              <a:tabLst>
                <a:tab pos="0" algn="l"/>
              </a:tabLst>
            </a:pPr>
            <a:r>
              <a:rPr lang="en-US" sz="2100" b="0" u="none" strike="noStrike">
                <a:solidFill>
                  <a:srgbClr val="1F2A24"/>
                </a:solidFill>
                <a:effectLst/>
                <a:uFillTx/>
                <a:latin typeface="Arial"/>
                <a:ea typeface="Arial"/>
              </a:rPr>
              <a:t>The sugi we remove doesn't go to waste — it becomes the village's primary biomass fuel. The forest pays for its own restoration.</a:t>
            </a:r>
            <a:endParaRPr lang="en-US" sz="2100" b="0" u="none" strike="noStrike">
              <a:solidFill>
                <a:srgbClr val="000000"/>
              </a:solidFill>
              <a:effectLst/>
              <a:uFillTx/>
              <a:latin typeface="Arial"/>
            </a:endParaRPr>
          </a:p>
        </p:txBody>
      </p:sp>
      <p:sp>
        <p:nvSpPr>
          <p:cNvPr id="96" name="Text 7"/>
          <p:cNvSpPr/>
          <p:nvPr/>
        </p:nvSpPr>
        <p:spPr>
          <a:xfrm>
            <a:off x="1047600" y="7194240"/>
            <a:ext cx="8324640" cy="119772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45000"/>
              </a:lnSpc>
              <a:tabLst>
                <a:tab pos="0" algn="l"/>
              </a:tabLst>
            </a:pPr>
            <a:r>
              <a:rPr lang="en-US" sz="2100" b="0" u="none" strike="noStrike">
                <a:solidFill>
                  <a:srgbClr val="1F2A24"/>
                </a:solidFill>
                <a:effectLst/>
                <a:uFillTx/>
                <a:latin typeface="Arial"/>
                <a:ea typeface="Arial"/>
              </a:rPr>
              <a:t>Broadleaf trees produce acorns and nuts that sustain deer, wild boar, and bear through winter. When the forest feeds them, they stay there — and out of the village vegetable patch.</a:t>
            </a:r>
            <a:endParaRPr lang="en-US" sz="2100" b="0" u="none" strike="noStrike">
              <a:solidFill>
                <a:srgbClr val="000000"/>
              </a:solidFill>
              <a:effectLst/>
              <a:uFillTx/>
              <a:latin typeface="Arial"/>
            </a:endParaRPr>
          </a:p>
        </p:txBody>
      </p:sp>
      <p:sp>
        <p:nvSpPr>
          <p:cNvPr id="97" name="Text 9"/>
          <p:cNvSpPr/>
          <p:nvPr/>
        </p:nvSpPr>
        <p:spPr>
          <a:xfrm>
            <a:off x="1047600" y="8458200"/>
            <a:ext cx="257940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215" strike="noStrike">
                <a:solidFill>
                  <a:srgbClr val="4C554F"/>
                </a:solidFill>
                <a:effectLst/>
                <a:uFillTx/>
                <a:latin typeface="Courier New"/>
                <a:ea typeface="Courier New"/>
              </a:rPr>
              <a:t>POLLEN</a:t>
            </a:r>
            <a:endParaRPr lang="en-US" sz="1800" b="0" u="none" strike="noStrike">
              <a:solidFill>
                <a:srgbClr val="000000"/>
              </a:solidFill>
              <a:effectLst/>
              <a:uFillTx/>
              <a:latin typeface="Arial"/>
            </a:endParaRPr>
          </a:p>
        </p:txBody>
      </p:sp>
      <p:sp>
        <p:nvSpPr>
          <p:cNvPr id="98" name="Text 10"/>
          <p:cNvSpPr/>
          <p:nvPr/>
        </p:nvSpPr>
        <p:spPr>
          <a:xfrm>
            <a:off x="1047600" y="8724960"/>
            <a:ext cx="2579400" cy="50436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98000"/>
              </a:lnSpc>
              <a:tabLst>
                <a:tab pos="0" algn="l"/>
              </a:tabLst>
            </a:pPr>
            <a:r>
              <a:rPr lang="en-US" sz="3750" b="0" u="none" spc="-37" strike="noStrike">
                <a:solidFill>
                  <a:srgbClr val="1F2A24"/>
                </a:solidFill>
                <a:effectLst/>
                <a:uFillTx/>
                <a:latin typeface="Georgia"/>
                <a:ea typeface="Georgia"/>
              </a:rPr>
              <a:t>↓ down</a:t>
            </a:r>
            <a:endParaRPr lang="en-US" sz="3750" b="0" u="none" strike="noStrike">
              <a:solidFill>
                <a:srgbClr val="000000"/>
              </a:solidFill>
              <a:effectLst/>
              <a:uFillTx/>
              <a:latin typeface="Arial"/>
            </a:endParaRPr>
          </a:p>
        </p:txBody>
      </p:sp>
      <p:sp>
        <p:nvSpPr>
          <p:cNvPr id="99" name="Text 11"/>
          <p:cNvSpPr/>
          <p:nvPr/>
        </p:nvSpPr>
        <p:spPr>
          <a:xfrm>
            <a:off x="3837240" y="8458200"/>
            <a:ext cx="257940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215" strike="noStrike">
                <a:solidFill>
                  <a:srgbClr val="4C554F"/>
                </a:solidFill>
                <a:effectLst/>
                <a:uFillTx/>
                <a:latin typeface="Courier New"/>
                <a:ea typeface="Courier New"/>
              </a:rPr>
              <a:t>LANDSLIDE RISK</a:t>
            </a:r>
            <a:endParaRPr lang="en-US" sz="1800" b="0" u="none" strike="noStrike">
              <a:solidFill>
                <a:srgbClr val="000000"/>
              </a:solidFill>
              <a:effectLst/>
              <a:uFillTx/>
              <a:latin typeface="Arial"/>
            </a:endParaRPr>
          </a:p>
        </p:txBody>
      </p:sp>
      <p:sp>
        <p:nvSpPr>
          <p:cNvPr id="100" name="Text 12"/>
          <p:cNvSpPr/>
          <p:nvPr/>
        </p:nvSpPr>
        <p:spPr>
          <a:xfrm>
            <a:off x="3837240" y="8724960"/>
            <a:ext cx="2579400" cy="50436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98000"/>
              </a:lnSpc>
              <a:tabLst>
                <a:tab pos="0" algn="l"/>
              </a:tabLst>
            </a:pPr>
            <a:r>
              <a:rPr lang="en-US" sz="3750" b="0" u="none" spc="-37" strike="noStrike">
                <a:solidFill>
                  <a:srgbClr val="1F2A24"/>
                </a:solidFill>
                <a:effectLst/>
                <a:uFillTx/>
                <a:latin typeface="Georgia"/>
                <a:ea typeface="Georgia"/>
              </a:rPr>
              <a:t>↓ down</a:t>
            </a:r>
            <a:endParaRPr lang="en-US" sz="3750" b="0" u="none" strike="noStrike">
              <a:solidFill>
                <a:srgbClr val="000000"/>
              </a:solidFill>
              <a:effectLst/>
              <a:uFillTx/>
              <a:latin typeface="Arial"/>
            </a:endParaRPr>
          </a:p>
        </p:txBody>
      </p:sp>
      <p:sp>
        <p:nvSpPr>
          <p:cNvPr id="101" name="Text 13"/>
          <p:cNvSpPr/>
          <p:nvPr/>
        </p:nvSpPr>
        <p:spPr>
          <a:xfrm>
            <a:off x="6626520" y="8458200"/>
            <a:ext cx="257940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215" strike="noStrike">
                <a:solidFill>
                  <a:srgbClr val="4C554F"/>
                </a:solidFill>
                <a:effectLst/>
                <a:uFillTx/>
                <a:latin typeface="Courier New"/>
                <a:ea typeface="Courier New"/>
              </a:rPr>
              <a:t>NATIVE CANOPY</a:t>
            </a:r>
            <a:endParaRPr lang="en-US" sz="1800" b="0" u="none" strike="noStrike">
              <a:solidFill>
                <a:srgbClr val="000000"/>
              </a:solidFill>
              <a:effectLst/>
              <a:uFillTx/>
              <a:latin typeface="Arial"/>
            </a:endParaRPr>
          </a:p>
        </p:txBody>
      </p:sp>
      <p:sp>
        <p:nvSpPr>
          <p:cNvPr id="102" name="Text 14"/>
          <p:cNvSpPr/>
          <p:nvPr/>
        </p:nvSpPr>
        <p:spPr>
          <a:xfrm>
            <a:off x="6626520" y="8724960"/>
            <a:ext cx="2579400" cy="50436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98000"/>
              </a:lnSpc>
              <a:tabLst>
                <a:tab pos="0" algn="l"/>
              </a:tabLst>
            </a:pPr>
            <a:r>
              <a:rPr lang="en-US" sz="3750" b="0" u="none" spc="-37" strike="noStrike">
                <a:solidFill>
                  <a:srgbClr val="1F2A24"/>
                </a:solidFill>
                <a:effectLst/>
                <a:uFillTx/>
                <a:latin typeface="Georgia"/>
                <a:ea typeface="Georgia"/>
              </a:rPr>
              <a:t>↑ up</a:t>
            </a:r>
            <a:endParaRPr lang="en-US" sz="3750" b="0" u="none" strike="noStrike">
              <a:solidFill>
                <a:srgbClr val="000000"/>
              </a:solidFill>
              <a:effectLst/>
              <a:uFillTx/>
              <a:latin typeface="Arial"/>
            </a:endParaRPr>
          </a:p>
        </p:txBody>
      </p:sp>
      <p:sp>
        <p:nvSpPr>
          <p:cNvPr id="103" name="Shape 15"/>
          <p:cNvSpPr/>
          <p:nvPr/>
        </p:nvSpPr>
        <p:spPr>
          <a:xfrm>
            <a:off x="9892440" y="1695600"/>
            <a:ext cx="7347600" cy="3333600"/>
          </a:xfrm>
          <a:prstGeom prst="rect">
            <a:avLst/>
          </a:prstGeom>
          <a:solidFill>
            <a:srgbClr val="ECE3D3"/>
          </a:solidFill>
          <a:ln w="9525">
            <a:solidFill>
              <a:srgbClr val="1F2A24"/>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4" name="Text 16"/>
          <p:cNvSpPr/>
          <p:nvPr/>
        </p:nvSpPr>
        <p:spPr>
          <a:xfrm>
            <a:off x="10168560" y="1971720"/>
            <a:ext cx="6999120" cy="3805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800" b="0" u="none" spc="215" strike="noStrike">
                <a:solidFill>
                  <a:srgbClr val="4C554F"/>
                </a:solidFill>
                <a:effectLst/>
                <a:uFillTx/>
                <a:latin typeface="Courier New"/>
                <a:ea typeface="Courier New"/>
              </a:rPr>
              <a:t>BEFORE · </a:t>
            </a:r>
            <a:r>
              <a:rPr lang="zh-CN" sz="1800" b="0" u="none" spc="215" strike="noStrike">
                <a:solidFill>
                  <a:srgbClr val="4C554F"/>
                </a:solidFill>
                <a:effectLst/>
                <a:uFillTx/>
                <a:latin typeface="Courier New"/>
                <a:ea typeface="Courier New"/>
              </a:rPr>
              <a:t>杉人工林</a:t>
            </a:r>
            <a:endParaRPr lang="en-US" sz="1800" b="0" u="none" strike="noStrike">
              <a:solidFill>
                <a:srgbClr val="000000"/>
              </a:solidFill>
              <a:effectLst/>
              <a:uFillTx/>
              <a:latin typeface="Arial"/>
            </a:endParaRPr>
          </a:p>
        </p:txBody>
      </p:sp>
      <p:pic>
        <p:nvPicPr>
          <p:cNvPr id="105" name="Image 0" descr="preencoded.png"/>
          <p:cNvPicPr/>
          <p:nvPr/>
        </p:nvPicPr>
        <p:blipFill>
          <a:blip r:embed="rId1"/>
          <a:stretch/>
        </p:blipFill>
        <p:spPr>
          <a:xfrm>
            <a:off x="10168560" y="2486160"/>
            <a:ext cx="6795000" cy="1523520"/>
          </a:xfrm>
          <a:prstGeom prst="rect">
            <a:avLst/>
          </a:prstGeom>
          <a:noFill/>
          <a:ln w="0">
            <a:noFill/>
          </a:ln>
        </p:spPr>
      </p:pic>
      <p:sp>
        <p:nvSpPr>
          <p:cNvPr id="106" name="Text 17"/>
          <p:cNvSpPr/>
          <p:nvPr/>
        </p:nvSpPr>
        <p:spPr>
          <a:xfrm>
            <a:off x="10168560" y="4048200"/>
            <a:ext cx="6999120" cy="36936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pPr>
            <a:r>
              <a:rPr lang="en-US" sz="1800" b="0" u="none" strike="noStrike">
                <a:solidFill>
                  <a:srgbClr val="4C554F"/>
                </a:solidFill>
                <a:effectLst/>
                <a:uFillTx/>
                <a:latin typeface="Arial"/>
                <a:ea typeface="Arial"/>
              </a:rPr>
              <a:t>Monoculture. Pollen. Quiet ground.</a:t>
            </a:r>
            <a:endParaRPr lang="en-US" sz="1800" b="0" u="none" strike="noStrike">
              <a:solidFill>
                <a:srgbClr val="000000"/>
              </a:solidFill>
              <a:effectLst/>
              <a:uFillTx/>
              <a:latin typeface="Arial"/>
            </a:endParaRPr>
          </a:p>
        </p:txBody>
      </p:sp>
      <p:sp>
        <p:nvSpPr>
          <p:cNvPr id="107" name="Shape 18"/>
          <p:cNvSpPr/>
          <p:nvPr/>
        </p:nvSpPr>
        <p:spPr>
          <a:xfrm>
            <a:off x="9892440" y="5729760"/>
            <a:ext cx="7347600" cy="3185640"/>
          </a:xfrm>
          <a:prstGeom prst="rect">
            <a:avLst/>
          </a:prstGeom>
          <a:solidFill>
            <a:srgbClr val="ECE3D3"/>
          </a:solidFill>
          <a:ln w="9525">
            <a:solidFill>
              <a:srgbClr val="1F2A24"/>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8" name="Text 19"/>
          <p:cNvSpPr/>
          <p:nvPr/>
        </p:nvSpPr>
        <p:spPr>
          <a:xfrm>
            <a:off x="10168560" y="6005880"/>
            <a:ext cx="6999120" cy="3805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800" b="0" u="none" spc="215" strike="noStrike">
                <a:solidFill>
                  <a:srgbClr val="4C554F"/>
                </a:solidFill>
                <a:effectLst/>
                <a:uFillTx/>
                <a:latin typeface="Courier New"/>
                <a:ea typeface="Courier New"/>
              </a:rPr>
              <a:t>AFTER · </a:t>
            </a:r>
            <a:r>
              <a:rPr lang="zh-CN" sz="1800" b="0" u="none" spc="215" strike="noStrike">
                <a:solidFill>
                  <a:srgbClr val="4C554F"/>
                </a:solidFill>
                <a:effectLst/>
                <a:uFillTx/>
                <a:latin typeface="Courier New"/>
                <a:ea typeface="Courier New"/>
              </a:rPr>
              <a:t>在来広葉樹</a:t>
            </a:r>
            <a:endParaRPr lang="en-US" sz="1800" b="0" u="none" strike="noStrike">
              <a:solidFill>
                <a:srgbClr val="000000"/>
              </a:solidFill>
              <a:effectLst/>
              <a:uFillTx/>
              <a:latin typeface="Arial"/>
            </a:endParaRPr>
          </a:p>
        </p:txBody>
      </p:sp>
      <p:pic>
        <p:nvPicPr>
          <p:cNvPr id="109" name="Image 1" descr="preencoded.png"/>
          <p:cNvPicPr/>
          <p:nvPr/>
        </p:nvPicPr>
        <p:blipFill>
          <a:blip r:embed="rId2"/>
          <a:stretch/>
        </p:blipFill>
        <p:spPr>
          <a:xfrm>
            <a:off x="10168560" y="6520320"/>
            <a:ext cx="6795000" cy="1523520"/>
          </a:xfrm>
          <a:prstGeom prst="rect">
            <a:avLst/>
          </a:prstGeom>
          <a:noFill/>
          <a:ln w="0">
            <a:noFill/>
          </a:ln>
        </p:spPr>
      </p:pic>
      <p:sp>
        <p:nvSpPr>
          <p:cNvPr id="110" name="Text 20"/>
          <p:cNvSpPr/>
          <p:nvPr/>
        </p:nvSpPr>
        <p:spPr>
          <a:xfrm>
            <a:off x="10168560" y="8082360"/>
            <a:ext cx="6999120" cy="36936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pPr>
            <a:r>
              <a:rPr lang="en-US" sz="1800" b="0" u="none" strike="noStrike">
                <a:solidFill>
                  <a:srgbClr val="4C554F"/>
                </a:solidFill>
                <a:effectLst/>
                <a:uFillTx/>
                <a:latin typeface="Arial"/>
                <a:ea typeface="Arial"/>
              </a:rPr>
              <a:t>Mixed canopy. Acorns. Deer eats here, not your daikon.</a:t>
            </a:r>
            <a:endParaRPr lang="en-US" sz="1800" b="0" u="none" strike="noStrike">
              <a:solidFill>
                <a:srgbClr val="000000"/>
              </a:solidFill>
              <a:effectLst/>
              <a:uFillTx/>
              <a:latin typeface="Arial"/>
            </a:endParaRPr>
          </a:p>
        </p:txBody>
      </p:sp>
      <p:sp>
        <p:nvSpPr>
          <p:cNvPr id="111" name="Text 21"/>
          <p:cNvSpPr/>
          <p:nvPr/>
        </p:nvSpPr>
        <p:spPr>
          <a:xfrm>
            <a:off x="1047600" y="9535320"/>
            <a:ext cx="115452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4C554F"/>
                </a:solidFill>
                <a:effectLst/>
                <a:uFillTx/>
                <a:latin typeface="Courier New"/>
                <a:ea typeface="Courier New"/>
              </a:rPr>
              <a:t>05 / 11</a:t>
            </a:r>
            <a:endParaRPr lang="en-US" sz="1800" b="0" u="none" strike="noStrike">
              <a:solidFill>
                <a:srgbClr val="000000"/>
              </a:solidFill>
              <a:effectLst/>
              <a:uFillTx/>
              <a:latin typeface="Arial"/>
            </a:endParaRPr>
          </a:p>
        </p:txBody>
      </p:sp>
      <p:sp>
        <p:nvSpPr>
          <p:cNvPr id="112" name="Text 22"/>
          <p:cNvSpPr/>
          <p:nvPr/>
        </p:nvSpPr>
        <p:spPr>
          <a:xfrm>
            <a:off x="9323280" y="9535320"/>
            <a:ext cx="815400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4C554F"/>
                </a:solidFill>
                <a:effectLst/>
                <a:uFillTx/>
                <a:latin typeface="Courier New"/>
                <a:ea typeface="Courier New"/>
              </a:rPr>
              <a:t>SUGI → BROADLEAF · 25-YEAR CYCLE · WILDLIFE BALANCE</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ECE0"/>
        </a:solidFill>
      </p:bgPr>
    </p:bg>
    <p:spTree>
      <p:nvGrpSpPr>
        <p:cNvPr id="1" name=""/>
        <p:cNvGrpSpPr/>
        <p:nvPr/>
      </p:nvGrpSpPr>
      <p:grpSpPr>
        <a:xfrm>
          <a:off x="0" y="0"/>
          <a:ext cx="0" cy="0"/>
          <a:chOff x="0" y="0"/>
          <a:chExt cx="0" cy="0"/>
        </a:xfrm>
      </p:grpSpPr>
      <p:sp>
        <p:nvSpPr>
          <p:cNvPr id="113" name="Shape 0"/>
          <p:cNvSpPr/>
          <p:nvPr/>
        </p:nvSpPr>
        <p:spPr>
          <a:xfrm>
            <a:off x="1047600" y="762120"/>
            <a:ext cx="456840" cy="456840"/>
          </a:xfrm>
          <a:prstGeom prst="ellipse">
            <a:avLst/>
          </a:prstGeom>
          <a:solidFill>
            <a:srgbClr val="2F4A37"/>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14" name="Text 1"/>
          <p:cNvSpPr/>
          <p:nvPr/>
        </p:nvSpPr>
        <p:spPr>
          <a:xfrm>
            <a:off x="1047600" y="762120"/>
            <a:ext cx="533160" cy="4950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zh-CN" sz="1950" b="1" u="none" spc="145" strike="noStrike">
                <a:solidFill>
                  <a:srgbClr val="F3ECE0"/>
                </a:solidFill>
                <a:effectLst/>
                <a:uFillTx/>
                <a:latin typeface="Noto Serif JP"/>
                <a:ea typeface="Noto Serif JP"/>
              </a:rPr>
              <a:t>御</a:t>
            </a:r>
            <a:endParaRPr lang="en-US" sz="1950" b="0" u="none" strike="noStrike">
              <a:solidFill>
                <a:srgbClr val="000000"/>
              </a:solidFill>
              <a:effectLst/>
              <a:uFillTx/>
              <a:latin typeface="Arial"/>
            </a:endParaRPr>
          </a:p>
        </p:txBody>
      </p:sp>
      <p:sp>
        <p:nvSpPr>
          <p:cNvPr id="115" name="Text 2"/>
          <p:cNvSpPr/>
          <p:nvPr/>
        </p:nvSpPr>
        <p:spPr>
          <a:xfrm>
            <a:off x="1638360" y="857160"/>
            <a:ext cx="224244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4C554F"/>
                </a:solidFill>
                <a:effectLst/>
                <a:uFillTx/>
                <a:latin typeface="Courier New"/>
                <a:ea typeface="Courier New"/>
              </a:rPr>
              <a:t>MITSUE PROJECT</a:t>
            </a:r>
            <a:endParaRPr lang="en-US" sz="1800" b="0" u="none" strike="noStrike">
              <a:solidFill>
                <a:srgbClr val="000000"/>
              </a:solidFill>
              <a:effectLst/>
              <a:uFillTx/>
              <a:latin typeface="Arial"/>
            </a:endParaRPr>
          </a:p>
        </p:txBody>
      </p:sp>
      <p:sp>
        <p:nvSpPr>
          <p:cNvPr id="116" name="Text 3"/>
          <p:cNvSpPr/>
          <p:nvPr/>
        </p:nvSpPr>
        <p:spPr>
          <a:xfrm>
            <a:off x="12129840" y="762120"/>
            <a:ext cx="5263560" cy="3805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800" b="0" u="none" spc="145" strike="noStrike">
                <a:solidFill>
                  <a:srgbClr val="4C554F"/>
                </a:solidFill>
                <a:effectLst/>
                <a:uFillTx/>
                <a:latin typeface="Courier New"/>
                <a:ea typeface="Courier New"/>
              </a:rPr>
              <a:t>II · LOCAL ENERGY &amp; EV · </a:t>
            </a:r>
            <a:r>
              <a:rPr lang="zh-CN" sz="1800" b="0" u="none" spc="145" strike="noStrike">
                <a:solidFill>
                  <a:srgbClr val="4C554F"/>
                </a:solidFill>
                <a:effectLst/>
                <a:uFillTx/>
                <a:latin typeface="Courier New"/>
                <a:ea typeface="Courier New"/>
              </a:rPr>
              <a:t>エネルギー</a:t>
            </a:r>
            <a:endParaRPr lang="en-US" sz="1800" b="0" u="none" strike="noStrike">
              <a:solidFill>
                <a:srgbClr val="000000"/>
              </a:solidFill>
              <a:effectLst/>
              <a:uFillTx/>
              <a:latin typeface="Arial"/>
            </a:endParaRPr>
          </a:p>
        </p:txBody>
      </p:sp>
      <p:sp>
        <p:nvSpPr>
          <p:cNvPr id="117" name="Text 4"/>
          <p:cNvSpPr/>
          <p:nvPr/>
        </p:nvSpPr>
        <p:spPr>
          <a:xfrm>
            <a:off x="1047600" y="1695600"/>
            <a:ext cx="15028200" cy="183960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98000"/>
              </a:lnSpc>
              <a:tabLst>
                <a:tab pos="0" algn="l"/>
              </a:tabLst>
            </a:pPr>
            <a:r>
              <a:rPr lang="en-US" sz="7200" b="0" u="none" spc="-71" strike="noStrike">
                <a:solidFill>
                  <a:srgbClr val="1F2A24"/>
                </a:solidFill>
                <a:effectLst/>
                <a:uFillTx/>
                <a:latin typeface="Georgia"/>
                <a:ea typeface="Georgia"/>
              </a:rPr>
              <a:t>The forest powers the village. </a:t>
            </a:r>
            <a:r>
              <a:rPr lang="en-US" sz="7200" b="0" i="1" u="none" spc="-71" strike="noStrike">
                <a:solidFill>
                  <a:srgbClr val="C4663A"/>
                </a:solidFill>
                <a:effectLst/>
                <a:uFillTx/>
                <a:latin typeface="Georgia"/>
                <a:ea typeface="Georgia"/>
              </a:rPr>
              <a:t>Lights stay on </a:t>
            </a:r>
            <a:r>
              <a:rPr lang="en-US" sz="7200" b="0" u="none" spc="-71" strike="noStrike">
                <a:solidFill>
                  <a:srgbClr val="1F2A24"/>
                </a:solidFill>
                <a:effectLst/>
                <a:uFillTx/>
                <a:latin typeface="Georgia"/>
                <a:ea typeface="Georgia"/>
              </a:rPr>
              <a:t>when the grid blinks.</a:t>
            </a:r>
            <a:endParaRPr lang="en-US" sz="7200" b="0" u="none" strike="noStrike">
              <a:solidFill>
                <a:srgbClr val="000000"/>
              </a:solidFill>
              <a:effectLst/>
              <a:uFillTx/>
              <a:latin typeface="Arial"/>
            </a:endParaRPr>
          </a:p>
        </p:txBody>
      </p:sp>
      <p:sp>
        <p:nvSpPr>
          <p:cNvPr id="118" name="Text 5"/>
          <p:cNvSpPr/>
          <p:nvPr/>
        </p:nvSpPr>
        <p:spPr>
          <a:xfrm>
            <a:off x="1047600" y="3935520"/>
            <a:ext cx="12217320" cy="197136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45000"/>
              </a:lnSpc>
              <a:tabLst>
                <a:tab pos="0" algn="l"/>
              </a:tabLst>
            </a:pPr>
            <a:r>
              <a:rPr lang="en-US" sz="2100" b="0" u="none" strike="noStrike">
                <a:solidFill>
                  <a:srgbClr val="1F2A24"/>
                </a:solidFill>
                <a:effectLst/>
                <a:uFillTx/>
                <a:latin typeface="Arial"/>
                <a:ea typeface="Arial"/>
              </a:rPr>
              <a:t>The sugi we remove during forest restoration is the primary fuel for a small village biomass plant — enough to run the data center and the EV chargers. Local solar tops it up, a community battery rides through the dark hours, and the grid is backup only. On-site generation keeps the school, the clinic, and emergency facilities running through blackouts — aging rural distribution lines make those a growing risk.</a:t>
            </a:r>
            <a:endParaRPr lang="en-US" sz="2100" b="0" u="none" strike="noStrike">
              <a:solidFill>
                <a:srgbClr val="000000"/>
              </a:solidFill>
              <a:effectLst/>
              <a:uFillTx/>
              <a:latin typeface="Arial"/>
            </a:endParaRPr>
          </a:p>
        </p:txBody>
      </p:sp>
      <p:sp>
        <p:nvSpPr>
          <p:cNvPr id="119" name="Shape 6"/>
          <p:cNvSpPr/>
          <p:nvPr/>
        </p:nvSpPr>
        <p:spPr>
          <a:xfrm>
            <a:off x="952920" y="5640840"/>
            <a:ext cx="16192080" cy="2817360"/>
          </a:xfrm>
          <a:prstGeom prst="rect">
            <a:avLst/>
          </a:prstGeom>
          <a:solidFill>
            <a:srgbClr val="ECE3D3"/>
          </a:solidFill>
          <a:ln w="9525">
            <a:solidFill>
              <a:srgbClr val="1F2A24"/>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120" name="Image 0" descr="preencoded.png"/>
          <p:cNvPicPr/>
          <p:nvPr/>
        </p:nvPicPr>
        <p:blipFill>
          <a:blip r:embed="rId1"/>
          <a:stretch/>
        </p:blipFill>
        <p:spPr>
          <a:xfrm>
            <a:off x="1305360" y="5993280"/>
            <a:ext cx="15487200" cy="2112480"/>
          </a:xfrm>
          <a:prstGeom prst="rect">
            <a:avLst/>
          </a:prstGeom>
          <a:noFill/>
          <a:ln w="0">
            <a:noFill/>
          </a:ln>
        </p:spPr>
      </p:pic>
      <p:sp>
        <p:nvSpPr>
          <p:cNvPr id="121" name="Text 7"/>
          <p:cNvSpPr/>
          <p:nvPr/>
        </p:nvSpPr>
        <p:spPr>
          <a:xfrm>
            <a:off x="1047600" y="9258480"/>
            <a:ext cx="115452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4C554F"/>
                </a:solidFill>
                <a:effectLst/>
                <a:uFillTx/>
                <a:latin typeface="Courier New"/>
                <a:ea typeface="Courier New"/>
              </a:rPr>
              <a:t>06 / 11</a:t>
            </a:r>
            <a:endParaRPr lang="en-US" sz="1800" b="0" u="none" strike="noStrike">
              <a:solidFill>
                <a:srgbClr val="000000"/>
              </a:solidFill>
              <a:effectLst/>
              <a:uFillTx/>
              <a:latin typeface="Arial"/>
            </a:endParaRPr>
          </a:p>
        </p:txBody>
      </p:sp>
      <p:sp>
        <p:nvSpPr>
          <p:cNvPr id="122" name="Text 8"/>
          <p:cNvSpPr/>
          <p:nvPr/>
        </p:nvSpPr>
        <p:spPr>
          <a:xfrm>
            <a:off x="8546040" y="9258480"/>
            <a:ext cx="895464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4C554F"/>
                </a:solidFill>
                <a:effectLst/>
                <a:uFillTx/>
                <a:latin typeface="Courier New"/>
                <a:ea typeface="Courier New"/>
              </a:rPr>
              <a:t>SUGI BIOMASS · SOLAR · EV CHARGING · BLACKOUT RESILIENCE</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ECE0"/>
        </a:solidFill>
      </p:bgPr>
    </p:bg>
    <p:spTree>
      <p:nvGrpSpPr>
        <p:cNvPr id="1" name=""/>
        <p:cNvGrpSpPr/>
        <p:nvPr/>
      </p:nvGrpSpPr>
      <p:grpSpPr>
        <a:xfrm>
          <a:off x="0" y="0"/>
          <a:ext cx="0" cy="0"/>
          <a:chOff x="0" y="0"/>
          <a:chExt cx="0" cy="0"/>
        </a:xfrm>
      </p:grpSpPr>
      <p:sp>
        <p:nvSpPr>
          <p:cNvPr id="123" name="Shape 0"/>
          <p:cNvSpPr/>
          <p:nvPr/>
        </p:nvSpPr>
        <p:spPr>
          <a:xfrm>
            <a:off x="1047600" y="762120"/>
            <a:ext cx="456840" cy="456840"/>
          </a:xfrm>
          <a:prstGeom prst="ellipse">
            <a:avLst/>
          </a:prstGeom>
          <a:solidFill>
            <a:srgbClr val="2F4A37"/>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4" name="Text 1"/>
          <p:cNvSpPr/>
          <p:nvPr/>
        </p:nvSpPr>
        <p:spPr>
          <a:xfrm>
            <a:off x="1047600" y="762120"/>
            <a:ext cx="533160" cy="4950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zh-CN" sz="1950" b="1" u="none" spc="145" strike="noStrike">
                <a:solidFill>
                  <a:srgbClr val="F3ECE0"/>
                </a:solidFill>
                <a:effectLst/>
                <a:uFillTx/>
                <a:latin typeface="Noto Serif JP"/>
                <a:ea typeface="Noto Serif JP"/>
              </a:rPr>
              <a:t>御</a:t>
            </a:r>
            <a:endParaRPr lang="en-US" sz="1950" b="0" u="none" strike="noStrike">
              <a:solidFill>
                <a:srgbClr val="000000"/>
              </a:solidFill>
              <a:effectLst/>
              <a:uFillTx/>
              <a:latin typeface="Arial"/>
            </a:endParaRPr>
          </a:p>
        </p:txBody>
      </p:sp>
      <p:sp>
        <p:nvSpPr>
          <p:cNvPr id="125" name="Text 2"/>
          <p:cNvSpPr/>
          <p:nvPr/>
        </p:nvSpPr>
        <p:spPr>
          <a:xfrm>
            <a:off x="1638360" y="857160"/>
            <a:ext cx="224244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4C554F"/>
                </a:solidFill>
                <a:effectLst/>
                <a:uFillTx/>
                <a:latin typeface="Courier New"/>
                <a:ea typeface="Courier New"/>
              </a:rPr>
              <a:t>MITSUE PROJECT</a:t>
            </a:r>
            <a:endParaRPr lang="en-US" sz="1800" b="0" u="none" strike="noStrike">
              <a:solidFill>
                <a:srgbClr val="000000"/>
              </a:solidFill>
              <a:effectLst/>
              <a:uFillTx/>
              <a:latin typeface="Arial"/>
            </a:endParaRPr>
          </a:p>
        </p:txBody>
      </p:sp>
      <p:sp>
        <p:nvSpPr>
          <p:cNvPr id="126" name="Text 3"/>
          <p:cNvSpPr/>
          <p:nvPr/>
        </p:nvSpPr>
        <p:spPr>
          <a:xfrm>
            <a:off x="10859040" y="762120"/>
            <a:ext cx="6572520" cy="3805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800" b="0" u="none" spc="145" strike="noStrike">
                <a:solidFill>
                  <a:srgbClr val="4C554F"/>
                </a:solidFill>
                <a:effectLst/>
                <a:uFillTx/>
                <a:latin typeface="Courier New"/>
                <a:ea typeface="Courier New"/>
              </a:rPr>
              <a:t>III · COMMUNITY DATA CENTER · </a:t>
            </a:r>
            <a:r>
              <a:rPr lang="zh-CN" sz="1800" b="0" u="none" spc="145" strike="noStrike">
                <a:solidFill>
                  <a:srgbClr val="4C554F"/>
                </a:solidFill>
                <a:effectLst/>
                <a:uFillTx/>
                <a:latin typeface="Courier New"/>
                <a:ea typeface="Courier New"/>
              </a:rPr>
              <a:t>データセンター</a:t>
            </a:r>
            <a:endParaRPr lang="en-US" sz="1800" b="0" u="none" strike="noStrike">
              <a:solidFill>
                <a:srgbClr val="000000"/>
              </a:solidFill>
              <a:effectLst/>
              <a:uFillTx/>
              <a:latin typeface="Arial"/>
            </a:endParaRPr>
          </a:p>
        </p:txBody>
      </p:sp>
      <p:sp>
        <p:nvSpPr>
          <p:cNvPr id="127" name="Text 4"/>
          <p:cNvSpPr/>
          <p:nvPr/>
        </p:nvSpPr>
        <p:spPr>
          <a:xfrm>
            <a:off x="1047600" y="1695600"/>
            <a:ext cx="7946280" cy="26236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98000"/>
              </a:lnSpc>
              <a:tabLst>
                <a:tab pos="0" algn="l"/>
              </a:tabLst>
            </a:pPr>
            <a:r>
              <a:rPr lang="en-US" sz="6900" b="0" u="none" spc="-68" strike="noStrike">
                <a:solidFill>
                  <a:srgbClr val="1F2A24"/>
                </a:solidFill>
                <a:effectLst/>
                <a:uFillTx/>
                <a:latin typeface="Georgia"/>
                <a:ea typeface="Georgia"/>
              </a:rPr>
              <a:t>A data center that goes to </a:t>
            </a:r>
            <a:r>
              <a:rPr lang="en-US" sz="6900" b="0" i="1" u="none" spc="-68" strike="noStrike">
                <a:solidFill>
                  <a:srgbClr val="C4663A"/>
                </a:solidFill>
                <a:effectLst/>
                <a:uFillTx/>
                <a:latin typeface="Georgia"/>
                <a:ea typeface="Georgia"/>
              </a:rPr>
              <a:t>elementary school.</a:t>
            </a:r>
            <a:endParaRPr lang="en-US" sz="6900" b="0" u="none" strike="noStrike">
              <a:solidFill>
                <a:srgbClr val="000000"/>
              </a:solidFill>
              <a:effectLst/>
              <a:uFillTx/>
              <a:latin typeface="Arial"/>
            </a:endParaRPr>
          </a:p>
        </p:txBody>
      </p:sp>
      <p:sp>
        <p:nvSpPr>
          <p:cNvPr id="128" name="Text 5"/>
          <p:cNvSpPr/>
          <p:nvPr/>
        </p:nvSpPr>
        <p:spPr>
          <a:xfrm>
            <a:off x="1047600" y="4114800"/>
            <a:ext cx="7946280" cy="119772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45000"/>
              </a:lnSpc>
              <a:tabLst>
                <a:tab pos="0" algn="l"/>
              </a:tabLst>
            </a:pPr>
            <a:r>
              <a:rPr lang="en-US" sz="2100" b="0" u="none" strike="noStrike">
                <a:solidFill>
                  <a:srgbClr val="1F2A24"/>
                </a:solidFill>
                <a:effectLst/>
                <a:uFillTx/>
                <a:latin typeface="Arial"/>
                <a:ea typeface="Arial"/>
              </a:rPr>
              <a:t>The closed Mitsue Elementary School building, repurposed as a small, energy-efficient edge-compute facility — powered entirely by locally generated renewable energy.</a:t>
            </a:r>
            <a:endParaRPr lang="en-US" sz="2100" b="0" u="none" strike="noStrike">
              <a:solidFill>
                <a:srgbClr val="000000"/>
              </a:solidFill>
              <a:effectLst/>
              <a:uFillTx/>
              <a:latin typeface="Arial"/>
            </a:endParaRPr>
          </a:p>
        </p:txBody>
      </p:sp>
      <p:sp>
        <p:nvSpPr>
          <p:cNvPr id="129" name="Text 6"/>
          <p:cNvSpPr/>
          <p:nvPr/>
        </p:nvSpPr>
        <p:spPr>
          <a:xfrm>
            <a:off x="1047600" y="5541480"/>
            <a:ext cx="7946280" cy="197136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45000"/>
              </a:lnSpc>
              <a:tabLst>
                <a:tab pos="0" algn="l"/>
              </a:tabLst>
            </a:pPr>
            <a:r>
              <a:rPr lang="en-US" sz="2100" b="0" u="none" strike="noStrike">
                <a:solidFill>
                  <a:srgbClr val="1F2A24"/>
                </a:solidFill>
                <a:effectLst/>
                <a:uFillTx/>
                <a:latin typeface="Arial"/>
                <a:ea typeface="Arial"/>
              </a:rPr>
              <a:t>Sized for accountability, not hyperscale economics. Small enough that the village owns it, audits it, and can explain what it does. Heat re-use warms greenhouses and community buildings. Designed to be replicated by other depopulating municipalities — the blueprint is open.</a:t>
            </a:r>
            <a:endParaRPr lang="en-US" sz="2100" b="0" u="none" strike="noStrike">
              <a:solidFill>
                <a:srgbClr val="000000"/>
              </a:solidFill>
              <a:effectLst/>
              <a:uFillTx/>
              <a:latin typeface="Arial"/>
            </a:endParaRPr>
          </a:p>
        </p:txBody>
      </p:sp>
      <p:sp>
        <p:nvSpPr>
          <p:cNvPr id="130" name="Shape 7"/>
          <p:cNvSpPr/>
          <p:nvPr/>
        </p:nvSpPr>
        <p:spPr>
          <a:xfrm>
            <a:off x="1047600" y="8251560"/>
            <a:ext cx="7714800" cy="9000"/>
          </a:xfrm>
          <a:prstGeom prst="rect">
            <a:avLst/>
          </a:prstGeom>
          <a:solidFill>
            <a:srgbClr val="1F2A24">
              <a:alpha val="50000"/>
            </a:srgbClr>
          </a:solidFill>
          <a:ln w="0">
            <a:noFill/>
          </a:ln>
        </p:spPr>
        <p:style>
          <a:lnRef idx="0"/>
          <a:fillRef idx="0"/>
          <a:effectRef idx="0"/>
          <a:fontRef idx="minor"/>
        </p:style>
        <p:txBody>
          <a:bodyPr lIns="90000" tIns="-35640" rIns="90000" bIns="-35640" anchor="t">
            <a:noAutofit/>
          </a:bodyPr>
          <a:p>
            <a:endParaRPr lang="en-US" sz="1800" b="0" u="none" strike="noStrike">
              <a:solidFill>
                <a:srgbClr val="FFFFFF"/>
              </a:solidFill>
              <a:effectLst/>
              <a:uFillTx/>
              <a:latin typeface="Arial"/>
            </a:endParaRPr>
          </a:p>
        </p:txBody>
      </p:sp>
      <p:sp>
        <p:nvSpPr>
          <p:cNvPr id="131" name="Text 8"/>
          <p:cNvSpPr/>
          <p:nvPr/>
        </p:nvSpPr>
        <p:spPr>
          <a:xfrm>
            <a:off x="1047600" y="8470440"/>
            <a:ext cx="249516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215" strike="noStrike">
                <a:solidFill>
                  <a:srgbClr val="4C554F"/>
                </a:solidFill>
                <a:effectLst/>
                <a:uFillTx/>
                <a:latin typeface="Courier New"/>
                <a:ea typeface="Courier New"/>
              </a:rPr>
              <a:t>SCALE</a:t>
            </a:r>
            <a:endParaRPr lang="en-US" sz="1800" b="0" u="none" strike="noStrike">
              <a:solidFill>
                <a:srgbClr val="000000"/>
              </a:solidFill>
              <a:effectLst/>
              <a:uFillTx/>
              <a:latin typeface="Arial"/>
            </a:endParaRPr>
          </a:p>
        </p:txBody>
      </p:sp>
      <p:sp>
        <p:nvSpPr>
          <p:cNvPr id="132" name="Text 9"/>
          <p:cNvSpPr/>
          <p:nvPr/>
        </p:nvSpPr>
        <p:spPr>
          <a:xfrm>
            <a:off x="1047600" y="8737200"/>
            <a:ext cx="2495160" cy="48564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97000"/>
              </a:lnSpc>
              <a:tabLst>
                <a:tab pos="0" algn="l"/>
              </a:tabLst>
            </a:pPr>
            <a:r>
              <a:rPr lang="en-US" sz="3600" b="0" u="none" spc="-37" strike="noStrike">
                <a:solidFill>
                  <a:srgbClr val="1F2A24"/>
                </a:solidFill>
                <a:effectLst/>
                <a:uFillTx/>
                <a:latin typeface="Georgia"/>
                <a:ea typeface="Georgia"/>
              </a:rPr>
              <a:t>Edge</a:t>
            </a:r>
            <a:endParaRPr lang="en-US" sz="3600" b="0" u="none" strike="noStrike">
              <a:solidFill>
                <a:srgbClr val="000000"/>
              </a:solidFill>
              <a:effectLst/>
              <a:uFillTx/>
              <a:latin typeface="Arial"/>
            </a:endParaRPr>
          </a:p>
        </p:txBody>
      </p:sp>
      <p:sp>
        <p:nvSpPr>
          <p:cNvPr id="133" name="Text 10"/>
          <p:cNvSpPr/>
          <p:nvPr/>
        </p:nvSpPr>
        <p:spPr>
          <a:xfrm>
            <a:off x="3695760" y="8470440"/>
            <a:ext cx="249516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215" strike="noStrike">
                <a:solidFill>
                  <a:srgbClr val="4C554F"/>
                </a:solidFill>
                <a:effectLst/>
                <a:uFillTx/>
                <a:latin typeface="Courier New"/>
                <a:ea typeface="Courier New"/>
              </a:rPr>
              <a:t>POWER</a:t>
            </a:r>
            <a:endParaRPr lang="en-US" sz="1800" b="0" u="none" strike="noStrike">
              <a:solidFill>
                <a:srgbClr val="000000"/>
              </a:solidFill>
              <a:effectLst/>
              <a:uFillTx/>
              <a:latin typeface="Arial"/>
            </a:endParaRPr>
          </a:p>
        </p:txBody>
      </p:sp>
      <p:sp>
        <p:nvSpPr>
          <p:cNvPr id="134" name="Text 11"/>
          <p:cNvSpPr/>
          <p:nvPr/>
        </p:nvSpPr>
        <p:spPr>
          <a:xfrm>
            <a:off x="3695760" y="8737200"/>
            <a:ext cx="2495160" cy="48564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97000"/>
              </a:lnSpc>
              <a:tabLst>
                <a:tab pos="0" algn="l"/>
              </a:tabLst>
            </a:pPr>
            <a:r>
              <a:rPr lang="en-US" sz="3600" b="0" u="none" spc="-37" strike="noStrike">
                <a:solidFill>
                  <a:srgbClr val="1F2A24"/>
                </a:solidFill>
                <a:effectLst/>
                <a:uFillTx/>
                <a:latin typeface="Georgia"/>
                <a:ea typeface="Georgia"/>
              </a:rPr>
              <a:t>100% local</a:t>
            </a:r>
            <a:endParaRPr lang="en-US" sz="3600" b="0" u="none" strike="noStrike">
              <a:solidFill>
                <a:srgbClr val="000000"/>
              </a:solidFill>
              <a:effectLst/>
              <a:uFillTx/>
              <a:latin typeface="Arial"/>
            </a:endParaRPr>
          </a:p>
        </p:txBody>
      </p:sp>
      <p:sp>
        <p:nvSpPr>
          <p:cNvPr id="135" name="Text 12"/>
          <p:cNvSpPr/>
          <p:nvPr/>
        </p:nvSpPr>
        <p:spPr>
          <a:xfrm>
            <a:off x="6343560" y="8470440"/>
            <a:ext cx="249516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215" strike="noStrike">
                <a:solidFill>
                  <a:srgbClr val="4C554F"/>
                </a:solidFill>
                <a:effectLst/>
                <a:uFillTx/>
                <a:latin typeface="Courier New"/>
                <a:ea typeface="Courier New"/>
              </a:rPr>
              <a:t>OWNER</a:t>
            </a:r>
            <a:endParaRPr lang="en-US" sz="1800" b="0" u="none" strike="noStrike">
              <a:solidFill>
                <a:srgbClr val="000000"/>
              </a:solidFill>
              <a:effectLst/>
              <a:uFillTx/>
              <a:latin typeface="Arial"/>
            </a:endParaRPr>
          </a:p>
        </p:txBody>
      </p:sp>
      <p:sp>
        <p:nvSpPr>
          <p:cNvPr id="136" name="Text 13"/>
          <p:cNvSpPr/>
          <p:nvPr/>
        </p:nvSpPr>
        <p:spPr>
          <a:xfrm>
            <a:off x="6343560" y="8737200"/>
            <a:ext cx="2495160" cy="48564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97000"/>
              </a:lnSpc>
              <a:tabLst>
                <a:tab pos="0" algn="l"/>
              </a:tabLst>
            </a:pPr>
            <a:r>
              <a:rPr lang="en-US" sz="3600" b="0" u="none" spc="-37" strike="noStrike">
                <a:solidFill>
                  <a:srgbClr val="1F2A24"/>
                </a:solidFill>
                <a:effectLst/>
                <a:uFillTx/>
                <a:latin typeface="Georgia"/>
                <a:ea typeface="Georgia"/>
              </a:rPr>
              <a:t>The village</a:t>
            </a:r>
            <a:endParaRPr lang="en-US" sz="3600" b="0" u="none" strike="noStrike">
              <a:solidFill>
                <a:srgbClr val="000000"/>
              </a:solidFill>
              <a:effectLst/>
              <a:uFillTx/>
              <a:latin typeface="Arial"/>
            </a:endParaRPr>
          </a:p>
        </p:txBody>
      </p:sp>
      <p:sp>
        <p:nvSpPr>
          <p:cNvPr id="137" name="Shape 14"/>
          <p:cNvSpPr/>
          <p:nvPr/>
        </p:nvSpPr>
        <p:spPr>
          <a:xfrm>
            <a:off x="9524880" y="1695600"/>
            <a:ext cx="7714800" cy="6514200"/>
          </a:xfrm>
          <a:prstGeom prst="rect">
            <a:avLst/>
          </a:prstGeom>
          <a:solidFill>
            <a:srgbClr val="2F4A37"/>
          </a:solidFill>
          <a:ln w="9525">
            <a:solidFill>
              <a:srgbClr val="1F2A24"/>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38" name="Text 15"/>
          <p:cNvSpPr/>
          <p:nvPr/>
        </p:nvSpPr>
        <p:spPr>
          <a:xfrm>
            <a:off x="10010880" y="2181240"/>
            <a:ext cx="694548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215" strike="noStrike">
                <a:solidFill>
                  <a:srgbClr val="F3ECE0">
                    <a:alpha val="67000"/>
                  </a:srgbClr>
                </a:solidFill>
                <a:effectLst/>
                <a:uFillTx/>
                <a:latin typeface="Courier New"/>
                <a:ea typeface="Courier New"/>
              </a:rPr>
              <a:t>FROM CLASSROOM TO COMPUTE</a:t>
            </a:r>
            <a:endParaRPr lang="en-US" sz="1800" b="0" u="none" strike="noStrike">
              <a:solidFill>
                <a:srgbClr val="000000"/>
              </a:solidFill>
              <a:effectLst/>
              <a:uFillTx/>
              <a:latin typeface="Arial"/>
            </a:endParaRPr>
          </a:p>
        </p:txBody>
      </p:sp>
      <p:pic>
        <p:nvPicPr>
          <p:cNvPr id="139" name="Image 0" descr="preencoded.png"/>
          <p:cNvPicPr/>
          <p:nvPr/>
        </p:nvPicPr>
        <p:blipFill>
          <a:blip r:embed="rId1"/>
          <a:stretch/>
        </p:blipFill>
        <p:spPr>
          <a:xfrm>
            <a:off x="10010880" y="2676600"/>
            <a:ext cx="6743520" cy="5009400"/>
          </a:xfrm>
          <a:prstGeom prst="rect">
            <a:avLst/>
          </a:prstGeom>
          <a:noFill/>
          <a:ln w="0">
            <a:noFill/>
          </a:ln>
        </p:spPr>
      </p:pic>
      <p:sp>
        <p:nvSpPr>
          <p:cNvPr id="140" name="Text 16"/>
          <p:cNvSpPr/>
          <p:nvPr/>
        </p:nvSpPr>
        <p:spPr>
          <a:xfrm>
            <a:off x="1047600" y="9258480"/>
            <a:ext cx="115452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4C554F"/>
                </a:solidFill>
                <a:effectLst/>
                <a:uFillTx/>
                <a:latin typeface="Courier New"/>
                <a:ea typeface="Courier New"/>
              </a:rPr>
              <a:t>07 / 11</a:t>
            </a:r>
            <a:endParaRPr lang="en-US" sz="1800" b="0" u="none" strike="noStrike">
              <a:solidFill>
                <a:srgbClr val="000000"/>
              </a:solidFill>
              <a:effectLst/>
              <a:uFillTx/>
              <a:latin typeface="Arial"/>
            </a:endParaRPr>
          </a:p>
        </p:txBody>
      </p:sp>
      <p:sp>
        <p:nvSpPr>
          <p:cNvPr id="141" name="Text 17"/>
          <p:cNvSpPr/>
          <p:nvPr/>
        </p:nvSpPr>
        <p:spPr>
          <a:xfrm>
            <a:off x="6836400" y="9258480"/>
            <a:ext cx="1071540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4C554F"/>
                </a:solidFill>
                <a:effectLst/>
                <a:uFillTx/>
                <a:latin typeface="Courier New"/>
                <a:ea typeface="Courier New"/>
              </a:rPr>
              <a:t>EDGE COMPUTE · HEAT RE-USE · REPLICABLE · PROGRESS + SUSTAINABILITY</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F4A37"/>
        </a:solidFill>
      </p:bgPr>
    </p:bg>
    <p:spTree>
      <p:nvGrpSpPr>
        <p:cNvPr id="1" name=""/>
        <p:cNvGrpSpPr/>
        <p:nvPr/>
      </p:nvGrpSpPr>
      <p:grpSpPr>
        <a:xfrm>
          <a:off x="0" y="0"/>
          <a:ext cx="0" cy="0"/>
          <a:chOff x="0" y="0"/>
          <a:chExt cx="0" cy="0"/>
        </a:xfrm>
      </p:grpSpPr>
      <p:sp>
        <p:nvSpPr>
          <p:cNvPr id="142" name="Shape 0"/>
          <p:cNvSpPr/>
          <p:nvPr/>
        </p:nvSpPr>
        <p:spPr>
          <a:xfrm>
            <a:off x="1047600" y="762120"/>
            <a:ext cx="456840" cy="456840"/>
          </a:xfrm>
          <a:prstGeom prst="ellipse">
            <a:avLst/>
          </a:prstGeom>
          <a:solidFill>
            <a:srgbClr val="F3ECE0"/>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3" name="Text 1"/>
          <p:cNvSpPr/>
          <p:nvPr/>
        </p:nvSpPr>
        <p:spPr>
          <a:xfrm>
            <a:off x="1047600" y="762120"/>
            <a:ext cx="533160" cy="4950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zh-CN" sz="1950" b="1" u="none" spc="145" strike="noStrike">
                <a:solidFill>
                  <a:srgbClr val="2F4A37"/>
                </a:solidFill>
                <a:effectLst/>
                <a:uFillTx/>
                <a:latin typeface="Noto Serif JP"/>
                <a:ea typeface="Noto Serif JP"/>
              </a:rPr>
              <a:t>御</a:t>
            </a:r>
            <a:endParaRPr lang="en-US" sz="1950" b="0" u="none" strike="noStrike">
              <a:solidFill>
                <a:srgbClr val="FFFFFF"/>
              </a:solidFill>
              <a:effectLst/>
              <a:uFillTx/>
              <a:latin typeface="Arial"/>
            </a:endParaRPr>
          </a:p>
        </p:txBody>
      </p:sp>
      <p:sp>
        <p:nvSpPr>
          <p:cNvPr id="144" name="Text 2"/>
          <p:cNvSpPr/>
          <p:nvPr/>
        </p:nvSpPr>
        <p:spPr>
          <a:xfrm>
            <a:off x="1638360" y="857160"/>
            <a:ext cx="224244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F3ECE0">
                    <a:alpha val="67000"/>
                  </a:srgbClr>
                </a:solidFill>
                <a:effectLst/>
                <a:uFillTx/>
                <a:latin typeface="Courier New"/>
                <a:ea typeface="Courier New"/>
              </a:rPr>
              <a:t>MITSUE PROJECT</a:t>
            </a:r>
            <a:endParaRPr lang="en-US" sz="1800" b="0" u="none" strike="noStrike">
              <a:solidFill>
                <a:srgbClr val="FFFFFF"/>
              </a:solidFill>
              <a:effectLst/>
              <a:uFillTx/>
              <a:latin typeface="Arial"/>
            </a:endParaRPr>
          </a:p>
        </p:txBody>
      </p:sp>
      <p:sp>
        <p:nvSpPr>
          <p:cNvPr id="145" name="Text 3"/>
          <p:cNvSpPr/>
          <p:nvPr/>
        </p:nvSpPr>
        <p:spPr>
          <a:xfrm>
            <a:off x="10877400" y="762120"/>
            <a:ext cx="655344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F3ECE0">
                    <a:alpha val="67000"/>
                  </a:srgbClr>
                </a:solidFill>
                <a:effectLst/>
                <a:uFillTx/>
                <a:latin typeface="Courier New"/>
                <a:ea typeface="Courier New"/>
              </a:rPr>
              <a:t>§ 07 · BENEFITS — COMMUNITY &amp; ENVIRONMENT</a:t>
            </a:r>
            <a:endParaRPr lang="en-US" sz="1800" b="0" u="none" strike="noStrike">
              <a:solidFill>
                <a:srgbClr val="FFFFFF"/>
              </a:solidFill>
              <a:effectLst/>
              <a:uFillTx/>
              <a:latin typeface="Arial"/>
            </a:endParaRPr>
          </a:p>
        </p:txBody>
      </p:sp>
      <p:sp>
        <p:nvSpPr>
          <p:cNvPr id="146" name="Text 4"/>
          <p:cNvSpPr/>
          <p:nvPr/>
        </p:nvSpPr>
        <p:spPr>
          <a:xfrm>
            <a:off x="1047600" y="1790640"/>
            <a:ext cx="16678080" cy="233316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00000"/>
              </a:lnSpc>
              <a:tabLst>
                <a:tab pos="0" algn="l"/>
              </a:tabLst>
            </a:pPr>
            <a:r>
              <a:rPr lang="en-US" sz="9000" b="0" u="none" spc="-91" strike="noStrike">
                <a:solidFill>
                  <a:srgbClr val="F3ECE0"/>
                </a:solidFill>
                <a:effectLst/>
                <a:uFillTx/>
                <a:latin typeface="Georgia"/>
                <a:ea typeface="Georgia"/>
              </a:rPr>
              <a:t>The win doesn't depend on the data center being a </a:t>
            </a:r>
            <a:r>
              <a:rPr lang="en-US" sz="9000" b="0" i="1" u="none" spc="-91" strike="noStrike">
                <a:solidFill>
                  <a:srgbClr val="F3B486"/>
                </a:solidFill>
                <a:effectLst/>
                <a:uFillTx/>
                <a:latin typeface="Georgia"/>
                <a:ea typeface="Georgia"/>
              </a:rPr>
              <a:t>commercial hit.</a:t>
            </a:r>
            <a:endParaRPr lang="en-US" sz="9000" b="0" u="none" strike="noStrike">
              <a:solidFill>
                <a:srgbClr val="FFFFFF"/>
              </a:solidFill>
              <a:effectLst/>
              <a:uFillTx/>
              <a:latin typeface="Arial"/>
            </a:endParaRPr>
          </a:p>
        </p:txBody>
      </p:sp>
      <p:sp>
        <p:nvSpPr>
          <p:cNvPr id="147" name="Text 5"/>
          <p:cNvSpPr/>
          <p:nvPr/>
        </p:nvSpPr>
        <p:spPr>
          <a:xfrm>
            <a:off x="1047600" y="4486320"/>
            <a:ext cx="12217320" cy="42444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pPr>
            <a:r>
              <a:rPr lang="en-US" sz="2100" b="0" u="none" strike="noStrike">
                <a:solidFill>
                  <a:srgbClr val="F3ECE0">
                    <a:alpha val="85000"/>
                  </a:srgbClr>
                </a:solidFill>
                <a:effectLst/>
                <a:uFillTx/>
                <a:latin typeface="Arial"/>
                <a:ea typeface="Arial"/>
              </a:rPr>
              <a:t>Most benefits accrue to the village whether the compute side breaks even or not. That's the design.</a:t>
            </a:r>
            <a:endParaRPr lang="en-US" sz="2100" b="0" u="none" strike="noStrike">
              <a:solidFill>
                <a:srgbClr val="FFFFFF"/>
              </a:solidFill>
              <a:effectLst/>
              <a:uFillTx/>
              <a:latin typeface="Arial"/>
            </a:endParaRPr>
          </a:p>
        </p:txBody>
      </p:sp>
      <p:sp>
        <p:nvSpPr>
          <p:cNvPr id="148" name="Shape 6"/>
          <p:cNvSpPr/>
          <p:nvPr/>
        </p:nvSpPr>
        <p:spPr>
          <a:xfrm>
            <a:off x="1047600" y="5349240"/>
            <a:ext cx="5143320" cy="18720"/>
          </a:xfrm>
          <a:prstGeom prst="rect">
            <a:avLst/>
          </a:prstGeom>
          <a:solidFill>
            <a:srgbClr val="F3ECE0"/>
          </a:solidFill>
          <a:ln w="0">
            <a:noFill/>
          </a:ln>
        </p:spPr>
        <p:style>
          <a:lnRef idx="0"/>
          <a:fillRef idx="0"/>
          <a:effectRef idx="0"/>
          <a:fontRef idx="minor"/>
        </p:style>
        <p:txBody>
          <a:bodyPr lIns="90000" tIns="-25920" rIns="90000" bIns="-25920" anchor="t">
            <a:noAutofit/>
          </a:bodyPr>
          <a:p>
            <a:endParaRPr lang="en-US" sz="1800" b="0" u="none" strike="noStrike">
              <a:solidFill>
                <a:srgbClr val="000000"/>
              </a:solidFill>
              <a:effectLst/>
              <a:uFillTx/>
              <a:latin typeface="Arial"/>
            </a:endParaRPr>
          </a:p>
        </p:txBody>
      </p:sp>
      <p:sp>
        <p:nvSpPr>
          <p:cNvPr id="149" name="Text 7"/>
          <p:cNvSpPr/>
          <p:nvPr/>
        </p:nvSpPr>
        <p:spPr>
          <a:xfrm>
            <a:off x="1047600" y="5596920"/>
            <a:ext cx="529740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215" strike="noStrike">
                <a:solidFill>
                  <a:srgbClr val="F3ECE0">
                    <a:alpha val="67000"/>
                  </a:srgbClr>
                </a:solidFill>
                <a:effectLst/>
                <a:uFillTx/>
                <a:latin typeface="Courier New"/>
                <a:ea typeface="Courier New"/>
              </a:rPr>
              <a:t>COMMUNITY</a:t>
            </a:r>
            <a:endParaRPr lang="en-US" sz="1800" b="0" u="none" strike="noStrike">
              <a:solidFill>
                <a:srgbClr val="FFFFFF"/>
              </a:solidFill>
              <a:effectLst/>
              <a:uFillTx/>
              <a:latin typeface="Arial"/>
            </a:endParaRPr>
          </a:p>
        </p:txBody>
      </p:sp>
      <p:sp>
        <p:nvSpPr>
          <p:cNvPr id="150" name="Text 8"/>
          <p:cNvSpPr/>
          <p:nvPr/>
        </p:nvSpPr>
        <p:spPr>
          <a:xfrm>
            <a:off x="861120" y="6092280"/>
            <a:ext cx="5406120" cy="203796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50000"/>
              </a:lnSpc>
              <a:tabLst>
                <a:tab pos="0" algn="l"/>
              </a:tabLst>
            </a:pPr>
            <a:r>
              <a:rPr lang="en-US" sz="2100" b="0" u="none" strike="noStrike">
                <a:solidFill>
                  <a:srgbClr val="F3ECE0"/>
                </a:solidFill>
                <a:effectLst/>
                <a:uFillTx/>
                <a:latin typeface="Arial"/>
                <a:ea typeface="Arial"/>
              </a:rPr>
              <a:t>↳ Paid forestry work, year-round</a:t>
            </a:r>
            <a:endParaRPr lang="en-US" sz="2100" b="0" u="none" strike="noStrike">
              <a:solidFill>
                <a:srgbClr val="FFFFFF"/>
              </a:solidFill>
              <a:effectLst/>
              <a:uFillTx/>
              <a:latin typeface="Arial"/>
            </a:endParaRPr>
          </a:p>
          <a:p>
            <a:pPr defTabSz="914400">
              <a:lnSpc>
                <a:spcPct val="150000"/>
              </a:lnSpc>
              <a:tabLst>
                <a:tab pos="0" algn="l"/>
              </a:tabLst>
            </a:pPr>
            <a:r>
              <a:rPr lang="en-US" sz="2100" b="0" u="none" strike="noStrike">
                <a:solidFill>
                  <a:srgbClr val="F3ECE0"/>
                </a:solidFill>
                <a:effectLst/>
                <a:uFillTx/>
                <a:latin typeface="Arial"/>
                <a:ea typeface="Arial"/>
              </a:rPr>
              <a:t>↳ EV charging for residents &amp; visitors</a:t>
            </a:r>
            <a:endParaRPr lang="en-US" sz="2100" b="0" u="none" strike="noStrike">
              <a:solidFill>
                <a:srgbClr val="FFFFFF"/>
              </a:solidFill>
              <a:effectLst/>
              <a:uFillTx/>
              <a:latin typeface="Arial"/>
            </a:endParaRPr>
          </a:p>
          <a:p>
            <a:pPr defTabSz="914400">
              <a:lnSpc>
                <a:spcPct val="150000"/>
              </a:lnSpc>
              <a:tabLst>
                <a:tab pos="0" algn="l"/>
              </a:tabLst>
            </a:pPr>
            <a:r>
              <a:rPr lang="en-US" sz="2100" b="0" u="none" strike="noStrike">
                <a:solidFill>
                  <a:srgbClr val="F3ECE0"/>
                </a:solidFill>
                <a:effectLst/>
                <a:uFillTx/>
                <a:latin typeface="Arial"/>
                <a:ea typeface="Arial"/>
              </a:rPr>
              <a:t>↳ The school stops bleeding money</a:t>
            </a:r>
            <a:endParaRPr lang="en-US" sz="2100" b="0" u="none" strike="noStrike">
              <a:solidFill>
                <a:srgbClr val="FFFFFF"/>
              </a:solidFill>
              <a:effectLst/>
              <a:uFillTx/>
              <a:latin typeface="Arial"/>
            </a:endParaRPr>
          </a:p>
          <a:p>
            <a:pPr defTabSz="914400">
              <a:lnSpc>
                <a:spcPct val="150000"/>
              </a:lnSpc>
              <a:tabLst>
                <a:tab pos="0" algn="l"/>
              </a:tabLst>
            </a:pPr>
            <a:r>
              <a:rPr lang="en-US" sz="2100" b="0" u="none" strike="noStrike">
                <a:solidFill>
                  <a:srgbClr val="F3ECE0"/>
                </a:solidFill>
                <a:effectLst/>
                <a:uFillTx/>
                <a:latin typeface="Arial"/>
                <a:ea typeface="Arial"/>
              </a:rPr>
              <a:t>↳ Blackout-resilient clinic + comms</a:t>
            </a:r>
            <a:endParaRPr lang="en-US" sz="2100" b="0" u="none" strike="noStrike">
              <a:solidFill>
                <a:srgbClr val="FFFFFF"/>
              </a:solidFill>
              <a:effectLst/>
              <a:uFillTx/>
              <a:latin typeface="Arial"/>
            </a:endParaRPr>
          </a:p>
          <a:p>
            <a:pPr defTabSz="914400">
              <a:lnSpc>
                <a:spcPct val="150000"/>
              </a:lnSpc>
              <a:tabLst>
                <a:tab pos="0" algn="l"/>
              </a:tabLst>
            </a:pPr>
            <a:r>
              <a:rPr lang="en-US" sz="2100" b="0" u="none" strike="noStrike">
                <a:solidFill>
                  <a:srgbClr val="F3ECE0"/>
                </a:solidFill>
                <a:effectLst/>
                <a:uFillTx/>
                <a:latin typeface="Arial"/>
                <a:ea typeface="Arial"/>
              </a:rPr>
              <a:t>↳ Modest, accountable, village-owned</a:t>
            </a:r>
            <a:endParaRPr lang="en-US" sz="2100" b="0" u="none" strike="noStrike">
              <a:solidFill>
                <a:srgbClr val="FFFFFF"/>
              </a:solidFill>
              <a:effectLst/>
              <a:uFillTx/>
              <a:latin typeface="Arial"/>
            </a:endParaRPr>
          </a:p>
        </p:txBody>
      </p:sp>
      <p:sp>
        <p:nvSpPr>
          <p:cNvPr id="151" name="Shape 9"/>
          <p:cNvSpPr/>
          <p:nvPr/>
        </p:nvSpPr>
        <p:spPr>
          <a:xfrm>
            <a:off x="6572160" y="5349240"/>
            <a:ext cx="5143320" cy="18720"/>
          </a:xfrm>
          <a:prstGeom prst="rect">
            <a:avLst/>
          </a:prstGeom>
          <a:solidFill>
            <a:srgbClr val="F3ECE0"/>
          </a:solidFill>
          <a:ln w="0">
            <a:noFill/>
          </a:ln>
        </p:spPr>
        <p:style>
          <a:lnRef idx="0"/>
          <a:fillRef idx="0"/>
          <a:effectRef idx="0"/>
          <a:fontRef idx="minor"/>
        </p:style>
        <p:txBody>
          <a:bodyPr lIns="90000" tIns="-25920" rIns="90000" bIns="-25920" anchor="t">
            <a:noAutofit/>
          </a:bodyPr>
          <a:p>
            <a:endParaRPr lang="en-US" sz="1800" b="0" u="none" strike="noStrike">
              <a:solidFill>
                <a:srgbClr val="000000"/>
              </a:solidFill>
              <a:effectLst/>
              <a:uFillTx/>
              <a:latin typeface="Arial"/>
            </a:endParaRPr>
          </a:p>
        </p:txBody>
      </p:sp>
      <p:sp>
        <p:nvSpPr>
          <p:cNvPr id="152" name="Text 10"/>
          <p:cNvSpPr/>
          <p:nvPr/>
        </p:nvSpPr>
        <p:spPr>
          <a:xfrm>
            <a:off x="6572160" y="5596920"/>
            <a:ext cx="529740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215" strike="noStrike">
                <a:solidFill>
                  <a:srgbClr val="F3ECE0">
                    <a:alpha val="67000"/>
                  </a:srgbClr>
                </a:solidFill>
                <a:effectLst/>
                <a:uFillTx/>
                <a:latin typeface="Courier New"/>
                <a:ea typeface="Courier New"/>
              </a:rPr>
              <a:t>ENVIRONMENT</a:t>
            </a:r>
            <a:endParaRPr lang="en-US" sz="1800" b="0" u="none" strike="noStrike">
              <a:solidFill>
                <a:srgbClr val="FFFFFF"/>
              </a:solidFill>
              <a:effectLst/>
              <a:uFillTx/>
              <a:latin typeface="Arial"/>
            </a:endParaRPr>
          </a:p>
        </p:txBody>
      </p:sp>
      <p:sp>
        <p:nvSpPr>
          <p:cNvPr id="153" name="Text 11"/>
          <p:cNvSpPr/>
          <p:nvPr/>
        </p:nvSpPr>
        <p:spPr>
          <a:xfrm>
            <a:off x="6385680" y="6092280"/>
            <a:ext cx="5406120" cy="203796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50000"/>
              </a:lnSpc>
              <a:tabLst>
                <a:tab pos="0" algn="l"/>
              </a:tabLst>
            </a:pPr>
            <a:r>
              <a:rPr lang="en-US" sz="2100" b="0" u="none" strike="noStrike">
                <a:solidFill>
                  <a:srgbClr val="F3ECE0"/>
                </a:solidFill>
                <a:effectLst/>
                <a:uFillTx/>
                <a:latin typeface="Arial"/>
                <a:ea typeface="Arial"/>
              </a:rPr>
              <a:t>↳ Native broadleaf returns at scale</a:t>
            </a:r>
            <a:endParaRPr lang="en-US" sz="2100" b="0" u="none" strike="noStrike">
              <a:solidFill>
                <a:srgbClr val="FFFFFF"/>
              </a:solidFill>
              <a:effectLst/>
              <a:uFillTx/>
              <a:latin typeface="Arial"/>
            </a:endParaRPr>
          </a:p>
          <a:p>
            <a:pPr defTabSz="914400">
              <a:lnSpc>
                <a:spcPct val="150000"/>
              </a:lnSpc>
              <a:tabLst>
                <a:tab pos="0" algn="l"/>
              </a:tabLst>
            </a:pPr>
            <a:r>
              <a:rPr lang="en-US" sz="2100" b="0" u="none" strike="noStrike">
                <a:solidFill>
                  <a:srgbClr val="F3ECE0"/>
                </a:solidFill>
                <a:effectLst/>
                <a:uFillTx/>
                <a:latin typeface="Arial"/>
                <a:ea typeface="Arial"/>
              </a:rPr>
              <a:t>↳ Cedar pollen burden goes down</a:t>
            </a:r>
            <a:endParaRPr lang="en-US" sz="2100" b="0" u="none" strike="noStrike">
              <a:solidFill>
                <a:srgbClr val="FFFFFF"/>
              </a:solidFill>
              <a:effectLst/>
              <a:uFillTx/>
              <a:latin typeface="Arial"/>
            </a:endParaRPr>
          </a:p>
          <a:p>
            <a:pPr defTabSz="914400">
              <a:lnSpc>
                <a:spcPct val="150000"/>
              </a:lnSpc>
              <a:tabLst>
                <a:tab pos="0" algn="l"/>
              </a:tabLst>
            </a:pPr>
            <a:r>
              <a:rPr lang="en-US" sz="2100" b="0" u="none" strike="noStrike">
                <a:solidFill>
                  <a:srgbClr val="F3ECE0"/>
                </a:solidFill>
                <a:effectLst/>
                <a:uFillTx/>
                <a:latin typeface="Arial"/>
                <a:ea typeface="Arial"/>
              </a:rPr>
              <a:t>↳ Wildlife pressure on farms drops</a:t>
            </a:r>
            <a:endParaRPr lang="en-US" sz="2100" b="0" u="none" strike="noStrike">
              <a:solidFill>
                <a:srgbClr val="FFFFFF"/>
              </a:solidFill>
              <a:effectLst/>
              <a:uFillTx/>
              <a:latin typeface="Arial"/>
            </a:endParaRPr>
          </a:p>
          <a:p>
            <a:pPr defTabSz="914400">
              <a:lnSpc>
                <a:spcPct val="150000"/>
              </a:lnSpc>
              <a:tabLst>
                <a:tab pos="0" algn="l"/>
              </a:tabLst>
            </a:pPr>
            <a:r>
              <a:rPr lang="en-US" sz="2100" b="0" u="none" strike="noStrike">
                <a:solidFill>
                  <a:srgbClr val="F3ECE0"/>
                </a:solidFill>
                <a:effectLst/>
                <a:uFillTx/>
                <a:latin typeface="Arial"/>
                <a:ea typeface="Arial"/>
              </a:rPr>
              <a:t>↳ Landslide risk reduces with age</a:t>
            </a:r>
            <a:endParaRPr lang="en-US" sz="2100" b="0" u="none" strike="noStrike">
              <a:solidFill>
                <a:srgbClr val="FFFFFF"/>
              </a:solidFill>
              <a:effectLst/>
              <a:uFillTx/>
              <a:latin typeface="Arial"/>
            </a:endParaRPr>
          </a:p>
          <a:p>
            <a:pPr defTabSz="914400">
              <a:lnSpc>
                <a:spcPct val="150000"/>
              </a:lnSpc>
              <a:tabLst>
                <a:tab pos="0" algn="l"/>
              </a:tabLst>
            </a:pPr>
            <a:r>
              <a:rPr lang="en-US" sz="2100" b="0" u="none" strike="noStrike">
                <a:solidFill>
                  <a:srgbClr val="F3ECE0"/>
                </a:solidFill>
                <a:effectLst/>
                <a:uFillTx/>
                <a:latin typeface="Arial"/>
                <a:ea typeface="Arial"/>
              </a:rPr>
              <a:t>↳ 100% local renewable energy mix</a:t>
            </a:r>
            <a:endParaRPr lang="en-US" sz="2100" b="0" u="none" strike="noStrike">
              <a:solidFill>
                <a:srgbClr val="FFFFFF"/>
              </a:solidFill>
              <a:effectLst/>
              <a:uFillTx/>
              <a:latin typeface="Arial"/>
            </a:endParaRPr>
          </a:p>
        </p:txBody>
      </p:sp>
      <p:sp>
        <p:nvSpPr>
          <p:cNvPr id="154" name="Shape 12"/>
          <p:cNvSpPr/>
          <p:nvPr/>
        </p:nvSpPr>
        <p:spPr>
          <a:xfrm>
            <a:off x="12096720" y="5349240"/>
            <a:ext cx="5143320" cy="18720"/>
          </a:xfrm>
          <a:prstGeom prst="rect">
            <a:avLst/>
          </a:prstGeom>
          <a:solidFill>
            <a:srgbClr val="F3ECE0"/>
          </a:solidFill>
          <a:ln w="0">
            <a:noFill/>
          </a:ln>
        </p:spPr>
        <p:style>
          <a:lnRef idx="0"/>
          <a:fillRef idx="0"/>
          <a:effectRef idx="0"/>
          <a:fontRef idx="minor"/>
        </p:style>
        <p:txBody>
          <a:bodyPr lIns="90000" tIns="-25920" rIns="90000" bIns="-25920" anchor="t">
            <a:noAutofit/>
          </a:bodyPr>
          <a:p>
            <a:endParaRPr lang="en-US" sz="1800" b="0" u="none" strike="noStrike">
              <a:solidFill>
                <a:srgbClr val="000000"/>
              </a:solidFill>
              <a:effectLst/>
              <a:uFillTx/>
              <a:latin typeface="Arial"/>
            </a:endParaRPr>
          </a:p>
        </p:txBody>
      </p:sp>
      <p:sp>
        <p:nvSpPr>
          <p:cNvPr id="155" name="Text 13"/>
          <p:cNvSpPr/>
          <p:nvPr/>
        </p:nvSpPr>
        <p:spPr>
          <a:xfrm>
            <a:off x="12096720" y="5596920"/>
            <a:ext cx="529740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215" strike="noStrike">
                <a:solidFill>
                  <a:srgbClr val="F3ECE0">
                    <a:alpha val="67000"/>
                  </a:srgbClr>
                </a:solidFill>
                <a:effectLst/>
                <a:uFillTx/>
                <a:latin typeface="Courier New"/>
                <a:ea typeface="Courier New"/>
              </a:rPr>
              <a:t>BEYOND MITSUE</a:t>
            </a:r>
            <a:endParaRPr lang="en-US" sz="1800" b="0" u="none" strike="noStrike">
              <a:solidFill>
                <a:srgbClr val="FFFFFF"/>
              </a:solidFill>
              <a:effectLst/>
              <a:uFillTx/>
              <a:latin typeface="Arial"/>
            </a:endParaRPr>
          </a:p>
        </p:txBody>
      </p:sp>
      <p:sp>
        <p:nvSpPr>
          <p:cNvPr id="156" name="Text 14"/>
          <p:cNvSpPr/>
          <p:nvPr/>
        </p:nvSpPr>
        <p:spPr>
          <a:xfrm>
            <a:off x="11910240" y="6092280"/>
            <a:ext cx="5406120" cy="203796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50000"/>
              </a:lnSpc>
              <a:tabLst>
                <a:tab pos="0" algn="l"/>
              </a:tabLst>
            </a:pPr>
            <a:r>
              <a:rPr lang="en-US" sz="2100" b="0" u="none" strike="noStrike">
                <a:solidFill>
                  <a:srgbClr val="F3ECE0"/>
                </a:solidFill>
                <a:effectLst/>
                <a:uFillTx/>
                <a:latin typeface="Arial"/>
                <a:ea typeface="Arial"/>
              </a:rPr>
              <a:t>↳ Methods + data published openly</a:t>
            </a:r>
            <a:endParaRPr lang="en-US" sz="2100" b="0" u="none" strike="noStrike">
              <a:solidFill>
                <a:srgbClr val="FFFFFF"/>
              </a:solidFill>
              <a:effectLst/>
              <a:uFillTx/>
              <a:latin typeface="Arial"/>
            </a:endParaRPr>
          </a:p>
          <a:p>
            <a:pPr defTabSz="914400">
              <a:lnSpc>
                <a:spcPct val="150000"/>
              </a:lnSpc>
              <a:tabLst>
                <a:tab pos="0" algn="l"/>
              </a:tabLst>
            </a:pPr>
            <a:r>
              <a:rPr lang="en-US" sz="2100" b="0" u="none" strike="noStrike">
                <a:solidFill>
                  <a:srgbClr val="F3ECE0"/>
                </a:solidFill>
                <a:effectLst/>
                <a:uFillTx/>
                <a:latin typeface="Arial"/>
                <a:ea typeface="Arial"/>
              </a:rPr>
              <a:t>↳ A replicable rural template</a:t>
            </a:r>
            <a:endParaRPr lang="en-US" sz="2100" b="0" u="none" strike="noStrike">
              <a:solidFill>
                <a:srgbClr val="FFFFFF"/>
              </a:solidFill>
              <a:effectLst/>
              <a:uFillTx/>
              <a:latin typeface="Arial"/>
            </a:endParaRPr>
          </a:p>
          <a:p>
            <a:pPr defTabSz="914400">
              <a:lnSpc>
                <a:spcPct val="150000"/>
              </a:lnSpc>
              <a:tabLst>
                <a:tab pos="0" algn="l"/>
              </a:tabLst>
            </a:pPr>
            <a:r>
              <a:rPr lang="en-US" sz="2100" b="0" u="none" strike="noStrike">
                <a:solidFill>
                  <a:srgbClr val="F3ECE0"/>
                </a:solidFill>
                <a:effectLst/>
                <a:uFillTx/>
                <a:latin typeface="Arial"/>
                <a:ea typeface="Arial"/>
              </a:rPr>
              <a:t>↳ CC-BY documents, open licences</a:t>
            </a:r>
            <a:endParaRPr lang="en-US" sz="2100" b="0" u="none" strike="noStrike">
              <a:solidFill>
                <a:srgbClr val="FFFFFF"/>
              </a:solidFill>
              <a:effectLst/>
              <a:uFillTx/>
              <a:latin typeface="Arial"/>
            </a:endParaRPr>
          </a:p>
          <a:p>
            <a:pPr defTabSz="914400">
              <a:lnSpc>
                <a:spcPct val="150000"/>
              </a:lnSpc>
              <a:tabLst>
                <a:tab pos="0" algn="l"/>
              </a:tabLst>
            </a:pPr>
            <a:r>
              <a:rPr lang="en-US" sz="2100" b="0" u="none" strike="noStrike">
                <a:solidFill>
                  <a:srgbClr val="F3ECE0"/>
                </a:solidFill>
                <a:effectLst/>
                <a:uFillTx/>
                <a:latin typeface="Arial"/>
                <a:ea typeface="Arial"/>
              </a:rPr>
              <a:t>↳ Designed to be copied, not franchised</a:t>
            </a:r>
            <a:endParaRPr lang="en-US" sz="2100" b="0" u="none" strike="noStrike">
              <a:solidFill>
                <a:srgbClr val="FFFFFF"/>
              </a:solidFill>
              <a:effectLst/>
              <a:uFillTx/>
              <a:latin typeface="Arial"/>
            </a:endParaRPr>
          </a:p>
          <a:p>
            <a:pPr defTabSz="914400">
              <a:lnSpc>
                <a:spcPct val="150000"/>
              </a:lnSpc>
              <a:tabLst>
                <a:tab pos="0" algn="l"/>
              </a:tabLst>
            </a:pPr>
            <a:r>
              <a:rPr lang="en-US" sz="2100" b="0" u="none" strike="noStrike">
                <a:solidFill>
                  <a:srgbClr val="F3ECE0"/>
                </a:solidFill>
                <a:effectLst/>
                <a:uFillTx/>
                <a:latin typeface="Arial"/>
                <a:ea typeface="Arial"/>
              </a:rPr>
              <a:t>↳ A bridge to small-scale fusion era</a:t>
            </a:r>
            <a:endParaRPr lang="en-US" sz="2100" b="0" u="none" strike="noStrike">
              <a:solidFill>
                <a:srgbClr val="FFFFFF"/>
              </a:solidFill>
              <a:effectLst/>
              <a:uFillTx/>
              <a:latin typeface="Arial"/>
            </a:endParaRPr>
          </a:p>
        </p:txBody>
      </p:sp>
      <p:sp>
        <p:nvSpPr>
          <p:cNvPr id="157" name="Text 15"/>
          <p:cNvSpPr/>
          <p:nvPr/>
        </p:nvSpPr>
        <p:spPr>
          <a:xfrm>
            <a:off x="1047600" y="9258480"/>
            <a:ext cx="115452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F3ECE0">
                    <a:alpha val="67000"/>
                  </a:srgbClr>
                </a:solidFill>
                <a:effectLst/>
                <a:uFillTx/>
                <a:latin typeface="Courier New"/>
                <a:ea typeface="Courier New"/>
              </a:rPr>
              <a:t>08 / 11</a:t>
            </a:r>
            <a:endParaRPr lang="en-US" sz="1800" b="0" u="none" strike="noStrike">
              <a:solidFill>
                <a:srgbClr val="FFFFFF"/>
              </a:solidFill>
              <a:effectLst/>
              <a:uFillTx/>
              <a:latin typeface="Arial"/>
            </a:endParaRPr>
          </a:p>
        </p:txBody>
      </p:sp>
      <p:sp>
        <p:nvSpPr>
          <p:cNvPr id="158" name="Text 16"/>
          <p:cNvSpPr/>
          <p:nvPr/>
        </p:nvSpPr>
        <p:spPr>
          <a:xfrm>
            <a:off x="8235360" y="9258480"/>
            <a:ext cx="927468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F3ECE0">
                    <a:alpha val="67000"/>
                  </a:srgbClr>
                </a:solidFill>
                <a:effectLst/>
                <a:uFillTx/>
                <a:latin typeface="Courier New"/>
                <a:ea typeface="Courier New"/>
              </a:rPr>
              <a:t>LOCAL FIRST · OPEN AND TRANSPARENT · PATIENT AND LONG-TERM</a:t>
            </a:r>
            <a:endParaRPr lang="en-US"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ECE0"/>
        </a:solidFill>
      </p:bgPr>
    </p:bg>
    <p:spTree>
      <p:nvGrpSpPr>
        <p:cNvPr id="1" name=""/>
        <p:cNvGrpSpPr/>
        <p:nvPr/>
      </p:nvGrpSpPr>
      <p:grpSpPr>
        <a:xfrm>
          <a:off x="0" y="0"/>
          <a:ext cx="0" cy="0"/>
          <a:chOff x="0" y="0"/>
          <a:chExt cx="0" cy="0"/>
        </a:xfrm>
      </p:grpSpPr>
      <p:sp>
        <p:nvSpPr>
          <p:cNvPr id="159" name="Shape 0"/>
          <p:cNvSpPr/>
          <p:nvPr/>
        </p:nvSpPr>
        <p:spPr>
          <a:xfrm>
            <a:off x="1047600" y="762120"/>
            <a:ext cx="456840" cy="456840"/>
          </a:xfrm>
          <a:prstGeom prst="ellipse">
            <a:avLst/>
          </a:prstGeom>
          <a:solidFill>
            <a:srgbClr val="2F4A37"/>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60" name="Text 1"/>
          <p:cNvSpPr/>
          <p:nvPr/>
        </p:nvSpPr>
        <p:spPr>
          <a:xfrm>
            <a:off x="1047600" y="762120"/>
            <a:ext cx="533160" cy="4950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zh-CN" sz="1950" b="1" u="none" spc="145" strike="noStrike">
                <a:solidFill>
                  <a:srgbClr val="F3ECE0"/>
                </a:solidFill>
                <a:effectLst/>
                <a:uFillTx/>
                <a:latin typeface="Noto Serif JP"/>
                <a:ea typeface="Noto Serif JP"/>
              </a:rPr>
              <a:t>御</a:t>
            </a:r>
            <a:endParaRPr lang="en-US" sz="1950" b="0" u="none" strike="noStrike">
              <a:solidFill>
                <a:srgbClr val="000000"/>
              </a:solidFill>
              <a:effectLst/>
              <a:uFillTx/>
              <a:latin typeface="Arial"/>
            </a:endParaRPr>
          </a:p>
        </p:txBody>
      </p:sp>
      <p:sp>
        <p:nvSpPr>
          <p:cNvPr id="161" name="Text 2"/>
          <p:cNvSpPr/>
          <p:nvPr/>
        </p:nvSpPr>
        <p:spPr>
          <a:xfrm>
            <a:off x="1638360" y="857160"/>
            <a:ext cx="224244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4C554F"/>
                </a:solidFill>
                <a:effectLst/>
                <a:uFillTx/>
                <a:latin typeface="Courier New"/>
                <a:ea typeface="Courier New"/>
              </a:rPr>
              <a:t>MITSUE PROJECT</a:t>
            </a:r>
            <a:endParaRPr lang="en-US" sz="1800" b="0" u="none" strike="noStrike">
              <a:solidFill>
                <a:srgbClr val="000000"/>
              </a:solidFill>
              <a:effectLst/>
              <a:uFillTx/>
              <a:latin typeface="Arial"/>
            </a:endParaRPr>
          </a:p>
        </p:txBody>
      </p:sp>
      <p:sp>
        <p:nvSpPr>
          <p:cNvPr id="162" name="Text 3"/>
          <p:cNvSpPr/>
          <p:nvPr/>
        </p:nvSpPr>
        <p:spPr>
          <a:xfrm>
            <a:off x="11654640" y="762120"/>
            <a:ext cx="575316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4C554F"/>
                </a:solidFill>
                <a:effectLst/>
                <a:uFillTx/>
                <a:latin typeface="Courier New"/>
                <a:ea typeface="Courier New"/>
              </a:rPr>
              <a:t>§ 08 · WHERE WE ARE TODAY · MAY 2026</a:t>
            </a:r>
            <a:endParaRPr lang="en-US" sz="1800" b="0" u="none" strike="noStrike">
              <a:solidFill>
                <a:srgbClr val="000000"/>
              </a:solidFill>
              <a:effectLst/>
              <a:uFillTx/>
              <a:latin typeface="Arial"/>
            </a:endParaRPr>
          </a:p>
        </p:txBody>
      </p:sp>
      <p:sp>
        <p:nvSpPr>
          <p:cNvPr id="163" name="Text 4"/>
          <p:cNvSpPr/>
          <p:nvPr/>
        </p:nvSpPr>
        <p:spPr>
          <a:xfrm>
            <a:off x="1047600" y="1657440"/>
            <a:ext cx="8324640" cy="3805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800" b="0" u="none" spc="215" strike="noStrike">
                <a:solidFill>
                  <a:srgbClr val="4C554F"/>
                </a:solidFill>
                <a:effectLst/>
                <a:uFillTx/>
                <a:latin typeface="Courier New"/>
                <a:ea typeface="Courier New"/>
              </a:rPr>
              <a:t>PHASE 0 · PRE-FOUNDATION · </a:t>
            </a:r>
            <a:r>
              <a:rPr lang="zh-CN" sz="1800" b="0" u="none" spc="215" strike="noStrike">
                <a:solidFill>
                  <a:srgbClr val="4C554F"/>
                </a:solidFill>
                <a:effectLst/>
                <a:uFillTx/>
                <a:latin typeface="Courier New"/>
                <a:ea typeface="Courier New"/>
              </a:rPr>
              <a:t>準備期</a:t>
            </a:r>
            <a:endParaRPr lang="en-US" sz="1800" b="0" u="none" strike="noStrike">
              <a:solidFill>
                <a:srgbClr val="000000"/>
              </a:solidFill>
              <a:effectLst/>
              <a:uFillTx/>
              <a:latin typeface="Arial"/>
            </a:endParaRPr>
          </a:p>
        </p:txBody>
      </p:sp>
      <p:sp>
        <p:nvSpPr>
          <p:cNvPr id="164" name="Text 5"/>
          <p:cNvSpPr/>
          <p:nvPr/>
        </p:nvSpPr>
        <p:spPr>
          <a:xfrm>
            <a:off x="1047600" y="2133720"/>
            <a:ext cx="8324640" cy="5000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7800" b="0" u="none" spc="-79" strike="noStrike">
                <a:solidFill>
                  <a:srgbClr val="1F2A24"/>
                </a:solidFill>
                <a:effectLst/>
                <a:uFillTx/>
                <a:latin typeface="Georgia"/>
                <a:ea typeface="Georgia"/>
              </a:rPr>
              <a:t>Quiet on purpose. </a:t>
            </a:r>
            <a:r>
              <a:rPr lang="en-US" sz="7800" b="0" i="1" u="none" spc="-79" strike="noStrike">
                <a:solidFill>
                  <a:srgbClr val="C4663A"/>
                </a:solidFill>
                <a:effectLst/>
                <a:uFillTx/>
                <a:latin typeface="Georgia"/>
                <a:ea typeface="Georgia"/>
              </a:rPr>
              <a:t>No press, </a:t>
            </a:r>
            <a:r>
              <a:rPr lang="en-US" sz="7800" b="0" u="none" spc="-79" strike="noStrike">
                <a:solidFill>
                  <a:srgbClr val="1F2A24"/>
                </a:solidFill>
                <a:effectLst/>
                <a:uFillTx/>
                <a:latin typeface="Georgia"/>
                <a:ea typeface="Georgia"/>
              </a:rPr>
              <a:t>no website launch, no founder hoodies.</a:t>
            </a:r>
            <a:endParaRPr lang="en-US" sz="7800" b="0" u="none" strike="noStrike">
              <a:solidFill>
                <a:srgbClr val="000000"/>
              </a:solidFill>
              <a:effectLst/>
              <a:uFillTx/>
              <a:latin typeface="Arial"/>
            </a:endParaRPr>
          </a:p>
        </p:txBody>
      </p:sp>
      <p:sp>
        <p:nvSpPr>
          <p:cNvPr id="165" name="Text 6"/>
          <p:cNvSpPr/>
          <p:nvPr/>
        </p:nvSpPr>
        <p:spPr>
          <a:xfrm>
            <a:off x="1047600" y="7362720"/>
            <a:ext cx="8246520" cy="119772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45000"/>
              </a:lnSpc>
              <a:tabLst>
                <a:tab pos="0" algn="l"/>
              </a:tabLst>
            </a:pPr>
            <a:r>
              <a:rPr lang="en-US" sz="2100" b="0" u="none" strike="noStrike">
                <a:solidFill>
                  <a:srgbClr val="1F2A24"/>
                </a:solidFill>
                <a:effectLst/>
                <a:uFillTx/>
                <a:latin typeface="Arial"/>
                <a:ea typeface="Arial"/>
              </a:rPr>
              <a:t>Phase 0 is local trust-building, founding-team formation, and clean drafting of the charter. Self-funded, ¥0–0.5M. The work that matters right now is meetings, not announcements.</a:t>
            </a:r>
            <a:endParaRPr lang="en-US" sz="2100" b="0" u="none" strike="noStrike">
              <a:solidFill>
                <a:srgbClr val="000000"/>
              </a:solidFill>
              <a:effectLst/>
              <a:uFillTx/>
              <a:latin typeface="Arial"/>
            </a:endParaRPr>
          </a:p>
        </p:txBody>
      </p:sp>
      <p:sp>
        <p:nvSpPr>
          <p:cNvPr id="166" name="Shape 7"/>
          <p:cNvSpPr/>
          <p:nvPr/>
        </p:nvSpPr>
        <p:spPr>
          <a:xfrm>
            <a:off x="1047600" y="8865720"/>
            <a:ext cx="8082360" cy="9000"/>
          </a:xfrm>
          <a:prstGeom prst="rect">
            <a:avLst/>
          </a:prstGeom>
          <a:solidFill>
            <a:srgbClr val="1F2A24">
              <a:alpha val="50000"/>
            </a:srgbClr>
          </a:solidFill>
          <a:ln w="0">
            <a:noFill/>
          </a:ln>
        </p:spPr>
        <p:style>
          <a:lnRef idx="0"/>
          <a:fillRef idx="0"/>
          <a:effectRef idx="0"/>
          <a:fontRef idx="minor"/>
        </p:style>
        <p:txBody>
          <a:bodyPr lIns="90000" tIns="-35640" rIns="90000" bIns="-35640" anchor="t">
            <a:noAutofit/>
          </a:bodyPr>
          <a:p>
            <a:endParaRPr lang="en-US" sz="1800" b="0" u="none" strike="noStrike">
              <a:solidFill>
                <a:srgbClr val="FFFFFF"/>
              </a:solidFill>
              <a:effectLst/>
              <a:uFillTx/>
              <a:latin typeface="Arial"/>
            </a:endParaRPr>
          </a:p>
        </p:txBody>
      </p:sp>
      <p:sp>
        <p:nvSpPr>
          <p:cNvPr id="167" name="Text 8"/>
          <p:cNvSpPr/>
          <p:nvPr/>
        </p:nvSpPr>
        <p:spPr>
          <a:xfrm>
            <a:off x="1047600" y="9084960"/>
            <a:ext cx="832464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215" strike="noStrike">
                <a:solidFill>
                  <a:srgbClr val="4C554F"/>
                </a:solidFill>
                <a:effectLst/>
                <a:uFillTx/>
                <a:latin typeface="Courier New"/>
                <a:ea typeface="Courier New"/>
              </a:rPr>
              <a:t>ADVISORY COMMITMENTS</a:t>
            </a:r>
            <a:endParaRPr lang="en-US" sz="1800" b="0" u="none" strike="noStrike">
              <a:solidFill>
                <a:srgbClr val="000000"/>
              </a:solidFill>
              <a:effectLst/>
              <a:uFillTx/>
              <a:latin typeface="Arial"/>
            </a:endParaRPr>
          </a:p>
        </p:txBody>
      </p:sp>
      <p:sp>
        <p:nvSpPr>
          <p:cNvPr id="168" name="Text 9"/>
          <p:cNvSpPr/>
          <p:nvPr/>
        </p:nvSpPr>
        <p:spPr>
          <a:xfrm>
            <a:off x="1047600" y="9523080"/>
            <a:ext cx="3336840" cy="53316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0000"/>
              </a:lnSpc>
              <a:tabLst>
                <a:tab pos="0" algn="l"/>
              </a:tabLst>
            </a:pPr>
            <a:r>
              <a:rPr lang="en-US" sz="3900" b="0" u="none" spc="-40" strike="noStrike">
                <a:solidFill>
                  <a:srgbClr val="1F2A24"/>
                </a:solidFill>
                <a:effectLst/>
                <a:uFillTx/>
                <a:latin typeface="Georgia"/>
                <a:ea typeface="Georgia"/>
              </a:rPr>
              <a:t>Joi Ito</a:t>
            </a:r>
            <a:endParaRPr lang="en-US" sz="3900" b="0" u="none" strike="noStrike">
              <a:solidFill>
                <a:srgbClr val="000000"/>
              </a:solidFill>
              <a:effectLst/>
              <a:uFillTx/>
              <a:latin typeface="Arial"/>
            </a:endParaRPr>
          </a:p>
        </p:txBody>
      </p:sp>
      <p:sp>
        <p:nvSpPr>
          <p:cNvPr id="169" name="Text 10"/>
          <p:cNvSpPr/>
          <p:nvPr/>
        </p:nvSpPr>
        <p:spPr>
          <a:xfrm>
            <a:off x="1047600" y="10018440"/>
            <a:ext cx="3336840" cy="36936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pPr>
            <a:r>
              <a:rPr lang="en-US" sz="1800" b="0" u="none" strike="noStrike">
                <a:solidFill>
                  <a:srgbClr val="4C554F"/>
                </a:solidFill>
                <a:effectLst/>
                <a:uFillTx/>
                <a:latin typeface="Arial"/>
                <a:ea typeface="Arial"/>
              </a:rPr>
              <a:t>Former Director, MIT Media Lab</a:t>
            </a:r>
            <a:endParaRPr lang="en-US" sz="1800" b="0" u="none" strike="noStrike">
              <a:solidFill>
                <a:srgbClr val="000000"/>
              </a:solidFill>
              <a:effectLst/>
              <a:uFillTx/>
              <a:latin typeface="Arial"/>
            </a:endParaRPr>
          </a:p>
        </p:txBody>
      </p:sp>
      <p:sp>
        <p:nvSpPr>
          <p:cNvPr id="170" name="Text 11"/>
          <p:cNvSpPr/>
          <p:nvPr/>
        </p:nvSpPr>
        <p:spPr>
          <a:xfrm>
            <a:off x="4611600" y="9523080"/>
            <a:ext cx="3808080" cy="53316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0000"/>
              </a:lnSpc>
              <a:tabLst>
                <a:tab pos="0" algn="l"/>
              </a:tabLst>
            </a:pPr>
            <a:r>
              <a:rPr lang="en-US" sz="3900" b="0" u="none" spc="-40" strike="noStrike">
                <a:solidFill>
                  <a:srgbClr val="1F2A24"/>
                </a:solidFill>
                <a:effectLst/>
                <a:uFillTx/>
                <a:latin typeface="Georgia"/>
                <a:ea typeface="Georgia"/>
              </a:rPr>
              <a:t>Ray Ozzie</a:t>
            </a:r>
            <a:endParaRPr lang="en-US" sz="3900" b="0" u="none" strike="noStrike">
              <a:solidFill>
                <a:srgbClr val="000000"/>
              </a:solidFill>
              <a:effectLst/>
              <a:uFillTx/>
              <a:latin typeface="Arial"/>
            </a:endParaRPr>
          </a:p>
        </p:txBody>
      </p:sp>
      <p:sp>
        <p:nvSpPr>
          <p:cNvPr id="171" name="Text 12"/>
          <p:cNvSpPr/>
          <p:nvPr/>
        </p:nvSpPr>
        <p:spPr>
          <a:xfrm>
            <a:off x="4611600" y="10018440"/>
            <a:ext cx="3808080" cy="36936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pPr>
            <a:r>
              <a:rPr lang="en-US" sz="1800" b="0" u="none" strike="noStrike">
                <a:solidFill>
                  <a:srgbClr val="4C554F"/>
                </a:solidFill>
                <a:effectLst/>
                <a:uFillTx/>
                <a:latin typeface="Arial"/>
                <a:ea typeface="Arial"/>
              </a:rPr>
              <a:t>Software pioneer · ex-Microsoft CSA</a:t>
            </a:r>
            <a:endParaRPr lang="en-US" sz="1800" b="0" u="none" strike="noStrike">
              <a:solidFill>
                <a:srgbClr val="000000"/>
              </a:solidFill>
              <a:effectLst/>
              <a:uFillTx/>
              <a:latin typeface="Arial"/>
            </a:endParaRPr>
          </a:p>
        </p:txBody>
      </p:sp>
      <p:sp>
        <p:nvSpPr>
          <p:cNvPr id="172" name="Shape 13"/>
          <p:cNvSpPr/>
          <p:nvPr/>
        </p:nvSpPr>
        <p:spPr>
          <a:xfrm>
            <a:off x="9892440" y="1657440"/>
            <a:ext cx="7347600" cy="2757600"/>
          </a:xfrm>
          <a:prstGeom prst="rect">
            <a:avLst/>
          </a:prstGeom>
          <a:solidFill>
            <a:srgbClr val="ECE3D3"/>
          </a:solidFill>
          <a:ln w="9525">
            <a:solidFill>
              <a:srgbClr val="1F2A24"/>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73" name="Text 14"/>
          <p:cNvSpPr/>
          <p:nvPr/>
        </p:nvSpPr>
        <p:spPr>
          <a:xfrm>
            <a:off x="10187640" y="1914480"/>
            <a:ext cx="6959880" cy="3330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800" b="0" u="none" spc="215" strike="noStrike">
                <a:solidFill>
                  <a:srgbClr val="2F4A37"/>
                </a:solidFill>
                <a:effectLst/>
                <a:uFillTx/>
                <a:latin typeface="Courier New"/>
                <a:ea typeface="Courier New"/>
              </a:rPr>
              <a:t>✓ COMPLETED</a:t>
            </a:r>
            <a:endParaRPr lang="en-US" sz="1800" b="0" u="none" strike="noStrike">
              <a:solidFill>
                <a:srgbClr val="000000"/>
              </a:solidFill>
              <a:effectLst/>
              <a:uFillTx/>
              <a:latin typeface="Arial"/>
            </a:endParaRPr>
          </a:p>
        </p:txBody>
      </p:sp>
      <p:sp>
        <p:nvSpPr>
          <p:cNvPr id="174" name="Text 15"/>
          <p:cNvSpPr/>
          <p:nvPr/>
        </p:nvSpPr>
        <p:spPr>
          <a:xfrm>
            <a:off x="10237320" y="2343240"/>
            <a:ext cx="6783840" cy="1709280"/>
          </a:xfrm>
          <a:prstGeom prst="rect">
            <a:avLst/>
          </a:prstGeom>
          <a:noFill/>
          <a:ln w="0">
            <a:noFill/>
          </a:ln>
        </p:spPr>
        <p:style>
          <a:lnRef idx="0"/>
          <a:fillRef idx="0"/>
          <a:effectRef idx="0"/>
          <a:fontRef idx="minor"/>
        </p:style>
        <p:txBody>
          <a:bodyPr lIns="25560" tIns="25560" rIns="25560" bIns="25560" anchor="t">
            <a:normAutofit fontScale="92500" lnSpcReduction="9999"/>
          </a:bodyPr>
          <a:p>
            <a:pPr marL="160200" indent="-160200" defTabSz="914400">
              <a:lnSpc>
                <a:spcPct val="140000"/>
              </a:lnSpc>
              <a:buClr>
                <a:srgbClr val="1F2A24"/>
              </a:buClr>
              <a:buFont typeface="Symbol" charset="2"/>
              <a:buChar char=""/>
              <a:tabLst>
                <a:tab pos="160200" algn="l"/>
              </a:tabLst>
            </a:pPr>
            <a:r>
              <a:rPr lang="en-US" sz="1800" b="0" u="none" strike="noStrike">
                <a:solidFill>
                  <a:srgbClr val="1F2A24"/>
                </a:solidFill>
                <a:effectLst/>
                <a:uFillTx/>
                <a:latin typeface="Arial"/>
                <a:ea typeface="Arial"/>
              </a:rPr>
              <a:t>Initial meeting with Vice Mayor of Mitsue (late 2025)</a:t>
            </a:r>
            <a:endParaRPr lang="en-US" sz="1800" b="0" u="none" strike="noStrike">
              <a:solidFill>
                <a:srgbClr val="000000"/>
              </a:solidFill>
              <a:effectLst/>
              <a:uFillTx/>
              <a:latin typeface="Arial"/>
            </a:endParaRPr>
          </a:p>
          <a:p>
            <a:pPr marL="160200" indent="-160200" defTabSz="914400">
              <a:lnSpc>
                <a:spcPct val="140000"/>
              </a:lnSpc>
              <a:buClr>
                <a:srgbClr val="1F2A24"/>
              </a:buClr>
              <a:buFont typeface="Symbol" charset="2"/>
              <a:buChar char=""/>
              <a:tabLst>
                <a:tab pos="160200" algn="l"/>
              </a:tabLst>
            </a:pPr>
            <a:r>
              <a:rPr lang="en-US" sz="1800" b="0" u="none" strike="noStrike">
                <a:solidFill>
                  <a:srgbClr val="1F2A24"/>
                </a:solidFill>
                <a:effectLst/>
                <a:uFillTx/>
                <a:latin typeface="Arial"/>
                <a:ea typeface="Arial"/>
              </a:rPr>
              <a:t>Initial meeting with local forestry group (early 2026)</a:t>
            </a:r>
            <a:endParaRPr lang="en-US" sz="1800" b="0" u="none" strike="noStrike">
              <a:solidFill>
                <a:srgbClr val="000000"/>
              </a:solidFill>
              <a:effectLst/>
              <a:uFillTx/>
              <a:latin typeface="Arial"/>
            </a:endParaRPr>
          </a:p>
          <a:p>
            <a:pPr marL="160200" indent="-160200" defTabSz="914400">
              <a:lnSpc>
                <a:spcPct val="140000"/>
              </a:lnSpc>
              <a:buClr>
                <a:srgbClr val="1F2A24"/>
              </a:buClr>
              <a:buFont typeface="Symbol" charset="2"/>
              <a:buChar char=""/>
              <a:tabLst>
                <a:tab pos="160200" algn="l"/>
              </a:tabLst>
            </a:pPr>
            <a:r>
              <a:rPr lang="en-US" sz="1800" b="0" u="none" strike="noStrike">
                <a:solidFill>
                  <a:srgbClr val="1F2A24"/>
                </a:solidFill>
                <a:effectLst/>
                <a:uFillTx/>
                <a:latin typeface="Arial"/>
                <a:ea typeface="Arial"/>
              </a:rPr>
              <a:t>Founding charter + implementation plan drafted</a:t>
            </a:r>
            <a:endParaRPr lang="en-US" sz="1800" b="0" u="none" strike="noStrike">
              <a:solidFill>
                <a:srgbClr val="000000"/>
              </a:solidFill>
              <a:effectLst/>
              <a:uFillTx/>
              <a:latin typeface="Arial"/>
            </a:endParaRPr>
          </a:p>
          <a:p>
            <a:pPr marL="160200" indent="-160200" defTabSz="914400">
              <a:lnSpc>
                <a:spcPct val="140000"/>
              </a:lnSpc>
              <a:buClr>
                <a:srgbClr val="1F2A24"/>
              </a:buClr>
              <a:buFont typeface="Symbol" charset="2"/>
              <a:buChar char=""/>
              <a:tabLst>
                <a:tab pos="160200" algn="l"/>
              </a:tabLst>
            </a:pPr>
            <a:r>
              <a:rPr lang="en-US" sz="1800" b="0" u="none" strike="noStrike">
                <a:solidFill>
                  <a:srgbClr val="1F2A24"/>
                </a:solidFill>
                <a:effectLst/>
                <a:uFillTx/>
                <a:latin typeface="Arial"/>
                <a:ea typeface="Arial"/>
              </a:rPr>
              <a:t>Phase / funding-gate flowchart published</a:t>
            </a:r>
            <a:endParaRPr lang="en-US" sz="1800" b="0" u="none" strike="noStrike">
              <a:solidFill>
                <a:srgbClr val="000000"/>
              </a:solidFill>
              <a:effectLst/>
              <a:uFillTx/>
              <a:latin typeface="Arial"/>
            </a:endParaRPr>
          </a:p>
          <a:p>
            <a:pPr marL="160200" indent="-160200" defTabSz="914400">
              <a:lnSpc>
                <a:spcPct val="140000"/>
              </a:lnSpc>
              <a:buClr>
                <a:srgbClr val="1F2A24"/>
              </a:buClr>
              <a:buFont typeface="Symbol" charset="2"/>
              <a:buChar char=""/>
              <a:tabLst>
                <a:tab pos="160200" algn="l"/>
              </a:tabLst>
            </a:pPr>
            <a:r>
              <a:rPr lang="en-US" sz="1800" b="0" u="none" strike="noStrike">
                <a:solidFill>
                  <a:srgbClr val="1F2A24"/>
                </a:solidFill>
                <a:effectLst/>
                <a:uFillTx/>
                <a:latin typeface="Arial"/>
                <a:ea typeface="Arial"/>
              </a:rPr>
              <a:t>Advisory commitments: Joi Ito, Ray Ozzie</a:t>
            </a:r>
            <a:endParaRPr lang="en-US" sz="1800" b="0" u="none" strike="noStrike">
              <a:solidFill>
                <a:srgbClr val="000000"/>
              </a:solidFill>
              <a:effectLst/>
              <a:uFillTx/>
              <a:latin typeface="Arial"/>
            </a:endParaRPr>
          </a:p>
        </p:txBody>
      </p:sp>
      <p:sp>
        <p:nvSpPr>
          <p:cNvPr id="175" name="Shape 16"/>
          <p:cNvSpPr/>
          <p:nvPr/>
        </p:nvSpPr>
        <p:spPr>
          <a:xfrm>
            <a:off x="9892440" y="4624560"/>
            <a:ext cx="7347600" cy="2757600"/>
          </a:xfrm>
          <a:prstGeom prst="rect">
            <a:avLst/>
          </a:prstGeom>
          <a:solidFill>
            <a:srgbClr val="ECE3D3"/>
          </a:solidFill>
          <a:ln w="9525">
            <a:solidFill>
              <a:srgbClr val="1F2A24"/>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76" name="Text 17"/>
          <p:cNvSpPr/>
          <p:nvPr/>
        </p:nvSpPr>
        <p:spPr>
          <a:xfrm>
            <a:off x="10187640" y="4881960"/>
            <a:ext cx="695988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215" strike="noStrike">
                <a:solidFill>
                  <a:srgbClr val="C4663A"/>
                </a:solidFill>
                <a:effectLst/>
                <a:uFillTx/>
                <a:latin typeface="Courier New"/>
                <a:ea typeface="Courier New"/>
              </a:rPr>
              <a:t>→ IN PROGRESS</a:t>
            </a:r>
            <a:endParaRPr lang="en-US" sz="1800" b="0" u="none" strike="noStrike">
              <a:solidFill>
                <a:srgbClr val="000000"/>
              </a:solidFill>
              <a:effectLst/>
              <a:uFillTx/>
              <a:latin typeface="Arial"/>
            </a:endParaRPr>
          </a:p>
        </p:txBody>
      </p:sp>
      <p:sp>
        <p:nvSpPr>
          <p:cNvPr id="177" name="Text 18"/>
          <p:cNvSpPr/>
          <p:nvPr/>
        </p:nvSpPr>
        <p:spPr>
          <a:xfrm>
            <a:off x="10237320" y="5281920"/>
            <a:ext cx="6783840" cy="1375200"/>
          </a:xfrm>
          <a:prstGeom prst="rect">
            <a:avLst/>
          </a:prstGeom>
          <a:noFill/>
          <a:ln w="0">
            <a:noFill/>
          </a:ln>
        </p:spPr>
        <p:style>
          <a:lnRef idx="0"/>
          <a:fillRef idx="0"/>
          <a:effectRef idx="0"/>
          <a:fontRef idx="minor"/>
        </p:style>
        <p:txBody>
          <a:bodyPr lIns="25560" tIns="25560" rIns="25560" bIns="25560" anchor="t">
            <a:normAutofit fontScale="92500" lnSpcReduction="9999"/>
          </a:bodyPr>
          <a:p>
            <a:pPr marL="160200" indent="-160200" defTabSz="914400">
              <a:lnSpc>
                <a:spcPct val="140000"/>
              </a:lnSpc>
              <a:buClr>
                <a:srgbClr val="1F2A24"/>
              </a:buClr>
              <a:buFont typeface="Symbol" charset="2"/>
              <a:buChar char=""/>
              <a:tabLst>
                <a:tab pos="160200" algn="l"/>
              </a:tabLst>
            </a:pPr>
            <a:r>
              <a:rPr lang="en-US" sz="1800" b="0" u="none" strike="noStrike">
                <a:solidFill>
                  <a:srgbClr val="1F2A24"/>
                </a:solidFill>
                <a:effectLst/>
                <a:uFillTx/>
                <a:latin typeface="Arial"/>
                <a:ea typeface="Arial"/>
              </a:rPr>
              <a:t>Identifying a Japanese co-founder with rural credibility</a:t>
            </a:r>
            <a:endParaRPr lang="en-US" sz="1800" b="0" u="none" strike="noStrike">
              <a:solidFill>
                <a:srgbClr val="000000"/>
              </a:solidFill>
              <a:effectLst/>
              <a:uFillTx/>
              <a:latin typeface="Arial"/>
            </a:endParaRPr>
          </a:p>
          <a:p>
            <a:pPr marL="160200" indent="-160200" defTabSz="914400">
              <a:lnSpc>
                <a:spcPct val="140000"/>
              </a:lnSpc>
              <a:buClr>
                <a:srgbClr val="1F2A24"/>
              </a:buClr>
              <a:buFont typeface="Symbol" charset="2"/>
              <a:buChar char=""/>
              <a:tabLst>
                <a:tab pos="160200" algn="l"/>
              </a:tabLst>
            </a:pPr>
            <a:r>
              <a:rPr lang="en-US" sz="1800" b="0" u="none" strike="noStrike">
                <a:solidFill>
                  <a:srgbClr val="1F2A24"/>
                </a:solidFill>
                <a:effectLst/>
                <a:uFillTx/>
                <a:latin typeface="Arial"/>
                <a:ea typeface="Arial"/>
              </a:rPr>
              <a:t>Scheduling a formal meeting with the Village Mayor</a:t>
            </a:r>
            <a:endParaRPr lang="en-US" sz="1800" b="0" u="none" strike="noStrike">
              <a:solidFill>
                <a:srgbClr val="000000"/>
              </a:solidFill>
              <a:effectLst/>
              <a:uFillTx/>
              <a:latin typeface="Arial"/>
            </a:endParaRPr>
          </a:p>
          <a:p>
            <a:pPr marL="160200" indent="-160200" defTabSz="914400">
              <a:lnSpc>
                <a:spcPct val="140000"/>
              </a:lnSpc>
              <a:buClr>
                <a:srgbClr val="1F2A24"/>
              </a:buClr>
              <a:buFont typeface="Symbol" charset="2"/>
              <a:buChar char=""/>
              <a:tabLst>
                <a:tab pos="160200" algn="l"/>
              </a:tabLst>
            </a:pPr>
            <a:r>
              <a:rPr lang="en-US" sz="1800" b="0" u="none" strike="noStrike">
                <a:solidFill>
                  <a:srgbClr val="1F2A24"/>
                </a:solidFill>
                <a:effectLst/>
                <a:uFillTx/>
                <a:latin typeface="Arial"/>
                <a:ea typeface="Arial"/>
              </a:rPr>
              <a:t>Drafting bylaws for a </a:t>
            </a:r>
            <a:r>
              <a:rPr lang="zh-CN" sz="1800" b="0" u="none" strike="noStrike">
                <a:solidFill>
                  <a:srgbClr val="1F2A24"/>
                </a:solidFill>
                <a:effectLst/>
                <a:uFillTx/>
                <a:latin typeface="Arial"/>
                <a:ea typeface="Arial"/>
              </a:rPr>
              <a:t>一般社団法人</a:t>
            </a:r>
            <a:endParaRPr lang="en-US" sz="1800" b="0" u="none" strike="noStrike">
              <a:solidFill>
                <a:srgbClr val="000000"/>
              </a:solidFill>
              <a:effectLst/>
              <a:uFillTx/>
              <a:latin typeface="Arial"/>
            </a:endParaRPr>
          </a:p>
          <a:p>
            <a:pPr marL="160200" indent="-160200" defTabSz="914400">
              <a:lnSpc>
                <a:spcPct val="140000"/>
              </a:lnSpc>
              <a:buClr>
                <a:srgbClr val="1F2A24"/>
              </a:buClr>
              <a:buFont typeface="Symbol" charset="2"/>
              <a:buChar char=""/>
              <a:tabLst>
                <a:tab pos="160200" algn="l"/>
              </a:tabLst>
            </a:pPr>
            <a:r>
              <a:rPr lang="en-US" sz="1800" b="0" u="none" strike="noStrike">
                <a:solidFill>
                  <a:srgbClr val="1F2A24"/>
                </a:solidFill>
                <a:effectLst/>
                <a:uFillTx/>
                <a:latin typeface="Arial"/>
                <a:ea typeface="Arial"/>
              </a:rPr>
              <a:t>Engaging a </a:t>
            </a:r>
            <a:r>
              <a:rPr lang="zh-CN" sz="1800" b="0" u="none" strike="noStrike">
                <a:solidFill>
                  <a:srgbClr val="1F2A24"/>
                </a:solidFill>
                <a:effectLst/>
                <a:uFillTx/>
                <a:latin typeface="Arial"/>
                <a:ea typeface="Arial"/>
              </a:rPr>
              <a:t>行政書士 </a:t>
            </a:r>
            <a:r>
              <a:rPr lang="en-US" sz="1800" b="0" u="none" strike="noStrike">
                <a:solidFill>
                  <a:srgbClr val="1F2A24"/>
                </a:solidFill>
                <a:effectLst/>
                <a:uFillTx/>
                <a:latin typeface="Arial"/>
                <a:ea typeface="Arial"/>
              </a:rPr>
              <a:t>(administrative scrivener) in Nara</a:t>
            </a:r>
            <a:endParaRPr lang="en-US" sz="1800" b="0" u="none" strike="noStrike">
              <a:solidFill>
                <a:srgbClr val="000000"/>
              </a:solidFill>
              <a:effectLst/>
              <a:uFillTx/>
              <a:latin typeface="Arial"/>
            </a:endParaRPr>
          </a:p>
        </p:txBody>
      </p:sp>
      <p:sp>
        <p:nvSpPr>
          <p:cNvPr id="178" name="Shape 19"/>
          <p:cNvSpPr/>
          <p:nvPr/>
        </p:nvSpPr>
        <p:spPr>
          <a:xfrm>
            <a:off x="9892440" y="7592040"/>
            <a:ext cx="7347600" cy="2757600"/>
          </a:xfrm>
          <a:prstGeom prst="rect">
            <a:avLst/>
          </a:prstGeom>
          <a:solidFill>
            <a:srgbClr val="ECE3D3"/>
          </a:solidFill>
          <a:ln w="9525">
            <a:solidFill>
              <a:srgbClr val="1F2A24"/>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79" name="Text 20"/>
          <p:cNvSpPr/>
          <p:nvPr/>
        </p:nvSpPr>
        <p:spPr>
          <a:xfrm>
            <a:off x="10187640" y="7849080"/>
            <a:ext cx="6959880" cy="3330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800" b="0" u="none" spc="215" strike="noStrike">
                <a:solidFill>
                  <a:srgbClr val="4C554F"/>
                </a:solidFill>
                <a:effectLst/>
                <a:uFillTx/>
                <a:latin typeface="Courier New"/>
                <a:ea typeface="Courier New"/>
              </a:rPr>
              <a:t>◌ NEXT 30 DAYS</a:t>
            </a:r>
            <a:endParaRPr lang="en-US" sz="1800" b="0" u="none" strike="noStrike">
              <a:solidFill>
                <a:srgbClr val="000000"/>
              </a:solidFill>
              <a:effectLst/>
              <a:uFillTx/>
              <a:latin typeface="Arial"/>
            </a:endParaRPr>
          </a:p>
        </p:txBody>
      </p:sp>
      <p:sp>
        <p:nvSpPr>
          <p:cNvPr id="180" name="Text 21"/>
          <p:cNvSpPr/>
          <p:nvPr/>
        </p:nvSpPr>
        <p:spPr>
          <a:xfrm>
            <a:off x="10237320" y="8277840"/>
            <a:ext cx="6783840" cy="1375200"/>
          </a:xfrm>
          <a:prstGeom prst="rect">
            <a:avLst/>
          </a:prstGeom>
          <a:noFill/>
          <a:ln w="0">
            <a:noFill/>
          </a:ln>
        </p:spPr>
        <p:style>
          <a:lnRef idx="0"/>
          <a:fillRef idx="0"/>
          <a:effectRef idx="0"/>
          <a:fontRef idx="minor"/>
        </p:style>
        <p:txBody>
          <a:bodyPr lIns="25560" tIns="25560" rIns="25560" bIns="25560" anchor="t">
            <a:normAutofit fontScale="92500" lnSpcReduction="9999"/>
          </a:bodyPr>
          <a:p>
            <a:pPr marL="160200" indent="-160200" defTabSz="914400">
              <a:lnSpc>
                <a:spcPct val="140000"/>
              </a:lnSpc>
              <a:buClr>
                <a:srgbClr val="1F2A24"/>
              </a:buClr>
              <a:buFont typeface="Symbol" charset="2"/>
              <a:buChar char=""/>
              <a:tabLst>
                <a:tab pos="160200" algn="l"/>
              </a:tabLst>
            </a:pPr>
            <a:r>
              <a:rPr lang="en-US" sz="1800" b="0" u="none" strike="noStrike">
                <a:solidFill>
                  <a:srgbClr val="1F2A24"/>
                </a:solidFill>
                <a:effectLst/>
                <a:uFillTx/>
                <a:latin typeface="Arial"/>
                <a:ea typeface="Arial"/>
              </a:rPr>
              <a:t>Approach candidate Japanese co-founder</a:t>
            </a:r>
            <a:endParaRPr lang="en-US" sz="1800" b="0" u="none" strike="noStrike">
              <a:solidFill>
                <a:srgbClr val="000000"/>
              </a:solidFill>
              <a:effectLst/>
              <a:uFillTx/>
              <a:latin typeface="Arial"/>
            </a:endParaRPr>
          </a:p>
          <a:p>
            <a:pPr marL="160200" indent="-160200" defTabSz="914400">
              <a:lnSpc>
                <a:spcPct val="140000"/>
              </a:lnSpc>
              <a:buClr>
                <a:srgbClr val="1F2A24"/>
              </a:buClr>
              <a:buFont typeface="Symbol" charset="2"/>
              <a:buChar char=""/>
              <a:tabLst>
                <a:tab pos="160200" algn="l"/>
              </a:tabLst>
            </a:pPr>
            <a:r>
              <a:rPr lang="en-US" sz="1800" b="0" u="none" strike="noStrike">
                <a:solidFill>
                  <a:srgbClr val="1F2A24"/>
                </a:solidFill>
                <a:effectLst/>
                <a:uFillTx/>
                <a:latin typeface="Arial"/>
                <a:ea typeface="Arial"/>
              </a:rPr>
              <a:t>Hold informal meeting with the Village Mayor</a:t>
            </a:r>
            <a:endParaRPr lang="en-US" sz="1800" b="0" u="none" strike="noStrike">
              <a:solidFill>
                <a:srgbClr val="000000"/>
              </a:solidFill>
              <a:effectLst/>
              <a:uFillTx/>
              <a:latin typeface="Arial"/>
            </a:endParaRPr>
          </a:p>
          <a:p>
            <a:pPr marL="160200" indent="-160200" defTabSz="914400">
              <a:lnSpc>
                <a:spcPct val="140000"/>
              </a:lnSpc>
              <a:buClr>
                <a:srgbClr val="1F2A24"/>
              </a:buClr>
              <a:buFont typeface="Symbol" charset="2"/>
              <a:buChar char=""/>
              <a:tabLst>
                <a:tab pos="160200" algn="l"/>
              </a:tabLst>
            </a:pPr>
            <a:r>
              <a:rPr lang="en-US" sz="1800" b="0" u="none" strike="noStrike">
                <a:solidFill>
                  <a:srgbClr val="1F2A24"/>
                </a:solidFill>
                <a:effectLst/>
                <a:uFillTx/>
                <a:latin typeface="Arial"/>
                <a:ea typeface="Arial"/>
              </a:rPr>
              <a:t>Initial consultations with administrative scriveners</a:t>
            </a:r>
            <a:endParaRPr lang="en-US" sz="1800" b="0" u="none" strike="noStrike">
              <a:solidFill>
                <a:srgbClr val="000000"/>
              </a:solidFill>
              <a:effectLst/>
              <a:uFillTx/>
              <a:latin typeface="Arial"/>
            </a:endParaRPr>
          </a:p>
          <a:p>
            <a:pPr marL="160200" indent="-160200" defTabSz="914400">
              <a:lnSpc>
                <a:spcPct val="140000"/>
              </a:lnSpc>
              <a:buClr>
                <a:srgbClr val="1F2A24"/>
              </a:buClr>
              <a:buFont typeface="Symbol" charset="2"/>
              <a:buChar char=""/>
              <a:tabLst>
                <a:tab pos="160200" algn="l"/>
              </a:tabLst>
            </a:pPr>
            <a:r>
              <a:rPr lang="en-US" sz="1800" b="0" u="none" strike="noStrike">
                <a:solidFill>
                  <a:srgbClr val="1F2A24"/>
                </a:solidFill>
                <a:effectLst/>
                <a:uFillTx/>
                <a:latin typeface="Arial"/>
                <a:ea typeface="Arial"/>
              </a:rPr>
              <a:t>Finalise the two-page bilingual charter</a:t>
            </a:r>
            <a:endParaRPr lang="en-US" sz="1800" b="0" u="none" strike="noStrike">
              <a:solidFill>
                <a:srgbClr val="000000"/>
              </a:solidFill>
              <a:effectLst/>
              <a:uFillTx/>
              <a:latin typeface="Arial"/>
            </a:endParaRPr>
          </a:p>
        </p:txBody>
      </p:sp>
      <p:sp>
        <p:nvSpPr>
          <p:cNvPr id="181" name="Text 22"/>
          <p:cNvSpPr/>
          <p:nvPr/>
        </p:nvSpPr>
        <p:spPr>
          <a:xfrm>
            <a:off x="1047600" y="10350000"/>
            <a:ext cx="115452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4C554F"/>
                </a:solidFill>
                <a:effectLst/>
                <a:uFillTx/>
                <a:latin typeface="Courier New"/>
                <a:ea typeface="Courier New"/>
              </a:rPr>
              <a:t>09 / 11</a:t>
            </a:r>
            <a:endParaRPr lang="en-US" sz="1800" b="0" u="none" strike="noStrike">
              <a:solidFill>
                <a:srgbClr val="000000"/>
              </a:solidFill>
              <a:effectLst/>
              <a:uFillTx/>
              <a:latin typeface="Arial"/>
            </a:endParaRPr>
          </a:p>
        </p:txBody>
      </p:sp>
      <p:sp>
        <p:nvSpPr>
          <p:cNvPr id="182" name="Text 23"/>
          <p:cNvSpPr/>
          <p:nvPr/>
        </p:nvSpPr>
        <p:spPr>
          <a:xfrm>
            <a:off x="11654640" y="10350000"/>
            <a:ext cx="575316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4C554F"/>
                </a:solidFill>
                <a:effectLst/>
                <a:uFillTx/>
                <a:latin typeface="Courier New"/>
                <a:ea typeface="Courier New"/>
              </a:rPr>
              <a:t>PHASE 0 · MONTHS 01–03 · SELF-FUNDED</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ECE0"/>
        </a:solidFill>
      </p:bgPr>
    </p:bg>
    <p:spTree>
      <p:nvGrpSpPr>
        <p:cNvPr id="1" name=""/>
        <p:cNvGrpSpPr/>
        <p:nvPr/>
      </p:nvGrpSpPr>
      <p:grpSpPr>
        <a:xfrm>
          <a:off x="0" y="0"/>
          <a:ext cx="0" cy="0"/>
          <a:chOff x="0" y="0"/>
          <a:chExt cx="0" cy="0"/>
        </a:xfrm>
      </p:grpSpPr>
      <p:sp>
        <p:nvSpPr>
          <p:cNvPr id="183" name="Shape 0"/>
          <p:cNvSpPr/>
          <p:nvPr/>
        </p:nvSpPr>
        <p:spPr>
          <a:xfrm>
            <a:off x="1047600" y="762120"/>
            <a:ext cx="456840" cy="456840"/>
          </a:xfrm>
          <a:prstGeom prst="ellipse">
            <a:avLst/>
          </a:prstGeom>
          <a:solidFill>
            <a:srgbClr val="2F4A37"/>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84" name="Text 1"/>
          <p:cNvSpPr/>
          <p:nvPr/>
        </p:nvSpPr>
        <p:spPr>
          <a:xfrm>
            <a:off x="1047600" y="762120"/>
            <a:ext cx="533160" cy="4950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zh-CN" sz="1950" b="1" u="none" spc="145" strike="noStrike">
                <a:solidFill>
                  <a:srgbClr val="F3ECE0"/>
                </a:solidFill>
                <a:effectLst/>
                <a:uFillTx/>
                <a:latin typeface="Noto Serif JP"/>
                <a:ea typeface="Noto Serif JP"/>
              </a:rPr>
              <a:t>御</a:t>
            </a:r>
            <a:endParaRPr lang="en-US" sz="1950" b="0" u="none" strike="noStrike">
              <a:solidFill>
                <a:srgbClr val="000000"/>
              </a:solidFill>
              <a:effectLst/>
              <a:uFillTx/>
              <a:latin typeface="Arial"/>
            </a:endParaRPr>
          </a:p>
        </p:txBody>
      </p:sp>
      <p:sp>
        <p:nvSpPr>
          <p:cNvPr id="185" name="Text 2"/>
          <p:cNvSpPr/>
          <p:nvPr/>
        </p:nvSpPr>
        <p:spPr>
          <a:xfrm>
            <a:off x="1638360" y="857160"/>
            <a:ext cx="224244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4C554F"/>
                </a:solidFill>
                <a:effectLst/>
                <a:uFillTx/>
                <a:latin typeface="Courier New"/>
                <a:ea typeface="Courier New"/>
              </a:rPr>
              <a:t>MITSUE PROJECT</a:t>
            </a:r>
            <a:endParaRPr lang="en-US" sz="1800" b="0" u="none" strike="noStrike">
              <a:solidFill>
                <a:srgbClr val="000000"/>
              </a:solidFill>
              <a:effectLst/>
              <a:uFillTx/>
              <a:latin typeface="Arial"/>
            </a:endParaRPr>
          </a:p>
        </p:txBody>
      </p:sp>
      <p:sp>
        <p:nvSpPr>
          <p:cNvPr id="186" name="Text 3"/>
          <p:cNvSpPr/>
          <p:nvPr/>
        </p:nvSpPr>
        <p:spPr>
          <a:xfrm>
            <a:off x="13985640" y="762120"/>
            <a:ext cx="335196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4C554F"/>
                </a:solidFill>
                <a:effectLst/>
                <a:uFillTx/>
                <a:latin typeface="Courier New"/>
                <a:ea typeface="Courier New"/>
              </a:rPr>
              <a:t>§ 09 · PHASES &amp; GATES</a:t>
            </a:r>
            <a:endParaRPr lang="en-US" sz="1800" b="0" u="none" strike="noStrike">
              <a:solidFill>
                <a:srgbClr val="000000"/>
              </a:solidFill>
              <a:effectLst/>
              <a:uFillTx/>
              <a:latin typeface="Arial"/>
            </a:endParaRPr>
          </a:p>
        </p:txBody>
      </p:sp>
      <p:sp>
        <p:nvSpPr>
          <p:cNvPr id="187" name="Text 4"/>
          <p:cNvSpPr/>
          <p:nvPr/>
        </p:nvSpPr>
        <p:spPr>
          <a:xfrm>
            <a:off x="1047600" y="1428840"/>
            <a:ext cx="11560680" cy="154080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98000"/>
              </a:lnSpc>
              <a:tabLst>
                <a:tab pos="0" algn="l"/>
              </a:tabLst>
            </a:pPr>
            <a:r>
              <a:rPr lang="en-US" sz="6000" b="0" u="none" spc="-60" strike="noStrike">
                <a:solidFill>
                  <a:srgbClr val="1F2A24"/>
                </a:solidFill>
                <a:effectLst/>
                <a:uFillTx/>
                <a:latin typeface="Georgia"/>
                <a:ea typeface="Georgia"/>
              </a:rPr>
              <a:t>Five phases. Four </a:t>
            </a:r>
            <a:r>
              <a:rPr lang="en-US" sz="6000" b="0" i="1" u="none" spc="-60" strike="noStrike">
                <a:solidFill>
                  <a:srgbClr val="C4663A"/>
                </a:solidFill>
                <a:effectLst/>
                <a:uFillTx/>
                <a:latin typeface="Georgia"/>
                <a:ea typeface="Georgia"/>
              </a:rPr>
              <a:t>real </a:t>
            </a:r>
            <a:r>
              <a:rPr lang="en-US" sz="6000" b="0" u="none" spc="-60" strike="noStrike">
                <a:solidFill>
                  <a:srgbClr val="1F2A24"/>
                </a:solidFill>
                <a:effectLst/>
                <a:uFillTx/>
                <a:latin typeface="Georgia"/>
                <a:ea typeface="Georgia"/>
              </a:rPr>
              <a:t>funding gates.</a:t>
            </a:r>
            <a:endParaRPr lang="en-US" sz="6000" b="0" u="none" strike="noStrike">
              <a:solidFill>
                <a:srgbClr val="000000"/>
              </a:solidFill>
              <a:effectLst/>
              <a:uFillTx/>
              <a:latin typeface="Arial"/>
            </a:endParaRPr>
          </a:p>
        </p:txBody>
      </p:sp>
      <p:sp>
        <p:nvSpPr>
          <p:cNvPr id="188" name="Text 5"/>
          <p:cNvSpPr/>
          <p:nvPr/>
        </p:nvSpPr>
        <p:spPr>
          <a:xfrm>
            <a:off x="1047600" y="3255480"/>
            <a:ext cx="10477440" cy="103212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pPr>
            <a:r>
              <a:rPr lang="en-US" sz="1800" b="0" u="none" strike="noStrike">
                <a:solidFill>
                  <a:srgbClr val="1F2A24"/>
                </a:solidFill>
                <a:effectLst/>
                <a:uFillTx/>
                <a:latin typeface="Arial"/>
                <a:ea typeface="Arial"/>
              </a:rPr>
              <a:t>Each gate is a checkpoint. Miss one and we hold and re-pitch — we don't accelerate into an under-resourced phase. The funding stack has five layers, deliberately, so no single source can stall the project early.</a:t>
            </a:r>
            <a:endParaRPr lang="en-US" sz="1800" b="0" u="none" strike="noStrike">
              <a:solidFill>
                <a:srgbClr val="000000"/>
              </a:solidFill>
              <a:effectLst/>
              <a:uFillTx/>
              <a:latin typeface="Arial"/>
            </a:endParaRPr>
          </a:p>
        </p:txBody>
      </p:sp>
      <p:sp>
        <p:nvSpPr>
          <p:cNvPr id="189" name="Shape 6"/>
          <p:cNvSpPr/>
          <p:nvPr/>
        </p:nvSpPr>
        <p:spPr>
          <a:xfrm>
            <a:off x="1047600" y="4726440"/>
            <a:ext cx="3131640" cy="1316160"/>
          </a:xfrm>
          <a:prstGeom prst="rect">
            <a:avLst/>
          </a:prstGeom>
          <a:solidFill>
            <a:srgbClr val="C4663A"/>
          </a:solidFill>
          <a:ln w="9525">
            <a:solidFill>
              <a:srgbClr val="1F2A24"/>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90" name="Text 7"/>
          <p:cNvSpPr/>
          <p:nvPr/>
        </p:nvSpPr>
        <p:spPr>
          <a:xfrm>
            <a:off x="1209600" y="4888080"/>
            <a:ext cx="289188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215" strike="noStrike">
                <a:solidFill>
                  <a:srgbClr val="F3ECE0">
                    <a:alpha val="80000"/>
                  </a:srgbClr>
                </a:solidFill>
                <a:effectLst/>
                <a:uFillTx/>
                <a:latin typeface="Courier New"/>
                <a:ea typeface="Courier New"/>
              </a:rPr>
              <a:t>PHASE 0 · NOW</a:t>
            </a:r>
            <a:endParaRPr lang="en-US" sz="1800" b="0" u="none" strike="noStrike">
              <a:solidFill>
                <a:srgbClr val="000000"/>
              </a:solidFill>
              <a:effectLst/>
              <a:uFillTx/>
              <a:latin typeface="Arial"/>
            </a:endParaRPr>
          </a:p>
        </p:txBody>
      </p:sp>
      <p:sp>
        <p:nvSpPr>
          <p:cNvPr id="191" name="Text 8"/>
          <p:cNvSpPr/>
          <p:nvPr/>
        </p:nvSpPr>
        <p:spPr>
          <a:xfrm>
            <a:off x="1209600" y="5212080"/>
            <a:ext cx="2891880" cy="317880"/>
          </a:xfrm>
          <a:prstGeom prst="rect">
            <a:avLst/>
          </a:prstGeom>
          <a:noFill/>
          <a:ln w="0">
            <a:noFill/>
          </a:ln>
        </p:spPr>
        <p:style>
          <a:lnRef idx="0"/>
          <a:fillRef idx="0"/>
          <a:effectRef idx="0"/>
          <a:fontRef idx="minor"/>
        </p:style>
        <p:txBody>
          <a:bodyPr lIns="25560" tIns="25560" rIns="25560" bIns="25560" anchor="t">
            <a:normAutofit fontScale="85000" lnSpcReduction="19999"/>
          </a:bodyPr>
          <a:p>
            <a:pPr defTabSz="914400">
              <a:lnSpc>
                <a:spcPct val="98000"/>
              </a:lnSpc>
              <a:tabLst>
                <a:tab pos="0" algn="l"/>
              </a:tabLst>
            </a:pPr>
            <a:r>
              <a:rPr lang="en-US" sz="2250" b="0" u="none" spc="-23" strike="noStrike">
                <a:solidFill>
                  <a:srgbClr val="F3ECE0"/>
                </a:solidFill>
                <a:effectLst/>
                <a:uFillTx/>
                <a:latin typeface="Georgia"/>
                <a:ea typeface="Georgia"/>
              </a:rPr>
              <a:t>Pre-Foundation</a:t>
            </a:r>
            <a:endParaRPr lang="en-US" sz="2250" b="0" u="none" strike="noStrike">
              <a:solidFill>
                <a:srgbClr val="000000"/>
              </a:solidFill>
              <a:effectLst/>
              <a:uFillTx/>
              <a:latin typeface="Arial"/>
            </a:endParaRPr>
          </a:p>
        </p:txBody>
      </p:sp>
      <p:sp>
        <p:nvSpPr>
          <p:cNvPr id="192" name="Text 9"/>
          <p:cNvSpPr/>
          <p:nvPr/>
        </p:nvSpPr>
        <p:spPr>
          <a:xfrm>
            <a:off x="1209600" y="5549400"/>
            <a:ext cx="2891880" cy="36936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pPr>
            <a:r>
              <a:rPr lang="en-US" sz="1800" b="0" u="none" strike="noStrike">
                <a:solidFill>
                  <a:srgbClr val="F3ECE0">
                    <a:alpha val="90000"/>
                  </a:srgbClr>
                </a:solidFill>
                <a:effectLst/>
                <a:uFillTx/>
                <a:latin typeface="Arial"/>
                <a:ea typeface="Arial"/>
              </a:rPr>
              <a:t>M 1–3 · ¥0–0.5M</a:t>
            </a:r>
            <a:endParaRPr lang="en-US" sz="1800" b="0" u="none" strike="noStrike">
              <a:solidFill>
                <a:srgbClr val="000000"/>
              </a:solidFill>
              <a:effectLst/>
              <a:uFillTx/>
              <a:latin typeface="Arial"/>
            </a:endParaRPr>
          </a:p>
        </p:txBody>
      </p:sp>
      <p:sp>
        <p:nvSpPr>
          <p:cNvPr id="193" name="Shape 10"/>
          <p:cNvSpPr/>
          <p:nvPr/>
        </p:nvSpPr>
        <p:spPr>
          <a:xfrm>
            <a:off x="4312800" y="4726440"/>
            <a:ext cx="3131640" cy="1316160"/>
          </a:xfrm>
          <a:prstGeom prst="rect">
            <a:avLst/>
          </a:prstGeom>
          <a:solidFill>
            <a:srgbClr val="ECE3D3"/>
          </a:solidFill>
          <a:ln w="9525">
            <a:solidFill>
              <a:srgbClr val="1F2A24"/>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94" name="Text 11"/>
          <p:cNvSpPr/>
          <p:nvPr/>
        </p:nvSpPr>
        <p:spPr>
          <a:xfrm>
            <a:off x="4474800" y="4888080"/>
            <a:ext cx="289188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215" strike="noStrike">
                <a:solidFill>
                  <a:srgbClr val="4C554F"/>
                </a:solidFill>
                <a:effectLst/>
                <a:uFillTx/>
                <a:latin typeface="Courier New"/>
                <a:ea typeface="Courier New"/>
              </a:rPr>
              <a:t>PHASE 1</a:t>
            </a:r>
            <a:endParaRPr lang="en-US" sz="1800" b="0" u="none" strike="noStrike">
              <a:solidFill>
                <a:srgbClr val="000000"/>
              </a:solidFill>
              <a:effectLst/>
              <a:uFillTx/>
              <a:latin typeface="Arial"/>
            </a:endParaRPr>
          </a:p>
        </p:txBody>
      </p:sp>
      <p:sp>
        <p:nvSpPr>
          <p:cNvPr id="195" name="Text 12"/>
          <p:cNvSpPr/>
          <p:nvPr/>
        </p:nvSpPr>
        <p:spPr>
          <a:xfrm>
            <a:off x="4474800" y="5212080"/>
            <a:ext cx="2891880" cy="317880"/>
          </a:xfrm>
          <a:prstGeom prst="rect">
            <a:avLst/>
          </a:prstGeom>
          <a:noFill/>
          <a:ln w="0">
            <a:noFill/>
          </a:ln>
        </p:spPr>
        <p:style>
          <a:lnRef idx="0"/>
          <a:fillRef idx="0"/>
          <a:effectRef idx="0"/>
          <a:fontRef idx="minor"/>
        </p:style>
        <p:txBody>
          <a:bodyPr lIns="25560" tIns="25560" rIns="25560" bIns="25560" anchor="t">
            <a:normAutofit fontScale="85000" lnSpcReduction="19999"/>
          </a:bodyPr>
          <a:p>
            <a:pPr defTabSz="914400">
              <a:lnSpc>
                <a:spcPct val="98000"/>
              </a:lnSpc>
              <a:tabLst>
                <a:tab pos="0" algn="l"/>
              </a:tabLst>
            </a:pPr>
            <a:r>
              <a:rPr lang="en-US" sz="2250" b="0" u="none" spc="-23" strike="noStrike">
                <a:solidFill>
                  <a:srgbClr val="1F2A24"/>
                </a:solidFill>
                <a:effectLst/>
                <a:uFillTx/>
                <a:latin typeface="Georgia"/>
                <a:ea typeface="Georgia"/>
              </a:rPr>
              <a:t>Foundation</a:t>
            </a:r>
            <a:endParaRPr lang="en-US" sz="2250" b="0" u="none" strike="noStrike">
              <a:solidFill>
                <a:srgbClr val="000000"/>
              </a:solidFill>
              <a:effectLst/>
              <a:uFillTx/>
              <a:latin typeface="Arial"/>
            </a:endParaRPr>
          </a:p>
        </p:txBody>
      </p:sp>
      <p:sp>
        <p:nvSpPr>
          <p:cNvPr id="196" name="Text 13"/>
          <p:cNvSpPr/>
          <p:nvPr/>
        </p:nvSpPr>
        <p:spPr>
          <a:xfrm>
            <a:off x="4474800" y="5549400"/>
            <a:ext cx="2891880" cy="36936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pPr>
            <a:r>
              <a:rPr lang="en-US" sz="1800" b="0" u="none" strike="noStrike">
                <a:solidFill>
                  <a:srgbClr val="4C554F"/>
                </a:solidFill>
                <a:effectLst/>
                <a:uFillTx/>
                <a:latin typeface="Arial"/>
                <a:ea typeface="Arial"/>
              </a:rPr>
              <a:t>M 4–9 · ¥3–8M</a:t>
            </a:r>
            <a:endParaRPr lang="en-US" sz="1800" b="0" u="none" strike="noStrike">
              <a:solidFill>
                <a:srgbClr val="000000"/>
              </a:solidFill>
              <a:effectLst/>
              <a:uFillTx/>
              <a:latin typeface="Arial"/>
            </a:endParaRPr>
          </a:p>
        </p:txBody>
      </p:sp>
      <p:sp>
        <p:nvSpPr>
          <p:cNvPr id="197" name="Shape 14"/>
          <p:cNvSpPr/>
          <p:nvPr/>
        </p:nvSpPr>
        <p:spPr>
          <a:xfrm>
            <a:off x="7578000" y="4726440"/>
            <a:ext cx="3131640" cy="1316160"/>
          </a:xfrm>
          <a:prstGeom prst="rect">
            <a:avLst/>
          </a:prstGeom>
          <a:solidFill>
            <a:srgbClr val="ECE3D3"/>
          </a:solidFill>
          <a:ln w="9525">
            <a:solidFill>
              <a:srgbClr val="1F2A24"/>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98" name="Text 15"/>
          <p:cNvSpPr/>
          <p:nvPr/>
        </p:nvSpPr>
        <p:spPr>
          <a:xfrm>
            <a:off x="7740000" y="4888080"/>
            <a:ext cx="289188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215" strike="noStrike">
                <a:solidFill>
                  <a:srgbClr val="4C554F"/>
                </a:solidFill>
                <a:effectLst/>
                <a:uFillTx/>
                <a:latin typeface="Courier New"/>
                <a:ea typeface="Courier New"/>
              </a:rPr>
              <a:t>PHASE 2</a:t>
            </a:r>
            <a:endParaRPr lang="en-US" sz="1800" b="0" u="none" strike="noStrike">
              <a:solidFill>
                <a:srgbClr val="000000"/>
              </a:solidFill>
              <a:effectLst/>
              <a:uFillTx/>
              <a:latin typeface="Arial"/>
            </a:endParaRPr>
          </a:p>
        </p:txBody>
      </p:sp>
      <p:sp>
        <p:nvSpPr>
          <p:cNvPr id="199" name="Text 16"/>
          <p:cNvSpPr/>
          <p:nvPr/>
        </p:nvSpPr>
        <p:spPr>
          <a:xfrm>
            <a:off x="7740000" y="5212080"/>
            <a:ext cx="2891880" cy="317880"/>
          </a:xfrm>
          <a:prstGeom prst="rect">
            <a:avLst/>
          </a:prstGeom>
          <a:noFill/>
          <a:ln w="0">
            <a:noFill/>
          </a:ln>
        </p:spPr>
        <p:style>
          <a:lnRef idx="0"/>
          <a:fillRef idx="0"/>
          <a:effectRef idx="0"/>
          <a:fontRef idx="minor"/>
        </p:style>
        <p:txBody>
          <a:bodyPr lIns="25560" tIns="25560" rIns="25560" bIns="25560" anchor="t">
            <a:normAutofit fontScale="85000" lnSpcReduction="19999"/>
          </a:bodyPr>
          <a:p>
            <a:pPr defTabSz="914400">
              <a:lnSpc>
                <a:spcPct val="98000"/>
              </a:lnSpc>
              <a:tabLst>
                <a:tab pos="0" algn="l"/>
              </a:tabLst>
            </a:pPr>
            <a:r>
              <a:rPr lang="en-US" sz="2250" b="0" u="none" spc="-23" strike="noStrike">
                <a:solidFill>
                  <a:srgbClr val="1F2A24"/>
                </a:solidFill>
                <a:effectLst/>
                <a:uFillTx/>
                <a:latin typeface="Georgia"/>
                <a:ea typeface="Georgia"/>
              </a:rPr>
              <a:t>Pilot Design</a:t>
            </a:r>
            <a:endParaRPr lang="en-US" sz="2250" b="0" u="none" strike="noStrike">
              <a:solidFill>
                <a:srgbClr val="000000"/>
              </a:solidFill>
              <a:effectLst/>
              <a:uFillTx/>
              <a:latin typeface="Arial"/>
            </a:endParaRPr>
          </a:p>
        </p:txBody>
      </p:sp>
      <p:sp>
        <p:nvSpPr>
          <p:cNvPr id="200" name="Text 17"/>
          <p:cNvSpPr/>
          <p:nvPr/>
        </p:nvSpPr>
        <p:spPr>
          <a:xfrm>
            <a:off x="7740000" y="5549400"/>
            <a:ext cx="2891880" cy="36936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pPr>
            <a:r>
              <a:rPr lang="en-US" sz="1800" b="0" u="none" strike="noStrike">
                <a:solidFill>
                  <a:srgbClr val="4C554F"/>
                </a:solidFill>
                <a:effectLst/>
                <a:uFillTx/>
                <a:latin typeface="Arial"/>
                <a:ea typeface="Arial"/>
              </a:rPr>
              <a:t>M 10–18 · ¥15–30M</a:t>
            </a:r>
            <a:endParaRPr lang="en-US" sz="1800" b="0" u="none" strike="noStrike">
              <a:solidFill>
                <a:srgbClr val="000000"/>
              </a:solidFill>
              <a:effectLst/>
              <a:uFillTx/>
              <a:latin typeface="Arial"/>
            </a:endParaRPr>
          </a:p>
        </p:txBody>
      </p:sp>
      <p:sp>
        <p:nvSpPr>
          <p:cNvPr id="201" name="Shape 18"/>
          <p:cNvSpPr/>
          <p:nvPr/>
        </p:nvSpPr>
        <p:spPr>
          <a:xfrm>
            <a:off x="10843200" y="4726440"/>
            <a:ext cx="3131640" cy="1316160"/>
          </a:xfrm>
          <a:prstGeom prst="rect">
            <a:avLst/>
          </a:prstGeom>
          <a:solidFill>
            <a:srgbClr val="ECE3D3"/>
          </a:solidFill>
          <a:ln w="9525">
            <a:solidFill>
              <a:srgbClr val="1F2A24"/>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02" name="Text 19"/>
          <p:cNvSpPr/>
          <p:nvPr/>
        </p:nvSpPr>
        <p:spPr>
          <a:xfrm>
            <a:off x="11005200" y="4888080"/>
            <a:ext cx="289188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215" strike="noStrike">
                <a:solidFill>
                  <a:srgbClr val="4C554F"/>
                </a:solidFill>
                <a:effectLst/>
                <a:uFillTx/>
                <a:latin typeface="Courier New"/>
                <a:ea typeface="Courier New"/>
              </a:rPr>
              <a:t>PHASE 3</a:t>
            </a:r>
            <a:endParaRPr lang="en-US" sz="1800" b="0" u="none" strike="noStrike">
              <a:solidFill>
                <a:srgbClr val="000000"/>
              </a:solidFill>
              <a:effectLst/>
              <a:uFillTx/>
              <a:latin typeface="Arial"/>
            </a:endParaRPr>
          </a:p>
        </p:txBody>
      </p:sp>
      <p:sp>
        <p:nvSpPr>
          <p:cNvPr id="203" name="Text 20"/>
          <p:cNvSpPr/>
          <p:nvPr/>
        </p:nvSpPr>
        <p:spPr>
          <a:xfrm>
            <a:off x="11005200" y="5212080"/>
            <a:ext cx="2891880" cy="317880"/>
          </a:xfrm>
          <a:prstGeom prst="rect">
            <a:avLst/>
          </a:prstGeom>
          <a:noFill/>
          <a:ln w="0">
            <a:noFill/>
          </a:ln>
        </p:spPr>
        <p:style>
          <a:lnRef idx="0"/>
          <a:fillRef idx="0"/>
          <a:effectRef idx="0"/>
          <a:fontRef idx="minor"/>
        </p:style>
        <p:txBody>
          <a:bodyPr lIns="25560" tIns="25560" rIns="25560" bIns="25560" anchor="t">
            <a:normAutofit fontScale="85000" lnSpcReduction="19999"/>
          </a:bodyPr>
          <a:p>
            <a:pPr defTabSz="914400">
              <a:lnSpc>
                <a:spcPct val="98000"/>
              </a:lnSpc>
              <a:tabLst>
                <a:tab pos="0" algn="l"/>
              </a:tabLst>
            </a:pPr>
            <a:r>
              <a:rPr lang="en-US" sz="2250" b="0" u="none" spc="-23" strike="noStrike">
                <a:solidFill>
                  <a:srgbClr val="1F2A24"/>
                </a:solidFill>
                <a:effectLst/>
                <a:uFillTx/>
                <a:latin typeface="Georgia"/>
                <a:ea typeface="Georgia"/>
              </a:rPr>
              <a:t>Pilot Build</a:t>
            </a:r>
            <a:endParaRPr lang="en-US" sz="2250" b="0" u="none" strike="noStrike">
              <a:solidFill>
                <a:srgbClr val="000000"/>
              </a:solidFill>
              <a:effectLst/>
              <a:uFillTx/>
              <a:latin typeface="Arial"/>
            </a:endParaRPr>
          </a:p>
        </p:txBody>
      </p:sp>
      <p:sp>
        <p:nvSpPr>
          <p:cNvPr id="204" name="Text 21"/>
          <p:cNvSpPr/>
          <p:nvPr/>
        </p:nvSpPr>
        <p:spPr>
          <a:xfrm>
            <a:off x="11005200" y="5549400"/>
            <a:ext cx="2891880" cy="36936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pPr>
            <a:r>
              <a:rPr lang="en-US" sz="1800" b="0" u="none" strike="noStrike">
                <a:solidFill>
                  <a:srgbClr val="4C554F"/>
                </a:solidFill>
                <a:effectLst/>
                <a:uFillTx/>
                <a:latin typeface="Arial"/>
                <a:ea typeface="Arial"/>
              </a:rPr>
              <a:t>M 19–30 · ¥80–200M</a:t>
            </a:r>
            <a:endParaRPr lang="en-US" sz="1800" b="0" u="none" strike="noStrike">
              <a:solidFill>
                <a:srgbClr val="000000"/>
              </a:solidFill>
              <a:effectLst/>
              <a:uFillTx/>
              <a:latin typeface="Arial"/>
            </a:endParaRPr>
          </a:p>
        </p:txBody>
      </p:sp>
      <p:sp>
        <p:nvSpPr>
          <p:cNvPr id="205" name="Shape 22"/>
          <p:cNvSpPr/>
          <p:nvPr/>
        </p:nvSpPr>
        <p:spPr>
          <a:xfrm>
            <a:off x="14108400" y="4726440"/>
            <a:ext cx="3131640" cy="1316160"/>
          </a:xfrm>
          <a:prstGeom prst="rect">
            <a:avLst/>
          </a:prstGeom>
          <a:solidFill>
            <a:srgbClr val="ECE3D3"/>
          </a:solidFill>
          <a:ln w="9525">
            <a:solidFill>
              <a:srgbClr val="1F2A24"/>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06" name="Text 23"/>
          <p:cNvSpPr/>
          <p:nvPr/>
        </p:nvSpPr>
        <p:spPr>
          <a:xfrm>
            <a:off x="14270400" y="4888080"/>
            <a:ext cx="289188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215" strike="noStrike">
                <a:solidFill>
                  <a:srgbClr val="4C554F"/>
                </a:solidFill>
                <a:effectLst/>
                <a:uFillTx/>
                <a:latin typeface="Courier New"/>
                <a:ea typeface="Courier New"/>
              </a:rPr>
              <a:t>PHASE 4</a:t>
            </a:r>
            <a:endParaRPr lang="en-US" sz="1800" b="0" u="none" strike="noStrike">
              <a:solidFill>
                <a:srgbClr val="000000"/>
              </a:solidFill>
              <a:effectLst/>
              <a:uFillTx/>
              <a:latin typeface="Arial"/>
            </a:endParaRPr>
          </a:p>
        </p:txBody>
      </p:sp>
      <p:sp>
        <p:nvSpPr>
          <p:cNvPr id="207" name="Text 24"/>
          <p:cNvSpPr/>
          <p:nvPr/>
        </p:nvSpPr>
        <p:spPr>
          <a:xfrm>
            <a:off x="14270400" y="5212080"/>
            <a:ext cx="2891880" cy="317880"/>
          </a:xfrm>
          <a:prstGeom prst="rect">
            <a:avLst/>
          </a:prstGeom>
          <a:noFill/>
          <a:ln w="0">
            <a:noFill/>
          </a:ln>
        </p:spPr>
        <p:style>
          <a:lnRef idx="0"/>
          <a:fillRef idx="0"/>
          <a:effectRef idx="0"/>
          <a:fontRef idx="minor"/>
        </p:style>
        <p:txBody>
          <a:bodyPr lIns="25560" tIns="25560" rIns="25560" bIns="25560" anchor="t">
            <a:normAutofit fontScale="85000" lnSpcReduction="19999"/>
          </a:bodyPr>
          <a:p>
            <a:pPr defTabSz="914400">
              <a:lnSpc>
                <a:spcPct val="98000"/>
              </a:lnSpc>
              <a:tabLst>
                <a:tab pos="0" algn="l"/>
              </a:tabLst>
            </a:pPr>
            <a:r>
              <a:rPr lang="en-US" sz="2250" b="0" u="none" spc="-23" strike="noStrike">
                <a:solidFill>
                  <a:srgbClr val="1F2A24"/>
                </a:solidFill>
                <a:effectLst/>
                <a:uFillTx/>
                <a:latin typeface="Georgia"/>
                <a:ea typeface="Georgia"/>
              </a:rPr>
              <a:t>Operate &amp; Scale</a:t>
            </a:r>
            <a:endParaRPr lang="en-US" sz="2250" b="0" u="none" strike="noStrike">
              <a:solidFill>
                <a:srgbClr val="000000"/>
              </a:solidFill>
              <a:effectLst/>
              <a:uFillTx/>
              <a:latin typeface="Arial"/>
            </a:endParaRPr>
          </a:p>
        </p:txBody>
      </p:sp>
      <p:sp>
        <p:nvSpPr>
          <p:cNvPr id="208" name="Text 25"/>
          <p:cNvSpPr/>
          <p:nvPr/>
        </p:nvSpPr>
        <p:spPr>
          <a:xfrm>
            <a:off x="14270400" y="5549400"/>
            <a:ext cx="2891880" cy="36936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pPr>
            <a:r>
              <a:rPr lang="en-US" sz="1800" b="0" u="none" strike="noStrike">
                <a:solidFill>
                  <a:srgbClr val="4C554F"/>
                </a:solidFill>
                <a:effectLst/>
                <a:uFillTx/>
                <a:latin typeface="Arial"/>
                <a:ea typeface="Arial"/>
              </a:rPr>
              <a:t>M 31+ · revenue-led</a:t>
            </a:r>
            <a:endParaRPr lang="en-US" sz="1800" b="0" u="none" strike="noStrike">
              <a:solidFill>
                <a:srgbClr val="000000"/>
              </a:solidFill>
              <a:effectLst/>
              <a:uFillTx/>
              <a:latin typeface="Arial"/>
            </a:endParaRPr>
          </a:p>
        </p:txBody>
      </p:sp>
      <p:sp>
        <p:nvSpPr>
          <p:cNvPr id="209" name="Text 26"/>
          <p:cNvSpPr/>
          <p:nvPr/>
        </p:nvSpPr>
        <p:spPr>
          <a:xfrm>
            <a:off x="4266000" y="6118920"/>
            <a:ext cx="3225240" cy="304560"/>
          </a:xfrm>
          <a:prstGeom prst="rect">
            <a:avLst/>
          </a:prstGeom>
          <a:noFill/>
          <a:ln w="0">
            <a:noFill/>
          </a:ln>
        </p:spPr>
        <p:style>
          <a:lnRef idx="0"/>
          <a:fillRef idx="0"/>
          <a:effectRef idx="0"/>
          <a:fontRef idx="minor"/>
        </p:style>
        <p:txBody>
          <a:bodyPr lIns="25560" tIns="25560" rIns="25560" bIns="25560" anchor="t">
            <a:normAutofit lnSpcReduction="9999"/>
          </a:bodyPr>
          <a:p>
            <a:pPr algn="ctr" defTabSz="914400">
              <a:lnSpc>
                <a:spcPct val="100000"/>
              </a:lnSpc>
              <a:tabLst>
                <a:tab pos="0" algn="l"/>
              </a:tabLst>
            </a:pPr>
            <a:r>
              <a:rPr lang="en-US" sz="1800" b="0" u="none" spc="215" strike="noStrike">
                <a:solidFill>
                  <a:srgbClr val="4C554F"/>
                </a:solidFill>
                <a:effectLst/>
                <a:uFillTx/>
                <a:latin typeface="Courier New"/>
                <a:ea typeface="Courier New"/>
              </a:rPr>
              <a:t>G1 · ¥3–8M</a:t>
            </a:r>
            <a:endParaRPr lang="en-US" sz="1800" b="0" u="none" strike="noStrike">
              <a:solidFill>
                <a:srgbClr val="000000"/>
              </a:solidFill>
              <a:effectLst/>
              <a:uFillTx/>
              <a:latin typeface="Arial"/>
            </a:endParaRPr>
          </a:p>
        </p:txBody>
      </p:sp>
      <p:sp>
        <p:nvSpPr>
          <p:cNvPr id="210" name="Text 27"/>
          <p:cNvSpPr/>
          <p:nvPr/>
        </p:nvSpPr>
        <p:spPr>
          <a:xfrm>
            <a:off x="7531200" y="6118920"/>
            <a:ext cx="3225240" cy="304560"/>
          </a:xfrm>
          <a:prstGeom prst="rect">
            <a:avLst/>
          </a:prstGeom>
          <a:noFill/>
          <a:ln w="0">
            <a:noFill/>
          </a:ln>
        </p:spPr>
        <p:style>
          <a:lnRef idx="0"/>
          <a:fillRef idx="0"/>
          <a:effectRef idx="0"/>
          <a:fontRef idx="minor"/>
        </p:style>
        <p:txBody>
          <a:bodyPr lIns="25560" tIns="25560" rIns="25560" bIns="25560" anchor="t">
            <a:normAutofit lnSpcReduction="9999"/>
          </a:bodyPr>
          <a:p>
            <a:pPr algn="ctr" defTabSz="914400">
              <a:lnSpc>
                <a:spcPct val="100000"/>
              </a:lnSpc>
              <a:tabLst>
                <a:tab pos="0" algn="l"/>
              </a:tabLst>
            </a:pPr>
            <a:r>
              <a:rPr lang="en-US" sz="1800" b="0" u="none" spc="215" strike="noStrike">
                <a:solidFill>
                  <a:srgbClr val="4C554F"/>
                </a:solidFill>
                <a:effectLst/>
                <a:uFillTx/>
                <a:latin typeface="Courier New"/>
                <a:ea typeface="Courier New"/>
              </a:rPr>
              <a:t>G2 · ¥30–50M</a:t>
            </a:r>
            <a:endParaRPr lang="en-US" sz="1800" b="0" u="none" strike="noStrike">
              <a:solidFill>
                <a:srgbClr val="000000"/>
              </a:solidFill>
              <a:effectLst/>
              <a:uFillTx/>
              <a:latin typeface="Arial"/>
            </a:endParaRPr>
          </a:p>
        </p:txBody>
      </p:sp>
      <p:sp>
        <p:nvSpPr>
          <p:cNvPr id="211" name="Text 28"/>
          <p:cNvSpPr/>
          <p:nvPr/>
        </p:nvSpPr>
        <p:spPr>
          <a:xfrm>
            <a:off x="10796400" y="6118920"/>
            <a:ext cx="3225240" cy="304560"/>
          </a:xfrm>
          <a:prstGeom prst="rect">
            <a:avLst/>
          </a:prstGeom>
          <a:noFill/>
          <a:ln w="0">
            <a:noFill/>
          </a:ln>
        </p:spPr>
        <p:style>
          <a:lnRef idx="0"/>
          <a:fillRef idx="0"/>
          <a:effectRef idx="0"/>
          <a:fontRef idx="minor"/>
        </p:style>
        <p:txBody>
          <a:bodyPr lIns="25560" tIns="25560" rIns="25560" bIns="25560" anchor="t">
            <a:normAutofit lnSpcReduction="9999"/>
          </a:bodyPr>
          <a:p>
            <a:pPr algn="ctr" defTabSz="914400">
              <a:lnSpc>
                <a:spcPct val="100000"/>
              </a:lnSpc>
              <a:tabLst>
                <a:tab pos="0" algn="l"/>
              </a:tabLst>
            </a:pPr>
            <a:r>
              <a:rPr lang="en-US" sz="1800" b="0" u="none" spc="215" strike="noStrike">
                <a:solidFill>
                  <a:srgbClr val="4C554F"/>
                </a:solidFill>
                <a:effectLst/>
                <a:uFillTx/>
                <a:latin typeface="Courier New"/>
                <a:ea typeface="Courier New"/>
              </a:rPr>
              <a:t>G3 · ¥80–200M</a:t>
            </a:r>
            <a:endParaRPr lang="en-US" sz="1800" b="0" u="none" strike="noStrike">
              <a:solidFill>
                <a:srgbClr val="000000"/>
              </a:solidFill>
              <a:effectLst/>
              <a:uFillTx/>
              <a:latin typeface="Arial"/>
            </a:endParaRPr>
          </a:p>
        </p:txBody>
      </p:sp>
      <p:sp>
        <p:nvSpPr>
          <p:cNvPr id="212" name="Text 29"/>
          <p:cNvSpPr/>
          <p:nvPr/>
        </p:nvSpPr>
        <p:spPr>
          <a:xfrm>
            <a:off x="14061600" y="6118920"/>
            <a:ext cx="3225240" cy="304560"/>
          </a:xfrm>
          <a:prstGeom prst="rect">
            <a:avLst/>
          </a:prstGeom>
          <a:noFill/>
          <a:ln w="0">
            <a:noFill/>
          </a:ln>
        </p:spPr>
        <p:style>
          <a:lnRef idx="0"/>
          <a:fillRef idx="0"/>
          <a:effectRef idx="0"/>
          <a:fontRef idx="minor"/>
        </p:style>
        <p:txBody>
          <a:bodyPr lIns="25560" tIns="25560" rIns="25560" bIns="25560" anchor="t">
            <a:normAutofit lnSpcReduction="9999"/>
          </a:bodyPr>
          <a:p>
            <a:pPr algn="ctr" defTabSz="914400">
              <a:lnSpc>
                <a:spcPct val="100000"/>
              </a:lnSpc>
              <a:tabLst>
                <a:tab pos="0" algn="l"/>
              </a:tabLst>
            </a:pPr>
            <a:r>
              <a:rPr lang="en-US" sz="1800" b="0" u="none" spc="215" strike="noStrike">
                <a:solidFill>
                  <a:srgbClr val="4C554F"/>
                </a:solidFill>
                <a:effectLst/>
                <a:uFillTx/>
                <a:latin typeface="Courier New"/>
                <a:ea typeface="Courier New"/>
              </a:rPr>
              <a:t>G4 · REVENUE ONLINE</a:t>
            </a:r>
            <a:endParaRPr lang="en-US" sz="1800" b="0" u="none" strike="noStrike">
              <a:solidFill>
                <a:srgbClr val="000000"/>
              </a:solidFill>
              <a:effectLst/>
              <a:uFillTx/>
              <a:latin typeface="Arial"/>
            </a:endParaRPr>
          </a:p>
        </p:txBody>
      </p:sp>
      <p:sp>
        <p:nvSpPr>
          <p:cNvPr id="213" name="Text 30"/>
          <p:cNvSpPr/>
          <p:nvPr/>
        </p:nvSpPr>
        <p:spPr>
          <a:xfrm>
            <a:off x="1047600" y="6557040"/>
            <a:ext cx="945396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215" strike="noStrike">
                <a:solidFill>
                  <a:srgbClr val="4C554F"/>
                </a:solidFill>
                <a:effectLst/>
                <a:uFillTx/>
                <a:latin typeface="Courier New"/>
                <a:ea typeface="Courier New"/>
              </a:rPr>
              <a:t>FIVE-LAYER FUNDING STACK · YEAR-3 TARGET ≈ ¥134M</a:t>
            </a:r>
            <a:endParaRPr lang="en-US" sz="1800" b="0" u="none" strike="noStrike">
              <a:solidFill>
                <a:srgbClr val="000000"/>
              </a:solidFill>
              <a:effectLst/>
              <a:uFillTx/>
              <a:latin typeface="Arial"/>
            </a:endParaRPr>
          </a:p>
        </p:txBody>
      </p:sp>
      <p:sp>
        <p:nvSpPr>
          <p:cNvPr id="214" name="Shape 31"/>
          <p:cNvSpPr/>
          <p:nvPr/>
        </p:nvSpPr>
        <p:spPr>
          <a:xfrm>
            <a:off x="1047600" y="7266600"/>
            <a:ext cx="9178560" cy="9000"/>
          </a:xfrm>
          <a:prstGeom prst="rect">
            <a:avLst/>
          </a:prstGeom>
          <a:solidFill>
            <a:srgbClr val="1F2A24"/>
          </a:solidFill>
          <a:ln w="0">
            <a:noFill/>
          </a:ln>
        </p:spPr>
        <p:style>
          <a:lnRef idx="0"/>
          <a:fillRef idx="0"/>
          <a:effectRef idx="0"/>
          <a:fontRef idx="minor"/>
        </p:style>
        <p:txBody>
          <a:bodyPr lIns="90000" tIns="-35640" rIns="90000" bIns="-35640" anchor="t">
            <a:noAutofit/>
          </a:bodyPr>
          <a:p>
            <a:endParaRPr lang="en-US" sz="1800" b="0" u="none" strike="noStrike">
              <a:solidFill>
                <a:srgbClr val="FFFFFF"/>
              </a:solidFill>
              <a:effectLst/>
              <a:uFillTx/>
              <a:latin typeface="Arial"/>
            </a:endParaRPr>
          </a:p>
        </p:txBody>
      </p:sp>
      <p:sp>
        <p:nvSpPr>
          <p:cNvPr id="215" name="Text 32"/>
          <p:cNvSpPr/>
          <p:nvPr/>
        </p:nvSpPr>
        <p:spPr>
          <a:xfrm>
            <a:off x="1123920" y="6937920"/>
            <a:ext cx="1404720" cy="337680"/>
          </a:xfrm>
          <a:prstGeom prst="rect">
            <a:avLst/>
          </a:prstGeom>
          <a:noFill/>
          <a:ln w="0">
            <a:noFill/>
          </a:ln>
        </p:spPr>
        <p:style>
          <a:lnRef idx="0"/>
          <a:fillRef idx="0"/>
          <a:effectRef idx="0"/>
          <a:fontRef idx="minor"/>
        </p:style>
        <p:txBody>
          <a:bodyPr lIns="25560" tIns="25560" rIns="25560" bIns="25560" anchor="ctr">
            <a:normAutofit/>
          </a:bodyPr>
          <a:p>
            <a:pPr defTabSz="914400">
              <a:lnSpc>
                <a:spcPct val="100000"/>
              </a:lnSpc>
              <a:tabLst>
                <a:tab pos="0" algn="l"/>
              </a:tabLst>
            </a:pPr>
            <a:r>
              <a:rPr lang="en-US" sz="1800" b="0" u="none" strike="noStrike">
                <a:solidFill>
                  <a:srgbClr val="1F2A24"/>
                </a:solidFill>
                <a:effectLst/>
                <a:uFillTx/>
                <a:latin typeface="Arial"/>
                <a:ea typeface="Arial"/>
              </a:rPr>
              <a:t>Layer</a:t>
            </a:r>
            <a:endParaRPr lang="en-US" sz="1800" b="0" u="none" strike="noStrike">
              <a:solidFill>
                <a:srgbClr val="000000"/>
              </a:solidFill>
              <a:effectLst/>
              <a:uFillTx/>
              <a:latin typeface="Arial"/>
            </a:endParaRPr>
          </a:p>
        </p:txBody>
      </p:sp>
      <p:sp>
        <p:nvSpPr>
          <p:cNvPr id="216" name="Text 33"/>
          <p:cNvSpPr/>
          <p:nvPr/>
        </p:nvSpPr>
        <p:spPr>
          <a:xfrm>
            <a:off x="2605320" y="6937920"/>
            <a:ext cx="5094000" cy="337680"/>
          </a:xfrm>
          <a:prstGeom prst="rect">
            <a:avLst/>
          </a:prstGeom>
          <a:noFill/>
          <a:ln w="0">
            <a:noFill/>
          </a:ln>
        </p:spPr>
        <p:style>
          <a:lnRef idx="0"/>
          <a:fillRef idx="0"/>
          <a:effectRef idx="0"/>
          <a:fontRef idx="minor"/>
        </p:style>
        <p:txBody>
          <a:bodyPr lIns="25560" tIns="25560" rIns="25560" bIns="25560" anchor="ctr">
            <a:normAutofit/>
          </a:bodyPr>
          <a:p>
            <a:pPr defTabSz="914400">
              <a:lnSpc>
                <a:spcPct val="100000"/>
              </a:lnSpc>
              <a:tabLst>
                <a:tab pos="0" algn="l"/>
              </a:tabLst>
            </a:pPr>
            <a:r>
              <a:rPr lang="en-US" sz="1800" b="0" u="none" strike="noStrike">
                <a:solidFill>
                  <a:srgbClr val="1F2A24"/>
                </a:solidFill>
                <a:effectLst/>
                <a:uFillTx/>
                <a:latin typeface="Arial"/>
                <a:ea typeface="Arial"/>
              </a:rPr>
              <a:t>Source</a:t>
            </a:r>
            <a:endParaRPr lang="en-US" sz="1800" b="0" u="none" strike="noStrike">
              <a:solidFill>
                <a:srgbClr val="000000"/>
              </a:solidFill>
              <a:effectLst/>
              <a:uFillTx/>
              <a:latin typeface="Arial"/>
            </a:endParaRPr>
          </a:p>
        </p:txBody>
      </p:sp>
      <p:sp>
        <p:nvSpPr>
          <p:cNvPr id="217" name="Text 34"/>
          <p:cNvSpPr/>
          <p:nvPr/>
        </p:nvSpPr>
        <p:spPr>
          <a:xfrm>
            <a:off x="7623000" y="6937920"/>
            <a:ext cx="1084680" cy="337680"/>
          </a:xfrm>
          <a:prstGeom prst="rect">
            <a:avLst/>
          </a:prstGeom>
          <a:noFill/>
          <a:ln w="0">
            <a:noFill/>
          </a:ln>
        </p:spPr>
        <p:style>
          <a:lnRef idx="0"/>
          <a:fillRef idx="0"/>
          <a:effectRef idx="0"/>
          <a:fontRef idx="minor"/>
        </p:style>
        <p:txBody>
          <a:bodyPr lIns="25560" tIns="25560" rIns="25560" bIns="25560" anchor="ctr">
            <a:normAutofit/>
          </a:bodyPr>
          <a:p>
            <a:pPr algn="r" defTabSz="914400">
              <a:lnSpc>
                <a:spcPct val="100000"/>
              </a:lnSpc>
              <a:tabLst>
                <a:tab pos="0" algn="l"/>
              </a:tabLst>
            </a:pPr>
            <a:r>
              <a:rPr lang="en-US" sz="1800" b="0" u="none" strike="noStrike">
                <a:solidFill>
                  <a:srgbClr val="1F2A24"/>
                </a:solidFill>
                <a:effectLst/>
                <a:uFillTx/>
                <a:latin typeface="Arial"/>
                <a:ea typeface="Arial"/>
              </a:rPr>
              <a:t>Yr 1</a:t>
            </a:r>
            <a:endParaRPr lang="en-US" sz="1800" b="0" u="none" strike="noStrike">
              <a:solidFill>
                <a:srgbClr val="000000"/>
              </a:solidFill>
              <a:effectLst/>
              <a:uFillTx/>
              <a:latin typeface="Arial"/>
            </a:endParaRPr>
          </a:p>
        </p:txBody>
      </p:sp>
      <p:sp>
        <p:nvSpPr>
          <p:cNvPr id="218" name="Text 35"/>
          <p:cNvSpPr/>
          <p:nvPr/>
        </p:nvSpPr>
        <p:spPr>
          <a:xfrm>
            <a:off x="8784360" y="6937920"/>
            <a:ext cx="1365840" cy="337680"/>
          </a:xfrm>
          <a:prstGeom prst="rect">
            <a:avLst/>
          </a:prstGeom>
          <a:noFill/>
          <a:ln w="0">
            <a:noFill/>
          </a:ln>
        </p:spPr>
        <p:style>
          <a:lnRef idx="0"/>
          <a:fillRef idx="0"/>
          <a:effectRef idx="0"/>
          <a:fontRef idx="minor"/>
        </p:style>
        <p:txBody>
          <a:bodyPr lIns="25560" tIns="25560" rIns="25560" bIns="25560" anchor="ctr">
            <a:normAutofit/>
          </a:bodyPr>
          <a:p>
            <a:pPr algn="r" defTabSz="914400">
              <a:lnSpc>
                <a:spcPct val="100000"/>
              </a:lnSpc>
              <a:tabLst>
                <a:tab pos="0" algn="l"/>
              </a:tabLst>
            </a:pPr>
            <a:r>
              <a:rPr lang="en-US" sz="1800" b="0" u="none" strike="noStrike">
                <a:solidFill>
                  <a:srgbClr val="1F2A24"/>
                </a:solidFill>
                <a:effectLst/>
                <a:uFillTx/>
                <a:latin typeface="Arial"/>
                <a:ea typeface="Arial"/>
              </a:rPr>
              <a:t>Yr 3</a:t>
            </a:r>
            <a:endParaRPr lang="en-US" sz="1800" b="0" u="none" strike="noStrike">
              <a:solidFill>
                <a:srgbClr val="000000"/>
              </a:solidFill>
              <a:effectLst/>
              <a:uFillTx/>
              <a:latin typeface="Arial"/>
            </a:endParaRPr>
          </a:p>
        </p:txBody>
      </p:sp>
      <p:sp>
        <p:nvSpPr>
          <p:cNvPr id="219" name="Shape 36"/>
          <p:cNvSpPr/>
          <p:nvPr/>
        </p:nvSpPr>
        <p:spPr>
          <a:xfrm>
            <a:off x="1047600" y="7599960"/>
            <a:ext cx="9178560" cy="9000"/>
          </a:xfrm>
          <a:prstGeom prst="rect">
            <a:avLst/>
          </a:prstGeom>
          <a:solidFill>
            <a:srgbClr val="1F2A24">
              <a:alpha val="20000"/>
            </a:srgbClr>
          </a:solidFill>
          <a:ln w="0">
            <a:noFill/>
          </a:ln>
        </p:spPr>
        <p:style>
          <a:lnRef idx="0"/>
          <a:fillRef idx="0"/>
          <a:effectRef idx="0"/>
          <a:fontRef idx="minor"/>
        </p:style>
        <p:txBody>
          <a:bodyPr lIns="90000" tIns="-35640" rIns="90000" bIns="-35640" anchor="t">
            <a:noAutofit/>
          </a:bodyPr>
          <a:p>
            <a:endParaRPr lang="en-US" sz="1800" b="0" u="none" strike="noStrike">
              <a:solidFill>
                <a:srgbClr val="FFFFFF"/>
              </a:solidFill>
              <a:effectLst/>
              <a:uFillTx/>
              <a:latin typeface="Arial"/>
            </a:endParaRPr>
          </a:p>
        </p:txBody>
      </p:sp>
      <p:sp>
        <p:nvSpPr>
          <p:cNvPr id="220" name="Text 37"/>
          <p:cNvSpPr/>
          <p:nvPr/>
        </p:nvSpPr>
        <p:spPr>
          <a:xfrm>
            <a:off x="1123920" y="7304760"/>
            <a:ext cx="1404720" cy="313920"/>
          </a:xfrm>
          <a:prstGeom prst="rect">
            <a:avLst/>
          </a:prstGeom>
          <a:noFill/>
          <a:ln w="0">
            <a:noFill/>
          </a:ln>
        </p:spPr>
        <p:style>
          <a:lnRef idx="0"/>
          <a:fillRef idx="0"/>
          <a:effectRef idx="0"/>
          <a:fontRef idx="minor"/>
        </p:style>
        <p:txBody>
          <a:bodyPr lIns="25560" tIns="25560" rIns="25560" bIns="25560" anchor="ctr">
            <a:normAutofit lnSpcReduction="9999"/>
          </a:bodyPr>
          <a:p>
            <a:pPr defTabSz="914400">
              <a:lnSpc>
                <a:spcPct val="100000"/>
              </a:lnSpc>
              <a:tabLst>
                <a:tab pos="0" algn="l"/>
              </a:tabLst>
            </a:pPr>
            <a:r>
              <a:rPr lang="en-US" sz="1800" b="0" u="none" strike="noStrike">
                <a:solidFill>
                  <a:srgbClr val="1F2A24"/>
                </a:solidFill>
                <a:effectLst/>
                <a:uFillTx/>
                <a:latin typeface="Courier New"/>
                <a:ea typeface="Courier New"/>
              </a:rPr>
              <a:t>L1</a:t>
            </a:r>
            <a:endParaRPr lang="en-US" sz="1800" b="0" u="none" strike="noStrike">
              <a:solidFill>
                <a:srgbClr val="000000"/>
              </a:solidFill>
              <a:effectLst/>
              <a:uFillTx/>
              <a:latin typeface="Arial"/>
            </a:endParaRPr>
          </a:p>
        </p:txBody>
      </p:sp>
      <p:sp>
        <p:nvSpPr>
          <p:cNvPr id="221" name="Text 38"/>
          <p:cNvSpPr/>
          <p:nvPr/>
        </p:nvSpPr>
        <p:spPr>
          <a:xfrm>
            <a:off x="2538720" y="7285680"/>
            <a:ext cx="5227200" cy="352080"/>
          </a:xfrm>
          <a:prstGeom prst="rect">
            <a:avLst/>
          </a:prstGeom>
          <a:noFill/>
          <a:ln w="0">
            <a:noFill/>
          </a:ln>
        </p:spPr>
        <p:style>
          <a:lnRef idx="0"/>
          <a:fillRef idx="0"/>
          <a:effectRef idx="0"/>
          <a:fontRef idx="minor"/>
        </p:style>
        <p:txBody>
          <a:bodyPr lIns="25560" tIns="25560" rIns="25560" bIns="25560" anchor="ctr">
            <a:normAutofit/>
          </a:bodyPr>
          <a:p>
            <a:pPr defTabSz="914400">
              <a:lnSpc>
                <a:spcPct val="100000"/>
              </a:lnSpc>
              <a:tabLst>
                <a:tab pos="0" algn="l"/>
              </a:tabLst>
            </a:pPr>
            <a:r>
              <a:rPr lang="en-US" sz="1800" b="0" u="none" strike="noStrike">
                <a:solidFill>
                  <a:srgbClr val="1F2A24"/>
                </a:solidFill>
                <a:effectLst/>
                <a:uFillTx/>
                <a:latin typeface="Courier New"/>
                <a:ea typeface="Courier New"/>
              </a:rPr>
              <a:t>Founder / private</a:t>
            </a:r>
            <a:endParaRPr lang="en-US" sz="1800" b="0" u="none" strike="noStrike">
              <a:solidFill>
                <a:srgbClr val="000000"/>
              </a:solidFill>
              <a:effectLst/>
              <a:uFillTx/>
              <a:latin typeface="Arial"/>
            </a:endParaRPr>
          </a:p>
        </p:txBody>
      </p:sp>
      <p:sp>
        <p:nvSpPr>
          <p:cNvPr id="222" name="Text 39"/>
          <p:cNvSpPr/>
          <p:nvPr/>
        </p:nvSpPr>
        <p:spPr>
          <a:xfrm>
            <a:off x="7556400" y="7285680"/>
            <a:ext cx="1218240" cy="352080"/>
          </a:xfrm>
          <a:prstGeom prst="rect">
            <a:avLst/>
          </a:prstGeom>
          <a:noFill/>
          <a:ln w="0">
            <a:noFill/>
          </a:ln>
        </p:spPr>
        <p:style>
          <a:lnRef idx="0"/>
          <a:fillRef idx="0"/>
          <a:effectRef idx="0"/>
          <a:fontRef idx="minor"/>
        </p:style>
        <p:txBody>
          <a:bodyPr lIns="25560" tIns="25560" rIns="25560" bIns="25560" anchor="ctr">
            <a:normAutofit/>
          </a:bodyPr>
          <a:p>
            <a:pPr algn="r" defTabSz="914400">
              <a:lnSpc>
                <a:spcPct val="100000"/>
              </a:lnSpc>
              <a:tabLst>
                <a:tab pos="0" algn="l"/>
              </a:tabLst>
            </a:pPr>
            <a:r>
              <a:rPr lang="en-US" sz="1800" b="0" u="none" strike="noStrike">
                <a:solidFill>
                  <a:srgbClr val="1F2A24"/>
                </a:solidFill>
                <a:effectLst/>
                <a:uFillTx/>
                <a:latin typeface="Courier New"/>
                <a:ea typeface="Courier New"/>
              </a:rPr>
              <a:t>¥3M</a:t>
            </a:r>
            <a:endParaRPr lang="en-US" sz="1800" b="0" u="none" strike="noStrike">
              <a:solidFill>
                <a:srgbClr val="000000"/>
              </a:solidFill>
              <a:effectLst/>
              <a:uFillTx/>
              <a:latin typeface="Arial"/>
            </a:endParaRPr>
          </a:p>
        </p:txBody>
      </p:sp>
      <p:sp>
        <p:nvSpPr>
          <p:cNvPr id="223" name="Text 40"/>
          <p:cNvSpPr/>
          <p:nvPr/>
        </p:nvSpPr>
        <p:spPr>
          <a:xfrm>
            <a:off x="8717760" y="7285680"/>
            <a:ext cx="1499040" cy="352080"/>
          </a:xfrm>
          <a:prstGeom prst="rect">
            <a:avLst/>
          </a:prstGeom>
          <a:noFill/>
          <a:ln w="0">
            <a:noFill/>
          </a:ln>
        </p:spPr>
        <p:style>
          <a:lnRef idx="0"/>
          <a:fillRef idx="0"/>
          <a:effectRef idx="0"/>
          <a:fontRef idx="minor"/>
        </p:style>
        <p:txBody>
          <a:bodyPr lIns="25560" tIns="25560" rIns="25560" bIns="25560" anchor="ctr">
            <a:normAutofit/>
          </a:bodyPr>
          <a:p>
            <a:pPr algn="r" defTabSz="914400">
              <a:lnSpc>
                <a:spcPct val="100000"/>
              </a:lnSpc>
              <a:tabLst>
                <a:tab pos="0" algn="l"/>
              </a:tabLst>
            </a:pPr>
            <a:r>
              <a:rPr lang="en-US" sz="1800" b="0" u="none" strike="noStrike">
                <a:solidFill>
                  <a:srgbClr val="1F2A24"/>
                </a:solidFill>
                <a:effectLst/>
                <a:uFillTx/>
                <a:latin typeface="Courier New"/>
                <a:ea typeface="Courier New"/>
              </a:rPr>
              <a:t>¥1M</a:t>
            </a:r>
            <a:endParaRPr lang="en-US" sz="1800" b="0" u="none" strike="noStrike">
              <a:solidFill>
                <a:srgbClr val="000000"/>
              </a:solidFill>
              <a:effectLst/>
              <a:uFillTx/>
              <a:latin typeface="Arial"/>
            </a:endParaRPr>
          </a:p>
        </p:txBody>
      </p:sp>
      <p:sp>
        <p:nvSpPr>
          <p:cNvPr id="224" name="Shape 41"/>
          <p:cNvSpPr/>
          <p:nvPr/>
        </p:nvSpPr>
        <p:spPr>
          <a:xfrm>
            <a:off x="1047600" y="7933320"/>
            <a:ext cx="9178560" cy="9000"/>
          </a:xfrm>
          <a:prstGeom prst="rect">
            <a:avLst/>
          </a:prstGeom>
          <a:solidFill>
            <a:srgbClr val="1F2A24">
              <a:alpha val="20000"/>
            </a:srgbClr>
          </a:solidFill>
          <a:ln w="0">
            <a:noFill/>
          </a:ln>
        </p:spPr>
        <p:style>
          <a:lnRef idx="0"/>
          <a:fillRef idx="0"/>
          <a:effectRef idx="0"/>
          <a:fontRef idx="minor"/>
        </p:style>
        <p:txBody>
          <a:bodyPr lIns="90000" tIns="-35640" rIns="90000" bIns="-35640" anchor="t">
            <a:noAutofit/>
          </a:bodyPr>
          <a:p>
            <a:endParaRPr lang="en-US" sz="1800" b="0" u="none" strike="noStrike">
              <a:solidFill>
                <a:srgbClr val="FFFFFF"/>
              </a:solidFill>
              <a:effectLst/>
              <a:uFillTx/>
              <a:latin typeface="Arial"/>
            </a:endParaRPr>
          </a:p>
        </p:txBody>
      </p:sp>
      <p:sp>
        <p:nvSpPr>
          <p:cNvPr id="225" name="Text 42"/>
          <p:cNvSpPr/>
          <p:nvPr/>
        </p:nvSpPr>
        <p:spPr>
          <a:xfrm>
            <a:off x="1123920" y="7638120"/>
            <a:ext cx="1404720" cy="313920"/>
          </a:xfrm>
          <a:prstGeom prst="rect">
            <a:avLst/>
          </a:prstGeom>
          <a:noFill/>
          <a:ln w="0">
            <a:noFill/>
          </a:ln>
        </p:spPr>
        <p:style>
          <a:lnRef idx="0"/>
          <a:fillRef idx="0"/>
          <a:effectRef idx="0"/>
          <a:fontRef idx="minor"/>
        </p:style>
        <p:txBody>
          <a:bodyPr lIns="25560" tIns="25560" rIns="25560" bIns="25560" anchor="ctr">
            <a:normAutofit lnSpcReduction="9999"/>
          </a:bodyPr>
          <a:p>
            <a:pPr defTabSz="914400">
              <a:lnSpc>
                <a:spcPct val="100000"/>
              </a:lnSpc>
              <a:tabLst>
                <a:tab pos="0" algn="l"/>
              </a:tabLst>
            </a:pPr>
            <a:r>
              <a:rPr lang="en-US" sz="1800" b="0" u="none" strike="noStrike">
                <a:solidFill>
                  <a:srgbClr val="1F2A24"/>
                </a:solidFill>
                <a:effectLst/>
                <a:uFillTx/>
                <a:latin typeface="Courier New"/>
                <a:ea typeface="Courier New"/>
              </a:rPr>
              <a:t>L2</a:t>
            </a:r>
            <a:endParaRPr lang="en-US" sz="1800" b="0" u="none" strike="noStrike">
              <a:solidFill>
                <a:srgbClr val="000000"/>
              </a:solidFill>
              <a:effectLst/>
              <a:uFillTx/>
              <a:latin typeface="Arial"/>
            </a:endParaRPr>
          </a:p>
        </p:txBody>
      </p:sp>
      <p:sp>
        <p:nvSpPr>
          <p:cNvPr id="226" name="Text 43"/>
          <p:cNvSpPr/>
          <p:nvPr/>
        </p:nvSpPr>
        <p:spPr>
          <a:xfrm>
            <a:off x="2538720" y="7619040"/>
            <a:ext cx="5227200" cy="352080"/>
          </a:xfrm>
          <a:prstGeom prst="rect">
            <a:avLst/>
          </a:prstGeom>
          <a:noFill/>
          <a:ln w="0">
            <a:noFill/>
          </a:ln>
        </p:spPr>
        <p:style>
          <a:lnRef idx="0"/>
          <a:fillRef idx="0"/>
          <a:effectRef idx="0"/>
          <a:fontRef idx="minor"/>
        </p:style>
        <p:txBody>
          <a:bodyPr lIns="25560" tIns="25560" rIns="25560" bIns="25560" anchor="ctr">
            <a:normAutofit/>
          </a:bodyPr>
          <a:p>
            <a:pPr defTabSz="914400">
              <a:lnSpc>
                <a:spcPct val="100000"/>
              </a:lnSpc>
              <a:tabLst>
                <a:tab pos="0" algn="l"/>
              </a:tabLst>
            </a:pPr>
            <a:r>
              <a:rPr lang="en-US" sz="1800" b="0" u="none" strike="noStrike">
                <a:solidFill>
                  <a:srgbClr val="1F2A24"/>
                </a:solidFill>
                <a:effectLst/>
                <a:uFillTx/>
                <a:latin typeface="Courier New"/>
                <a:ea typeface="Courier New"/>
              </a:rPr>
              <a:t>Government grants</a:t>
            </a:r>
            <a:endParaRPr lang="en-US" sz="1800" b="0" u="none" strike="noStrike">
              <a:solidFill>
                <a:srgbClr val="000000"/>
              </a:solidFill>
              <a:effectLst/>
              <a:uFillTx/>
              <a:latin typeface="Arial"/>
            </a:endParaRPr>
          </a:p>
        </p:txBody>
      </p:sp>
      <p:sp>
        <p:nvSpPr>
          <p:cNvPr id="227" name="Text 44"/>
          <p:cNvSpPr/>
          <p:nvPr/>
        </p:nvSpPr>
        <p:spPr>
          <a:xfrm>
            <a:off x="7556400" y="7619040"/>
            <a:ext cx="1218240" cy="352080"/>
          </a:xfrm>
          <a:prstGeom prst="rect">
            <a:avLst/>
          </a:prstGeom>
          <a:noFill/>
          <a:ln w="0">
            <a:noFill/>
          </a:ln>
        </p:spPr>
        <p:style>
          <a:lnRef idx="0"/>
          <a:fillRef idx="0"/>
          <a:effectRef idx="0"/>
          <a:fontRef idx="minor"/>
        </p:style>
        <p:txBody>
          <a:bodyPr lIns="25560" tIns="25560" rIns="25560" bIns="25560" anchor="ctr">
            <a:normAutofit/>
          </a:bodyPr>
          <a:p>
            <a:pPr algn="r" defTabSz="914400">
              <a:lnSpc>
                <a:spcPct val="100000"/>
              </a:lnSpc>
              <a:tabLst>
                <a:tab pos="0" algn="l"/>
              </a:tabLst>
            </a:pPr>
            <a:r>
              <a:rPr lang="en-US" sz="1800" b="0" u="none" strike="noStrike">
                <a:solidFill>
                  <a:srgbClr val="1F2A24"/>
                </a:solidFill>
                <a:effectLst/>
                <a:uFillTx/>
                <a:latin typeface="Courier New"/>
                <a:ea typeface="Courier New"/>
              </a:rPr>
              <a:t>¥5M</a:t>
            </a:r>
            <a:endParaRPr lang="en-US" sz="1800" b="0" u="none" strike="noStrike">
              <a:solidFill>
                <a:srgbClr val="000000"/>
              </a:solidFill>
              <a:effectLst/>
              <a:uFillTx/>
              <a:latin typeface="Arial"/>
            </a:endParaRPr>
          </a:p>
        </p:txBody>
      </p:sp>
      <p:sp>
        <p:nvSpPr>
          <p:cNvPr id="228" name="Text 45"/>
          <p:cNvSpPr/>
          <p:nvPr/>
        </p:nvSpPr>
        <p:spPr>
          <a:xfrm>
            <a:off x="8717760" y="7619040"/>
            <a:ext cx="1499040" cy="352080"/>
          </a:xfrm>
          <a:prstGeom prst="rect">
            <a:avLst/>
          </a:prstGeom>
          <a:noFill/>
          <a:ln w="0">
            <a:noFill/>
          </a:ln>
        </p:spPr>
        <p:style>
          <a:lnRef idx="0"/>
          <a:fillRef idx="0"/>
          <a:effectRef idx="0"/>
          <a:fontRef idx="minor"/>
        </p:style>
        <p:txBody>
          <a:bodyPr lIns="25560" tIns="25560" rIns="25560" bIns="25560" anchor="ctr">
            <a:normAutofit/>
          </a:bodyPr>
          <a:p>
            <a:pPr algn="r" defTabSz="914400">
              <a:lnSpc>
                <a:spcPct val="100000"/>
              </a:lnSpc>
              <a:tabLst>
                <a:tab pos="0" algn="l"/>
              </a:tabLst>
            </a:pPr>
            <a:r>
              <a:rPr lang="en-US" sz="1800" b="0" u="none" strike="noStrike">
                <a:solidFill>
                  <a:srgbClr val="1F2A24"/>
                </a:solidFill>
                <a:effectLst/>
                <a:uFillTx/>
                <a:latin typeface="Courier New"/>
                <a:ea typeface="Courier New"/>
              </a:rPr>
              <a:t>¥80M</a:t>
            </a:r>
            <a:endParaRPr lang="en-US" sz="1800" b="0" u="none" strike="noStrike">
              <a:solidFill>
                <a:srgbClr val="000000"/>
              </a:solidFill>
              <a:effectLst/>
              <a:uFillTx/>
              <a:latin typeface="Arial"/>
            </a:endParaRPr>
          </a:p>
        </p:txBody>
      </p:sp>
      <p:sp>
        <p:nvSpPr>
          <p:cNvPr id="229" name="Shape 46"/>
          <p:cNvSpPr/>
          <p:nvPr/>
        </p:nvSpPr>
        <p:spPr>
          <a:xfrm>
            <a:off x="1047600" y="8266680"/>
            <a:ext cx="9178560" cy="9000"/>
          </a:xfrm>
          <a:prstGeom prst="rect">
            <a:avLst/>
          </a:prstGeom>
          <a:solidFill>
            <a:srgbClr val="1F2A24">
              <a:alpha val="20000"/>
            </a:srgbClr>
          </a:solidFill>
          <a:ln w="0">
            <a:noFill/>
          </a:ln>
        </p:spPr>
        <p:style>
          <a:lnRef idx="0"/>
          <a:fillRef idx="0"/>
          <a:effectRef idx="0"/>
          <a:fontRef idx="minor"/>
        </p:style>
        <p:txBody>
          <a:bodyPr lIns="90000" tIns="-35640" rIns="90000" bIns="-35640" anchor="t">
            <a:noAutofit/>
          </a:bodyPr>
          <a:p>
            <a:endParaRPr lang="en-US" sz="1800" b="0" u="none" strike="noStrike">
              <a:solidFill>
                <a:srgbClr val="FFFFFF"/>
              </a:solidFill>
              <a:effectLst/>
              <a:uFillTx/>
              <a:latin typeface="Arial"/>
            </a:endParaRPr>
          </a:p>
        </p:txBody>
      </p:sp>
      <p:sp>
        <p:nvSpPr>
          <p:cNvPr id="230" name="Text 47"/>
          <p:cNvSpPr/>
          <p:nvPr/>
        </p:nvSpPr>
        <p:spPr>
          <a:xfrm>
            <a:off x="1123920" y="7971480"/>
            <a:ext cx="1404720" cy="313920"/>
          </a:xfrm>
          <a:prstGeom prst="rect">
            <a:avLst/>
          </a:prstGeom>
          <a:noFill/>
          <a:ln w="0">
            <a:noFill/>
          </a:ln>
        </p:spPr>
        <p:style>
          <a:lnRef idx="0"/>
          <a:fillRef idx="0"/>
          <a:effectRef idx="0"/>
          <a:fontRef idx="minor"/>
        </p:style>
        <p:txBody>
          <a:bodyPr lIns="25560" tIns="25560" rIns="25560" bIns="25560" anchor="ctr">
            <a:normAutofit lnSpcReduction="9999"/>
          </a:bodyPr>
          <a:p>
            <a:pPr defTabSz="914400">
              <a:lnSpc>
                <a:spcPct val="100000"/>
              </a:lnSpc>
              <a:tabLst>
                <a:tab pos="0" algn="l"/>
              </a:tabLst>
            </a:pPr>
            <a:r>
              <a:rPr lang="en-US" sz="1800" b="0" u="none" strike="noStrike">
                <a:solidFill>
                  <a:srgbClr val="1F2A24"/>
                </a:solidFill>
                <a:effectLst/>
                <a:uFillTx/>
                <a:latin typeface="Courier New"/>
                <a:ea typeface="Courier New"/>
              </a:rPr>
              <a:t>L3</a:t>
            </a:r>
            <a:endParaRPr lang="en-US" sz="1800" b="0" u="none" strike="noStrike">
              <a:solidFill>
                <a:srgbClr val="000000"/>
              </a:solidFill>
              <a:effectLst/>
              <a:uFillTx/>
              <a:latin typeface="Arial"/>
            </a:endParaRPr>
          </a:p>
        </p:txBody>
      </p:sp>
      <p:sp>
        <p:nvSpPr>
          <p:cNvPr id="231" name="Text 48"/>
          <p:cNvSpPr/>
          <p:nvPr/>
        </p:nvSpPr>
        <p:spPr>
          <a:xfrm>
            <a:off x="2538720" y="7952400"/>
            <a:ext cx="5227200" cy="352080"/>
          </a:xfrm>
          <a:prstGeom prst="rect">
            <a:avLst/>
          </a:prstGeom>
          <a:noFill/>
          <a:ln w="0">
            <a:noFill/>
          </a:ln>
        </p:spPr>
        <p:style>
          <a:lnRef idx="0"/>
          <a:fillRef idx="0"/>
          <a:effectRef idx="0"/>
          <a:fontRef idx="minor"/>
        </p:style>
        <p:txBody>
          <a:bodyPr lIns="25560" tIns="25560" rIns="25560" bIns="25560" anchor="ctr">
            <a:normAutofit/>
          </a:bodyPr>
          <a:p>
            <a:pPr defTabSz="914400">
              <a:lnSpc>
                <a:spcPct val="100000"/>
              </a:lnSpc>
              <a:tabLst>
                <a:tab pos="0" algn="l"/>
              </a:tabLst>
            </a:pPr>
            <a:r>
              <a:rPr lang="en-US" sz="1800" b="0" u="none" strike="noStrike">
                <a:solidFill>
                  <a:srgbClr val="1F2A24"/>
                </a:solidFill>
                <a:effectLst/>
                <a:uFillTx/>
                <a:latin typeface="Courier New"/>
                <a:ea typeface="Courier New"/>
              </a:rPr>
              <a:t>Foundations</a:t>
            </a:r>
            <a:endParaRPr lang="en-US" sz="1800" b="0" u="none" strike="noStrike">
              <a:solidFill>
                <a:srgbClr val="000000"/>
              </a:solidFill>
              <a:effectLst/>
              <a:uFillTx/>
              <a:latin typeface="Arial"/>
            </a:endParaRPr>
          </a:p>
        </p:txBody>
      </p:sp>
      <p:sp>
        <p:nvSpPr>
          <p:cNvPr id="232" name="Text 49"/>
          <p:cNvSpPr/>
          <p:nvPr/>
        </p:nvSpPr>
        <p:spPr>
          <a:xfrm>
            <a:off x="7556400" y="7952400"/>
            <a:ext cx="1218240" cy="352080"/>
          </a:xfrm>
          <a:prstGeom prst="rect">
            <a:avLst/>
          </a:prstGeom>
          <a:noFill/>
          <a:ln w="0">
            <a:noFill/>
          </a:ln>
        </p:spPr>
        <p:style>
          <a:lnRef idx="0"/>
          <a:fillRef idx="0"/>
          <a:effectRef idx="0"/>
          <a:fontRef idx="minor"/>
        </p:style>
        <p:txBody>
          <a:bodyPr lIns="25560" tIns="25560" rIns="25560" bIns="25560" anchor="ctr">
            <a:normAutofit/>
          </a:bodyPr>
          <a:p>
            <a:pPr algn="r" defTabSz="914400">
              <a:lnSpc>
                <a:spcPct val="100000"/>
              </a:lnSpc>
              <a:tabLst>
                <a:tab pos="0" algn="l"/>
              </a:tabLst>
            </a:pPr>
            <a:r>
              <a:rPr lang="en-US" sz="1800" b="0" u="none" strike="noStrike">
                <a:solidFill>
                  <a:srgbClr val="1F2A24"/>
                </a:solidFill>
                <a:effectLst/>
                <a:uFillTx/>
                <a:latin typeface="Courier New"/>
                <a:ea typeface="Courier New"/>
              </a:rPr>
              <a:t>¥3M</a:t>
            </a:r>
            <a:endParaRPr lang="en-US" sz="1800" b="0" u="none" strike="noStrike">
              <a:solidFill>
                <a:srgbClr val="000000"/>
              </a:solidFill>
              <a:effectLst/>
              <a:uFillTx/>
              <a:latin typeface="Arial"/>
            </a:endParaRPr>
          </a:p>
        </p:txBody>
      </p:sp>
      <p:sp>
        <p:nvSpPr>
          <p:cNvPr id="233" name="Text 50"/>
          <p:cNvSpPr/>
          <p:nvPr/>
        </p:nvSpPr>
        <p:spPr>
          <a:xfrm>
            <a:off x="8717760" y="7952400"/>
            <a:ext cx="1499040" cy="352080"/>
          </a:xfrm>
          <a:prstGeom prst="rect">
            <a:avLst/>
          </a:prstGeom>
          <a:noFill/>
          <a:ln w="0">
            <a:noFill/>
          </a:ln>
        </p:spPr>
        <p:style>
          <a:lnRef idx="0"/>
          <a:fillRef idx="0"/>
          <a:effectRef idx="0"/>
          <a:fontRef idx="minor"/>
        </p:style>
        <p:txBody>
          <a:bodyPr lIns="25560" tIns="25560" rIns="25560" bIns="25560" anchor="ctr">
            <a:normAutofit/>
          </a:bodyPr>
          <a:p>
            <a:pPr algn="r" defTabSz="914400">
              <a:lnSpc>
                <a:spcPct val="100000"/>
              </a:lnSpc>
              <a:tabLst>
                <a:tab pos="0" algn="l"/>
              </a:tabLst>
            </a:pPr>
            <a:r>
              <a:rPr lang="en-US" sz="1800" b="0" u="none" strike="noStrike">
                <a:solidFill>
                  <a:srgbClr val="1F2A24"/>
                </a:solidFill>
                <a:effectLst/>
                <a:uFillTx/>
                <a:latin typeface="Courier New"/>
                <a:ea typeface="Courier New"/>
              </a:rPr>
              <a:t>¥20M</a:t>
            </a:r>
            <a:endParaRPr lang="en-US" sz="1800" b="0" u="none" strike="noStrike">
              <a:solidFill>
                <a:srgbClr val="000000"/>
              </a:solidFill>
              <a:effectLst/>
              <a:uFillTx/>
              <a:latin typeface="Arial"/>
            </a:endParaRPr>
          </a:p>
        </p:txBody>
      </p:sp>
      <p:sp>
        <p:nvSpPr>
          <p:cNvPr id="234" name="Shape 51"/>
          <p:cNvSpPr/>
          <p:nvPr/>
        </p:nvSpPr>
        <p:spPr>
          <a:xfrm>
            <a:off x="1047600" y="8600040"/>
            <a:ext cx="9178560" cy="9000"/>
          </a:xfrm>
          <a:prstGeom prst="rect">
            <a:avLst/>
          </a:prstGeom>
          <a:solidFill>
            <a:srgbClr val="1F2A24">
              <a:alpha val="20000"/>
            </a:srgbClr>
          </a:solidFill>
          <a:ln w="0">
            <a:noFill/>
          </a:ln>
        </p:spPr>
        <p:style>
          <a:lnRef idx="0"/>
          <a:fillRef idx="0"/>
          <a:effectRef idx="0"/>
          <a:fontRef idx="minor"/>
        </p:style>
        <p:txBody>
          <a:bodyPr lIns="90000" tIns="-35640" rIns="90000" bIns="-35640" anchor="t">
            <a:noAutofit/>
          </a:bodyPr>
          <a:p>
            <a:endParaRPr lang="en-US" sz="1800" b="0" u="none" strike="noStrike">
              <a:solidFill>
                <a:srgbClr val="FFFFFF"/>
              </a:solidFill>
              <a:effectLst/>
              <a:uFillTx/>
              <a:latin typeface="Arial"/>
            </a:endParaRPr>
          </a:p>
        </p:txBody>
      </p:sp>
      <p:sp>
        <p:nvSpPr>
          <p:cNvPr id="235" name="Text 52"/>
          <p:cNvSpPr/>
          <p:nvPr/>
        </p:nvSpPr>
        <p:spPr>
          <a:xfrm>
            <a:off x="1123920" y="8304840"/>
            <a:ext cx="1404720" cy="313920"/>
          </a:xfrm>
          <a:prstGeom prst="rect">
            <a:avLst/>
          </a:prstGeom>
          <a:noFill/>
          <a:ln w="0">
            <a:noFill/>
          </a:ln>
        </p:spPr>
        <p:style>
          <a:lnRef idx="0"/>
          <a:fillRef idx="0"/>
          <a:effectRef idx="0"/>
          <a:fontRef idx="minor"/>
        </p:style>
        <p:txBody>
          <a:bodyPr lIns="25560" tIns="25560" rIns="25560" bIns="25560" anchor="ctr">
            <a:normAutofit lnSpcReduction="9999"/>
          </a:bodyPr>
          <a:p>
            <a:pPr defTabSz="914400">
              <a:lnSpc>
                <a:spcPct val="100000"/>
              </a:lnSpc>
              <a:tabLst>
                <a:tab pos="0" algn="l"/>
              </a:tabLst>
            </a:pPr>
            <a:r>
              <a:rPr lang="en-US" sz="1800" b="0" u="none" strike="noStrike">
                <a:solidFill>
                  <a:srgbClr val="1F2A24"/>
                </a:solidFill>
                <a:effectLst/>
                <a:uFillTx/>
                <a:latin typeface="Courier New"/>
                <a:ea typeface="Courier New"/>
              </a:rPr>
              <a:t>L4</a:t>
            </a:r>
            <a:endParaRPr lang="en-US" sz="1800" b="0" u="none" strike="noStrike">
              <a:solidFill>
                <a:srgbClr val="000000"/>
              </a:solidFill>
              <a:effectLst/>
              <a:uFillTx/>
              <a:latin typeface="Arial"/>
            </a:endParaRPr>
          </a:p>
        </p:txBody>
      </p:sp>
      <p:sp>
        <p:nvSpPr>
          <p:cNvPr id="236" name="Text 53"/>
          <p:cNvSpPr/>
          <p:nvPr/>
        </p:nvSpPr>
        <p:spPr>
          <a:xfrm>
            <a:off x="2538720" y="8285760"/>
            <a:ext cx="5227200" cy="352080"/>
          </a:xfrm>
          <a:prstGeom prst="rect">
            <a:avLst/>
          </a:prstGeom>
          <a:noFill/>
          <a:ln w="0">
            <a:noFill/>
          </a:ln>
        </p:spPr>
        <p:style>
          <a:lnRef idx="0"/>
          <a:fillRef idx="0"/>
          <a:effectRef idx="0"/>
          <a:fontRef idx="minor"/>
        </p:style>
        <p:txBody>
          <a:bodyPr lIns="25560" tIns="25560" rIns="25560" bIns="25560" anchor="ctr">
            <a:normAutofit/>
          </a:bodyPr>
          <a:p>
            <a:pPr defTabSz="914400">
              <a:lnSpc>
                <a:spcPct val="100000"/>
              </a:lnSpc>
              <a:tabLst>
                <a:tab pos="0" algn="l"/>
              </a:tabLst>
            </a:pPr>
            <a:r>
              <a:rPr lang="en-US" sz="1800" b="0" u="none" strike="noStrike">
                <a:solidFill>
                  <a:srgbClr val="1F2A24"/>
                </a:solidFill>
                <a:effectLst/>
                <a:uFillTx/>
                <a:latin typeface="Courier New"/>
                <a:ea typeface="Courier New"/>
              </a:rPr>
              <a:t>Corporate partners</a:t>
            </a:r>
            <a:endParaRPr lang="en-US" sz="1800" b="0" u="none" strike="noStrike">
              <a:solidFill>
                <a:srgbClr val="000000"/>
              </a:solidFill>
              <a:effectLst/>
              <a:uFillTx/>
              <a:latin typeface="Arial"/>
            </a:endParaRPr>
          </a:p>
        </p:txBody>
      </p:sp>
      <p:sp>
        <p:nvSpPr>
          <p:cNvPr id="237" name="Text 54"/>
          <p:cNvSpPr/>
          <p:nvPr/>
        </p:nvSpPr>
        <p:spPr>
          <a:xfrm>
            <a:off x="7556400" y="8285760"/>
            <a:ext cx="1218240" cy="352080"/>
          </a:xfrm>
          <a:prstGeom prst="rect">
            <a:avLst/>
          </a:prstGeom>
          <a:noFill/>
          <a:ln w="0">
            <a:noFill/>
          </a:ln>
        </p:spPr>
        <p:style>
          <a:lnRef idx="0"/>
          <a:fillRef idx="0"/>
          <a:effectRef idx="0"/>
          <a:fontRef idx="minor"/>
        </p:style>
        <p:txBody>
          <a:bodyPr lIns="25560" tIns="25560" rIns="25560" bIns="25560" anchor="ctr">
            <a:normAutofit/>
          </a:bodyPr>
          <a:p>
            <a:pPr algn="r" defTabSz="914400">
              <a:lnSpc>
                <a:spcPct val="100000"/>
              </a:lnSpc>
              <a:tabLst>
                <a:tab pos="0" algn="l"/>
              </a:tabLst>
            </a:pPr>
            <a:r>
              <a:rPr lang="en-US" sz="1800" b="0" u="none" strike="noStrike">
                <a:solidFill>
                  <a:srgbClr val="1F2A24"/>
                </a:solidFill>
                <a:effectLst/>
                <a:uFillTx/>
                <a:latin typeface="Courier New"/>
                <a:ea typeface="Courier New"/>
              </a:rPr>
              <a:t>¥0</a:t>
            </a:r>
            <a:endParaRPr lang="en-US" sz="1800" b="0" u="none" strike="noStrike">
              <a:solidFill>
                <a:srgbClr val="000000"/>
              </a:solidFill>
              <a:effectLst/>
              <a:uFillTx/>
              <a:latin typeface="Arial"/>
            </a:endParaRPr>
          </a:p>
        </p:txBody>
      </p:sp>
      <p:sp>
        <p:nvSpPr>
          <p:cNvPr id="238" name="Text 55"/>
          <p:cNvSpPr/>
          <p:nvPr/>
        </p:nvSpPr>
        <p:spPr>
          <a:xfrm>
            <a:off x="8717760" y="8285760"/>
            <a:ext cx="1499040" cy="352080"/>
          </a:xfrm>
          <a:prstGeom prst="rect">
            <a:avLst/>
          </a:prstGeom>
          <a:noFill/>
          <a:ln w="0">
            <a:noFill/>
          </a:ln>
        </p:spPr>
        <p:style>
          <a:lnRef idx="0"/>
          <a:fillRef idx="0"/>
          <a:effectRef idx="0"/>
          <a:fontRef idx="minor"/>
        </p:style>
        <p:txBody>
          <a:bodyPr lIns="25560" tIns="25560" rIns="25560" bIns="25560" anchor="ctr">
            <a:normAutofit/>
          </a:bodyPr>
          <a:p>
            <a:pPr algn="r" defTabSz="914400">
              <a:lnSpc>
                <a:spcPct val="100000"/>
              </a:lnSpc>
              <a:tabLst>
                <a:tab pos="0" algn="l"/>
              </a:tabLst>
            </a:pPr>
            <a:r>
              <a:rPr lang="en-US" sz="1800" b="0" u="none" strike="noStrike">
                <a:solidFill>
                  <a:srgbClr val="1F2A24"/>
                </a:solidFill>
                <a:effectLst/>
                <a:uFillTx/>
                <a:latin typeface="Courier New"/>
                <a:ea typeface="Courier New"/>
              </a:rPr>
              <a:t>¥30M</a:t>
            </a:r>
            <a:endParaRPr lang="en-US" sz="1800" b="0" u="none" strike="noStrike">
              <a:solidFill>
                <a:srgbClr val="000000"/>
              </a:solidFill>
              <a:effectLst/>
              <a:uFillTx/>
              <a:latin typeface="Arial"/>
            </a:endParaRPr>
          </a:p>
        </p:txBody>
      </p:sp>
      <p:sp>
        <p:nvSpPr>
          <p:cNvPr id="239" name="Shape 56"/>
          <p:cNvSpPr/>
          <p:nvPr/>
        </p:nvSpPr>
        <p:spPr>
          <a:xfrm>
            <a:off x="1047600" y="8933400"/>
            <a:ext cx="9178560" cy="9000"/>
          </a:xfrm>
          <a:prstGeom prst="rect">
            <a:avLst/>
          </a:prstGeom>
          <a:solidFill>
            <a:srgbClr val="1F2A24">
              <a:alpha val="20000"/>
            </a:srgbClr>
          </a:solidFill>
          <a:ln w="0">
            <a:noFill/>
          </a:ln>
        </p:spPr>
        <p:style>
          <a:lnRef idx="0"/>
          <a:fillRef idx="0"/>
          <a:effectRef idx="0"/>
          <a:fontRef idx="minor"/>
        </p:style>
        <p:txBody>
          <a:bodyPr lIns="90000" tIns="-35640" rIns="90000" bIns="-35640" anchor="t">
            <a:noAutofit/>
          </a:bodyPr>
          <a:p>
            <a:endParaRPr lang="en-US" sz="1800" b="0" u="none" strike="noStrike">
              <a:solidFill>
                <a:srgbClr val="FFFFFF"/>
              </a:solidFill>
              <a:effectLst/>
              <a:uFillTx/>
              <a:latin typeface="Arial"/>
            </a:endParaRPr>
          </a:p>
        </p:txBody>
      </p:sp>
      <p:sp>
        <p:nvSpPr>
          <p:cNvPr id="240" name="Text 57"/>
          <p:cNvSpPr/>
          <p:nvPr/>
        </p:nvSpPr>
        <p:spPr>
          <a:xfrm>
            <a:off x="1123920" y="8638200"/>
            <a:ext cx="1404720" cy="313920"/>
          </a:xfrm>
          <a:prstGeom prst="rect">
            <a:avLst/>
          </a:prstGeom>
          <a:noFill/>
          <a:ln w="0">
            <a:noFill/>
          </a:ln>
        </p:spPr>
        <p:style>
          <a:lnRef idx="0"/>
          <a:fillRef idx="0"/>
          <a:effectRef idx="0"/>
          <a:fontRef idx="minor"/>
        </p:style>
        <p:txBody>
          <a:bodyPr lIns="25560" tIns="25560" rIns="25560" bIns="25560" anchor="ctr">
            <a:normAutofit lnSpcReduction="9999"/>
          </a:bodyPr>
          <a:p>
            <a:pPr defTabSz="914400">
              <a:lnSpc>
                <a:spcPct val="100000"/>
              </a:lnSpc>
              <a:tabLst>
                <a:tab pos="0" algn="l"/>
              </a:tabLst>
            </a:pPr>
            <a:r>
              <a:rPr lang="en-US" sz="1800" b="0" u="none" strike="noStrike">
                <a:solidFill>
                  <a:srgbClr val="1F2A24"/>
                </a:solidFill>
                <a:effectLst/>
                <a:uFillTx/>
                <a:latin typeface="Courier New"/>
                <a:ea typeface="Courier New"/>
              </a:rPr>
              <a:t>L5</a:t>
            </a:r>
            <a:endParaRPr lang="en-US" sz="1800" b="0" u="none" strike="noStrike">
              <a:solidFill>
                <a:srgbClr val="000000"/>
              </a:solidFill>
              <a:effectLst/>
              <a:uFillTx/>
              <a:latin typeface="Arial"/>
            </a:endParaRPr>
          </a:p>
        </p:txBody>
      </p:sp>
      <p:sp>
        <p:nvSpPr>
          <p:cNvPr id="241" name="Text 58"/>
          <p:cNvSpPr/>
          <p:nvPr/>
        </p:nvSpPr>
        <p:spPr>
          <a:xfrm>
            <a:off x="2538720" y="8619120"/>
            <a:ext cx="5227200" cy="352080"/>
          </a:xfrm>
          <a:prstGeom prst="rect">
            <a:avLst/>
          </a:prstGeom>
          <a:noFill/>
          <a:ln w="0">
            <a:noFill/>
          </a:ln>
        </p:spPr>
        <p:style>
          <a:lnRef idx="0"/>
          <a:fillRef idx="0"/>
          <a:effectRef idx="0"/>
          <a:fontRef idx="minor"/>
        </p:style>
        <p:txBody>
          <a:bodyPr lIns="25560" tIns="25560" rIns="25560" bIns="25560" anchor="ctr">
            <a:normAutofit/>
          </a:bodyPr>
          <a:p>
            <a:pPr defTabSz="914400">
              <a:lnSpc>
                <a:spcPct val="100000"/>
              </a:lnSpc>
              <a:tabLst>
                <a:tab pos="0" algn="l"/>
              </a:tabLst>
            </a:pPr>
            <a:r>
              <a:rPr lang="en-US" sz="1800" b="0" u="none" strike="noStrike">
                <a:solidFill>
                  <a:srgbClr val="1F2A24"/>
                </a:solidFill>
                <a:effectLst/>
                <a:uFillTx/>
                <a:latin typeface="Courier New"/>
                <a:ea typeface="Courier New"/>
              </a:rPr>
              <a:t>Operating revenue</a:t>
            </a:r>
            <a:endParaRPr lang="en-US" sz="1800" b="0" u="none" strike="noStrike">
              <a:solidFill>
                <a:srgbClr val="000000"/>
              </a:solidFill>
              <a:effectLst/>
              <a:uFillTx/>
              <a:latin typeface="Arial"/>
            </a:endParaRPr>
          </a:p>
        </p:txBody>
      </p:sp>
      <p:sp>
        <p:nvSpPr>
          <p:cNvPr id="242" name="Text 59"/>
          <p:cNvSpPr/>
          <p:nvPr/>
        </p:nvSpPr>
        <p:spPr>
          <a:xfrm>
            <a:off x="7556400" y="8619120"/>
            <a:ext cx="1218240" cy="352080"/>
          </a:xfrm>
          <a:prstGeom prst="rect">
            <a:avLst/>
          </a:prstGeom>
          <a:noFill/>
          <a:ln w="0">
            <a:noFill/>
          </a:ln>
        </p:spPr>
        <p:style>
          <a:lnRef idx="0"/>
          <a:fillRef idx="0"/>
          <a:effectRef idx="0"/>
          <a:fontRef idx="minor"/>
        </p:style>
        <p:txBody>
          <a:bodyPr lIns="25560" tIns="25560" rIns="25560" bIns="25560" anchor="ctr">
            <a:normAutofit/>
          </a:bodyPr>
          <a:p>
            <a:pPr algn="r" defTabSz="914400">
              <a:lnSpc>
                <a:spcPct val="100000"/>
              </a:lnSpc>
              <a:tabLst>
                <a:tab pos="0" algn="l"/>
              </a:tabLst>
            </a:pPr>
            <a:r>
              <a:rPr lang="en-US" sz="1800" b="0" u="none" strike="noStrike">
                <a:solidFill>
                  <a:srgbClr val="1F2A24"/>
                </a:solidFill>
                <a:effectLst/>
                <a:uFillTx/>
                <a:latin typeface="Courier New"/>
                <a:ea typeface="Courier New"/>
              </a:rPr>
              <a:t>¥0</a:t>
            </a:r>
            <a:endParaRPr lang="en-US" sz="1800" b="0" u="none" strike="noStrike">
              <a:solidFill>
                <a:srgbClr val="000000"/>
              </a:solidFill>
              <a:effectLst/>
              <a:uFillTx/>
              <a:latin typeface="Arial"/>
            </a:endParaRPr>
          </a:p>
        </p:txBody>
      </p:sp>
      <p:sp>
        <p:nvSpPr>
          <p:cNvPr id="243" name="Text 60"/>
          <p:cNvSpPr/>
          <p:nvPr/>
        </p:nvSpPr>
        <p:spPr>
          <a:xfrm>
            <a:off x="8717760" y="8619120"/>
            <a:ext cx="1499040" cy="352080"/>
          </a:xfrm>
          <a:prstGeom prst="rect">
            <a:avLst/>
          </a:prstGeom>
          <a:noFill/>
          <a:ln w="0">
            <a:noFill/>
          </a:ln>
        </p:spPr>
        <p:style>
          <a:lnRef idx="0"/>
          <a:fillRef idx="0"/>
          <a:effectRef idx="0"/>
          <a:fontRef idx="minor"/>
        </p:style>
        <p:txBody>
          <a:bodyPr lIns="25560" tIns="25560" rIns="25560" bIns="25560" anchor="ctr">
            <a:normAutofit/>
          </a:bodyPr>
          <a:p>
            <a:pPr algn="r" defTabSz="914400">
              <a:lnSpc>
                <a:spcPct val="100000"/>
              </a:lnSpc>
              <a:tabLst>
                <a:tab pos="0" algn="l"/>
              </a:tabLst>
            </a:pPr>
            <a:r>
              <a:rPr lang="en-US" sz="1800" b="0" u="none" strike="noStrike">
                <a:solidFill>
                  <a:srgbClr val="1F2A24"/>
                </a:solidFill>
                <a:effectLst/>
                <a:uFillTx/>
                <a:latin typeface="Courier New"/>
                <a:ea typeface="Courier New"/>
              </a:rPr>
              <a:t>¥3M</a:t>
            </a:r>
            <a:endParaRPr lang="en-US" sz="1800" b="0" u="none" strike="noStrike">
              <a:solidFill>
                <a:srgbClr val="000000"/>
              </a:solidFill>
              <a:effectLst/>
              <a:uFillTx/>
              <a:latin typeface="Arial"/>
            </a:endParaRPr>
          </a:p>
        </p:txBody>
      </p:sp>
      <p:sp>
        <p:nvSpPr>
          <p:cNvPr id="244" name="Text 61"/>
          <p:cNvSpPr/>
          <p:nvPr/>
        </p:nvSpPr>
        <p:spPr>
          <a:xfrm>
            <a:off x="1123920" y="8971560"/>
            <a:ext cx="1404720" cy="337680"/>
          </a:xfrm>
          <a:prstGeom prst="rect">
            <a:avLst/>
          </a:prstGeom>
          <a:noFill/>
          <a:ln w="0">
            <a:noFill/>
          </a:ln>
        </p:spPr>
        <p:style>
          <a:lnRef idx="0"/>
          <a:fillRef idx="0"/>
          <a:effectRef idx="0"/>
          <a:fontRef idx="minor"/>
        </p:style>
        <p:txBody>
          <a:bodyPr lIns="25560" tIns="25560" rIns="25560" bIns="25560" anchor="ctr">
            <a:normAutofit/>
          </a:bodyPr>
          <a:p>
            <a:pPr defTabSz="914400">
              <a:lnSpc>
                <a:spcPct val="100000"/>
              </a:lnSpc>
              <a:tabLst>
                <a:tab pos="0" algn="l"/>
              </a:tabLst>
            </a:pPr>
            <a:r>
              <a:rPr lang="en-US" sz="1800" b="1" u="none" strike="noStrike">
                <a:solidFill>
                  <a:srgbClr val="1F2A24"/>
                </a:solidFill>
                <a:effectLst/>
                <a:uFillTx/>
                <a:latin typeface="Courier New"/>
                <a:ea typeface="Courier New"/>
              </a:rPr>
              <a:t>∑</a:t>
            </a:r>
            <a:endParaRPr lang="en-US" sz="1800" b="0" u="none" strike="noStrike">
              <a:solidFill>
                <a:srgbClr val="000000"/>
              </a:solidFill>
              <a:effectLst/>
              <a:uFillTx/>
              <a:latin typeface="Arial"/>
            </a:endParaRPr>
          </a:p>
        </p:txBody>
      </p:sp>
      <p:sp>
        <p:nvSpPr>
          <p:cNvPr id="245" name="Text 62"/>
          <p:cNvSpPr/>
          <p:nvPr/>
        </p:nvSpPr>
        <p:spPr>
          <a:xfrm>
            <a:off x="2538720" y="8952480"/>
            <a:ext cx="5227200" cy="375840"/>
          </a:xfrm>
          <a:prstGeom prst="rect">
            <a:avLst/>
          </a:prstGeom>
          <a:noFill/>
          <a:ln w="0">
            <a:noFill/>
          </a:ln>
        </p:spPr>
        <p:style>
          <a:lnRef idx="0"/>
          <a:fillRef idx="0"/>
          <a:effectRef idx="0"/>
          <a:fontRef idx="minor"/>
        </p:style>
        <p:txBody>
          <a:bodyPr lIns="25560" tIns="25560" rIns="25560" bIns="25560" anchor="ctr">
            <a:normAutofit/>
          </a:bodyPr>
          <a:p>
            <a:pPr defTabSz="914400">
              <a:lnSpc>
                <a:spcPct val="100000"/>
              </a:lnSpc>
              <a:tabLst>
                <a:tab pos="0" algn="l"/>
              </a:tabLst>
            </a:pPr>
            <a:r>
              <a:rPr lang="en-US" sz="1800" b="1" u="none" strike="noStrike">
                <a:solidFill>
                  <a:srgbClr val="1F2A24"/>
                </a:solidFill>
                <a:effectLst/>
                <a:uFillTx/>
                <a:latin typeface="Courier New"/>
                <a:ea typeface="Courier New"/>
              </a:rPr>
              <a:t>Illustrative total</a:t>
            </a:r>
            <a:endParaRPr lang="en-US" sz="1800" b="0" u="none" strike="noStrike">
              <a:solidFill>
                <a:srgbClr val="000000"/>
              </a:solidFill>
              <a:effectLst/>
              <a:uFillTx/>
              <a:latin typeface="Arial"/>
            </a:endParaRPr>
          </a:p>
        </p:txBody>
      </p:sp>
      <p:sp>
        <p:nvSpPr>
          <p:cNvPr id="246" name="Text 63"/>
          <p:cNvSpPr/>
          <p:nvPr/>
        </p:nvSpPr>
        <p:spPr>
          <a:xfrm>
            <a:off x="7556400" y="8952480"/>
            <a:ext cx="1218240" cy="375840"/>
          </a:xfrm>
          <a:prstGeom prst="rect">
            <a:avLst/>
          </a:prstGeom>
          <a:noFill/>
          <a:ln w="0">
            <a:noFill/>
          </a:ln>
        </p:spPr>
        <p:style>
          <a:lnRef idx="0"/>
          <a:fillRef idx="0"/>
          <a:effectRef idx="0"/>
          <a:fontRef idx="minor"/>
        </p:style>
        <p:txBody>
          <a:bodyPr lIns="25560" tIns="25560" rIns="25560" bIns="25560" anchor="ctr">
            <a:normAutofit/>
          </a:bodyPr>
          <a:p>
            <a:pPr algn="r" defTabSz="914400">
              <a:lnSpc>
                <a:spcPct val="100000"/>
              </a:lnSpc>
              <a:tabLst>
                <a:tab pos="0" algn="l"/>
              </a:tabLst>
            </a:pPr>
            <a:r>
              <a:rPr lang="en-US" sz="1800" b="1" u="none" strike="noStrike">
                <a:solidFill>
                  <a:srgbClr val="1F2A24"/>
                </a:solidFill>
                <a:effectLst/>
                <a:uFillTx/>
                <a:latin typeface="Courier New"/>
                <a:ea typeface="Courier New"/>
              </a:rPr>
              <a:t>¥11M</a:t>
            </a:r>
            <a:endParaRPr lang="en-US" sz="1800" b="0" u="none" strike="noStrike">
              <a:solidFill>
                <a:srgbClr val="000000"/>
              </a:solidFill>
              <a:effectLst/>
              <a:uFillTx/>
              <a:latin typeface="Arial"/>
            </a:endParaRPr>
          </a:p>
        </p:txBody>
      </p:sp>
      <p:sp>
        <p:nvSpPr>
          <p:cNvPr id="247" name="Text 64"/>
          <p:cNvSpPr/>
          <p:nvPr/>
        </p:nvSpPr>
        <p:spPr>
          <a:xfrm>
            <a:off x="8717760" y="8952480"/>
            <a:ext cx="1499040" cy="375840"/>
          </a:xfrm>
          <a:prstGeom prst="rect">
            <a:avLst/>
          </a:prstGeom>
          <a:noFill/>
          <a:ln w="0">
            <a:noFill/>
          </a:ln>
        </p:spPr>
        <p:style>
          <a:lnRef idx="0"/>
          <a:fillRef idx="0"/>
          <a:effectRef idx="0"/>
          <a:fontRef idx="minor"/>
        </p:style>
        <p:txBody>
          <a:bodyPr lIns="25560" tIns="25560" rIns="25560" bIns="25560" anchor="ctr">
            <a:normAutofit/>
          </a:bodyPr>
          <a:p>
            <a:pPr algn="r" defTabSz="914400">
              <a:lnSpc>
                <a:spcPct val="100000"/>
              </a:lnSpc>
              <a:tabLst>
                <a:tab pos="0" algn="l"/>
              </a:tabLst>
            </a:pPr>
            <a:r>
              <a:rPr lang="en-US" sz="1800" b="1" u="none" strike="noStrike">
                <a:solidFill>
                  <a:srgbClr val="1F2A24"/>
                </a:solidFill>
                <a:effectLst/>
                <a:uFillTx/>
                <a:latin typeface="Courier New"/>
                <a:ea typeface="Courier New"/>
              </a:rPr>
              <a:t>¥134M</a:t>
            </a:r>
            <a:endParaRPr lang="en-US" sz="1800" b="0" u="none" strike="noStrike">
              <a:solidFill>
                <a:srgbClr val="000000"/>
              </a:solidFill>
              <a:effectLst/>
              <a:uFillTx/>
              <a:latin typeface="Arial"/>
            </a:endParaRPr>
          </a:p>
        </p:txBody>
      </p:sp>
      <p:sp>
        <p:nvSpPr>
          <p:cNvPr id="248" name="Text 65"/>
          <p:cNvSpPr/>
          <p:nvPr/>
        </p:nvSpPr>
        <p:spPr>
          <a:xfrm>
            <a:off x="10683720" y="6557040"/>
            <a:ext cx="675288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215" strike="noStrike">
                <a:solidFill>
                  <a:srgbClr val="4C554F"/>
                </a:solidFill>
                <a:effectLst/>
                <a:uFillTx/>
                <a:latin typeface="Courier New"/>
                <a:ea typeface="Courier New"/>
              </a:rPr>
              <a:t>SIX OPERATING PRINCIPLES</a:t>
            </a:r>
            <a:endParaRPr lang="en-US" sz="1800" b="0" u="none" strike="noStrike">
              <a:solidFill>
                <a:srgbClr val="000000"/>
              </a:solidFill>
              <a:effectLst/>
              <a:uFillTx/>
              <a:latin typeface="Arial"/>
            </a:endParaRPr>
          </a:p>
        </p:txBody>
      </p:sp>
      <p:sp>
        <p:nvSpPr>
          <p:cNvPr id="249" name="Text 66"/>
          <p:cNvSpPr/>
          <p:nvPr/>
        </p:nvSpPr>
        <p:spPr>
          <a:xfrm>
            <a:off x="10683720" y="6899760"/>
            <a:ext cx="3238920" cy="33480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30000"/>
              </a:lnSpc>
              <a:tabLst>
                <a:tab pos="0" algn="l"/>
              </a:tabLst>
            </a:pPr>
            <a:r>
              <a:rPr lang="en-US" sz="1800" b="0" u="none" strike="noStrike">
                <a:solidFill>
                  <a:srgbClr val="1F2A24"/>
                </a:solidFill>
                <a:effectLst/>
                <a:uFillTx/>
                <a:latin typeface="Arial"/>
                <a:ea typeface="Arial"/>
              </a:rPr>
              <a:t>I. Local first</a:t>
            </a:r>
            <a:endParaRPr lang="en-US" sz="1800" b="0" u="none" strike="noStrike">
              <a:solidFill>
                <a:srgbClr val="000000"/>
              </a:solidFill>
              <a:effectLst/>
              <a:uFillTx/>
              <a:latin typeface="Arial"/>
            </a:endParaRPr>
          </a:p>
        </p:txBody>
      </p:sp>
      <p:sp>
        <p:nvSpPr>
          <p:cNvPr id="250" name="Text 67"/>
          <p:cNvSpPr/>
          <p:nvPr/>
        </p:nvSpPr>
        <p:spPr>
          <a:xfrm>
            <a:off x="14095440" y="6899760"/>
            <a:ext cx="3238920" cy="33480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30000"/>
              </a:lnSpc>
              <a:tabLst>
                <a:tab pos="0" algn="l"/>
              </a:tabLst>
            </a:pPr>
            <a:r>
              <a:rPr lang="en-US" sz="1800" b="0" u="none" strike="noStrike">
                <a:solidFill>
                  <a:srgbClr val="1F2A24"/>
                </a:solidFill>
                <a:effectLst/>
                <a:uFillTx/>
                <a:latin typeface="Arial"/>
                <a:ea typeface="Arial"/>
              </a:rPr>
              <a:t>II. Open &amp; transparent</a:t>
            </a:r>
            <a:endParaRPr lang="en-US" sz="1800" b="0" u="none" strike="noStrike">
              <a:solidFill>
                <a:srgbClr val="000000"/>
              </a:solidFill>
              <a:effectLst/>
              <a:uFillTx/>
              <a:latin typeface="Arial"/>
            </a:endParaRPr>
          </a:p>
        </p:txBody>
      </p:sp>
      <p:sp>
        <p:nvSpPr>
          <p:cNvPr id="251" name="Text 68"/>
          <p:cNvSpPr/>
          <p:nvPr/>
        </p:nvSpPr>
        <p:spPr>
          <a:xfrm>
            <a:off x="10683720" y="7292520"/>
            <a:ext cx="3238920" cy="33480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30000"/>
              </a:lnSpc>
              <a:tabLst>
                <a:tab pos="0" algn="l"/>
              </a:tabLst>
            </a:pPr>
            <a:r>
              <a:rPr lang="en-US" sz="1800" b="0" u="none" strike="noStrike">
                <a:solidFill>
                  <a:srgbClr val="1F2A24"/>
                </a:solidFill>
                <a:effectLst/>
                <a:uFillTx/>
                <a:latin typeface="Arial"/>
                <a:ea typeface="Arial"/>
              </a:rPr>
              <a:t>III. Patient, long-term</a:t>
            </a:r>
            <a:endParaRPr lang="en-US" sz="1800" b="0" u="none" strike="noStrike">
              <a:solidFill>
                <a:srgbClr val="000000"/>
              </a:solidFill>
              <a:effectLst/>
              <a:uFillTx/>
              <a:latin typeface="Arial"/>
            </a:endParaRPr>
          </a:p>
        </p:txBody>
      </p:sp>
      <p:sp>
        <p:nvSpPr>
          <p:cNvPr id="252" name="Text 69"/>
          <p:cNvSpPr/>
          <p:nvPr/>
        </p:nvSpPr>
        <p:spPr>
          <a:xfrm>
            <a:off x="14095440" y="7292520"/>
            <a:ext cx="3238920" cy="33480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30000"/>
              </a:lnSpc>
              <a:tabLst>
                <a:tab pos="0" algn="l"/>
              </a:tabLst>
            </a:pPr>
            <a:r>
              <a:rPr lang="en-US" sz="1800" b="0" u="none" strike="noStrike">
                <a:solidFill>
                  <a:srgbClr val="1F2A24"/>
                </a:solidFill>
                <a:effectLst/>
                <a:uFillTx/>
                <a:latin typeface="Arial"/>
                <a:ea typeface="Arial"/>
              </a:rPr>
              <a:t>IV. Replicable</a:t>
            </a:r>
            <a:endParaRPr lang="en-US" sz="1800" b="0" u="none" strike="noStrike">
              <a:solidFill>
                <a:srgbClr val="000000"/>
              </a:solidFill>
              <a:effectLst/>
              <a:uFillTx/>
              <a:latin typeface="Arial"/>
            </a:endParaRPr>
          </a:p>
        </p:txBody>
      </p:sp>
      <p:sp>
        <p:nvSpPr>
          <p:cNvPr id="253" name="Text 70"/>
          <p:cNvSpPr/>
          <p:nvPr/>
        </p:nvSpPr>
        <p:spPr>
          <a:xfrm>
            <a:off x="10683720" y="7684920"/>
            <a:ext cx="3238920" cy="33480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30000"/>
              </a:lnSpc>
              <a:tabLst>
                <a:tab pos="0" algn="l"/>
              </a:tabLst>
            </a:pPr>
            <a:r>
              <a:rPr lang="en-US" sz="1800" b="0" u="none" strike="noStrike">
                <a:solidFill>
                  <a:srgbClr val="1F2A24"/>
                </a:solidFill>
                <a:effectLst/>
                <a:uFillTx/>
                <a:latin typeface="Arial"/>
                <a:ea typeface="Arial"/>
              </a:rPr>
              <a:t>V. Modest in scale</a:t>
            </a:r>
            <a:endParaRPr lang="en-US" sz="1800" b="0" u="none" strike="noStrike">
              <a:solidFill>
                <a:srgbClr val="000000"/>
              </a:solidFill>
              <a:effectLst/>
              <a:uFillTx/>
              <a:latin typeface="Arial"/>
            </a:endParaRPr>
          </a:p>
        </p:txBody>
      </p:sp>
      <p:sp>
        <p:nvSpPr>
          <p:cNvPr id="254" name="Text 71"/>
          <p:cNvSpPr/>
          <p:nvPr/>
        </p:nvSpPr>
        <p:spPr>
          <a:xfrm>
            <a:off x="14095440" y="7684920"/>
            <a:ext cx="3238920" cy="33480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30000"/>
              </a:lnSpc>
              <a:tabLst>
                <a:tab pos="0" algn="l"/>
              </a:tabLst>
            </a:pPr>
            <a:r>
              <a:rPr lang="en-US" sz="1800" b="0" u="none" strike="noStrike">
                <a:solidFill>
                  <a:srgbClr val="1F2A24"/>
                </a:solidFill>
                <a:effectLst/>
                <a:uFillTx/>
                <a:latin typeface="Arial"/>
                <a:ea typeface="Arial"/>
              </a:rPr>
              <a:t>VI. Non-partisan</a:t>
            </a:r>
            <a:endParaRPr lang="en-US" sz="1800" b="0" u="none" strike="noStrike">
              <a:solidFill>
                <a:srgbClr val="000000"/>
              </a:solidFill>
              <a:effectLst/>
              <a:uFillTx/>
              <a:latin typeface="Arial"/>
            </a:endParaRPr>
          </a:p>
        </p:txBody>
      </p:sp>
      <p:sp>
        <p:nvSpPr>
          <p:cNvPr id="255" name="Text 72"/>
          <p:cNvSpPr/>
          <p:nvPr/>
        </p:nvSpPr>
        <p:spPr>
          <a:xfrm>
            <a:off x="1047600" y="9258480"/>
            <a:ext cx="115452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4C554F"/>
                </a:solidFill>
                <a:effectLst/>
                <a:uFillTx/>
                <a:latin typeface="Courier New"/>
                <a:ea typeface="Courier New"/>
              </a:rPr>
              <a:t>10 / 11</a:t>
            </a:r>
            <a:endParaRPr lang="en-US" sz="1800" b="0" u="none" strike="noStrike">
              <a:solidFill>
                <a:srgbClr val="000000"/>
              </a:solidFill>
              <a:effectLst/>
              <a:uFillTx/>
              <a:latin typeface="Arial"/>
            </a:endParaRPr>
          </a:p>
        </p:txBody>
      </p:sp>
      <p:sp>
        <p:nvSpPr>
          <p:cNvPr id="256" name="Text 73"/>
          <p:cNvSpPr/>
          <p:nvPr/>
        </p:nvSpPr>
        <p:spPr>
          <a:xfrm>
            <a:off x="11965320" y="9258480"/>
            <a:ext cx="543276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4C554F"/>
                </a:solidFill>
                <a:effectLst/>
                <a:uFillTx/>
                <a:latin typeface="Courier New"/>
                <a:ea typeface="Courier New"/>
              </a:rPr>
              <a:t>25-YEAR HORIZON &gt; ONE HYPE CYCLE</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F4A37"/>
        </a:solidFill>
      </p:bgPr>
    </p:bg>
    <p:spTree>
      <p:nvGrpSpPr>
        <p:cNvPr id="1" name=""/>
        <p:cNvGrpSpPr/>
        <p:nvPr/>
      </p:nvGrpSpPr>
      <p:grpSpPr>
        <a:xfrm>
          <a:off x="0" y="0"/>
          <a:ext cx="0" cy="0"/>
          <a:chOff x="0" y="0"/>
          <a:chExt cx="0" cy="0"/>
        </a:xfrm>
      </p:grpSpPr>
      <p:sp>
        <p:nvSpPr>
          <p:cNvPr id="257" name="Shape 0"/>
          <p:cNvSpPr/>
          <p:nvPr/>
        </p:nvSpPr>
        <p:spPr>
          <a:xfrm>
            <a:off x="1047600" y="762120"/>
            <a:ext cx="456840" cy="456840"/>
          </a:xfrm>
          <a:prstGeom prst="ellipse">
            <a:avLst/>
          </a:prstGeom>
          <a:solidFill>
            <a:srgbClr val="F3ECE0"/>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58" name="Text 1"/>
          <p:cNvSpPr/>
          <p:nvPr/>
        </p:nvSpPr>
        <p:spPr>
          <a:xfrm>
            <a:off x="1047600" y="762120"/>
            <a:ext cx="533160" cy="4950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zh-CN" sz="1950" b="1" u="none" spc="145" strike="noStrike">
                <a:solidFill>
                  <a:srgbClr val="2F4A37"/>
                </a:solidFill>
                <a:effectLst/>
                <a:uFillTx/>
                <a:latin typeface="Noto Serif JP"/>
                <a:ea typeface="Noto Serif JP"/>
              </a:rPr>
              <a:t>御</a:t>
            </a:r>
            <a:endParaRPr lang="en-US" sz="1950" b="0" u="none" strike="noStrike">
              <a:solidFill>
                <a:srgbClr val="FFFFFF"/>
              </a:solidFill>
              <a:effectLst/>
              <a:uFillTx/>
              <a:latin typeface="Arial"/>
            </a:endParaRPr>
          </a:p>
        </p:txBody>
      </p:sp>
      <p:sp>
        <p:nvSpPr>
          <p:cNvPr id="259" name="Text 2"/>
          <p:cNvSpPr/>
          <p:nvPr/>
        </p:nvSpPr>
        <p:spPr>
          <a:xfrm>
            <a:off x="1638360" y="857160"/>
            <a:ext cx="224244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F3ECE0">
                    <a:alpha val="67000"/>
                  </a:srgbClr>
                </a:solidFill>
                <a:effectLst/>
                <a:uFillTx/>
                <a:latin typeface="Courier New"/>
                <a:ea typeface="Courier New"/>
              </a:rPr>
              <a:t>MITSUE PROJECT</a:t>
            </a:r>
            <a:endParaRPr lang="en-US" sz="1800" b="0" u="none" strike="noStrike">
              <a:solidFill>
                <a:srgbClr val="FFFFFF"/>
              </a:solidFill>
              <a:effectLst/>
              <a:uFillTx/>
              <a:latin typeface="Arial"/>
            </a:endParaRPr>
          </a:p>
        </p:txBody>
      </p:sp>
      <p:sp>
        <p:nvSpPr>
          <p:cNvPr id="260" name="Text 3"/>
          <p:cNvSpPr/>
          <p:nvPr/>
        </p:nvSpPr>
        <p:spPr>
          <a:xfrm>
            <a:off x="11343600" y="762120"/>
            <a:ext cx="607320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F3ECE0">
                    <a:alpha val="67000"/>
                  </a:srgbClr>
                </a:solidFill>
                <a:effectLst/>
                <a:uFillTx/>
                <a:latin typeface="Courier New"/>
                <a:ea typeface="Courier New"/>
              </a:rPr>
              <a:t>§ 10 · FOR PEOPLE WHO THINK IN DECADES</a:t>
            </a:r>
            <a:endParaRPr lang="en-US" sz="1800" b="0" u="none" strike="noStrike">
              <a:solidFill>
                <a:srgbClr val="FFFFFF"/>
              </a:solidFill>
              <a:effectLst/>
              <a:uFillTx/>
              <a:latin typeface="Arial"/>
            </a:endParaRPr>
          </a:p>
        </p:txBody>
      </p:sp>
      <p:sp>
        <p:nvSpPr>
          <p:cNvPr id="261" name="Text 4"/>
          <p:cNvSpPr/>
          <p:nvPr/>
        </p:nvSpPr>
        <p:spPr>
          <a:xfrm>
            <a:off x="1047600" y="2025000"/>
            <a:ext cx="866880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215" strike="noStrike">
                <a:solidFill>
                  <a:srgbClr val="F3ECE0">
                    <a:alpha val="67000"/>
                  </a:srgbClr>
                </a:solidFill>
                <a:effectLst/>
                <a:uFillTx/>
                <a:latin typeface="Courier New"/>
                <a:ea typeface="Courier New"/>
              </a:rPr>
              <a:t>IF YOUR TIME HORIZON MATCHES OURS…</a:t>
            </a:r>
            <a:endParaRPr lang="en-US" sz="1800" b="0" u="none" strike="noStrike">
              <a:solidFill>
                <a:srgbClr val="FFFFFF"/>
              </a:solidFill>
              <a:effectLst/>
              <a:uFillTx/>
              <a:latin typeface="Arial"/>
            </a:endParaRPr>
          </a:p>
        </p:txBody>
      </p:sp>
      <p:sp>
        <p:nvSpPr>
          <p:cNvPr id="262" name="Text 5"/>
          <p:cNvSpPr/>
          <p:nvPr/>
        </p:nvSpPr>
        <p:spPr>
          <a:xfrm>
            <a:off x="1047600" y="2520360"/>
            <a:ext cx="8668800" cy="508752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97000"/>
              </a:lnSpc>
              <a:tabLst>
                <a:tab pos="0" algn="l"/>
              </a:tabLst>
            </a:pPr>
            <a:r>
              <a:rPr lang="en-US" sz="8100" b="0" u="none" spc="-82" strike="noStrike">
                <a:solidFill>
                  <a:srgbClr val="F3ECE0"/>
                </a:solidFill>
                <a:effectLst/>
                <a:uFillTx/>
                <a:latin typeface="Georgia"/>
                <a:ea typeface="Georgia"/>
              </a:rPr>
              <a:t>We're looking for patient capital, honest critique, and a few </a:t>
            </a:r>
            <a:r>
              <a:rPr lang="en-US" sz="8100" b="0" i="1" u="none" spc="-82" strike="noStrike">
                <a:solidFill>
                  <a:srgbClr val="F3B486"/>
                </a:solidFill>
                <a:effectLst/>
                <a:uFillTx/>
                <a:latin typeface="Georgia"/>
                <a:ea typeface="Georgia"/>
              </a:rPr>
              <a:t>good neighbors.</a:t>
            </a:r>
            <a:endParaRPr lang="en-US" sz="8100" b="0" u="none" strike="noStrike">
              <a:solidFill>
                <a:srgbClr val="FFFFFF"/>
              </a:solidFill>
              <a:effectLst/>
              <a:uFillTx/>
              <a:latin typeface="Arial"/>
            </a:endParaRPr>
          </a:p>
        </p:txBody>
      </p:sp>
      <p:sp>
        <p:nvSpPr>
          <p:cNvPr id="263" name="Text 6"/>
          <p:cNvSpPr/>
          <p:nvPr/>
        </p:nvSpPr>
        <p:spPr>
          <a:xfrm>
            <a:off x="10226520" y="2025000"/>
            <a:ext cx="722412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215" strike="noStrike">
                <a:solidFill>
                  <a:srgbClr val="F3ECE0">
                    <a:alpha val="67000"/>
                  </a:srgbClr>
                </a:solidFill>
                <a:effectLst/>
                <a:uFillTx/>
                <a:latin typeface="Courier New"/>
                <a:ea typeface="Courier New"/>
              </a:rPr>
              <a:t>WHAT HELPS RIGHT NOW</a:t>
            </a:r>
            <a:endParaRPr lang="en-US" sz="1800" b="0" u="none" strike="noStrike">
              <a:solidFill>
                <a:srgbClr val="FFFFFF"/>
              </a:solidFill>
              <a:effectLst/>
              <a:uFillTx/>
              <a:latin typeface="Arial"/>
            </a:endParaRPr>
          </a:p>
        </p:txBody>
      </p:sp>
      <p:sp>
        <p:nvSpPr>
          <p:cNvPr id="264" name="Text 7"/>
          <p:cNvSpPr/>
          <p:nvPr/>
        </p:nvSpPr>
        <p:spPr>
          <a:xfrm>
            <a:off x="10053000" y="2424960"/>
            <a:ext cx="7263000" cy="152352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50000"/>
              </a:lnSpc>
              <a:tabLst>
                <a:tab pos="0" algn="l"/>
              </a:tabLst>
            </a:pPr>
            <a:r>
              <a:rPr lang="en-US" sz="1950" b="0" u="none" strike="noStrike">
                <a:solidFill>
                  <a:srgbClr val="F3ECE0"/>
                </a:solidFill>
                <a:effectLst/>
                <a:uFillTx/>
                <a:latin typeface="Arial"/>
                <a:ea typeface="Arial"/>
              </a:rPr>
              <a:t>↳ Introductions: Japanese co-founders with rural credibility</a:t>
            </a:r>
            <a:endParaRPr lang="en-US" sz="1950" b="0" u="none" strike="noStrike">
              <a:solidFill>
                <a:srgbClr val="FFFFFF"/>
              </a:solidFill>
              <a:effectLst/>
              <a:uFillTx/>
              <a:latin typeface="Arial"/>
            </a:endParaRPr>
          </a:p>
          <a:p>
            <a:pPr defTabSz="914400">
              <a:lnSpc>
                <a:spcPct val="150000"/>
              </a:lnSpc>
              <a:tabLst>
                <a:tab pos="0" algn="l"/>
              </a:tabLst>
            </a:pPr>
            <a:r>
              <a:rPr lang="en-US" sz="1950" b="0" u="none" strike="noStrike">
                <a:solidFill>
                  <a:srgbClr val="F3ECE0"/>
                </a:solidFill>
                <a:effectLst/>
                <a:uFillTx/>
                <a:latin typeface="Arial"/>
                <a:ea typeface="Arial"/>
              </a:rPr>
              <a:t>↳ Advisors: forestry, edge compute, Japanese nonprofit law</a:t>
            </a:r>
            <a:endParaRPr lang="en-US" sz="1950" b="0" u="none" strike="noStrike">
              <a:solidFill>
                <a:srgbClr val="FFFFFF"/>
              </a:solidFill>
              <a:effectLst/>
              <a:uFillTx/>
              <a:latin typeface="Arial"/>
            </a:endParaRPr>
          </a:p>
          <a:p>
            <a:pPr defTabSz="914400">
              <a:lnSpc>
                <a:spcPct val="150000"/>
              </a:lnSpc>
              <a:tabLst>
                <a:tab pos="0" algn="l"/>
              </a:tabLst>
            </a:pPr>
            <a:r>
              <a:rPr lang="en-US" sz="1950" b="0" u="none" strike="noStrike">
                <a:solidFill>
                  <a:srgbClr val="F3ECE0"/>
                </a:solidFill>
                <a:effectLst/>
                <a:uFillTx/>
                <a:latin typeface="Arial"/>
                <a:ea typeface="Arial"/>
              </a:rPr>
              <a:t>↳ Patient funders for Phase 1 (¥3–8M)</a:t>
            </a:r>
            <a:endParaRPr lang="en-US" sz="1950" b="0" u="none" strike="noStrike">
              <a:solidFill>
                <a:srgbClr val="FFFFFF"/>
              </a:solidFill>
              <a:effectLst/>
              <a:uFillTx/>
              <a:latin typeface="Arial"/>
            </a:endParaRPr>
          </a:p>
          <a:p>
            <a:pPr defTabSz="914400">
              <a:lnSpc>
                <a:spcPct val="150000"/>
              </a:lnSpc>
              <a:tabLst>
                <a:tab pos="0" algn="l"/>
              </a:tabLst>
            </a:pPr>
            <a:r>
              <a:rPr lang="en-US" sz="1950" b="0" u="none" strike="noStrike">
                <a:solidFill>
                  <a:srgbClr val="F3ECE0"/>
                </a:solidFill>
                <a:effectLst/>
                <a:uFillTx/>
                <a:latin typeface="Arial"/>
                <a:ea typeface="Arial"/>
              </a:rPr>
              <a:t>↳ Honest critique — tell us where the thesis is wrong</a:t>
            </a:r>
            <a:endParaRPr lang="en-US" sz="1950" b="0" u="none" strike="noStrike">
              <a:solidFill>
                <a:srgbClr val="FFFFFF"/>
              </a:solidFill>
              <a:effectLst/>
              <a:uFillTx/>
              <a:latin typeface="Arial"/>
            </a:endParaRPr>
          </a:p>
        </p:txBody>
      </p:sp>
      <p:sp>
        <p:nvSpPr>
          <p:cNvPr id="265" name="Shape 8"/>
          <p:cNvSpPr/>
          <p:nvPr/>
        </p:nvSpPr>
        <p:spPr>
          <a:xfrm>
            <a:off x="10226520" y="4196880"/>
            <a:ext cx="7013520" cy="9000"/>
          </a:xfrm>
          <a:prstGeom prst="rect">
            <a:avLst/>
          </a:prstGeom>
          <a:solidFill>
            <a:srgbClr val="F3ECE0">
              <a:alpha val="20000"/>
            </a:srgbClr>
          </a:solidFill>
          <a:ln w="0">
            <a:no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266" name="Shape 9"/>
          <p:cNvSpPr/>
          <p:nvPr/>
        </p:nvSpPr>
        <p:spPr>
          <a:xfrm>
            <a:off x="10226520" y="4415760"/>
            <a:ext cx="1618920" cy="1618920"/>
          </a:xfrm>
          <a:prstGeom prst="rect">
            <a:avLst/>
          </a:prstGeom>
          <a:solidFill>
            <a:srgbClr val="F3ECE0"/>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267" name="Image 0" descr="preencoded.png"/>
          <p:cNvPicPr/>
          <p:nvPr/>
        </p:nvPicPr>
        <p:blipFill>
          <a:blip r:embed="rId1"/>
          <a:stretch/>
        </p:blipFill>
        <p:spPr>
          <a:xfrm>
            <a:off x="10321560" y="4511160"/>
            <a:ext cx="1428480" cy="1428480"/>
          </a:xfrm>
          <a:prstGeom prst="rect">
            <a:avLst/>
          </a:prstGeom>
          <a:noFill/>
          <a:ln w="0">
            <a:noFill/>
          </a:ln>
        </p:spPr>
      </p:pic>
      <p:sp>
        <p:nvSpPr>
          <p:cNvPr id="268" name="Text 10"/>
          <p:cNvSpPr/>
          <p:nvPr/>
        </p:nvSpPr>
        <p:spPr>
          <a:xfrm>
            <a:off x="12112200" y="4530240"/>
            <a:ext cx="528156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215" strike="noStrike">
                <a:solidFill>
                  <a:srgbClr val="F3ECE0">
                    <a:alpha val="67000"/>
                  </a:srgbClr>
                </a:solidFill>
                <a:effectLst/>
                <a:uFillTx/>
                <a:latin typeface="Courier New"/>
                <a:ea typeface="Courier New"/>
              </a:rPr>
              <a:t>SCAN TO VISIT</a:t>
            </a:r>
            <a:endParaRPr lang="en-US" sz="1800" b="0" u="none" strike="noStrike">
              <a:solidFill>
                <a:srgbClr val="FFFFFF"/>
              </a:solidFill>
              <a:effectLst/>
              <a:uFillTx/>
              <a:latin typeface="Arial"/>
            </a:endParaRPr>
          </a:p>
        </p:txBody>
      </p:sp>
      <p:sp>
        <p:nvSpPr>
          <p:cNvPr id="269" name="Text 11"/>
          <p:cNvSpPr/>
          <p:nvPr/>
        </p:nvSpPr>
        <p:spPr>
          <a:xfrm>
            <a:off x="12112200" y="4853880"/>
            <a:ext cx="5281560" cy="3711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2250" b="0" u="none" strike="noStrike">
                <a:solidFill>
                  <a:srgbClr val="F3ECE0"/>
                </a:solidFill>
                <a:effectLst/>
                <a:uFillTx/>
                <a:latin typeface="Courier New"/>
                <a:ea typeface="Courier New"/>
              </a:rPr>
              <a:t>mitsue.it</a:t>
            </a:r>
            <a:endParaRPr lang="en-US" sz="2250" b="0" u="none" strike="noStrike">
              <a:solidFill>
                <a:srgbClr val="FFFFFF"/>
              </a:solidFill>
              <a:effectLst/>
              <a:uFillTx/>
              <a:latin typeface="Arial"/>
            </a:endParaRPr>
          </a:p>
        </p:txBody>
      </p:sp>
      <p:sp>
        <p:nvSpPr>
          <p:cNvPr id="270" name="Text 12"/>
          <p:cNvSpPr/>
          <p:nvPr/>
        </p:nvSpPr>
        <p:spPr>
          <a:xfrm>
            <a:off x="12112200" y="5244480"/>
            <a:ext cx="5281560" cy="47592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500" b="0" u="none" strike="noStrike">
                <a:solidFill>
                  <a:srgbClr val="F3ECE0">
                    <a:alpha val="70000"/>
                  </a:srgbClr>
                </a:solidFill>
                <a:effectLst/>
                <a:uFillTx/>
                <a:latin typeface="Courier New"/>
                <a:ea typeface="Courier New"/>
              </a:rPr>
              <a:t>codeberg.org / YR-Design / mitsue-ai-data-center</a:t>
            </a:r>
            <a:endParaRPr lang="en-US" sz="1500" b="0" u="none" strike="noStrike">
              <a:solidFill>
                <a:srgbClr val="FFFFFF"/>
              </a:solidFill>
              <a:effectLst/>
              <a:uFillTx/>
              <a:latin typeface="Arial"/>
            </a:endParaRPr>
          </a:p>
        </p:txBody>
      </p:sp>
      <p:sp>
        <p:nvSpPr>
          <p:cNvPr id="271" name="Text 13"/>
          <p:cNvSpPr/>
          <p:nvPr/>
        </p:nvSpPr>
        <p:spPr>
          <a:xfrm>
            <a:off x="12112200" y="5701680"/>
            <a:ext cx="5281560" cy="25668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500" b="0" u="none" strike="noStrike">
                <a:solidFill>
                  <a:srgbClr val="F3ECE0">
                    <a:alpha val="70000"/>
                  </a:srgbClr>
                </a:solidFill>
                <a:effectLst/>
                <a:uFillTx/>
                <a:latin typeface="Courier New"/>
                <a:ea typeface="Courier New"/>
              </a:rPr>
              <a:t>info@mitsue.it</a:t>
            </a:r>
            <a:endParaRPr lang="en-US" sz="1500" b="0" u="none" strike="noStrike">
              <a:solidFill>
                <a:srgbClr val="FFFFFF"/>
              </a:solidFill>
              <a:effectLst/>
              <a:uFillTx/>
              <a:latin typeface="Arial"/>
            </a:endParaRPr>
          </a:p>
        </p:txBody>
      </p:sp>
      <p:sp>
        <p:nvSpPr>
          <p:cNvPr id="272" name="Shape 14"/>
          <p:cNvSpPr/>
          <p:nvPr/>
        </p:nvSpPr>
        <p:spPr>
          <a:xfrm>
            <a:off x="10226520" y="6263640"/>
            <a:ext cx="7013520" cy="9000"/>
          </a:xfrm>
          <a:prstGeom prst="rect">
            <a:avLst/>
          </a:prstGeom>
          <a:solidFill>
            <a:srgbClr val="F3ECE0">
              <a:alpha val="20000"/>
            </a:srgbClr>
          </a:solidFill>
          <a:ln w="0">
            <a:no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273" name="Text 15"/>
          <p:cNvSpPr/>
          <p:nvPr/>
        </p:nvSpPr>
        <p:spPr>
          <a:xfrm>
            <a:off x="10226520" y="6444720"/>
            <a:ext cx="722412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215" strike="noStrike">
                <a:solidFill>
                  <a:srgbClr val="F3ECE0">
                    <a:alpha val="67000"/>
                  </a:srgbClr>
                </a:solidFill>
                <a:effectLst/>
                <a:uFillTx/>
                <a:latin typeface="Courier New"/>
                <a:ea typeface="Courier New"/>
              </a:rPr>
              <a:t>PROJECT LEAD</a:t>
            </a:r>
            <a:endParaRPr lang="en-US" sz="1800" b="0" u="none" strike="noStrike">
              <a:solidFill>
                <a:srgbClr val="FFFFFF"/>
              </a:solidFill>
              <a:effectLst/>
              <a:uFillTx/>
              <a:latin typeface="Arial"/>
            </a:endParaRPr>
          </a:p>
        </p:txBody>
      </p:sp>
      <p:sp>
        <p:nvSpPr>
          <p:cNvPr id="274" name="Text 16"/>
          <p:cNvSpPr/>
          <p:nvPr/>
        </p:nvSpPr>
        <p:spPr>
          <a:xfrm>
            <a:off x="10226520" y="6768360"/>
            <a:ext cx="7224120" cy="4672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98000"/>
              </a:lnSpc>
              <a:tabLst>
                <a:tab pos="0" algn="l"/>
              </a:tabLst>
            </a:pPr>
            <a:r>
              <a:rPr lang="en-US" sz="3450" b="0" u="none" spc="-34" strike="noStrike">
                <a:solidFill>
                  <a:srgbClr val="F3ECE0"/>
                </a:solidFill>
                <a:effectLst/>
                <a:uFillTx/>
                <a:latin typeface="Georgia"/>
                <a:ea typeface="Georgia"/>
              </a:rPr>
              <a:t>Rob Oudendijk</a:t>
            </a:r>
            <a:endParaRPr lang="en-US" sz="3450" b="0" u="none" strike="noStrike">
              <a:solidFill>
                <a:srgbClr val="FFFFFF"/>
              </a:solidFill>
              <a:effectLst/>
              <a:uFillTx/>
              <a:latin typeface="Arial"/>
            </a:endParaRPr>
          </a:p>
        </p:txBody>
      </p:sp>
      <p:sp>
        <p:nvSpPr>
          <p:cNvPr id="275" name="Text 17"/>
          <p:cNvSpPr/>
          <p:nvPr/>
        </p:nvSpPr>
        <p:spPr>
          <a:xfrm>
            <a:off x="10226520" y="7197840"/>
            <a:ext cx="7200720" cy="34164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pPr>
            <a:r>
              <a:rPr lang="en-US" sz="1650" b="0" u="none" strike="noStrike">
                <a:solidFill>
                  <a:srgbClr val="F3ECE0">
                    <a:alpha val="80000"/>
                  </a:srgbClr>
                </a:solidFill>
                <a:effectLst/>
                <a:uFillTx/>
                <a:latin typeface="Arial"/>
                <a:ea typeface="Arial"/>
              </a:rPr>
              <a:t>YR-Design · Safecast · Mitsue, Nara</a:t>
            </a:r>
            <a:endParaRPr lang="en-US" sz="1650" b="0" u="none" strike="noStrike">
              <a:solidFill>
                <a:srgbClr val="FFFFFF"/>
              </a:solidFill>
              <a:effectLst/>
              <a:uFillTx/>
              <a:latin typeface="Arial"/>
            </a:endParaRPr>
          </a:p>
        </p:txBody>
      </p:sp>
      <p:sp>
        <p:nvSpPr>
          <p:cNvPr id="276" name="Text 18"/>
          <p:cNvSpPr/>
          <p:nvPr/>
        </p:nvSpPr>
        <p:spPr>
          <a:xfrm>
            <a:off x="1047600" y="9258480"/>
            <a:ext cx="115452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F3ECE0">
                    <a:alpha val="67000"/>
                  </a:srgbClr>
                </a:solidFill>
                <a:effectLst/>
                <a:uFillTx/>
                <a:latin typeface="Courier New"/>
                <a:ea typeface="Courier New"/>
              </a:rPr>
              <a:t>11 / 11</a:t>
            </a:r>
            <a:endParaRPr lang="en-US" sz="1800" b="0" u="none" strike="noStrike">
              <a:solidFill>
                <a:srgbClr val="FFFFFF"/>
              </a:solidFill>
              <a:effectLst/>
              <a:uFillTx/>
              <a:latin typeface="Arial"/>
            </a:endParaRPr>
          </a:p>
        </p:txBody>
      </p:sp>
      <p:sp>
        <p:nvSpPr>
          <p:cNvPr id="277" name="Text 19"/>
          <p:cNvSpPr/>
          <p:nvPr/>
        </p:nvSpPr>
        <p:spPr>
          <a:xfrm>
            <a:off x="12916080" y="9182160"/>
            <a:ext cx="4453560" cy="3805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800" b="0" u="none" spc="145" strike="noStrike">
                <a:solidFill>
                  <a:srgbClr val="F3ECE0">
                    <a:alpha val="67000"/>
                  </a:srgbClr>
                </a:solidFill>
                <a:effectLst/>
                <a:uFillTx/>
                <a:latin typeface="Courier New"/>
                <a:ea typeface="Courier New"/>
              </a:rPr>
              <a:t>THANK YOU · </a:t>
            </a:r>
            <a:r>
              <a:rPr lang="zh-CN" sz="1800" b="0" u="none" spc="145" strike="noStrike">
                <a:solidFill>
                  <a:srgbClr val="F3ECE0">
                    <a:alpha val="67000"/>
                  </a:srgbClr>
                </a:solidFill>
                <a:effectLst/>
                <a:uFillTx/>
                <a:latin typeface="Courier New"/>
                <a:ea typeface="Courier New"/>
              </a:rPr>
              <a:t>ありがとうございます</a:t>
            </a:r>
            <a:endParaRPr lang="en-US"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4</TotalTime>
  <Application>LibreOffice/26.2.3.2$Linux_X86_64 LibreOffice_project/70e089b17412e4cb7773e41413306b17a2328c34</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2026-05-28T12:44:33Z</dcterms:created>
  <dc:creator>PptxGenJS</dc:creator>
  <dc:description/>
  <dc:language>en-US</dc:language>
  <cp:lastModifiedBy/>
  <dcterms:modified xsi:type="dcterms:W3CDTF">2026-05-28T21:51:37Z</dcterms:modified>
  <cp:revision>2</cp:revision>
  <dc:subject>PptxGenJS Presentation</dc:subject>
  <dc:title>PptxGenJS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11</vt:i4>
  </property>
  <property fmtid="{D5CDD505-2E9C-101B-9397-08002B2CF9AE}" pid="3" name="PresentationFormat">
    <vt:lpwstr>On-screen Show (16:9)</vt:lpwstr>
  </property>
  <property fmtid="{D5CDD505-2E9C-101B-9397-08002B2CF9AE}" pid="4" name="Slides">
    <vt:i4>11</vt:i4>
  </property>
</Properties>
</file>