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5"/>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6"/>
          <a:sy n="0" d="2"/>
        </p:scale>
        <p:origin x="721066736"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presProps" Target="presProps.xml" /><Relationship Id="rId17" Type="http://schemas.openxmlformats.org/officeDocument/2006/relationships/tableStyles" Target="tableStyles.xml" /><Relationship Id="rId1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284816704"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846530869"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555558053"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136450875"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2122087374"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097332173"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475A8E8B-BEDB-4988-A6BF-7C4E9B88558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022702" name="PlaceHolder 1"/>
          <p:cNvSpPr>
            <a:spLocks noGrp="1"/>
          </p:cNvSpPr>
          <p:nvPr>
            <p:ph type="sldImg"/>
          </p:nvPr>
        </p:nvSpPr>
        <p:spPr bwMode="auto">
          <a:xfrm>
            <a:off x="685800" y="1143000"/>
            <a:ext cx="5486039" cy="3085920"/>
          </a:xfrm>
          <a:prstGeom prst="rect">
            <a:avLst/>
          </a:prstGeom>
          <a:ln w="0">
            <a:noFill/>
          </a:ln>
        </p:spPr>
      </p:sp>
      <p:sp>
        <p:nvSpPr>
          <p:cNvPr id="175317201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486290239" name="PlaceHolder 3"/>
          <p:cNvSpPr>
            <a:spLocks noGrp="1"/>
          </p:cNvSpPr>
          <p:nvPr>
            <p:ph type="sldNum" idx="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38677EB-BCFE-4A7F-B0B5-97CA1BA1A9A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0647986" name="PlaceHolder 1"/>
          <p:cNvSpPr>
            <a:spLocks noGrp="1"/>
          </p:cNvSpPr>
          <p:nvPr>
            <p:ph type="sldImg"/>
          </p:nvPr>
        </p:nvSpPr>
        <p:spPr bwMode="auto">
          <a:xfrm>
            <a:off x="685800" y="1143000"/>
            <a:ext cx="5486039" cy="3085920"/>
          </a:xfrm>
          <a:prstGeom prst="rect">
            <a:avLst/>
          </a:prstGeom>
          <a:ln w="0">
            <a:noFill/>
          </a:ln>
        </p:spPr>
      </p:sp>
      <p:sp>
        <p:nvSpPr>
          <p:cNvPr id="622012584"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press, no website launch event. Just trust-building, charter drafting, and assembling the founding team.</a:t>
            </a:r>
            <a:endParaRPr lang="en-US" sz="2000" b="0" u="none" strike="noStrike">
              <a:solidFill>
                <a:srgbClr val="000000"/>
              </a:solidFill>
              <a:latin typeface="Arial"/>
            </a:endParaRPr>
          </a:p>
        </p:txBody>
      </p:sp>
      <p:sp>
        <p:nvSpPr>
          <p:cNvPr id="1597556980" name="PlaceHolder 3"/>
          <p:cNvSpPr>
            <a:spLocks noGrp="1"/>
          </p:cNvSpPr>
          <p:nvPr>
            <p:ph type="sldNum" idx="5"/>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77F73A12-404C-40EF-9BD2-7D41A6E48A6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654560" name="PlaceHolder 1"/>
          <p:cNvSpPr>
            <a:spLocks noGrp="1"/>
          </p:cNvSpPr>
          <p:nvPr>
            <p:ph type="sldImg"/>
          </p:nvPr>
        </p:nvSpPr>
        <p:spPr bwMode="auto">
          <a:xfrm>
            <a:off x="685800" y="1143000"/>
            <a:ext cx="5486039" cy="3085920"/>
          </a:xfrm>
          <a:prstGeom prst="rect">
            <a:avLst/>
          </a:prstGeom>
          <a:ln w="0">
            <a:noFill/>
          </a:ln>
        </p:spPr>
      </p:sp>
      <p:sp>
        <p:nvSpPr>
          <p:cNvPr id="137397296"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Within roughly ten years most Japanese passenger cars will be electric,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499663898" name="PlaceHolder 3"/>
          <p:cNvSpPr>
            <a:spLocks noGrp="1"/>
          </p:cNvSpPr>
          <p:nvPr>
            <p:ph type="sldNum" idx="6"/>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994C129-A87D-4EFA-90B6-0E4D6CC8C01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1918341" name="PlaceHolder 1"/>
          <p:cNvSpPr>
            <a:spLocks noGrp="1"/>
          </p:cNvSpPr>
          <p:nvPr>
            <p:ph type="sldImg"/>
          </p:nvPr>
        </p:nvSpPr>
        <p:spPr bwMode="auto">
          <a:xfrm>
            <a:off x="685800" y="1143000"/>
            <a:ext cx="5486039" cy="3085920"/>
          </a:xfrm>
          <a:prstGeom prst="rect">
            <a:avLst/>
          </a:prstGeom>
          <a:ln w="0">
            <a:noFill/>
          </a:ln>
        </p:spPr>
      </p:sp>
      <p:sp>
        <p:nvSpPr>
          <p:cNvPr id="432552973"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sugi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622231822" name="PlaceHolder 3"/>
          <p:cNvSpPr>
            <a:spLocks noGrp="1"/>
          </p:cNvSpPr>
          <p:nvPr>
            <p:ph type="sldNum" idx="7"/>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C8B6D06-920D-4810-89E7-5F8376D0A4A6}"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3054" name="PlaceHolder 1"/>
          <p:cNvSpPr>
            <a:spLocks noGrp="1"/>
          </p:cNvSpPr>
          <p:nvPr>
            <p:ph type="sldImg"/>
          </p:nvPr>
        </p:nvSpPr>
        <p:spPr bwMode="auto">
          <a:xfrm>
            <a:off x="685800" y="1143000"/>
            <a:ext cx="5486039" cy="3085920"/>
          </a:xfrm>
          <a:prstGeom prst="rect">
            <a:avLst/>
          </a:prstGeom>
          <a:ln w="0">
            <a:noFill/>
          </a:ln>
        </p:spPr>
      </p:sp>
      <p:sp>
        <p:nvSpPr>
          <p:cNvPr id="459854527"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 forests: phased replacement of aged sugi cedar with native broadleaf — oak, chestnut, konara. The 25-year arc is the ecological clock, not the funding cycle. The community benefit is concrete: less pollen, fewer landslides, a forest that looks and behaves like a forest again. Crucially, the sugi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784327976" name="PlaceHolder 3"/>
          <p:cNvSpPr>
            <a:spLocks noGrp="1"/>
          </p:cNvSpPr>
          <p:nvPr>
            <p:ph type="sldNum" idx="8"/>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0CCC8488-C664-4AA8-9D28-CAB3C2E1658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1137835" name="PlaceHolder 1"/>
          <p:cNvSpPr>
            <a:spLocks noGrp="1"/>
          </p:cNvSpPr>
          <p:nvPr>
            <p:ph type="sldImg"/>
          </p:nvPr>
        </p:nvSpPr>
        <p:spPr bwMode="auto">
          <a:xfrm>
            <a:off x="685800" y="1143000"/>
            <a:ext cx="5486039" cy="3085920"/>
          </a:xfrm>
          <a:prstGeom prst="rect">
            <a:avLst/>
          </a:prstGeom>
          <a:ln w="0">
            <a:noFill/>
          </a:ln>
        </p:spPr>
      </p:sp>
      <p:sp>
        <p:nvSpPr>
          <p:cNvPr id="716035426"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1189302409" name="PlaceHolder 3"/>
          <p:cNvSpPr>
            <a:spLocks noGrp="1"/>
          </p:cNvSpPr>
          <p:nvPr>
            <p:ph type="sldNum" idx="9"/>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B7762E9B-153D-47E4-8D12-31BE0A3CFAC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6599053" name="PlaceHolder 1"/>
          <p:cNvSpPr>
            <a:spLocks noGrp="1"/>
          </p:cNvSpPr>
          <p:nvPr>
            <p:ph type="sldImg"/>
          </p:nvPr>
        </p:nvSpPr>
        <p:spPr bwMode="auto">
          <a:xfrm>
            <a:off x="685800" y="1143000"/>
            <a:ext cx="5486039" cy="3085920"/>
          </a:xfrm>
          <a:prstGeom prst="rect">
            <a:avLst/>
          </a:prstGeom>
          <a:ln w="0">
            <a:noFill/>
          </a:ln>
        </p:spPr>
      </p:sp>
      <p:sp>
        <p:nvSpPr>
          <p:cNvPr id="354400443"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The closed Mitsue Elementary School building,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2005778068" name="PlaceHolder 3"/>
          <p:cNvSpPr>
            <a:spLocks noGrp="1"/>
          </p:cNvSpPr>
          <p:nvPr>
            <p:ph type="sldNum" idx="10"/>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D07ECBAD-4A22-4D51-80F5-763C48CDAEE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2904487" name="PlaceHolder 1"/>
          <p:cNvSpPr>
            <a:spLocks noGrp="1"/>
          </p:cNvSpPr>
          <p:nvPr>
            <p:ph type="sldImg"/>
          </p:nvPr>
        </p:nvSpPr>
        <p:spPr bwMode="auto">
          <a:xfrm>
            <a:off x="685800" y="1143000"/>
            <a:ext cx="5486039" cy="3085920"/>
          </a:xfrm>
          <a:prstGeom prst="rect">
            <a:avLst/>
          </a:prstGeom>
          <a:ln w="0">
            <a:noFill/>
          </a:ln>
        </p:spPr>
      </p:sp>
      <p:sp>
        <p:nvSpPr>
          <p:cNvPr id="874357589"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1540809284" name="PlaceHolder 3"/>
          <p:cNvSpPr>
            <a:spLocks noGrp="1"/>
          </p:cNvSpPr>
          <p:nvPr>
            <p:ph type="sldNum" idx="11"/>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30438D0D-1EA0-46F6-ABF7-8980F901FD3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9758518" name="PlaceHolder 1"/>
          <p:cNvSpPr>
            <a:spLocks noGrp="1"/>
          </p:cNvSpPr>
          <p:nvPr>
            <p:ph type="sldImg"/>
          </p:nvPr>
        </p:nvSpPr>
        <p:spPr bwMode="auto">
          <a:xfrm>
            <a:off x="685800" y="1143000"/>
            <a:ext cx="5486039" cy="3085920"/>
          </a:xfrm>
          <a:prstGeom prst="rect">
            <a:avLst/>
          </a:prstGeom>
          <a:ln w="0">
            <a:noFill/>
          </a:ln>
        </p:spPr>
      </p:sp>
      <p:sp>
        <p:nvSpPr>
          <p:cNvPr id="908078077"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Two advisors have committed: Joi Ito and Ray Ozzie. 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647910519" name="PlaceHolder 3"/>
          <p:cNvSpPr>
            <a:spLocks noGrp="1"/>
          </p:cNvSpPr>
          <p:nvPr>
            <p:ph type="sldNum" idx="12"/>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A104C59D-D30D-4F8A-968E-3F7CF29B7FC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2526709" name="PlaceHolder 1"/>
          <p:cNvSpPr>
            <a:spLocks noGrp="1"/>
          </p:cNvSpPr>
          <p:nvPr>
            <p:ph type="sldImg"/>
          </p:nvPr>
        </p:nvSpPr>
        <p:spPr bwMode="auto">
          <a:xfrm>
            <a:off x="685800" y="1143000"/>
            <a:ext cx="5486039" cy="3085920"/>
          </a:xfrm>
          <a:prstGeom prst="rect">
            <a:avLst/>
          </a:prstGeom>
          <a:ln w="0">
            <a:noFill/>
          </a:ln>
        </p:spPr>
      </p:sp>
      <p:sp>
        <p:nvSpPr>
          <p:cNvPr id="183219361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1640837588" name="PlaceHolder 3"/>
          <p:cNvSpPr>
            <a:spLocks noGrp="1"/>
          </p:cNvSpPr>
          <p:nvPr>
            <p:ph type="sldNum" idx="13"/>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B053A7E-0DE3-4E7A-957E-257F9CD0E0C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1930353" name="PlaceHolder 1"/>
          <p:cNvSpPr>
            <a:spLocks noGrp="1"/>
          </p:cNvSpPr>
          <p:nvPr>
            <p:ph type="sldImg"/>
          </p:nvPr>
        </p:nvSpPr>
        <p:spPr bwMode="auto">
          <a:xfrm>
            <a:off x="685800" y="1143000"/>
            <a:ext cx="5486039" cy="3085920"/>
          </a:xfrm>
          <a:prstGeom prst="rect">
            <a:avLst/>
          </a:prstGeom>
          <a:ln w="0">
            <a:noFill/>
          </a:ln>
        </p:spPr>
      </p:sp>
      <p:sp>
        <p:nvSpPr>
          <p:cNvPr id="2083940410"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1888314791" name="PlaceHolder 3"/>
          <p:cNvSpPr>
            <a:spLocks noGrp="1"/>
          </p:cNvSpPr>
          <p:nvPr>
            <p:ph type="sldNum" idx="1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CCB95768-FCFD-46B4-B87F-9DFE09BFC12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6814232"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defRPr lang="en-US" sz="1800" b="0" u="none" strike="noStrike">
                <a:solidFill>
                  <a:schemeClr val="dk1"/>
                </a:solidFill>
                <a:latin typeface="Calibri"/>
              </a:defRPr>
            </a:lvl1pPr>
          </a:lstStyle>
          <a:p>
            <a:pPr indent="0" algn="l">
              <a:buNone/>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1859697588"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marL="432000"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321987180" name="Shape 0"/>
          <p:cNvSpPr/>
          <p:nvPr/>
        </p:nvSpPr>
        <p:spPr bwMode="auto">
          <a:xfrm>
            <a:off x="1047600" y="762120"/>
            <a:ext cx="533160" cy="53316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71835937" name="Text 1"/>
          <p:cNvSpPr/>
          <p:nvPr/>
        </p:nvSpPr>
        <p:spPr bwMode="auto">
          <a:xfrm>
            <a:off x="1047600" y="762120"/>
            <a:ext cx="609120" cy="571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469507914" name="Text 2"/>
          <p:cNvSpPr/>
          <p:nvPr/>
        </p:nvSpPr>
        <p:spPr bwMode="auto">
          <a:xfrm>
            <a:off x="1714680" y="89532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446576253" name="Text 3"/>
          <p:cNvSpPr/>
          <p:nvPr/>
        </p:nvSpPr>
        <p:spPr bwMode="auto">
          <a:xfrm>
            <a:off x="11809800" y="762120"/>
            <a:ext cx="5592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679961427" name="Text 4"/>
          <p:cNvSpPr/>
          <p:nvPr/>
        </p:nvSpPr>
        <p:spPr bwMode="auto">
          <a:xfrm>
            <a:off x="1047600" y="1866960"/>
            <a:ext cx="88293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2038862482" name="Text 5"/>
          <p:cNvSpPr/>
          <p:nvPr/>
        </p:nvSpPr>
        <p:spPr bwMode="auto">
          <a:xfrm>
            <a:off x="1047600" y="2476440"/>
            <a:ext cx="8829360" cy="4826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1584388644" name="Text 6"/>
          <p:cNvSpPr/>
          <p:nvPr/>
        </p:nvSpPr>
        <p:spPr bwMode="auto">
          <a:xfrm>
            <a:off x="1047600" y="7607880"/>
            <a:ext cx="4591800" cy="1238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31484576" name="Image 0" descr="preencoded.png"/>
          <p:cNvPicPr/>
          <p:nvPr/>
        </p:nvPicPr>
        <p:blipFill rotWithShape="1">
          <a:blip r:embed="rId3"/>
          <a:stretch/>
        </p:blipFill>
        <p:spPr bwMode="auto">
          <a:xfrm>
            <a:off x="10382400" y="1866960"/>
            <a:ext cx="6857640" cy="6095520"/>
          </a:xfrm>
          <a:prstGeom prst="rect">
            <a:avLst/>
          </a:prstGeom>
          <a:noFill/>
          <a:ln w="0">
            <a:noFill/>
          </a:ln>
        </p:spPr>
      </p:pic>
      <p:sp>
        <p:nvSpPr>
          <p:cNvPr id="820848991"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1036323768" name="Text 8"/>
          <p:cNvSpPr/>
          <p:nvPr/>
        </p:nvSpPr>
        <p:spPr bwMode="auto">
          <a:xfrm>
            <a:off x="13830480" y="9258480"/>
            <a:ext cx="3511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37823503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38029684"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2007880251"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686015406" name="Text 3"/>
          <p:cNvSpPr/>
          <p:nvPr/>
        </p:nvSpPr>
        <p:spPr bwMode="auto">
          <a:xfrm>
            <a:off x="14451840" y="762120"/>
            <a:ext cx="2871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805297323" name="Text 4"/>
          <p:cNvSpPr/>
          <p:nvPr/>
        </p:nvSpPr>
        <p:spPr bwMode="auto">
          <a:xfrm>
            <a:off x="1047600" y="1695600"/>
            <a:ext cx="794628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1538023304" name="Text 5"/>
          <p:cNvSpPr/>
          <p:nvPr/>
        </p:nvSpPr>
        <p:spPr bwMode="auto">
          <a:xfrm>
            <a:off x="1047600" y="1828800"/>
            <a:ext cx="7946280" cy="527508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98000"/>
              </a:lnSpc>
              <a:tabLst>
                <a:tab pos="0" algn="l"/>
              </a:tabLst>
              <a:defRPr/>
            </a:pPr>
            <a:r>
              <a:rPr lang="en-US" sz="6500" b="0" u="none" strike="noStrike" spc="-85">
                <a:solidFill>
                  <a:srgbClr val="1F2A24"/>
                </a:solidFill>
                <a:latin typeface="Georgia"/>
                <a:ea typeface="Georgia"/>
              </a:rPr>
              <a:t>One vacant school building. One </a:t>
            </a:r>
            <a:r>
              <a:rPr lang="en-US" sz="6500" b="0" i="1" u="none" strike="noStrike" spc="-85">
                <a:solidFill>
                  <a:srgbClr val="C4663A"/>
                </a:solidFill>
                <a:latin typeface="Georgia"/>
                <a:ea typeface="Georgia"/>
              </a:rPr>
              <a:t>tired </a:t>
            </a:r>
            <a:r>
              <a:rPr lang="en-US" sz="6500" b="0" i="1" u="none" strike="noStrike" spc="-85">
                <a:solidFill>
                  <a:srgbClr val="C4663A"/>
                </a:solidFill>
                <a:latin typeface="Georgia"/>
                <a:ea typeface="Georgia"/>
              </a:rPr>
              <a:t>forest. </a:t>
            </a:r>
            <a:r>
              <a:rPr lang="en-US" sz="6500" b="0" u="none" strike="noStrike" spc="-85">
                <a:solidFill>
                  <a:srgbClr val="1F2A24"/>
                </a:solidFill>
                <a:latin typeface="Georgia"/>
                <a:ea typeface="Georgia"/>
              </a:rPr>
              <a:t>One short list of ideas.</a:t>
            </a:r>
            <a:endParaRPr sz="6500" b="0" u="none" strike="noStrike">
              <a:solidFill>
                <a:srgbClr val="000000"/>
              </a:solidFill>
              <a:latin typeface="Arial"/>
            </a:endParaRPr>
          </a:p>
        </p:txBody>
      </p:sp>
      <p:sp>
        <p:nvSpPr>
          <p:cNvPr id="1685190293" name="Text 6"/>
          <p:cNvSpPr/>
          <p:nvPr/>
        </p:nvSpPr>
        <p:spPr bwMode="auto">
          <a:xfrm>
            <a:off x="1102469" y="6118020"/>
            <a:ext cx="794628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and moved to a new building — the old building sits empty. The cedar plantations </a:t>
            </a:r>
            <a:r>
              <a:rPr lang="en-US" sz="2100" b="0" u="none" strike="noStrike">
                <a:solidFill>
                  <a:srgbClr val="1F2A24"/>
                </a:solidFill>
                <a:latin typeface="Arial"/>
                <a:ea typeface="Arial"/>
              </a:rPr>
              <a:t>around it are old and unmanaged. The grid is fragile. None of this is unusual in rural Japan — that's the </a:t>
            </a:r>
            <a:r>
              <a:rPr lang="en-US" sz="2100" b="0" u="none" strike="noStrike">
                <a:solidFill>
                  <a:srgbClr val="1F2A24"/>
                </a:solidFill>
                <a:latin typeface="Arial"/>
                <a:ea typeface="Arial"/>
              </a:rPr>
              <a:t>whole point.</a:t>
            </a:r>
            <a:endParaRPr lang="en-US" sz="2100" b="0" u="none" strike="noStrike">
              <a:solidFill>
                <a:srgbClr val="000000"/>
              </a:solidFill>
              <a:latin typeface="Arial"/>
            </a:endParaRPr>
          </a:p>
        </p:txBody>
      </p:sp>
      <p:sp>
        <p:nvSpPr>
          <p:cNvPr id="186646106" name="Text 7"/>
          <p:cNvSpPr/>
          <p:nvPr/>
        </p:nvSpPr>
        <p:spPr bwMode="auto">
          <a:xfrm>
            <a:off x="1143000" y="8229600"/>
            <a:ext cx="794628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629826048" name="Shape 8"/>
          <p:cNvSpPr/>
          <p:nvPr/>
        </p:nvSpPr>
        <p:spPr bwMode="auto">
          <a:xfrm>
            <a:off x="9655920" y="2391480"/>
            <a:ext cx="7714800" cy="509472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05333622" name="Text 9"/>
          <p:cNvSpPr/>
          <p:nvPr/>
        </p:nvSpPr>
        <p:spPr bwMode="auto">
          <a:xfrm>
            <a:off x="10008360" y="2743920"/>
            <a:ext cx="7220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287391260" name="Text 10"/>
          <p:cNvSpPr/>
          <p:nvPr/>
        </p:nvSpPr>
        <p:spPr bwMode="auto">
          <a:xfrm>
            <a:off x="10008360" y="3258360"/>
            <a:ext cx="7220520" cy="15616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541580867" name="Shape 11"/>
          <p:cNvSpPr/>
          <p:nvPr/>
        </p:nvSpPr>
        <p:spPr bwMode="auto">
          <a:xfrm>
            <a:off x="10008360" y="5087160"/>
            <a:ext cx="700992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392327175" name="Text 12"/>
          <p:cNvSpPr/>
          <p:nvPr/>
        </p:nvSpPr>
        <p:spPr bwMode="auto">
          <a:xfrm>
            <a:off x="1000836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1839718966" name="Text 13"/>
          <p:cNvSpPr/>
          <p:nvPr/>
        </p:nvSpPr>
        <p:spPr bwMode="auto">
          <a:xfrm>
            <a:off x="1000836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82792885" name="Text 14"/>
          <p:cNvSpPr/>
          <p:nvPr/>
        </p:nvSpPr>
        <p:spPr bwMode="auto">
          <a:xfrm>
            <a:off x="1362780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768243811" name="Text 15"/>
          <p:cNvSpPr/>
          <p:nvPr/>
        </p:nvSpPr>
        <p:spPr bwMode="auto">
          <a:xfrm>
            <a:off x="1362780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926020204" name="Text 16"/>
          <p:cNvSpPr/>
          <p:nvPr/>
        </p:nvSpPr>
        <p:spPr bwMode="auto">
          <a:xfrm>
            <a:off x="1000836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145692062" name="Text 17"/>
          <p:cNvSpPr/>
          <p:nvPr/>
        </p:nvSpPr>
        <p:spPr bwMode="auto">
          <a:xfrm>
            <a:off x="1000836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899199911" name="Text 18"/>
          <p:cNvSpPr/>
          <p:nvPr/>
        </p:nvSpPr>
        <p:spPr bwMode="auto">
          <a:xfrm>
            <a:off x="1362780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805636568" name="Text 19"/>
          <p:cNvSpPr/>
          <p:nvPr/>
        </p:nvSpPr>
        <p:spPr bwMode="auto">
          <a:xfrm>
            <a:off x="1362780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611583401" name="Text 20"/>
          <p:cNvSpPr/>
          <p:nvPr/>
        </p:nvSpPr>
        <p:spPr bwMode="auto">
          <a:xfrm>
            <a:off x="8993880" y="9565200"/>
            <a:ext cx="79462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132791073" name="Text 21"/>
          <p:cNvSpPr/>
          <p:nvPr/>
        </p:nvSpPr>
        <p:spPr bwMode="auto">
          <a:xfrm>
            <a:off x="1143000" y="952524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571943880" name="Text 22"/>
          <p:cNvSpPr/>
          <p:nvPr/>
        </p:nvSpPr>
        <p:spPr bwMode="auto">
          <a:xfrm>
            <a:off x="16137000" y="9525240"/>
            <a:ext cx="1465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696370803"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3995033"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244215953"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202351678" name="Text 3"/>
          <p:cNvSpPr/>
          <p:nvPr/>
        </p:nvSpPr>
        <p:spPr bwMode="auto">
          <a:xfrm>
            <a:off x="11188079" y="762120"/>
            <a:ext cx="6233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632823607" name="Text 4"/>
          <p:cNvSpPr/>
          <p:nvPr/>
        </p:nvSpPr>
        <p:spPr bwMode="auto">
          <a:xfrm>
            <a:off x="1047600" y="1619280"/>
            <a:ext cx="1387188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794070363" name="Text 5"/>
          <p:cNvSpPr/>
          <p:nvPr/>
        </p:nvSpPr>
        <p:spPr bwMode="auto">
          <a:xfrm>
            <a:off x="1047600" y="3554280"/>
            <a:ext cx="16678079" cy="437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1496562896" name="Shape 6"/>
          <p:cNvSpPr/>
          <p:nvPr/>
        </p:nvSpPr>
        <p:spPr bwMode="auto">
          <a:xfrm>
            <a:off x="10476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224615835" name="Text 7"/>
          <p:cNvSpPr/>
          <p:nvPr/>
        </p:nvSpPr>
        <p:spPr bwMode="auto">
          <a:xfrm>
            <a:off x="10476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974962137" name="Image 0" descr="preencoded.png"/>
          <p:cNvPicPr/>
          <p:nvPr/>
        </p:nvPicPr>
        <p:blipFill rotWithShape="1">
          <a:blip r:embed="rId3"/>
          <a:stretch/>
        </p:blipFill>
        <p:spPr bwMode="auto">
          <a:xfrm>
            <a:off x="1047600" y="5078520"/>
            <a:ext cx="3833280" cy="1142640"/>
          </a:xfrm>
          <a:prstGeom prst="rect">
            <a:avLst/>
          </a:prstGeom>
          <a:noFill/>
          <a:ln w="0">
            <a:noFill/>
          </a:ln>
        </p:spPr>
      </p:pic>
      <p:sp>
        <p:nvSpPr>
          <p:cNvPr id="837865668" name="Text 8"/>
          <p:cNvSpPr/>
          <p:nvPr/>
        </p:nvSpPr>
        <p:spPr bwMode="auto">
          <a:xfrm>
            <a:off x="10476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EV cars are coming.</a:t>
            </a:r>
            <a:endParaRPr lang="en-US" sz="3000" b="0" u="none" strike="noStrike">
              <a:solidFill>
                <a:srgbClr val="000000"/>
              </a:solidFill>
              <a:latin typeface="Arial"/>
            </a:endParaRPr>
          </a:p>
        </p:txBody>
      </p:sp>
      <p:sp>
        <p:nvSpPr>
          <p:cNvPr id="1358582128" name="Text 9"/>
          <p:cNvSpPr/>
          <p:nvPr/>
        </p:nvSpPr>
        <p:spPr bwMode="auto">
          <a:xfrm>
            <a:off x="1047600" y="7269840"/>
            <a:ext cx="3948480" cy="1058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In the near future passenger vehicles will be  electric. Rural grids need new distributed generation. Extension is slow and expensive.</a:t>
            </a:r>
            <a:endParaRPr lang="en-US" sz="1800" b="0" u="none" strike="noStrike">
              <a:solidFill>
                <a:srgbClr val="000000"/>
              </a:solidFill>
              <a:latin typeface="Arial"/>
            </a:endParaRPr>
          </a:p>
        </p:txBody>
      </p:sp>
      <p:sp>
        <p:nvSpPr>
          <p:cNvPr id="1472792750" name="Shape 10"/>
          <p:cNvSpPr/>
          <p:nvPr/>
        </p:nvSpPr>
        <p:spPr bwMode="auto">
          <a:xfrm>
            <a:off x="516744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28916996" name="Text 11"/>
          <p:cNvSpPr/>
          <p:nvPr/>
        </p:nvSpPr>
        <p:spPr bwMode="auto">
          <a:xfrm>
            <a:off x="516744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2059431527" name="Image 1" descr="preencoded.png"/>
          <p:cNvPicPr/>
          <p:nvPr/>
        </p:nvPicPr>
        <p:blipFill rotWithShape="1">
          <a:blip r:embed="rId4"/>
          <a:stretch/>
        </p:blipFill>
        <p:spPr bwMode="auto">
          <a:xfrm>
            <a:off x="5167440" y="5078520"/>
            <a:ext cx="3833280" cy="1142640"/>
          </a:xfrm>
          <a:prstGeom prst="rect">
            <a:avLst/>
          </a:prstGeom>
          <a:noFill/>
          <a:ln w="0">
            <a:noFill/>
          </a:ln>
        </p:spPr>
      </p:pic>
      <p:sp>
        <p:nvSpPr>
          <p:cNvPr id="228481482" name="Text 12"/>
          <p:cNvSpPr/>
          <p:nvPr/>
        </p:nvSpPr>
        <p:spPr bwMode="auto">
          <a:xfrm>
            <a:off x="5167440" y="6411960"/>
            <a:ext cx="3948480" cy="8377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1745883927" name="Text 13"/>
          <p:cNvSpPr/>
          <p:nvPr/>
        </p:nvSpPr>
        <p:spPr bwMode="auto">
          <a:xfrm>
            <a:off x="516744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590958202" name="Shape 14"/>
          <p:cNvSpPr/>
          <p:nvPr/>
        </p:nvSpPr>
        <p:spPr bwMode="auto">
          <a:xfrm>
            <a:off x="928692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915175578" name="Text 15"/>
          <p:cNvSpPr/>
          <p:nvPr/>
        </p:nvSpPr>
        <p:spPr bwMode="auto">
          <a:xfrm>
            <a:off x="928692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582478404" name="Image 2" descr="preencoded.png"/>
          <p:cNvPicPr/>
          <p:nvPr/>
        </p:nvPicPr>
        <p:blipFill rotWithShape="1">
          <a:blip r:embed="rId5"/>
          <a:stretch/>
        </p:blipFill>
        <p:spPr bwMode="auto">
          <a:xfrm>
            <a:off x="9286920" y="5078520"/>
            <a:ext cx="3833280" cy="1142640"/>
          </a:xfrm>
          <a:prstGeom prst="rect">
            <a:avLst/>
          </a:prstGeom>
          <a:noFill/>
          <a:ln w="0">
            <a:noFill/>
          </a:ln>
        </p:spPr>
      </p:pic>
      <p:sp>
        <p:nvSpPr>
          <p:cNvPr id="2064280454" name="Text 16"/>
          <p:cNvSpPr/>
          <p:nvPr/>
        </p:nvSpPr>
        <p:spPr bwMode="auto">
          <a:xfrm>
            <a:off x="9286920" y="6411960"/>
            <a:ext cx="3948480" cy="83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1820895786" name="Text 17"/>
          <p:cNvSpPr/>
          <p:nvPr/>
        </p:nvSpPr>
        <p:spPr bwMode="auto">
          <a:xfrm>
            <a:off x="928692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1032777016" name="Shape 18"/>
          <p:cNvSpPr/>
          <p:nvPr/>
        </p:nvSpPr>
        <p:spPr bwMode="auto">
          <a:xfrm>
            <a:off x="134064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2602106" name="Text 19"/>
          <p:cNvSpPr/>
          <p:nvPr/>
        </p:nvSpPr>
        <p:spPr bwMode="auto">
          <a:xfrm>
            <a:off x="134064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1757483459" name="Image 3" descr="preencoded.png"/>
          <p:cNvPicPr/>
          <p:nvPr/>
        </p:nvPicPr>
        <p:blipFill rotWithShape="1">
          <a:blip r:embed="rId6"/>
          <a:stretch/>
        </p:blipFill>
        <p:spPr bwMode="auto">
          <a:xfrm>
            <a:off x="13406400" y="5078520"/>
            <a:ext cx="3833280" cy="1142640"/>
          </a:xfrm>
          <a:prstGeom prst="rect">
            <a:avLst/>
          </a:prstGeom>
          <a:noFill/>
          <a:ln w="0">
            <a:noFill/>
          </a:ln>
        </p:spPr>
      </p:pic>
      <p:sp>
        <p:nvSpPr>
          <p:cNvPr id="1755217804" name="Text 20"/>
          <p:cNvSpPr/>
          <p:nvPr/>
        </p:nvSpPr>
        <p:spPr bwMode="auto">
          <a:xfrm>
            <a:off x="134064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1040157406" name="Text 21"/>
          <p:cNvSpPr/>
          <p:nvPr/>
        </p:nvSpPr>
        <p:spPr bwMode="auto">
          <a:xfrm>
            <a:off x="13425120" y="725112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836702120" name="Text 2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1289631243" name="Text 23"/>
          <p:cNvSpPr/>
          <p:nvPr/>
        </p:nvSpPr>
        <p:spPr bwMode="auto">
          <a:xfrm>
            <a:off x="10411200" y="9258480"/>
            <a:ext cx="7033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970016988"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32764834"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954505580"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353276036" name="Text 3"/>
          <p:cNvSpPr/>
          <p:nvPr/>
        </p:nvSpPr>
        <p:spPr bwMode="auto">
          <a:xfrm>
            <a:off x="14918040" y="762120"/>
            <a:ext cx="2397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1352163897" name="Text 4"/>
          <p:cNvSpPr/>
          <p:nvPr/>
        </p:nvSpPr>
        <p:spPr bwMode="auto">
          <a:xfrm>
            <a:off x="1047600" y="1219320"/>
            <a:ext cx="16678079"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1627904085" name="Text 5"/>
          <p:cNvSpPr/>
          <p:nvPr/>
        </p:nvSpPr>
        <p:spPr bwMode="auto">
          <a:xfrm>
            <a:off x="1047600" y="1790640"/>
            <a:ext cx="16678079" cy="36763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5000"/>
              </a:lnSpc>
              <a:tabLst>
                <a:tab pos="0" algn="l"/>
              </a:tabLst>
              <a:defRPr/>
            </a:pPr>
            <a:r>
              <a:rPr lang="en-US" sz="15000" b="0" u="none" strike="noStrike" spc="-150">
                <a:solidFill>
                  <a:srgbClr val="F3ECE0"/>
                </a:solidFill>
                <a:latin typeface="Georgia"/>
                <a:ea typeface="Georgia"/>
              </a:rPr>
              <a:t>Forest. Power. Compute. </a:t>
            </a:r>
            <a:r>
              <a:rPr lang="en-US" sz="15000" b="0" i="1" u="none" strike="noStrike" spc="-150">
                <a:solidFill>
                  <a:srgbClr val="F3B486"/>
                </a:solidFill>
                <a:latin typeface="Georgia"/>
                <a:ea typeface="Georgia"/>
              </a:rPr>
              <a:t>One ledger.</a:t>
            </a:r>
            <a:endParaRPr lang="en-US" sz="15000" b="0" u="none" strike="noStrike">
              <a:solidFill>
                <a:srgbClr val="FFFFFF"/>
              </a:solidFill>
              <a:latin typeface="Arial"/>
            </a:endParaRPr>
          </a:p>
        </p:txBody>
      </p:sp>
      <p:sp>
        <p:nvSpPr>
          <p:cNvPr id="1404564057" name="Text 6"/>
          <p:cNvSpPr/>
          <p:nvPr/>
        </p:nvSpPr>
        <p:spPr bwMode="auto">
          <a:xfrm>
            <a:off x="1047600" y="5829480"/>
            <a:ext cx="16678079" cy="542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229413348" name="Text 7"/>
          <p:cNvSpPr/>
          <p:nvPr/>
        </p:nvSpPr>
        <p:spPr bwMode="auto">
          <a:xfrm>
            <a:off x="10476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699663972" name="Text 8"/>
          <p:cNvSpPr/>
          <p:nvPr/>
        </p:nvSpPr>
        <p:spPr bwMode="auto">
          <a:xfrm>
            <a:off x="10476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309559389" name="Text 9"/>
          <p:cNvSpPr/>
          <p:nvPr/>
        </p:nvSpPr>
        <p:spPr bwMode="auto">
          <a:xfrm>
            <a:off x="10476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545116040" name="Text 10"/>
          <p:cNvSpPr/>
          <p:nvPr/>
        </p:nvSpPr>
        <p:spPr bwMode="auto">
          <a:xfrm>
            <a:off x="663588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047911773" name="Text 11"/>
          <p:cNvSpPr/>
          <p:nvPr/>
        </p:nvSpPr>
        <p:spPr bwMode="auto">
          <a:xfrm>
            <a:off x="663588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853232859" name="Text 12"/>
          <p:cNvSpPr/>
          <p:nvPr/>
        </p:nvSpPr>
        <p:spPr bwMode="auto">
          <a:xfrm>
            <a:off x="6635880" y="8182080"/>
            <a:ext cx="5166720" cy="10321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1453927467" name="Text 13"/>
          <p:cNvSpPr/>
          <p:nvPr/>
        </p:nvSpPr>
        <p:spPr bwMode="auto">
          <a:xfrm>
            <a:off x="122238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613808659" name="Text 14"/>
          <p:cNvSpPr/>
          <p:nvPr/>
        </p:nvSpPr>
        <p:spPr bwMode="auto">
          <a:xfrm>
            <a:off x="122238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100207562" name="Text 15"/>
          <p:cNvSpPr/>
          <p:nvPr/>
        </p:nvSpPr>
        <p:spPr bwMode="auto">
          <a:xfrm>
            <a:off x="122238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1101050810" name="Text 16"/>
          <p:cNvSpPr/>
          <p:nvPr/>
        </p:nvSpPr>
        <p:spPr bwMode="auto">
          <a:xfrm>
            <a:off x="1047600" y="940500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881295179" name="Text 17"/>
          <p:cNvSpPr/>
          <p:nvPr/>
        </p:nvSpPr>
        <p:spPr bwMode="auto">
          <a:xfrm>
            <a:off x="7458120" y="9405000"/>
            <a:ext cx="10074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567622001"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93378869"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27189669"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45973656" name="Text 3"/>
          <p:cNvSpPr/>
          <p:nvPr/>
        </p:nvSpPr>
        <p:spPr bwMode="auto">
          <a:xfrm>
            <a:off x="12376800" y="762120"/>
            <a:ext cx="5009039"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2067033193" name="Text 4"/>
          <p:cNvSpPr/>
          <p:nvPr/>
        </p:nvSpPr>
        <p:spPr bwMode="auto">
          <a:xfrm>
            <a:off x="1047600" y="1695600"/>
            <a:ext cx="8324640" cy="251136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264548081" name="Text 5"/>
          <p:cNvSpPr/>
          <p:nvPr/>
        </p:nvSpPr>
        <p:spPr bwMode="auto">
          <a:xfrm>
            <a:off x="1047600" y="4340520"/>
            <a:ext cx="832464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217452164" name="Text 6"/>
          <p:cNvSpPr/>
          <p:nvPr/>
        </p:nvSpPr>
        <p:spPr bwMode="auto">
          <a:xfrm>
            <a:off x="1047600" y="6154200"/>
            <a:ext cx="832464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1824509938" name="Text 7"/>
          <p:cNvSpPr/>
          <p:nvPr/>
        </p:nvSpPr>
        <p:spPr bwMode="auto">
          <a:xfrm>
            <a:off x="1047600" y="7194240"/>
            <a:ext cx="832464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330255065" name="Text 9"/>
          <p:cNvSpPr/>
          <p:nvPr/>
        </p:nvSpPr>
        <p:spPr bwMode="auto">
          <a:xfrm>
            <a:off x="104760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932382428" name="Text 10"/>
          <p:cNvSpPr/>
          <p:nvPr/>
        </p:nvSpPr>
        <p:spPr bwMode="auto">
          <a:xfrm>
            <a:off x="104760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416813592" name="Text 11"/>
          <p:cNvSpPr/>
          <p:nvPr/>
        </p:nvSpPr>
        <p:spPr bwMode="auto">
          <a:xfrm>
            <a:off x="383724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544501025" name="Text 12"/>
          <p:cNvSpPr/>
          <p:nvPr/>
        </p:nvSpPr>
        <p:spPr bwMode="auto">
          <a:xfrm>
            <a:off x="383724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427623309" name="Text 13"/>
          <p:cNvSpPr/>
          <p:nvPr/>
        </p:nvSpPr>
        <p:spPr bwMode="auto">
          <a:xfrm>
            <a:off x="662652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119953874" name="Text 14"/>
          <p:cNvSpPr/>
          <p:nvPr/>
        </p:nvSpPr>
        <p:spPr bwMode="auto">
          <a:xfrm>
            <a:off x="662652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762807076" name="Shape 15"/>
          <p:cNvSpPr/>
          <p:nvPr/>
        </p:nvSpPr>
        <p:spPr bwMode="auto">
          <a:xfrm>
            <a:off x="9892440" y="1695600"/>
            <a:ext cx="7347600" cy="3333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75654192" name="Text 16"/>
          <p:cNvSpPr/>
          <p:nvPr/>
        </p:nvSpPr>
        <p:spPr bwMode="auto">
          <a:xfrm>
            <a:off x="10168560" y="197172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229902105" name="Image 0" descr="preencoded.png"/>
          <p:cNvPicPr/>
          <p:nvPr/>
        </p:nvPicPr>
        <p:blipFill rotWithShape="1">
          <a:blip r:embed="rId3"/>
          <a:stretch/>
        </p:blipFill>
        <p:spPr bwMode="auto">
          <a:xfrm>
            <a:off x="10168560" y="2486160"/>
            <a:ext cx="6795000" cy="1523520"/>
          </a:xfrm>
          <a:prstGeom prst="rect">
            <a:avLst/>
          </a:prstGeom>
          <a:noFill/>
          <a:ln w="0">
            <a:noFill/>
          </a:ln>
        </p:spPr>
      </p:pic>
      <p:sp>
        <p:nvSpPr>
          <p:cNvPr id="1626682444" name="Text 17"/>
          <p:cNvSpPr/>
          <p:nvPr/>
        </p:nvSpPr>
        <p:spPr bwMode="auto">
          <a:xfrm>
            <a:off x="10168560" y="404820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2091799866" name="Shape 18"/>
          <p:cNvSpPr/>
          <p:nvPr/>
        </p:nvSpPr>
        <p:spPr bwMode="auto">
          <a:xfrm>
            <a:off x="9892440" y="5729760"/>
            <a:ext cx="7347600" cy="31856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97033137" name="Text 19"/>
          <p:cNvSpPr/>
          <p:nvPr/>
        </p:nvSpPr>
        <p:spPr bwMode="auto">
          <a:xfrm>
            <a:off x="10168560" y="600588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605738083" name="Image 1" descr="preencoded.png"/>
          <p:cNvPicPr/>
          <p:nvPr/>
        </p:nvPicPr>
        <p:blipFill rotWithShape="1">
          <a:blip r:embed="rId4"/>
          <a:stretch/>
        </p:blipFill>
        <p:spPr bwMode="auto">
          <a:xfrm>
            <a:off x="10168560" y="6520320"/>
            <a:ext cx="6795000" cy="1523520"/>
          </a:xfrm>
          <a:prstGeom prst="rect">
            <a:avLst/>
          </a:prstGeom>
          <a:noFill/>
          <a:ln w="0">
            <a:noFill/>
          </a:ln>
        </p:spPr>
      </p:pic>
      <p:sp>
        <p:nvSpPr>
          <p:cNvPr id="1362406094" name="Text 20"/>
          <p:cNvSpPr/>
          <p:nvPr/>
        </p:nvSpPr>
        <p:spPr bwMode="auto">
          <a:xfrm>
            <a:off x="10168560" y="808236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902492288" name="Text 21"/>
          <p:cNvSpPr/>
          <p:nvPr/>
        </p:nvSpPr>
        <p:spPr bwMode="auto">
          <a:xfrm>
            <a:off x="1047600" y="953532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1094777616" name="Text 22"/>
          <p:cNvSpPr/>
          <p:nvPr/>
        </p:nvSpPr>
        <p:spPr bwMode="auto">
          <a:xfrm>
            <a:off x="9323280" y="9535320"/>
            <a:ext cx="81540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449958788"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5010305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2027519264"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579118438" name="Text 3"/>
          <p:cNvSpPr/>
          <p:nvPr/>
        </p:nvSpPr>
        <p:spPr bwMode="auto">
          <a:xfrm>
            <a:off x="12129840" y="762120"/>
            <a:ext cx="526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55520879" name="Text 4"/>
          <p:cNvSpPr/>
          <p:nvPr/>
        </p:nvSpPr>
        <p:spPr bwMode="auto">
          <a:xfrm>
            <a:off x="1047600" y="1695600"/>
            <a:ext cx="1502820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658460845" name="Text 5"/>
          <p:cNvSpPr/>
          <p:nvPr/>
        </p:nvSpPr>
        <p:spPr bwMode="auto">
          <a:xfrm>
            <a:off x="1047600" y="3935519"/>
            <a:ext cx="1221732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1895121421" name="Shape 6"/>
          <p:cNvSpPr/>
          <p:nvPr/>
        </p:nvSpPr>
        <p:spPr bwMode="auto">
          <a:xfrm>
            <a:off x="952920" y="5640840"/>
            <a:ext cx="16192079" cy="2817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034678773" name="Image 0" descr="preencoded.png"/>
          <p:cNvPicPr/>
          <p:nvPr/>
        </p:nvPicPr>
        <p:blipFill rotWithShape="1">
          <a:blip r:embed="rId3"/>
          <a:stretch/>
        </p:blipFill>
        <p:spPr bwMode="auto">
          <a:xfrm>
            <a:off x="1305360" y="5993280"/>
            <a:ext cx="15487200" cy="2112480"/>
          </a:xfrm>
          <a:prstGeom prst="rect">
            <a:avLst/>
          </a:prstGeom>
          <a:noFill/>
          <a:ln w="0">
            <a:noFill/>
          </a:ln>
        </p:spPr>
      </p:pic>
      <p:sp>
        <p:nvSpPr>
          <p:cNvPr id="435946521"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613314865" name="Text 8"/>
          <p:cNvSpPr/>
          <p:nvPr/>
        </p:nvSpPr>
        <p:spPr bwMode="auto">
          <a:xfrm>
            <a:off x="8546040" y="9258480"/>
            <a:ext cx="895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311782208"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30803637"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47668716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34151123" name="Text 3"/>
          <p:cNvSpPr/>
          <p:nvPr/>
        </p:nvSpPr>
        <p:spPr bwMode="auto">
          <a:xfrm>
            <a:off x="10859040" y="762120"/>
            <a:ext cx="6572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255699667" name="Text 4"/>
          <p:cNvSpPr/>
          <p:nvPr/>
        </p:nvSpPr>
        <p:spPr bwMode="auto">
          <a:xfrm>
            <a:off x="1047600" y="1695600"/>
            <a:ext cx="7946280" cy="262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767581227" name="Text 5"/>
          <p:cNvSpPr/>
          <p:nvPr/>
        </p:nvSpPr>
        <p:spPr bwMode="auto">
          <a:xfrm>
            <a:off x="1047600" y="4114800"/>
            <a:ext cx="794628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former Mitsue Elementary School building — vacated in 2021 when the school merged with the junior high — repurposed as a small, energy-efficient edge-compute facility — powered entirely by locally generated renewable energy.</a:t>
            </a:r>
            <a:endParaRPr lang="en-US" sz="2100" b="0" u="none" strike="noStrike">
              <a:solidFill>
                <a:srgbClr val="000000"/>
              </a:solidFill>
              <a:latin typeface="Arial"/>
            </a:endParaRPr>
          </a:p>
        </p:txBody>
      </p:sp>
      <p:sp>
        <p:nvSpPr>
          <p:cNvPr id="1171203841" name="Text 6"/>
          <p:cNvSpPr/>
          <p:nvPr/>
        </p:nvSpPr>
        <p:spPr bwMode="auto">
          <a:xfrm>
            <a:off x="1047599" y="6017729"/>
            <a:ext cx="794628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1475578607" name="Shape 7"/>
          <p:cNvSpPr/>
          <p:nvPr/>
        </p:nvSpPr>
        <p:spPr bwMode="auto">
          <a:xfrm>
            <a:off x="1047600" y="8251560"/>
            <a:ext cx="771480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74986844" name="Text 8"/>
          <p:cNvSpPr/>
          <p:nvPr/>
        </p:nvSpPr>
        <p:spPr bwMode="auto">
          <a:xfrm>
            <a:off x="104760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8135816" name="Text 9"/>
          <p:cNvSpPr/>
          <p:nvPr/>
        </p:nvSpPr>
        <p:spPr bwMode="auto">
          <a:xfrm>
            <a:off x="104760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1214810554" name="Text 10"/>
          <p:cNvSpPr/>
          <p:nvPr/>
        </p:nvSpPr>
        <p:spPr bwMode="auto">
          <a:xfrm>
            <a:off x="36957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1526581857" name="Text 11"/>
          <p:cNvSpPr/>
          <p:nvPr/>
        </p:nvSpPr>
        <p:spPr bwMode="auto">
          <a:xfrm>
            <a:off x="36957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1116203516" name="Text 12"/>
          <p:cNvSpPr/>
          <p:nvPr/>
        </p:nvSpPr>
        <p:spPr bwMode="auto">
          <a:xfrm>
            <a:off x="63435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1766566484" name="Text 13"/>
          <p:cNvSpPr/>
          <p:nvPr/>
        </p:nvSpPr>
        <p:spPr bwMode="auto">
          <a:xfrm>
            <a:off x="63435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1131042897" name="Shape 14"/>
          <p:cNvSpPr/>
          <p:nvPr/>
        </p:nvSpPr>
        <p:spPr bwMode="auto">
          <a:xfrm>
            <a:off x="9524880" y="1695600"/>
            <a:ext cx="7714800" cy="651420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67826232" name="Text 15"/>
          <p:cNvSpPr/>
          <p:nvPr/>
        </p:nvSpPr>
        <p:spPr bwMode="auto">
          <a:xfrm>
            <a:off x="10010880" y="2181240"/>
            <a:ext cx="6945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1873722320" name="Image 0" descr="preencoded.png"/>
          <p:cNvPicPr/>
          <p:nvPr/>
        </p:nvPicPr>
        <p:blipFill rotWithShape="1">
          <a:blip r:embed="rId3"/>
          <a:stretch/>
        </p:blipFill>
        <p:spPr bwMode="auto">
          <a:xfrm>
            <a:off x="10010880" y="2676600"/>
            <a:ext cx="6743520" cy="5009400"/>
          </a:xfrm>
          <a:prstGeom prst="rect">
            <a:avLst/>
          </a:prstGeom>
          <a:noFill/>
          <a:ln w="0">
            <a:noFill/>
          </a:ln>
        </p:spPr>
      </p:pic>
      <p:sp>
        <p:nvSpPr>
          <p:cNvPr id="739093014" name="Text 16"/>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49969841" name="Text 17"/>
          <p:cNvSpPr/>
          <p:nvPr/>
        </p:nvSpPr>
        <p:spPr bwMode="auto">
          <a:xfrm>
            <a:off x="6836400" y="9258480"/>
            <a:ext cx="10715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004305429"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7385353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711621493"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691041777" name="Text 3"/>
          <p:cNvSpPr/>
          <p:nvPr/>
        </p:nvSpPr>
        <p:spPr bwMode="auto">
          <a:xfrm>
            <a:off x="10877400" y="762120"/>
            <a:ext cx="6553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62542497" name="Text 4"/>
          <p:cNvSpPr/>
          <p:nvPr/>
        </p:nvSpPr>
        <p:spPr bwMode="auto">
          <a:xfrm>
            <a:off x="1047600" y="1790640"/>
            <a:ext cx="16678079" cy="2333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2035410469" name="Text 5"/>
          <p:cNvSpPr/>
          <p:nvPr/>
        </p:nvSpPr>
        <p:spPr bwMode="auto">
          <a:xfrm>
            <a:off x="1047600" y="4486320"/>
            <a:ext cx="12217320" cy="424439"/>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619108596" name="Shape 6"/>
          <p:cNvSpPr/>
          <p:nvPr/>
        </p:nvSpPr>
        <p:spPr bwMode="auto">
          <a:xfrm>
            <a:off x="104760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2005603154" name="Text 7"/>
          <p:cNvSpPr/>
          <p:nvPr/>
        </p:nvSpPr>
        <p:spPr bwMode="auto">
          <a:xfrm>
            <a:off x="104760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1942069805" name="Text 8"/>
          <p:cNvSpPr/>
          <p:nvPr/>
        </p:nvSpPr>
        <p:spPr bwMode="auto">
          <a:xfrm>
            <a:off x="86112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373487305" name="Shape 9"/>
          <p:cNvSpPr/>
          <p:nvPr/>
        </p:nvSpPr>
        <p:spPr bwMode="auto">
          <a:xfrm>
            <a:off x="657216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656324186" name="Text 10"/>
          <p:cNvSpPr/>
          <p:nvPr/>
        </p:nvSpPr>
        <p:spPr bwMode="auto">
          <a:xfrm>
            <a:off x="657216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857774474" name="Text 11"/>
          <p:cNvSpPr/>
          <p:nvPr/>
        </p:nvSpPr>
        <p:spPr bwMode="auto">
          <a:xfrm>
            <a:off x="638568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2130317288" name="Shape 12"/>
          <p:cNvSpPr/>
          <p:nvPr/>
        </p:nvSpPr>
        <p:spPr bwMode="auto">
          <a:xfrm>
            <a:off x="1209672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906329318" name="Text 13"/>
          <p:cNvSpPr/>
          <p:nvPr/>
        </p:nvSpPr>
        <p:spPr bwMode="auto">
          <a:xfrm>
            <a:off x="1209672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1398202636" name="Text 14"/>
          <p:cNvSpPr/>
          <p:nvPr/>
        </p:nvSpPr>
        <p:spPr bwMode="auto">
          <a:xfrm>
            <a:off x="1191024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2097708025" name="Text 15"/>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1020718525" name="Text 16"/>
          <p:cNvSpPr/>
          <p:nvPr/>
        </p:nvSpPr>
        <p:spPr bwMode="auto">
          <a:xfrm>
            <a:off x="8235360" y="9258480"/>
            <a:ext cx="9274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05848147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8543274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0485143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66520917" name="Text 3"/>
          <p:cNvSpPr/>
          <p:nvPr/>
        </p:nvSpPr>
        <p:spPr bwMode="auto">
          <a:xfrm>
            <a:off x="11654640" y="762120"/>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2024335214" name="Text 4"/>
          <p:cNvSpPr/>
          <p:nvPr/>
        </p:nvSpPr>
        <p:spPr bwMode="auto">
          <a:xfrm>
            <a:off x="1047600" y="1657440"/>
            <a:ext cx="832464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1043441110" name="Text 5"/>
          <p:cNvSpPr/>
          <p:nvPr/>
        </p:nvSpPr>
        <p:spPr bwMode="auto">
          <a:xfrm>
            <a:off x="1047600" y="2133720"/>
            <a:ext cx="8324640" cy="5000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8">
                <a:solidFill>
                  <a:srgbClr val="1F2A24"/>
                </a:solidFill>
                <a:latin typeface="Georgia"/>
                <a:ea typeface="Georgia"/>
              </a:rPr>
              <a:t>Quiet on purpose. </a:t>
            </a:r>
            <a:r>
              <a:rPr lang="en-US" sz="7800" b="0" i="1" u="none" strike="noStrike" spc="-78">
                <a:solidFill>
                  <a:srgbClr val="C4663A"/>
                </a:solidFill>
                <a:latin typeface="Georgia"/>
                <a:ea typeface="Georgia"/>
              </a:rPr>
              <a:t>No press, </a:t>
            </a:r>
            <a:r>
              <a:rPr lang="en-US" sz="7800" b="0" u="none" strike="noStrike" spc="-78">
                <a:solidFill>
                  <a:srgbClr val="1F2A24"/>
                </a:solidFill>
                <a:latin typeface="Georgia"/>
                <a:ea typeface="Georgia"/>
              </a:rPr>
              <a:t>no founder hoodies.</a:t>
            </a:r>
            <a:endParaRPr lang="en-US" sz="7800" b="0" u="none" strike="noStrike">
              <a:solidFill>
                <a:srgbClr val="000000"/>
              </a:solidFill>
              <a:latin typeface="Arial"/>
            </a:endParaRPr>
          </a:p>
        </p:txBody>
      </p:sp>
      <p:sp>
        <p:nvSpPr>
          <p:cNvPr id="78212801" name="Text 6"/>
          <p:cNvSpPr/>
          <p:nvPr/>
        </p:nvSpPr>
        <p:spPr bwMode="auto">
          <a:xfrm>
            <a:off x="1047600" y="5850720"/>
            <a:ext cx="824652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559573466" name="Shape 7"/>
          <p:cNvSpPr/>
          <p:nvPr/>
        </p:nvSpPr>
        <p:spPr bwMode="auto">
          <a:xfrm>
            <a:off x="1047600" y="7353720"/>
            <a:ext cx="808236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816334662" name="Text 8"/>
          <p:cNvSpPr/>
          <p:nvPr/>
        </p:nvSpPr>
        <p:spPr bwMode="auto">
          <a:xfrm>
            <a:off x="1047600" y="7410960"/>
            <a:ext cx="832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1521590687" name="Text 9"/>
          <p:cNvSpPr/>
          <p:nvPr/>
        </p:nvSpPr>
        <p:spPr bwMode="auto">
          <a:xfrm>
            <a:off x="1047600" y="7849080"/>
            <a:ext cx="333684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Joi Ito</a:t>
            </a:r>
            <a:endParaRPr lang="en-US" sz="3900" b="0" u="none" strike="noStrike">
              <a:solidFill>
                <a:srgbClr val="000000"/>
              </a:solidFill>
              <a:latin typeface="Arial"/>
            </a:endParaRPr>
          </a:p>
        </p:txBody>
      </p:sp>
      <p:sp>
        <p:nvSpPr>
          <p:cNvPr id="976598695" name="Text 10"/>
          <p:cNvSpPr/>
          <p:nvPr/>
        </p:nvSpPr>
        <p:spPr bwMode="auto">
          <a:xfrm flipH="0" flipV="0">
            <a:off x="1047600" y="8448660"/>
            <a:ext cx="333684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900" b="0" u="none" strike="noStrike">
                <a:solidFill>
                  <a:srgbClr val="4C554F"/>
                </a:solidFill>
                <a:latin typeface="Arial"/>
                <a:ea typeface="Arial"/>
              </a:rPr>
              <a:t>Former Director, </a:t>
            </a:r>
            <a:endParaRPr sz="1900" b="0" u="none" strike="noStrike">
              <a:solidFill>
                <a:srgbClr val="4C554F"/>
              </a:solidFill>
              <a:latin typeface="Arial"/>
              <a:ea typeface="Arial"/>
            </a:endParaRPr>
          </a:p>
          <a:p>
            <a:pPr defTabSz="914400">
              <a:lnSpc>
                <a:spcPct val="145000"/>
              </a:lnSpc>
              <a:tabLst>
                <a:tab pos="0" algn="l"/>
              </a:tabLst>
              <a:defRPr/>
            </a:pPr>
            <a:r>
              <a:rPr lang="en-US" sz="1900" b="0" u="none" strike="noStrike">
                <a:solidFill>
                  <a:srgbClr val="4C554F"/>
                </a:solidFill>
                <a:latin typeface="Arial"/>
                <a:ea typeface="Arial"/>
              </a:rPr>
              <a:t>MIT Media Lab</a:t>
            </a:r>
            <a:endParaRPr sz="1900" b="0" u="none" strike="noStrike">
              <a:solidFill>
                <a:srgbClr val="000000"/>
              </a:solidFill>
              <a:latin typeface="Arial"/>
            </a:endParaRPr>
          </a:p>
        </p:txBody>
      </p:sp>
      <p:sp>
        <p:nvSpPr>
          <p:cNvPr id="550646478" name="Text 11"/>
          <p:cNvSpPr/>
          <p:nvPr/>
        </p:nvSpPr>
        <p:spPr bwMode="auto">
          <a:xfrm>
            <a:off x="3184740" y="78777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2141479724" name="Text 12"/>
          <p:cNvSpPr/>
          <p:nvPr/>
        </p:nvSpPr>
        <p:spPr bwMode="auto">
          <a:xfrm flipH="0" flipV="0">
            <a:off x="3184740" y="8448660"/>
            <a:ext cx="380808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862000598" name="Shape 13"/>
          <p:cNvSpPr/>
          <p:nvPr/>
        </p:nvSpPr>
        <p:spPr bwMode="auto">
          <a:xfrm>
            <a:off x="9892440" y="1657440"/>
            <a:ext cx="7347600" cy="2757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8423958" name="Text 14"/>
          <p:cNvSpPr/>
          <p:nvPr/>
        </p:nvSpPr>
        <p:spPr bwMode="auto">
          <a:xfrm>
            <a:off x="10187640" y="19144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35916320" name="Text 15"/>
          <p:cNvSpPr/>
          <p:nvPr/>
        </p:nvSpPr>
        <p:spPr bwMode="auto">
          <a:xfrm>
            <a:off x="10237320" y="2343240"/>
            <a:ext cx="6783840" cy="170928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Joi Ito, Ray Ozzie, Takuo Dome</a:t>
            </a:r>
            <a:endParaRPr lang="en-US" sz="1800" b="0" u="none" strike="noStrike">
              <a:solidFill>
                <a:srgbClr val="000000"/>
              </a:solidFill>
              <a:latin typeface="Arial"/>
            </a:endParaRPr>
          </a:p>
        </p:txBody>
      </p:sp>
      <p:sp>
        <p:nvSpPr>
          <p:cNvPr id="1315850885" name="Shape 16"/>
          <p:cNvSpPr/>
          <p:nvPr/>
        </p:nvSpPr>
        <p:spPr bwMode="auto">
          <a:xfrm flipH="0" flipV="0">
            <a:off x="9892440" y="4624560"/>
            <a:ext cx="7347600" cy="24238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05564007" name="Text 17"/>
          <p:cNvSpPr/>
          <p:nvPr/>
        </p:nvSpPr>
        <p:spPr bwMode="auto">
          <a:xfrm>
            <a:off x="10187640" y="4881960"/>
            <a:ext cx="6959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276693439" name="Text 18"/>
          <p:cNvSpPr/>
          <p:nvPr/>
        </p:nvSpPr>
        <p:spPr bwMode="auto">
          <a:xfrm>
            <a:off x="10237320" y="528192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1380464658" name="Shape 19"/>
          <p:cNvSpPr/>
          <p:nvPr/>
        </p:nvSpPr>
        <p:spPr bwMode="auto">
          <a:xfrm flipH="0" flipV="0">
            <a:off x="9892440" y="7230240"/>
            <a:ext cx="7347600" cy="2270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3367170" name="Text 20"/>
          <p:cNvSpPr/>
          <p:nvPr/>
        </p:nvSpPr>
        <p:spPr bwMode="auto">
          <a:xfrm>
            <a:off x="10187640" y="75160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696967383" name="Text 21"/>
          <p:cNvSpPr/>
          <p:nvPr/>
        </p:nvSpPr>
        <p:spPr bwMode="auto">
          <a:xfrm>
            <a:off x="10237320" y="794484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1644039788" name="Text 22"/>
          <p:cNvSpPr/>
          <p:nvPr/>
        </p:nvSpPr>
        <p:spPr bwMode="auto">
          <a:xfrm>
            <a:off x="1061100" y="9759449"/>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621956379" name="Text 23"/>
          <p:cNvSpPr/>
          <p:nvPr/>
        </p:nvSpPr>
        <p:spPr bwMode="auto">
          <a:xfrm>
            <a:off x="11486880" y="9759449"/>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758981734" name="Text 11"/>
          <p:cNvSpPr/>
          <p:nvPr/>
        </p:nvSpPr>
        <p:spPr bwMode="auto">
          <a:xfrm>
            <a:off x="5622899" y="79155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1812813926" name="Text 12"/>
          <p:cNvSpPr/>
          <p:nvPr/>
        </p:nvSpPr>
        <p:spPr bwMode="auto">
          <a:xfrm flipH="0" flipV="0">
            <a:off x="5608859" y="8448660"/>
            <a:ext cx="3521099" cy="7617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63174105"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17164311"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84413388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49285227" name="Text 3"/>
          <p:cNvSpPr/>
          <p:nvPr/>
        </p:nvSpPr>
        <p:spPr bwMode="auto">
          <a:xfrm>
            <a:off x="13985640" y="762120"/>
            <a:ext cx="3351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93741964" name="Text 4"/>
          <p:cNvSpPr/>
          <p:nvPr/>
        </p:nvSpPr>
        <p:spPr bwMode="auto">
          <a:xfrm>
            <a:off x="1047600" y="1428840"/>
            <a:ext cx="11560680" cy="154080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2608081" name="Text 5"/>
          <p:cNvSpPr/>
          <p:nvPr/>
        </p:nvSpPr>
        <p:spPr bwMode="auto">
          <a:xfrm>
            <a:off x="1047600" y="3255480"/>
            <a:ext cx="10477440" cy="10321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635197935" name="Shape 6"/>
          <p:cNvSpPr/>
          <p:nvPr/>
        </p:nvSpPr>
        <p:spPr bwMode="auto">
          <a:xfrm>
            <a:off x="1047600" y="4726440"/>
            <a:ext cx="3131640" cy="131616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4609928" name="Text 7"/>
          <p:cNvSpPr/>
          <p:nvPr/>
        </p:nvSpPr>
        <p:spPr bwMode="auto">
          <a:xfrm>
            <a:off x="12096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950036397" name="Text 8"/>
          <p:cNvSpPr/>
          <p:nvPr/>
        </p:nvSpPr>
        <p:spPr bwMode="auto">
          <a:xfrm>
            <a:off x="12096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270505203" name="Text 9"/>
          <p:cNvSpPr/>
          <p:nvPr/>
        </p:nvSpPr>
        <p:spPr bwMode="auto">
          <a:xfrm>
            <a:off x="12096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490012230" name="Shape 10"/>
          <p:cNvSpPr/>
          <p:nvPr/>
        </p:nvSpPr>
        <p:spPr bwMode="auto">
          <a:xfrm>
            <a:off x="43128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78144797" name="Text 11"/>
          <p:cNvSpPr/>
          <p:nvPr/>
        </p:nvSpPr>
        <p:spPr bwMode="auto">
          <a:xfrm>
            <a:off x="44748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2107521521" name="Text 12"/>
          <p:cNvSpPr/>
          <p:nvPr/>
        </p:nvSpPr>
        <p:spPr bwMode="auto">
          <a:xfrm>
            <a:off x="44748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331034103" name="Text 13"/>
          <p:cNvSpPr/>
          <p:nvPr/>
        </p:nvSpPr>
        <p:spPr bwMode="auto">
          <a:xfrm>
            <a:off x="44748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1632359683" name="Shape 14"/>
          <p:cNvSpPr/>
          <p:nvPr/>
        </p:nvSpPr>
        <p:spPr bwMode="auto">
          <a:xfrm>
            <a:off x="75780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95096026" name="Text 15"/>
          <p:cNvSpPr/>
          <p:nvPr/>
        </p:nvSpPr>
        <p:spPr bwMode="auto">
          <a:xfrm>
            <a:off x="77400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1931411695" name="Text 16"/>
          <p:cNvSpPr/>
          <p:nvPr/>
        </p:nvSpPr>
        <p:spPr bwMode="auto">
          <a:xfrm>
            <a:off x="77400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025632591" name="Text 17"/>
          <p:cNvSpPr/>
          <p:nvPr/>
        </p:nvSpPr>
        <p:spPr bwMode="auto">
          <a:xfrm>
            <a:off x="77400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740003830" name="Shape 18"/>
          <p:cNvSpPr/>
          <p:nvPr/>
        </p:nvSpPr>
        <p:spPr bwMode="auto">
          <a:xfrm>
            <a:off x="108432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49204149" name="Text 19"/>
          <p:cNvSpPr/>
          <p:nvPr/>
        </p:nvSpPr>
        <p:spPr bwMode="auto">
          <a:xfrm>
            <a:off x="110052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926867132" name="Text 20"/>
          <p:cNvSpPr/>
          <p:nvPr/>
        </p:nvSpPr>
        <p:spPr bwMode="auto">
          <a:xfrm>
            <a:off x="110052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200108047" name="Text 21"/>
          <p:cNvSpPr/>
          <p:nvPr/>
        </p:nvSpPr>
        <p:spPr bwMode="auto">
          <a:xfrm>
            <a:off x="110052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1911924776" name="Shape 22"/>
          <p:cNvSpPr/>
          <p:nvPr/>
        </p:nvSpPr>
        <p:spPr bwMode="auto">
          <a:xfrm>
            <a:off x="141084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80349008" name="Text 23"/>
          <p:cNvSpPr/>
          <p:nvPr/>
        </p:nvSpPr>
        <p:spPr bwMode="auto">
          <a:xfrm>
            <a:off x="142704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1993613428" name="Text 24"/>
          <p:cNvSpPr/>
          <p:nvPr/>
        </p:nvSpPr>
        <p:spPr bwMode="auto">
          <a:xfrm>
            <a:off x="142704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811797812" name="Text 25"/>
          <p:cNvSpPr/>
          <p:nvPr/>
        </p:nvSpPr>
        <p:spPr bwMode="auto">
          <a:xfrm>
            <a:off x="142704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884035720" name="Text 26"/>
          <p:cNvSpPr/>
          <p:nvPr/>
        </p:nvSpPr>
        <p:spPr bwMode="auto">
          <a:xfrm>
            <a:off x="42660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1252161571" name="Text 27"/>
          <p:cNvSpPr/>
          <p:nvPr/>
        </p:nvSpPr>
        <p:spPr bwMode="auto">
          <a:xfrm>
            <a:off x="75312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1301694983" name="Text 28"/>
          <p:cNvSpPr/>
          <p:nvPr/>
        </p:nvSpPr>
        <p:spPr bwMode="auto">
          <a:xfrm>
            <a:off x="107964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1313604178" name="Text 29"/>
          <p:cNvSpPr/>
          <p:nvPr/>
        </p:nvSpPr>
        <p:spPr bwMode="auto">
          <a:xfrm>
            <a:off x="140616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1261924468" name="Text 30"/>
          <p:cNvSpPr/>
          <p:nvPr/>
        </p:nvSpPr>
        <p:spPr bwMode="auto">
          <a:xfrm>
            <a:off x="1047600" y="6557039"/>
            <a:ext cx="9453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1000335294" name="Shape 31"/>
          <p:cNvSpPr/>
          <p:nvPr/>
        </p:nvSpPr>
        <p:spPr bwMode="auto">
          <a:xfrm>
            <a:off x="1047600" y="7266600"/>
            <a:ext cx="9178560" cy="900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883966138" name="Text 32"/>
          <p:cNvSpPr/>
          <p:nvPr/>
        </p:nvSpPr>
        <p:spPr bwMode="auto">
          <a:xfrm>
            <a:off x="1123920" y="693792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461797518" name="Text 33"/>
          <p:cNvSpPr/>
          <p:nvPr/>
        </p:nvSpPr>
        <p:spPr bwMode="auto">
          <a:xfrm>
            <a:off x="2605320" y="6937920"/>
            <a:ext cx="509400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933065438" name="Text 34"/>
          <p:cNvSpPr/>
          <p:nvPr/>
        </p:nvSpPr>
        <p:spPr bwMode="auto">
          <a:xfrm>
            <a:off x="7623000" y="6937920"/>
            <a:ext cx="108468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36631859" name="Text 35"/>
          <p:cNvSpPr/>
          <p:nvPr/>
        </p:nvSpPr>
        <p:spPr bwMode="auto">
          <a:xfrm>
            <a:off x="8784360" y="6937920"/>
            <a:ext cx="136584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2052585288" name="Shape 36"/>
          <p:cNvSpPr/>
          <p:nvPr/>
        </p:nvSpPr>
        <p:spPr bwMode="auto">
          <a:xfrm>
            <a:off x="1047600" y="759996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677093327" name="Text 37"/>
          <p:cNvSpPr/>
          <p:nvPr/>
        </p:nvSpPr>
        <p:spPr bwMode="auto">
          <a:xfrm>
            <a:off x="1123920" y="730476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859016148" name="Text 38"/>
          <p:cNvSpPr/>
          <p:nvPr/>
        </p:nvSpPr>
        <p:spPr bwMode="auto">
          <a:xfrm>
            <a:off x="2538720" y="728568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901396113" name="Text 39"/>
          <p:cNvSpPr/>
          <p:nvPr/>
        </p:nvSpPr>
        <p:spPr bwMode="auto">
          <a:xfrm>
            <a:off x="7556400" y="728568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643587383" name="Text 40"/>
          <p:cNvSpPr/>
          <p:nvPr/>
        </p:nvSpPr>
        <p:spPr bwMode="auto">
          <a:xfrm>
            <a:off x="8717760" y="728568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1741840032" name="Shape 41"/>
          <p:cNvSpPr/>
          <p:nvPr/>
        </p:nvSpPr>
        <p:spPr bwMode="auto">
          <a:xfrm>
            <a:off x="1047600" y="793332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409871718" name="Text 42"/>
          <p:cNvSpPr/>
          <p:nvPr/>
        </p:nvSpPr>
        <p:spPr bwMode="auto">
          <a:xfrm>
            <a:off x="1123920" y="763812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234295594" name="Text 43"/>
          <p:cNvSpPr/>
          <p:nvPr/>
        </p:nvSpPr>
        <p:spPr bwMode="auto">
          <a:xfrm>
            <a:off x="2538720" y="7619039"/>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932751712" name="Text 44"/>
          <p:cNvSpPr/>
          <p:nvPr/>
        </p:nvSpPr>
        <p:spPr bwMode="auto">
          <a:xfrm>
            <a:off x="7556400" y="7619039"/>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309366998" name="Text 45"/>
          <p:cNvSpPr/>
          <p:nvPr/>
        </p:nvSpPr>
        <p:spPr bwMode="auto">
          <a:xfrm>
            <a:off x="8717760" y="7619039"/>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893257245" name="Shape 46"/>
          <p:cNvSpPr/>
          <p:nvPr/>
        </p:nvSpPr>
        <p:spPr bwMode="auto">
          <a:xfrm>
            <a:off x="1047600" y="826668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887385457" name="Text 47"/>
          <p:cNvSpPr/>
          <p:nvPr/>
        </p:nvSpPr>
        <p:spPr bwMode="auto">
          <a:xfrm>
            <a:off x="1123920" y="797148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114603810" name="Text 48"/>
          <p:cNvSpPr/>
          <p:nvPr/>
        </p:nvSpPr>
        <p:spPr bwMode="auto">
          <a:xfrm>
            <a:off x="2538720" y="795240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285661165" name="Text 49"/>
          <p:cNvSpPr/>
          <p:nvPr/>
        </p:nvSpPr>
        <p:spPr bwMode="auto">
          <a:xfrm>
            <a:off x="7556400" y="795240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2084530109" name="Text 50"/>
          <p:cNvSpPr/>
          <p:nvPr/>
        </p:nvSpPr>
        <p:spPr bwMode="auto">
          <a:xfrm>
            <a:off x="8717760" y="795240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501076655" name="Shape 51"/>
          <p:cNvSpPr/>
          <p:nvPr/>
        </p:nvSpPr>
        <p:spPr bwMode="auto">
          <a:xfrm>
            <a:off x="1047600" y="860004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140828048" name="Text 52"/>
          <p:cNvSpPr/>
          <p:nvPr/>
        </p:nvSpPr>
        <p:spPr bwMode="auto">
          <a:xfrm>
            <a:off x="1123920" y="830484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311488516" name="Text 53"/>
          <p:cNvSpPr/>
          <p:nvPr/>
        </p:nvSpPr>
        <p:spPr bwMode="auto">
          <a:xfrm>
            <a:off x="2538720" y="828576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2003181113" name="Text 54"/>
          <p:cNvSpPr/>
          <p:nvPr/>
        </p:nvSpPr>
        <p:spPr bwMode="auto">
          <a:xfrm>
            <a:off x="7556400" y="828576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450110902" name="Text 55"/>
          <p:cNvSpPr/>
          <p:nvPr/>
        </p:nvSpPr>
        <p:spPr bwMode="auto">
          <a:xfrm>
            <a:off x="8717760" y="828576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310940007" name="Shape 56"/>
          <p:cNvSpPr/>
          <p:nvPr/>
        </p:nvSpPr>
        <p:spPr bwMode="auto">
          <a:xfrm>
            <a:off x="1047600" y="893340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50884177" name="Text 57"/>
          <p:cNvSpPr/>
          <p:nvPr/>
        </p:nvSpPr>
        <p:spPr bwMode="auto">
          <a:xfrm>
            <a:off x="1123920" y="863820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360223780" name="Text 58"/>
          <p:cNvSpPr/>
          <p:nvPr/>
        </p:nvSpPr>
        <p:spPr bwMode="auto">
          <a:xfrm>
            <a:off x="2538720" y="861912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817627755" name="Text 59"/>
          <p:cNvSpPr/>
          <p:nvPr/>
        </p:nvSpPr>
        <p:spPr bwMode="auto">
          <a:xfrm>
            <a:off x="7556400" y="861912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678805041" name="Text 60"/>
          <p:cNvSpPr/>
          <p:nvPr/>
        </p:nvSpPr>
        <p:spPr bwMode="auto">
          <a:xfrm>
            <a:off x="8717760" y="861912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855077761" name="Text 61"/>
          <p:cNvSpPr/>
          <p:nvPr/>
        </p:nvSpPr>
        <p:spPr bwMode="auto">
          <a:xfrm>
            <a:off x="1123920" y="897156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1218949350" name="Text 62"/>
          <p:cNvSpPr/>
          <p:nvPr/>
        </p:nvSpPr>
        <p:spPr bwMode="auto">
          <a:xfrm>
            <a:off x="2538720" y="8952480"/>
            <a:ext cx="5227200" cy="37584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1713170939" name="Text 63"/>
          <p:cNvSpPr/>
          <p:nvPr/>
        </p:nvSpPr>
        <p:spPr bwMode="auto">
          <a:xfrm>
            <a:off x="7556400" y="8952480"/>
            <a:ext cx="12182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928656968" name="Text 64"/>
          <p:cNvSpPr/>
          <p:nvPr/>
        </p:nvSpPr>
        <p:spPr bwMode="auto">
          <a:xfrm>
            <a:off x="8717760" y="8952480"/>
            <a:ext cx="14990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1081391827" name="Text 65"/>
          <p:cNvSpPr/>
          <p:nvPr/>
        </p:nvSpPr>
        <p:spPr bwMode="auto">
          <a:xfrm>
            <a:off x="10683720" y="6557039"/>
            <a:ext cx="6752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492071907" name="Text 66"/>
          <p:cNvSpPr/>
          <p:nvPr/>
        </p:nvSpPr>
        <p:spPr bwMode="auto">
          <a:xfrm>
            <a:off x="1068372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096568821" name="Text 67"/>
          <p:cNvSpPr/>
          <p:nvPr/>
        </p:nvSpPr>
        <p:spPr bwMode="auto">
          <a:xfrm>
            <a:off x="1409544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277610715" name="Text 68"/>
          <p:cNvSpPr/>
          <p:nvPr/>
        </p:nvSpPr>
        <p:spPr bwMode="auto">
          <a:xfrm>
            <a:off x="1068372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2134313884" name="Text 69"/>
          <p:cNvSpPr/>
          <p:nvPr/>
        </p:nvSpPr>
        <p:spPr bwMode="auto">
          <a:xfrm>
            <a:off x="1409544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1626242132" name="Text 70"/>
          <p:cNvSpPr/>
          <p:nvPr/>
        </p:nvSpPr>
        <p:spPr bwMode="auto">
          <a:xfrm>
            <a:off x="1068372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39604625" name="Text 71"/>
          <p:cNvSpPr/>
          <p:nvPr/>
        </p:nvSpPr>
        <p:spPr bwMode="auto">
          <a:xfrm>
            <a:off x="1409544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914114371" name="Text 7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6316719" name="Text 73"/>
          <p:cNvSpPr/>
          <p:nvPr/>
        </p:nvSpPr>
        <p:spPr bwMode="auto">
          <a:xfrm>
            <a:off x="11965320" y="9258480"/>
            <a:ext cx="54327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89217208"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51427168"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820309022"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912283162" name="Text 3"/>
          <p:cNvSpPr/>
          <p:nvPr/>
        </p:nvSpPr>
        <p:spPr bwMode="auto">
          <a:xfrm>
            <a:off x="11343600" y="762120"/>
            <a:ext cx="6073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2062265277" name="Text 4"/>
          <p:cNvSpPr/>
          <p:nvPr/>
        </p:nvSpPr>
        <p:spPr bwMode="auto">
          <a:xfrm>
            <a:off x="1047600" y="2025000"/>
            <a:ext cx="8668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99174892" name="Text 5"/>
          <p:cNvSpPr/>
          <p:nvPr/>
        </p:nvSpPr>
        <p:spPr bwMode="auto">
          <a:xfrm>
            <a:off x="1047600" y="2520360"/>
            <a:ext cx="8668800" cy="50875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543939943" name="Text 6"/>
          <p:cNvSpPr/>
          <p:nvPr/>
        </p:nvSpPr>
        <p:spPr bwMode="auto">
          <a:xfrm>
            <a:off x="10226520" y="202500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2129553706" name="Text 7"/>
          <p:cNvSpPr/>
          <p:nvPr/>
        </p:nvSpPr>
        <p:spPr bwMode="auto">
          <a:xfrm>
            <a:off x="10053000" y="2424960"/>
            <a:ext cx="7263000" cy="15235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188823991" name="Shape 8"/>
          <p:cNvSpPr/>
          <p:nvPr/>
        </p:nvSpPr>
        <p:spPr bwMode="auto">
          <a:xfrm>
            <a:off x="10226520" y="419688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888971624" name="Shape 9"/>
          <p:cNvSpPr/>
          <p:nvPr/>
        </p:nvSpPr>
        <p:spPr bwMode="auto">
          <a:xfrm>
            <a:off x="10226520" y="4415760"/>
            <a:ext cx="1618920" cy="161892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142170749" name="Image 0" descr="preencoded.png"/>
          <p:cNvPicPr/>
          <p:nvPr/>
        </p:nvPicPr>
        <p:blipFill rotWithShape="1">
          <a:blip r:embed="rId3"/>
          <a:stretch/>
        </p:blipFill>
        <p:spPr bwMode="auto">
          <a:xfrm>
            <a:off x="10321560" y="4511160"/>
            <a:ext cx="1428480" cy="1428480"/>
          </a:xfrm>
          <a:prstGeom prst="rect">
            <a:avLst/>
          </a:prstGeom>
          <a:noFill/>
          <a:ln w="0">
            <a:noFill/>
          </a:ln>
        </p:spPr>
      </p:pic>
      <p:sp>
        <p:nvSpPr>
          <p:cNvPr id="2145040054" name="Text 10"/>
          <p:cNvSpPr/>
          <p:nvPr/>
        </p:nvSpPr>
        <p:spPr bwMode="auto">
          <a:xfrm>
            <a:off x="12112200" y="4530240"/>
            <a:ext cx="52815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471179337" name="Text 11"/>
          <p:cNvSpPr/>
          <p:nvPr/>
        </p:nvSpPr>
        <p:spPr bwMode="auto">
          <a:xfrm>
            <a:off x="12112200" y="4853880"/>
            <a:ext cx="5281560" cy="371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430421464" name="Text 12"/>
          <p:cNvSpPr/>
          <p:nvPr/>
        </p:nvSpPr>
        <p:spPr bwMode="auto">
          <a:xfrm>
            <a:off x="12112200" y="5244480"/>
            <a:ext cx="5281560" cy="4759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1225614535" name="Text 13"/>
          <p:cNvSpPr/>
          <p:nvPr/>
        </p:nvSpPr>
        <p:spPr bwMode="auto">
          <a:xfrm>
            <a:off x="12112200" y="5701680"/>
            <a:ext cx="5281560" cy="256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1612631181" name="Shape 14"/>
          <p:cNvSpPr/>
          <p:nvPr/>
        </p:nvSpPr>
        <p:spPr bwMode="auto">
          <a:xfrm>
            <a:off x="10226520" y="626364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2037190943" name="Text 15"/>
          <p:cNvSpPr/>
          <p:nvPr/>
        </p:nvSpPr>
        <p:spPr bwMode="auto">
          <a:xfrm>
            <a:off x="10226520" y="644472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a:t>
            </a:r>
            <a:endParaRPr lang="en-US" sz="1800" b="0" u="none" strike="noStrike">
              <a:solidFill>
                <a:srgbClr val="FFFFFF"/>
              </a:solidFill>
              <a:latin typeface="Arial"/>
            </a:endParaRPr>
          </a:p>
        </p:txBody>
      </p:sp>
      <p:sp>
        <p:nvSpPr>
          <p:cNvPr id="1372210320" name="Text 16"/>
          <p:cNvSpPr/>
          <p:nvPr/>
        </p:nvSpPr>
        <p:spPr bwMode="auto">
          <a:xfrm>
            <a:off x="10226520" y="6768360"/>
            <a:ext cx="7224120" cy="46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9052443" name="Text 17"/>
          <p:cNvSpPr/>
          <p:nvPr/>
        </p:nvSpPr>
        <p:spPr bwMode="auto">
          <a:xfrm>
            <a:off x="10226520" y="7197840"/>
            <a:ext cx="7200720" cy="341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711155825" name="Text 18"/>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1672772852" name="Text 19"/>
          <p:cNvSpPr/>
          <p:nvPr/>
        </p:nvSpPr>
        <p:spPr bwMode="auto">
          <a:xfrm>
            <a:off x="12916079" y="9182160"/>
            <a:ext cx="445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11</Slides>
  <Notes>11</Notes>
  <HiddenSlides>0</HiddenSlides>
  <MMClips>2</MMClips>
  <ScaleCrop>0</ScaleCrop>
  <HeadingPairs>
    <vt:vector size="4" baseType="variant">
      <vt:variant>
        <vt:lpstr>Theme</vt:lpstr>
      </vt:variant>
      <vt:variant>
        <vt:i4>1</vt:i4>
      </vt:variant>
      <vt:variant>
        <vt:lpstr>Slide Titles</vt:lpstr>
      </vt:variant>
      <vt:variant>
        <vt:i4>11</vt:i4>
      </vt:variant>
    </vt:vector>
  </HeadingPairs>
  <TitlesOfParts>
    <vt:vector size="1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3</cp:revision>
  <dcterms:created xsi:type="dcterms:W3CDTF">2026-05-28T12:44:33Z</dcterms:created>
  <dcterms:modified xsi:type="dcterms:W3CDTF">2026-05-29T11:36:37Z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