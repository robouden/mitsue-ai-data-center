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1.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slides/slide11.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docProps/core.xml" ContentType="application/vnd.openxmlformats-package.core-properties+xml"/>
  <Override PartName="/ppt/slides/slide1.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s/slide3.xml" ContentType="application/vnd.openxmlformats-officedocument.presentationml.slide+xml"/>
  <Override PartName="/ppt/viewProps.xml" ContentType="application/vnd.openxmlformats-officedocument.presentationml.viewProps+xml"/>
  <Override PartName="/docProps/custom.xml" ContentType="application/vnd.openxmlformats-officedocument.custom-properties+xml"/>
  <Override PartName="/docProps/app.xml" ContentType="application/vnd.openxmlformats-officedocument.extended-properties+xml"/>
  <Override PartName="/ppt/tableStyles.xml" ContentType="application/vnd.openxmlformats-officedocument.presentationml.tableStyles+xml"/>
  <Override PartName="/ppt/slides/slide4.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Layouts/slideLayout1.xml" ContentType="application/vnd.openxmlformats-officedocument.presentationml.slideLayout+xml"/>
  <Override PartName="/ppt/slides/slide5.xml" ContentType="application/vnd.openxmlformats-officedocument.presentationml.slide+xml"/>
  <Override PartName="/ppt/notesSlides/notesSlide2.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presentation.xml" ContentType="application/vnd.openxmlformats-officedocument.presentationml.presentation.main+xml"/>
  <Override PartName="/ppt/slides/slide8.xml" ContentType="application/vnd.openxmlformats-officedocument.presentationml.slide+xml"/>
  <Override PartName="/ppt/notesSlides/notesSlide1.xml" ContentType="application/vnd.openxmlformats-officedocument.presentationml.notesSlide+xml"/>
  <Override PartName="/ppt/slides/slide9.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16"/>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Lst>
  <p:sldSz cx="18288000" cy="10287000"/>
  <p:notesSz cx="10287000" cy="18288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0" d="6"/>
          <a:sy n="0" d="2"/>
        </p:scale>
        <p:origin x="721066736" y="0"/>
      </p:cViewPr>
      <p:guideLst>
        <p:guide pos="5760"/>
        <p:guide pos="3240" orient="horz"/>
      </p:guideLst>
    </p:cSldViewPr>
  </p:slideViewPr>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notesMaster" Target="notesMasters/notesMaster1.xml"/><Relationship Id="rId17" Type="http://schemas.openxmlformats.org/officeDocument/2006/relationships/presProps" Target="presProps.xml" /><Relationship Id="rId18" Type="http://schemas.openxmlformats.org/officeDocument/2006/relationships/tableStyles" Target="tableStyles.xml" /><Relationship Id="rId19"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spTree>
      <p:nvGrpSpPr>
        <p:cNvPr id="1" name=""/>
        <p:cNvGrpSpPr/>
        <p:nvPr/>
      </p:nvGrpSpPr>
      <p:grpSpPr bwMode="auto">
        <a:xfrm>
          <a:off x="0" y="0"/>
          <a:ext cx="0" cy="0"/>
          <a:chOff x="0" y="0"/>
          <a:chExt cx="0" cy="0"/>
        </a:xfrm>
      </p:grpSpPr>
      <p:sp>
        <p:nvSpPr>
          <p:cNvPr id="1695760741" name="PlaceHolder 1"/>
          <p:cNvSpPr>
            <a:spLocks noGrp="1"/>
          </p:cNvSpPr>
          <p:nvPr>
            <p:ph type="sldImg"/>
          </p:nvPr>
        </p:nvSpPr>
        <p:spPr bwMode="auto">
          <a:xfrm>
            <a:off x="216000" y="812520"/>
            <a:ext cx="7127280" cy="4008960"/>
          </a:xfrm>
          <a:prstGeom prst="rect">
            <a:avLst/>
          </a:prstGeom>
          <a:noFill/>
          <a:ln w="0">
            <a:noFill/>
          </a:ln>
        </p:spPr>
        <p:txBody>
          <a:bodyPr lIns="0" tIns="0" rIns="0" bIns="0" anchor="ctr">
            <a:noAutofit/>
          </a:bodyPr>
          <a:p>
            <a:pPr>
              <a:defRPr/>
            </a:pPr>
            <a:r>
              <a:rPr lang="en-US" sz="1800" b="0" u="none" strike="noStrike">
                <a:solidFill>
                  <a:schemeClr val="dk1"/>
                </a:solidFill>
                <a:latin typeface="Calibri"/>
              </a:rPr>
              <a:t>Click to move the slide</a:t>
            </a:r>
            <a:endParaRPr lang="en-US" sz="1800" b="0" u="none" strike="noStrike">
              <a:solidFill>
                <a:schemeClr val="dk1"/>
              </a:solidFill>
              <a:latin typeface="Calibri"/>
            </a:endParaRPr>
          </a:p>
        </p:txBody>
      </p:sp>
      <p:sp>
        <p:nvSpPr>
          <p:cNvPr id="77473929" name="PlaceHolder 2"/>
          <p:cNvSpPr>
            <a:spLocks noGrp="1"/>
          </p:cNvSpPr>
          <p:nvPr>
            <p:ph type="body"/>
          </p:nvPr>
        </p:nvSpPr>
        <p:spPr bwMode="auto">
          <a:xfrm>
            <a:off x="756000" y="5078520"/>
            <a:ext cx="6047640" cy="4811039"/>
          </a:xfrm>
          <a:prstGeom prst="rect">
            <a:avLst/>
          </a:prstGeom>
          <a:noFill/>
          <a:ln w="0">
            <a:noFill/>
          </a:ln>
        </p:spPr>
        <p:txBody>
          <a:bodyPr lIns="0" tIns="0" rIns="0" bIns="0" anchor="t">
            <a:noAutofit/>
          </a:bodyPr>
          <a:p>
            <a:pPr indent="0" algn="l">
              <a:buNone/>
              <a:defRPr/>
            </a:pPr>
            <a:r>
              <a:rPr lang="en-US" sz="2000" b="0" u="none" strike="noStrike">
                <a:solidFill>
                  <a:srgbClr val="000000"/>
                </a:solidFill>
                <a:latin typeface="Arial"/>
              </a:rPr>
              <a:t>Click to edit the </a:t>
            </a:r>
            <a:r>
              <a:rPr lang="en-US" sz="2000" b="0" u="none" strike="noStrike">
                <a:solidFill>
                  <a:srgbClr val="000000"/>
                </a:solidFill>
                <a:latin typeface="Arial"/>
              </a:rPr>
              <a:t>notes format</a:t>
            </a:r>
            <a:endParaRPr lang="en-US" sz="2000" b="0" u="none" strike="noStrike">
              <a:solidFill>
                <a:srgbClr val="000000"/>
              </a:solidFill>
              <a:latin typeface="Arial"/>
            </a:endParaRPr>
          </a:p>
        </p:txBody>
      </p:sp>
      <p:sp>
        <p:nvSpPr>
          <p:cNvPr id="1611035540" name="PlaceHolder 3"/>
          <p:cNvSpPr>
            <a:spLocks noGrp="1"/>
          </p:cNvSpPr>
          <p:nvPr>
            <p:ph type="hdr"/>
          </p:nvPr>
        </p:nvSpPr>
        <p:spPr bwMode="auto">
          <a:xfrm>
            <a:off x="0" y="0"/>
            <a:ext cx="3280680" cy="534240"/>
          </a:xfrm>
          <a:prstGeom prst="rect">
            <a:avLst/>
          </a:prstGeom>
          <a:noFill/>
          <a:ln w="0">
            <a:noFill/>
          </a:ln>
        </p:spPr>
        <p:txBody>
          <a:bodyPr lIns="0" tIns="0" rIns="0" bIns="0" anchor="t">
            <a:noAutofit/>
          </a:bodyPr>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1928428352" name="PlaceHolder 4"/>
          <p:cNvSpPr>
            <a:spLocks noGrp="1"/>
          </p:cNvSpPr>
          <p:nvPr>
            <p:ph type="dt" idx="1"/>
          </p:nvPr>
        </p:nvSpPr>
        <p:spPr bwMode="auto">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latin typeface="Times New Roman"/>
              </a:defRPr>
            </a:lvl1pPr>
          </a:lstStyle>
          <a:p>
            <a:pPr indent="0" algn="r">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1774848297" name="PlaceHolder 5"/>
          <p:cNvSpPr>
            <a:spLocks noGrp="1"/>
          </p:cNvSpPr>
          <p:nvPr>
            <p:ph type="ftr" idx="2"/>
          </p:nvPr>
        </p:nvSpPr>
        <p:spPr bwMode="auto">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latin typeface="Times New Roman"/>
              </a:defRPr>
            </a:lvl1pPr>
          </a:lstStyle>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894199530" name="PlaceHolder 6"/>
          <p:cNvSpPr>
            <a:spLocks noGrp="1"/>
          </p:cNvSpPr>
          <p:nvPr>
            <p:ph type="sldNum" idx="3"/>
          </p:nvPr>
        </p:nvSpPr>
        <p:spPr bwMode="auto">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latin typeface="Times New Roman"/>
              </a:defRPr>
            </a:lvl1pPr>
          </a:lstStyle>
          <a:p>
            <a:pPr indent="0" algn="r">
              <a:buNone/>
              <a:defRPr/>
            </a:pPr>
            <a:fld id="{475A8E8B-BEDB-4988-A6BF-7C4E9B885585}" type="slidenum">
              <a:rPr lang="en-US" sz="1400" b="0" u="none" strike="noStrike">
                <a:solidFill>
                  <a:srgbClr val="000000"/>
                </a:solidFill>
                <a:latin typeface="Times New Roman"/>
              </a:rPr>
              <a:t>1</a:t>
            </a:fld>
            <a:endParaRPr lang="en-US" sz="1400" b="0" u="none" strike="noStrike">
              <a:solidFill>
                <a:srgbClr val="000000"/>
              </a:solidFill>
              <a:latin typeface="Times New Roman"/>
            </a:endParaRPr>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31436618" name="PlaceHolder 1"/>
          <p:cNvSpPr>
            <a:spLocks noGrp="1"/>
          </p:cNvSpPr>
          <p:nvPr>
            <p:ph type="sldImg"/>
          </p:nvPr>
        </p:nvSpPr>
        <p:spPr bwMode="auto">
          <a:xfrm>
            <a:off x="685800" y="1143000"/>
            <a:ext cx="5486039" cy="3085920"/>
          </a:xfrm>
          <a:prstGeom prst="rect">
            <a:avLst/>
          </a:prstGeom>
          <a:ln w="0">
            <a:noFill/>
          </a:ln>
        </p:spPr>
      </p:sp>
      <p:sp>
        <p:nvSpPr>
          <p:cNvPr id="1282672694"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Good afternoon. Thank you for making time. I'm going to walk you through the Mitsue Project — a 25-year initiative in rural Japan. Twenty-five years is a long horizon, so I'll keep this short: about ten minutes. The very short version is on this slide: forest, EV power, and a tiny community-owned data center, all in one mountain village in Nara Prefecture. Three things that sound unrelated. They're not.</a:t>
            </a:r>
            <a:endParaRPr lang="en-US" sz="2000" b="0" u="none" strike="noStrike">
              <a:solidFill>
                <a:srgbClr val="000000"/>
              </a:solidFill>
              <a:latin typeface="Arial"/>
            </a:endParaRPr>
          </a:p>
        </p:txBody>
      </p:sp>
      <p:sp>
        <p:nvSpPr>
          <p:cNvPr id="1563986310" name="PlaceHolder 3"/>
          <p:cNvSpPr>
            <a:spLocks noGrp="1"/>
          </p:cNvSpPr>
          <p:nvPr>
            <p:ph type="sldNum" idx="4"/>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F38677EB-BCFE-4A7F-B0B5-97CA1BA1A9A7}"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3713863" name="PlaceHolder 1"/>
          <p:cNvSpPr>
            <a:spLocks noGrp="1"/>
          </p:cNvSpPr>
          <p:nvPr>
            <p:ph type="sldImg"/>
          </p:nvPr>
        </p:nvSpPr>
        <p:spPr bwMode="auto">
          <a:xfrm>
            <a:off x="685800" y="1143000"/>
            <a:ext cx="5486039" cy="3085920"/>
          </a:xfrm>
          <a:prstGeom prst="rect">
            <a:avLst/>
          </a:prstGeom>
          <a:ln w="0">
            <a:noFill/>
          </a:ln>
        </p:spPr>
      </p:sp>
      <p:sp>
        <p:nvSpPr>
          <p:cNvPr id="399658501"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Mitsue Village sits in the mountains of Nara Prefecture. Population is shrinking. The elementary school closed. The cedar plantations around the village are aging. The grid is fragile. None of that is unique to Mitsue — that's actually the point. Whatever works here should work in a thousand other villages with the same pattern. We're in Phase 0: pre-foundation. No pres</a:t>
            </a:r>
            <a:r>
              <a:rPr lang="ja-JP" sz="2000" b="0" u="none" strike="noStrike">
                <a:solidFill>
                  <a:srgbClr val="000000"/>
                </a:solidFill>
                <a:latin typeface="Arial"/>
              </a:rPr>
              <a:t>s,</a:t>
            </a:r>
            <a:r>
              <a:rPr lang="en-US" sz="2000" b="0" u="none" strike="noStrike">
                <a:solidFill>
                  <a:srgbClr val="000000"/>
                </a:solidFill>
                <a:latin typeface="Arial"/>
              </a:rPr>
              <a:t> event. Just trust-building, charter drafting, and assembling the founding team.</a:t>
            </a:r>
            <a:endParaRPr lang="en-US" sz="2000" b="0" u="none" strike="noStrike">
              <a:solidFill>
                <a:srgbClr val="000000"/>
              </a:solidFill>
              <a:latin typeface="Arial"/>
            </a:endParaRPr>
          </a:p>
        </p:txBody>
      </p:sp>
      <p:sp>
        <p:nvSpPr>
          <p:cNvPr id="78055544" name="PlaceHolder 3"/>
          <p:cNvSpPr>
            <a:spLocks noGrp="1"/>
          </p:cNvSpPr>
          <p:nvPr>
            <p:ph type="sldNum" idx="5"/>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77F73A12-404C-40EF-9BD2-7D41A6E48A67}"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0684751" name="PlaceHolder 1"/>
          <p:cNvSpPr>
            <a:spLocks noGrp="1"/>
          </p:cNvSpPr>
          <p:nvPr>
            <p:ph type="sldImg"/>
          </p:nvPr>
        </p:nvSpPr>
        <p:spPr bwMode="auto">
          <a:xfrm>
            <a:off x="685800" y="1143000"/>
            <a:ext cx="5486039" cy="3085920"/>
          </a:xfrm>
          <a:prstGeom prst="rect">
            <a:avLst/>
          </a:prstGeom>
          <a:ln w="0">
            <a:noFill/>
          </a:ln>
        </p:spPr>
      </p:sp>
      <p:sp>
        <p:nvSpPr>
          <p:cNvPr id="1599023751"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Four problems are converging on rural Japan at the same time. Cedar plantations are no longer managed — they cause pollen, biodiversity loss, landslides. </a:t>
            </a:r>
            <a:r>
              <a:rPr lang="ja-JP" sz="2000" b="0" u="none" strike="noStrike">
                <a:solidFill>
                  <a:srgbClr val="000000"/>
                </a:solidFill>
                <a:latin typeface="Arial"/>
              </a:rPr>
              <a:t>The</a:t>
            </a:r>
            <a:r>
              <a:rPr lang="en-US" sz="2000" b="0" u="none" strike="noStrike">
                <a:solidFill>
                  <a:srgbClr val="000000"/>
                </a:solidFill>
                <a:latin typeface="Arial"/>
              </a:rPr>
              <a:t> Japanese passenger cars will be electric</a:t>
            </a:r>
            <a:r>
              <a:rPr lang="ja-JP" sz="2000" b="0" u="none" strike="noStrike">
                <a:solidFill>
                  <a:srgbClr val="000000"/>
                </a:solidFill>
                <a:latin typeface="Arial"/>
              </a:rPr>
              <a:t> soon</a:t>
            </a:r>
            <a:r>
              <a:rPr lang="en-US" sz="2000" b="0" u="none" strike="noStrike">
                <a:solidFill>
                  <a:srgbClr val="000000"/>
                </a:solidFill>
                <a:latin typeface="Arial"/>
              </a:rPr>
              <a:t>, and rural grids aren't ready. Closed schools cost municipalities money to maintain. And rural broadband and edge compute lag the cities. Each problem alone is expensive. The Mitsue thesis is that they're cheaper to solve together than separately.</a:t>
            </a:r>
            <a:endParaRPr lang="en-US" sz="2000" b="0" u="none" strike="noStrike">
              <a:solidFill>
                <a:srgbClr val="000000"/>
              </a:solidFill>
              <a:latin typeface="Arial"/>
            </a:endParaRPr>
          </a:p>
        </p:txBody>
      </p:sp>
      <p:sp>
        <p:nvSpPr>
          <p:cNvPr id="345500684" name="PlaceHolder 3"/>
          <p:cNvSpPr>
            <a:spLocks noGrp="1"/>
          </p:cNvSpPr>
          <p:nvPr>
            <p:ph type="sldNum" idx="6"/>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E994C129-A87D-4EFA-90B6-0E4D6CC8C011}"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38983684" name="PlaceHolder 1"/>
          <p:cNvSpPr>
            <a:spLocks noGrp="1"/>
          </p:cNvSpPr>
          <p:nvPr>
            <p:ph type="sldImg"/>
          </p:nvPr>
        </p:nvSpPr>
        <p:spPr bwMode="auto">
          <a:xfrm>
            <a:off x="685800" y="1143000"/>
            <a:ext cx="5486039" cy="3085920"/>
          </a:xfrm>
          <a:prstGeom prst="rect">
            <a:avLst/>
          </a:prstGeom>
          <a:ln w="0">
            <a:noFill/>
          </a:ln>
        </p:spPr>
      </p:sp>
      <p:sp>
        <p:nvSpPr>
          <p:cNvPr id="593139662"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So: three integrated activities under one coordinating body. Forest restoration. Distributed renewable energy and EV charging. A small, community-owned data center. The </a:t>
            </a:r>
            <a:r>
              <a:rPr lang="ja-JP" sz="2000" b="0" u="none" strike="noStrike">
                <a:solidFill>
                  <a:srgbClr val="000000"/>
                </a:solidFill>
                <a:latin typeface="Arial"/>
              </a:rPr>
              <a:t>cedar</a:t>
            </a:r>
            <a:r>
              <a:rPr lang="en-US" sz="2000" b="0" u="none" strike="noStrike">
                <a:solidFill>
                  <a:srgbClr val="000000"/>
                </a:solidFill>
                <a:latin typeface="Arial"/>
              </a:rPr>
              <a:t> we remove to make way for the native forest becomes the biomass that powers the data center and the cars — the conversion fuels the conversion. The data center anchors the closed school back into village life. They share a single 25-year ledger of methods, finances, and outcomes — published openly.</a:t>
            </a:r>
            <a:endParaRPr lang="en-US" sz="2000" b="0" u="none" strike="noStrike">
              <a:solidFill>
                <a:srgbClr val="000000"/>
              </a:solidFill>
              <a:latin typeface="Arial"/>
            </a:endParaRPr>
          </a:p>
        </p:txBody>
      </p:sp>
      <p:sp>
        <p:nvSpPr>
          <p:cNvPr id="2067874919" name="PlaceHolder 3"/>
          <p:cNvSpPr>
            <a:spLocks noGrp="1"/>
          </p:cNvSpPr>
          <p:nvPr>
            <p:ph type="sldNum" idx="7"/>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EC8B6D06-920D-4810-89E7-5F8376D0A4A6}"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27442867" name="PlaceHolder 1"/>
          <p:cNvSpPr>
            <a:spLocks noGrp="1"/>
          </p:cNvSpPr>
          <p:nvPr>
            <p:ph type="sldImg"/>
          </p:nvPr>
        </p:nvSpPr>
        <p:spPr bwMode="auto">
          <a:xfrm>
            <a:off x="685800" y="1143000"/>
            <a:ext cx="5486039" cy="3085920"/>
          </a:xfrm>
          <a:prstGeom prst="rect">
            <a:avLst/>
          </a:prstGeom>
          <a:ln w="0">
            <a:noFill/>
          </a:ln>
        </p:spPr>
      </p:sp>
      <p:sp>
        <p:nvSpPr>
          <p:cNvPr id="2086211148"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On forests: phased replacement of aged cedar with native broadleaf — oak, chestnut, konara. The 25-year arc is the ecological clock, not the funding cycle. The community benefit is concrete: less pollen, fewer landslides, a forest that looks and behaves like a forest again. Crucially, the </a:t>
            </a:r>
            <a:r>
              <a:rPr lang="ja-JP" sz="2000" b="0" u="none" strike="noStrike">
                <a:solidFill>
                  <a:srgbClr val="000000"/>
                </a:solidFill>
                <a:latin typeface="Arial"/>
              </a:rPr>
              <a:t>cedar </a:t>
            </a:r>
            <a:r>
              <a:rPr lang="en-US" sz="2000" b="0" u="none" strike="noStrike">
                <a:solidFill>
                  <a:srgbClr val="000000"/>
                </a:solidFill>
                <a:latin typeface="Arial"/>
              </a:rPr>
              <a:t>we remove doesn't go to waste — it becomes biomass fuel for the village's energy system. And when the broadleaf forest produces acorns, the bears, boar, and deer find their winter food in the forest instead of in the village vegetable patch.</a:t>
            </a:r>
            <a:endParaRPr lang="en-US" sz="2000" b="0" u="none" strike="noStrike">
              <a:solidFill>
                <a:srgbClr val="000000"/>
              </a:solidFill>
              <a:latin typeface="Arial"/>
            </a:endParaRPr>
          </a:p>
        </p:txBody>
      </p:sp>
      <p:sp>
        <p:nvSpPr>
          <p:cNvPr id="140728950" name="PlaceHolder 3"/>
          <p:cNvSpPr>
            <a:spLocks noGrp="1"/>
          </p:cNvSpPr>
          <p:nvPr>
            <p:ph type="sldNum" idx="8"/>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0CCC8488-C664-4AA8-9D28-CAB3C2E16580}"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43343816" name="PlaceHolder 1"/>
          <p:cNvSpPr>
            <a:spLocks noGrp="1"/>
          </p:cNvSpPr>
          <p:nvPr>
            <p:ph type="sldImg"/>
          </p:nvPr>
        </p:nvSpPr>
        <p:spPr bwMode="auto">
          <a:xfrm>
            <a:off x="685800" y="1143000"/>
            <a:ext cx="5486039" cy="3085920"/>
          </a:xfrm>
          <a:prstGeom prst="rect">
            <a:avLst/>
          </a:prstGeom>
          <a:ln w="0">
            <a:noFill/>
          </a:ln>
        </p:spPr>
      </p:sp>
      <p:sp>
        <p:nvSpPr>
          <p:cNvPr id="1921378041"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One unified electrical system. The sugi removed during the forest conversion is the primary fuel — a biomass plant on a shared village bus. Local solar tops it up. A community battery rides through the dark hours. The grid is backup only. EV chargers tie to local generation instead of waiting on grid extension. And — this is the part the village cares about most — on-site generation keeps the school, the clinic, and emergency facilities running through blackouts. Aging distribution lines make outages a real and growing risk. Resilience is built in, not bolted on.</a:t>
            </a:r>
            <a:endParaRPr lang="en-US" sz="2000" b="0" u="none" strike="noStrike">
              <a:solidFill>
                <a:srgbClr val="000000"/>
              </a:solidFill>
              <a:latin typeface="Arial"/>
            </a:endParaRPr>
          </a:p>
        </p:txBody>
      </p:sp>
      <p:sp>
        <p:nvSpPr>
          <p:cNvPr id="1129179745" name="PlaceHolder 3"/>
          <p:cNvSpPr>
            <a:spLocks noGrp="1"/>
          </p:cNvSpPr>
          <p:nvPr>
            <p:ph type="sldNum" idx="9"/>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B7762E9B-153D-47E4-8D12-31BE0A3CFAC0}"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05043373" name="PlaceHolder 1"/>
          <p:cNvSpPr>
            <a:spLocks noGrp="1"/>
          </p:cNvSpPr>
          <p:nvPr>
            <p:ph type="sldImg"/>
          </p:nvPr>
        </p:nvSpPr>
        <p:spPr bwMode="auto">
          <a:xfrm>
            <a:off x="685800" y="1143000"/>
            <a:ext cx="5486039" cy="3085920"/>
          </a:xfrm>
          <a:prstGeom prst="rect">
            <a:avLst/>
          </a:prstGeom>
          <a:ln w="0">
            <a:noFill/>
          </a:ln>
        </p:spPr>
      </p:sp>
      <p:sp>
        <p:nvSpPr>
          <p:cNvPr id="812363602"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The closed</a:t>
            </a:r>
            <a:r>
              <a:rPr lang="ja-JP" sz="2000" b="0" u="none" strike="noStrike">
                <a:solidFill>
                  <a:srgbClr val="000000"/>
                </a:solidFill>
                <a:latin typeface="Arial"/>
              </a:rPr>
              <a:t> </a:t>
            </a:r>
            <a:r>
              <a:rPr lang="ja-JP" sz="2000" b="0" u="none" strike="noStrike">
                <a:solidFill>
                  <a:srgbClr val="000000"/>
                </a:solidFill>
                <a:latin typeface="Arial"/>
              </a:rPr>
              <a:t>s</a:t>
            </a:r>
            <a:r>
              <a:rPr lang="en-US" sz="2000" b="0" u="none" strike="noStrike">
                <a:solidFill>
                  <a:srgbClr val="000000"/>
                </a:solidFill>
                <a:latin typeface="Arial"/>
              </a:rPr>
              <a:t>chool building</a:t>
            </a:r>
            <a:r>
              <a:rPr lang="ja-JP" sz="2000" b="0" u="none" strike="noStrike">
                <a:solidFill>
                  <a:srgbClr val="000000"/>
                </a:solidFill>
                <a:latin typeface="Arial"/>
              </a:rPr>
              <a:t> or empty factory</a:t>
            </a:r>
            <a:r>
              <a:rPr lang="en-US" sz="2000" b="0" u="none" strike="noStrike">
                <a:solidFill>
                  <a:srgbClr val="000000"/>
                </a:solidFill>
                <a:latin typeface="Arial"/>
              </a:rPr>
              <a:t>, repurposed as a small, energy-efficient edge-compute facility. Powered entirely by locally generated renewable energy. Sized for accountability — not hyperscale. The hyperscalers are not the model. The model is: small enough that the village owns it, audits it, and can explain what it does. Heat from the servers can warm greenhouses or community buildings. If it works in Mitsue, the design is published openly so the next village can copy it.</a:t>
            </a:r>
            <a:endParaRPr lang="en-US" sz="2000" b="0" u="none" strike="noStrike">
              <a:solidFill>
                <a:srgbClr val="000000"/>
              </a:solidFill>
              <a:latin typeface="Arial"/>
            </a:endParaRPr>
          </a:p>
        </p:txBody>
      </p:sp>
      <p:sp>
        <p:nvSpPr>
          <p:cNvPr id="591319161" name="PlaceHolder 3"/>
          <p:cNvSpPr>
            <a:spLocks noGrp="1"/>
          </p:cNvSpPr>
          <p:nvPr>
            <p:ph type="sldNum" idx="10"/>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D07ECBAD-4A22-4D51-80F5-763C48CDAEE0}"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71778422" name="PlaceHolder 1"/>
          <p:cNvSpPr>
            <a:spLocks noGrp="1"/>
          </p:cNvSpPr>
          <p:nvPr>
            <p:ph type="sldImg"/>
          </p:nvPr>
        </p:nvSpPr>
        <p:spPr bwMode="auto">
          <a:xfrm>
            <a:off x="685800" y="1143000"/>
            <a:ext cx="5486039" cy="3085920"/>
          </a:xfrm>
          <a:prstGeom prst="rect">
            <a:avLst/>
          </a:prstGeom>
          <a:ln w="0">
            <a:noFill/>
          </a:ln>
        </p:spPr>
      </p:sp>
      <p:sp>
        <p:nvSpPr>
          <p:cNvPr id="1823261960"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This is the part I want you to remember. The benefits don't depend on the data center being a commercial home run. Forest restoration happens regardless. Wildlife pressure on farms drops. The school building stops bleeding maintenance money. EV charging is in place before the cars need it. Resilience to blackouts is a permanent infrastructure upgrade. The community keeps the upside; we documented everything; other villages get the playbook for free.</a:t>
            </a:r>
            <a:endParaRPr lang="en-US" sz="2000" b="0" u="none" strike="noStrike">
              <a:solidFill>
                <a:srgbClr val="000000"/>
              </a:solidFill>
              <a:latin typeface="Arial"/>
            </a:endParaRPr>
          </a:p>
        </p:txBody>
      </p:sp>
      <p:sp>
        <p:nvSpPr>
          <p:cNvPr id="1991192745" name="PlaceHolder 3"/>
          <p:cNvSpPr>
            <a:spLocks noGrp="1"/>
          </p:cNvSpPr>
          <p:nvPr>
            <p:ph type="sldNum" idx="11"/>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30438D0D-1EA0-46F6-ABF7-8980F901FD31}"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15146084" name="PlaceHolder 1"/>
          <p:cNvSpPr>
            <a:spLocks noGrp="1"/>
          </p:cNvSpPr>
          <p:nvPr>
            <p:ph type="sldImg"/>
          </p:nvPr>
        </p:nvSpPr>
        <p:spPr bwMode="auto">
          <a:xfrm>
            <a:off x="685800" y="1143000"/>
            <a:ext cx="5486039" cy="3085920"/>
          </a:xfrm>
          <a:prstGeom prst="rect">
            <a:avLst/>
          </a:prstGeom>
          <a:ln w="0">
            <a:noFill/>
          </a:ln>
        </p:spPr>
      </p:sp>
      <p:sp>
        <p:nvSpPr>
          <p:cNvPr id="686556256"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Where we are today, May 2026. Phase 0, intentionally quiet. Initial meetings with the Vice Mayor and the local forestry group are done. The charter and implementation plan are drafted. The phase and funding-gate flowchart is published. T</a:t>
            </a:r>
            <a:r>
              <a:rPr lang="ja-JP" sz="2000" b="0" u="none" strike="noStrike">
                <a:solidFill>
                  <a:srgbClr val="000000"/>
                </a:solidFill>
                <a:latin typeface="Arial"/>
              </a:rPr>
              <a:t>hree</a:t>
            </a:r>
            <a:r>
              <a:rPr lang="en-US" sz="2000" b="0" u="none" strike="noStrike">
                <a:solidFill>
                  <a:srgbClr val="000000"/>
                </a:solidFill>
                <a:latin typeface="Arial"/>
              </a:rPr>
              <a:t> advisors have committed: Joi Ito</a:t>
            </a:r>
            <a:r>
              <a:rPr lang="ja-JP" sz="2000" b="0" u="none" strike="noStrike">
                <a:solidFill>
                  <a:srgbClr val="000000"/>
                </a:solidFill>
                <a:latin typeface="Arial"/>
              </a:rPr>
              <a:t>, </a:t>
            </a:r>
            <a:r>
              <a:rPr lang="en-US" sz="2000" b="0" u="none" strike="noStrike">
                <a:solidFill>
                  <a:srgbClr val="000000"/>
                </a:solidFill>
                <a:latin typeface="Arial"/>
              </a:rPr>
              <a:t>Ray Ozzie</a:t>
            </a:r>
            <a:r>
              <a:rPr lang="ja-JP" sz="2000" b="0" u="none" strike="noStrike">
                <a:solidFill>
                  <a:srgbClr val="000000"/>
                </a:solidFill>
                <a:latin typeface="Arial"/>
              </a:rPr>
              <a:t> and Takuo Dome</a:t>
            </a:r>
            <a:r>
              <a:rPr lang="en-US" sz="2000" b="0" u="none" strike="noStrike">
                <a:solidFill>
                  <a:srgbClr val="000000"/>
                </a:solidFill>
                <a:latin typeface="Arial"/>
              </a:rPr>
              <a:t>. </a:t>
            </a:r>
            <a:r>
              <a:rPr lang="ja-JP" sz="2000" b="0" u="none" strike="noStrike">
                <a:solidFill>
                  <a:srgbClr val="000000"/>
                </a:solidFill>
                <a:latin typeface="Arial"/>
              </a:rPr>
              <a:t>And we have a project manager. </a:t>
            </a:r>
            <a:r>
              <a:rPr lang="en-US" sz="2000" b="0" u="none" strike="noStrike">
                <a:solidFill>
                  <a:srgbClr val="000000"/>
                </a:solidFill>
                <a:latin typeface="Arial"/>
              </a:rPr>
              <a:t>Next thirty days: approach a Japanese co-founder, meet the Village Mayor, consult administrative scriveners in Nara, finalize the bilingual charter for distribution.</a:t>
            </a:r>
            <a:endParaRPr lang="en-US" sz="2000" b="0" u="none" strike="noStrike">
              <a:solidFill>
                <a:srgbClr val="000000"/>
              </a:solidFill>
              <a:latin typeface="Arial"/>
            </a:endParaRPr>
          </a:p>
        </p:txBody>
      </p:sp>
      <p:sp>
        <p:nvSpPr>
          <p:cNvPr id="1574678334" name="PlaceHolder 3"/>
          <p:cNvSpPr>
            <a:spLocks noGrp="1"/>
          </p:cNvSpPr>
          <p:nvPr>
            <p:ph type="sldNum" idx="12"/>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A104C59D-D30D-4F8A-968E-3F7CF29B7FCF}"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51061170" name="PlaceHolder 1"/>
          <p:cNvSpPr>
            <a:spLocks noGrp="1"/>
          </p:cNvSpPr>
          <p:nvPr>
            <p:ph type="sldImg"/>
          </p:nvPr>
        </p:nvSpPr>
        <p:spPr bwMode="auto">
          <a:xfrm>
            <a:off x="685800" y="1143000"/>
            <a:ext cx="5486039" cy="3085920"/>
          </a:xfrm>
          <a:prstGeom prst="rect">
            <a:avLst/>
          </a:prstGeom>
          <a:ln w="0">
            <a:noFill/>
          </a:ln>
        </p:spPr>
      </p:sp>
      <p:sp>
        <p:nvSpPr>
          <p:cNvPr id="312950526"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Five phases, four explicit funding gates. If a gate isn't cleared, we hold and re-pitch — we don't accelerate into an under-resourced phase. The funding stack is five layers: founder capital, government grants, foundations, corporate partners, operating revenue. By Year 3 the illustrative total is around 134 million yen. These are planning targets, not commitments. The point of the gates is that we never bet the village on a phase we can't afford.</a:t>
            </a:r>
            <a:endParaRPr lang="en-US" sz="2000" b="0" u="none" strike="noStrike">
              <a:solidFill>
                <a:srgbClr val="000000"/>
              </a:solidFill>
              <a:latin typeface="Arial"/>
            </a:endParaRPr>
          </a:p>
        </p:txBody>
      </p:sp>
      <p:sp>
        <p:nvSpPr>
          <p:cNvPr id="2137929381" name="PlaceHolder 3"/>
          <p:cNvSpPr>
            <a:spLocks noGrp="1"/>
          </p:cNvSpPr>
          <p:nvPr>
            <p:ph type="sldNum" idx="13"/>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FB053A7E-0DE3-4E7A-957E-257F9CD0E0C3}"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981000EA-4515-6ED4-D7C5-8E6D04326173}" type="slidenum">
              <a:rPr/>
              <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61340016" name="PlaceHolder 1"/>
          <p:cNvSpPr>
            <a:spLocks noGrp="1"/>
          </p:cNvSpPr>
          <p:nvPr>
            <p:ph type="sldImg"/>
          </p:nvPr>
        </p:nvSpPr>
        <p:spPr bwMode="auto">
          <a:xfrm>
            <a:off x="685800" y="1143000"/>
            <a:ext cx="5486039" cy="3085920"/>
          </a:xfrm>
          <a:prstGeom prst="rect">
            <a:avLst/>
          </a:prstGeom>
          <a:ln w="0">
            <a:noFill/>
          </a:ln>
        </p:spPr>
      </p:sp>
      <p:sp>
        <p:nvSpPr>
          <p:cNvPr id="25741154" name="PlaceHolder 2"/>
          <p:cNvSpPr>
            <a:spLocks noGrp="1"/>
          </p:cNvSpPr>
          <p:nvPr>
            <p:ph type="body"/>
          </p:nvPr>
        </p:nvSpPr>
        <p:spPr bwMode="auto">
          <a:xfrm>
            <a:off x="685800" y="4400640"/>
            <a:ext cx="5486039" cy="3600000"/>
          </a:xfrm>
          <a:prstGeom prst="rect">
            <a:avLst/>
          </a:prstGeom>
          <a:noFill/>
          <a:ln w="0">
            <a:noFill/>
          </a:ln>
        </p:spPr>
        <p:txBody>
          <a:bodyPr lIns="91440" tIns="45720" rIns="91440" bIns="45720" anchor="t">
            <a:noAutofit/>
          </a:bodyPr>
          <a:p>
            <a:pPr indent="0" algn="l">
              <a:lnSpc>
                <a:spcPct val="100000"/>
              </a:lnSpc>
              <a:buNone/>
              <a:defRPr/>
            </a:pPr>
            <a:r>
              <a:rPr lang="en-US" sz="2000" b="0" u="none" strike="noStrike">
                <a:solidFill>
                  <a:srgbClr val="000000"/>
                </a:solidFill>
                <a:latin typeface="Arial"/>
              </a:rPr>
              <a:t>What we're looking for from this room. Patient capital — people who think in decades, not quarters. Introductions to Japanese co-founders with rural credibility. Advisory partners for forestry, edge compute, and Japanese nonprofit law. And honest critique: tell us where the thesis is wrong. The documents are all on Codeberg under open licenses. The project lives at mitsue.it. Thank you — happy to take questions.</a:t>
            </a:r>
            <a:endParaRPr lang="en-US" sz="2000" b="0" u="none" strike="noStrike">
              <a:solidFill>
                <a:srgbClr val="000000"/>
              </a:solidFill>
              <a:latin typeface="Arial"/>
            </a:endParaRPr>
          </a:p>
        </p:txBody>
      </p:sp>
      <p:sp>
        <p:nvSpPr>
          <p:cNvPr id="855590522" name="PlaceHolder 3"/>
          <p:cNvSpPr>
            <a:spLocks noGrp="1"/>
          </p:cNvSpPr>
          <p:nvPr>
            <p:ph type="sldNum" idx="14"/>
          </p:nvPr>
        </p:nvSpPr>
        <p:spPr bwMode="auto">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latin typeface="+mn-lt"/>
                <a:ea typeface="+mn-ea"/>
              </a:defRPr>
            </a:lvl1pPr>
          </a:lstStyle>
          <a:p>
            <a:pPr indent="0" algn="r" defTabSz="914400">
              <a:lnSpc>
                <a:spcPct val="100000"/>
              </a:lnSpc>
              <a:buNone/>
              <a:defRPr/>
            </a:pPr>
            <a:fld id="{CCB95768-FCFD-46B4-B87F-9DFE09BFC12F}"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DEFAULT">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rgbClr val="FFFFFF"/>
        </a:solidFill>
      </p:bgPr>
    </p:bg>
    <p:spTree>
      <p:nvGrpSpPr>
        <p:cNvPr id="1" name=""/>
        <p:cNvGrpSpPr/>
        <p:nvPr/>
      </p:nvGrpSpPr>
      <p:grpSpPr bwMode="auto">
        <a:xfrm>
          <a:off x="0" y="0"/>
          <a:ext cx="0" cy="0"/>
          <a:chOff x="0" y="0"/>
          <a:chExt cx="0" cy="0"/>
        </a:xfrm>
      </p:grpSpPr>
      <p:sp>
        <p:nvSpPr>
          <p:cNvPr id="1365420959" name="PlaceHolder 1"/>
          <p:cNvSpPr>
            <a:spLocks noGrp="1"/>
          </p:cNvSpPr>
          <p:nvPr>
            <p:ph type="title"/>
          </p:nvPr>
        </p:nvSpPr>
        <p:spPr bwMode="auto">
          <a:xfrm>
            <a:off x="914400" y="410400"/>
            <a:ext cx="16458840" cy="1717560"/>
          </a:xfrm>
          <a:prstGeom prst="rect">
            <a:avLst/>
          </a:prstGeom>
          <a:noFill/>
          <a:ln w="0">
            <a:noFill/>
          </a:ln>
        </p:spPr>
        <p:txBody>
          <a:bodyPr lIns="0" tIns="0" rIns="0" bIns="0" anchor="ctr">
            <a:noAutofit/>
          </a:bodyPr>
          <a:lstStyle>
            <a:lvl1pPr indent="0" algn="l">
              <a:buNone/>
              <a:defRPr lang="en-US" sz="1800" b="0" u="none" strike="noStrike">
                <a:solidFill>
                  <a:schemeClr val="dk1"/>
                </a:solidFill>
                <a:latin typeface="Calibri"/>
              </a:defRPr>
            </a:lvl1pPr>
          </a:lstStyle>
          <a:p>
            <a:pPr indent="0" algn="l">
              <a:buNone/>
              <a:defRPr/>
            </a:pPr>
            <a:r>
              <a:rPr lang="en-US" sz="1800" b="0" u="none" strike="noStrike">
                <a:solidFill>
                  <a:schemeClr val="dk1"/>
                </a:solidFill>
                <a:latin typeface="Calibri"/>
              </a:rPr>
              <a:t>Click to edit the title text format</a:t>
            </a:r>
            <a:endParaRPr lang="en-US" sz="1800" b="0" u="none" strike="noStrike">
              <a:solidFill>
                <a:schemeClr val="dk1"/>
              </a:solidFill>
              <a:latin typeface="Calibri"/>
            </a:endParaRPr>
          </a:p>
        </p:txBody>
      </p:sp>
      <p:sp>
        <p:nvSpPr>
          <p:cNvPr id="1273669761" name="PlaceHolder 2"/>
          <p:cNvSpPr>
            <a:spLocks noGrp="1"/>
          </p:cNvSpPr>
          <p:nvPr>
            <p:ph type="body"/>
          </p:nvPr>
        </p:nvSpPr>
        <p:spPr bwMode="auto">
          <a:xfrm>
            <a:off x="914400" y="2406960"/>
            <a:ext cx="16458840" cy="596592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a:buChar char=""/>
              <a:defRPr lang="en-US" sz="3200" b="0" u="none" strike="noStrike">
                <a:solidFill>
                  <a:schemeClr val="dk1"/>
                </a:solidFill>
                <a:latin typeface="Calibri"/>
              </a:defRPr>
            </a:lvl1pPr>
            <a:lvl2pPr lvl="1" algn="l">
              <a:spcBef>
                <a:spcPts val="1134"/>
              </a:spcBef>
              <a:buClr>
                <a:srgbClr val="000000"/>
              </a:buClr>
              <a:buSzPct val="75000"/>
              <a:buFont typeface="Symbol"/>
              <a:buChar char=""/>
              <a:defRPr lang="en-US" sz="2400" b="0" u="none" strike="noStrike">
                <a:solidFill>
                  <a:schemeClr val="dk1"/>
                </a:solidFill>
                <a:latin typeface="Calibri"/>
              </a:defRPr>
            </a:lvl2pPr>
            <a:lvl3pPr lvl="2" algn="l">
              <a:spcBef>
                <a:spcPts val="850"/>
              </a:spcBef>
              <a:buClr>
                <a:srgbClr val="000000"/>
              </a:buClr>
              <a:buSzPct val="45000"/>
              <a:buFont typeface="Wingdings"/>
              <a:buChar char=""/>
              <a:defRPr lang="en-US" sz="2000" b="0" u="none" strike="noStrike">
                <a:solidFill>
                  <a:schemeClr val="dk1"/>
                </a:solidFill>
                <a:latin typeface="Calibri"/>
              </a:defRPr>
            </a:lvl3pPr>
            <a:lvl4pPr lvl="3" algn="l">
              <a:spcBef>
                <a:spcPts val="567"/>
              </a:spcBef>
              <a:buClr>
                <a:srgbClr val="000000"/>
              </a:buClr>
              <a:buSzPct val="75000"/>
              <a:buFont typeface="Symbol"/>
              <a:buChar char=""/>
              <a:defRPr lang="en-US" sz="2000" b="0" u="none" strike="noStrike">
                <a:solidFill>
                  <a:schemeClr val="dk1"/>
                </a:solidFill>
                <a:latin typeface="Calibri"/>
              </a:defRPr>
            </a:lvl4pPr>
            <a:lvl5pPr lvl="4" algn="l">
              <a:spcBef>
                <a:spcPts val="283"/>
              </a:spcBef>
              <a:buClr>
                <a:srgbClr val="000000"/>
              </a:buClr>
              <a:buSzPct val="45000"/>
              <a:buFont typeface="Wingdings"/>
              <a:buChar char=""/>
              <a:defRPr lang="en-US" sz="2000" b="0" u="none" strike="noStrike">
                <a:solidFill>
                  <a:schemeClr val="dk1"/>
                </a:solidFill>
                <a:latin typeface="Calibri"/>
              </a:defRPr>
            </a:lvl5pPr>
            <a:lvl6pPr lvl="5" algn="l">
              <a:spcBef>
                <a:spcPts val="283"/>
              </a:spcBef>
              <a:buClr>
                <a:srgbClr val="000000"/>
              </a:buClr>
              <a:buSzPct val="45000"/>
              <a:buFont typeface="Wingdings"/>
              <a:buChar char=""/>
              <a:defRPr lang="en-US" sz="2000" b="0" u="none" strike="noStrike">
                <a:solidFill>
                  <a:schemeClr val="dk1"/>
                </a:solidFill>
                <a:latin typeface="Calibri"/>
              </a:defRPr>
            </a:lvl6pPr>
            <a:lvl7pPr lvl="6" algn="l">
              <a:spcBef>
                <a:spcPts val="283"/>
              </a:spcBef>
              <a:buClr>
                <a:srgbClr val="000000"/>
              </a:buClr>
              <a:buSzPct val="45000"/>
              <a:buFont typeface="Wingdings"/>
              <a:buChar char=""/>
              <a:defRPr lang="en-US" sz="2000" b="0" u="none" strike="noStrike">
                <a:solidFill>
                  <a:schemeClr val="dk1"/>
                </a:solidFill>
                <a:latin typeface="Calibri"/>
              </a:defRPr>
            </a:lvl7pPr>
          </a:lstStyle>
          <a:p>
            <a:pPr marL="432000" indent="-324000" algn="l">
              <a:spcBef>
                <a:spcPts val="1417"/>
              </a:spcBef>
              <a:buClr>
                <a:srgbClr val="000000"/>
              </a:buClr>
              <a:buSzPct val="45000"/>
              <a:buFont typeface="Wingdings"/>
              <a:buChar char=""/>
              <a:defRPr/>
            </a:pPr>
            <a:r>
              <a:rPr lang="en-US" sz="3200" b="0" u="none" strike="noStrike">
                <a:solidFill>
                  <a:schemeClr val="dk1"/>
                </a:solidFill>
                <a:latin typeface="Calibri"/>
              </a:rPr>
              <a:t>Click to edit the outline text format</a:t>
            </a:r>
            <a:endParaRPr lang="en-US" sz="3200" b="0" u="none" strike="noStrike">
              <a:solidFill>
                <a:schemeClr val="dk1"/>
              </a:solidFill>
              <a:latin typeface="Calibri"/>
            </a:endParaRPr>
          </a:p>
          <a:p>
            <a:pPr marL="864000" lvl="1" indent="-324000" algn="l">
              <a:spcBef>
                <a:spcPts val="1134"/>
              </a:spcBef>
              <a:buClr>
                <a:srgbClr val="000000"/>
              </a:buClr>
              <a:buSzPct val="75000"/>
              <a:buFont typeface="Symbol"/>
              <a:buChar char=""/>
              <a:defRPr/>
            </a:pPr>
            <a:r>
              <a:rPr lang="en-US" sz="2400" b="0" u="none" strike="noStrike">
                <a:solidFill>
                  <a:schemeClr val="dk1"/>
                </a:solidFill>
                <a:latin typeface="Calibri"/>
              </a:rPr>
              <a:t>Second Outline Level</a:t>
            </a:r>
            <a:endParaRPr lang="en-US" sz="2400" b="0" u="none" strike="noStrike">
              <a:solidFill>
                <a:schemeClr val="dk1"/>
              </a:solidFill>
              <a:latin typeface="Calibri"/>
            </a:endParaRPr>
          </a:p>
          <a:p>
            <a:pPr marL="1296000" lvl="2" indent="-288000" algn="l">
              <a:spcBef>
                <a:spcPts val="850"/>
              </a:spcBef>
              <a:buClr>
                <a:srgbClr val="000000"/>
              </a:buClr>
              <a:buSzPct val="45000"/>
              <a:buFont typeface="Wingdings"/>
              <a:buChar char=""/>
              <a:defRPr/>
            </a:pPr>
            <a:r>
              <a:rPr lang="en-US" sz="2000" b="0" u="none" strike="noStrike">
                <a:solidFill>
                  <a:schemeClr val="dk1"/>
                </a:solidFill>
                <a:latin typeface="Calibri"/>
              </a:rPr>
              <a:t>Third Outline Level</a:t>
            </a:r>
            <a:endParaRPr lang="en-US" sz="2000" b="0" u="none" strike="noStrike">
              <a:solidFill>
                <a:schemeClr val="dk1"/>
              </a:solidFill>
              <a:latin typeface="Calibri"/>
            </a:endParaRPr>
          </a:p>
          <a:p>
            <a:pPr marL="1728000" lvl="3" indent="-216000" algn="l">
              <a:spcBef>
                <a:spcPts val="567"/>
              </a:spcBef>
              <a:buClr>
                <a:srgbClr val="000000"/>
              </a:buClr>
              <a:buSzPct val="75000"/>
              <a:buFont typeface="Symbol"/>
              <a:buChar char=""/>
              <a:defRPr/>
            </a:pPr>
            <a:r>
              <a:rPr lang="en-US" sz="2000" b="0" u="none" strike="noStrike">
                <a:solidFill>
                  <a:schemeClr val="dk1"/>
                </a:solidFill>
                <a:latin typeface="Calibri"/>
              </a:rPr>
              <a:t>Fourth Outline Level</a:t>
            </a:r>
            <a:endParaRPr lang="en-US" sz="2000" b="0" u="none" strike="noStrike">
              <a:solidFill>
                <a:schemeClr val="dk1"/>
              </a:solidFill>
              <a:latin typeface="Calibri"/>
            </a:endParaRPr>
          </a:p>
          <a:p>
            <a:pPr marL="2160000" lvl="4" indent="-216000" algn="l">
              <a:spcBef>
                <a:spcPts val="283"/>
              </a:spcBef>
              <a:buClr>
                <a:srgbClr val="000000"/>
              </a:buClr>
              <a:buSzPct val="45000"/>
              <a:buFont typeface="Wingdings"/>
              <a:buChar char=""/>
              <a:defRPr/>
            </a:pPr>
            <a:r>
              <a:rPr lang="en-US" sz="2000" b="0" u="none" strike="noStrike">
                <a:solidFill>
                  <a:schemeClr val="dk1"/>
                </a:solidFill>
                <a:latin typeface="Calibri"/>
              </a:rPr>
              <a:t>Fifth Outline Level</a:t>
            </a:r>
            <a:endParaRPr lang="en-US" sz="2000" b="0" u="none" strike="noStrike">
              <a:solidFill>
                <a:schemeClr val="dk1"/>
              </a:solidFill>
              <a:latin typeface="Calibri"/>
            </a:endParaRPr>
          </a:p>
          <a:p>
            <a:pPr marL="2592000" lvl="5" indent="-216000" algn="l">
              <a:spcBef>
                <a:spcPts val="283"/>
              </a:spcBef>
              <a:buClr>
                <a:srgbClr val="000000"/>
              </a:buClr>
              <a:buSzPct val="45000"/>
              <a:buFont typeface="Wingdings"/>
              <a:buChar char=""/>
              <a:defRPr/>
            </a:pPr>
            <a:r>
              <a:rPr lang="en-US" sz="2000" b="0" u="none" strike="noStrike">
                <a:solidFill>
                  <a:schemeClr val="dk1"/>
                </a:solidFill>
                <a:latin typeface="Calibri"/>
              </a:rPr>
              <a:t>Sixth Outline Level</a:t>
            </a:r>
            <a:endParaRPr lang="en-US" sz="2000" b="0" u="none" strike="noStrike">
              <a:solidFill>
                <a:schemeClr val="dk1"/>
              </a:solidFill>
              <a:latin typeface="Calibri"/>
            </a:endParaRPr>
          </a:p>
          <a:p>
            <a:pPr marL="3024000" lvl="6" indent="-216000" algn="l">
              <a:spcBef>
                <a:spcPts val="283"/>
              </a:spcBef>
              <a:buClr>
                <a:srgbClr val="000000"/>
              </a:buClr>
              <a:buSzPct val="45000"/>
              <a:buFont typeface="Wingdings"/>
              <a:buChar char=""/>
              <a:defRPr/>
            </a:pPr>
            <a:r>
              <a:rPr lang="en-US" sz="2000" b="0" u="none" strike="noStrike">
                <a:solidFill>
                  <a:schemeClr val="dk1"/>
                </a:solidFill>
                <a:latin typeface="Calibri"/>
              </a:rPr>
              <a:t>Seventh Outline Level</a:t>
            </a:r>
            <a:endParaRPr lang="en-US" sz="2000" b="0" u="none" strike="noStrike">
              <a:solidFill>
                <a:schemeClr val="dk1"/>
              </a:solidFill>
              <a:latin typeface="Calibri"/>
            </a:endParaRPr>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888822884" name="Shape 0"/>
          <p:cNvSpPr/>
          <p:nvPr/>
        </p:nvSpPr>
        <p:spPr bwMode="auto">
          <a:xfrm>
            <a:off x="1047600" y="762120"/>
            <a:ext cx="533160" cy="53316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805783221" name="Text 1"/>
          <p:cNvSpPr/>
          <p:nvPr/>
        </p:nvSpPr>
        <p:spPr bwMode="auto">
          <a:xfrm>
            <a:off x="1047600" y="762120"/>
            <a:ext cx="609120" cy="571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100" b="1" u="none" strike="noStrike" spc="145">
                <a:solidFill>
                  <a:srgbClr val="F3ECE0"/>
                </a:solidFill>
                <a:latin typeface="Noto Serif JP"/>
                <a:ea typeface="Noto Serif JP"/>
              </a:rPr>
              <a:t>御</a:t>
            </a:r>
            <a:endParaRPr lang="en-US" sz="2100" b="0" u="none" strike="noStrike">
              <a:solidFill>
                <a:srgbClr val="000000"/>
              </a:solidFill>
              <a:latin typeface="Arial"/>
            </a:endParaRPr>
          </a:p>
        </p:txBody>
      </p:sp>
      <p:sp>
        <p:nvSpPr>
          <p:cNvPr id="871659482" name="Text 2"/>
          <p:cNvSpPr/>
          <p:nvPr/>
        </p:nvSpPr>
        <p:spPr bwMode="auto">
          <a:xfrm>
            <a:off x="1714680" y="89532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050516953" name="Text 3"/>
          <p:cNvSpPr/>
          <p:nvPr/>
        </p:nvSpPr>
        <p:spPr bwMode="auto">
          <a:xfrm>
            <a:off x="11809800" y="762120"/>
            <a:ext cx="55929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PHASE 0 · PRE-</a:t>
            </a:r>
            <a:r>
              <a:rPr lang="en-US" sz="1800" b="0" u="none" strike="noStrike" spc="145">
                <a:solidFill>
                  <a:srgbClr val="4C554F"/>
                </a:solidFill>
                <a:latin typeface="Courier New"/>
                <a:ea typeface="Courier New"/>
              </a:rPr>
              <a:t>FOUNDATION · MAY </a:t>
            </a:r>
            <a:r>
              <a:rPr lang="en-US" sz="1800" b="0" u="none" strike="noStrike" spc="145">
                <a:solidFill>
                  <a:srgbClr val="4C554F"/>
                </a:solidFill>
                <a:latin typeface="Courier New"/>
                <a:ea typeface="Courier New"/>
              </a:rPr>
              <a:t>2026</a:t>
            </a:r>
            <a:endParaRPr lang="en-US" sz="1800" b="0" u="none" strike="noStrike">
              <a:solidFill>
                <a:srgbClr val="000000"/>
              </a:solidFill>
              <a:latin typeface="Arial"/>
            </a:endParaRPr>
          </a:p>
        </p:txBody>
      </p:sp>
      <p:sp>
        <p:nvSpPr>
          <p:cNvPr id="454138288" name="Text 4"/>
          <p:cNvSpPr/>
          <p:nvPr/>
        </p:nvSpPr>
        <p:spPr bwMode="auto">
          <a:xfrm>
            <a:off x="1047600" y="1866960"/>
            <a:ext cx="882936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A 25-YEAR INITIATIVE · </a:t>
            </a:r>
            <a:r>
              <a:rPr lang="zh-CN" sz="1800" b="0" u="none" strike="noStrike" spc="215">
                <a:solidFill>
                  <a:srgbClr val="4C554F"/>
                </a:solidFill>
                <a:latin typeface="Courier New"/>
                <a:ea typeface="Courier New"/>
              </a:rPr>
              <a:t>二十五年計画</a:t>
            </a:r>
            <a:endParaRPr lang="en-US" sz="1800" b="0" u="none" strike="noStrike">
              <a:solidFill>
                <a:srgbClr val="000000"/>
              </a:solidFill>
              <a:latin typeface="Arial"/>
            </a:endParaRPr>
          </a:p>
        </p:txBody>
      </p:sp>
      <p:sp>
        <p:nvSpPr>
          <p:cNvPr id="357206331" name="Text 5"/>
          <p:cNvSpPr/>
          <p:nvPr/>
        </p:nvSpPr>
        <p:spPr bwMode="auto">
          <a:xfrm>
            <a:off x="1047600" y="2476440"/>
            <a:ext cx="8829360" cy="482616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97000"/>
              </a:lnSpc>
              <a:tabLst>
                <a:tab pos="0" algn="l"/>
              </a:tabLst>
              <a:defRPr/>
            </a:pPr>
            <a:r>
              <a:rPr lang="en-US" sz="9600" b="0" u="none" strike="noStrike" spc="-95">
                <a:solidFill>
                  <a:srgbClr val="1F2A24"/>
                </a:solidFill>
                <a:latin typeface="Georgia"/>
                <a:ea typeface="Georgia"/>
              </a:rPr>
              <a:t>A modest </a:t>
            </a:r>
            <a:r>
              <a:rPr lang="en-US" sz="9600" b="0" u="none" strike="noStrike" spc="-95">
                <a:solidFill>
                  <a:srgbClr val="1F2A24"/>
                </a:solidFill>
                <a:latin typeface="Georgia"/>
                <a:ea typeface="Georgia"/>
              </a:rPr>
              <a:t>plan for a </a:t>
            </a:r>
            <a:r>
              <a:rPr lang="en-US" sz="9600" b="0" u="none" strike="noStrike" spc="-95">
                <a:solidFill>
                  <a:srgbClr val="1F2A24"/>
                </a:solidFill>
                <a:latin typeface="Georgia"/>
                <a:ea typeface="Georgia"/>
              </a:rPr>
              <a:t>small </a:t>
            </a:r>
            <a:r>
              <a:rPr lang="en-US" sz="9600" b="0" u="none" strike="noStrike" spc="-95">
                <a:solidFill>
                  <a:srgbClr val="1F2A24"/>
                </a:solidFill>
                <a:latin typeface="Georgia"/>
                <a:ea typeface="Georgia"/>
              </a:rPr>
              <a:t>village in </a:t>
            </a:r>
            <a:r>
              <a:rPr lang="en-US" sz="9600" b="0" u="none" strike="noStrike" spc="-95">
                <a:solidFill>
                  <a:srgbClr val="1F2A24"/>
                </a:solidFill>
                <a:latin typeface="Georgia"/>
                <a:ea typeface="Georgia"/>
              </a:rPr>
              <a:t>the </a:t>
            </a:r>
            <a:r>
              <a:rPr lang="en-US" sz="9600" b="0" i="1" u="none" strike="noStrike" spc="-95">
                <a:solidFill>
                  <a:srgbClr val="C4663A"/>
                </a:solidFill>
                <a:latin typeface="Georgia"/>
                <a:ea typeface="Georgia"/>
              </a:rPr>
              <a:t>mountain</a:t>
            </a:r>
            <a:r>
              <a:rPr lang="en-US" sz="9600" b="0" i="1" u="none" strike="noStrike" spc="-95">
                <a:solidFill>
                  <a:srgbClr val="C4663A"/>
                </a:solidFill>
                <a:latin typeface="Georgia"/>
                <a:ea typeface="Georgia"/>
              </a:rPr>
              <a:t>s.</a:t>
            </a:r>
            <a:endParaRPr lang="en-US" sz="9600" b="0" u="none" strike="noStrike">
              <a:solidFill>
                <a:srgbClr val="000000"/>
              </a:solidFill>
              <a:latin typeface="Arial"/>
            </a:endParaRPr>
          </a:p>
        </p:txBody>
      </p:sp>
      <p:sp>
        <p:nvSpPr>
          <p:cNvPr id="589258455" name="Text 6"/>
          <p:cNvSpPr/>
          <p:nvPr/>
        </p:nvSpPr>
        <p:spPr bwMode="auto">
          <a:xfrm>
            <a:off x="1047600" y="7607880"/>
            <a:ext cx="4591800" cy="1238040"/>
          </a:xfrm>
          <a:prstGeom prst="rect">
            <a:avLst/>
          </a:prstGeom>
          <a:noFill/>
          <a:ln w="0">
            <a:noFill/>
          </a:ln>
        </p:spPr>
        <p:style>
          <a:lnRef idx="0"/>
          <a:fillRef idx="0"/>
          <a:effectRef idx="0"/>
          <a:fontRef idx="minor"/>
        </p:style>
        <p:txBody>
          <a:bodyPr lIns="25560" tIns="25560" rIns="25560" bIns="25560" anchor="t">
            <a:normAutofit/>
          </a:bodyPr>
          <a:p>
            <a:pPr defTabSz="914400">
              <a:lnSpc>
                <a:spcPct val="140000"/>
              </a:lnSpc>
              <a:tabLst>
                <a:tab pos="0" algn="l"/>
              </a:tabLst>
              <a:defRPr/>
            </a:pPr>
            <a:r>
              <a:rPr lang="zh-CN" sz="2250" b="0" u="none" strike="noStrike">
                <a:solidFill>
                  <a:srgbClr val="4C554F"/>
                </a:solidFill>
                <a:latin typeface="Noto Serif JP"/>
                <a:ea typeface="Noto Serif JP"/>
              </a:rPr>
              <a:t>奈良県御杖村 森林・分散型エネルギ</a:t>
            </a:r>
            <a:r>
              <a:rPr lang="zh-CN" sz="2250" b="0" u="none" strike="noStrike">
                <a:solidFill>
                  <a:srgbClr val="4C554F"/>
                </a:solidFill>
                <a:latin typeface="Noto Serif JP"/>
                <a:ea typeface="Noto Serif JP"/>
              </a:rPr>
              <a:t>ー・地域所有のデータセンター</a:t>
            </a:r>
            <a:endParaRPr lang="en-US" sz="2250" b="0" u="none" strike="noStrike">
              <a:solidFill>
                <a:srgbClr val="000000"/>
              </a:solidFill>
              <a:latin typeface="Arial"/>
            </a:endParaRPr>
          </a:p>
        </p:txBody>
      </p:sp>
      <p:pic>
        <p:nvPicPr>
          <p:cNvPr id="1897258823" name="Image 0" descr="preencoded.png"/>
          <p:cNvPicPr/>
          <p:nvPr/>
        </p:nvPicPr>
        <p:blipFill rotWithShape="1">
          <a:blip r:embed="rId3"/>
          <a:stretch/>
        </p:blipFill>
        <p:spPr bwMode="auto">
          <a:xfrm>
            <a:off x="10382400" y="1866960"/>
            <a:ext cx="6857640" cy="6095520"/>
          </a:xfrm>
          <a:prstGeom prst="rect">
            <a:avLst/>
          </a:prstGeom>
          <a:noFill/>
          <a:ln w="0">
            <a:noFill/>
          </a:ln>
        </p:spPr>
      </p:pic>
      <p:sp>
        <p:nvSpPr>
          <p:cNvPr id="523948866" name="Text 7"/>
          <p:cNvSpPr/>
          <p:nvPr/>
        </p:nvSpPr>
        <p:spPr bwMode="auto">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01 / 11</a:t>
            </a:r>
            <a:endParaRPr lang="en-US" sz="1800" b="0" u="none" strike="noStrike">
              <a:solidFill>
                <a:srgbClr val="000000"/>
              </a:solidFill>
              <a:latin typeface="Arial"/>
            </a:endParaRPr>
          </a:p>
        </p:txBody>
      </p:sp>
      <p:sp>
        <p:nvSpPr>
          <p:cNvPr id="962304606" name="Text 8"/>
          <p:cNvSpPr/>
          <p:nvPr/>
        </p:nvSpPr>
        <p:spPr bwMode="auto">
          <a:xfrm>
            <a:off x="13830480" y="9258480"/>
            <a:ext cx="35118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FOREST · EV </a:t>
            </a:r>
            <a:r>
              <a:rPr lang="en-US" sz="1800" b="0" u="none" strike="noStrike" spc="145">
                <a:solidFill>
                  <a:srgbClr val="4C554F"/>
                </a:solidFill>
                <a:latin typeface="Courier New"/>
                <a:ea typeface="Courier New"/>
              </a:rPr>
              <a:t>POWER · AI</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377218094" name="Shape 0"/>
          <p:cNvSpPr/>
          <p:nvPr/>
        </p:nvSpPr>
        <p:spPr bwMode="auto">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954911901"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903891595"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2033121572" name="Text 3"/>
          <p:cNvSpPr/>
          <p:nvPr/>
        </p:nvSpPr>
        <p:spPr bwMode="auto">
          <a:xfrm>
            <a:off x="14451840" y="762120"/>
            <a:ext cx="28717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 01 · THE </a:t>
            </a:r>
            <a:r>
              <a:rPr lang="en-US" sz="1800" b="0" u="none" strike="noStrike" spc="145">
                <a:solidFill>
                  <a:srgbClr val="4C554F"/>
                </a:solidFill>
                <a:latin typeface="Courier New"/>
                <a:ea typeface="Courier New"/>
              </a:rPr>
              <a:t>SETTING</a:t>
            </a:r>
            <a:endParaRPr lang="en-US" sz="1800" b="0" u="none" strike="noStrike">
              <a:solidFill>
                <a:srgbClr val="000000"/>
              </a:solidFill>
              <a:latin typeface="Arial"/>
            </a:endParaRPr>
          </a:p>
        </p:txBody>
      </p:sp>
      <p:sp>
        <p:nvSpPr>
          <p:cNvPr id="1066088254" name="Text 4"/>
          <p:cNvSpPr/>
          <p:nvPr/>
        </p:nvSpPr>
        <p:spPr bwMode="auto">
          <a:xfrm>
            <a:off x="1047600" y="1695600"/>
            <a:ext cx="794628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MITSUE VILLAGE · </a:t>
            </a:r>
            <a:r>
              <a:rPr lang="zh-CN" sz="1800" b="0" u="none" strike="noStrike" spc="215">
                <a:solidFill>
                  <a:srgbClr val="4C554F"/>
                </a:solidFill>
                <a:latin typeface="Courier New"/>
                <a:ea typeface="Courier New"/>
              </a:rPr>
              <a:t>奈良県御杖村</a:t>
            </a:r>
            <a:endParaRPr lang="en-US" sz="1800" b="0" u="none" strike="noStrike">
              <a:solidFill>
                <a:srgbClr val="000000"/>
              </a:solidFill>
              <a:latin typeface="Arial"/>
            </a:endParaRPr>
          </a:p>
        </p:txBody>
      </p:sp>
      <p:sp>
        <p:nvSpPr>
          <p:cNvPr id="1146528843" name="Text 5"/>
          <p:cNvSpPr/>
          <p:nvPr/>
        </p:nvSpPr>
        <p:spPr bwMode="auto">
          <a:xfrm>
            <a:off x="1047600" y="1828800"/>
            <a:ext cx="7946280" cy="5275080"/>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a:bodyPr>
          <a:p>
            <a:pPr defTabSz="914400">
              <a:lnSpc>
                <a:spcPct val="98000"/>
              </a:lnSpc>
              <a:tabLst>
                <a:tab pos="0" algn="l"/>
              </a:tabLst>
              <a:defRPr/>
            </a:pPr>
            <a:r>
              <a:rPr lang="en-US" sz="6500" b="0" u="none" strike="noStrike" spc="-85">
                <a:solidFill>
                  <a:srgbClr val="1F2A24"/>
                </a:solidFill>
                <a:latin typeface="Georgia"/>
                <a:ea typeface="Georgia"/>
              </a:rPr>
              <a:t>One vacant school building. One </a:t>
            </a:r>
            <a:r>
              <a:rPr lang="en-US" sz="6500" b="0" i="1" u="none" strike="noStrike" spc="-85">
                <a:solidFill>
                  <a:srgbClr val="C4663A"/>
                </a:solidFill>
                <a:latin typeface="Georgia"/>
                <a:ea typeface="Georgia"/>
              </a:rPr>
              <a:t>tired </a:t>
            </a:r>
            <a:r>
              <a:rPr lang="en-US" sz="6500" b="0" i="1" u="none" strike="noStrike" spc="-85">
                <a:solidFill>
                  <a:srgbClr val="C4663A"/>
                </a:solidFill>
                <a:latin typeface="Georgia"/>
                <a:ea typeface="Georgia"/>
              </a:rPr>
              <a:t>forest. </a:t>
            </a:r>
            <a:r>
              <a:rPr lang="en-US" sz="6500" b="0" u="none" strike="noStrike" spc="-85">
                <a:solidFill>
                  <a:srgbClr val="1F2A24"/>
                </a:solidFill>
                <a:latin typeface="Georgia"/>
                <a:ea typeface="Georgia"/>
              </a:rPr>
              <a:t>One short list of ideas.</a:t>
            </a:r>
            <a:endParaRPr sz="6500" b="0" u="none" strike="noStrike">
              <a:solidFill>
                <a:srgbClr val="000000"/>
              </a:solidFill>
              <a:latin typeface="Arial"/>
            </a:endParaRPr>
          </a:p>
        </p:txBody>
      </p:sp>
      <p:sp>
        <p:nvSpPr>
          <p:cNvPr id="1232780777" name="Text 6"/>
          <p:cNvSpPr/>
          <p:nvPr/>
        </p:nvSpPr>
        <p:spPr bwMode="auto">
          <a:xfrm>
            <a:off x="1102469" y="6118020"/>
            <a:ext cx="7946280" cy="15847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Mitsue is a mountain village in Nara Prefecture. In 2021, the elementary school merged with the junior high and moved to a new building — the old building sits empty. The cedar plantations </a:t>
            </a:r>
            <a:r>
              <a:rPr lang="en-US" sz="2100" b="0" u="none" strike="noStrike">
                <a:solidFill>
                  <a:srgbClr val="1F2A24"/>
                </a:solidFill>
                <a:latin typeface="Arial"/>
                <a:ea typeface="Arial"/>
              </a:rPr>
              <a:t>around it are old and unmanaged. The grid is fragile. None of this is unusual in rural Japan — that's the </a:t>
            </a:r>
            <a:r>
              <a:rPr lang="en-US" sz="2100" b="0" u="none" strike="noStrike">
                <a:solidFill>
                  <a:srgbClr val="1F2A24"/>
                </a:solidFill>
                <a:latin typeface="Arial"/>
                <a:ea typeface="Arial"/>
              </a:rPr>
              <a:t>whole point.</a:t>
            </a:r>
            <a:endParaRPr lang="en-US" sz="2100" b="0" u="none" strike="noStrike">
              <a:solidFill>
                <a:srgbClr val="000000"/>
              </a:solidFill>
              <a:latin typeface="Arial"/>
            </a:endParaRPr>
          </a:p>
        </p:txBody>
      </p:sp>
      <p:sp>
        <p:nvSpPr>
          <p:cNvPr id="1293521998" name="Text 7"/>
          <p:cNvSpPr/>
          <p:nvPr/>
        </p:nvSpPr>
        <p:spPr bwMode="auto">
          <a:xfrm>
            <a:off x="1143000" y="8229600"/>
            <a:ext cx="7946280" cy="81108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4C554F"/>
                </a:solidFill>
                <a:latin typeface="Arial"/>
                <a:ea typeface="Arial"/>
              </a:rPr>
              <a:t>If a small, careful intervention works here, it should be copy-pasteable into a </a:t>
            </a:r>
            <a:r>
              <a:rPr lang="en-US" sz="2100" b="0" u="none" strike="noStrike">
                <a:solidFill>
                  <a:srgbClr val="4C554F"/>
                </a:solidFill>
                <a:latin typeface="Arial"/>
                <a:ea typeface="Arial"/>
              </a:rPr>
              <a:t>thousand other villages with the same pattern.</a:t>
            </a:r>
            <a:endParaRPr lang="en-US" sz="2100" b="0" u="none" strike="noStrike">
              <a:solidFill>
                <a:srgbClr val="000000"/>
              </a:solidFill>
              <a:latin typeface="Arial"/>
            </a:endParaRPr>
          </a:p>
        </p:txBody>
      </p:sp>
      <p:sp>
        <p:nvSpPr>
          <p:cNvPr id="1603544821" name="Shape 8"/>
          <p:cNvSpPr/>
          <p:nvPr/>
        </p:nvSpPr>
        <p:spPr bwMode="auto">
          <a:xfrm>
            <a:off x="9655920" y="2391480"/>
            <a:ext cx="7714800" cy="509472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16499249" name="Text 9"/>
          <p:cNvSpPr/>
          <p:nvPr/>
        </p:nvSpPr>
        <p:spPr bwMode="auto">
          <a:xfrm>
            <a:off x="10008360" y="2743920"/>
            <a:ext cx="722052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COORDINATES · </a:t>
            </a:r>
            <a:r>
              <a:rPr lang="zh-CN" sz="1800" b="0" u="none" strike="noStrike" spc="215">
                <a:solidFill>
                  <a:srgbClr val="4C554F"/>
                </a:solidFill>
                <a:latin typeface="Courier New"/>
                <a:ea typeface="Courier New"/>
              </a:rPr>
              <a:t>座標</a:t>
            </a:r>
            <a:endParaRPr lang="en-US" sz="1800" b="0" u="none" strike="noStrike">
              <a:solidFill>
                <a:srgbClr val="000000"/>
              </a:solidFill>
              <a:latin typeface="Arial"/>
            </a:endParaRPr>
          </a:p>
        </p:txBody>
      </p:sp>
      <p:sp>
        <p:nvSpPr>
          <p:cNvPr id="531345236" name="Text 10"/>
          <p:cNvSpPr/>
          <p:nvPr/>
        </p:nvSpPr>
        <p:spPr bwMode="auto">
          <a:xfrm>
            <a:off x="10008360" y="3258360"/>
            <a:ext cx="7220520" cy="156168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00000"/>
              </a:lnSpc>
              <a:tabLst>
                <a:tab pos="0" algn="l"/>
              </a:tabLst>
              <a:defRPr/>
            </a:pPr>
            <a:r>
              <a:rPr lang="en-US" sz="6000" b="0" u="none" strike="noStrike" spc="-60">
                <a:solidFill>
                  <a:srgbClr val="1F2A24"/>
                </a:solidFill>
                <a:latin typeface="Georgia"/>
                <a:ea typeface="Georgia"/>
              </a:rPr>
              <a:t>34.4194° N 136.0511° E</a:t>
            </a:r>
            <a:endParaRPr lang="en-US" sz="6000" b="0" u="none" strike="noStrike">
              <a:solidFill>
                <a:srgbClr val="000000"/>
              </a:solidFill>
              <a:latin typeface="Arial"/>
            </a:endParaRPr>
          </a:p>
        </p:txBody>
      </p:sp>
      <p:sp>
        <p:nvSpPr>
          <p:cNvPr id="2623623" name="Shape 11"/>
          <p:cNvSpPr/>
          <p:nvPr/>
        </p:nvSpPr>
        <p:spPr bwMode="auto">
          <a:xfrm>
            <a:off x="10008360" y="5087160"/>
            <a:ext cx="7009920" cy="900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798729531" name="Text 12"/>
          <p:cNvSpPr/>
          <p:nvPr/>
        </p:nvSpPr>
        <p:spPr bwMode="auto">
          <a:xfrm>
            <a:off x="10008360" y="5401440"/>
            <a:ext cx="34923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POPULATION</a:t>
            </a:r>
            <a:endParaRPr lang="en-US" sz="1800" b="0" u="none" strike="noStrike">
              <a:solidFill>
                <a:srgbClr val="000000"/>
              </a:solidFill>
              <a:latin typeface="Arial"/>
            </a:endParaRPr>
          </a:p>
        </p:txBody>
      </p:sp>
      <p:sp>
        <p:nvSpPr>
          <p:cNvPr id="2075194169" name="Text 13"/>
          <p:cNvSpPr/>
          <p:nvPr/>
        </p:nvSpPr>
        <p:spPr bwMode="auto">
          <a:xfrm>
            <a:off x="10008360" y="5668200"/>
            <a:ext cx="3492360" cy="5230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900" b="0" u="none" strike="noStrike" spc="-40">
                <a:solidFill>
                  <a:srgbClr val="1F2A24"/>
                </a:solidFill>
                <a:latin typeface="Georgia"/>
                <a:ea typeface="Georgia"/>
              </a:rPr>
              <a:t>≈ 1,400</a:t>
            </a:r>
            <a:endParaRPr lang="en-US" sz="3900" b="0" u="none" strike="noStrike">
              <a:solidFill>
                <a:srgbClr val="000000"/>
              </a:solidFill>
              <a:latin typeface="Arial"/>
            </a:endParaRPr>
          </a:p>
        </p:txBody>
      </p:sp>
      <p:sp>
        <p:nvSpPr>
          <p:cNvPr id="1521065153" name="Text 14"/>
          <p:cNvSpPr/>
          <p:nvPr/>
        </p:nvSpPr>
        <p:spPr bwMode="auto">
          <a:xfrm>
            <a:off x="13627800" y="5401440"/>
            <a:ext cx="34923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SCHOOL RELOCATED</a:t>
            </a:r>
            <a:endParaRPr lang="en-US" sz="1800" b="0" u="none" strike="noStrike">
              <a:solidFill>
                <a:srgbClr val="000000"/>
              </a:solidFill>
              <a:latin typeface="Arial"/>
            </a:endParaRPr>
          </a:p>
        </p:txBody>
      </p:sp>
      <p:sp>
        <p:nvSpPr>
          <p:cNvPr id="414229537" name="Text 15"/>
          <p:cNvSpPr/>
          <p:nvPr/>
        </p:nvSpPr>
        <p:spPr bwMode="auto">
          <a:xfrm>
            <a:off x="13627800" y="5668200"/>
            <a:ext cx="3492360" cy="5230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900" b="0" u="none" strike="noStrike" spc="-40">
                <a:solidFill>
                  <a:srgbClr val="1F2A24"/>
                </a:solidFill>
                <a:latin typeface="Georgia"/>
                <a:ea typeface="Georgia"/>
              </a:rPr>
              <a:t>2020</a:t>
            </a:r>
            <a:endParaRPr lang="en-US" sz="3900" b="0" u="none" strike="noStrike">
              <a:solidFill>
                <a:srgbClr val="000000"/>
              </a:solidFill>
              <a:latin typeface="Arial"/>
            </a:endParaRPr>
          </a:p>
        </p:txBody>
      </p:sp>
      <p:sp>
        <p:nvSpPr>
          <p:cNvPr id="1496632184" name="Text 16"/>
          <p:cNvSpPr/>
          <p:nvPr/>
        </p:nvSpPr>
        <p:spPr bwMode="auto">
          <a:xfrm>
            <a:off x="10008360" y="6382080"/>
            <a:ext cx="34923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FOREST COVER</a:t>
            </a:r>
            <a:endParaRPr lang="en-US" sz="1800" b="0" u="none" strike="noStrike">
              <a:solidFill>
                <a:srgbClr val="000000"/>
              </a:solidFill>
              <a:latin typeface="Arial"/>
            </a:endParaRPr>
          </a:p>
        </p:txBody>
      </p:sp>
      <p:sp>
        <p:nvSpPr>
          <p:cNvPr id="1005183469" name="Text 17"/>
          <p:cNvSpPr/>
          <p:nvPr/>
        </p:nvSpPr>
        <p:spPr bwMode="auto">
          <a:xfrm>
            <a:off x="10008360" y="6648840"/>
            <a:ext cx="3492360" cy="5230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900" b="0" u="none" strike="noStrike" spc="-40">
                <a:solidFill>
                  <a:srgbClr val="1F2A24"/>
                </a:solidFill>
                <a:latin typeface="Georgia"/>
                <a:ea typeface="Georgia"/>
              </a:rPr>
              <a:t>≈ 93%</a:t>
            </a:r>
            <a:endParaRPr lang="en-US" sz="3900" b="0" u="none" strike="noStrike">
              <a:solidFill>
                <a:srgbClr val="000000"/>
              </a:solidFill>
              <a:latin typeface="Arial"/>
            </a:endParaRPr>
          </a:p>
        </p:txBody>
      </p:sp>
      <p:sp>
        <p:nvSpPr>
          <p:cNvPr id="1354421153" name="Text 18"/>
          <p:cNvSpPr/>
          <p:nvPr/>
        </p:nvSpPr>
        <p:spPr bwMode="auto">
          <a:xfrm>
            <a:off x="13627800" y="6382080"/>
            <a:ext cx="34923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PROJECT HORIZON</a:t>
            </a:r>
            <a:endParaRPr lang="en-US" sz="1800" b="0" u="none" strike="noStrike">
              <a:solidFill>
                <a:srgbClr val="000000"/>
              </a:solidFill>
              <a:latin typeface="Arial"/>
            </a:endParaRPr>
          </a:p>
        </p:txBody>
      </p:sp>
      <p:sp>
        <p:nvSpPr>
          <p:cNvPr id="809267515" name="Text 19"/>
          <p:cNvSpPr/>
          <p:nvPr/>
        </p:nvSpPr>
        <p:spPr bwMode="auto">
          <a:xfrm>
            <a:off x="13627800" y="6648840"/>
            <a:ext cx="3492360" cy="5230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900" b="0" u="none" strike="noStrike" spc="-40">
                <a:solidFill>
                  <a:srgbClr val="1F2A24"/>
                </a:solidFill>
                <a:latin typeface="Georgia"/>
                <a:ea typeface="Georgia"/>
              </a:rPr>
              <a:t>25 yr</a:t>
            </a:r>
            <a:endParaRPr lang="en-US" sz="3900" b="0" u="none" strike="noStrike">
              <a:solidFill>
                <a:srgbClr val="000000"/>
              </a:solidFill>
              <a:latin typeface="Arial"/>
            </a:endParaRPr>
          </a:p>
        </p:txBody>
      </p:sp>
      <p:sp>
        <p:nvSpPr>
          <p:cNvPr id="1325011222" name="Text 20"/>
          <p:cNvSpPr/>
          <p:nvPr/>
        </p:nvSpPr>
        <p:spPr bwMode="auto">
          <a:xfrm>
            <a:off x="8993880" y="9565200"/>
            <a:ext cx="79462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RURAL REVITALIZATION, BUT </a:t>
            </a:r>
            <a:r>
              <a:rPr lang="en-US" sz="1800" b="0" u="none" strike="noStrike" spc="215">
                <a:solidFill>
                  <a:srgbClr val="4C554F"/>
                </a:solidFill>
                <a:latin typeface="Courier New"/>
                <a:ea typeface="Courier New"/>
              </a:rPr>
              <a:t>QUIETLY.</a:t>
            </a:r>
            <a:endParaRPr lang="en-US" sz="1800" b="0" u="none" strike="noStrike">
              <a:solidFill>
                <a:srgbClr val="000000"/>
              </a:solidFill>
              <a:latin typeface="Arial"/>
            </a:endParaRPr>
          </a:p>
        </p:txBody>
      </p:sp>
      <p:sp>
        <p:nvSpPr>
          <p:cNvPr id="913194242" name="Text 21"/>
          <p:cNvSpPr/>
          <p:nvPr/>
        </p:nvSpPr>
        <p:spPr bwMode="auto">
          <a:xfrm>
            <a:off x="1143000" y="952524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02 / 11</a:t>
            </a:r>
            <a:endParaRPr lang="en-US" sz="1800" b="0" u="none" strike="noStrike">
              <a:solidFill>
                <a:srgbClr val="000000"/>
              </a:solidFill>
              <a:latin typeface="Arial"/>
            </a:endParaRPr>
          </a:p>
        </p:txBody>
      </p:sp>
      <p:sp>
        <p:nvSpPr>
          <p:cNvPr id="1549884424" name="Text 22"/>
          <p:cNvSpPr/>
          <p:nvPr/>
        </p:nvSpPr>
        <p:spPr bwMode="auto">
          <a:xfrm>
            <a:off x="16137000" y="9525240"/>
            <a:ext cx="14652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MITSUE.IT</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518897797" name="Shape 0"/>
          <p:cNvSpPr/>
          <p:nvPr/>
        </p:nvSpPr>
        <p:spPr bwMode="auto">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82446260"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738842099"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444460086" name="Text 3"/>
          <p:cNvSpPr/>
          <p:nvPr/>
        </p:nvSpPr>
        <p:spPr bwMode="auto">
          <a:xfrm>
            <a:off x="11188079" y="762120"/>
            <a:ext cx="6233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 02 · FOUR PRESSURES, ONE RURAL </a:t>
            </a:r>
            <a:r>
              <a:rPr lang="en-US" sz="1800" b="0" u="none" strike="noStrike" spc="145">
                <a:solidFill>
                  <a:srgbClr val="4C554F"/>
                </a:solidFill>
                <a:latin typeface="Courier New"/>
                <a:ea typeface="Courier New"/>
              </a:rPr>
              <a:t>ANSWER</a:t>
            </a:r>
            <a:endParaRPr lang="en-US" sz="1800" b="0" u="none" strike="noStrike">
              <a:solidFill>
                <a:srgbClr val="000000"/>
              </a:solidFill>
              <a:latin typeface="Arial"/>
            </a:endParaRPr>
          </a:p>
        </p:txBody>
      </p:sp>
      <p:sp>
        <p:nvSpPr>
          <p:cNvPr id="1306313096" name="Text 4"/>
          <p:cNvSpPr/>
          <p:nvPr/>
        </p:nvSpPr>
        <p:spPr bwMode="auto">
          <a:xfrm>
            <a:off x="1047600" y="1619280"/>
            <a:ext cx="13871880" cy="18396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7200" b="0" u="none" strike="noStrike" spc="-71">
                <a:solidFill>
                  <a:srgbClr val="1F2A24"/>
                </a:solidFill>
                <a:latin typeface="Georgia"/>
                <a:ea typeface="Georgia"/>
              </a:rPr>
              <a:t>Four expensive </a:t>
            </a:r>
            <a:r>
              <a:rPr lang="en-US" sz="7200" b="0" u="none" strike="noStrike" spc="-71">
                <a:solidFill>
                  <a:srgbClr val="1F2A24"/>
                </a:solidFill>
                <a:latin typeface="Georgia"/>
                <a:ea typeface="Georgia"/>
              </a:rPr>
              <a:t>problems that turn out </a:t>
            </a:r>
            <a:r>
              <a:rPr lang="en-US" sz="7200" b="0" u="none" strike="noStrike" spc="-71">
                <a:solidFill>
                  <a:srgbClr val="1F2A24"/>
                </a:solidFill>
                <a:latin typeface="Georgia"/>
                <a:ea typeface="Georgia"/>
              </a:rPr>
              <a:t>to be </a:t>
            </a:r>
            <a:r>
              <a:rPr lang="en-US" sz="7200" b="0" i="1" u="none" strike="noStrike" spc="-71">
                <a:solidFill>
                  <a:srgbClr val="C4663A"/>
                </a:solidFill>
                <a:latin typeface="Georgia"/>
                <a:ea typeface="Georgia"/>
              </a:rPr>
              <a:t>cheaper together.</a:t>
            </a:r>
            <a:endParaRPr lang="en-US" sz="7200" b="0" u="none" strike="noStrike">
              <a:solidFill>
                <a:srgbClr val="000000"/>
              </a:solidFill>
              <a:latin typeface="Arial"/>
            </a:endParaRPr>
          </a:p>
        </p:txBody>
      </p:sp>
      <p:sp>
        <p:nvSpPr>
          <p:cNvPr id="316538753" name="Text 5"/>
          <p:cNvSpPr/>
          <p:nvPr/>
        </p:nvSpPr>
        <p:spPr bwMode="auto">
          <a:xfrm>
            <a:off x="1047600" y="3554280"/>
            <a:ext cx="16678079" cy="4377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100" b="0" u="none" strike="noStrike">
                <a:solidFill>
                  <a:srgbClr val="4C554F"/>
                </a:solidFill>
                <a:latin typeface="Noto Serif JP"/>
                <a:ea typeface="Noto Serif JP"/>
              </a:rPr>
              <a:t>四つの構造</a:t>
            </a:r>
            <a:r>
              <a:rPr lang="zh-CN" sz="2100" b="0" u="none" strike="noStrike">
                <a:solidFill>
                  <a:srgbClr val="4C554F"/>
                </a:solidFill>
                <a:latin typeface="Noto Serif JP"/>
                <a:ea typeface="Noto Serif JP"/>
              </a:rPr>
              <a:t>的圧力、ひ</a:t>
            </a:r>
            <a:r>
              <a:rPr lang="zh-CN" sz="2100" b="0" u="none" strike="noStrike">
                <a:solidFill>
                  <a:srgbClr val="4C554F"/>
                </a:solidFill>
                <a:latin typeface="Noto Serif JP"/>
                <a:ea typeface="Noto Serif JP"/>
              </a:rPr>
              <a:t>とつの農村</a:t>
            </a:r>
            <a:r>
              <a:rPr lang="zh-CN" sz="2100" b="0" u="none" strike="noStrike">
                <a:solidFill>
                  <a:srgbClr val="4C554F"/>
                </a:solidFill>
                <a:latin typeface="Noto Serif JP"/>
                <a:ea typeface="Noto Serif JP"/>
              </a:rPr>
              <a:t>型解答</a:t>
            </a:r>
            <a:endParaRPr lang="en-US" sz="2100" b="0" u="none" strike="noStrike">
              <a:solidFill>
                <a:srgbClr val="000000"/>
              </a:solidFill>
              <a:latin typeface="Arial"/>
            </a:endParaRPr>
          </a:p>
        </p:txBody>
      </p:sp>
      <p:sp>
        <p:nvSpPr>
          <p:cNvPr id="1661400954" name="Shape 6"/>
          <p:cNvSpPr/>
          <p:nvPr/>
        </p:nvSpPr>
        <p:spPr bwMode="auto">
          <a:xfrm>
            <a:off x="1047600" y="4335480"/>
            <a:ext cx="3833280" cy="1872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25868533" name="Text 7"/>
          <p:cNvSpPr/>
          <p:nvPr/>
        </p:nvSpPr>
        <p:spPr bwMode="auto">
          <a:xfrm>
            <a:off x="1047600" y="4621320"/>
            <a:ext cx="39484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01 · ENERGY</a:t>
            </a:r>
            <a:endParaRPr lang="en-US" sz="1800" b="0" u="none" strike="noStrike">
              <a:solidFill>
                <a:srgbClr val="000000"/>
              </a:solidFill>
              <a:latin typeface="Arial"/>
            </a:endParaRPr>
          </a:p>
        </p:txBody>
      </p:sp>
      <p:pic>
        <p:nvPicPr>
          <p:cNvPr id="803249168" name="Image 0" descr="preencoded.png"/>
          <p:cNvPicPr/>
          <p:nvPr/>
        </p:nvPicPr>
        <p:blipFill rotWithShape="1">
          <a:blip r:embed="rId3"/>
          <a:stretch/>
        </p:blipFill>
        <p:spPr bwMode="auto">
          <a:xfrm>
            <a:off x="1047600" y="5078520"/>
            <a:ext cx="3833280" cy="1142640"/>
          </a:xfrm>
          <a:prstGeom prst="rect">
            <a:avLst/>
          </a:prstGeom>
          <a:noFill/>
          <a:ln w="0">
            <a:noFill/>
          </a:ln>
        </p:spPr>
      </p:pic>
      <p:sp>
        <p:nvSpPr>
          <p:cNvPr id="262920965" name="Text 8"/>
          <p:cNvSpPr/>
          <p:nvPr/>
        </p:nvSpPr>
        <p:spPr bwMode="auto">
          <a:xfrm>
            <a:off x="1047600" y="6411960"/>
            <a:ext cx="3948480" cy="4377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5000"/>
              </a:lnSpc>
              <a:tabLst>
                <a:tab pos="0" algn="l"/>
              </a:tabLst>
              <a:defRPr/>
            </a:pPr>
            <a:r>
              <a:rPr lang="en-US" sz="3000" b="0" u="none" strike="noStrike" spc="-31">
                <a:solidFill>
                  <a:srgbClr val="1F2A24"/>
                </a:solidFill>
                <a:latin typeface="Georgia"/>
                <a:ea typeface="Georgia"/>
              </a:rPr>
              <a:t>EV cars are coming.</a:t>
            </a:r>
            <a:endParaRPr lang="en-US" sz="3000" b="0" u="none" strike="noStrike">
              <a:solidFill>
                <a:srgbClr val="000000"/>
              </a:solidFill>
              <a:latin typeface="Arial"/>
            </a:endParaRPr>
          </a:p>
        </p:txBody>
      </p:sp>
      <p:sp>
        <p:nvSpPr>
          <p:cNvPr id="244272296" name="Text 9"/>
          <p:cNvSpPr/>
          <p:nvPr/>
        </p:nvSpPr>
        <p:spPr bwMode="auto">
          <a:xfrm>
            <a:off x="1047600" y="7269840"/>
            <a:ext cx="3948480" cy="10587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In the near future passenger vehicles will be  electric. Rural grids need new distributed generation. Extension is slow and expensive.</a:t>
            </a:r>
            <a:endParaRPr lang="en-US" sz="1800" b="0" u="none" strike="noStrike">
              <a:solidFill>
                <a:srgbClr val="000000"/>
              </a:solidFill>
              <a:latin typeface="Arial"/>
            </a:endParaRPr>
          </a:p>
        </p:txBody>
      </p:sp>
      <p:sp>
        <p:nvSpPr>
          <p:cNvPr id="790548621" name="Shape 10"/>
          <p:cNvSpPr/>
          <p:nvPr/>
        </p:nvSpPr>
        <p:spPr bwMode="auto">
          <a:xfrm>
            <a:off x="5167440" y="4335480"/>
            <a:ext cx="3833280" cy="1872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280649290" name="Text 11"/>
          <p:cNvSpPr/>
          <p:nvPr/>
        </p:nvSpPr>
        <p:spPr bwMode="auto">
          <a:xfrm>
            <a:off x="5167440" y="4621320"/>
            <a:ext cx="39484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02 · FOREST</a:t>
            </a:r>
            <a:endParaRPr lang="en-US" sz="1800" b="0" u="none" strike="noStrike">
              <a:solidFill>
                <a:srgbClr val="000000"/>
              </a:solidFill>
              <a:latin typeface="Arial"/>
            </a:endParaRPr>
          </a:p>
        </p:txBody>
      </p:sp>
      <p:pic>
        <p:nvPicPr>
          <p:cNvPr id="986924775" name="Image 1" descr="preencoded.png"/>
          <p:cNvPicPr/>
          <p:nvPr/>
        </p:nvPicPr>
        <p:blipFill rotWithShape="1">
          <a:blip r:embed="rId4"/>
          <a:stretch/>
        </p:blipFill>
        <p:spPr bwMode="auto">
          <a:xfrm>
            <a:off x="5167440" y="5078520"/>
            <a:ext cx="3833280" cy="1142640"/>
          </a:xfrm>
          <a:prstGeom prst="rect">
            <a:avLst/>
          </a:prstGeom>
          <a:noFill/>
          <a:ln w="0">
            <a:noFill/>
          </a:ln>
        </p:spPr>
      </p:pic>
      <p:sp>
        <p:nvSpPr>
          <p:cNvPr id="1088336082" name="Text 12"/>
          <p:cNvSpPr/>
          <p:nvPr/>
        </p:nvSpPr>
        <p:spPr bwMode="auto">
          <a:xfrm>
            <a:off x="5167440" y="6411960"/>
            <a:ext cx="3948480" cy="83772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5000"/>
              </a:lnSpc>
              <a:tabLst>
                <a:tab pos="0" algn="l"/>
              </a:tabLst>
              <a:defRPr/>
            </a:pPr>
            <a:r>
              <a:rPr lang="en-US" sz="3000" b="0" u="none" strike="noStrike" spc="-31">
                <a:solidFill>
                  <a:srgbClr val="1F2A24"/>
                </a:solidFill>
                <a:latin typeface="Georgia"/>
                <a:ea typeface="Georgia"/>
              </a:rPr>
              <a:t>Cedar is a liability — and a fuel.</a:t>
            </a:r>
            <a:endParaRPr lang="en-US" sz="3000" b="0" u="none" strike="noStrike">
              <a:solidFill>
                <a:srgbClr val="000000"/>
              </a:solidFill>
              <a:latin typeface="Arial"/>
            </a:endParaRPr>
          </a:p>
        </p:txBody>
      </p:sp>
      <p:sp>
        <p:nvSpPr>
          <p:cNvPr id="489456104" name="Text 13"/>
          <p:cNvSpPr/>
          <p:nvPr/>
        </p:nvSpPr>
        <p:spPr bwMode="auto">
          <a:xfrm>
            <a:off x="5167440" y="7249680"/>
            <a:ext cx="3948480" cy="13636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Aged sugi plantations: pollen, biodiversity loss, landslide risk. Removing them powers the village; replacing them rebuilds the forest.</a:t>
            </a:r>
            <a:endParaRPr lang="en-US" sz="1800" b="0" u="none" strike="noStrike">
              <a:solidFill>
                <a:srgbClr val="000000"/>
              </a:solidFill>
              <a:latin typeface="Arial"/>
            </a:endParaRPr>
          </a:p>
        </p:txBody>
      </p:sp>
      <p:sp>
        <p:nvSpPr>
          <p:cNvPr id="893411465" name="Shape 14"/>
          <p:cNvSpPr/>
          <p:nvPr/>
        </p:nvSpPr>
        <p:spPr bwMode="auto">
          <a:xfrm>
            <a:off x="9286920" y="4335480"/>
            <a:ext cx="3833280" cy="1872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683153313" name="Text 15"/>
          <p:cNvSpPr/>
          <p:nvPr/>
        </p:nvSpPr>
        <p:spPr bwMode="auto">
          <a:xfrm>
            <a:off x="9286920" y="4621320"/>
            <a:ext cx="39484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03 · STRANDED</a:t>
            </a:r>
            <a:endParaRPr lang="en-US" sz="1800" b="0" u="none" strike="noStrike">
              <a:solidFill>
                <a:srgbClr val="000000"/>
              </a:solidFill>
              <a:latin typeface="Arial"/>
            </a:endParaRPr>
          </a:p>
        </p:txBody>
      </p:sp>
      <p:pic>
        <p:nvPicPr>
          <p:cNvPr id="2037471028" name="Image 2" descr="preencoded.png"/>
          <p:cNvPicPr/>
          <p:nvPr/>
        </p:nvPicPr>
        <p:blipFill rotWithShape="1">
          <a:blip r:embed="rId5"/>
          <a:stretch/>
        </p:blipFill>
        <p:spPr bwMode="auto">
          <a:xfrm>
            <a:off x="9286920" y="5078520"/>
            <a:ext cx="3833280" cy="1142640"/>
          </a:xfrm>
          <a:prstGeom prst="rect">
            <a:avLst/>
          </a:prstGeom>
          <a:noFill/>
          <a:ln w="0">
            <a:noFill/>
          </a:ln>
        </p:spPr>
      </p:pic>
      <p:sp>
        <p:nvSpPr>
          <p:cNvPr id="295901205" name="Text 16"/>
          <p:cNvSpPr/>
          <p:nvPr/>
        </p:nvSpPr>
        <p:spPr bwMode="auto">
          <a:xfrm>
            <a:off x="9286920" y="6411960"/>
            <a:ext cx="3948480" cy="8377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05000"/>
              </a:lnSpc>
              <a:tabLst>
                <a:tab pos="0" algn="l"/>
              </a:tabLst>
              <a:defRPr/>
            </a:pPr>
            <a:r>
              <a:rPr lang="en-US" sz="3000" b="0" u="none" strike="noStrike" spc="-31">
                <a:solidFill>
                  <a:srgbClr val="1F2A24"/>
                </a:solidFill>
                <a:latin typeface="Georgia"/>
                <a:ea typeface="Georgia"/>
              </a:rPr>
              <a:t>The old school building just sits there.</a:t>
            </a:r>
            <a:endParaRPr lang="en-US" sz="3000" b="0" u="none" strike="noStrike">
              <a:solidFill>
                <a:srgbClr val="000000"/>
              </a:solidFill>
              <a:latin typeface="Arial"/>
            </a:endParaRPr>
          </a:p>
        </p:txBody>
      </p:sp>
      <p:sp>
        <p:nvSpPr>
          <p:cNvPr id="1038559668" name="Text 17"/>
          <p:cNvSpPr/>
          <p:nvPr/>
        </p:nvSpPr>
        <p:spPr bwMode="auto">
          <a:xfrm>
            <a:off x="9286920" y="7249680"/>
            <a:ext cx="3948480" cy="13636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Vacant school buildings cost shrinking municipalities money to maintain. Productive reuse turns them into community anchors.</a:t>
            </a:r>
            <a:endParaRPr lang="en-US" sz="1800" b="0" u="none" strike="noStrike">
              <a:solidFill>
                <a:srgbClr val="000000"/>
              </a:solidFill>
              <a:latin typeface="Arial"/>
            </a:endParaRPr>
          </a:p>
        </p:txBody>
      </p:sp>
      <p:sp>
        <p:nvSpPr>
          <p:cNvPr id="148955493" name="Shape 18"/>
          <p:cNvSpPr/>
          <p:nvPr/>
        </p:nvSpPr>
        <p:spPr bwMode="auto">
          <a:xfrm>
            <a:off x="13406400" y="4335480"/>
            <a:ext cx="3833280" cy="1872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319473548" name="Text 19"/>
          <p:cNvSpPr/>
          <p:nvPr/>
        </p:nvSpPr>
        <p:spPr bwMode="auto">
          <a:xfrm>
            <a:off x="13406400" y="4621320"/>
            <a:ext cx="39484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04 · DIGITAL</a:t>
            </a:r>
            <a:endParaRPr lang="en-US" sz="1800" b="0" u="none" strike="noStrike">
              <a:solidFill>
                <a:srgbClr val="000000"/>
              </a:solidFill>
              <a:latin typeface="Arial"/>
            </a:endParaRPr>
          </a:p>
        </p:txBody>
      </p:sp>
      <p:pic>
        <p:nvPicPr>
          <p:cNvPr id="45752210" name="Image 3" descr="preencoded.png"/>
          <p:cNvPicPr/>
          <p:nvPr/>
        </p:nvPicPr>
        <p:blipFill rotWithShape="1">
          <a:blip r:embed="rId6"/>
          <a:stretch/>
        </p:blipFill>
        <p:spPr bwMode="auto">
          <a:xfrm>
            <a:off x="13406400" y="5078520"/>
            <a:ext cx="3833280" cy="1142640"/>
          </a:xfrm>
          <a:prstGeom prst="rect">
            <a:avLst/>
          </a:prstGeom>
          <a:noFill/>
          <a:ln w="0">
            <a:noFill/>
          </a:ln>
        </p:spPr>
      </p:pic>
      <p:sp>
        <p:nvSpPr>
          <p:cNvPr id="98478015" name="Text 20"/>
          <p:cNvSpPr/>
          <p:nvPr/>
        </p:nvSpPr>
        <p:spPr bwMode="auto">
          <a:xfrm>
            <a:off x="13406400" y="6411960"/>
            <a:ext cx="3948480" cy="4377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5000"/>
              </a:lnSpc>
              <a:tabLst>
                <a:tab pos="0" algn="l"/>
              </a:tabLst>
              <a:defRPr/>
            </a:pPr>
            <a:r>
              <a:rPr lang="en-US" sz="3000" b="0" u="none" strike="noStrike" spc="-31">
                <a:solidFill>
                  <a:srgbClr val="1F2A24"/>
                </a:solidFill>
                <a:latin typeface="Georgia"/>
                <a:ea typeface="Georgia"/>
              </a:rPr>
              <a:t>Rural compute is thin.</a:t>
            </a:r>
            <a:endParaRPr lang="en-US" sz="3000" b="0" u="none" strike="noStrike">
              <a:solidFill>
                <a:srgbClr val="000000"/>
              </a:solidFill>
              <a:latin typeface="Arial"/>
            </a:endParaRPr>
          </a:p>
        </p:txBody>
      </p:sp>
      <p:sp>
        <p:nvSpPr>
          <p:cNvPr id="130805695" name="Text 21"/>
          <p:cNvSpPr/>
          <p:nvPr/>
        </p:nvSpPr>
        <p:spPr bwMode="auto">
          <a:xfrm>
            <a:off x="13425120" y="7251120"/>
            <a:ext cx="3948480" cy="13636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Broadband and edge-compute capacity lag urban Japan. A small data center closes both gaps at once, on local power.</a:t>
            </a:r>
            <a:endParaRPr lang="en-US" sz="1800" b="0" u="none" strike="noStrike">
              <a:solidFill>
                <a:srgbClr val="000000"/>
              </a:solidFill>
              <a:latin typeface="Arial"/>
            </a:endParaRPr>
          </a:p>
        </p:txBody>
      </p:sp>
      <p:sp>
        <p:nvSpPr>
          <p:cNvPr id="759052807" name="Text 22"/>
          <p:cNvSpPr/>
          <p:nvPr/>
        </p:nvSpPr>
        <p:spPr bwMode="auto">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03 / 11</a:t>
            </a:r>
            <a:endParaRPr lang="en-US" sz="1800" b="0" u="none" strike="noStrike">
              <a:solidFill>
                <a:srgbClr val="000000"/>
              </a:solidFill>
              <a:latin typeface="Arial"/>
            </a:endParaRPr>
          </a:p>
        </p:txBody>
      </p:sp>
      <p:sp>
        <p:nvSpPr>
          <p:cNvPr id="1445138090" name="Text 23"/>
          <p:cNvSpPr/>
          <p:nvPr/>
        </p:nvSpPr>
        <p:spPr bwMode="auto">
          <a:xfrm>
            <a:off x="10411200" y="9258480"/>
            <a:ext cx="70336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INDIVIDUALLY EXPENSIVE · JOINTLY ADDRESSABLE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1724652372" name="Shape 0"/>
          <p:cNvSpPr/>
          <p:nvPr/>
        </p:nvSpPr>
        <p:spPr bwMode="auto">
          <a:xfrm>
            <a:off x="1047600" y="762120"/>
            <a:ext cx="456840" cy="45684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064070862"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2085293507"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283427900" name="Text 3"/>
          <p:cNvSpPr/>
          <p:nvPr/>
        </p:nvSpPr>
        <p:spPr bwMode="auto">
          <a:xfrm>
            <a:off x="14918040" y="762120"/>
            <a:ext cx="23979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03 · THE IDEA</a:t>
            </a:r>
            <a:endParaRPr lang="en-US" sz="1800" b="0" u="none" strike="noStrike">
              <a:solidFill>
                <a:srgbClr val="FFFFFF"/>
              </a:solidFill>
              <a:latin typeface="Arial"/>
            </a:endParaRPr>
          </a:p>
        </p:txBody>
      </p:sp>
      <p:sp>
        <p:nvSpPr>
          <p:cNvPr id="1354405650" name="Text 4"/>
          <p:cNvSpPr/>
          <p:nvPr/>
        </p:nvSpPr>
        <p:spPr bwMode="auto">
          <a:xfrm>
            <a:off x="1047600" y="1219320"/>
            <a:ext cx="16678079"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THREE ACTIVITIES · ONE COORDINATING BODY</a:t>
            </a:r>
            <a:endParaRPr lang="en-US" sz="1800" b="0" u="none" strike="noStrike">
              <a:solidFill>
                <a:srgbClr val="FFFFFF"/>
              </a:solidFill>
              <a:latin typeface="Arial"/>
            </a:endParaRPr>
          </a:p>
        </p:txBody>
      </p:sp>
      <p:sp>
        <p:nvSpPr>
          <p:cNvPr id="1170628458" name="Text 5"/>
          <p:cNvSpPr/>
          <p:nvPr/>
        </p:nvSpPr>
        <p:spPr bwMode="auto">
          <a:xfrm>
            <a:off x="1047600" y="1790640"/>
            <a:ext cx="16678079" cy="367632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5000"/>
              </a:lnSpc>
              <a:tabLst>
                <a:tab pos="0" algn="l"/>
              </a:tabLst>
              <a:defRPr/>
            </a:pPr>
            <a:r>
              <a:rPr lang="en-US" sz="15000" b="0" u="none" strike="noStrike" spc="-150">
                <a:solidFill>
                  <a:srgbClr val="F3ECE0"/>
                </a:solidFill>
                <a:latin typeface="Georgia"/>
                <a:ea typeface="Georgia"/>
              </a:rPr>
              <a:t>Forest. Power. Compute. </a:t>
            </a:r>
            <a:r>
              <a:rPr lang="en-US" sz="15000" b="0" i="1" u="none" strike="noStrike" spc="-150">
                <a:solidFill>
                  <a:srgbClr val="F3B486"/>
                </a:solidFill>
                <a:latin typeface="Georgia"/>
                <a:ea typeface="Georgia"/>
              </a:rPr>
              <a:t>One ledger.</a:t>
            </a:r>
            <a:endParaRPr lang="en-US" sz="15000" b="0" u="none" strike="noStrike">
              <a:solidFill>
                <a:srgbClr val="FFFFFF"/>
              </a:solidFill>
              <a:latin typeface="Arial"/>
            </a:endParaRPr>
          </a:p>
        </p:txBody>
      </p:sp>
      <p:sp>
        <p:nvSpPr>
          <p:cNvPr id="24606575" name="Text 6"/>
          <p:cNvSpPr/>
          <p:nvPr/>
        </p:nvSpPr>
        <p:spPr bwMode="auto">
          <a:xfrm>
            <a:off x="1047600" y="5829480"/>
            <a:ext cx="16678079" cy="542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700" b="0" u="none" strike="noStrike">
                <a:solidFill>
                  <a:srgbClr val="F3ECE0">
                    <a:alpha val="57000"/>
                  </a:srgbClr>
                </a:solidFill>
                <a:latin typeface="Noto Serif JP"/>
                <a:ea typeface="Noto Serif JP"/>
              </a:rPr>
              <a:t>森林再生・分散型再生可能エネルギー・地域所有のデータセンター — 一つの台帳で。</a:t>
            </a:r>
            <a:endParaRPr lang="en-US" sz="2700" b="0" u="none" strike="noStrike">
              <a:solidFill>
                <a:srgbClr val="FFFFFF"/>
              </a:solidFill>
              <a:latin typeface="Arial"/>
            </a:endParaRPr>
          </a:p>
        </p:txBody>
      </p:sp>
      <p:sp>
        <p:nvSpPr>
          <p:cNvPr id="1025959070" name="Text 7"/>
          <p:cNvSpPr/>
          <p:nvPr/>
        </p:nvSpPr>
        <p:spPr bwMode="auto">
          <a:xfrm>
            <a:off x="1047600" y="7095960"/>
            <a:ext cx="51667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a:t>
            </a:r>
            <a:endParaRPr lang="en-US" sz="1800" b="0" u="none" strike="noStrike">
              <a:solidFill>
                <a:srgbClr val="FFFFFF"/>
              </a:solidFill>
              <a:latin typeface="Arial"/>
            </a:endParaRPr>
          </a:p>
        </p:txBody>
      </p:sp>
      <p:sp>
        <p:nvSpPr>
          <p:cNvPr id="527234994" name="Text 8"/>
          <p:cNvSpPr/>
          <p:nvPr/>
        </p:nvSpPr>
        <p:spPr bwMode="auto">
          <a:xfrm>
            <a:off x="1047600" y="7439039"/>
            <a:ext cx="5166720" cy="6472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0000"/>
              </a:lnSpc>
              <a:tabLst>
                <a:tab pos="0" algn="l"/>
              </a:tabLst>
              <a:defRPr/>
            </a:pPr>
            <a:r>
              <a:rPr lang="en-US" sz="4800" b="0" u="none" strike="noStrike" spc="-47">
                <a:solidFill>
                  <a:srgbClr val="F3ECE0"/>
                </a:solidFill>
                <a:latin typeface="Georgia"/>
                <a:ea typeface="Georgia"/>
              </a:rPr>
              <a:t>Forest restoration</a:t>
            </a:r>
            <a:endParaRPr lang="en-US" sz="4800" b="0" u="none" strike="noStrike">
              <a:solidFill>
                <a:srgbClr val="FFFFFF"/>
              </a:solidFill>
              <a:latin typeface="Arial"/>
            </a:endParaRPr>
          </a:p>
        </p:txBody>
      </p:sp>
      <p:sp>
        <p:nvSpPr>
          <p:cNvPr id="757898829" name="Text 9"/>
          <p:cNvSpPr/>
          <p:nvPr/>
        </p:nvSpPr>
        <p:spPr bwMode="auto">
          <a:xfrm>
            <a:off x="1047600" y="8182080"/>
            <a:ext cx="5166720" cy="7005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F3ECE0">
                    <a:alpha val="85000"/>
                  </a:srgbClr>
                </a:solidFill>
                <a:latin typeface="Arial"/>
                <a:ea typeface="Arial"/>
              </a:rPr>
              <a:t>Aged cedar → native broadleaf, on the ecological clock.</a:t>
            </a:r>
            <a:endParaRPr lang="en-US" sz="1800" b="0" u="none" strike="noStrike">
              <a:solidFill>
                <a:srgbClr val="FFFFFF"/>
              </a:solidFill>
              <a:latin typeface="Arial"/>
            </a:endParaRPr>
          </a:p>
        </p:txBody>
      </p:sp>
      <p:sp>
        <p:nvSpPr>
          <p:cNvPr id="1981896638" name="Text 10"/>
          <p:cNvSpPr/>
          <p:nvPr/>
        </p:nvSpPr>
        <p:spPr bwMode="auto">
          <a:xfrm>
            <a:off x="6635880" y="7095960"/>
            <a:ext cx="51667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a:t>
            </a:r>
            <a:endParaRPr lang="en-US" sz="1800" b="0" u="none" strike="noStrike">
              <a:solidFill>
                <a:srgbClr val="FFFFFF"/>
              </a:solidFill>
              <a:latin typeface="Arial"/>
            </a:endParaRPr>
          </a:p>
        </p:txBody>
      </p:sp>
      <p:sp>
        <p:nvSpPr>
          <p:cNvPr id="1091885830" name="Text 11"/>
          <p:cNvSpPr/>
          <p:nvPr/>
        </p:nvSpPr>
        <p:spPr bwMode="auto">
          <a:xfrm>
            <a:off x="6635880" y="7439039"/>
            <a:ext cx="5166720" cy="6472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0000"/>
              </a:lnSpc>
              <a:tabLst>
                <a:tab pos="0" algn="l"/>
              </a:tabLst>
              <a:defRPr/>
            </a:pPr>
            <a:r>
              <a:rPr lang="en-US" sz="4800" b="0" u="none" strike="noStrike" spc="-47">
                <a:solidFill>
                  <a:srgbClr val="F3ECE0"/>
                </a:solidFill>
                <a:latin typeface="Georgia"/>
                <a:ea typeface="Georgia"/>
              </a:rPr>
              <a:t>Local energy + EV</a:t>
            </a:r>
            <a:endParaRPr lang="en-US" sz="4800" b="0" u="none" strike="noStrike">
              <a:solidFill>
                <a:srgbClr val="FFFFFF"/>
              </a:solidFill>
              <a:latin typeface="Arial"/>
            </a:endParaRPr>
          </a:p>
        </p:txBody>
      </p:sp>
      <p:sp>
        <p:nvSpPr>
          <p:cNvPr id="1067953715" name="Text 12"/>
          <p:cNvSpPr/>
          <p:nvPr/>
        </p:nvSpPr>
        <p:spPr bwMode="auto">
          <a:xfrm>
            <a:off x="6635880" y="8182080"/>
            <a:ext cx="5166720" cy="10321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1800" b="0" u="none" strike="noStrike">
                <a:solidFill>
                  <a:srgbClr val="F3ECE0">
                    <a:alpha val="85000"/>
                  </a:srgbClr>
                </a:solidFill>
                <a:latin typeface="Arial"/>
                <a:ea typeface="Arial"/>
              </a:rPr>
              <a:t>Sugi biomass (the trees we remove) + solar + storage. EV chargers and blackout resilience built in.</a:t>
            </a:r>
            <a:endParaRPr lang="en-US" sz="1800" b="0" u="none" strike="noStrike">
              <a:solidFill>
                <a:srgbClr val="FFFFFF"/>
              </a:solidFill>
              <a:latin typeface="Arial"/>
            </a:endParaRPr>
          </a:p>
        </p:txBody>
      </p:sp>
      <p:sp>
        <p:nvSpPr>
          <p:cNvPr id="335631021" name="Text 13"/>
          <p:cNvSpPr/>
          <p:nvPr/>
        </p:nvSpPr>
        <p:spPr bwMode="auto">
          <a:xfrm>
            <a:off x="12223800" y="7095960"/>
            <a:ext cx="51667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III</a:t>
            </a:r>
            <a:endParaRPr lang="en-US" sz="1800" b="0" u="none" strike="noStrike">
              <a:solidFill>
                <a:srgbClr val="FFFFFF"/>
              </a:solidFill>
              <a:latin typeface="Arial"/>
            </a:endParaRPr>
          </a:p>
        </p:txBody>
      </p:sp>
      <p:sp>
        <p:nvSpPr>
          <p:cNvPr id="445537142" name="Text 14"/>
          <p:cNvSpPr/>
          <p:nvPr/>
        </p:nvSpPr>
        <p:spPr bwMode="auto">
          <a:xfrm>
            <a:off x="12223800" y="7439039"/>
            <a:ext cx="5166720" cy="6472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0000"/>
              </a:lnSpc>
              <a:tabLst>
                <a:tab pos="0" algn="l"/>
              </a:tabLst>
              <a:defRPr/>
            </a:pPr>
            <a:r>
              <a:rPr lang="en-US" sz="4800" b="0" u="none" strike="noStrike" spc="-47">
                <a:solidFill>
                  <a:srgbClr val="F3ECE0"/>
                </a:solidFill>
                <a:latin typeface="Georgia"/>
                <a:ea typeface="Georgia"/>
              </a:rPr>
              <a:t>Edge data center</a:t>
            </a:r>
            <a:endParaRPr lang="en-US" sz="4800" b="0" u="none" strike="noStrike">
              <a:solidFill>
                <a:srgbClr val="FFFFFF"/>
              </a:solidFill>
              <a:latin typeface="Arial"/>
            </a:endParaRPr>
          </a:p>
        </p:txBody>
      </p:sp>
      <p:sp>
        <p:nvSpPr>
          <p:cNvPr id="989548254" name="Text 15"/>
          <p:cNvSpPr/>
          <p:nvPr/>
        </p:nvSpPr>
        <p:spPr bwMode="auto">
          <a:xfrm>
            <a:off x="12223800" y="8182080"/>
            <a:ext cx="5166720" cy="7005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F3ECE0">
                    <a:alpha val="85000"/>
                  </a:srgbClr>
                </a:solidFill>
                <a:latin typeface="Arial"/>
                <a:ea typeface="Arial"/>
              </a:rPr>
              <a:t>Vacant school building, repurposed. Small enough that the village owns it.</a:t>
            </a:r>
            <a:endParaRPr lang="en-US" sz="1800" b="0" u="none" strike="noStrike">
              <a:solidFill>
                <a:srgbClr val="FFFFFF"/>
              </a:solidFill>
              <a:latin typeface="Arial"/>
            </a:endParaRPr>
          </a:p>
        </p:txBody>
      </p:sp>
      <p:sp>
        <p:nvSpPr>
          <p:cNvPr id="1981578622" name="Text 16"/>
          <p:cNvSpPr/>
          <p:nvPr/>
        </p:nvSpPr>
        <p:spPr bwMode="auto">
          <a:xfrm>
            <a:off x="1047600" y="940500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04 / 11</a:t>
            </a:r>
            <a:endParaRPr lang="en-US" sz="1800" b="0" u="none" strike="noStrike">
              <a:solidFill>
                <a:srgbClr val="FFFFFF"/>
              </a:solidFill>
              <a:latin typeface="Arial"/>
            </a:endParaRPr>
          </a:p>
        </p:txBody>
      </p:sp>
      <p:sp>
        <p:nvSpPr>
          <p:cNvPr id="487278714" name="Text 17"/>
          <p:cNvSpPr/>
          <p:nvPr/>
        </p:nvSpPr>
        <p:spPr bwMode="auto">
          <a:xfrm>
            <a:off x="7458120" y="9405000"/>
            <a:ext cx="100749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EACH REINFORCES THE OTHER. MODEST IN SCALE, PATIENT IN HORIZON.</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996604258" name="Shape 0"/>
          <p:cNvSpPr/>
          <p:nvPr/>
        </p:nvSpPr>
        <p:spPr bwMode="auto">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583458317"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42572362"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69447864" name="Text 3"/>
          <p:cNvSpPr/>
          <p:nvPr/>
        </p:nvSpPr>
        <p:spPr bwMode="auto">
          <a:xfrm>
            <a:off x="12376800" y="762120"/>
            <a:ext cx="5009039"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 · FOREST RESTORATION · </a:t>
            </a:r>
            <a:r>
              <a:rPr lang="zh-CN" sz="1800" b="0" u="none" strike="noStrike" spc="145">
                <a:solidFill>
                  <a:srgbClr val="4C554F"/>
                </a:solidFill>
                <a:latin typeface="Courier New"/>
                <a:ea typeface="Courier New"/>
              </a:rPr>
              <a:t>森林再生</a:t>
            </a:r>
            <a:endParaRPr lang="en-US" sz="1800" b="0" u="none" strike="noStrike">
              <a:solidFill>
                <a:srgbClr val="000000"/>
              </a:solidFill>
              <a:latin typeface="Arial"/>
            </a:endParaRPr>
          </a:p>
        </p:txBody>
      </p:sp>
      <p:sp>
        <p:nvSpPr>
          <p:cNvPr id="1652196314" name="Text 4"/>
          <p:cNvSpPr/>
          <p:nvPr/>
        </p:nvSpPr>
        <p:spPr bwMode="auto">
          <a:xfrm>
            <a:off x="1047600" y="1695600"/>
            <a:ext cx="8324640" cy="2511360"/>
          </a:xfrm>
          <a:prstGeom prst="rect">
            <a:avLst/>
          </a:prstGeom>
          <a:noFill/>
          <a:ln w="0">
            <a:noFill/>
          </a:ln>
        </p:spPr>
        <p:style>
          <a:lnRef idx="0"/>
          <a:fillRef idx="0"/>
          <a:effectRef idx="0"/>
          <a:fontRef idx="minor"/>
        </p:style>
        <p:txBody>
          <a:bodyPr lIns="25560" tIns="25560" rIns="25560" bIns="25560" anchor="t">
            <a:normAutofit/>
          </a:bodyPr>
          <a:p>
            <a:pPr defTabSz="914400">
              <a:lnSpc>
                <a:spcPct val="97000"/>
              </a:lnSpc>
              <a:tabLst>
                <a:tab pos="0" algn="l"/>
              </a:tabLst>
              <a:defRPr/>
            </a:pPr>
            <a:r>
              <a:rPr lang="en-US" sz="6600" b="0" u="none" strike="noStrike" spc="-65">
                <a:solidFill>
                  <a:srgbClr val="1F2A24"/>
                </a:solidFill>
                <a:latin typeface="Georgia"/>
                <a:ea typeface="Georgia"/>
              </a:rPr>
              <a:t>We feed the bears, so the bears </a:t>
            </a:r>
            <a:r>
              <a:rPr lang="en-US" sz="6600" b="0" i="1" u="none" strike="noStrike" spc="-65">
                <a:solidFill>
                  <a:srgbClr val="C4663A"/>
                </a:solidFill>
                <a:latin typeface="Georgia"/>
                <a:ea typeface="Georgia"/>
              </a:rPr>
              <a:t>stop visiting.</a:t>
            </a:r>
            <a:endParaRPr lang="en-US" sz="6600" b="0" u="none" strike="noStrike">
              <a:solidFill>
                <a:srgbClr val="000000"/>
              </a:solidFill>
              <a:latin typeface="Arial"/>
            </a:endParaRPr>
          </a:p>
        </p:txBody>
      </p:sp>
      <p:sp>
        <p:nvSpPr>
          <p:cNvPr id="1018434792" name="Text 5"/>
          <p:cNvSpPr/>
          <p:nvPr/>
        </p:nvSpPr>
        <p:spPr bwMode="auto">
          <a:xfrm>
            <a:off x="1047600" y="4340520"/>
            <a:ext cx="8324640" cy="15847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Phased replacement of aged sugi (cedar) plantations with native broadleaf — oak, chestnut, konara. Done with local landowners and the Forestry Agency. The 25-year arc is the ecological clock, not the funding cycle.</a:t>
            </a:r>
            <a:endParaRPr lang="en-US" sz="2100" b="0" u="none" strike="noStrike">
              <a:solidFill>
                <a:srgbClr val="000000"/>
              </a:solidFill>
              <a:latin typeface="Arial"/>
            </a:endParaRPr>
          </a:p>
        </p:txBody>
      </p:sp>
      <p:sp>
        <p:nvSpPr>
          <p:cNvPr id="1796616911" name="Text 6"/>
          <p:cNvSpPr/>
          <p:nvPr/>
        </p:nvSpPr>
        <p:spPr bwMode="auto">
          <a:xfrm>
            <a:off x="1047600" y="6154200"/>
            <a:ext cx="8324640" cy="81108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The sugi we remove doesn't go to waste — it becomes the village's primary biomass fuel. The forest pays for its own restoration.</a:t>
            </a:r>
            <a:endParaRPr lang="en-US" sz="2100" b="0" u="none" strike="noStrike">
              <a:solidFill>
                <a:srgbClr val="000000"/>
              </a:solidFill>
              <a:latin typeface="Arial"/>
            </a:endParaRPr>
          </a:p>
        </p:txBody>
      </p:sp>
      <p:sp>
        <p:nvSpPr>
          <p:cNvPr id="2066694293" name="Text 7"/>
          <p:cNvSpPr/>
          <p:nvPr/>
        </p:nvSpPr>
        <p:spPr bwMode="auto">
          <a:xfrm>
            <a:off x="1047600" y="7194240"/>
            <a:ext cx="8324640" cy="11977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Broadleaf trees produce acorns and nuts that sustain deer, wild boar, and bear through winter. When the forest feeds them, they stay there — and out of the village vegetable patch.</a:t>
            </a:r>
            <a:endParaRPr lang="en-US" sz="2100" b="0" u="none" strike="noStrike">
              <a:solidFill>
                <a:srgbClr val="000000"/>
              </a:solidFill>
              <a:latin typeface="Arial"/>
            </a:endParaRPr>
          </a:p>
        </p:txBody>
      </p:sp>
      <p:sp>
        <p:nvSpPr>
          <p:cNvPr id="61556023" name="Text 9"/>
          <p:cNvSpPr/>
          <p:nvPr/>
        </p:nvSpPr>
        <p:spPr bwMode="auto">
          <a:xfrm>
            <a:off x="1047600" y="8458200"/>
            <a:ext cx="2579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POLLEN</a:t>
            </a:r>
            <a:endParaRPr lang="en-US" sz="1800" b="0" u="none" strike="noStrike">
              <a:solidFill>
                <a:srgbClr val="000000"/>
              </a:solidFill>
              <a:latin typeface="Arial"/>
            </a:endParaRPr>
          </a:p>
        </p:txBody>
      </p:sp>
      <p:sp>
        <p:nvSpPr>
          <p:cNvPr id="937213576" name="Text 10"/>
          <p:cNvSpPr/>
          <p:nvPr/>
        </p:nvSpPr>
        <p:spPr bwMode="auto">
          <a:xfrm>
            <a:off x="1047600" y="8724960"/>
            <a:ext cx="2579400" cy="504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750" b="0" u="none" strike="noStrike" spc="-37">
                <a:solidFill>
                  <a:srgbClr val="1F2A24"/>
                </a:solidFill>
                <a:latin typeface="Georgia"/>
                <a:ea typeface="Georgia"/>
              </a:rPr>
              <a:t>↓ down</a:t>
            </a:r>
            <a:endParaRPr lang="en-US" sz="3750" b="0" u="none" strike="noStrike">
              <a:solidFill>
                <a:srgbClr val="000000"/>
              </a:solidFill>
              <a:latin typeface="Arial"/>
            </a:endParaRPr>
          </a:p>
        </p:txBody>
      </p:sp>
      <p:sp>
        <p:nvSpPr>
          <p:cNvPr id="184679674" name="Text 11"/>
          <p:cNvSpPr/>
          <p:nvPr/>
        </p:nvSpPr>
        <p:spPr bwMode="auto">
          <a:xfrm>
            <a:off x="3837240" y="8458200"/>
            <a:ext cx="2579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LANDSLIDE RISK</a:t>
            </a:r>
            <a:endParaRPr lang="en-US" sz="1800" b="0" u="none" strike="noStrike">
              <a:solidFill>
                <a:srgbClr val="000000"/>
              </a:solidFill>
              <a:latin typeface="Arial"/>
            </a:endParaRPr>
          </a:p>
        </p:txBody>
      </p:sp>
      <p:sp>
        <p:nvSpPr>
          <p:cNvPr id="2092827029" name="Text 12"/>
          <p:cNvSpPr/>
          <p:nvPr/>
        </p:nvSpPr>
        <p:spPr bwMode="auto">
          <a:xfrm>
            <a:off x="3837240" y="8724960"/>
            <a:ext cx="2579400" cy="504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750" b="0" u="none" strike="noStrike" spc="-37">
                <a:solidFill>
                  <a:srgbClr val="1F2A24"/>
                </a:solidFill>
                <a:latin typeface="Georgia"/>
                <a:ea typeface="Georgia"/>
              </a:rPr>
              <a:t>↓ down</a:t>
            </a:r>
            <a:endParaRPr lang="en-US" sz="3750" b="0" u="none" strike="noStrike">
              <a:solidFill>
                <a:srgbClr val="000000"/>
              </a:solidFill>
              <a:latin typeface="Arial"/>
            </a:endParaRPr>
          </a:p>
        </p:txBody>
      </p:sp>
      <p:sp>
        <p:nvSpPr>
          <p:cNvPr id="1210153220" name="Text 13"/>
          <p:cNvSpPr/>
          <p:nvPr/>
        </p:nvSpPr>
        <p:spPr bwMode="auto">
          <a:xfrm>
            <a:off x="6626520" y="8458200"/>
            <a:ext cx="2579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NATIVE CANOPY</a:t>
            </a:r>
            <a:endParaRPr lang="en-US" sz="1800" b="0" u="none" strike="noStrike">
              <a:solidFill>
                <a:srgbClr val="000000"/>
              </a:solidFill>
              <a:latin typeface="Arial"/>
            </a:endParaRPr>
          </a:p>
        </p:txBody>
      </p:sp>
      <p:sp>
        <p:nvSpPr>
          <p:cNvPr id="1197515461" name="Text 14"/>
          <p:cNvSpPr/>
          <p:nvPr/>
        </p:nvSpPr>
        <p:spPr bwMode="auto">
          <a:xfrm>
            <a:off x="6626520" y="8724960"/>
            <a:ext cx="2579400" cy="504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750" b="0" u="none" strike="noStrike" spc="-37">
                <a:solidFill>
                  <a:srgbClr val="1F2A24"/>
                </a:solidFill>
                <a:latin typeface="Georgia"/>
                <a:ea typeface="Georgia"/>
              </a:rPr>
              <a:t>↑ up</a:t>
            </a:r>
            <a:endParaRPr lang="en-US" sz="3750" b="0" u="none" strike="noStrike">
              <a:solidFill>
                <a:srgbClr val="000000"/>
              </a:solidFill>
              <a:latin typeface="Arial"/>
            </a:endParaRPr>
          </a:p>
        </p:txBody>
      </p:sp>
      <p:sp>
        <p:nvSpPr>
          <p:cNvPr id="1865253196" name="Shape 15"/>
          <p:cNvSpPr/>
          <p:nvPr/>
        </p:nvSpPr>
        <p:spPr bwMode="auto">
          <a:xfrm>
            <a:off x="9892440" y="1695600"/>
            <a:ext cx="7347600" cy="33336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912302096" name="Text 16"/>
          <p:cNvSpPr/>
          <p:nvPr/>
        </p:nvSpPr>
        <p:spPr bwMode="auto">
          <a:xfrm>
            <a:off x="10168560" y="1971720"/>
            <a:ext cx="699912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BEFORE · </a:t>
            </a:r>
            <a:r>
              <a:rPr lang="zh-CN" sz="1800" b="0" u="none" strike="noStrike" spc="215">
                <a:solidFill>
                  <a:srgbClr val="4C554F"/>
                </a:solidFill>
                <a:latin typeface="Courier New"/>
                <a:ea typeface="Courier New"/>
              </a:rPr>
              <a:t>杉人工林</a:t>
            </a:r>
            <a:endParaRPr lang="en-US" sz="1800" b="0" u="none" strike="noStrike">
              <a:solidFill>
                <a:srgbClr val="000000"/>
              </a:solidFill>
              <a:latin typeface="Arial"/>
            </a:endParaRPr>
          </a:p>
        </p:txBody>
      </p:sp>
      <p:pic>
        <p:nvPicPr>
          <p:cNvPr id="1322392242" name="Image 0" descr="preencoded.png"/>
          <p:cNvPicPr/>
          <p:nvPr/>
        </p:nvPicPr>
        <p:blipFill rotWithShape="1">
          <a:blip r:embed="rId3"/>
          <a:stretch/>
        </p:blipFill>
        <p:spPr bwMode="auto">
          <a:xfrm>
            <a:off x="10168560" y="2486160"/>
            <a:ext cx="6795000" cy="1523520"/>
          </a:xfrm>
          <a:prstGeom prst="rect">
            <a:avLst/>
          </a:prstGeom>
          <a:noFill/>
          <a:ln w="0">
            <a:noFill/>
          </a:ln>
        </p:spPr>
      </p:pic>
      <p:sp>
        <p:nvSpPr>
          <p:cNvPr id="2063062004" name="Text 17"/>
          <p:cNvSpPr/>
          <p:nvPr/>
        </p:nvSpPr>
        <p:spPr bwMode="auto">
          <a:xfrm>
            <a:off x="10168560" y="4048200"/>
            <a:ext cx="6999120" cy="369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Monoculture. Pollen. Quiet ground.</a:t>
            </a:r>
            <a:endParaRPr lang="en-US" sz="1800" b="0" u="none" strike="noStrike">
              <a:solidFill>
                <a:srgbClr val="000000"/>
              </a:solidFill>
              <a:latin typeface="Arial"/>
            </a:endParaRPr>
          </a:p>
        </p:txBody>
      </p:sp>
      <p:sp>
        <p:nvSpPr>
          <p:cNvPr id="889130429" name="Shape 18"/>
          <p:cNvSpPr/>
          <p:nvPr/>
        </p:nvSpPr>
        <p:spPr bwMode="auto">
          <a:xfrm>
            <a:off x="9892440" y="5729760"/>
            <a:ext cx="7347600" cy="318564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590635198" name="Text 19"/>
          <p:cNvSpPr/>
          <p:nvPr/>
        </p:nvSpPr>
        <p:spPr bwMode="auto">
          <a:xfrm>
            <a:off x="10168560" y="6005880"/>
            <a:ext cx="699912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AFTER · </a:t>
            </a:r>
            <a:r>
              <a:rPr lang="zh-CN" sz="1800" b="0" u="none" strike="noStrike" spc="215">
                <a:solidFill>
                  <a:srgbClr val="4C554F"/>
                </a:solidFill>
                <a:latin typeface="Courier New"/>
                <a:ea typeface="Courier New"/>
              </a:rPr>
              <a:t>在来広葉樹</a:t>
            </a:r>
            <a:endParaRPr lang="en-US" sz="1800" b="0" u="none" strike="noStrike">
              <a:solidFill>
                <a:srgbClr val="000000"/>
              </a:solidFill>
              <a:latin typeface="Arial"/>
            </a:endParaRPr>
          </a:p>
        </p:txBody>
      </p:sp>
      <p:pic>
        <p:nvPicPr>
          <p:cNvPr id="1363452265" name="Image 1" descr="preencoded.png"/>
          <p:cNvPicPr/>
          <p:nvPr/>
        </p:nvPicPr>
        <p:blipFill rotWithShape="1">
          <a:blip r:embed="rId4"/>
          <a:stretch/>
        </p:blipFill>
        <p:spPr bwMode="auto">
          <a:xfrm>
            <a:off x="10168560" y="6520320"/>
            <a:ext cx="6795000" cy="1523520"/>
          </a:xfrm>
          <a:prstGeom prst="rect">
            <a:avLst/>
          </a:prstGeom>
          <a:noFill/>
          <a:ln w="0">
            <a:noFill/>
          </a:ln>
        </p:spPr>
      </p:pic>
      <p:sp>
        <p:nvSpPr>
          <p:cNvPr id="538150342" name="Text 20"/>
          <p:cNvSpPr/>
          <p:nvPr/>
        </p:nvSpPr>
        <p:spPr bwMode="auto">
          <a:xfrm>
            <a:off x="10168560" y="8082360"/>
            <a:ext cx="6999120" cy="369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Mixed canopy. Acorns. Deer eats here, not your daikon.</a:t>
            </a:r>
            <a:endParaRPr lang="en-US" sz="1800" b="0" u="none" strike="noStrike">
              <a:solidFill>
                <a:srgbClr val="000000"/>
              </a:solidFill>
              <a:latin typeface="Arial"/>
            </a:endParaRPr>
          </a:p>
        </p:txBody>
      </p:sp>
      <p:sp>
        <p:nvSpPr>
          <p:cNvPr id="236759352" name="Text 21"/>
          <p:cNvSpPr/>
          <p:nvPr/>
        </p:nvSpPr>
        <p:spPr bwMode="auto">
          <a:xfrm>
            <a:off x="1047600" y="953532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05 / 11</a:t>
            </a:r>
            <a:endParaRPr lang="en-US" sz="1800" b="0" u="none" strike="noStrike">
              <a:solidFill>
                <a:srgbClr val="000000"/>
              </a:solidFill>
              <a:latin typeface="Arial"/>
            </a:endParaRPr>
          </a:p>
        </p:txBody>
      </p:sp>
      <p:sp>
        <p:nvSpPr>
          <p:cNvPr id="278906946" name="Text 22"/>
          <p:cNvSpPr/>
          <p:nvPr/>
        </p:nvSpPr>
        <p:spPr bwMode="auto">
          <a:xfrm>
            <a:off x="9323280" y="9535320"/>
            <a:ext cx="81540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SUGI → BROADLEAF · 25-YEAR CYCLE · WILDLIFE BALANCE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2101804704" name="Shape 0"/>
          <p:cNvSpPr/>
          <p:nvPr/>
        </p:nvSpPr>
        <p:spPr bwMode="auto">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073200018"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67460079"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888220124" name="Text 3"/>
          <p:cNvSpPr/>
          <p:nvPr/>
        </p:nvSpPr>
        <p:spPr bwMode="auto">
          <a:xfrm>
            <a:off x="12129840" y="762120"/>
            <a:ext cx="526356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II · LOCAL ENERGY &amp; EV · </a:t>
            </a:r>
            <a:r>
              <a:rPr lang="zh-CN" sz="1800" b="0" u="none" strike="noStrike" spc="145">
                <a:solidFill>
                  <a:srgbClr val="4C554F"/>
                </a:solidFill>
                <a:latin typeface="Courier New"/>
                <a:ea typeface="Courier New"/>
              </a:rPr>
              <a:t>エネルギー</a:t>
            </a:r>
            <a:endParaRPr lang="en-US" sz="1800" b="0" u="none" strike="noStrike">
              <a:solidFill>
                <a:srgbClr val="000000"/>
              </a:solidFill>
              <a:latin typeface="Arial"/>
            </a:endParaRPr>
          </a:p>
        </p:txBody>
      </p:sp>
      <p:sp>
        <p:nvSpPr>
          <p:cNvPr id="104544354" name="Text 4"/>
          <p:cNvSpPr/>
          <p:nvPr/>
        </p:nvSpPr>
        <p:spPr bwMode="auto">
          <a:xfrm>
            <a:off x="1047600" y="1695600"/>
            <a:ext cx="15028200" cy="18396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7200" b="0" u="none" strike="noStrike" spc="-71">
                <a:solidFill>
                  <a:srgbClr val="1F2A24"/>
                </a:solidFill>
                <a:latin typeface="Georgia"/>
                <a:ea typeface="Georgia"/>
              </a:rPr>
              <a:t>The forest powers the village. </a:t>
            </a:r>
            <a:r>
              <a:rPr lang="en-US" sz="7200" b="0" i="1" u="none" strike="noStrike" spc="-71">
                <a:solidFill>
                  <a:srgbClr val="C4663A"/>
                </a:solidFill>
                <a:latin typeface="Georgia"/>
                <a:ea typeface="Georgia"/>
              </a:rPr>
              <a:t>Lights stay on </a:t>
            </a:r>
            <a:r>
              <a:rPr lang="en-US" sz="7200" b="0" u="none" strike="noStrike" spc="-71">
                <a:solidFill>
                  <a:srgbClr val="1F2A24"/>
                </a:solidFill>
                <a:latin typeface="Georgia"/>
                <a:ea typeface="Georgia"/>
              </a:rPr>
              <a:t>when the grid blinks.</a:t>
            </a:r>
            <a:endParaRPr lang="en-US" sz="7200" b="0" u="none" strike="noStrike">
              <a:solidFill>
                <a:srgbClr val="000000"/>
              </a:solidFill>
              <a:latin typeface="Arial"/>
            </a:endParaRPr>
          </a:p>
        </p:txBody>
      </p:sp>
      <p:sp>
        <p:nvSpPr>
          <p:cNvPr id="851403740" name="Text 5"/>
          <p:cNvSpPr/>
          <p:nvPr/>
        </p:nvSpPr>
        <p:spPr bwMode="auto">
          <a:xfrm>
            <a:off x="1047600" y="3935519"/>
            <a:ext cx="12217320" cy="197136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The sugi we remove during forest restoration is the primary fuel for a small village biomass plant — enough to run the data center and the EV chargers. Local solar tops it up, a community battery rides through the dark hours, and the grid is backup only. On-site generation keeps the school, the clinic, and emergency facilities running through blackouts — aging rural distribution lines make those a growing risk.</a:t>
            </a:r>
            <a:endParaRPr lang="en-US" sz="2100" b="0" u="none" strike="noStrike">
              <a:solidFill>
                <a:srgbClr val="000000"/>
              </a:solidFill>
              <a:latin typeface="Arial"/>
            </a:endParaRPr>
          </a:p>
        </p:txBody>
      </p:sp>
      <p:sp>
        <p:nvSpPr>
          <p:cNvPr id="1574617886" name="Shape 6"/>
          <p:cNvSpPr/>
          <p:nvPr/>
        </p:nvSpPr>
        <p:spPr bwMode="auto">
          <a:xfrm>
            <a:off x="952920" y="5640840"/>
            <a:ext cx="16192079" cy="28173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pic>
        <p:nvPicPr>
          <p:cNvPr id="1343829446" name="Image 0" descr="preencoded.png"/>
          <p:cNvPicPr/>
          <p:nvPr/>
        </p:nvPicPr>
        <p:blipFill rotWithShape="1">
          <a:blip r:embed="rId3"/>
          <a:stretch/>
        </p:blipFill>
        <p:spPr bwMode="auto">
          <a:xfrm>
            <a:off x="1305360" y="5993280"/>
            <a:ext cx="15487200" cy="2112480"/>
          </a:xfrm>
          <a:prstGeom prst="rect">
            <a:avLst/>
          </a:prstGeom>
          <a:noFill/>
          <a:ln w="0">
            <a:noFill/>
          </a:ln>
        </p:spPr>
      </p:pic>
      <p:sp>
        <p:nvSpPr>
          <p:cNvPr id="2053617990" name="Text 7"/>
          <p:cNvSpPr/>
          <p:nvPr/>
        </p:nvSpPr>
        <p:spPr bwMode="auto">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06 / 11</a:t>
            </a:r>
            <a:endParaRPr lang="en-US" sz="1800" b="0" u="none" strike="noStrike">
              <a:solidFill>
                <a:srgbClr val="000000"/>
              </a:solidFill>
              <a:latin typeface="Arial"/>
            </a:endParaRPr>
          </a:p>
        </p:txBody>
      </p:sp>
      <p:sp>
        <p:nvSpPr>
          <p:cNvPr id="62142311" name="Text 8"/>
          <p:cNvSpPr/>
          <p:nvPr/>
        </p:nvSpPr>
        <p:spPr bwMode="auto">
          <a:xfrm>
            <a:off x="8546040" y="9258480"/>
            <a:ext cx="89546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SUGI BIOMASS · SOLAR · EV CHARGING · BLACKOUT RESILIENCE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348000355" name="Shape 0"/>
          <p:cNvSpPr/>
          <p:nvPr/>
        </p:nvSpPr>
        <p:spPr bwMode="auto">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125485210"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915009463"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335489131" name="Text 3"/>
          <p:cNvSpPr/>
          <p:nvPr/>
        </p:nvSpPr>
        <p:spPr bwMode="auto">
          <a:xfrm>
            <a:off x="10859040" y="762120"/>
            <a:ext cx="657252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III · COMMUNITY DATA CENTER · </a:t>
            </a:r>
            <a:r>
              <a:rPr lang="zh-CN" sz="1800" b="0" u="none" strike="noStrike" spc="145">
                <a:solidFill>
                  <a:srgbClr val="4C554F"/>
                </a:solidFill>
                <a:latin typeface="Courier New"/>
                <a:ea typeface="Courier New"/>
              </a:rPr>
              <a:t>データセンター</a:t>
            </a:r>
            <a:endParaRPr lang="en-US" sz="1800" b="0" u="none" strike="noStrike">
              <a:solidFill>
                <a:srgbClr val="000000"/>
              </a:solidFill>
              <a:latin typeface="Arial"/>
            </a:endParaRPr>
          </a:p>
        </p:txBody>
      </p:sp>
      <p:sp>
        <p:nvSpPr>
          <p:cNvPr id="78586714" name="Text 4"/>
          <p:cNvSpPr/>
          <p:nvPr/>
        </p:nvSpPr>
        <p:spPr bwMode="auto">
          <a:xfrm>
            <a:off x="1047600" y="1695600"/>
            <a:ext cx="7946280" cy="26236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6900" b="0" u="none" strike="noStrike" spc="-68">
                <a:solidFill>
                  <a:srgbClr val="1F2A24"/>
                </a:solidFill>
                <a:latin typeface="Georgia"/>
                <a:ea typeface="Georgia"/>
              </a:rPr>
              <a:t>A data center that goes to </a:t>
            </a:r>
            <a:r>
              <a:rPr lang="en-US" sz="6900" b="0" i="1" u="none" strike="noStrike" spc="-68">
                <a:solidFill>
                  <a:srgbClr val="C4663A"/>
                </a:solidFill>
                <a:latin typeface="Georgia"/>
                <a:ea typeface="Georgia"/>
              </a:rPr>
              <a:t>elementary school.</a:t>
            </a:r>
            <a:endParaRPr lang="en-US" sz="6900" b="0" u="none" strike="noStrike">
              <a:solidFill>
                <a:srgbClr val="000000"/>
              </a:solidFill>
              <a:latin typeface="Arial"/>
            </a:endParaRPr>
          </a:p>
        </p:txBody>
      </p:sp>
      <p:sp>
        <p:nvSpPr>
          <p:cNvPr id="2015190528" name="Text 5"/>
          <p:cNvSpPr/>
          <p:nvPr/>
        </p:nvSpPr>
        <p:spPr bwMode="auto">
          <a:xfrm flipH="0" flipV="0">
            <a:off x="1047599" y="3710781"/>
            <a:ext cx="7946280" cy="1984374"/>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a:bodyPr>
          <a:p>
            <a:pPr>
              <a:defRPr/>
            </a:pPr>
            <a:r>
              <a:rPr lang="en-US" sz="1900" b="0" i="0" u="none" strike="noStrike" cap="none" spc="0">
                <a:solidFill>
                  <a:srgbClr val="1F2A24"/>
                </a:solidFill>
                <a:latin typeface="Arial"/>
                <a:ea typeface="Arial"/>
                <a:cs typeface="Arial"/>
              </a:rPr>
              <a:t>"A data center in the heart of the community."</a:t>
            </a:r>
            <a:endParaRPr lang="en-US" sz="1900" b="0" i="0" u="none" strike="noStrike" cap="none" spc="0">
              <a:solidFill>
                <a:srgbClr val="1F2A24"/>
              </a:solidFill>
              <a:latin typeface="Arial"/>
              <a:cs typeface="Arial"/>
            </a:endParaRPr>
          </a:p>
          <a:p>
            <a:pPr defTabSz="914400">
              <a:lnSpc>
                <a:spcPct val="145000"/>
              </a:lnSpc>
              <a:tabLst>
                <a:tab pos="0" algn="l"/>
              </a:tabLst>
              <a:defRPr/>
            </a:pPr>
            <a:r>
              <a:rPr lang="en-US" sz="1900" b="0" i="0" u="none" strike="noStrike" cap="none" spc="0">
                <a:solidFill>
                  <a:srgbClr val="1F2A24"/>
                </a:solidFill>
                <a:latin typeface="Arial"/>
                <a:ea typeface="Arial"/>
                <a:cs typeface="Arial"/>
              </a:rPr>
              <a:t>"The Mitsue Taiken Koryukan — a community exchange center available for reuse — repurposed as a small, energy-efficient edge-compute facility — powered entirely by locally generated renewable energy. Phase 2 expands into a larger old factory building in Mitsue."</a:t>
            </a:r>
            <a:endParaRPr lang="en-US" sz="2100" b="0" u="none" strike="noStrike">
              <a:solidFill>
                <a:srgbClr val="000000"/>
              </a:solidFill>
              <a:latin typeface="Arial"/>
            </a:endParaRPr>
          </a:p>
        </p:txBody>
      </p:sp>
      <p:sp>
        <p:nvSpPr>
          <p:cNvPr id="1724481855" name="Text 6"/>
          <p:cNvSpPr/>
          <p:nvPr/>
        </p:nvSpPr>
        <p:spPr bwMode="auto">
          <a:xfrm>
            <a:off x="1047599" y="6017729"/>
            <a:ext cx="7946280" cy="197136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Sized for accountability, not hyperscale economics. Small enough that the village owns it, audits it, and can explain what it does. Heat re-use warms greenhouses and community buildings. Designed to be replicated by other depopulating municipalities — the blueprint is open.</a:t>
            </a:r>
            <a:endParaRPr lang="en-US" sz="2100" b="0" u="none" strike="noStrike">
              <a:solidFill>
                <a:srgbClr val="000000"/>
              </a:solidFill>
              <a:latin typeface="Arial"/>
            </a:endParaRPr>
          </a:p>
        </p:txBody>
      </p:sp>
      <p:sp>
        <p:nvSpPr>
          <p:cNvPr id="173672344" name="Shape 7"/>
          <p:cNvSpPr/>
          <p:nvPr/>
        </p:nvSpPr>
        <p:spPr bwMode="auto">
          <a:xfrm>
            <a:off x="1047600" y="8251560"/>
            <a:ext cx="7714800" cy="900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382554011" name="Text 8"/>
          <p:cNvSpPr/>
          <p:nvPr/>
        </p:nvSpPr>
        <p:spPr bwMode="auto">
          <a:xfrm>
            <a:off x="1047600" y="8470440"/>
            <a:ext cx="24951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SCALE</a:t>
            </a:r>
            <a:endParaRPr lang="en-US" sz="1800" b="0" u="none" strike="noStrike">
              <a:solidFill>
                <a:srgbClr val="000000"/>
              </a:solidFill>
              <a:latin typeface="Arial"/>
            </a:endParaRPr>
          </a:p>
        </p:txBody>
      </p:sp>
      <p:sp>
        <p:nvSpPr>
          <p:cNvPr id="383258554" name="Text 9"/>
          <p:cNvSpPr/>
          <p:nvPr/>
        </p:nvSpPr>
        <p:spPr bwMode="auto">
          <a:xfrm>
            <a:off x="1047600" y="8737200"/>
            <a:ext cx="2495160" cy="48564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7000"/>
              </a:lnSpc>
              <a:tabLst>
                <a:tab pos="0" algn="l"/>
              </a:tabLst>
              <a:defRPr/>
            </a:pPr>
            <a:r>
              <a:rPr lang="en-US" sz="3600" b="0" u="none" strike="noStrike" spc="-37">
                <a:solidFill>
                  <a:srgbClr val="1F2A24"/>
                </a:solidFill>
                <a:latin typeface="Georgia"/>
                <a:ea typeface="Georgia"/>
              </a:rPr>
              <a:t>Edge</a:t>
            </a:r>
            <a:endParaRPr lang="en-US" sz="3600" b="0" u="none" strike="noStrike">
              <a:solidFill>
                <a:srgbClr val="000000"/>
              </a:solidFill>
              <a:latin typeface="Arial"/>
            </a:endParaRPr>
          </a:p>
        </p:txBody>
      </p:sp>
      <p:sp>
        <p:nvSpPr>
          <p:cNvPr id="22879288" name="Text 10"/>
          <p:cNvSpPr/>
          <p:nvPr/>
        </p:nvSpPr>
        <p:spPr bwMode="auto">
          <a:xfrm>
            <a:off x="3695760" y="8470440"/>
            <a:ext cx="24951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POWER</a:t>
            </a:r>
            <a:endParaRPr lang="en-US" sz="1800" b="0" u="none" strike="noStrike">
              <a:solidFill>
                <a:srgbClr val="000000"/>
              </a:solidFill>
              <a:latin typeface="Arial"/>
            </a:endParaRPr>
          </a:p>
        </p:txBody>
      </p:sp>
      <p:sp>
        <p:nvSpPr>
          <p:cNvPr id="911216478" name="Text 11"/>
          <p:cNvSpPr/>
          <p:nvPr/>
        </p:nvSpPr>
        <p:spPr bwMode="auto">
          <a:xfrm>
            <a:off x="3695760" y="8737200"/>
            <a:ext cx="2495160" cy="48564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7000"/>
              </a:lnSpc>
              <a:tabLst>
                <a:tab pos="0" algn="l"/>
              </a:tabLst>
              <a:defRPr/>
            </a:pPr>
            <a:r>
              <a:rPr lang="en-US" sz="3600" b="0" u="none" strike="noStrike" spc="-37">
                <a:solidFill>
                  <a:srgbClr val="1F2A24"/>
                </a:solidFill>
                <a:latin typeface="Georgia"/>
                <a:ea typeface="Georgia"/>
              </a:rPr>
              <a:t>100% local</a:t>
            </a:r>
            <a:endParaRPr lang="en-US" sz="3600" b="0" u="none" strike="noStrike">
              <a:solidFill>
                <a:srgbClr val="000000"/>
              </a:solidFill>
              <a:latin typeface="Arial"/>
            </a:endParaRPr>
          </a:p>
        </p:txBody>
      </p:sp>
      <p:sp>
        <p:nvSpPr>
          <p:cNvPr id="1921472297" name="Text 12"/>
          <p:cNvSpPr/>
          <p:nvPr/>
        </p:nvSpPr>
        <p:spPr bwMode="auto">
          <a:xfrm>
            <a:off x="6343560" y="8470440"/>
            <a:ext cx="24951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OWNER</a:t>
            </a:r>
            <a:endParaRPr lang="en-US" sz="1800" b="0" u="none" strike="noStrike">
              <a:solidFill>
                <a:srgbClr val="000000"/>
              </a:solidFill>
              <a:latin typeface="Arial"/>
            </a:endParaRPr>
          </a:p>
        </p:txBody>
      </p:sp>
      <p:sp>
        <p:nvSpPr>
          <p:cNvPr id="413650953" name="Text 13"/>
          <p:cNvSpPr/>
          <p:nvPr/>
        </p:nvSpPr>
        <p:spPr bwMode="auto">
          <a:xfrm>
            <a:off x="6343560" y="8737200"/>
            <a:ext cx="2495160" cy="48564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7000"/>
              </a:lnSpc>
              <a:tabLst>
                <a:tab pos="0" algn="l"/>
              </a:tabLst>
              <a:defRPr/>
            </a:pPr>
            <a:r>
              <a:rPr lang="en-US" sz="3600" b="0" u="none" strike="noStrike" spc="-37">
                <a:solidFill>
                  <a:srgbClr val="1F2A24"/>
                </a:solidFill>
                <a:latin typeface="Georgia"/>
                <a:ea typeface="Georgia"/>
              </a:rPr>
              <a:t>The village</a:t>
            </a:r>
            <a:endParaRPr lang="en-US" sz="3600" b="0" u="none" strike="noStrike">
              <a:solidFill>
                <a:srgbClr val="000000"/>
              </a:solidFill>
              <a:latin typeface="Arial"/>
            </a:endParaRPr>
          </a:p>
        </p:txBody>
      </p:sp>
      <p:sp>
        <p:nvSpPr>
          <p:cNvPr id="776742945" name="Shape 14"/>
          <p:cNvSpPr/>
          <p:nvPr/>
        </p:nvSpPr>
        <p:spPr bwMode="auto">
          <a:xfrm>
            <a:off x="9524880" y="1695600"/>
            <a:ext cx="7714800" cy="6514200"/>
          </a:xfrm>
          <a:prstGeom prst="rect">
            <a:avLst/>
          </a:prstGeom>
          <a:solidFill>
            <a:srgbClr val="2F4A37"/>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800784544" name="Text 15"/>
          <p:cNvSpPr/>
          <p:nvPr/>
        </p:nvSpPr>
        <p:spPr bwMode="auto">
          <a:xfrm>
            <a:off x="10010880" y="2181240"/>
            <a:ext cx="69454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FROM CLASSROOM TO COMPUTE</a:t>
            </a:r>
            <a:endParaRPr lang="en-US" sz="1800" b="0" u="none" strike="noStrike">
              <a:solidFill>
                <a:srgbClr val="000000"/>
              </a:solidFill>
              <a:latin typeface="Arial"/>
            </a:endParaRPr>
          </a:p>
        </p:txBody>
      </p:sp>
      <p:pic>
        <p:nvPicPr>
          <p:cNvPr id="857667517" name="Image 0" descr="preencoded.png"/>
          <p:cNvPicPr/>
          <p:nvPr/>
        </p:nvPicPr>
        <p:blipFill rotWithShape="1">
          <a:blip r:embed="rId3"/>
          <a:stretch/>
        </p:blipFill>
        <p:spPr bwMode="auto">
          <a:xfrm>
            <a:off x="10010880" y="2676600"/>
            <a:ext cx="6743520" cy="5009400"/>
          </a:xfrm>
          <a:prstGeom prst="rect">
            <a:avLst/>
          </a:prstGeom>
          <a:noFill/>
          <a:ln w="0">
            <a:noFill/>
          </a:ln>
        </p:spPr>
      </p:pic>
      <p:sp>
        <p:nvSpPr>
          <p:cNvPr id="1454870575" name="Text 16"/>
          <p:cNvSpPr/>
          <p:nvPr/>
        </p:nvSpPr>
        <p:spPr bwMode="auto">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07 / 11</a:t>
            </a:r>
            <a:endParaRPr lang="en-US" sz="1800" b="0" u="none" strike="noStrike">
              <a:solidFill>
                <a:srgbClr val="000000"/>
              </a:solidFill>
              <a:latin typeface="Arial"/>
            </a:endParaRPr>
          </a:p>
        </p:txBody>
      </p:sp>
      <p:sp>
        <p:nvSpPr>
          <p:cNvPr id="264872534" name="Text 17"/>
          <p:cNvSpPr/>
          <p:nvPr/>
        </p:nvSpPr>
        <p:spPr bwMode="auto">
          <a:xfrm>
            <a:off x="6836400" y="9258480"/>
            <a:ext cx="10715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EDGE COMPUTE · HEAT RE-USE · REPLICABLE · PROGRESS + SUSTAINABILITY</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223657799" name="Shape 0"/>
          <p:cNvSpPr/>
          <p:nvPr/>
        </p:nvSpPr>
        <p:spPr bwMode="auto">
          <a:xfrm>
            <a:off x="1047600" y="762120"/>
            <a:ext cx="456840" cy="45684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888813602"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955631066"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350061357" name="Text 3"/>
          <p:cNvSpPr/>
          <p:nvPr/>
        </p:nvSpPr>
        <p:spPr bwMode="auto">
          <a:xfrm>
            <a:off x="10877400" y="762120"/>
            <a:ext cx="6553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07 · BENEFITS — COMMUNITY &amp; ENVIRONMENT</a:t>
            </a:r>
            <a:endParaRPr lang="en-US" sz="1800" b="0" u="none" strike="noStrike">
              <a:solidFill>
                <a:srgbClr val="FFFFFF"/>
              </a:solidFill>
              <a:latin typeface="Arial"/>
            </a:endParaRPr>
          </a:p>
        </p:txBody>
      </p:sp>
      <p:sp>
        <p:nvSpPr>
          <p:cNvPr id="919049754" name="Text 4"/>
          <p:cNvSpPr/>
          <p:nvPr/>
        </p:nvSpPr>
        <p:spPr bwMode="auto">
          <a:xfrm>
            <a:off x="1047600" y="1790640"/>
            <a:ext cx="16678079" cy="233316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00000"/>
              </a:lnSpc>
              <a:tabLst>
                <a:tab pos="0" algn="l"/>
              </a:tabLst>
              <a:defRPr/>
            </a:pPr>
            <a:r>
              <a:rPr lang="en-US" sz="9000" b="0" u="none" strike="noStrike" spc="-91">
                <a:solidFill>
                  <a:srgbClr val="F3ECE0"/>
                </a:solidFill>
                <a:latin typeface="Georgia"/>
                <a:ea typeface="Georgia"/>
              </a:rPr>
              <a:t>The win doesn't depend on the data center being a </a:t>
            </a:r>
            <a:r>
              <a:rPr lang="en-US" sz="9000" b="0" i="1" u="none" strike="noStrike" spc="-91">
                <a:solidFill>
                  <a:srgbClr val="F3B486"/>
                </a:solidFill>
                <a:latin typeface="Georgia"/>
                <a:ea typeface="Georgia"/>
              </a:rPr>
              <a:t>commercial hit.</a:t>
            </a:r>
            <a:endParaRPr lang="en-US" sz="9000" b="0" u="none" strike="noStrike">
              <a:solidFill>
                <a:srgbClr val="FFFFFF"/>
              </a:solidFill>
              <a:latin typeface="Arial"/>
            </a:endParaRPr>
          </a:p>
        </p:txBody>
      </p:sp>
      <p:sp>
        <p:nvSpPr>
          <p:cNvPr id="610799329" name="Text 5"/>
          <p:cNvSpPr/>
          <p:nvPr/>
        </p:nvSpPr>
        <p:spPr bwMode="auto">
          <a:xfrm>
            <a:off x="1047600" y="4486320"/>
            <a:ext cx="12217320" cy="424439"/>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2100" b="0" u="none" strike="noStrike">
                <a:solidFill>
                  <a:srgbClr val="F3ECE0">
                    <a:alpha val="85000"/>
                  </a:srgbClr>
                </a:solidFill>
                <a:latin typeface="Arial"/>
                <a:ea typeface="Arial"/>
              </a:rPr>
              <a:t>Most benefits accrue to the village whether the compute side breaks even or not. That's the design.</a:t>
            </a:r>
            <a:endParaRPr lang="en-US" sz="2100" b="0" u="none" strike="noStrike">
              <a:solidFill>
                <a:srgbClr val="FFFFFF"/>
              </a:solidFill>
              <a:latin typeface="Arial"/>
            </a:endParaRPr>
          </a:p>
        </p:txBody>
      </p:sp>
      <p:sp>
        <p:nvSpPr>
          <p:cNvPr id="1570023820" name="Shape 6"/>
          <p:cNvSpPr/>
          <p:nvPr/>
        </p:nvSpPr>
        <p:spPr bwMode="auto">
          <a:xfrm>
            <a:off x="1047600" y="5349240"/>
            <a:ext cx="5143320" cy="1872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7925177" name="Text 7"/>
          <p:cNvSpPr/>
          <p:nvPr/>
        </p:nvSpPr>
        <p:spPr bwMode="auto">
          <a:xfrm>
            <a:off x="1047600" y="5596920"/>
            <a:ext cx="5297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COMMUNITY</a:t>
            </a:r>
            <a:endParaRPr lang="en-US" sz="1800" b="0" u="none" strike="noStrike">
              <a:solidFill>
                <a:srgbClr val="FFFFFF"/>
              </a:solidFill>
              <a:latin typeface="Arial"/>
            </a:endParaRPr>
          </a:p>
        </p:txBody>
      </p:sp>
      <p:sp>
        <p:nvSpPr>
          <p:cNvPr id="1220787563" name="Text 8"/>
          <p:cNvSpPr/>
          <p:nvPr/>
        </p:nvSpPr>
        <p:spPr bwMode="auto">
          <a:xfrm>
            <a:off x="861120" y="6092280"/>
            <a:ext cx="5406120" cy="203796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50000"/>
              </a:lnSpc>
              <a:tabLst>
                <a:tab pos="0" algn="l"/>
              </a:tabLst>
              <a:defRPr/>
            </a:pPr>
            <a:r>
              <a:rPr lang="en-US" sz="2100" b="0" u="none" strike="noStrike">
                <a:solidFill>
                  <a:srgbClr val="F3ECE0"/>
                </a:solidFill>
                <a:latin typeface="Arial"/>
                <a:ea typeface="Arial"/>
              </a:rPr>
              <a:t>↳ Paid forestry work, year-round</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EV charging for residents &amp; visitors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The school stops bleeding money</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Blackout-resilient clinic + comms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Modest, accountable, village-owned</a:t>
            </a:r>
            <a:endParaRPr lang="en-US" sz="2100" b="0" u="none" strike="noStrike">
              <a:solidFill>
                <a:srgbClr val="FFFFFF"/>
              </a:solidFill>
              <a:latin typeface="Arial"/>
            </a:endParaRPr>
          </a:p>
        </p:txBody>
      </p:sp>
      <p:sp>
        <p:nvSpPr>
          <p:cNvPr id="2052393296" name="Shape 9"/>
          <p:cNvSpPr/>
          <p:nvPr/>
        </p:nvSpPr>
        <p:spPr bwMode="auto">
          <a:xfrm>
            <a:off x="6572160" y="5349240"/>
            <a:ext cx="5143320" cy="1872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1859322067" name="Text 10"/>
          <p:cNvSpPr/>
          <p:nvPr/>
        </p:nvSpPr>
        <p:spPr bwMode="auto">
          <a:xfrm>
            <a:off x="6572160" y="5596920"/>
            <a:ext cx="5297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ENVIRONMENT</a:t>
            </a:r>
            <a:endParaRPr lang="en-US" sz="1800" b="0" u="none" strike="noStrike">
              <a:solidFill>
                <a:srgbClr val="FFFFFF"/>
              </a:solidFill>
              <a:latin typeface="Arial"/>
            </a:endParaRPr>
          </a:p>
        </p:txBody>
      </p:sp>
      <p:sp>
        <p:nvSpPr>
          <p:cNvPr id="547550659" name="Text 11"/>
          <p:cNvSpPr/>
          <p:nvPr/>
        </p:nvSpPr>
        <p:spPr bwMode="auto">
          <a:xfrm>
            <a:off x="6385680" y="6092280"/>
            <a:ext cx="5406120" cy="203796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50000"/>
              </a:lnSpc>
              <a:tabLst>
                <a:tab pos="0" algn="l"/>
              </a:tabLst>
              <a:defRPr/>
            </a:pPr>
            <a:r>
              <a:rPr lang="en-US" sz="2100" b="0" u="none" strike="noStrike">
                <a:solidFill>
                  <a:srgbClr val="F3ECE0"/>
                </a:solidFill>
                <a:latin typeface="Arial"/>
                <a:ea typeface="Arial"/>
              </a:rPr>
              <a:t>↳ Native broadleaf returns at scale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Cedar pollen burden goes down</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Wildlife pressure on farms drops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Landslide risk reduces with age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100% local renewable energy mix</a:t>
            </a:r>
            <a:endParaRPr lang="en-US" sz="2100" b="0" u="none" strike="noStrike">
              <a:solidFill>
                <a:srgbClr val="FFFFFF"/>
              </a:solidFill>
              <a:latin typeface="Arial"/>
            </a:endParaRPr>
          </a:p>
        </p:txBody>
      </p:sp>
      <p:sp>
        <p:nvSpPr>
          <p:cNvPr id="524401002" name="Shape 12"/>
          <p:cNvSpPr/>
          <p:nvPr/>
        </p:nvSpPr>
        <p:spPr bwMode="auto">
          <a:xfrm>
            <a:off x="12096720" y="5349240"/>
            <a:ext cx="5143320" cy="1872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1339678448" name="Text 13"/>
          <p:cNvSpPr/>
          <p:nvPr/>
        </p:nvSpPr>
        <p:spPr bwMode="auto">
          <a:xfrm>
            <a:off x="12096720" y="5596920"/>
            <a:ext cx="52974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BEYOND MITSUE</a:t>
            </a:r>
            <a:endParaRPr lang="en-US" sz="1800" b="0" u="none" strike="noStrike">
              <a:solidFill>
                <a:srgbClr val="FFFFFF"/>
              </a:solidFill>
              <a:latin typeface="Arial"/>
            </a:endParaRPr>
          </a:p>
        </p:txBody>
      </p:sp>
      <p:sp>
        <p:nvSpPr>
          <p:cNvPr id="441897082" name="Text 14"/>
          <p:cNvSpPr/>
          <p:nvPr/>
        </p:nvSpPr>
        <p:spPr bwMode="auto">
          <a:xfrm>
            <a:off x="11910240" y="6092280"/>
            <a:ext cx="5406120" cy="203796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50000"/>
              </a:lnSpc>
              <a:tabLst>
                <a:tab pos="0" algn="l"/>
              </a:tabLst>
              <a:defRPr/>
            </a:pPr>
            <a:r>
              <a:rPr lang="en-US" sz="2100" b="0" u="none" strike="noStrike">
                <a:solidFill>
                  <a:srgbClr val="F3ECE0"/>
                </a:solidFill>
                <a:latin typeface="Arial"/>
                <a:ea typeface="Arial"/>
              </a:rPr>
              <a:t>↳ Methods + data published openly</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A replicable rural template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CC-BY documents, open licences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Designed to be copied, not franchised</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A bridge to small-scale fusion era</a:t>
            </a:r>
            <a:endParaRPr lang="en-US" sz="2100" b="0" u="none" strike="noStrike">
              <a:solidFill>
                <a:srgbClr val="FFFFFF"/>
              </a:solidFill>
              <a:latin typeface="Arial"/>
            </a:endParaRPr>
          </a:p>
        </p:txBody>
      </p:sp>
      <p:sp>
        <p:nvSpPr>
          <p:cNvPr id="1723614174" name="Text 15"/>
          <p:cNvSpPr/>
          <p:nvPr/>
        </p:nvSpPr>
        <p:spPr bwMode="auto">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08 / 11</a:t>
            </a:r>
            <a:endParaRPr lang="en-US" sz="1800" b="0" u="none" strike="noStrike">
              <a:solidFill>
                <a:srgbClr val="FFFFFF"/>
              </a:solidFill>
              <a:latin typeface="Arial"/>
            </a:endParaRPr>
          </a:p>
        </p:txBody>
      </p:sp>
      <p:sp>
        <p:nvSpPr>
          <p:cNvPr id="79492710" name="Text 16"/>
          <p:cNvSpPr/>
          <p:nvPr/>
        </p:nvSpPr>
        <p:spPr bwMode="auto">
          <a:xfrm>
            <a:off x="8235360" y="9258480"/>
            <a:ext cx="92746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LOCAL FIRST · OPEN AND TRANSPARENT · PATIENT AND LONG-TERM</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270317451" name="Shape 0"/>
          <p:cNvSpPr/>
          <p:nvPr/>
        </p:nvSpPr>
        <p:spPr bwMode="auto">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895799846"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722193176"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506765575" name="Text 3"/>
          <p:cNvSpPr/>
          <p:nvPr/>
        </p:nvSpPr>
        <p:spPr bwMode="auto">
          <a:xfrm>
            <a:off x="11654640" y="762120"/>
            <a:ext cx="57531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 08 · WHERE WE ARE TODAY · MAY 2026</a:t>
            </a:r>
            <a:endParaRPr lang="en-US" sz="1800" b="0" u="none" strike="noStrike">
              <a:solidFill>
                <a:srgbClr val="000000"/>
              </a:solidFill>
              <a:latin typeface="Arial"/>
            </a:endParaRPr>
          </a:p>
        </p:txBody>
      </p:sp>
      <p:sp>
        <p:nvSpPr>
          <p:cNvPr id="67943911" name="Text 4"/>
          <p:cNvSpPr/>
          <p:nvPr/>
        </p:nvSpPr>
        <p:spPr bwMode="auto">
          <a:xfrm>
            <a:off x="1047600" y="1657440"/>
            <a:ext cx="832464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PHASE 0 · PRE-FOUNDATION · </a:t>
            </a:r>
            <a:r>
              <a:rPr lang="zh-CN" sz="1800" b="0" u="none" strike="noStrike" spc="215">
                <a:solidFill>
                  <a:srgbClr val="4C554F"/>
                </a:solidFill>
                <a:latin typeface="Courier New"/>
                <a:ea typeface="Courier New"/>
              </a:rPr>
              <a:t>準備期</a:t>
            </a:r>
            <a:endParaRPr lang="en-US" sz="1800" b="0" u="none" strike="noStrike">
              <a:solidFill>
                <a:srgbClr val="000000"/>
              </a:solidFill>
              <a:latin typeface="Arial"/>
            </a:endParaRPr>
          </a:p>
        </p:txBody>
      </p:sp>
      <p:sp>
        <p:nvSpPr>
          <p:cNvPr id="1568779482" name="Text 5"/>
          <p:cNvSpPr/>
          <p:nvPr/>
        </p:nvSpPr>
        <p:spPr bwMode="auto">
          <a:xfrm>
            <a:off x="1047600" y="2133720"/>
            <a:ext cx="8324640" cy="5000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7800" b="0" u="none" strike="noStrike" spc="-77">
                <a:solidFill>
                  <a:srgbClr val="1F2A24"/>
                </a:solidFill>
                <a:latin typeface="Georgia"/>
                <a:ea typeface="Georgia"/>
              </a:rPr>
              <a:t>Quiet on purpose. </a:t>
            </a:r>
            <a:r>
              <a:rPr lang="en-US" sz="7800" b="0" i="1" u="none" strike="noStrike" spc="-77">
                <a:solidFill>
                  <a:srgbClr val="C4663A"/>
                </a:solidFill>
                <a:latin typeface="Georgia"/>
                <a:ea typeface="Georgia"/>
              </a:rPr>
              <a:t>No press, </a:t>
            </a:r>
            <a:r>
              <a:rPr lang="en-US" sz="7800" b="0" u="none" strike="noStrike" spc="-77">
                <a:solidFill>
                  <a:srgbClr val="1F2A24"/>
                </a:solidFill>
                <a:latin typeface="Georgia"/>
                <a:ea typeface="Georgia"/>
              </a:rPr>
              <a:t>no founder hoodies.</a:t>
            </a:r>
            <a:endParaRPr lang="en-US" sz="7800" b="0" u="none" strike="noStrike">
              <a:solidFill>
                <a:srgbClr val="000000"/>
              </a:solidFill>
              <a:latin typeface="Arial"/>
            </a:endParaRPr>
          </a:p>
        </p:txBody>
      </p:sp>
      <p:sp>
        <p:nvSpPr>
          <p:cNvPr id="1216884893" name="Text 6"/>
          <p:cNvSpPr/>
          <p:nvPr/>
        </p:nvSpPr>
        <p:spPr bwMode="auto">
          <a:xfrm>
            <a:off x="1047600" y="5850720"/>
            <a:ext cx="8246520" cy="11977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2100" b="0" u="none" strike="noStrike">
                <a:solidFill>
                  <a:srgbClr val="1F2A24"/>
                </a:solidFill>
                <a:latin typeface="Arial"/>
                <a:ea typeface="Arial"/>
              </a:rPr>
              <a:t>Phase 0 is local trust-building, founding-team formation, and clean drafting of the charter. Self-funded, ¥0–0.5M. The work that matters right now is meetings, not announcements.</a:t>
            </a:r>
            <a:endParaRPr lang="en-US" sz="2100" b="0" u="none" strike="noStrike">
              <a:solidFill>
                <a:srgbClr val="000000"/>
              </a:solidFill>
              <a:latin typeface="Arial"/>
            </a:endParaRPr>
          </a:p>
        </p:txBody>
      </p:sp>
      <p:sp>
        <p:nvSpPr>
          <p:cNvPr id="898911270" name="Shape 7"/>
          <p:cNvSpPr/>
          <p:nvPr/>
        </p:nvSpPr>
        <p:spPr bwMode="auto">
          <a:xfrm>
            <a:off x="1047600" y="7353720"/>
            <a:ext cx="8082360" cy="900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989447080" name="Text 8"/>
          <p:cNvSpPr/>
          <p:nvPr/>
        </p:nvSpPr>
        <p:spPr bwMode="auto">
          <a:xfrm>
            <a:off x="1047600" y="7410960"/>
            <a:ext cx="83246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ADVISORY COMMITMENTS</a:t>
            </a:r>
            <a:endParaRPr lang="en-US" sz="1800" b="0" u="none" strike="noStrike">
              <a:solidFill>
                <a:srgbClr val="000000"/>
              </a:solidFill>
              <a:latin typeface="Arial"/>
            </a:endParaRPr>
          </a:p>
        </p:txBody>
      </p:sp>
      <p:sp>
        <p:nvSpPr>
          <p:cNvPr id="915522023" name="Text 9"/>
          <p:cNvSpPr/>
          <p:nvPr/>
        </p:nvSpPr>
        <p:spPr bwMode="auto">
          <a:xfrm>
            <a:off x="1047600" y="7849080"/>
            <a:ext cx="3336840" cy="5331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0000"/>
              </a:lnSpc>
              <a:tabLst>
                <a:tab pos="0" algn="l"/>
              </a:tabLst>
              <a:defRPr/>
            </a:pPr>
            <a:r>
              <a:rPr lang="en-US" sz="3900" b="0" u="none" strike="noStrike" spc="-40">
                <a:solidFill>
                  <a:srgbClr val="1F2A24"/>
                </a:solidFill>
                <a:latin typeface="Georgia"/>
                <a:ea typeface="Georgia"/>
              </a:rPr>
              <a:t>Joi Ito</a:t>
            </a:r>
            <a:endParaRPr lang="en-US" sz="3900" b="0" u="none" strike="noStrike">
              <a:solidFill>
                <a:srgbClr val="000000"/>
              </a:solidFill>
              <a:latin typeface="Arial"/>
            </a:endParaRPr>
          </a:p>
        </p:txBody>
      </p:sp>
      <p:sp>
        <p:nvSpPr>
          <p:cNvPr id="1219081829" name="Text 10"/>
          <p:cNvSpPr/>
          <p:nvPr/>
        </p:nvSpPr>
        <p:spPr bwMode="auto">
          <a:xfrm flipH="0" flipV="0">
            <a:off x="1047600" y="8448660"/>
            <a:ext cx="3336840" cy="799559"/>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95000" lnSpcReduction="1000"/>
          </a:bodyPr>
          <a:p>
            <a:pPr defTabSz="914400">
              <a:lnSpc>
                <a:spcPct val="145000"/>
              </a:lnSpc>
              <a:tabLst>
                <a:tab pos="0" algn="l"/>
              </a:tabLst>
              <a:defRPr/>
            </a:pPr>
            <a:r>
              <a:rPr lang="en-US" sz="1900" b="0" u="none" strike="noStrike">
                <a:solidFill>
                  <a:srgbClr val="4C554F"/>
                </a:solidFill>
                <a:latin typeface="Arial"/>
                <a:ea typeface="Arial"/>
              </a:rPr>
              <a:t>Former Director, </a:t>
            </a:r>
            <a:endParaRPr sz="1900" b="0" u="none" strike="noStrike">
              <a:solidFill>
                <a:srgbClr val="4C554F"/>
              </a:solidFill>
              <a:latin typeface="Arial"/>
              <a:ea typeface="Arial"/>
            </a:endParaRPr>
          </a:p>
          <a:p>
            <a:pPr defTabSz="914400">
              <a:lnSpc>
                <a:spcPct val="145000"/>
              </a:lnSpc>
              <a:tabLst>
                <a:tab pos="0" algn="l"/>
              </a:tabLst>
              <a:defRPr/>
            </a:pPr>
            <a:r>
              <a:rPr lang="en-US" sz="1900" b="0" u="none" strike="noStrike">
                <a:solidFill>
                  <a:srgbClr val="4C554F"/>
                </a:solidFill>
                <a:latin typeface="Arial"/>
                <a:ea typeface="Arial"/>
              </a:rPr>
              <a:t>MIT Media Lab</a:t>
            </a:r>
            <a:endParaRPr sz="1900" b="0" u="none" strike="noStrike">
              <a:solidFill>
                <a:srgbClr val="000000"/>
              </a:solidFill>
              <a:latin typeface="Arial"/>
            </a:endParaRPr>
          </a:p>
        </p:txBody>
      </p:sp>
      <p:sp>
        <p:nvSpPr>
          <p:cNvPr id="665031092" name="Text 11"/>
          <p:cNvSpPr/>
          <p:nvPr/>
        </p:nvSpPr>
        <p:spPr bwMode="auto">
          <a:xfrm>
            <a:off x="3184740" y="7877700"/>
            <a:ext cx="3808080" cy="5331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0000"/>
              </a:lnSpc>
              <a:tabLst>
                <a:tab pos="0" algn="l"/>
              </a:tabLst>
              <a:defRPr/>
            </a:pPr>
            <a:r>
              <a:rPr lang="en-US" sz="3900" b="0" u="none" strike="noStrike" spc="-40">
                <a:solidFill>
                  <a:srgbClr val="1F2A24"/>
                </a:solidFill>
                <a:latin typeface="Georgia"/>
                <a:ea typeface="Georgia"/>
              </a:rPr>
              <a:t>Ray Ozzie</a:t>
            </a:r>
            <a:endParaRPr lang="en-US" sz="3900" b="0" u="none" strike="noStrike">
              <a:solidFill>
                <a:srgbClr val="000000"/>
              </a:solidFill>
              <a:latin typeface="Arial"/>
            </a:endParaRPr>
          </a:p>
        </p:txBody>
      </p:sp>
      <p:sp>
        <p:nvSpPr>
          <p:cNvPr id="62275389" name="Text 12"/>
          <p:cNvSpPr/>
          <p:nvPr/>
        </p:nvSpPr>
        <p:spPr bwMode="auto">
          <a:xfrm flipH="0" flipV="0">
            <a:off x="3184740" y="8448660"/>
            <a:ext cx="3808080" cy="799559"/>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a:bodyPr>
          <a:p>
            <a:pPr defTabSz="914400">
              <a:lnSpc>
                <a:spcPct val="145000"/>
              </a:lnSpc>
              <a:tabLst>
                <a:tab pos="0" algn="l"/>
              </a:tabLst>
              <a:defRPr/>
            </a:pPr>
            <a:r>
              <a:rPr lang="en-US" sz="1800" b="0" u="none" strike="noStrike">
                <a:solidFill>
                  <a:srgbClr val="4C554F"/>
                </a:solidFill>
                <a:latin typeface="Arial"/>
                <a:ea typeface="Arial"/>
              </a:rPr>
              <a:t>Software pioneer · </a:t>
            </a:r>
            <a:endParaRPr lang="en-US" sz="1800" b="0" u="none" strike="noStrike">
              <a:solidFill>
                <a:srgbClr val="4C554F"/>
              </a:solidFill>
              <a:latin typeface="Arial"/>
              <a:ea typeface="Arial"/>
            </a:endParaRPr>
          </a:p>
          <a:p>
            <a:pPr defTabSz="914400">
              <a:lnSpc>
                <a:spcPct val="145000"/>
              </a:lnSpc>
              <a:tabLst>
                <a:tab pos="0" algn="l"/>
              </a:tabLst>
              <a:defRPr/>
            </a:pPr>
            <a:r>
              <a:rPr lang="en-US" sz="1800" b="0" u="none" strike="noStrike">
                <a:solidFill>
                  <a:srgbClr val="4C554F"/>
                </a:solidFill>
                <a:latin typeface="Arial"/>
                <a:ea typeface="Arial"/>
              </a:rPr>
              <a:t>ex-Microsoft CSA</a:t>
            </a:r>
            <a:endParaRPr lang="en-US" sz="1800" b="0" u="none" strike="noStrike">
              <a:solidFill>
                <a:srgbClr val="000000"/>
              </a:solidFill>
              <a:latin typeface="Arial"/>
            </a:endParaRPr>
          </a:p>
        </p:txBody>
      </p:sp>
      <p:sp>
        <p:nvSpPr>
          <p:cNvPr id="233571604" name="Shape 13"/>
          <p:cNvSpPr/>
          <p:nvPr/>
        </p:nvSpPr>
        <p:spPr bwMode="auto">
          <a:xfrm>
            <a:off x="9892440" y="1657440"/>
            <a:ext cx="7347600" cy="27576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352626122" name="Text 14"/>
          <p:cNvSpPr/>
          <p:nvPr/>
        </p:nvSpPr>
        <p:spPr bwMode="auto">
          <a:xfrm>
            <a:off x="10187640" y="1914480"/>
            <a:ext cx="6959880" cy="333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2F4A37"/>
                </a:solidFill>
                <a:latin typeface="Courier New"/>
                <a:ea typeface="Courier New"/>
              </a:rPr>
              <a:t>✓ COMPLETED</a:t>
            </a:r>
            <a:endParaRPr lang="en-US" sz="1800" b="0" u="none" strike="noStrike">
              <a:solidFill>
                <a:srgbClr val="000000"/>
              </a:solidFill>
              <a:latin typeface="Arial"/>
            </a:endParaRPr>
          </a:p>
        </p:txBody>
      </p:sp>
      <p:sp>
        <p:nvSpPr>
          <p:cNvPr id="370913153" name="Text 15"/>
          <p:cNvSpPr/>
          <p:nvPr/>
        </p:nvSpPr>
        <p:spPr bwMode="auto">
          <a:xfrm>
            <a:off x="10237320" y="2343240"/>
            <a:ext cx="6783840" cy="1709280"/>
          </a:xfrm>
          <a:prstGeom prst="rect">
            <a:avLst/>
          </a:prstGeom>
          <a:noFill/>
          <a:ln w="0">
            <a:noFill/>
          </a:ln>
        </p:spPr>
        <p:style>
          <a:lnRef idx="0"/>
          <a:fillRef idx="0"/>
          <a:effectRef idx="0"/>
          <a:fontRef idx="minor"/>
        </p:style>
        <p:txBody>
          <a:bodyPr lIns="25560" tIns="25560" rIns="25560" bIns="25560" anchor="t">
            <a:normAutofit fontScale="92500"/>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meeting with Vice Mayor of Mitsue (late 2025)</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meeting with local forestry group (early 2026)</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Founding charter + implementation plan drafted</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Phase / funding-gate flowchart published</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Advisory commitments: Joi Ito, Ray Ozzie, Takuo Dome</a:t>
            </a:r>
            <a:endParaRPr lang="en-US" sz="1800" b="0" u="none" strike="noStrike">
              <a:solidFill>
                <a:srgbClr val="000000"/>
              </a:solidFill>
              <a:latin typeface="Arial"/>
            </a:endParaRPr>
          </a:p>
        </p:txBody>
      </p:sp>
      <p:sp>
        <p:nvSpPr>
          <p:cNvPr id="843058588" name="Shape 16"/>
          <p:cNvSpPr/>
          <p:nvPr/>
        </p:nvSpPr>
        <p:spPr bwMode="auto">
          <a:xfrm flipH="0" flipV="0">
            <a:off x="9892440" y="4624560"/>
            <a:ext cx="7347600" cy="242388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340274756" name="Text 17"/>
          <p:cNvSpPr/>
          <p:nvPr/>
        </p:nvSpPr>
        <p:spPr bwMode="auto">
          <a:xfrm>
            <a:off x="10187640" y="4881960"/>
            <a:ext cx="69598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C4663A"/>
                </a:solidFill>
                <a:latin typeface="Courier New"/>
                <a:ea typeface="Courier New"/>
              </a:rPr>
              <a:t>→ IN PROGRESS</a:t>
            </a:r>
            <a:endParaRPr lang="en-US" sz="1800" b="0" u="none" strike="noStrike">
              <a:solidFill>
                <a:srgbClr val="000000"/>
              </a:solidFill>
              <a:latin typeface="Arial"/>
            </a:endParaRPr>
          </a:p>
        </p:txBody>
      </p:sp>
      <p:sp>
        <p:nvSpPr>
          <p:cNvPr id="994001275" name="Text 18"/>
          <p:cNvSpPr/>
          <p:nvPr/>
        </p:nvSpPr>
        <p:spPr bwMode="auto">
          <a:xfrm>
            <a:off x="10237320" y="5281920"/>
            <a:ext cx="6783840" cy="1375200"/>
          </a:xfrm>
          <a:prstGeom prst="rect">
            <a:avLst/>
          </a:prstGeom>
          <a:noFill/>
          <a:ln w="0">
            <a:noFill/>
          </a:ln>
        </p:spPr>
        <p:style>
          <a:lnRef idx="0"/>
          <a:fillRef idx="0"/>
          <a:effectRef idx="0"/>
          <a:fontRef idx="minor"/>
        </p:style>
        <p:txBody>
          <a:bodyPr lIns="25560" tIns="25560" rIns="25560" bIns="25560" anchor="t">
            <a:normAutofit fontScale="92500"/>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Identifying a Japanese co-founder with rural credibility</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Scheduling a formal meeting with the Village Mayor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Drafting bylaws for a </a:t>
            </a:r>
            <a:r>
              <a:rPr lang="zh-CN" sz="1800" b="0" u="none" strike="noStrike">
                <a:solidFill>
                  <a:srgbClr val="1F2A24"/>
                </a:solidFill>
                <a:latin typeface="Arial"/>
                <a:ea typeface="Arial"/>
              </a:rPr>
              <a:t>一般社団法人</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Engaging a </a:t>
            </a:r>
            <a:r>
              <a:rPr lang="zh-CN" sz="1800" b="0" u="none" strike="noStrike">
                <a:solidFill>
                  <a:srgbClr val="1F2A24"/>
                </a:solidFill>
                <a:latin typeface="Arial"/>
                <a:ea typeface="Arial"/>
              </a:rPr>
              <a:t>行政書士 </a:t>
            </a:r>
            <a:r>
              <a:rPr lang="en-US" sz="1800" b="0" u="none" strike="noStrike">
                <a:solidFill>
                  <a:srgbClr val="1F2A24"/>
                </a:solidFill>
                <a:latin typeface="Arial"/>
                <a:ea typeface="Arial"/>
              </a:rPr>
              <a:t>(administrative scrivener) in Nara</a:t>
            </a:r>
            <a:endParaRPr lang="en-US" sz="1800" b="0" u="none" strike="noStrike">
              <a:solidFill>
                <a:srgbClr val="000000"/>
              </a:solidFill>
              <a:latin typeface="Arial"/>
            </a:endParaRPr>
          </a:p>
        </p:txBody>
      </p:sp>
      <p:sp>
        <p:nvSpPr>
          <p:cNvPr id="644024211" name="Shape 19"/>
          <p:cNvSpPr/>
          <p:nvPr/>
        </p:nvSpPr>
        <p:spPr bwMode="auto">
          <a:xfrm flipH="0" flipV="0">
            <a:off x="9892440" y="7230240"/>
            <a:ext cx="7347600" cy="2270519"/>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227579397" name="Text 20"/>
          <p:cNvSpPr/>
          <p:nvPr/>
        </p:nvSpPr>
        <p:spPr bwMode="auto">
          <a:xfrm>
            <a:off x="10187640" y="7516080"/>
            <a:ext cx="6959880" cy="333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 NEXT 30 DAYS</a:t>
            </a:r>
            <a:endParaRPr lang="en-US" sz="1800" b="0" u="none" strike="noStrike">
              <a:solidFill>
                <a:srgbClr val="000000"/>
              </a:solidFill>
              <a:latin typeface="Arial"/>
            </a:endParaRPr>
          </a:p>
        </p:txBody>
      </p:sp>
      <p:sp>
        <p:nvSpPr>
          <p:cNvPr id="274448294" name="Text 21"/>
          <p:cNvSpPr/>
          <p:nvPr/>
        </p:nvSpPr>
        <p:spPr bwMode="auto">
          <a:xfrm>
            <a:off x="10237320" y="7944840"/>
            <a:ext cx="6783840" cy="1375200"/>
          </a:xfrm>
          <a:prstGeom prst="rect">
            <a:avLst/>
          </a:prstGeom>
          <a:noFill/>
          <a:ln w="0">
            <a:noFill/>
          </a:ln>
        </p:spPr>
        <p:style>
          <a:lnRef idx="0"/>
          <a:fillRef idx="0"/>
          <a:effectRef idx="0"/>
          <a:fontRef idx="minor"/>
        </p:style>
        <p:txBody>
          <a:bodyPr lIns="25560" tIns="25560" rIns="25560" bIns="25560" anchor="t">
            <a:normAutofit fontScale="92500"/>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Approach candidate Japanese co-founder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Hold informal meeting with the Village Mayor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consultations with administrative scriveners</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Finalise the two-page bilingual charter</a:t>
            </a:r>
            <a:endParaRPr lang="en-US" sz="1800" b="0" u="none" strike="noStrike">
              <a:solidFill>
                <a:srgbClr val="000000"/>
              </a:solidFill>
              <a:latin typeface="Arial"/>
            </a:endParaRPr>
          </a:p>
        </p:txBody>
      </p:sp>
      <p:sp>
        <p:nvSpPr>
          <p:cNvPr id="342219992" name="Text 22"/>
          <p:cNvSpPr/>
          <p:nvPr/>
        </p:nvSpPr>
        <p:spPr bwMode="auto">
          <a:xfrm>
            <a:off x="1061100" y="9759449"/>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09 / 11</a:t>
            </a:r>
            <a:endParaRPr lang="en-US" sz="1800" b="0" u="none" strike="noStrike">
              <a:solidFill>
                <a:srgbClr val="000000"/>
              </a:solidFill>
              <a:latin typeface="Arial"/>
            </a:endParaRPr>
          </a:p>
        </p:txBody>
      </p:sp>
      <p:sp>
        <p:nvSpPr>
          <p:cNvPr id="958572073" name="Text 23"/>
          <p:cNvSpPr/>
          <p:nvPr/>
        </p:nvSpPr>
        <p:spPr bwMode="auto">
          <a:xfrm>
            <a:off x="11486880" y="9759449"/>
            <a:ext cx="57531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PHASE 0 · MONTHS 01–03 · SELF-FUNDED</a:t>
            </a:r>
            <a:endParaRPr lang="en-US" sz="1800" b="0" u="none" strike="noStrike">
              <a:solidFill>
                <a:srgbClr val="000000"/>
              </a:solidFill>
              <a:latin typeface="Arial"/>
            </a:endParaRPr>
          </a:p>
        </p:txBody>
      </p:sp>
      <p:sp>
        <p:nvSpPr>
          <p:cNvPr id="400313167" name="Text 11"/>
          <p:cNvSpPr/>
          <p:nvPr/>
        </p:nvSpPr>
        <p:spPr bwMode="auto">
          <a:xfrm>
            <a:off x="5622899" y="7915500"/>
            <a:ext cx="3808080" cy="5331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0000"/>
              </a:lnSpc>
              <a:tabLst>
                <a:tab pos="0" algn="l"/>
              </a:tabLst>
              <a:defRPr/>
            </a:pPr>
            <a:r>
              <a:rPr lang="en-US" sz="3900" b="0" u="none" strike="noStrike" spc="-40">
                <a:solidFill>
                  <a:srgbClr val="1F2A24"/>
                </a:solidFill>
                <a:latin typeface="Georgia"/>
                <a:ea typeface="Georgia"/>
              </a:rPr>
              <a:t>Takuo Dome</a:t>
            </a:r>
            <a:endParaRPr lang="en-US" sz="3900" b="0" u="none" strike="noStrike">
              <a:solidFill>
                <a:srgbClr val="000000"/>
              </a:solidFill>
              <a:latin typeface="Arial"/>
            </a:endParaRPr>
          </a:p>
        </p:txBody>
      </p:sp>
      <p:sp>
        <p:nvSpPr>
          <p:cNvPr id="956545727" name="Text 12"/>
          <p:cNvSpPr/>
          <p:nvPr/>
        </p:nvSpPr>
        <p:spPr bwMode="auto">
          <a:xfrm flipH="0" flipV="0">
            <a:off x="5608859" y="8448660"/>
            <a:ext cx="3521098" cy="761759"/>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95000" lnSpcReduction="1000"/>
          </a:bodyPr>
          <a:p>
            <a:pPr defTabSz="914400">
              <a:lnSpc>
                <a:spcPct val="145000"/>
              </a:lnSpc>
              <a:tabLst>
                <a:tab pos="0" algn="l"/>
              </a:tabLst>
              <a:defRPr/>
            </a:pPr>
            <a:r>
              <a:rPr lang="en-US" sz="1800" b="0" u="none" strike="noStrike">
                <a:solidFill>
                  <a:srgbClr val="4C554F"/>
                </a:solidFill>
                <a:latin typeface="Arial"/>
                <a:ea typeface="Arial"/>
              </a:rPr>
              <a:t>Professor, Osaka Univ. · </a:t>
            </a:r>
            <a:endParaRPr lang="en-US" sz="1800" b="0" u="none" strike="noStrike">
              <a:solidFill>
                <a:srgbClr val="4C554F"/>
              </a:solidFill>
              <a:latin typeface="Arial"/>
              <a:ea typeface="Arial"/>
            </a:endParaRPr>
          </a:p>
          <a:p>
            <a:pPr defTabSz="914400">
              <a:lnSpc>
                <a:spcPct val="145000"/>
              </a:lnSpc>
              <a:tabLst>
                <a:tab pos="0" algn="l"/>
              </a:tabLst>
              <a:defRPr/>
            </a:pPr>
            <a:r>
              <a:rPr lang="en-US" sz="1800" b="0" u="none" strike="noStrike">
                <a:solidFill>
                  <a:srgbClr val="4C554F"/>
                </a:solidFill>
                <a:latin typeface="Arial"/>
                <a:ea typeface="Arial"/>
              </a:rPr>
              <a:t>Rep. Director, Inochi Forum</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053168058" name="Shape 0"/>
          <p:cNvSpPr/>
          <p:nvPr/>
        </p:nvSpPr>
        <p:spPr bwMode="auto">
          <a:xfrm>
            <a:off x="1047600" y="762120"/>
            <a:ext cx="456840" cy="45684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329306078"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0676598"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928199955" name="Text 3"/>
          <p:cNvSpPr/>
          <p:nvPr/>
        </p:nvSpPr>
        <p:spPr bwMode="auto">
          <a:xfrm>
            <a:off x="13985640" y="762120"/>
            <a:ext cx="33519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 09 · PHASES &amp; GATES</a:t>
            </a:r>
            <a:endParaRPr lang="en-US" sz="1800" b="0" u="none" strike="noStrike">
              <a:solidFill>
                <a:srgbClr val="000000"/>
              </a:solidFill>
              <a:latin typeface="Arial"/>
            </a:endParaRPr>
          </a:p>
        </p:txBody>
      </p:sp>
      <p:sp>
        <p:nvSpPr>
          <p:cNvPr id="1834676001" name="Text 4"/>
          <p:cNvSpPr/>
          <p:nvPr/>
        </p:nvSpPr>
        <p:spPr bwMode="auto">
          <a:xfrm>
            <a:off x="1047600" y="1428840"/>
            <a:ext cx="11560680" cy="154080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98000"/>
              </a:lnSpc>
              <a:tabLst>
                <a:tab pos="0" algn="l"/>
              </a:tabLst>
              <a:defRPr/>
            </a:pPr>
            <a:r>
              <a:rPr lang="en-US" sz="6000" b="0" u="none" strike="noStrike" spc="-60">
                <a:solidFill>
                  <a:srgbClr val="1F2A24"/>
                </a:solidFill>
                <a:latin typeface="Georgia"/>
                <a:ea typeface="Georgia"/>
              </a:rPr>
              <a:t>Five phases. Four </a:t>
            </a:r>
            <a:r>
              <a:rPr lang="en-US" sz="6000" b="0" i="1" u="none" strike="noStrike" spc="-60">
                <a:solidFill>
                  <a:srgbClr val="C4663A"/>
                </a:solidFill>
                <a:latin typeface="Georgia"/>
                <a:ea typeface="Georgia"/>
              </a:rPr>
              <a:t>real </a:t>
            </a:r>
            <a:r>
              <a:rPr lang="en-US" sz="6000" b="0" u="none" strike="noStrike" spc="-60">
                <a:solidFill>
                  <a:srgbClr val="1F2A24"/>
                </a:solidFill>
                <a:latin typeface="Georgia"/>
                <a:ea typeface="Georgia"/>
              </a:rPr>
              <a:t>funding gates.</a:t>
            </a:r>
            <a:endParaRPr lang="en-US" sz="6000" b="0" u="none" strike="noStrike">
              <a:solidFill>
                <a:srgbClr val="000000"/>
              </a:solidFill>
              <a:latin typeface="Arial"/>
            </a:endParaRPr>
          </a:p>
        </p:txBody>
      </p:sp>
      <p:sp>
        <p:nvSpPr>
          <p:cNvPr id="464217679" name="Text 5"/>
          <p:cNvSpPr/>
          <p:nvPr/>
        </p:nvSpPr>
        <p:spPr bwMode="auto">
          <a:xfrm>
            <a:off x="1047600" y="3255480"/>
            <a:ext cx="10477440" cy="103212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1F2A24"/>
                </a:solidFill>
                <a:latin typeface="Arial"/>
                <a:ea typeface="Arial"/>
              </a:rPr>
              <a:t>Each gate is a checkpoint. Miss one and we hold and re-pitch — we don't accelerate into an under-resourced phase. The funding stack has five layers, deliberately, so no single source can stall the project early.</a:t>
            </a:r>
            <a:endParaRPr lang="en-US" sz="1800" b="0" u="none" strike="noStrike">
              <a:solidFill>
                <a:srgbClr val="000000"/>
              </a:solidFill>
              <a:latin typeface="Arial"/>
            </a:endParaRPr>
          </a:p>
        </p:txBody>
      </p:sp>
      <p:sp>
        <p:nvSpPr>
          <p:cNvPr id="1468361486" name="Shape 6"/>
          <p:cNvSpPr/>
          <p:nvPr/>
        </p:nvSpPr>
        <p:spPr bwMode="auto">
          <a:xfrm>
            <a:off x="1047600" y="4726440"/>
            <a:ext cx="3131640" cy="1316160"/>
          </a:xfrm>
          <a:prstGeom prst="rect">
            <a:avLst/>
          </a:prstGeom>
          <a:solidFill>
            <a:srgbClr val="C4663A"/>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54685082" name="Text 7"/>
          <p:cNvSpPr/>
          <p:nvPr/>
        </p:nvSpPr>
        <p:spPr bwMode="auto">
          <a:xfrm>
            <a:off x="1209600" y="4888080"/>
            <a:ext cx="28918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80000"/>
                  </a:srgbClr>
                </a:solidFill>
                <a:latin typeface="Courier New"/>
                <a:ea typeface="Courier New"/>
              </a:rPr>
              <a:t>PHASE 0 · NOW</a:t>
            </a:r>
            <a:endParaRPr lang="en-US" sz="1800" b="0" u="none" strike="noStrike">
              <a:solidFill>
                <a:srgbClr val="000000"/>
              </a:solidFill>
              <a:latin typeface="Arial"/>
            </a:endParaRPr>
          </a:p>
        </p:txBody>
      </p:sp>
      <p:sp>
        <p:nvSpPr>
          <p:cNvPr id="57548264" name="Text 8"/>
          <p:cNvSpPr/>
          <p:nvPr/>
        </p:nvSpPr>
        <p:spPr bwMode="auto">
          <a:xfrm>
            <a:off x="1209600" y="5212080"/>
            <a:ext cx="2891880" cy="3178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2250" b="0" u="none" strike="noStrike" spc="-23">
                <a:solidFill>
                  <a:srgbClr val="F3ECE0"/>
                </a:solidFill>
                <a:latin typeface="Georgia"/>
                <a:ea typeface="Georgia"/>
              </a:rPr>
              <a:t>Pre-Foundation</a:t>
            </a:r>
            <a:endParaRPr lang="en-US" sz="2250" b="0" u="none" strike="noStrike">
              <a:solidFill>
                <a:srgbClr val="000000"/>
              </a:solidFill>
              <a:latin typeface="Arial"/>
            </a:endParaRPr>
          </a:p>
        </p:txBody>
      </p:sp>
      <p:sp>
        <p:nvSpPr>
          <p:cNvPr id="1406687125" name="Text 9"/>
          <p:cNvSpPr/>
          <p:nvPr/>
        </p:nvSpPr>
        <p:spPr bwMode="auto">
          <a:xfrm>
            <a:off x="1209600" y="5549400"/>
            <a:ext cx="2891880" cy="369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F3ECE0">
                    <a:alpha val="90000"/>
                  </a:srgbClr>
                </a:solidFill>
                <a:latin typeface="Arial"/>
                <a:ea typeface="Arial"/>
              </a:rPr>
              <a:t>M 1–3 · ¥0–0.5M</a:t>
            </a:r>
            <a:endParaRPr lang="en-US" sz="1800" b="0" u="none" strike="noStrike">
              <a:solidFill>
                <a:srgbClr val="000000"/>
              </a:solidFill>
              <a:latin typeface="Arial"/>
            </a:endParaRPr>
          </a:p>
        </p:txBody>
      </p:sp>
      <p:sp>
        <p:nvSpPr>
          <p:cNvPr id="1906565612" name="Shape 10"/>
          <p:cNvSpPr/>
          <p:nvPr/>
        </p:nvSpPr>
        <p:spPr bwMode="auto">
          <a:xfrm>
            <a:off x="4312800" y="4726440"/>
            <a:ext cx="3131640" cy="13161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891230929" name="Text 11"/>
          <p:cNvSpPr/>
          <p:nvPr/>
        </p:nvSpPr>
        <p:spPr bwMode="auto">
          <a:xfrm>
            <a:off x="4474800" y="4888080"/>
            <a:ext cx="28918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PHASE 1</a:t>
            </a:r>
            <a:endParaRPr lang="en-US" sz="1800" b="0" u="none" strike="noStrike">
              <a:solidFill>
                <a:srgbClr val="000000"/>
              </a:solidFill>
              <a:latin typeface="Arial"/>
            </a:endParaRPr>
          </a:p>
        </p:txBody>
      </p:sp>
      <p:sp>
        <p:nvSpPr>
          <p:cNvPr id="435435296" name="Text 12"/>
          <p:cNvSpPr/>
          <p:nvPr/>
        </p:nvSpPr>
        <p:spPr bwMode="auto">
          <a:xfrm>
            <a:off x="4474800" y="5212080"/>
            <a:ext cx="2891880" cy="3178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2250" b="0" u="none" strike="noStrike" spc="-23">
                <a:solidFill>
                  <a:srgbClr val="1F2A24"/>
                </a:solidFill>
                <a:latin typeface="Georgia"/>
                <a:ea typeface="Georgia"/>
              </a:rPr>
              <a:t>Foundation</a:t>
            </a:r>
            <a:endParaRPr lang="en-US" sz="2250" b="0" u="none" strike="noStrike">
              <a:solidFill>
                <a:srgbClr val="000000"/>
              </a:solidFill>
              <a:latin typeface="Arial"/>
            </a:endParaRPr>
          </a:p>
        </p:txBody>
      </p:sp>
      <p:sp>
        <p:nvSpPr>
          <p:cNvPr id="746760276" name="Text 13"/>
          <p:cNvSpPr/>
          <p:nvPr/>
        </p:nvSpPr>
        <p:spPr bwMode="auto">
          <a:xfrm>
            <a:off x="4474800" y="5549400"/>
            <a:ext cx="2891880" cy="369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M 4–9 · ¥3–8M</a:t>
            </a:r>
            <a:endParaRPr lang="en-US" sz="1800" b="0" u="none" strike="noStrike">
              <a:solidFill>
                <a:srgbClr val="000000"/>
              </a:solidFill>
              <a:latin typeface="Arial"/>
            </a:endParaRPr>
          </a:p>
        </p:txBody>
      </p:sp>
      <p:sp>
        <p:nvSpPr>
          <p:cNvPr id="1283424732" name="Shape 14"/>
          <p:cNvSpPr/>
          <p:nvPr/>
        </p:nvSpPr>
        <p:spPr bwMode="auto">
          <a:xfrm>
            <a:off x="7578000" y="4726440"/>
            <a:ext cx="3131640" cy="13161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686257040" name="Text 15"/>
          <p:cNvSpPr/>
          <p:nvPr/>
        </p:nvSpPr>
        <p:spPr bwMode="auto">
          <a:xfrm>
            <a:off x="7740000" y="4888080"/>
            <a:ext cx="28918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PHASE 2</a:t>
            </a:r>
            <a:endParaRPr lang="en-US" sz="1800" b="0" u="none" strike="noStrike">
              <a:solidFill>
                <a:srgbClr val="000000"/>
              </a:solidFill>
              <a:latin typeface="Arial"/>
            </a:endParaRPr>
          </a:p>
        </p:txBody>
      </p:sp>
      <p:sp>
        <p:nvSpPr>
          <p:cNvPr id="660064233" name="Text 16"/>
          <p:cNvSpPr/>
          <p:nvPr/>
        </p:nvSpPr>
        <p:spPr bwMode="auto">
          <a:xfrm>
            <a:off x="7740000" y="5212080"/>
            <a:ext cx="2891880" cy="3178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2250" b="0" u="none" strike="noStrike" spc="-23">
                <a:solidFill>
                  <a:srgbClr val="1F2A24"/>
                </a:solidFill>
                <a:latin typeface="Georgia"/>
                <a:ea typeface="Georgia"/>
              </a:rPr>
              <a:t>Pilot Design</a:t>
            </a:r>
            <a:endParaRPr lang="en-US" sz="2250" b="0" u="none" strike="noStrike">
              <a:solidFill>
                <a:srgbClr val="000000"/>
              </a:solidFill>
              <a:latin typeface="Arial"/>
            </a:endParaRPr>
          </a:p>
        </p:txBody>
      </p:sp>
      <p:sp>
        <p:nvSpPr>
          <p:cNvPr id="630653088" name="Text 17"/>
          <p:cNvSpPr/>
          <p:nvPr/>
        </p:nvSpPr>
        <p:spPr bwMode="auto">
          <a:xfrm>
            <a:off x="7740000" y="5549400"/>
            <a:ext cx="2891880" cy="369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M 10–18 · ¥15–30M</a:t>
            </a:r>
            <a:endParaRPr lang="en-US" sz="1800" b="0" u="none" strike="noStrike">
              <a:solidFill>
                <a:srgbClr val="000000"/>
              </a:solidFill>
              <a:latin typeface="Arial"/>
            </a:endParaRPr>
          </a:p>
        </p:txBody>
      </p:sp>
      <p:sp>
        <p:nvSpPr>
          <p:cNvPr id="1786600918" name="Shape 18"/>
          <p:cNvSpPr/>
          <p:nvPr/>
        </p:nvSpPr>
        <p:spPr bwMode="auto">
          <a:xfrm>
            <a:off x="10843200" y="4726440"/>
            <a:ext cx="3131640" cy="13161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862504105" name="Text 19"/>
          <p:cNvSpPr/>
          <p:nvPr/>
        </p:nvSpPr>
        <p:spPr bwMode="auto">
          <a:xfrm>
            <a:off x="11005200" y="4888080"/>
            <a:ext cx="28918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PHASE 3</a:t>
            </a:r>
            <a:endParaRPr lang="en-US" sz="1800" b="0" u="none" strike="noStrike">
              <a:solidFill>
                <a:srgbClr val="000000"/>
              </a:solidFill>
              <a:latin typeface="Arial"/>
            </a:endParaRPr>
          </a:p>
        </p:txBody>
      </p:sp>
      <p:sp>
        <p:nvSpPr>
          <p:cNvPr id="386909072" name="Text 20"/>
          <p:cNvSpPr/>
          <p:nvPr/>
        </p:nvSpPr>
        <p:spPr bwMode="auto">
          <a:xfrm>
            <a:off x="11005200" y="5212080"/>
            <a:ext cx="2891880" cy="3178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2250" b="0" u="none" strike="noStrike" spc="-23">
                <a:solidFill>
                  <a:srgbClr val="1F2A24"/>
                </a:solidFill>
                <a:latin typeface="Georgia"/>
                <a:ea typeface="Georgia"/>
              </a:rPr>
              <a:t>Pilot Build</a:t>
            </a:r>
            <a:endParaRPr lang="en-US" sz="2250" b="0" u="none" strike="noStrike">
              <a:solidFill>
                <a:srgbClr val="000000"/>
              </a:solidFill>
              <a:latin typeface="Arial"/>
            </a:endParaRPr>
          </a:p>
        </p:txBody>
      </p:sp>
      <p:sp>
        <p:nvSpPr>
          <p:cNvPr id="304684076" name="Text 21"/>
          <p:cNvSpPr/>
          <p:nvPr/>
        </p:nvSpPr>
        <p:spPr bwMode="auto">
          <a:xfrm>
            <a:off x="11005200" y="5549400"/>
            <a:ext cx="2891880" cy="369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M 19–30 · ¥80–200M</a:t>
            </a:r>
            <a:endParaRPr lang="en-US" sz="1800" b="0" u="none" strike="noStrike">
              <a:solidFill>
                <a:srgbClr val="000000"/>
              </a:solidFill>
              <a:latin typeface="Arial"/>
            </a:endParaRPr>
          </a:p>
        </p:txBody>
      </p:sp>
      <p:sp>
        <p:nvSpPr>
          <p:cNvPr id="1263226779" name="Shape 22"/>
          <p:cNvSpPr/>
          <p:nvPr/>
        </p:nvSpPr>
        <p:spPr bwMode="auto">
          <a:xfrm>
            <a:off x="14108400" y="4726440"/>
            <a:ext cx="3131640" cy="13161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894662696" name="Text 23"/>
          <p:cNvSpPr/>
          <p:nvPr/>
        </p:nvSpPr>
        <p:spPr bwMode="auto">
          <a:xfrm>
            <a:off x="14270400" y="4888080"/>
            <a:ext cx="28918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PHASE 4</a:t>
            </a:r>
            <a:endParaRPr lang="en-US" sz="1800" b="0" u="none" strike="noStrike">
              <a:solidFill>
                <a:srgbClr val="000000"/>
              </a:solidFill>
              <a:latin typeface="Arial"/>
            </a:endParaRPr>
          </a:p>
        </p:txBody>
      </p:sp>
      <p:sp>
        <p:nvSpPr>
          <p:cNvPr id="1435817650" name="Text 24"/>
          <p:cNvSpPr/>
          <p:nvPr/>
        </p:nvSpPr>
        <p:spPr bwMode="auto">
          <a:xfrm>
            <a:off x="14270400" y="5212080"/>
            <a:ext cx="2891880" cy="3178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2250" b="0" u="none" strike="noStrike" spc="-23">
                <a:solidFill>
                  <a:srgbClr val="1F2A24"/>
                </a:solidFill>
                <a:latin typeface="Georgia"/>
                <a:ea typeface="Georgia"/>
              </a:rPr>
              <a:t>Operate &amp; Scale</a:t>
            </a:r>
            <a:endParaRPr lang="en-US" sz="2250" b="0" u="none" strike="noStrike">
              <a:solidFill>
                <a:srgbClr val="000000"/>
              </a:solidFill>
              <a:latin typeface="Arial"/>
            </a:endParaRPr>
          </a:p>
        </p:txBody>
      </p:sp>
      <p:sp>
        <p:nvSpPr>
          <p:cNvPr id="902803389" name="Text 25"/>
          <p:cNvSpPr/>
          <p:nvPr/>
        </p:nvSpPr>
        <p:spPr bwMode="auto">
          <a:xfrm>
            <a:off x="14270400" y="5549400"/>
            <a:ext cx="2891880" cy="3693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4C554F"/>
                </a:solidFill>
                <a:latin typeface="Arial"/>
                <a:ea typeface="Arial"/>
              </a:rPr>
              <a:t>M 31+ · revenue-led</a:t>
            </a:r>
            <a:endParaRPr lang="en-US" sz="1800" b="0" u="none" strike="noStrike">
              <a:solidFill>
                <a:srgbClr val="000000"/>
              </a:solidFill>
              <a:latin typeface="Arial"/>
            </a:endParaRPr>
          </a:p>
        </p:txBody>
      </p:sp>
      <p:sp>
        <p:nvSpPr>
          <p:cNvPr id="1382946947" name="Text 26"/>
          <p:cNvSpPr/>
          <p:nvPr/>
        </p:nvSpPr>
        <p:spPr bwMode="auto">
          <a:xfrm>
            <a:off x="4266000" y="6118920"/>
            <a:ext cx="3225240" cy="304560"/>
          </a:xfrm>
          <a:prstGeom prst="rect">
            <a:avLst/>
          </a:prstGeom>
          <a:noFill/>
          <a:ln w="0">
            <a:noFill/>
          </a:ln>
        </p:spPr>
        <p:style>
          <a:lnRef idx="0"/>
          <a:fillRef idx="0"/>
          <a:effectRef idx="0"/>
          <a:fontRef idx="minor"/>
        </p:style>
        <p:txBody>
          <a:bodyPr lIns="25560" tIns="25560" rIns="25560" bIns="25560" anchor="t">
            <a:normAutofit/>
          </a:bodyPr>
          <a:p>
            <a:pPr algn="ctr" defTabSz="914400">
              <a:lnSpc>
                <a:spcPct val="100000"/>
              </a:lnSpc>
              <a:tabLst>
                <a:tab pos="0" algn="l"/>
              </a:tabLst>
              <a:defRPr/>
            </a:pPr>
            <a:r>
              <a:rPr lang="en-US" sz="1800" b="0" u="none" strike="noStrike" spc="215">
                <a:solidFill>
                  <a:srgbClr val="4C554F"/>
                </a:solidFill>
                <a:latin typeface="Courier New"/>
                <a:ea typeface="Courier New"/>
              </a:rPr>
              <a:t>G1 · ¥3–8M</a:t>
            </a:r>
            <a:endParaRPr lang="en-US" sz="1800" b="0" u="none" strike="noStrike">
              <a:solidFill>
                <a:srgbClr val="000000"/>
              </a:solidFill>
              <a:latin typeface="Arial"/>
            </a:endParaRPr>
          </a:p>
        </p:txBody>
      </p:sp>
      <p:sp>
        <p:nvSpPr>
          <p:cNvPr id="115853454" name="Text 27"/>
          <p:cNvSpPr/>
          <p:nvPr/>
        </p:nvSpPr>
        <p:spPr bwMode="auto">
          <a:xfrm>
            <a:off x="7531200" y="6118920"/>
            <a:ext cx="3225240" cy="304560"/>
          </a:xfrm>
          <a:prstGeom prst="rect">
            <a:avLst/>
          </a:prstGeom>
          <a:noFill/>
          <a:ln w="0">
            <a:noFill/>
          </a:ln>
        </p:spPr>
        <p:style>
          <a:lnRef idx="0"/>
          <a:fillRef idx="0"/>
          <a:effectRef idx="0"/>
          <a:fontRef idx="minor"/>
        </p:style>
        <p:txBody>
          <a:bodyPr lIns="25560" tIns="25560" rIns="25560" bIns="25560" anchor="t">
            <a:normAutofit/>
          </a:bodyPr>
          <a:p>
            <a:pPr algn="ctr" defTabSz="914400">
              <a:lnSpc>
                <a:spcPct val="100000"/>
              </a:lnSpc>
              <a:tabLst>
                <a:tab pos="0" algn="l"/>
              </a:tabLst>
              <a:defRPr/>
            </a:pPr>
            <a:r>
              <a:rPr lang="en-US" sz="1800" b="0" u="none" strike="noStrike" spc="215">
                <a:solidFill>
                  <a:srgbClr val="4C554F"/>
                </a:solidFill>
                <a:latin typeface="Courier New"/>
                <a:ea typeface="Courier New"/>
              </a:rPr>
              <a:t>G2 · ¥30–50M</a:t>
            </a:r>
            <a:endParaRPr lang="en-US" sz="1800" b="0" u="none" strike="noStrike">
              <a:solidFill>
                <a:srgbClr val="000000"/>
              </a:solidFill>
              <a:latin typeface="Arial"/>
            </a:endParaRPr>
          </a:p>
        </p:txBody>
      </p:sp>
      <p:sp>
        <p:nvSpPr>
          <p:cNvPr id="1917225155" name="Text 28"/>
          <p:cNvSpPr/>
          <p:nvPr/>
        </p:nvSpPr>
        <p:spPr bwMode="auto">
          <a:xfrm>
            <a:off x="10796400" y="6118920"/>
            <a:ext cx="3225240" cy="304560"/>
          </a:xfrm>
          <a:prstGeom prst="rect">
            <a:avLst/>
          </a:prstGeom>
          <a:noFill/>
          <a:ln w="0">
            <a:noFill/>
          </a:ln>
        </p:spPr>
        <p:style>
          <a:lnRef idx="0"/>
          <a:fillRef idx="0"/>
          <a:effectRef idx="0"/>
          <a:fontRef idx="minor"/>
        </p:style>
        <p:txBody>
          <a:bodyPr lIns="25560" tIns="25560" rIns="25560" bIns="25560" anchor="t">
            <a:normAutofit/>
          </a:bodyPr>
          <a:p>
            <a:pPr algn="ctr" defTabSz="914400">
              <a:lnSpc>
                <a:spcPct val="100000"/>
              </a:lnSpc>
              <a:tabLst>
                <a:tab pos="0" algn="l"/>
              </a:tabLst>
              <a:defRPr/>
            </a:pPr>
            <a:r>
              <a:rPr lang="en-US" sz="1800" b="0" u="none" strike="noStrike" spc="215">
                <a:solidFill>
                  <a:srgbClr val="4C554F"/>
                </a:solidFill>
                <a:latin typeface="Courier New"/>
                <a:ea typeface="Courier New"/>
              </a:rPr>
              <a:t>G3 · ¥80–200M</a:t>
            </a:r>
            <a:endParaRPr lang="en-US" sz="1800" b="0" u="none" strike="noStrike">
              <a:solidFill>
                <a:srgbClr val="000000"/>
              </a:solidFill>
              <a:latin typeface="Arial"/>
            </a:endParaRPr>
          </a:p>
        </p:txBody>
      </p:sp>
      <p:sp>
        <p:nvSpPr>
          <p:cNvPr id="8609271" name="Text 29"/>
          <p:cNvSpPr/>
          <p:nvPr/>
        </p:nvSpPr>
        <p:spPr bwMode="auto">
          <a:xfrm>
            <a:off x="14061600" y="6118920"/>
            <a:ext cx="3225240" cy="304560"/>
          </a:xfrm>
          <a:prstGeom prst="rect">
            <a:avLst/>
          </a:prstGeom>
          <a:noFill/>
          <a:ln w="0">
            <a:noFill/>
          </a:ln>
        </p:spPr>
        <p:style>
          <a:lnRef idx="0"/>
          <a:fillRef idx="0"/>
          <a:effectRef idx="0"/>
          <a:fontRef idx="minor"/>
        </p:style>
        <p:txBody>
          <a:bodyPr lIns="25560" tIns="25560" rIns="25560" bIns="25560" anchor="t">
            <a:normAutofit/>
          </a:bodyPr>
          <a:p>
            <a:pPr algn="ctr" defTabSz="914400">
              <a:lnSpc>
                <a:spcPct val="100000"/>
              </a:lnSpc>
              <a:tabLst>
                <a:tab pos="0" algn="l"/>
              </a:tabLst>
              <a:defRPr/>
            </a:pPr>
            <a:r>
              <a:rPr lang="en-US" sz="1800" b="0" u="none" strike="noStrike" spc="215">
                <a:solidFill>
                  <a:srgbClr val="4C554F"/>
                </a:solidFill>
                <a:latin typeface="Courier New"/>
                <a:ea typeface="Courier New"/>
              </a:rPr>
              <a:t>G4 · REVENUE ONLINE</a:t>
            </a:r>
            <a:endParaRPr lang="en-US" sz="1800" b="0" u="none" strike="noStrike">
              <a:solidFill>
                <a:srgbClr val="000000"/>
              </a:solidFill>
              <a:latin typeface="Arial"/>
            </a:endParaRPr>
          </a:p>
        </p:txBody>
      </p:sp>
      <p:sp>
        <p:nvSpPr>
          <p:cNvPr id="874933561" name="Text 30"/>
          <p:cNvSpPr/>
          <p:nvPr/>
        </p:nvSpPr>
        <p:spPr bwMode="auto">
          <a:xfrm>
            <a:off x="1047600" y="6557039"/>
            <a:ext cx="94539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FIVE-LAYER FUNDING STACK · YEAR-3 TARGET ≈ ¥134M</a:t>
            </a:r>
            <a:endParaRPr lang="en-US" sz="1800" b="0" u="none" strike="noStrike">
              <a:solidFill>
                <a:srgbClr val="000000"/>
              </a:solidFill>
              <a:latin typeface="Arial"/>
            </a:endParaRPr>
          </a:p>
        </p:txBody>
      </p:sp>
      <p:sp>
        <p:nvSpPr>
          <p:cNvPr id="460415577" name="Shape 31"/>
          <p:cNvSpPr/>
          <p:nvPr/>
        </p:nvSpPr>
        <p:spPr bwMode="auto">
          <a:xfrm>
            <a:off x="1047600" y="7266600"/>
            <a:ext cx="9178560" cy="9000"/>
          </a:xfrm>
          <a:prstGeom prst="rect">
            <a:avLst/>
          </a:prstGeom>
          <a:solidFill>
            <a:srgbClr val="1F2A24"/>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544131970" name="Text 32"/>
          <p:cNvSpPr/>
          <p:nvPr/>
        </p:nvSpPr>
        <p:spPr bwMode="auto">
          <a:xfrm>
            <a:off x="1123920" y="6937920"/>
            <a:ext cx="1404720" cy="3376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Arial"/>
                <a:ea typeface="Arial"/>
              </a:rPr>
              <a:t>Layer</a:t>
            </a:r>
            <a:endParaRPr lang="en-US" sz="1800" b="0" u="none" strike="noStrike">
              <a:solidFill>
                <a:srgbClr val="000000"/>
              </a:solidFill>
              <a:latin typeface="Arial"/>
            </a:endParaRPr>
          </a:p>
        </p:txBody>
      </p:sp>
      <p:sp>
        <p:nvSpPr>
          <p:cNvPr id="2020207751" name="Text 33"/>
          <p:cNvSpPr/>
          <p:nvPr/>
        </p:nvSpPr>
        <p:spPr bwMode="auto">
          <a:xfrm>
            <a:off x="2605320" y="6937920"/>
            <a:ext cx="5094000" cy="3376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Arial"/>
                <a:ea typeface="Arial"/>
              </a:rPr>
              <a:t>Source</a:t>
            </a:r>
            <a:endParaRPr lang="en-US" sz="1800" b="0" u="none" strike="noStrike">
              <a:solidFill>
                <a:srgbClr val="000000"/>
              </a:solidFill>
              <a:latin typeface="Arial"/>
            </a:endParaRPr>
          </a:p>
        </p:txBody>
      </p:sp>
      <p:sp>
        <p:nvSpPr>
          <p:cNvPr id="1014323591" name="Text 34"/>
          <p:cNvSpPr/>
          <p:nvPr/>
        </p:nvSpPr>
        <p:spPr bwMode="auto">
          <a:xfrm>
            <a:off x="7623000" y="6937920"/>
            <a:ext cx="1084680" cy="3376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Arial"/>
                <a:ea typeface="Arial"/>
              </a:rPr>
              <a:t>Yr 1</a:t>
            </a:r>
            <a:endParaRPr lang="en-US" sz="1800" b="0" u="none" strike="noStrike">
              <a:solidFill>
                <a:srgbClr val="000000"/>
              </a:solidFill>
              <a:latin typeface="Arial"/>
            </a:endParaRPr>
          </a:p>
        </p:txBody>
      </p:sp>
      <p:sp>
        <p:nvSpPr>
          <p:cNvPr id="1452732111" name="Text 35"/>
          <p:cNvSpPr/>
          <p:nvPr/>
        </p:nvSpPr>
        <p:spPr bwMode="auto">
          <a:xfrm>
            <a:off x="8784360" y="6937920"/>
            <a:ext cx="1365840" cy="3376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Arial"/>
                <a:ea typeface="Arial"/>
              </a:rPr>
              <a:t>Yr 3</a:t>
            </a:r>
            <a:endParaRPr lang="en-US" sz="1800" b="0" u="none" strike="noStrike">
              <a:solidFill>
                <a:srgbClr val="000000"/>
              </a:solidFill>
              <a:latin typeface="Arial"/>
            </a:endParaRPr>
          </a:p>
        </p:txBody>
      </p:sp>
      <p:sp>
        <p:nvSpPr>
          <p:cNvPr id="1289087078" name="Shape 36"/>
          <p:cNvSpPr/>
          <p:nvPr/>
        </p:nvSpPr>
        <p:spPr bwMode="auto">
          <a:xfrm>
            <a:off x="1047600" y="7599960"/>
            <a:ext cx="9178560" cy="900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113720453" name="Text 37"/>
          <p:cNvSpPr/>
          <p:nvPr/>
        </p:nvSpPr>
        <p:spPr bwMode="auto">
          <a:xfrm>
            <a:off x="1123920" y="7304760"/>
            <a:ext cx="1404720" cy="3139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L1</a:t>
            </a:r>
            <a:endParaRPr lang="en-US" sz="1800" b="0" u="none" strike="noStrike">
              <a:solidFill>
                <a:srgbClr val="000000"/>
              </a:solidFill>
              <a:latin typeface="Arial"/>
            </a:endParaRPr>
          </a:p>
        </p:txBody>
      </p:sp>
      <p:sp>
        <p:nvSpPr>
          <p:cNvPr id="1384806193" name="Text 38"/>
          <p:cNvSpPr/>
          <p:nvPr/>
        </p:nvSpPr>
        <p:spPr bwMode="auto">
          <a:xfrm>
            <a:off x="2538720" y="7285680"/>
            <a:ext cx="5227200" cy="3520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Founder / private</a:t>
            </a:r>
            <a:endParaRPr lang="en-US" sz="1800" b="0" u="none" strike="noStrike">
              <a:solidFill>
                <a:srgbClr val="000000"/>
              </a:solidFill>
              <a:latin typeface="Arial"/>
            </a:endParaRPr>
          </a:p>
        </p:txBody>
      </p:sp>
      <p:sp>
        <p:nvSpPr>
          <p:cNvPr id="1567837326" name="Text 39"/>
          <p:cNvSpPr/>
          <p:nvPr/>
        </p:nvSpPr>
        <p:spPr bwMode="auto">
          <a:xfrm>
            <a:off x="7556400" y="7285680"/>
            <a:ext cx="12182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353084442" name="Text 40"/>
          <p:cNvSpPr/>
          <p:nvPr/>
        </p:nvSpPr>
        <p:spPr bwMode="auto">
          <a:xfrm>
            <a:off x="8717760" y="7285680"/>
            <a:ext cx="14990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¥1M</a:t>
            </a:r>
            <a:endParaRPr lang="en-US" sz="1800" b="0" u="none" strike="noStrike">
              <a:solidFill>
                <a:srgbClr val="000000"/>
              </a:solidFill>
              <a:latin typeface="Arial"/>
            </a:endParaRPr>
          </a:p>
        </p:txBody>
      </p:sp>
      <p:sp>
        <p:nvSpPr>
          <p:cNvPr id="1206486196" name="Shape 41"/>
          <p:cNvSpPr/>
          <p:nvPr/>
        </p:nvSpPr>
        <p:spPr bwMode="auto">
          <a:xfrm>
            <a:off x="1047600" y="7933320"/>
            <a:ext cx="9178560" cy="900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398762737" name="Text 42"/>
          <p:cNvSpPr/>
          <p:nvPr/>
        </p:nvSpPr>
        <p:spPr bwMode="auto">
          <a:xfrm>
            <a:off x="1123920" y="7638120"/>
            <a:ext cx="1404720" cy="3139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L2</a:t>
            </a:r>
            <a:endParaRPr lang="en-US" sz="1800" b="0" u="none" strike="noStrike">
              <a:solidFill>
                <a:srgbClr val="000000"/>
              </a:solidFill>
              <a:latin typeface="Arial"/>
            </a:endParaRPr>
          </a:p>
        </p:txBody>
      </p:sp>
      <p:sp>
        <p:nvSpPr>
          <p:cNvPr id="282893959" name="Text 43"/>
          <p:cNvSpPr/>
          <p:nvPr/>
        </p:nvSpPr>
        <p:spPr bwMode="auto">
          <a:xfrm>
            <a:off x="2538720" y="7619039"/>
            <a:ext cx="5227200" cy="3520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Government grants</a:t>
            </a:r>
            <a:endParaRPr lang="en-US" sz="1800" b="0" u="none" strike="noStrike">
              <a:solidFill>
                <a:srgbClr val="000000"/>
              </a:solidFill>
              <a:latin typeface="Arial"/>
            </a:endParaRPr>
          </a:p>
        </p:txBody>
      </p:sp>
      <p:sp>
        <p:nvSpPr>
          <p:cNvPr id="2060711502" name="Text 44"/>
          <p:cNvSpPr/>
          <p:nvPr/>
        </p:nvSpPr>
        <p:spPr bwMode="auto">
          <a:xfrm>
            <a:off x="7556400" y="7619039"/>
            <a:ext cx="12182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¥5M</a:t>
            </a:r>
            <a:endParaRPr lang="en-US" sz="1800" b="0" u="none" strike="noStrike">
              <a:solidFill>
                <a:srgbClr val="000000"/>
              </a:solidFill>
              <a:latin typeface="Arial"/>
            </a:endParaRPr>
          </a:p>
        </p:txBody>
      </p:sp>
      <p:sp>
        <p:nvSpPr>
          <p:cNvPr id="165958444" name="Text 45"/>
          <p:cNvSpPr/>
          <p:nvPr/>
        </p:nvSpPr>
        <p:spPr bwMode="auto">
          <a:xfrm>
            <a:off x="8717760" y="7619039"/>
            <a:ext cx="14990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¥80M</a:t>
            </a:r>
            <a:endParaRPr lang="en-US" sz="1800" b="0" u="none" strike="noStrike">
              <a:solidFill>
                <a:srgbClr val="000000"/>
              </a:solidFill>
              <a:latin typeface="Arial"/>
            </a:endParaRPr>
          </a:p>
        </p:txBody>
      </p:sp>
      <p:sp>
        <p:nvSpPr>
          <p:cNvPr id="1815549590" name="Shape 46"/>
          <p:cNvSpPr/>
          <p:nvPr/>
        </p:nvSpPr>
        <p:spPr bwMode="auto">
          <a:xfrm>
            <a:off x="1047600" y="8266680"/>
            <a:ext cx="9178560" cy="900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42597974" name="Text 47"/>
          <p:cNvSpPr/>
          <p:nvPr/>
        </p:nvSpPr>
        <p:spPr bwMode="auto">
          <a:xfrm>
            <a:off x="1123920" y="7971480"/>
            <a:ext cx="1404720" cy="3139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L3</a:t>
            </a:r>
            <a:endParaRPr lang="en-US" sz="1800" b="0" u="none" strike="noStrike">
              <a:solidFill>
                <a:srgbClr val="000000"/>
              </a:solidFill>
              <a:latin typeface="Arial"/>
            </a:endParaRPr>
          </a:p>
        </p:txBody>
      </p:sp>
      <p:sp>
        <p:nvSpPr>
          <p:cNvPr id="581009805" name="Text 48"/>
          <p:cNvSpPr/>
          <p:nvPr/>
        </p:nvSpPr>
        <p:spPr bwMode="auto">
          <a:xfrm>
            <a:off x="2538720" y="7952400"/>
            <a:ext cx="5227200" cy="3520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Foundations</a:t>
            </a:r>
            <a:endParaRPr lang="en-US" sz="1800" b="0" u="none" strike="noStrike">
              <a:solidFill>
                <a:srgbClr val="000000"/>
              </a:solidFill>
              <a:latin typeface="Arial"/>
            </a:endParaRPr>
          </a:p>
        </p:txBody>
      </p:sp>
      <p:sp>
        <p:nvSpPr>
          <p:cNvPr id="1105955996" name="Text 49"/>
          <p:cNvSpPr/>
          <p:nvPr/>
        </p:nvSpPr>
        <p:spPr bwMode="auto">
          <a:xfrm>
            <a:off x="7556400" y="7952400"/>
            <a:ext cx="12182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467107422" name="Text 50"/>
          <p:cNvSpPr/>
          <p:nvPr/>
        </p:nvSpPr>
        <p:spPr bwMode="auto">
          <a:xfrm>
            <a:off x="8717760" y="7952400"/>
            <a:ext cx="14990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¥20M</a:t>
            </a:r>
            <a:endParaRPr lang="en-US" sz="1800" b="0" u="none" strike="noStrike">
              <a:solidFill>
                <a:srgbClr val="000000"/>
              </a:solidFill>
              <a:latin typeface="Arial"/>
            </a:endParaRPr>
          </a:p>
        </p:txBody>
      </p:sp>
      <p:sp>
        <p:nvSpPr>
          <p:cNvPr id="1655513510" name="Shape 51"/>
          <p:cNvSpPr/>
          <p:nvPr/>
        </p:nvSpPr>
        <p:spPr bwMode="auto">
          <a:xfrm>
            <a:off x="1047600" y="8600040"/>
            <a:ext cx="9178560" cy="900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682887835" name="Text 52"/>
          <p:cNvSpPr/>
          <p:nvPr/>
        </p:nvSpPr>
        <p:spPr bwMode="auto">
          <a:xfrm>
            <a:off x="1123920" y="8304840"/>
            <a:ext cx="1404720" cy="3139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L4</a:t>
            </a:r>
            <a:endParaRPr lang="en-US" sz="1800" b="0" u="none" strike="noStrike">
              <a:solidFill>
                <a:srgbClr val="000000"/>
              </a:solidFill>
              <a:latin typeface="Arial"/>
            </a:endParaRPr>
          </a:p>
        </p:txBody>
      </p:sp>
      <p:sp>
        <p:nvSpPr>
          <p:cNvPr id="860965831" name="Text 53"/>
          <p:cNvSpPr/>
          <p:nvPr/>
        </p:nvSpPr>
        <p:spPr bwMode="auto">
          <a:xfrm>
            <a:off x="2538720" y="8285760"/>
            <a:ext cx="5227200" cy="3520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Corporate partners</a:t>
            </a:r>
            <a:endParaRPr lang="en-US" sz="1800" b="0" u="none" strike="noStrike">
              <a:solidFill>
                <a:srgbClr val="000000"/>
              </a:solidFill>
              <a:latin typeface="Arial"/>
            </a:endParaRPr>
          </a:p>
        </p:txBody>
      </p:sp>
      <p:sp>
        <p:nvSpPr>
          <p:cNvPr id="502527504" name="Text 54"/>
          <p:cNvSpPr/>
          <p:nvPr/>
        </p:nvSpPr>
        <p:spPr bwMode="auto">
          <a:xfrm>
            <a:off x="7556400" y="8285760"/>
            <a:ext cx="12182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¥0</a:t>
            </a:r>
            <a:endParaRPr lang="en-US" sz="1800" b="0" u="none" strike="noStrike">
              <a:solidFill>
                <a:srgbClr val="000000"/>
              </a:solidFill>
              <a:latin typeface="Arial"/>
            </a:endParaRPr>
          </a:p>
        </p:txBody>
      </p:sp>
      <p:sp>
        <p:nvSpPr>
          <p:cNvPr id="1240909963" name="Text 55"/>
          <p:cNvSpPr/>
          <p:nvPr/>
        </p:nvSpPr>
        <p:spPr bwMode="auto">
          <a:xfrm>
            <a:off x="8717760" y="8285760"/>
            <a:ext cx="14990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¥30M</a:t>
            </a:r>
            <a:endParaRPr lang="en-US" sz="1800" b="0" u="none" strike="noStrike">
              <a:solidFill>
                <a:srgbClr val="000000"/>
              </a:solidFill>
              <a:latin typeface="Arial"/>
            </a:endParaRPr>
          </a:p>
        </p:txBody>
      </p:sp>
      <p:sp>
        <p:nvSpPr>
          <p:cNvPr id="1847083144" name="Shape 56"/>
          <p:cNvSpPr/>
          <p:nvPr/>
        </p:nvSpPr>
        <p:spPr bwMode="auto">
          <a:xfrm>
            <a:off x="1047600" y="8933400"/>
            <a:ext cx="9178560" cy="900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141162998" name="Text 57"/>
          <p:cNvSpPr/>
          <p:nvPr/>
        </p:nvSpPr>
        <p:spPr bwMode="auto">
          <a:xfrm>
            <a:off x="1123920" y="8638200"/>
            <a:ext cx="1404720" cy="3139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L5</a:t>
            </a:r>
            <a:endParaRPr lang="en-US" sz="1800" b="0" u="none" strike="noStrike">
              <a:solidFill>
                <a:srgbClr val="000000"/>
              </a:solidFill>
              <a:latin typeface="Arial"/>
            </a:endParaRPr>
          </a:p>
        </p:txBody>
      </p:sp>
      <p:sp>
        <p:nvSpPr>
          <p:cNvPr id="1912251633" name="Text 58"/>
          <p:cNvSpPr/>
          <p:nvPr/>
        </p:nvSpPr>
        <p:spPr bwMode="auto">
          <a:xfrm>
            <a:off x="2538720" y="8619120"/>
            <a:ext cx="5227200" cy="3520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Operating revenue</a:t>
            </a:r>
            <a:endParaRPr lang="en-US" sz="1800" b="0" u="none" strike="noStrike">
              <a:solidFill>
                <a:srgbClr val="000000"/>
              </a:solidFill>
              <a:latin typeface="Arial"/>
            </a:endParaRPr>
          </a:p>
        </p:txBody>
      </p:sp>
      <p:sp>
        <p:nvSpPr>
          <p:cNvPr id="411190753" name="Text 59"/>
          <p:cNvSpPr/>
          <p:nvPr/>
        </p:nvSpPr>
        <p:spPr bwMode="auto">
          <a:xfrm>
            <a:off x="7556400" y="8619120"/>
            <a:ext cx="12182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¥0</a:t>
            </a:r>
            <a:endParaRPr lang="en-US" sz="1800" b="0" u="none" strike="noStrike">
              <a:solidFill>
                <a:srgbClr val="000000"/>
              </a:solidFill>
              <a:latin typeface="Arial"/>
            </a:endParaRPr>
          </a:p>
        </p:txBody>
      </p:sp>
      <p:sp>
        <p:nvSpPr>
          <p:cNvPr id="819560964" name="Text 60"/>
          <p:cNvSpPr/>
          <p:nvPr/>
        </p:nvSpPr>
        <p:spPr bwMode="auto">
          <a:xfrm>
            <a:off x="8717760" y="8619120"/>
            <a:ext cx="1499040" cy="3520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1307350741" name="Text 61"/>
          <p:cNvSpPr/>
          <p:nvPr/>
        </p:nvSpPr>
        <p:spPr bwMode="auto">
          <a:xfrm>
            <a:off x="1123920" y="8971560"/>
            <a:ext cx="1404720" cy="3376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1" u="none" strike="noStrike">
                <a:solidFill>
                  <a:srgbClr val="1F2A24"/>
                </a:solidFill>
                <a:latin typeface="Courier New"/>
                <a:ea typeface="Courier New"/>
              </a:rPr>
              <a:t>∑</a:t>
            </a:r>
            <a:endParaRPr lang="en-US" sz="1800" b="0" u="none" strike="noStrike">
              <a:solidFill>
                <a:srgbClr val="000000"/>
              </a:solidFill>
              <a:latin typeface="Arial"/>
            </a:endParaRPr>
          </a:p>
        </p:txBody>
      </p:sp>
      <p:sp>
        <p:nvSpPr>
          <p:cNvPr id="829832946" name="Text 62"/>
          <p:cNvSpPr/>
          <p:nvPr/>
        </p:nvSpPr>
        <p:spPr bwMode="auto">
          <a:xfrm>
            <a:off x="2538720" y="8952480"/>
            <a:ext cx="5227200" cy="37584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1" u="none" strike="noStrike">
                <a:solidFill>
                  <a:srgbClr val="1F2A24"/>
                </a:solidFill>
                <a:latin typeface="Courier New"/>
                <a:ea typeface="Courier New"/>
              </a:rPr>
              <a:t>Illustrative total</a:t>
            </a:r>
            <a:endParaRPr lang="en-US" sz="1800" b="0" u="none" strike="noStrike">
              <a:solidFill>
                <a:srgbClr val="000000"/>
              </a:solidFill>
              <a:latin typeface="Arial"/>
            </a:endParaRPr>
          </a:p>
        </p:txBody>
      </p:sp>
      <p:sp>
        <p:nvSpPr>
          <p:cNvPr id="482453671" name="Text 63"/>
          <p:cNvSpPr/>
          <p:nvPr/>
        </p:nvSpPr>
        <p:spPr bwMode="auto">
          <a:xfrm>
            <a:off x="7556400" y="8952480"/>
            <a:ext cx="1218240" cy="37584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1" u="none" strike="noStrike">
                <a:solidFill>
                  <a:srgbClr val="1F2A24"/>
                </a:solidFill>
                <a:latin typeface="Courier New"/>
                <a:ea typeface="Courier New"/>
              </a:rPr>
              <a:t>¥11M</a:t>
            </a:r>
            <a:endParaRPr lang="en-US" sz="1800" b="0" u="none" strike="noStrike">
              <a:solidFill>
                <a:srgbClr val="000000"/>
              </a:solidFill>
              <a:latin typeface="Arial"/>
            </a:endParaRPr>
          </a:p>
        </p:txBody>
      </p:sp>
      <p:sp>
        <p:nvSpPr>
          <p:cNvPr id="1542268724" name="Text 64"/>
          <p:cNvSpPr/>
          <p:nvPr/>
        </p:nvSpPr>
        <p:spPr bwMode="auto">
          <a:xfrm>
            <a:off x="8717760" y="8952480"/>
            <a:ext cx="1499040" cy="37584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1" u="none" strike="noStrike">
                <a:solidFill>
                  <a:srgbClr val="1F2A24"/>
                </a:solidFill>
                <a:latin typeface="Courier New"/>
                <a:ea typeface="Courier New"/>
              </a:rPr>
              <a:t>¥134M</a:t>
            </a:r>
            <a:endParaRPr lang="en-US" sz="1800" b="0" u="none" strike="noStrike">
              <a:solidFill>
                <a:srgbClr val="000000"/>
              </a:solidFill>
              <a:latin typeface="Arial"/>
            </a:endParaRPr>
          </a:p>
        </p:txBody>
      </p:sp>
      <p:sp>
        <p:nvSpPr>
          <p:cNvPr id="278524967" name="Text 65"/>
          <p:cNvSpPr/>
          <p:nvPr/>
        </p:nvSpPr>
        <p:spPr bwMode="auto">
          <a:xfrm>
            <a:off x="10683720" y="6557039"/>
            <a:ext cx="675288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SIX OPERATING PRINCIPLES</a:t>
            </a:r>
            <a:endParaRPr lang="en-US" sz="1800" b="0" u="none" strike="noStrike">
              <a:solidFill>
                <a:srgbClr val="000000"/>
              </a:solidFill>
              <a:latin typeface="Arial"/>
            </a:endParaRPr>
          </a:p>
        </p:txBody>
      </p:sp>
      <p:sp>
        <p:nvSpPr>
          <p:cNvPr id="1763914498" name="Text 66"/>
          <p:cNvSpPr/>
          <p:nvPr/>
        </p:nvSpPr>
        <p:spPr bwMode="auto">
          <a:xfrm>
            <a:off x="10683720" y="6899760"/>
            <a:ext cx="3238920" cy="3348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30000"/>
              </a:lnSpc>
              <a:tabLst>
                <a:tab pos="0" algn="l"/>
              </a:tabLst>
              <a:defRPr/>
            </a:pPr>
            <a:r>
              <a:rPr lang="en-US" sz="1800" b="0" u="none" strike="noStrike">
                <a:solidFill>
                  <a:srgbClr val="1F2A24"/>
                </a:solidFill>
                <a:latin typeface="Arial"/>
                <a:ea typeface="Arial"/>
              </a:rPr>
              <a:t>I. Local first</a:t>
            </a:r>
            <a:endParaRPr lang="en-US" sz="1800" b="0" u="none" strike="noStrike">
              <a:solidFill>
                <a:srgbClr val="000000"/>
              </a:solidFill>
              <a:latin typeface="Arial"/>
            </a:endParaRPr>
          </a:p>
        </p:txBody>
      </p:sp>
      <p:sp>
        <p:nvSpPr>
          <p:cNvPr id="1231049953" name="Text 67"/>
          <p:cNvSpPr/>
          <p:nvPr/>
        </p:nvSpPr>
        <p:spPr bwMode="auto">
          <a:xfrm>
            <a:off x="14095440" y="6899760"/>
            <a:ext cx="3238920" cy="3348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30000"/>
              </a:lnSpc>
              <a:tabLst>
                <a:tab pos="0" algn="l"/>
              </a:tabLst>
              <a:defRPr/>
            </a:pPr>
            <a:r>
              <a:rPr lang="en-US" sz="1800" b="0" u="none" strike="noStrike">
                <a:solidFill>
                  <a:srgbClr val="1F2A24"/>
                </a:solidFill>
                <a:latin typeface="Arial"/>
                <a:ea typeface="Arial"/>
              </a:rPr>
              <a:t>II. Open &amp; transparent</a:t>
            </a:r>
            <a:endParaRPr lang="en-US" sz="1800" b="0" u="none" strike="noStrike">
              <a:solidFill>
                <a:srgbClr val="000000"/>
              </a:solidFill>
              <a:latin typeface="Arial"/>
            </a:endParaRPr>
          </a:p>
        </p:txBody>
      </p:sp>
      <p:sp>
        <p:nvSpPr>
          <p:cNvPr id="676278567" name="Text 68"/>
          <p:cNvSpPr/>
          <p:nvPr/>
        </p:nvSpPr>
        <p:spPr bwMode="auto">
          <a:xfrm>
            <a:off x="10683720" y="7292520"/>
            <a:ext cx="3238920" cy="3348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30000"/>
              </a:lnSpc>
              <a:tabLst>
                <a:tab pos="0" algn="l"/>
              </a:tabLst>
              <a:defRPr/>
            </a:pPr>
            <a:r>
              <a:rPr lang="en-US" sz="1800" b="0" u="none" strike="noStrike">
                <a:solidFill>
                  <a:srgbClr val="1F2A24"/>
                </a:solidFill>
                <a:latin typeface="Arial"/>
                <a:ea typeface="Arial"/>
              </a:rPr>
              <a:t>III. Patient, long-term</a:t>
            </a:r>
            <a:endParaRPr lang="en-US" sz="1800" b="0" u="none" strike="noStrike">
              <a:solidFill>
                <a:srgbClr val="000000"/>
              </a:solidFill>
              <a:latin typeface="Arial"/>
            </a:endParaRPr>
          </a:p>
        </p:txBody>
      </p:sp>
      <p:sp>
        <p:nvSpPr>
          <p:cNvPr id="618897082" name="Text 69"/>
          <p:cNvSpPr/>
          <p:nvPr/>
        </p:nvSpPr>
        <p:spPr bwMode="auto">
          <a:xfrm>
            <a:off x="14095440" y="7292520"/>
            <a:ext cx="3238920" cy="3348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30000"/>
              </a:lnSpc>
              <a:tabLst>
                <a:tab pos="0" algn="l"/>
              </a:tabLst>
              <a:defRPr/>
            </a:pPr>
            <a:r>
              <a:rPr lang="en-US" sz="1800" b="0" u="none" strike="noStrike">
                <a:solidFill>
                  <a:srgbClr val="1F2A24"/>
                </a:solidFill>
                <a:latin typeface="Arial"/>
                <a:ea typeface="Arial"/>
              </a:rPr>
              <a:t>IV. Replicable</a:t>
            </a:r>
            <a:endParaRPr lang="en-US" sz="1800" b="0" u="none" strike="noStrike">
              <a:solidFill>
                <a:srgbClr val="000000"/>
              </a:solidFill>
              <a:latin typeface="Arial"/>
            </a:endParaRPr>
          </a:p>
        </p:txBody>
      </p:sp>
      <p:sp>
        <p:nvSpPr>
          <p:cNvPr id="738981250" name="Text 70"/>
          <p:cNvSpPr/>
          <p:nvPr/>
        </p:nvSpPr>
        <p:spPr bwMode="auto">
          <a:xfrm>
            <a:off x="10683720" y="7684920"/>
            <a:ext cx="3238920" cy="3348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30000"/>
              </a:lnSpc>
              <a:tabLst>
                <a:tab pos="0" algn="l"/>
              </a:tabLst>
              <a:defRPr/>
            </a:pPr>
            <a:r>
              <a:rPr lang="en-US" sz="1800" b="0" u="none" strike="noStrike">
                <a:solidFill>
                  <a:srgbClr val="1F2A24"/>
                </a:solidFill>
                <a:latin typeface="Arial"/>
                <a:ea typeface="Arial"/>
              </a:rPr>
              <a:t>V. Modest in scale</a:t>
            </a:r>
            <a:endParaRPr lang="en-US" sz="1800" b="0" u="none" strike="noStrike">
              <a:solidFill>
                <a:srgbClr val="000000"/>
              </a:solidFill>
              <a:latin typeface="Arial"/>
            </a:endParaRPr>
          </a:p>
        </p:txBody>
      </p:sp>
      <p:sp>
        <p:nvSpPr>
          <p:cNvPr id="614319472" name="Text 71"/>
          <p:cNvSpPr/>
          <p:nvPr/>
        </p:nvSpPr>
        <p:spPr bwMode="auto">
          <a:xfrm>
            <a:off x="14095440" y="7684920"/>
            <a:ext cx="3238920" cy="33480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30000"/>
              </a:lnSpc>
              <a:tabLst>
                <a:tab pos="0" algn="l"/>
              </a:tabLst>
              <a:defRPr/>
            </a:pPr>
            <a:r>
              <a:rPr lang="en-US" sz="1800" b="0" u="none" strike="noStrike">
                <a:solidFill>
                  <a:srgbClr val="1F2A24"/>
                </a:solidFill>
                <a:latin typeface="Arial"/>
                <a:ea typeface="Arial"/>
              </a:rPr>
              <a:t>VI. Non-partisan</a:t>
            </a:r>
            <a:endParaRPr lang="en-US" sz="1800" b="0" u="none" strike="noStrike">
              <a:solidFill>
                <a:srgbClr val="000000"/>
              </a:solidFill>
              <a:latin typeface="Arial"/>
            </a:endParaRPr>
          </a:p>
        </p:txBody>
      </p:sp>
      <p:sp>
        <p:nvSpPr>
          <p:cNvPr id="1319993057" name="Text 72"/>
          <p:cNvSpPr/>
          <p:nvPr/>
        </p:nvSpPr>
        <p:spPr bwMode="auto">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10 / 11</a:t>
            </a:r>
            <a:endParaRPr lang="en-US" sz="1800" b="0" u="none" strike="noStrike">
              <a:solidFill>
                <a:srgbClr val="000000"/>
              </a:solidFill>
              <a:latin typeface="Arial"/>
            </a:endParaRPr>
          </a:p>
        </p:txBody>
      </p:sp>
      <p:sp>
        <p:nvSpPr>
          <p:cNvPr id="1354094951" name="Text 73"/>
          <p:cNvSpPr/>
          <p:nvPr/>
        </p:nvSpPr>
        <p:spPr bwMode="auto">
          <a:xfrm>
            <a:off x="11965320" y="9258480"/>
            <a:ext cx="54327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25-YEAR HORIZON &gt; ONE HYPE CYCLE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6731276" name="Shape 0"/>
          <p:cNvSpPr/>
          <p:nvPr/>
        </p:nvSpPr>
        <p:spPr bwMode="auto">
          <a:xfrm>
            <a:off x="1047600" y="762120"/>
            <a:ext cx="456840" cy="45684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480642300"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57760265"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1748102793" name="Text 3"/>
          <p:cNvSpPr/>
          <p:nvPr/>
        </p:nvSpPr>
        <p:spPr bwMode="auto">
          <a:xfrm>
            <a:off x="14918040" y="762120"/>
            <a:ext cx="23979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11 · VILLAGE RE PLAN</a:t>
            </a:r>
            <a:endParaRPr lang="en-US" sz="1800" b="0" u="none" strike="noStrike">
              <a:solidFill>
                <a:srgbClr val="FFFFFF"/>
              </a:solidFill>
              <a:latin typeface="Arial"/>
            </a:endParaRPr>
          </a:p>
        </p:txBody>
      </p:sp>
      <p:sp>
        <p:nvSpPr>
          <p:cNvPr id="1953866116" name="Text 4"/>
          <p:cNvSpPr/>
          <p:nvPr/>
        </p:nvSpPr>
        <p:spPr bwMode="auto">
          <a:xfrm>
            <a:off x="1047600" y="1219320"/>
            <a:ext cx="16678079"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ALIGNMENT WITH THE VILLAGE'S RENEWABLE ENERGY PLAN</a:t>
            </a:r>
            <a:endParaRPr lang="en-US" sz="1800" b="0" u="none" strike="noStrike">
              <a:solidFill>
                <a:srgbClr val="FFFFFF"/>
              </a:solidFill>
              <a:latin typeface="Arial"/>
            </a:endParaRPr>
          </a:p>
        </p:txBody>
      </p:sp>
      <p:sp>
        <p:nvSpPr>
          <p:cNvPr id="106800521" name="Text 5"/>
          <p:cNvSpPr/>
          <p:nvPr/>
        </p:nvSpPr>
        <p:spPr bwMode="auto">
          <a:xfrm>
            <a:off x="1047600" y="1790640"/>
            <a:ext cx="16678079" cy="3676320"/>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60000" lnSpcReduction="8000"/>
          </a:bodyPr>
          <a:p>
            <a:pPr defTabSz="914400">
              <a:lnSpc>
                <a:spcPct val="95000"/>
              </a:lnSpc>
              <a:tabLst>
                <a:tab pos="0" algn="l"/>
              </a:tabLst>
              <a:defRPr/>
            </a:pPr>
            <a:r>
              <a:rPr lang="en-US" sz="14000" b="0" u="none" strike="noStrike" spc="-150">
                <a:solidFill>
                  <a:srgbClr val="F3ECE0"/>
                </a:solidFill>
                <a:latin typeface="Georgia"/>
                <a:ea typeface="Georgia"/>
              </a:rPr>
              <a:t>We don't ask the village to adopt a new idea. We run </a:t>
            </a:r>
            <a:r>
              <a:rPr lang="en-US" sz="14000" b="0" i="1" u="none" strike="noStrike" spc="-149">
                <a:solidFill>
                  <a:srgbClr val="F3B486"/>
                </a:solidFill>
                <a:latin typeface="Georgia"/>
                <a:ea typeface="Georgia"/>
              </a:rPr>
              <a:t>the plan it already wrote.</a:t>
            </a:r>
            <a:endParaRPr sz="14000" b="0" i="1" u="none" strike="noStrike">
              <a:solidFill>
                <a:srgbClr val="F3B486"/>
              </a:solidFill>
              <a:latin typeface="Arial"/>
            </a:endParaRPr>
          </a:p>
        </p:txBody>
      </p:sp>
      <p:sp>
        <p:nvSpPr>
          <p:cNvPr id="1443673869" name="Text 6"/>
          <p:cNvSpPr/>
          <p:nvPr/>
        </p:nvSpPr>
        <p:spPr bwMode="auto">
          <a:xfrm>
            <a:off x="1047600" y="5829480"/>
            <a:ext cx="16678079" cy="542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700" b="0" u="none" strike="noStrike">
                <a:solidFill>
                  <a:srgbClr val="F3ECE0">
                    <a:alpha val="57000"/>
                  </a:srgbClr>
                </a:solidFill>
                <a:latin typeface="Noto Serif JP"/>
                <a:ea typeface="Noto Serif JP"/>
              </a:rPr>
              <a:t>御杖村再エネ導入最大化計画（2025年・環境省補助）の官民連携 運営体制として実行します。</a:t>
            </a:r>
            <a:endParaRPr lang="en-US" sz="2700" b="0" u="none" strike="noStrike">
              <a:solidFill>
                <a:srgbClr val="FFFFFF"/>
              </a:solidFill>
              <a:latin typeface="Arial"/>
            </a:endParaRPr>
          </a:p>
        </p:txBody>
      </p:sp>
      <p:sp>
        <p:nvSpPr>
          <p:cNvPr id="1716932474" name="Text 7"/>
          <p:cNvSpPr/>
          <p:nvPr/>
        </p:nvSpPr>
        <p:spPr bwMode="auto">
          <a:xfrm>
            <a:off x="1047600" y="7095960"/>
            <a:ext cx="51667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a:t>
            </a:r>
            <a:endParaRPr lang="en-US" sz="1800" b="0" u="none" strike="noStrike">
              <a:solidFill>
                <a:srgbClr val="FFFFFF"/>
              </a:solidFill>
              <a:latin typeface="Arial"/>
            </a:endParaRPr>
          </a:p>
        </p:txBody>
      </p:sp>
      <p:sp>
        <p:nvSpPr>
          <p:cNvPr id="1800220609" name="Text 8"/>
          <p:cNvSpPr/>
          <p:nvPr/>
        </p:nvSpPr>
        <p:spPr bwMode="auto">
          <a:xfrm>
            <a:off x="1047600" y="7439039"/>
            <a:ext cx="5166720" cy="6472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0000"/>
              </a:lnSpc>
              <a:tabLst>
                <a:tab pos="0" algn="l"/>
              </a:tabLst>
              <a:defRPr/>
            </a:pPr>
            <a:r>
              <a:rPr lang="en-US" sz="4800" b="0" u="none" strike="noStrike" spc="-47">
                <a:solidFill>
                  <a:srgbClr val="F3ECE0"/>
                </a:solidFill>
                <a:latin typeface="Georgia"/>
                <a:ea typeface="Georgia"/>
              </a:rPr>
              <a:t>One resilient site</a:t>
            </a:r>
            <a:endParaRPr lang="en-US" sz="4800" b="0" u="none" strike="noStrike">
              <a:solidFill>
                <a:srgbClr val="FFFFFF"/>
              </a:solidFill>
              <a:latin typeface="Arial"/>
            </a:endParaRPr>
          </a:p>
        </p:txBody>
      </p:sp>
      <p:sp>
        <p:nvSpPr>
          <p:cNvPr id="1002639183" name="Text 9"/>
          <p:cNvSpPr/>
          <p:nvPr/>
        </p:nvSpPr>
        <p:spPr bwMode="auto">
          <a:xfrm>
            <a:off x="1047600" y="8182080"/>
            <a:ext cx="5166720" cy="7005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F3ECE0">
                    <a:alpha val="85000"/>
                  </a:srgbClr>
                </a:solidFill>
                <a:latin typeface="Arial"/>
                <a:ea typeface="Arial"/>
              </a:rPr>
              <a:t>The plan targets one renewable + storage + EV resilient site (now zero). Our data center is that site.</a:t>
            </a:r>
            <a:endParaRPr lang="en-US" sz="1800" b="0" u="none" strike="noStrike">
              <a:solidFill>
                <a:srgbClr val="FFFFFF"/>
              </a:solidFill>
              <a:latin typeface="Arial"/>
            </a:endParaRPr>
          </a:p>
        </p:txBody>
      </p:sp>
      <p:sp>
        <p:nvSpPr>
          <p:cNvPr id="1409957782" name="Text 10"/>
          <p:cNvSpPr/>
          <p:nvPr/>
        </p:nvSpPr>
        <p:spPr bwMode="auto">
          <a:xfrm>
            <a:off x="6635880" y="7095960"/>
            <a:ext cx="51667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a:t>
            </a:r>
            <a:endParaRPr lang="en-US" sz="1800" b="0" u="none" strike="noStrike">
              <a:solidFill>
                <a:srgbClr val="FFFFFF"/>
              </a:solidFill>
              <a:latin typeface="Arial"/>
            </a:endParaRPr>
          </a:p>
        </p:txBody>
      </p:sp>
      <p:sp>
        <p:nvSpPr>
          <p:cNvPr id="178104731" name="Text 11"/>
          <p:cNvSpPr/>
          <p:nvPr/>
        </p:nvSpPr>
        <p:spPr bwMode="auto">
          <a:xfrm>
            <a:off x="6635880" y="7439039"/>
            <a:ext cx="5166720" cy="6472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0000"/>
              </a:lnSpc>
              <a:tabLst>
                <a:tab pos="0" algn="l"/>
              </a:tabLst>
              <a:defRPr/>
            </a:pPr>
            <a:r>
              <a:rPr lang="en-US" sz="4800" b="0" u="none" strike="noStrike" spc="-47">
                <a:solidFill>
                  <a:srgbClr val="F3ECE0"/>
                </a:solidFill>
                <a:latin typeface="Georgia"/>
                <a:ea typeface="Georgia"/>
              </a:rPr>
              <a:t>EV-charging priority</a:t>
            </a:r>
            <a:endParaRPr lang="en-US" sz="4800" b="0" u="none" strike="noStrike">
              <a:solidFill>
                <a:srgbClr val="FFFFFF"/>
              </a:solidFill>
              <a:latin typeface="Arial"/>
            </a:endParaRPr>
          </a:p>
        </p:txBody>
      </p:sp>
      <p:sp>
        <p:nvSpPr>
          <p:cNvPr id="480302188" name="Text 12"/>
          <p:cNvSpPr/>
          <p:nvPr/>
        </p:nvSpPr>
        <p:spPr bwMode="auto">
          <a:xfrm>
            <a:off x="6635880" y="8182080"/>
            <a:ext cx="5166720" cy="10321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145000"/>
              </a:lnSpc>
              <a:tabLst>
                <a:tab pos="0" algn="l"/>
              </a:tabLst>
              <a:defRPr/>
            </a:pPr>
            <a:r>
              <a:rPr lang="en-US" sz="1800" b="0" u="none" strike="noStrike">
                <a:solidFill>
                  <a:srgbClr val="F3ECE0">
                    <a:alpha val="85000"/>
                  </a:srgbClr>
                </a:solidFill>
                <a:latin typeface="Arial"/>
                <a:ea typeface="Arial"/>
              </a:rPr>
              <a:t>Transport = 46% of village emissions. We deliver the plan's priority EV charging at public facilities.</a:t>
            </a:r>
            <a:endParaRPr lang="en-US" sz="1800" b="0" u="none" strike="noStrike">
              <a:solidFill>
                <a:srgbClr val="FFFFFF"/>
              </a:solidFill>
              <a:latin typeface="Arial"/>
            </a:endParaRPr>
          </a:p>
        </p:txBody>
      </p:sp>
      <p:sp>
        <p:nvSpPr>
          <p:cNvPr id="1848541734" name="Text 13"/>
          <p:cNvSpPr/>
          <p:nvPr/>
        </p:nvSpPr>
        <p:spPr bwMode="auto">
          <a:xfrm>
            <a:off x="12223800" y="7095960"/>
            <a:ext cx="51667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iii</a:t>
            </a:r>
            <a:endParaRPr lang="en-US" sz="1800" b="0" u="none" strike="noStrike">
              <a:solidFill>
                <a:srgbClr val="FFFFFF"/>
              </a:solidFill>
              <a:latin typeface="Arial"/>
            </a:endParaRPr>
          </a:p>
        </p:txBody>
      </p:sp>
      <p:sp>
        <p:nvSpPr>
          <p:cNvPr id="317604425" name="Text 14"/>
          <p:cNvSpPr/>
          <p:nvPr/>
        </p:nvSpPr>
        <p:spPr bwMode="auto">
          <a:xfrm>
            <a:off x="12223800" y="7439039"/>
            <a:ext cx="5166720" cy="6472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00000"/>
              </a:lnSpc>
              <a:tabLst>
                <a:tab pos="0" algn="l"/>
              </a:tabLst>
              <a:defRPr/>
            </a:pPr>
            <a:r>
              <a:rPr lang="en-US" sz="4800" b="0" u="none" strike="noStrike" spc="-47">
                <a:solidFill>
                  <a:srgbClr val="F3ECE0"/>
                </a:solidFill>
                <a:latin typeface="Georgia"/>
                <a:ea typeface="Georgia"/>
              </a:rPr>
              <a:t>Forest J-Credit + 交付金</a:t>
            </a:r>
            <a:endParaRPr lang="en-US" sz="4800" b="0" u="none" strike="noStrike">
              <a:solidFill>
                <a:srgbClr val="FFFFFF"/>
              </a:solidFill>
              <a:latin typeface="Arial"/>
            </a:endParaRPr>
          </a:p>
        </p:txBody>
      </p:sp>
      <p:sp>
        <p:nvSpPr>
          <p:cNvPr id="150892098" name="Text 15"/>
          <p:cNvSpPr/>
          <p:nvPr/>
        </p:nvSpPr>
        <p:spPr bwMode="auto">
          <a:xfrm>
            <a:off x="12223800" y="8182080"/>
            <a:ext cx="5166720" cy="70056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800" b="0" u="none" strike="noStrike">
                <a:solidFill>
                  <a:srgbClr val="F3ECE0">
                    <a:alpha val="85000"/>
                  </a:srgbClr>
                </a:solidFill>
                <a:latin typeface="Arial"/>
                <a:ea typeface="Arial"/>
              </a:rPr>
              <a:t>Biomass CHP supplies the forest-carbon/J-Credit mechanism. Unlocks the village-led 交付金: 2/3-3/4 subsidy on solar/battery/EV, via the village.</a:t>
            </a:r>
            <a:endParaRPr lang="en-US" sz="1800" b="0" u="none" strike="noStrike">
              <a:solidFill>
                <a:srgbClr val="FFFFFF"/>
              </a:solidFill>
              <a:latin typeface="Arial"/>
            </a:endParaRPr>
          </a:p>
        </p:txBody>
      </p:sp>
      <p:sp>
        <p:nvSpPr>
          <p:cNvPr id="301970570" name="Text 16"/>
          <p:cNvSpPr/>
          <p:nvPr/>
        </p:nvSpPr>
        <p:spPr bwMode="auto">
          <a:xfrm>
            <a:off x="1047600" y="940500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12 / 12</a:t>
            </a:r>
            <a:endParaRPr lang="en-US" sz="1800" b="0" u="none" strike="noStrike">
              <a:solidFill>
                <a:srgbClr val="FFFFFF"/>
              </a:solidFill>
              <a:latin typeface="Arial"/>
            </a:endParaRPr>
          </a:p>
        </p:txBody>
      </p:sp>
      <p:sp>
        <p:nvSpPr>
          <p:cNvPr id="883418688" name="Text 17"/>
          <p:cNvSpPr/>
          <p:nvPr/>
        </p:nvSpPr>
        <p:spPr bwMode="auto">
          <a:xfrm>
            <a:off x="7458120" y="9405000"/>
            <a:ext cx="100749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BIOMASS CHP STAYS PRIMARY · SOLAR/BATTERY/EV COMPLEMENTARY · FUNDING FLOWS THROUGH THE VILLAGE</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175347534" name="Shape 0"/>
          <p:cNvSpPr/>
          <p:nvPr/>
        </p:nvSpPr>
        <p:spPr bwMode="auto">
          <a:xfrm>
            <a:off x="1047600" y="762120"/>
            <a:ext cx="456840" cy="45684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644237449" name="Text 1"/>
          <p:cNvSpPr/>
          <p:nvPr/>
        </p:nvSpPr>
        <p:spPr bwMode="auto">
          <a:xfrm>
            <a:off x="1047600" y="762120"/>
            <a:ext cx="533160" cy="4950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47226564" name="Text 2"/>
          <p:cNvSpPr/>
          <p:nvPr/>
        </p:nvSpPr>
        <p:spPr bwMode="auto">
          <a:xfrm>
            <a:off x="1638360" y="857160"/>
            <a:ext cx="224244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641512093" name="Text 3"/>
          <p:cNvSpPr/>
          <p:nvPr/>
        </p:nvSpPr>
        <p:spPr bwMode="auto">
          <a:xfrm>
            <a:off x="11343600" y="762120"/>
            <a:ext cx="60732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10 · FOR PEOPLE WHO THINK IN DECADES</a:t>
            </a:r>
            <a:endParaRPr lang="en-US" sz="1800" b="0" u="none" strike="noStrike">
              <a:solidFill>
                <a:srgbClr val="FFFFFF"/>
              </a:solidFill>
              <a:latin typeface="Arial"/>
            </a:endParaRPr>
          </a:p>
        </p:txBody>
      </p:sp>
      <p:sp>
        <p:nvSpPr>
          <p:cNvPr id="1758757975" name="Text 4"/>
          <p:cNvSpPr/>
          <p:nvPr/>
        </p:nvSpPr>
        <p:spPr bwMode="auto">
          <a:xfrm>
            <a:off x="1047600" y="2025000"/>
            <a:ext cx="866880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IF YOUR TIME HORIZON MATCHES OURS…</a:t>
            </a:r>
            <a:endParaRPr lang="en-US" sz="1800" b="0" u="none" strike="noStrike">
              <a:solidFill>
                <a:srgbClr val="FFFFFF"/>
              </a:solidFill>
              <a:latin typeface="Arial"/>
            </a:endParaRPr>
          </a:p>
        </p:txBody>
      </p:sp>
      <p:sp>
        <p:nvSpPr>
          <p:cNvPr id="1615325465" name="Text 5"/>
          <p:cNvSpPr/>
          <p:nvPr/>
        </p:nvSpPr>
        <p:spPr bwMode="auto">
          <a:xfrm>
            <a:off x="1047600" y="2520360"/>
            <a:ext cx="8668800" cy="5087520"/>
          </a:xfrm>
          <a:prstGeom prst="rect">
            <a:avLst/>
          </a:prstGeom>
          <a:noFill/>
          <a:ln w="0">
            <a:noFill/>
          </a:ln>
        </p:spPr>
        <p:style>
          <a:lnRef idx="0"/>
          <a:fillRef idx="0"/>
          <a:effectRef idx="0"/>
          <a:fontRef idx="minor"/>
        </p:style>
        <p:txBody>
          <a:bodyPr lIns="25560" tIns="25560" rIns="25560" bIns="25560" anchor="t">
            <a:normAutofit fontScale="92500"/>
          </a:bodyPr>
          <a:p>
            <a:pPr defTabSz="914400">
              <a:lnSpc>
                <a:spcPct val="97000"/>
              </a:lnSpc>
              <a:tabLst>
                <a:tab pos="0" algn="l"/>
              </a:tabLst>
              <a:defRPr/>
            </a:pPr>
            <a:r>
              <a:rPr lang="en-US" sz="8100" b="0" u="none" strike="noStrike" spc="-82">
                <a:solidFill>
                  <a:srgbClr val="F3ECE0"/>
                </a:solidFill>
                <a:latin typeface="Georgia"/>
                <a:ea typeface="Georgia"/>
              </a:rPr>
              <a:t>We're looking for patient capital, honest critique, and a few </a:t>
            </a:r>
            <a:r>
              <a:rPr lang="en-US" sz="8100" b="0" i="1" u="none" strike="noStrike" spc="-82">
                <a:solidFill>
                  <a:srgbClr val="F3B486"/>
                </a:solidFill>
                <a:latin typeface="Georgia"/>
                <a:ea typeface="Georgia"/>
              </a:rPr>
              <a:t>good </a:t>
            </a:r>
            <a:r>
              <a:rPr lang="en-US" sz="8100" b="0" i="1" u="none" strike="noStrike" spc="-81">
                <a:solidFill>
                  <a:srgbClr val="F3B486"/>
                </a:solidFill>
                <a:latin typeface="Georgia"/>
                <a:ea typeface="Georgia"/>
              </a:rPr>
              <a:t>neighbors.</a:t>
            </a:r>
            <a:endParaRPr lang="en-US" sz="8100" b="0" u="none" strike="noStrike">
              <a:solidFill>
                <a:srgbClr val="FFFFFF"/>
              </a:solidFill>
              <a:latin typeface="Arial"/>
            </a:endParaRPr>
          </a:p>
        </p:txBody>
      </p:sp>
      <p:sp>
        <p:nvSpPr>
          <p:cNvPr id="1264883362" name="Text 6"/>
          <p:cNvSpPr/>
          <p:nvPr/>
        </p:nvSpPr>
        <p:spPr bwMode="auto">
          <a:xfrm>
            <a:off x="10226520" y="2025000"/>
            <a:ext cx="72241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WHAT HELPS RIGHT NOW</a:t>
            </a:r>
            <a:endParaRPr lang="en-US" sz="1800" b="0" u="none" strike="noStrike">
              <a:solidFill>
                <a:srgbClr val="FFFFFF"/>
              </a:solidFill>
              <a:latin typeface="Arial"/>
            </a:endParaRPr>
          </a:p>
        </p:txBody>
      </p:sp>
      <p:sp>
        <p:nvSpPr>
          <p:cNvPr id="559181066" name="Text 7"/>
          <p:cNvSpPr/>
          <p:nvPr/>
        </p:nvSpPr>
        <p:spPr bwMode="auto">
          <a:xfrm>
            <a:off x="10053000" y="2424960"/>
            <a:ext cx="7263000" cy="152352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50000"/>
              </a:lnSpc>
              <a:tabLst>
                <a:tab pos="0" algn="l"/>
              </a:tabLst>
              <a:defRPr/>
            </a:pPr>
            <a:r>
              <a:rPr lang="en-US" sz="1950" b="0" u="none" strike="noStrike">
                <a:solidFill>
                  <a:srgbClr val="F3ECE0"/>
                </a:solidFill>
                <a:latin typeface="Arial"/>
                <a:ea typeface="Arial"/>
              </a:rPr>
              <a:t>↳ Introductions: Japanese co-founders with rural credibility</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Advisors: forestry, edge compute, Japanese nonprofit law</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Patient funders for Phase 1 (¥3–8M)</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Honest critique — tell us where the thesis is wrong</a:t>
            </a:r>
            <a:endParaRPr lang="en-US" sz="1950" b="0" u="none" strike="noStrike">
              <a:solidFill>
                <a:srgbClr val="FFFFFF"/>
              </a:solidFill>
              <a:latin typeface="Arial"/>
            </a:endParaRPr>
          </a:p>
        </p:txBody>
      </p:sp>
      <p:sp>
        <p:nvSpPr>
          <p:cNvPr id="393566909" name="Shape 8"/>
          <p:cNvSpPr/>
          <p:nvPr/>
        </p:nvSpPr>
        <p:spPr bwMode="auto">
          <a:xfrm>
            <a:off x="10226520" y="4196880"/>
            <a:ext cx="7013520" cy="9000"/>
          </a:xfrm>
          <a:prstGeom prst="rect">
            <a:avLst/>
          </a:prstGeom>
          <a:solidFill>
            <a:srgbClr val="F3ECE0">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22976737" name="Shape 9"/>
          <p:cNvSpPr/>
          <p:nvPr/>
        </p:nvSpPr>
        <p:spPr bwMode="auto">
          <a:xfrm>
            <a:off x="10226520" y="4415760"/>
            <a:ext cx="1618920" cy="1618920"/>
          </a:xfrm>
          <a:prstGeom prst="rect">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pic>
        <p:nvPicPr>
          <p:cNvPr id="1994758045" name="Image 0" descr="preencoded.png"/>
          <p:cNvPicPr/>
          <p:nvPr/>
        </p:nvPicPr>
        <p:blipFill rotWithShape="1">
          <a:blip r:embed="rId3"/>
          <a:stretch/>
        </p:blipFill>
        <p:spPr bwMode="auto">
          <a:xfrm>
            <a:off x="10321560" y="4511160"/>
            <a:ext cx="1428480" cy="1428480"/>
          </a:xfrm>
          <a:prstGeom prst="rect">
            <a:avLst/>
          </a:prstGeom>
          <a:noFill/>
          <a:ln w="0">
            <a:noFill/>
          </a:ln>
        </p:spPr>
      </p:pic>
      <p:sp>
        <p:nvSpPr>
          <p:cNvPr id="867589179" name="Text 10"/>
          <p:cNvSpPr/>
          <p:nvPr/>
        </p:nvSpPr>
        <p:spPr bwMode="auto">
          <a:xfrm>
            <a:off x="12112200" y="4530240"/>
            <a:ext cx="528156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SCAN TO VISIT</a:t>
            </a:r>
            <a:endParaRPr lang="en-US" sz="1800" b="0" u="none" strike="noStrike">
              <a:solidFill>
                <a:srgbClr val="FFFFFF"/>
              </a:solidFill>
              <a:latin typeface="Arial"/>
            </a:endParaRPr>
          </a:p>
        </p:txBody>
      </p:sp>
      <p:sp>
        <p:nvSpPr>
          <p:cNvPr id="1935216897" name="Text 11"/>
          <p:cNvSpPr/>
          <p:nvPr/>
        </p:nvSpPr>
        <p:spPr bwMode="auto">
          <a:xfrm>
            <a:off x="12112200" y="4853880"/>
            <a:ext cx="5281560" cy="371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2250" b="0" u="none" strike="noStrike">
                <a:solidFill>
                  <a:srgbClr val="F3ECE0"/>
                </a:solidFill>
                <a:latin typeface="Courier New"/>
                <a:ea typeface="Courier New"/>
              </a:rPr>
              <a:t>mitsue.it</a:t>
            </a:r>
            <a:endParaRPr lang="en-US" sz="2250" b="0" u="none" strike="noStrike">
              <a:solidFill>
                <a:srgbClr val="FFFFFF"/>
              </a:solidFill>
              <a:latin typeface="Arial"/>
            </a:endParaRPr>
          </a:p>
        </p:txBody>
      </p:sp>
      <p:sp>
        <p:nvSpPr>
          <p:cNvPr id="697618137" name="Text 12"/>
          <p:cNvSpPr/>
          <p:nvPr/>
        </p:nvSpPr>
        <p:spPr bwMode="auto">
          <a:xfrm>
            <a:off x="12112200" y="5244480"/>
            <a:ext cx="5281560" cy="4759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0" u="none" strike="noStrike">
                <a:solidFill>
                  <a:srgbClr val="F3ECE0">
                    <a:alpha val="70000"/>
                  </a:srgbClr>
                </a:solidFill>
                <a:latin typeface="Courier New"/>
                <a:ea typeface="Courier New"/>
              </a:rPr>
              <a:t>codeberg.org / YR-Design / mitsue-ai-data-center</a:t>
            </a:r>
            <a:endParaRPr lang="en-US" sz="1500" b="0" u="none" strike="noStrike">
              <a:solidFill>
                <a:srgbClr val="FFFFFF"/>
              </a:solidFill>
              <a:latin typeface="Arial"/>
            </a:endParaRPr>
          </a:p>
        </p:txBody>
      </p:sp>
      <p:sp>
        <p:nvSpPr>
          <p:cNvPr id="580881756" name="Text 13"/>
          <p:cNvSpPr/>
          <p:nvPr/>
        </p:nvSpPr>
        <p:spPr bwMode="auto">
          <a:xfrm>
            <a:off x="12112200" y="5701680"/>
            <a:ext cx="5281560" cy="2566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0" u="none" strike="noStrike">
                <a:solidFill>
                  <a:srgbClr val="F3ECE0">
                    <a:alpha val="70000"/>
                  </a:srgbClr>
                </a:solidFill>
                <a:latin typeface="Courier New"/>
                <a:ea typeface="Courier New"/>
              </a:rPr>
              <a:t>info@mitsue.it</a:t>
            </a:r>
            <a:endParaRPr lang="en-US" sz="1500" b="0" u="none" strike="noStrike">
              <a:solidFill>
                <a:srgbClr val="FFFFFF"/>
              </a:solidFill>
              <a:latin typeface="Arial"/>
            </a:endParaRPr>
          </a:p>
        </p:txBody>
      </p:sp>
      <p:sp>
        <p:nvSpPr>
          <p:cNvPr id="1458972295" name="Shape 14"/>
          <p:cNvSpPr/>
          <p:nvPr/>
        </p:nvSpPr>
        <p:spPr bwMode="auto">
          <a:xfrm>
            <a:off x="10226520" y="6263640"/>
            <a:ext cx="7013520" cy="9000"/>
          </a:xfrm>
          <a:prstGeom prst="rect">
            <a:avLst/>
          </a:prstGeom>
          <a:solidFill>
            <a:srgbClr val="F3ECE0">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143097048" name="Text 15"/>
          <p:cNvSpPr/>
          <p:nvPr/>
        </p:nvSpPr>
        <p:spPr bwMode="auto">
          <a:xfrm>
            <a:off x="10226520" y="6444720"/>
            <a:ext cx="72241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PROJECT LEAD</a:t>
            </a:r>
            <a:endParaRPr lang="en-US" sz="1800" b="0" u="none" strike="noStrike">
              <a:solidFill>
                <a:srgbClr val="FFFFFF"/>
              </a:solidFill>
              <a:latin typeface="Arial"/>
            </a:endParaRPr>
          </a:p>
        </p:txBody>
      </p:sp>
      <p:sp>
        <p:nvSpPr>
          <p:cNvPr id="1063772024" name="Text 16"/>
          <p:cNvSpPr/>
          <p:nvPr/>
        </p:nvSpPr>
        <p:spPr bwMode="auto">
          <a:xfrm>
            <a:off x="10226520" y="6768360"/>
            <a:ext cx="7224120" cy="46728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98000"/>
              </a:lnSpc>
              <a:tabLst>
                <a:tab pos="0" algn="l"/>
              </a:tabLst>
              <a:defRPr/>
            </a:pPr>
            <a:r>
              <a:rPr lang="en-US" sz="3450" b="0" u="none" strike="noStrike" spc="-34">
                <a:solidFill>
                  <a:srgbClr val="F3ECE0"/>
                </a:solidFill>
                <a:latin typeface="Georgia"/>
                <a:ea typeface="Georgia"/>
              </a:rPr>
              <a:t>Rob Oudendijk</a:t>
            </a:r>
            <a:endParaRPr lang="en-US" sz="3450" b="0" u="none" strike="noStrike">
              <a:solidFill>
                <a:srgbClr val="FFFFFF"/>
              </a:solidFill>
              <a:latin typeface="Arial"/>
            </a:endParaRPr>
          </a:p>
        </p:txBody>
      </p:sp>
      <p:sp>
        <p:nvSpPr>
          <p:cNvPr id="1496619178" name="Text 17"/>
          <p:cNvSpPr/>
          <p:nvPr/>
        </p:nvSpPr>
        <p:spPr bwMode="auto">
          <a:xfrm>
            <a:off x="10226520" y="7197840"/>
            <a:ext cx="7200720" cy="341640"/>
          </a:xfrm>
          <a:prstGeom prst="rect">
            <a:avLst/>
          </a:prstGeom>
          <a:noFill/>
          <a:ln w="0">
            <a:noFill/>
          </a:ln>
        </p:spPr>
        <p:style>
          <a:lnRef idx="0"/>
          <a:fillRef idx="0"/>
          <a:effectRef idx="0"/>
          <a:fontRef idx="minor"/>
        </p:style>
        <p:txBody>
          <a:bodyPr lIns="25560" tIns="25560" rIns="25560" bIns="25560" anchor="t">
            <a:normAutofit fontScale="85000"/>
          </a:bodyPr>
          <a:p>
            <a:pPr defTabSz="914400">
              <a:lnSpc>
                <a:spcPct val="145000"/>
              </a:lnSpc>
              <a:tabLst>
                <a:tab pos="0" algn="l"/>
              </a:tabLst>
              <a:defRPr/>
            </a:pPr>
            <a:r>
              <a:rPr lang="en-US" sz="1650" b="0" u="none" strike="noStrike">
                <a:solidFill>
                  <a:srgbClr val="F3ECE0">
                    <a:alpha val="80000"/>
                  </a:srgbClr>
                </a:solidFill>
                <a:latin typeface="Arial"/>
                <a:ea typeface="Arial"/>
              </a:rPr>
              <a:t>YR-Design · Safecast · Mitsue, Nara</a:t>
            </a:r>
            <a:endParaRPr lang="en-US" sz="1650" b="0" u="none" strike="noStrike">
              <a:solidFill>
                <a:srgbClr val="FFFFFF"/>
              </a:solidFill>
              <a:latin typeface="Arial"/>
            </a:endParaRPr>
          </a:p>
        </p:txBody>
      </p:sp>
      <p:sp>
        <p:nvSpPr>
          <p:cNvPr id="1675612353" name="Text 18"/>
          <p:cNvSpPr/>
          <p:nvPr/>
        </p:nvSpPr>
        <p:spPr bwMode="auto">
          <a:xfrm>
            <a:off x="1047600" y="9258480"/>
            <a:ext cx="1154520" cy="304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11 / 11</a:t>
            </a:r>
            <a:endParaRPr lang="en-US" sz="1800" b="0" u="none" strike="noStrike">
              <a:solidFill>
                <a:srgbClr val="FFFFFF"/>
              </a:solidFill>
              <a:latin typeface="Arial"/>
            </a:endParaRPr>
          </a:p>
        </p:txBody>
      </p:sp>
      <p:sp>
        <p:nvSpPr>
          <p:cNvPr id="1275468522" name="Text 19"/>
          <p:cNvSpPr/>
          <p:nvPr/>
        </p:nvSpPr>
        <p:spPr bwMode="auto">
          <a:xfrm>
            <a:off x="12916079" y="9182160"/>
            <a:ext cx="4453560" cy="380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THANK YOU · </a:t>
            </a:r>
            <a:r>
              <a:rPr lang="zh-CN" sz="1800" b="0" u="none" strike="noStrike" spc="145">
                <a:solidFill>
                  <a:srgbClr val="F3ECE0">
                    <a:alpha val="67000"/>
                  </a:srgbClr>
                </a:solidFill>
                <a:latin typeface="Courier New"/>
                <a:ea typeface="Courier New"/>
              </a:rPr>
              <a:t>ありがとうございます</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
  <TotalTime>0</TotalTime>
  <Words>0</Words>
  <Application>ONLYOFFICE/9.4.0.129</Application>
  <PresentationFormat>On-screen Show (4:3)</PresentationFormat>
  <Paragraphs>0</Paragraphs>
  <Slides>12</Slides>
  <Notes>12</Notes>
  <HiddenSlides>0</HiddenSlides>
  <MMClips>2</MMClips>
  <ScaleCrop>0</ScaleCrop>
  <HeadingPairs>
    <vt:vector size="4" baseType="variant">
      <vt:variant>
        <vt:lpstr>Theme</vt:lpstr>
      </vt:variant>
      <vt:variant>
        <vt:i4>1</vt:i4>
      </vt:variant>
      <vt:variant>
        <vt:lpstr>Slide Titles</vt:lpstr>
      </vt:variant>
      <vt:variant>
        <vt:i4>12</vt:i4>
      </vt:variant>
    </vt:vector>
  </HeadingPairs>
  <TitlesOfParts>
    <vt:vector size="13"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dc:description/>
  <dc:language>en-US</dc:language>
  <cp:lastModifiedBy/>
  <cp:revision>6</cp:revision>
  <dcterms:created xsi:type="dcterms:W3CDTF">2026-05-28T12:44:33Z</dcterms:created>
  <dcterms:modified xsi:type="dcterms:W3CDTF">2026-06-07T01:05:24Z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11</vt:i4>
  </property>
  <property fmtid="{D5CDD505-2E9C-101B-9397-08002B2CF9AE}" pid="3" name="PresentationFormat">
    <vt:lpwstr>On-screen Show (16:9)</vt:lpwstr>
  </property>
  <property fmtid="{D5CDD505-2E9C-101B-9397-08002B2CF9AE}" pid="4" name="Slides">
    <vt:i4>11</vt:i4>
  </property>
</Properties>
</file>