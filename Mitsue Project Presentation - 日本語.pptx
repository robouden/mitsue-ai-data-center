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500913152" y="0"/>
      </p:cViewPr>
      <p:guideLst>
        <p:guide pos="5760"/>
        <p:guide pos="324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521761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61140028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968359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762684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456373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328435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DEFCC0A2-4230-4564-B8F3-9C068ACE3554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46682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5757333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3146529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D080084-4295-4109-B5BF-CD87AC48C429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33803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301128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907761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1901AB0-15C7-4227-BF79-E458CBF3840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99628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177884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087116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8FC621A-8380-4D76-96DB-DF876C1FB4F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119787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9698390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985176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984C012D-0529-42D4-BC0F-82BCF72C1099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97175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10815041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787723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AD09F6A-A19C-4446-8E33-6187CEF3249B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20015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54918033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692663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4E15730-BE32-4C52-99C9-AF9E675B8256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6944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5123844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542771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428CDF5-5343-45B5-9371-D33B082ED26C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4345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3574797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237026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6E57F79-FEE4-42D1-8E5C-035E629C204D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43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7250136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324390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357DE01-6D75-41C4-8D2E-F292E921B52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35408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932385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070341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936CA08-A83E-4755-8148-E4F554D074A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226646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774471380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996805" name="PlaceHolder 3"/>
          <p:cNvSpPr>
            <a:spLocks noGrp="1"/>
          </p:cNvSpPr>
          <p:nvPr>
            <p:ph type="sldNum" idx="14"/>
          </p:nvPr>
        </p:nvSpPr>
        <p:spPr bwMode="auto"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159170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0694811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564143" name="PlaceHolder 3"/>
          <p:cNvSpPr>
            <a:spLocks noGrp="1"/>
          </p:cNvSpPr>
          <p:nvPr>
            <p:ph type="sldNum" idx="1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BBF4AA8-B01B-4EF7-BB69-25F625FF0E0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334319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63855193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692731" name="Shape 0"/>
          <p:cNvSpPr/>
          <p:nvPr/>
        </p:nvSpPr>
        <p:spPr bwMode="auto">
          <a:xfrm>
            <a:off x="1047600" y="762120"/>
            <a:ext cx="532800" cy="53280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4690407" name="Text 1"/>
          <p:cNvSpPr/>
          <p:nvPr/>
        </p:nvSpPr>
        <p:spPr bwMode="auto">
          <a:xfrm>
            <a:off x="1047600" y="762120"/>
            <a:ext cx="6087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524534" name="Text 2"/>
          <p:cNvSpPr/>
          <p:nvPr/>
        </p:nvSpPr>
        <p:spPr bwMode="auto">
          <a:xfrm>
            <a:off x="1714680" y="8618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633914" name="Text 3"/>
          <p:cNvSpPr/>
          <p:nvPr/>
        </p:nvSpPr>
        <p:spPr bwMode="auto">
          <a:xfrm>
            <a:off x="13438079" y="762120"/>
            <a:ext cx="3915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245615" name="Text 4"/>
          <p:cNvSpPr/>
          <p:nvPr/>
        </p:nvSpPr>
        <p:spPr bwMode="auto">
          <a:xfrm>
            <a:off x="1047600" y="1866960"/>
            <a:ext cx="8829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982806" name="Text 5"/>
          <p:cNvSpPr/>
          <p:nvPr/>
        </p:nvSpPr>
        <p:spPr bwMode="auto">
          <a:xfrm>
            <a:off x="1047600" y="2467080"/>
            <a:ext cx="8829000" cy="45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59107" name="Text 6"/>
          <p:cNvSpPr/>
          <p:nvPr/>
        </p:nvSpPr>
        <p:spPr bwMode="auto">
          <a:xfrm>
            <a:off x="1047600" y="7336080"/>
            <a:ext cx="489672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1744802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280" cy="609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1003020" name="Text 7"/>
          <p:cNvSpPr/>
          <p:nvPr/>
        </p:nvSpPr>
        <p:spPr bwMode="auto">
          <a:xfrm>
            <a:off x="1047600" y="9191520"/>
            <a:ext cx="1275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790991" name="Text 8"/>
          <p:cNvSpPr/>
          <p:nvPr/>
        </p:nvSpPr>
        <p:spPr bwMode="auto">
          <a:xfrm>
            <a:off x="15267960" y="9191520"/>
            <a:ext cx="2048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48545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0442751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016858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216400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579060" name="Text 4"/>
          <p:cNvSpPr/>
          <p:nvPr/>
        </p:nvSpPr>
        <p:spPr bwMode="auto">
          <a:xfrm>
            <a:off x="1047600" y="1600200"/>
            <a:ext cx="7945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421447" name="Text 5"/>
          <p:cNvSpPr/>
          <p:nvPr/>
        </p:nvSpPr>
        <p:spPr bwMode="auto">
          <a:xfrm>
            <a:off x="1047600" y="2104920"/>
            <a:ext cx="7945920" cy="44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65000" lnSpcReduction="7000"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9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90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9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9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05943" name="Text 6"/>
          <p:cNvSpPr/>
          <p:nvPr/>
        </p:nvSpPr>
        <p:spPr bwMode="auto">
          <a:xfrm>
            <a:off x="1047599" y="6448590"/>
            <a:ext cx="7009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2021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723745" name="Text 7"/>
          <p:cNvSpPr/>
          <p:nvPr/>
        </p:nvSpPr>
        <p:spPr bwMode="auto">
          <a:xfrm>
            <a:off x="1047600" y="8445625"/>
            <a:ext cx="7009560" cy="91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715287" name="Shape 8"/>
          <p:cNvSpPr/>
          <p:nvPr/>
        </p:nvSpPr>
        <p:spPr bwMode="auto">
          <a:xfrm>
            <a:off x="9524880" y="1600200"/>
            <a:ext cx="7714440" cy="4578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1133949" name="Text 9"/>
          <p:cNvSpPr/>
          <p:nvPr/>
        </p:nvSpPr>
        <p:spPr bwMode="auto">
          <a:xfrm>
            <a:off x="9839160" y="1914480"/>
            <a:ext cx="7298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058563" name="Text 10"/>
          <p:cNvSpPr/>
          <p:nvPr/>
        </p:nvSpPr>
        <p:spPr bwMode="auto">
          <a:xfrm>
            <a:off x="9839160" y="2381400"/>
            <a:ext cx="729864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23778" name="Shape 11"/>
          <p:cNvSpPr/>
          <p:nvPr/>
        </p:nvSpPr>
        <p:spPr bwMode="auto">
          <a:xfrm>
            <a:off x="9839160" y="3890160"/>
            <a:ext cx="708588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781641" name="Text 12"/>
          <p:cNvSpPr/>
          <p:nvPr/>
        </p:nvSpPr>
        <p:spPr bwMode="auto">
          <a:xfrm>
            <a:off x="9839160" y="412812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294669" name="Text 13"/>
          <p:cNvSpPr/>
          <p:nvPr/>
        </p:nvSpPr>
        <p:spPr bwMode="auto">
          <a:xfrm>
            <a:off x="9839160" y="446148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358014" name="Text 14"/>
          <p:cNvSpPr/>
          <p:nvPr/>
        </p:nvSpPr>
        <p:spPr bwMode="auto">
          <a:xfrm>
            <a:off x="13478040" y="412812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672006" name="Text 15"/>
          <p:cNvSpPr/>
          <p:nvPr/>
        </p:nvSpPr>
        <p:spPr bwMode="auto">
          <a:xfrm>
            <a:off x="13478040" y="446148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08726" name="Text 16"/>
          <p:cNvSpPr/>
          <p:nvPr/>
        </p:nvSpPr>
        <p:spPr bwMode="auto">
          <a:xfrm>
            <a:off x="9839160" y="509220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040994" name="Text 17"/>
          <p:cNvSpPr/>
          <p:nvPr/>
        </p:nvSpPr>
        <p:spPr bwMode="auto">
          <a:xfrm>
            <a:off x="9839160" y="542556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407834" name="Text 18"/>
          <p:cNvSpPr/>
          <p:nvPr/>
        </p:nvSpPr>
        <p:spPr bwMode="auto">
          <a:xfrm>
            <a:off x="13478040" y="509220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363538" name="Text 19"/>
          <p:cNvSpPr/>
          <p:nvPr/>
        </p:nvSpPr>
        <p:spPr bwMode="auto">
          <a:xfrm>
            <a:off x="13478040" y="542556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167971" name="Text 20"/>
          <p:cNvSpPr/>
          <p:nvPr/>
        </p:nvSpPr>
        <p:spPr bwMode="auto">
          <a:xfrm>
            <a:off x="9524880" y="6313320"/>
            <a:ext cx="7945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247541" name="Text 21"/>
          <p:cNvSpPr/>
          <p:nvPr/>
        </p:nvSpPr>
        <p:spPr bwMode="auto">
          <a:xfrm>
            <a:off x="1047600" y="9530280"/>
            <a:ext cx="1057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247820" name="Text 22"/>
          <p:cNvSpPr/>
          <p:nvPr/>
        </p:nvSpPr>
        <p:spPr bwMode="auto">
          <a:xfrm>
            <a:off x="16219440" y="9530280"/>
            <a:ext cx="10962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428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94703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217966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551528" name="Text 3"/>
          <p:cNvSpPr/>
          <p:nvPr/>
        </p:nvSpPr>
        <p:spPr bwMode="auto">
          <a:xfrm>
            <a:off x="13480200" y="762120"/>
            <a:ext cx="38721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873230" name="Text 4"/>
          <p:cNvSpPr/>
          <p:nvPr/>
        </p:nvSpPr>
        <p:spPr bwMode="auto">
          <a:xfrm>
            <a:off x="1047600" y="1619280"/>
            <a:ext cx="10343880" cy="177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826658" name="Text 5"/>
          <p:cNvSpPr/>
          <p:nvPr/>
        </p:nvSpPr>
        <p:spPr bwMode="auto">
          <a:xfrm>
            <a:off x="1047600" y="3489840"/>
            <a:ext cx="16677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153963" name="Shape 6"/>
          <p:cNvSpPr/>
          <p:nvPr/>
        </p:nvSpPr>
        <p:spPr bwMode="auto">
          <a:xfrm>
            <a:off x="104760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4519216" name="Text 7"/>
          <p:cNvSpPr/>
          <p:nvPr/>
        </p:nvSpPr>
        <p:spPr bwMode="auto">
          <a:xfrm>
            <a:off x="104760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4918310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3810471" name="Text 8"/>
          <p:cNvSpPr/>
          <p:nvPr/>
        </p:nvSpPr>
        <p:spPr bwMode="auto">
          <a:xfrm>
            <a:off x="1047600" y="6375960"/>
            <a:ext cx="394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en-US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EV</a:t>
            </a: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時代が来る。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559544" name="Text 9"/>
          <p:cNvSpPr/>
          <p:nvPr/>
        </p:nvSpPr>
        <p:spPr bwMode="auto">
          <a:xfrm>
            <a:off x="1047600" y="7080840"/>
            <a:ext cx="394812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約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年で日本の乗用車の大半が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に。農村の電力網には新たな分散電源が必要。送電線の延伸は遅く、高コストです。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754606" name="Shape 10"/>
          <p:cNvSpPr/>
          <p:nvPr/>
        </p:nvSpPr>
        <p:spPr bwMode="auto">
          <a:xfrm>
            <a:off x="516744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0265914" name="Text 11"/>
          <p:cNvSpPr/>
          <p:nvPr/>
        </p:nvSpPr>
        <p:spPr bwMode="auto">
          <a:xfrm>
            <a:off x="516744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0344471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9124698" name="Text 12"/>
          <p:cNvSpPr/>
          <p:nvPr/>
        </p:nvSpPr>
        <p:spPr bwMode="auto">
          <a:xfrm>
            <a:off x="5167440" y="6375960"/>
            <a:ext cx="394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132991" name="Text 13"/>
          <p:cNvSpPr/>
          <p:nvPr/>
        </p:nvSpPr>
        <p:spPr bwMode="auto">
          <a:xfrm>
            <a:off x="5167440" y="7080840"/>
            <a:ext cx="394812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571589" name="Shape 14"/>
          <p:cNvSpPr/>
          <p:nvPr/>
        </p:nvSpPr>
        <p:spPr bwMode="auto">
          <a:xfrm>
            <a:off x="928692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024337" name="Text 15"/>
          <p:cNvSpPr/>
          <p:nvPr/>
        </p:nvSpPr>
        <p:spPr bwMode="auto">
          <a:xfrm>
            <a:off x="928692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5591501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8857301" name="Text 16"/>
          <p:cNvSpPr/>
          <p:nvPr/>
        </p:nvSpPr>
        <p:spPr bwMode="auto">
          <a:xfrm>
            <a:off x="9286920" y="6267960"/>
            <a:ext cx="39481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782493" name="Text 17"/>
          <p:cNvSpPr/>
          <p:nvPr/>
        </p:nvSpPr>
        <p:spPr bwMode="auto">
          <a:xfrm>
            <a:off x="9286920" y="7101720"/>
            <a:ext cx="3948120" cy="11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516061" name="Shape 18"/>
          <p:cNvSpPr/>
          <p:nvPr/>
        </p:nvSpPr>
        <p:spPr bwMode="auto">
          <a:xfrm>
            <a:off x="1340640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371213" name="Text 19"/>
          <p:cNvSpPr/>
          <p:nvPr/>
        </p:nvSpPr>
        <p:spPr bwMode="auto">
          <a:xfrm>
            <a:off x="1340640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9174361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1691229" name="Text 20"/>
          <p:cNvSpPr/>
          <p:nvPr/>
        </p:nvSpPr>
        <p:spPr bwMode="auto">
          <a:xfrm>
            <a:off x="13406400" y="6339960"/>
            <a:ext cx="39481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422431" name="Text 21"/>
          <p:cNvSpPr/>
          <p:nvPr/>
        </p:nvSpPr>
        <p:spPr bwMode="auto">
          <a:xfrm>
            <a:off x="13406400" y="7139880"/>
            <a:ext cx="3948120" cy="8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4061" name="Text 22"/>
          <p:cNvSpPr/>
          <p:nvPr/>
        </p:nvSpPr>
        <p:spPr bwMode="auto">
          <a:xfrm>
            <a:off x="1047600" y="9191520"/>
            <a:ext cx="1374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128124" name="Text 23"/>
          <p:cNvSpPr/>
          <p:nvPr/>
        </p:nvSpPr>
        <p:spPr bwMode="auto">
          <a:xfrm>
            <a:off x="13487400" y="8229600"/>
            <a:ext cx="369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9301496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638121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938766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139444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486150" name="Text 4"/>
          <p:cNvSpPr/>
          <p:nvPr/>
        </p:nvSpPr>
        <p:spPr bwMode="auto">
          <a:xfrm>
            <a:off x="1047600" y="1383120"/>
            <a:ext cx="16677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323599" name="Text 5"/>
          <p:cNvSpPr/>
          <p:nvPr/>
        </p:nvSpPr>
        <p:spPr bwMode="auto">
          <a:xfrm>
            <a:off x="1047600" y="2383560"/>
            <a:ext cx="15513120" cy="30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 anchorCtr="1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72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7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229335" name="Text 6"/>
          <p:cNvSpPr/>
          <p:nvPr/>
        </p:nvSpPr>
        <p:spPr bwMode="auto">
          <a:xfrm>
            <a:off x="972360" y="5218739"/>
            <a:ext cx="16677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439063" name="Text 7"/>
          <p:cNvSpPr/>
          <p:nvPr/>
        </p:nvSpPr>
        <p:spPr bwMode="auto">
          <a:xfrm>
            <a:off x="97236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332216" name="Text 8"/>
          <p:cNvSpPr/>
          <p:nvPr/>
        </p:nvSpPr>
        <p:spPr bwMode="auto">
          <a:xfrm>
            <a:off x="972360" y="647064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845884" name="Text 9"/>
          <p:cNvSpPr/>
          <p:nvPr/>
        </p:nvSpPr>
        <p:spPr bwMode="auto">
          <a:xfrm>
            <a:off x="972360" y="717336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314870" name="Text 10"/>
          <p:cNvSpPr/>
          <p:nvPr/>
        </p:nvSpPr>
        <p:spPr bwMode="auto">
          <a:xfrm>
            <a:off x="656064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643582" name="Text 11"/>
          <p:cNvSpPr/>
          <p:nvPr/>
        </p:nvSpPr>
        <p:spPr bwMode="auto">
          <a:xfrm>
            <a:off x="6560640" y="647064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303412" name="Text 12"/>
          <p:cNvSpPr/>
          <p:nvPr/>
        </p:nvSpPr>
        <p:spPr bwMode="auto">
          <a:xfrm>
            <a:off x="6560640" y="717336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2793685" name="Text 13"/>
          <p:cNvSpPr/>
          <p:nvPr/>
        </p:nvSpPr>
        <p:spPr bwMode="auto">
          <a:xfrm>
            <a:off x="1214856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1536695" name="Text 14"/>
          <p:cNvSpPr/>
          <p:nvPr/>
        </p:nvSpPr>
        <p:spPr bwMode="auto">
          <a:xfrm>
            <a:off x="12148560" y="6470640"/>
            <a:ext cx="51663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336914" name="Text 15"/>
          <p:cNvSpPr/>
          <p:nvPr/>
        </p:nvSpPr>
        <p:spPr bwMode="auto">
          <a:xfrm>
            <a:off x="12148560" y="7202520"/>
            <a:ext cx="516636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8174203" name="Text 16"/>
          <p:cNvSpPr/>
          <p:nvPr/>
        </p:nvSpPr>
        <p:spPr bwMode="auto">
          <a:xfrm>
            <a:off x="1047600" y="9191520"/>
            <a:ext cx="1156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347197" name="Text 17"/>
          <p:cNvSpPr/>
          <p:nvPr/>
        </p:nvSpPr>
        <p:spPr bwMode="auto">
          <a:xfrm>
            <a:off x="12153960" y="7704360"/>
            <a:ext cx="5383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07777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96456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3926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63897" name="Text 3"/>
          <p:cNvSpPr/>
          <p:nvPr/>
        </p:nvSpPr>
        <p:spPr bwMode="auto">
          <a:xfrm>
            <a:off x="15925680" y="762120"/>
            <a:ext cx="13899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528367" name="Text 4"/>
          <p:cNvSpPr/>
          <p:nvPr/>
        </p:nvSpPr>
        <p:spPr bwMode="auto">
          <a:xfrm>
            <a:off x="1047600" y="1695600"/>
            <a:ext cx="832428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753968" name="Text 5"/>
          <p:cNvSpPr/>
          <p:nvPr/>
        </p:nvSpPr>
        <p:spPr bwMode="auto">
          <a:xfrm>
            <a:off x="1047600" y="3265200"/>
            <a:ext cx="7009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92066" name="Text 6"/>
          <p:cNvSpPr/>
          <p:nvPr/>
        </p:nvSpPr>
        <p:spPr bwMode="auto">
          <a:xfrm>
            <a:off x="1047600" y="5292000"/>
            <a:ext cx="700956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020537" name="Text 7"/>
          <p:cNvSpPr/>
          <p:nvPr/>
        </p:nvSpPr>
        <p:spPr bwMode="auto">
          <a:xfrm>
            <a:off x="1065960" y="6640920"/>
            <a:ext cx="700956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194913" name="Shape 8"/>
          <p:cNvSpPr/>
          <p:nvPr/>
        </p:nvSpPr>
        <p:spPr bwMode="auto">
          <a:xfrm>
            <a:off x="1065960" y="8227800"/>
            <a:ext cx="808200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332095" name="Text 9"/>
          <p:cNvSpPr/>
          <p:nvPr/>
        </p:nvSpPr>
        <p:spPr bwMode="auto">
          <a:xfrm>
            <a:off x="106596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793275" name="Text 10"/>
          <p:cNvSpPr/>
          <p:nvPr/>
        </p:nvSpPr>
        <p:spPr bwMode="auto">
          <a:xfrm>
            <a:off x="106596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022566" name="Text 11"/>
          <p:cNvSpPr/>
          <p:nvPr/>
        </p:nvSpPr>
        <p:spPr bwMode="auto">
          <a:xfrm>
            <a:off x="385560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237536" name="Text 12"/>
          <p:cNvSpPr/>
          <p:nvPr/>
        </p:nvSpPr>
        <p:spPr bwMode="auto">
          <a:xfrm>
            <a:off x="385560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98536" name="Text 13"/>
          <p:cNvSpPr/>
          <p:nvPr/>
        </p:nvSpPr>
        <p:spPr bwMode="auto">
          <a:xfrm>
            <a:off x="664488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860826" name="Text 14"/>
          <p:cNvSpPr/>
          <p:nvPr/>
        </p:nvSpPr>
        <p:spPr bwMode="auto">
          <a:xfrm>
            <a:off x="664488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120779" name="Shape 15"/>
          <p:cNvSpPr/>
          <p:nvPr/>
        </p:nvSpPr>
        <p:spPr bwMode="auto">
          <a:xfrm>
            <a:off x="9892440" y="1695600"/>
            <a:ext cx="7347240" cy="37587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143810" name="Text 16"/>
          <p:cNvSpPr/>
          <p:nvPr/>
        </p:nvSpPr>
        <p:spPr bwMode="auto">
          <a:xfrm>
            <a:off x="10168560" y="1971720"/>
            <a:ext cx="6998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2359470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46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595781" name="Text 17"/>
          <p:cNvSpPr/>
          <p:nvPr/>
        </p:nvSpPr>
        <p:spPr bwMode="auto">
          <a:xfrm>
            <a:off x="10168560" y="404820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567218" name="Shape 18"/>
          <p:cNvSpPr/>
          <p:nvPr/>
        </p:nvSpPr>
        <p:spPr bwMode="auto">
          <a:xfrm>
            <a:off x="9892440" y="5683680"/>
            <a:ext cx="7347240" cy="37587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994015" name="Text 19"/>
          <p:cNvSpPr/>
          <p:nvPr/>
        </p:nvSpPr>
        <p:spPr bwMode="auto">
          <a:xfrm>
            <a:off x="10168560" y="5959800"/>
            <a:ext cx="6998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9358333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46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087475" name="Text 20"/>
          <p:cNvSpPr/>
          <p:nvPr/>
        </p:nvSpPr>
        <p:spPr bwMode="auto">
          <a:xfrm>
            <a:off x="10168560" y="803628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224184" name="Text 21"/>
          <p:cNvSpPr/>
          <p:nvPr/>
        </p:nvSpPr>
        <p:spPr bwMode="auto">
          <a:xfrm>
            <a:off x="1047600" y="9443160"/>
            <a:ext cx="12362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27393" name="Text 22"/>
          <p:cNvSpPr/>
          <p:nvPr/>
        </p:nvSpPr>
        <p:spPr bwMode="auto">
          <a:xfrm>
            <a:off x="13005720" y="9443160"/>
            <a:ext cx="4361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463289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64839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268820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324329" name="Text 3"/>
          <p:cNvSpPr/>
          <p:nvPr/>
        </p:nvSpPr>
        <p:spPr bwMode="auto">
          <a:xfrm>
            <a:off x="15309360" y="762120"/>
            <a:ext cx="2006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413495" name="Text 4"/>
          <p:cNvSpPr/>
          <p:nvPr/>
        </p:nvSpPr>
        <p:spPr bwMode="auto">
          <a:xfrm>
            <a:off x="1047600" y="1695600"/>
            <a:ext cx="9437400" cy="22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402038" name="Text 5"/>
          <p:cNvSpPr/>
          <p:nvPr/>
        </p:nvSpPr>
        <p:spPr bwMode="auto">
          <a:xfrm>
            <a:off x="1047600" y="4290120"/>
            <a:ext cx="10477800" cy="15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371116" name="Shape 6"/>
          <p:cNvSpPr/>
          <p:nvPr/>
        </p:nvSpPr>
        <p:spPr bwMode="auto">
          <a:xfrm>
            <a:off x="1047600" y="5863320"/>
            <a:ext cx="16191720" cy="28130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0713727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400"/>
            <a:ext cx="15486840" cy="210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5353699" name="Text 7"/>
          <p:cNvSpPr/>
          <p:nvPr/>
        </p:nvSpPr>
        <p:spPr bwMode="auto">
          <a:xfrm>
            <a:off x="1047600" y="9191520"/>
            <a:ext cx="1057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951163" name="Text 8"/>
          <p:cNvSpPr/>
          <p:nvPr/>
        </p:nvSpPr>
        <p:spPr bwMode="auto">
          <a:xfrm>
            <a:off x="12618000" y="9191520"/>
            <a:ext cx="4760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406660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449588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712535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39513" name="Text 3"/>
          <p:cNvSpPr/>
          <p:nvPr/>
        </p:nvSpPr>
        <p:spPr bwMode="auto">
          <a:xfrm>
            <a:off x="14553000" y="762120"/>
            <a:ext cx="27669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134820" name="Text 4"/>
          <p:cNvSpPr/>
          <p:nvPr/>
        </p:nvSpPr>
        <p:spPr bwMode="auto">
          <a:xfrm>
            <a:off x="1047600" y="1695600"/>
            <a:ext cx="7945920" cy="16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295725" name="Text 5"/>
          <p:cNvSpPr/>
          <p:nvPr/>
        </p:nvSpPr>
        <p:spPr bwMode="auto">
          <a:xfrm>
            <a:off x="1047600" y="3452760"/>
            <a:ext cx="7009560" cy="19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92500" lnSpcReduction="9999"/>
          </a:bodyPr>
          <a:p>
            <a:pPr>
              <a:lnSpc>
                <a:spcPct val="100000"/>
              </a:lnSpc>
              <a:defRPr/>
            </a:pP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地域の中心に立つデータセンター。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endParaRPr lang="en-US" sz="19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御杖体験交流館（活用可能な地域の空き交流施設）を、エネルギー効率の高い小規模エッジ計算施設として活用。フェーズ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では村内の空き工場へ拡張します。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100%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地域の再生可能エネルギーで稼働します。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endParaRPr lang="en-US" sz="19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209276" name="Text 6"/>
          <p:cNvSpPr/>
          <p:nvPr/>
        </p:nvSpPr>
        <p:spPr bwMode="auto">
          <a:xfrm>
            <a:off x="1047600" y="5194800"/>
            <a:ext cx="700956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232442" name="Shape 7"/>
          <p:cNvSpPr/>
          <p:nvPr/>
        </p:nvSpPr>
        <p:spPr bwMode="auto">
          <a:xfrm>
            <a:off x="1047600" y="7738200"/>
            <a:ext cx="771444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6814984" name="Text 8"/>
          <p:cNvSpPr/>
          <p:nvPr/>
        </p:nvSpPr>
        <p:spPr bwMode="auto">
          <a:xfrm>
            <a:off x="104760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01618" name="Text 9"/>
          <p:cNvSpPr/>
          <p:nvPr/>
        </p:nvSpPr>
        <p:spPr bwMode="auto">
          <a:xfrm>
            <a:off x="104760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888500" name="Text 10"/>
          <p:cNvSpPr/>
          <p:nvPr/>
        </p:nvSpPr>
        <p:spPr bwMode="auto">
          <a:xfrm>
            <a:off x="369576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052227" name="Text 11"/>
          <p:cNvSpPr/>
          <p:nvPr/>
        </p:nvSpPr>
        <p:spPr bwMode="auto">
          <a:xfrm>
            <a:off x="369576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050027" name="Text 12"/>
          <p:cNvSpPr/>
          <p:nvPr/>
        </p:nvSpPr>
        <p:spPr bwMode="auto">
          <a:xfrm>
            <a:off x="634356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6731221" name="Text 13"/>
          <p:cNvSpPr/>
          <p:nvPr/>
        </p:nvSpPr>
        <p:spPr bwMode="auto">
          <a:xfrm>
            <a:off x="634356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124861" name="Shape 14"/>
          <p:cNvSpPr/>
          <p:nvPr/>
        </p:nvSpPr>
        <p:spPr bwMode="auto">
          <a:xfrm>
            <a:off x="9524880" y="1695600"/>
            <a:ext cx="7714440" cy="659016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2764802" name="Text 15"/>
          <p:cNvSpPr/>
          <p:nvPr/>
        </p:nvSpPr>
        <p:spPr bwMode="auto">
          <a:xfrm>
            <a:off x="10010880" y="2181240"/>
            <a:ext cx="6945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098106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160" cy="500903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402228" name="Text 16"/>
          <p:cNvSpPr/>
          <p:nvPr/>
        </p:nvSpPr>
        <p:spPr bwMode="auto">
          <a:xfrm>
            <a:off x="1047600" y="919152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651942" name="Text 17"/>
          <p:cNvSpPr/>
          <p:nvPr/>
        </p:nvSpPr>
        <p:spPr bwMode="auto">
          <a:xfrm>
            <a:off x="11237760" y="9191520"/>
            <a:ext cx="6181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746884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95282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8056198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715778" name="Text 3"/>
          <p:cNvSpPr/>
          <p:nvPr/>
        </p:nvSpPr>
        <p:spPr bwMode="auto">
          <a:xfrm>
            <a:off x="14319360" y="762120"/>
            <a:ext cx="3007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238695" name="Text 4"/>
          <p:cNvSpPr/>
          <p:nvPr/>
        </p:nvSpPr>
        <p:spPr bwMode="auto">
          <a:xfrm>
            <a:off x="1047600" y="1695600"/>
            <a:ext cx="12521880" cy="31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416562" name="Text 5"/>
          <p:cNvSpPr/>
          <p:nvPr/>
        </p:nvSpPr>
        <p:spPr bwMode="auto">
          <a:xfrm>
            <a:off x="1047600" y="5197680"/>
            <a:ext cx="1219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3866933" name="Shape 6"/>
          <p:cNvSpPr/>
          <p:nvPr/>
        </p:nvSpPr>
        <p:spPr bwMode="auto">
          <a:xfrm>
            <a:off x="104760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990211" name="Text 7"/>
          <p:cNvSpPr/>
          <p:nvPr/>
        </p:nvSpPr>
        <p:spPr bwMode="auto">
          <a:xfrm>
            <a:off x="104760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358175" name="Text 8"/>
          <p:cNvSpPr/>
          <p:nvPr/>
        </p:nvSpPr>
        <p:spPr bwMode="auto">
          <a:xfrm>
            <a:off x="88776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310002" name="Shape 9"/>
          <p:cNvSpPr/>
          <p:nvPr/>
        </p:nvSpPr>
        <p:spPr bwMode="auto">
          <a:xfrm>
            <a:off x="657216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804390" name="Text 10"/>
          <p:cNvSpPr/>
          <p:nvPr/>
        </p:nvSpPr>
        <p:spPr bwMode="auto">
          <a:xfrm>
            <a:off x="657216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748122" name="Text 11"/>
          <p:cNvSpPr/>
          <p:nvPr/>
        </p:nvSpPr>
        <p:spPr bwMode="auto">
          <a:xfrm>
            <a:off x="641232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8708041" name="Shape 12"/>
          <p:cNvSpPr/>
          <p:nvPr/>
        </p:nvSpPr>
        <p:spPr bwMode="auto">
          <a:xfrm>
            <a:off x="1209672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16386" name="Text 13"/>
          <p:cNvSpPr/>
          <p:nvPr/>
        </p:nvSpPr>
        <p:spPr bwMode="auto">
          <a:xfrm>
            <a:off x="1209672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603956" name="Text 14"/>
          <p:cNvSpPr/>
          <p:nvPr/>
        </p:nvSpPr>
        <p:spPr bwMode="auto">
          <a:xfrm>
            <a:off x="1193688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6836060" name="Text 15"/>
          <p:cNvSpPr/>
          <p:nvPr/>
        </p:nvSpPr>
        <p:spPr bwMode="auto">
          <a:xfrm>
            <a:off x="1047600" y="919152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843278" name="Text 16"/>
          <p:cNvSpPr/>
          <p:nvPr/>
        </p:nvSpPr>
        <p:spPr bwMode="auto">
          <a:xfrm>
            <a:off x="13398480" y="9191520"/>
            <a:ext cx="3956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03489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825575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92990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471479" name="Text 3"/>
          <p:cNvSpPr/>
          <p:nvPr/>
        </p:nvSpPr>
        <p:spPr bwMode="auto">
          <a:xfrm>
            <a:off x="14443920" y="762120"/>
            <a:ext cx="2879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7059530" name="Text 4"/>
          <p:cNvSpPr/>
          <p:nvPr/>
        </p:nvSpPr>
        <p:spPr bwMode="auto">
          <a:xfrm>
            <a:off x="1047600" y="165744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320431" name="Text 5"/>
          <p:cNvSpPr/>
          <p:nvPr/>
        </p:nvSpPr>
        <p:spPr bwMode="auto">
          <a:xfrm>
            <a:off x="1047600" y="2124000"/>
            <a:ext cx="8324280" cy="351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874499" name="Text 6"/>
          <p:cNvSpPr/>
          <p:nvPr/>
        </p:nvSpPr>
        <p:spPr bwMode="auto">
          <a:xfrm>
            <a:off x="1047600" y="5865480"/>
            <a:ext cx="731412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23648" name="Shape 7"/>
          <p:cNvSpPr/>
          <p:nvPr/>
        </p:nvSpPr>
        <p:spPr bwMode="auto">
          <a:xfrm>
            <a:off x="1047600" y="7471440"/>
            <a:ext cx="808200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7524329" name="Text 8"/>
          <p:cNvSpPr/>
          <p:nvPr/>
        </p:nvSpPr>
        <p:spPr bwMode="auto">
          <a:xfrm>
            <a:off x="1047600" y="769032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539299" name="Text 9"/>
          <p:cNvSpPr/>
          <p:nvPr/>
        </p:nvSpPr>
        <p:spPr bwMode="auto">
          <a:xfrm>
            <a:off x="1047600" y="8195400"/>
            <a:ext cx="2522519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56765" name="Text 10"/>
          <p:cNvSpPr/>
          <p:nvPr/>
        </p:nvSpPr>
        <p:spPr bwMode="auto">
          <a:xfrm>
            <a:off x="1047600" y="8656200"/>
            <a:ext cx="2522519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877570" name="Text 11"/>
          <p:cNvSpPr/>
          <p:nvPr/>
        </p:nvSpPr>
        <p:spPr bwMode="auto">
          <a:xfrm>
            <a:off x="3421800" y="8156880"/>
            <a:ext cx="432900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730026" name="Text 12"/>
          <p:cNvSpPr/>
          <p:nvPr/>
        </p:nvSpPr>
        <p:spPr bwMode="auto">
          <a:xfrm>
            <a:off x="3421800" y="8656200"/>
            <a:ext cx="4329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850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316379" name="Shape 13"/>
          <p:cNvSpPr/>
          <p:nvPr/>
        </p:nvSpPr>
        <p:spPr bwMode="auto">
          <a:xfrm>
            <a:off x="9892440" y="1657440"/>
            <a:ext cx="7347240" cy="26283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5703316" name="Text 14"/>
          <p:cNvSpPr/>
          <p:nvPr/>
        </p:nvSpPr>
        <p:spPr bwMode="auto">
          <a:xfrm>
            <a:off x="10187640" y="189540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908593" name="Text 15"/>
          <p:cNvSpPr/>
          <p:nvPr/>
        </p:nvSpPr>
        <p:spPr bwMode="auto">
          <a:xfrm>
            <a:off x="10237320" y="2343240"/>
            <a:ext cx="6783480" cy="174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伊藤穰一、レイ・オジー、堂目卓生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408932" name="Shape 16"/>
          <p:cNvSpPr/>
          <p:nvPr/>
        </p:nvSpPr>
        <p:spPr bwMode="auto">
          <a:xfrm>
            <a:off x="9892440" y="4495680"/>
            <a:ext cx="7347240" cy="20872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310412" name="Text 17"/>
          <p:cNvSpPr/>
          <p:nvPr/>
        </p:nvSpPr>
        <p:spPr bwMode="auto">
          <a:xfrm>
            <a:off x="10187640" y="473400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75133" name="Text 18"/>
          <p:cNvSpPr/>
          <p:nvPr/>
        </p:nvSpPr>
        <p:spPr bwMode="auto">
          <a:xfrm>
            <a:off x="10237320" y="5181480"/>
            <a:ext cx="678348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564511" name="Shape 19"/>
          <p:cNvSpPr/>
          <p:nvPr/>
        </p:nvSpPr>
        <p:spPr bwMode="auto">
          <a:xfrm>
            <a:off x="9892440" y="6858000"/>
            <a:ext cx="7347240" cy="20872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673071" name="Text 20"/>
          <p:cNvSpPr/>
          <p:nvPr/>
        </p:nvSpPr>
        <p:spPr bwMode="auto">
          <a:xfrm>
            <a:off x="10187640" y="709596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084399" name="Text 21"/>
          <p:cNvSpPr/>
          <p:nvPr/>
        </p:nvSpPr>
        <p:spPr bwMode="auto">
          <a:xfrm>
            <a:off x="10237320" y="7543800"/>
            <a:ext cx="678348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589086" name="Text 22"/>
          <p:cNvSpPr/>
          <p:nvPr/>
        </p:nvSpPr>
        <p:spPr bwMode="auto">
          <a:xfrm>
            <a:off x="1047600" y="959184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39878" name="Text 23"/>
          <p:cNvSpPr/>
          <p:nvPr/>
        </p:nvSpPr>
        <p:spPr bwMode="auto">
          <a:xfrm>
            <a:off x="14340240" y="9591840"/>
            <a:ext cx="3641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363299" name="Text 11"/>
          <p:cNvSpPr/>
          <p:nvPr/>
        </p:nvSpPr>
        <p:spPr bwMode="auto">
          <a:xfrm>
            <a:off x="6553800" y="8195400"/>
            <a:ext cx="432900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200662" name="Text 12"/>
          <p:cNvSpPr/>
          <p:nvPr/>
        </p:nvSpPr>
        <p:spPr bwMode="auto">
          <a:xfrm>
            <a:off x="6553800" y="8656200"/>
            <a:ext cx="432900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850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52844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098560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978899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776435" name="Text 3"/>
          <p:cNvSpPr/>
          <p:nvPr/>
        </p:nvSpPr>
        <p:spPr bwMode="auto">
          <a:xfrm>
            <a:off x="15175800" y="762120"/>
            <a:ext cx="2139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690870" name="Text 4"/>
          <p:cNvSpPr/>
          <p:nvPr/>
        </p:nvSpPr>
        <p:spPr bwMode="auto">
          <a:xfrm>
            <a:off x="1047600" y="1371600"/>
            <a:ext cx="762012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954248" name="Text 5"/>
          <p:cNvSpPr/>
          <p:nvPr/>
        </p:nvSpPr>
        <p:spPr bwMode="auto">
          <a:xfrm>
            <a:off x="1047600" y="2975760"/>
            <a:ext cx="10451160" cy="67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127353" name="Shape 6"/>
          <p:cNvSpPr/>
          <p:nvPr/>
        </p:nvSpPr>
        <p:spPr bwMode="auto">
          <a:xfrm>
            <a:off x="1047600" y="4073040"/>
            <a:ext cx="3131280" cy="179748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5326794" name="Text 7"/>
          <p:cNvSpPr/>
          <p:nvPr/>
        </p:nvSpPr>
        <p:spPr bwMode="auto">
          <a:xfrm>
            <a:off x="12096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898726" name="Text 8"/>
          <p:cNvSpPr/>
          <p:nvPr/>
        </p:nvSpPr>
        <p:spPr bwMode="auto">
          <a:xfrm>
            <a:off x="12096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210919" name="Text 9"/>
          <p:cNvSpPr/>
          <p:nvPr/>
        </p:nvSpPr>
        <p:spPr bwMode="auto">
          <a:xfrm>
            <a:off x="12096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282451" name="Shape 10"/>
          <p:cNvSpPr/>
          <p:nvPr/>
        </p:nvSpPr>
        <p:spPr bwMode="auto">
          <a:xfrm>
            <a:off x="43128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529583" name="Text 11"/>
          <p:cNvSpPr/>
          <p:nvPr/>
        </p:nvSpPr>
        <p:spPr bwMode="auto">
          <a:xfrm>
            <a:off x="44748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095737" name="Text 12"/>
          <p:cNvSpPr/>
          <p:nvPr/>
        </p:nvSpPr>
        <p:spPr bwMode="auto">
          <a:xfrm>
            <a:off x="44748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555152" name="Text 13"/>
          <p:cNvSpPr/>
          <p:nvPr/>
        </p:nvSpPr>
        <p:spPr bwMode="auto">
          <a:xfrm>
            <a:off x="44748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717147" name="Shape 14"/>
          <p:cNvSpPr/>
          <p:nvPr/>
        </p:nvSpPr>
        <p:spPr bwMode="auto">
          <a:xfrm>
            <a:off x="75780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493233" name="Text 15"/>
          <p:cNvSpPr/>
          <p:nvPr/>
        </p:nvSpPr>
        <p:spPr bwMode="auto">
          <a:xfrm>
            <a:off x="77400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233075" name="Text 16"/>
          <p:cNvSpPr/>
          <p:nvPr/>
        </p:nvSpPr>
        <p:spPr bwMode="auto">
          <a:xfrm>
            <a:off x="77400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679214" name="Text 17"/>
          <p:cNvSpPr/>
          <p:nvPr/>
        </p:nvSpPr>
        <p:spPr bwMode="auto">
          <a:xfrm>
            <a:off x="77400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51593" name="Shape 18"/>
          <p:cNvSpPr/>
          <p:nvPr/>
        </p:nvSpPr>
        <p:spPr bwMode="auto">
          <a:xfrm>
            <a:off x="108432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873246" name="Text 19"/>
          <p:cNvSpPr/>
          <p:nvPr/>
        </p:nvSpPr>
        <p:spPr bwMode="auto">
          <a:xfrm>
            <a:off x="110052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325009" name="Text 20"/>
          <p:cNvSpPr/>
          <p:nvPr/>
        </p:nvSpPr>
        <p:spPr bwMode="auto">
          <a:xfrm>
            <a:off x="110052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907196" name="Text 21"/>
          <p:cNvSpPr/>
          <p:nvPr/>
        </p:nvSpPr>
        <p:spPr bwMode="auto">
          <a:xfrm>
            <a:off x="110052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569934" name="Shape 22"/>
          <p:cNvSpPr/>
          <p:nvPr/>
        </p:nvSpPr>
        <p:spPr bwMode="auto">
          <a:xfrm>
            <a:off x="141084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476624" name="Text 23"/>
          <p:cNvSpPr/>
          <p:nvPr/>
        </p:nvSpPr>
        <p:spPr bwMode="auto">
          <a:xfrm>
            <a:off x="142704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212826" name="Text 24"/>
          <p:cNvSpPr/>
          <p:nvPr/>
        </p:nvSpPr>
        <p:spPr bwMode="auto">
          <a:xfrm>
            <a:off x="142704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156214" name="Text 25"/>
          <p:cNvSpPr/>
          <p:nvPr/>
        </p:nvSpPr>
        <p:spPr bwMode="auto">
          <a:xfrm>
            <a:off x="142704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658310" name="Text 26"/>
          <p:cNvSpPr/>
          <p:nvPr/>
        </p:nvSpPr>
        <p:spPr bwMode="auto">
          <a:xfrm>
            <a:off x="42660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185973" name="Text 27"/>
          <p:cNvSpPr/>
          <p:nvPr/>
        </p:nvSpPr>
        <p:spPr bwMode="auto">
          <a:xfrm>
            <a:off x="75312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046179" name="Text 28"/>
          <p:cNvSpPr/>
          <p:nvPr/>
        </p:nvSpPr>
        <p:spPr bwMode="auto">
          <a:xfrm>
            <a:off x="107964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5470949" name="Text 29"/>
          <p:cNvSpPr/>
          <p:nvPr/>
        </p:nvSpPr>
        <p:spPr bwMode="auto">
          <a:xfrm>
            <a:off x="140616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469579" name="Text 30"/>
          <p:cNvSpPr/>
          <p:nvPr/>
        </p:nvSpPr>
        <p:spPr bwMode="auto">
          <a:xfrm>
            <a:off x="1047600" y="6356880"/>
            <a:ext cx="94536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771972" name="Shape 31"/>
          <p:cNvSpPr/>
          <p:nvPr/>
        </p:nvSpPr>
        <p:spPr bwMode="auto">
          <a:xfrm>
            <a:off x="1047600" y="7062840"/>
            <a:ext cx="9178200" cy="864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592000" name="Text 32"/>
          <p:cNvSpPr/>
          <p:nvPr/>
        </p:nvSpPr>
        <p:spPr bwMode="auto">
          <a:xfrm>
            <a:off x="1123920" y="6785640"/>
            <a:ext cx="10339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78396" name="Text 33"/>
          <p:cNvSpPr/>
          <p:nvPr/>
        </p:nvSpPr>
        <p:spPr bwMode="auto">
          <a:xfrm>
            <a:off x="2234880" y="6785640"/>
            <a:ext cx="41889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778495" name="Text 34"/>
          <p:cNvSpPr/>
          <p:nvPr/>
        </p:nvSpPr>
        <p:spPr bwMode="auto">
          <a:xfrm>
            <a:off x="6374160" y="6785640"/>
            <a:ext cx="18493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639290" name="Text 35"/>
          <p:cNvSpPr/>
          <p:nvPr/>
        </p:nvSpPr>
        <p:spPr bwMode="auto">
          <a:xfrm>
            <a:off x="8300520" y="6785640"/>
            <a:ext cx="18493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453383" name="Shape 36"/>
          <p:cNvSpPr/>
          <p:nvPr/>
        </p:nvSpPr>
        <p:spPr bwMode="auto">
          <a:xfrm>
            <a:off x="1047600" y="73540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0682356" name="Text 37"/>
          <p:cNvSpPr/>
          <p:nvPr/>
        </p:nvSpPr>
        <p:spPr bwMode="auto">
          <a:xfrm>
            <a:off x="1123920" y="708192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474170" name="Text 38"/>
          <p:cNvSpPr/>
          <p:nvPr/>
        </p:nvSpPr>
        <p:spPr bwMode="auto">
          <a:xfrm>
            <a:off x="2168280" y="708192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663433" name="Text 39"/>
          <p:cNvSpPr/>
          <p:nvPr/>
        </p:nvSpPr>
        <p:spPr bwMode="auto">
          <a:xfrm>
            <a:off x="6307560" y="708192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664210" name="Text 40"/>
          <p:cNvSpPr/>
          <p:nvPr/>
        </p:nvSpPr>
        <p:spPr bwMode="auto">
          <a:xfrm>
            <a:off x="8233560" y="708192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990165" name="Shape 41"/>
          <p:cNvSpPr/>
          <p:nvPr/>
        </p:nvSpPr>
        <p:spPr bwMode="auto">
          <a:xfrm>
            <a:off x="1047600" y="76456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2130583" name="Text 42"/>
          <p:cNvSpPr/>
          <p:nvPr/>
        </p:nvSpPr>
        <p:spPr bwMode="auto">
          <a:xfrm>
            <a:off x="1123920" y="73731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788202" name="Text 43"/>
          <p:cNvSpPr/>
          <p:nvPr/>
        </p:nvSpPr>
        <p:spPr bwMode="auto">
          <a:xfrm>
            <a:off x="2168280" y="73731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266269" name="Text 44"/>
          <p:cNvSpPr/>
          <p:nvPr/>
        </p:nvSpPr>
        <p:spPr bwMode="auto">
          <a:xfrm>
            <a:off x="6307560" y="73731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893645" name="Text 45"/>
          <p:cNvSpPr/>
          <p:nvPr/>
        </p:nvSpPr>
        <p:spPr bwMode="auto">
          <a:xfrm>
            <a:off x="8233560" y="73731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126950" name="Shape 46"/>
          <p:cNvSpPr/>
          <p:nvPr/>
        </p:nvSpPr>
        <p:spPr bwMode="auto">
          <a:xfrm>
            <a:off x="1047600" y="79372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8035176" name="Text 47"/>
          <p:cNvSpPr/>
          <p:nvPr/>
        </p:nvSpPr>
        <p:spPr bwMode="auto">
          <a:xfrm>
            <a:off x="1123920" y="76647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734692" name="Text 48"/>
          <p:cNvSpPr/>
          <p:nvPr/>
        </p:nvSpPr>
        <p:spPr bwMode="auto">
          <a:xfrm>
            <a:off x="2168280" y="76647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37871" name="Text 49"/>
          <p:cNvSpPr/>
          <p:nvPr/>
        </p:nvSpPr>
        <p:spPr bwMode="auto">
          <a:xfrm>
            <a:off x="6307560" y="76647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023950" name="Text 50"/>
          <p:cNvSpPr/>
          <p:nvPr/>
        </p:nvSpPr>
        <p:spPr bwMode="auto">
          <a:xfrm>
            <a:off x="8233560" y="76647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59984" name="Shape 51"/>
          <p:cNvSpPr/>
          <p:nvPr/>
        </p:nvSpPr>
        <p:spPr bwMode="auto">
          <a:xfrm>
            <a:off x="1047600" y="822852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5680787" name="Text 52"/>
          <p:cNvSpPr/>
          <p:nvPr/>
        </p:nvSpPr>
        <p:spPr bwMode="auto">
          <a:xfrm>
            <a:off x="1123920" y="79563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785237" name="Text 53"/>
          <p:cNvSpPr/>
          <p:nvPr/>
        </p:nvSpPr>
        <p:spPr bwMode="auto">
          <a:xfrm>
            <a:off x="2168280" y="79563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351494" name="Text 54"/>
          <p:cNvSpPr/>
          <p:nvPr/>
        </p:nvSpPr>
        <p:spPr bwMode="auto">
          <a:xfrm>
            <a:off x="6307560" y="79563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954004" name="Text 55"/>
          <p:cNvSpPr/>
          <p:nvPr/>
        </p:nvSpPr>
        <p:spPr bwMode="auto">
          <a:xfrm>
            <a:off x="8233560" y="79563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69085" name="Shape 56"/>
          <p:cNvSpPr/>
          <p:nvPr/>
        </p:nvSpPr>
        <p:spPr bwMode="auto">
          <a:xfrm>
            <a:off x="1047600" y="852012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515618" name="Text 57"/>
          <p:cNvSpPr/>
          <p:nvPr/>
        </p:nvSpPr>
        <p:spPr bwMode="auto">
          <a:xfrm>
            <a:off x="1123920" y="824760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616168" name="Text 58"/>
          <p:cNvSpPr/>
          <p:nvPr/>
        </p:nvSpPr>
        <p:spPr bwMode="auto">
          <a:xfrm>
            <a:off x="2168280" y="824760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449708" name="Text 59"/>
          <p:cNvSpPr/>
          <p:nvPr/>
        </p:nvSpPr>
        <p:spPr bwMode="auto">
          <a:xfrm>
            <a:off x="6307560" y="824760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849567" name="Text 60"/>
          <p:cNvSpPr/>
          <p:nvPr/>
        </p:nvSpPr>
        <p:spPr bwMode="auto">
          <a:xfrm>
            <a:off x="8233560" y="824760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609376" name="Text 61"/>
          <p:cNvSpPr/>
          <p:nvPr/>
        </p:nvSpPr>
        <p:spPr bwMode="auto">
          <a:xfrm>
            <a:off x="1123920" y="8539200"/>
            <a:ext cx="10339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597462" name="Text 62"/>
          <p:cNvSpPr/>
          <p:nvPr/>
        </p:nvSpPr>
        <p:spPr bwMode="auto">
          <a:xfrm>
            <a:off x="2168280" y="8539200"/>
            <a:ext cx="43221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253017" name="Text 63"/>
          <p:cNvSpPr/>
          <p:nvPr/>
        </p:nvSpPr>
        <p:spPr bwMode="auto">
          <a:xfrm>
            <a:off x="6307560" y="8539200"/>
            <a:ext cx="1982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466184" name="Text 64"/>
          <p:cNvSpPr/>
          <p:nvPr/>
        </p:nvSpPr>
        <p:spPr bwMode="auto">
          <a:xfrm>
            <a:off x="8233560" y="8539200"/>
            <a:ext cx="1982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460194" name="Text 65"/>
          <p:cNvSpPr/>
          <p:nvPr/>
        </p:nvSpPr>
        <p:spPr bwMode="auto">
          <a:xfrm>
            <a:off x="10683720" y="6356880"/>
            <a:ext cx="6752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297472" name="Text 66"/>
          <p:cNvSpPr/>
          <p:nvPr/>
        </p:nvSpPr>
        <p:spPr bwMode="auto">
          <a:xfrm>
            <a:off x="10683720" y="676656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677704" name="Text 67"/>
          <p:cNvSpPr/>
          <p:nvPr/>
        </p:nvSpPr>
        <p:spPr bwMode="auto">
          <a:xfrm>
            <a:off x="14095440" y="676656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921680" name="Text 68"/>
          <p:cNvSpPr/>
          <p:nvPr/>
        </p:nvSpPr>
        <p:spPr bwMode="auto">
          <a:xfrm>
            <a:off x="10683720" y="718200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010642" name="Text 69"/>
          <p:cNvSpPr/>
          <p:nvPr/>
        </p:nvSpPr>
        <p:spPr bwMode="auto">
          <a:xfrm>
            <a:off x="14095440" y="718200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825011" name="Text 70"/>
          <p:cNvSpPr/>
          <p:nvPr/>
        </p:nvSpPr>
        <p:spPr bwMode="auto">
          <a:xfrm>
            <a:off x="10683720" y="759708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684984" name="Text 71"/>
          <p:cNvSpPr/>
          <p:nvPr/>
        </p:nvSpPr>
        <p:spPr bwMode="auto">
          <a:xfrm>
            <a:off x="14095440" y="759708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16431" name="Text 72"/>
          <p:cNvSpPr/>
          <p:nvPr/>
        </p:nvSpPr>
        <p:spPr bwMode="auto">
          <a:xfrm>
            <a:off x="1047600" y="9191520"/>
            <a:ext cx="1355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295199" name="Text 73"/>
          <p:cNvSpPr/>
          <p:nvPr/>
        </p:nvSpPr>
        <p:spPr bwMode="auto">
          <a:xfrm>
            <a:off x="13503240" y="9191520"/>
            <a:ext cx="38484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440767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142292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617131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3202425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11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村の再エネ計画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9758003" name="Text 4"/>
          <p:cNvSpPr/>
          <p:nvPr/>
        </p:nvSpPr>
        <p:spPr bwMode="auto">
          <a:xfrm>
            <a:off x="1047600" y="1383120"/>
            <a:ext cx="16677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御杖村再エネ導入最大化計画との整合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895751" name="Text 5"/>
          <p:cNvSpPr/>
          <p:nvPr/>
        </p:nvSpPr>
        <p:spPr bwMode="auto">
          <a:xfrm>
            <a:off x="1047600" y="2383560"/>
            <a:ext cx="15513120" cy="30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92500" lnSpcReduction="9999"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村に新しい構想を求めない。</a:t>
            </a:r>
            <a:r>
              <a:rPr lang="zh-CN" sz="7200" b="1" i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村がすでに書いた計画を、私たちが実行する</a:t>
            </a:r>
            <a:r>
              <a:rPr lang="zh-CN" sz="8000" b="1" i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。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609531" name="Text 6"/>
          <p:cNvSpPr/>
          <p:nvPr/>
        </p:nvSpPr>
        <p:spPr bwMode="auto">
          <a:xfrm>
            <a:off x="1047600" y="4976280"/>
            <a:ext cx="16677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御杖村再エネ導入最大化計画（</a:t>
            </a:r>
            <a:r>
              <a:rPr lang="en-US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2025</a:t>
            </a: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年・環境省補助）の官民連携 運営体制として。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8991284" name="Text 7"/>
          <p:cNvSpPr/>
          <p:nvPr/>
        </p:nvSpPr>
        <p:spPr bwMode="auto">
          <a:xfrm>
            <a:off x="97236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502636" name="Text 8"/>
          <p:cNvSpPr/>
          <p:nvPr/>
        </p:nvSpPr>
        <p:spPr bwMode="auto">
          <a:xfrm>
            <a:off x="972360" y="605592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レジリエント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1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拠点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2828765" name="Text 9"/>
          <p:cNvSpPr/>
          <p:nvPr/>
        </p:nvSpPr>
        <p:spPr bwMode="auto">
          <a:xfrm>
            <a:off x="972360" y="675864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計画は再エネ＋蓄電池＋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のレジリエント拠点を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つ（現状ゼロ）目標とする。我々のデータセンターがその拠点になる。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2078520" name="Text 10"/>
          <p:cNvSpPr/>
          <p:nvPr/>
        </p:nvSpPr>
        <p:spPr bwMode="auto">
          <a:xfrm>
            <a:off x="656064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904990" name="Text 11"/>
          <p:cNvSpPr/>
          <p:nvPr/>
        </p:nvSpPr>
        <p:spPr bwMode="auto">
          <a:xfrm>
            <a:off x="6560640" y="605592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EV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充電の優先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3384686" name="Text 12"/>
          <p:cNvSpPr/>
          <p:nvPr/>
        </p:nvSpPr>
        <p:spPr bwMode="auto">
          <a:xfrm>
            <a:off x="6560640" y="675864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運輸が村の排出の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46%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。計画が掲げる公共施設への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充電優先を実現する。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978677" name="Text 13"/>
          <p:cNvSpPr/>
          <p:nvPr/>
        </p:nvSpPr>
        <p:spPr bwMode="auto">
          <a:xfrm>
            <a:off x="1214856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8325875" name="Text 14"/>
          <p:cNvSpPr/>
          <p:nvPr/>
        </p:nvSpPr>
        <p:spPr bwMode="auto">
          <a:xfrm>
            <a:off x="12148560" y="6055920"/>
            <a:ext cx="51663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J-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クレジット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交付金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57267" name="Text 15"/>
          <p:cNvSpPr/>
          <p:nvPr/>
        </p:nvSpPr>
        <p:spPr bwMode="auto">
          <a:xfrm>
            <a:off x="12148560" y="6787800"/>
            <a:ext cx="516636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475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CHP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が森林炭素／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J-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クレジット機構を供給。村主導の交付金（太陽光・蓄電池・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の補助率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2/3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3/4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、村経由）を引き出す。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1695792" name="Text 16"/>
          <p:cNvSpPr/>
          <p:nvPr/>
        </p:nvSpPr>
        <p:spPr bwMode="auto">
          <a:xfrm>
            <a:off x="1047600" y="9191520"/>
            <a:ext cx="1156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12 / 12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724384" name="Text 17"/>
          <p:cNvSpPr/>
          <p:nvPr/>
        </p:nvSpPr>
        <p:spPr bwMode="auto">
          <a:xfrm>
            <a:off x="12153960" y="7289640"/>
            <a:ext cx="5383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バイオマス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CHP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が主軸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太陽光／蓄電池／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は補完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資金は村を通じて流れる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781025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357163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9121289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09121" name="Text 3"/>
          <p:cNvSpPr/>
          <p:nvPr/>
        </p:nvSpPr>
        <p:spPr bwMode="auto">
          <a:xfrm>
            <a:off x="13964760" y="762120"/>
            <a:ext cx="33732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93660" name="Text 4"/>
          <p:cNvSpPr/>
          <p:nvPr/>
        </p:nvSpPr>
        <p:spPr bwMode="auto">
          <a:xfrm>
            <a:off x="1047600" y="176904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12790" name="Text 5"/>
          <p:cNvSpPr/>
          <p:nvPr/>
        </p:nvSpPr>
        <p:spPr bwMode="auto">
          <a:xfrm>
            <a:off x="1047599" y="2824559"/>
            <a:ext cx="8324280" cy="57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5000" lnSpcReduction="3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72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72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404027" name="Text 6"/>
          <p:cNvSpPr/>
          <p:nvPr/>
        </p:nvSpPr>
        <p:spPr bwMode="auto">
          <a:xfrm>
            <a:off x="9892440" y="1769040"/>
            <a:ext cx="75675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1823406" name="Text 7"/>
          <p:cNvSpPr/>
          <p:nvPr/>
        </p:nvSpPr>
        <p:spPr bwMode="auto">
          <a:xfrm>
            <a:off x="9718920" y="2235960"/>
            <a:ext cx="7596720" cy="15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57080" name="Shape 8"/>
          <p:cNvSpPr/>
          <p:nvPr/>
        </p:nvSpPr>
        <p:spPr bwMode="auto">
          <a:xfrm>
            <a:off x="9892440" y="4056840"/>
            <a:ext cx="7347240" cy="864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567102" name="Shape 9"/>
          <p:cNvSpPr/>
          <p:nvPr/>
        </p:nvSpPr>
        <p:spPr bwMode="auto">
          <a:xfrm>
            <a:off x="9892440" y="4276080"/>
            <a:ext cx="1618560" cy="16185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3744633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12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039443" name="Text 10"/>
          <p:cNvSpPr/>
          <p:nvPr/>
        </p:nvSpPr>
        <p:spPr bwMode="auto">
          <a:xfrm>
            <a:off x="11778120" y="4357080"/>
            <a:ext cx="5625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0571044" name="Text 11"/>
          <p:cNvSpPr/>
          <p:nvPr/>
        </p:nvSpPr>
        <p:spPr bwMode="auto">
          <a:xfrm>
            <a:off x="11778120" y="4747680"/>
            <a:ext cx="5625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9105235" name="Text 12"/>
          <p:cNvSpPr/>
          <p:nvPr/>
        </p:nvSpPr>
        <p:spPr bwMode="auto">
          <a:xfrm>
            <a:off x="11778120" y="5138280"/>
            <a:ext cx="56250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606750" name="Text 13"/>
          <p:cNvSpPr/>
          <p:nvPr/>
        </p:nvSpPr>
        <p:spPr bwMode="auto">
          <a:xfrm>
            <a:off x="11778120" y="5595480"/>
            <a:ext cx="56250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514673" name="Shape 14"/>
          <p:cNvSpPr/>
          <p:nvPr/>
        </p:nvSpPr>
        <p:spPr bwMode="auto">
          <a:xfrm>
            <a:off x="9892440" y="6123960"/>
            <a:ext cx="7347240" cy="864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582167" name="Text 15"/>
          <p:cNvSpPr/>
          <p:nvPr/>
        </p:nvSpPr>
        <p:spPr bwMode="auto">
          <a:xfrm>
            <a:off x="9892440" y="6305039"/>
            <a:ext cx="75675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70306" name="Text 16"/>
          <p:cNvSpPr/>
          <p:nvPr/>
        </p:nvSpPr>
        <p:spPr bwMode="auto">
          <a:xfrm>
            <a:off x="9892440" y="6695280"/>
            <a:ext cx="7567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0000" lnSpcReduction="2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Arial"/>
                <a:ea typeface="Arial"/>
                <a:cs typeface="Arial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543553" name="Text 17"/>
          <p:cNvSpPr/>
          <p:nvPr/>
        </p:nvSpPr>
        <p:spPr bwMode="auto">
          <a:xfrm>
            <a:off x="9892440" y="711468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0962877" name="Text 18"/>
          <p:cNvSpPr/>
          <p:nvPr/>
        </p:nvSpPr>
        <p:spPr bwMode="auto">
          <a:xfrm>
            <a:off x="1047600" y="9191520"/>
            <a:ext cx="141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1181634" name="Text 19"/>
          <p:cNvSpPr/>
          <p:nvPr/>
        </p:nvSpPr>
        <p:spPr bwMode="auto">
          <a:xfrm>
            <a:off x="13171320" y="9191520"/>
            <a:ext cx="4190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8</cp:revision>
  <dcterms:created xsi:type="dcterms:W3CDTF">2026-05-28T12:44:57Z</dcterms:created>
  <dcterms:modified xsi:type="dcterms:W3CDTF">2026-06-07T04:31:33Z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12</vt:i4>
  </property>
  <property fmtid="{D5CDD505-2E9C-101B-9397-08002B2CF9AE}" pid="4" name="PresentationFormat">
    <vt:lpwstr>On-screen Show (4:3)</vt:lpwstr>
  </property>
  <property fmtid="{D5CDD505-2E9C-101B-9397-08002B2CF9AE}" pid="5" name="Slides">
    <vt:i4>12</vt:i4>
  </property>
</Properties>
</file>