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076287744" y="0"/>
      </p:cViewPr>
      <p:guideLst>
        <p:guide pos="5760"/>
        <p:guide pos="324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604861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4233237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663182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754593" name="PlaceHolder 4"/>
          <p:cNvSpPr>
            <a:spLocks noGrp="1"/>
          </p:cNvSpPr>
          <p:nvPr>
            <p:ph type="dt" idx="1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97040" name="PlaceHolder 5"/>
          <p:cNvSpPr>
            <a:spLocks noGrp="1"/>
          </p:cNvSpPr>
          <p:nvPr>
            <p:ph type="ftr" idx="2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5150" name="PlaceHolder 6"/>
          <p:cNvSpPr>
            <a:spLocks noGrp="1"/>
          </p:cNvSpPr>
          <p:nvPr>
            <p:ph type="sldNum" idx="3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78D6D9A3-61C8-4A29-A2FC-B7E20CF3AB63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00915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35184125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本日はお時間をいただき、ありがとうございます。御杖プロジェクト——日本の山あいで進める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年計画について、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分ほどでご説明します。要約はこのスライドの通りです——森林再生、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電力、そして地域所有の小さなデータセンター。すべて奈良県の一つの山村に集約されます。一見無関係な三つの取り組みですが、実は深く結びついています。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46514" name="PlaceHolder 3"/>
          <p:cNvSpPr>
            <a:spLocks noGrp="1"/>
          </p:cNvSpPr>
          <p:nvPr>
            <p:ph type="sldNum" idx="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CDEF561-E073-43C1-ACCD-D14669D8CE1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564411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61282888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御杖村は奈良県の山あいに位置します。人口は減少し、小学校は閉校。村を取り囲む杉の人工林は老齢化し、電力網も脆弱です。御杖に固有の問題ではなく、それこそが要点です。ここで機能する仕組みは、同じ課題を抱える千の村でも機能するはずです。現在は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段階——設立準備期。プレスもサイト発表会もありません。信頼構築、定款の起草、創設チームの編成に集中しています。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676710" name="PlaceHolder 3"/>
          <p:cNvSpPr>
            <a:spLocks noGrp="1"/>
          </p:cNvSpPr>
          <p:nvPr>
            <p:ph type="sldNum" idx="5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80EA119-A14A-4BDB-84AB-4D19ECD3EA34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617247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43736426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四つの構造的圧力が、日本の農村に同時に押し寄せています。杉人工林は管理されず、花粉、生物多様性の喪失、土砂崩れの原因に。約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年で日本の乗用車の大半が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化しますが、農村の電力網は対応できていません。閉校した学校は人口減少自治体の維持費負担。さらに、農村のブロードバンドとエッジ計算は都市に遅れています。個別には高コストですが、御杖の論点は——一緒に解決する方が安いという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422303" name="PlaceHolder 3"/>
          <p:cNvSpPr>
            <a:spLocks noGrp="1"/>
          </p:cNvSpPr>
          <p:nvPr>
            <p:ph type="sldNum" idx="6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C6179F0-83ED-4742-8D04-A1433396F95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253984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39619426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そこで、一つの主体のもとに三つの活動を統合します。森林再生。分散型再生可能エネルギーと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。地域所有の小さなデータセンター。在来林への転換で伐採する杉そのものが、データセンターと自動車を動かすバイオマス燃料となります——転換が転換を支える仕組みです。データセンターは閉校校舎を村の生活に戻します。これらは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年間の方法・財務・成果を一つの台帳に記録し、公開します。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677349" name="PlaceHolder 3"/>
          <p:cNvSpPr>
            <a:spLocks noGrp="1"/>
          </p:cNvSpPr>
          <p:nvPr>
            <p:ph type="sldNum" idx="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B660A4E-3C43-4442-B04B-A449ADF15D9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13596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06086745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森林について——老齢化した杉人工林を、在来広葉樹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ナラ、クリ、コナラ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に段階的に置き換えます。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は生態系の時計であって、資金繰りの周期ではありません。地域への恩恵は具体的です——花粉が減り、土砂崩れリスクが下がり、再び森らしい森が戻ります。重要なのは——伐採した杉は無駄になりません。村のエネルギーシステムの主要なバイオマス燃料になります。そして広葉樹がどんぐりを実らせれば、クマ、イノシシ、シカは森で冬を越し、村の畑には来なくなり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390403" name="PlaceHolder 3"/>
          <p:cNvSpPr>
            <a:spLocks noGrp="1"/>
          </p:cNvSpPr>
          <p:nvPr>
            <p:ph type="sldNum" idx="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DAEE55-EC66-4D4A-8E47-32256DFE4C2A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43652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08317007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統合された一つの電力システム。森林転換で伐採する杉が主燃料——共通バスに接続された小さなバイオマス発電所です。地域の太陽光が補い、共同バッテリーで夜間をカバー、電力網はバックアップに。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器は送電線延伸を待たず、地域発電と直結。そして村が最も気にする部分——現地発電が、停電時にも学校・診療所・緊急設備の電源を維持します。配電線の老朽化で停電リスクは増しています。レジリエンスは後付けではなく、最初から組み込み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88911" name="PlaceHolder 3"/>
          <p:cNvSpPr>
            <a:spLocks noGrp="1"/>
          </p:cNvSpPr>
          <p:nvPr>
            <p:ph type="sldNum" idx="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E5135CC-135A-451E-BFD0-97E9DC123C8F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67964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4544938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閉校した御杖小学校の校舎を、エネルギー効率の高い小規模エッジ計算施設として再利用。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100%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地域の再生可能エネルギーで稼働。説明責任を果たせる規模——ハイパースケールではありません。村が所有し、監査でき、何をしているかを説明できる規模。サーバーの排熱は温室や公共施設の暖房に再利用。御杖でうまくいけば、設計図を公開し、次の村が複製できるように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066038" name="PlaceHolder 3"/>
          <p:cNvSpPr>
            <a:spLocks noGrp="1"/>
          </p:cNvSpPr>
          <p:nvPr>
            <p:ph type="sldNum" idx="1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84CAD6C-587A-4795-BE25-F43DF5FDFBFA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23178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71996100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ここを覚えていただきたいです。恩恵は、データセンターが商業的に成功するかどうかに依存しません。森林再生は変わらず進みます。野生動物による農地被害は減ります。校舎は維持費を食うだけの存在ではなくなり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充電は車が必要になる前に整備されます。停電耐性は恒久的なインフラ改善になります。地域がアップサイドを保ち、私たちはすべてを記録し、他の村は教科書を無料で得られます。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54837" name="PlaceHolder 3"/>
          <p:cNvSpPr>
            <a:spLocks noGrp="1"/>
          </p:cNvSpPr>
          <p:nvPr>
            <p:ph type="sldNum" idx="11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697BBA-43BB-4406-B942-7F71FC538211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56218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56435951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現状、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2026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月。第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、意図的に静かに進めています。御杖村副村長との初回面談、地元林業組合との初回面談は完了。定款と実行計画は起草済み。段階と資金ゲートの図表も公開済み。アドバイザーとして二名が確定——伊藤穰一氏とレイ・オジー氏。次の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日——日本人共同創設者へのアプローチ、村長との面談、奈良の行政書士への相談、二言語版定款の最終化です。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954311" name="PlaceHolder 3"/>
          <p:cNvSpPr>
            <a:spLocks noGrp="1"/>
          </p:cNvSpPr>
          <p:nvPr>
            <p:ph type="sldNum" idx="12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88FE47F-10CD-4D00-AA37-393009C358A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14525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8461694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五段階、四つの明確な資金ゲート。ゲートを通過できなければ保留し、再提案——資源不足のまま次段階に加速はしません。資金スタックは意図的に五層構造で、単一の資金源で初期に止まらない設計です。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年目までの目標額はおよそ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3400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万円。これらは計画上の目標であり、確約ではありません。ゲートの目的は——支えられない段階に村を賭けないことです。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081253" name="PlaceHolder 3"/>
          <p:cNvSpPr>
            <a:spLocks noGrp="1"/>
          </p:cNvSpPr>
          <p:nvPr>
            <p:ph type="sldNum" idx="13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8EB8B4D-2533-4AE3-A434-23810C8DDC13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09228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44188065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皆さまにお願いしたいこと——四半期ではなく十年単位で考える、忍耐強い資本。農村に信頼のある日本人共同創設者のご紹介。林業、エッジ計算、日本の非営利法のアドバイザー。そして率直なご批判——論点のどこが間違っているか教えてください。文書はすべて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Codeberg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にオープンライセンスで公開。プロジェクトのサイトは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mitsue.it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。ご清聴ありがとうございました——ご質問をお受けします。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292214" name="PlaceHolder 3"/>
          <p:cNvSpPr>
            <a:spLocks noGrp="1"/>
          </p:cNvSpPr>
          <p:nvPr>
            <p:ph type="sldNum" idx="1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D897C16-D543-4ECF-8491-9CAD5C15B5D7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04070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>
              <a:buNone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edit the </a:t>
            </a: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title text format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61809761" name="PlaceHolder 2"/>
          <p:cNvSpPr>
            <a:spLocks noGrp="1"/>
          </p:cNvSpPr>
          <p:nvPr>
            <p:ph type="body"/>
          </p:nvPr>
        </p:nvSpPr>
        <p:spPr bwMode="auto"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578403" name="Shape 0"/>
          <p:cNvSpPr/>
          <p:nvPr/>
        </p:nvSpPr>
        <p:spPr bwMode="auto">
          <a:xfrm>
            <a:off x="1047600" y="762120"/>
            <a:ext cx="533160" cy="53316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1350262" name="Text 1"/>
          <p:cNvSpPr/>
          <p:nvPr/>
        </p:nvSpPr>
        <p:spPr bwMode="auto">
          <a:xfrm>
            <a:off x="1047600" y="762120"/>
            <a:ext cx="6091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10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411050" name="Text 2"/>
          <p:cNvSpPr/>
          <p:nvPr/>
        </p:nvSpPr>
        <p:spPr bwMode="auto">
          <a:xfrm>
            <a:off x="1714680" y="8618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168404" name="Text 3"/>
          <p:cNvSpPr/>
          <p:nvPr/>
        </p:nvSpPr>
        <p:spPr bwMode="auto">
          <a:xfrm>
            <a:off x="13438079" y="762120"/>
            <a:ext cx="3916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設立準備期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769332" name="Text 4"/>
          <p:cNvSpPr/>
          <p:nvPr/>
        </p:nvSpPr>
        <p:spPr bwMode="auto">
          <a:xfrm>
            <a:off x="1047600" y="1866960"/>
            <a:ext cx="8829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年計画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A 25-Year initiative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785271" name="Text 5"/>
          <p:cNvSpPr/>
          <p:nvPr/>
        </p:nvSpPr>
        <p:spPr bwMode="auto">
          <a:xfrm>
            <a:off x="1047600" y="2467080"/>
            <a:ext cx="8829360" cy="456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8100" b="1" u="none" strike="noStrike" spc="-40">
                <a:solidFill>
                  <a:srgbClr val="1F2A24"/>
                </a:solidFill>
                <a:latin typeface="Noto Serif JP"/>
                <a:ea typeface="Noto Serif JP"/>
              </a:rPr>
              <a:t>山あいの 小さな村のための、 </a:t>
            </a:r>
            <a:r>
              <a:rPr lang="zh-CN" sz="8100" b="1" u="none" strike="noStrike" spc="-40">
                <a:solidFill>
                  <a:srgbClr val="C4663A"/>
                </a:solidFill>
                <a:latin typeface="Noto Serif JP"/>
                <a:ea typeface="Noto Serif JP"/>
              </a:rPr>
              <a:t>ささやかな計画。</a:t>
            </a:r>
            <a:endParaRPr lang="en-US" sz="8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795058" name="Text 6"/>
          <p:cNvSpPr/>
          <p:nvPr/>
        </p:nvSpPr>
        <p:spPr bwMode="auto">
          <a:xfrm>
            <a:off x="1047600" y="7336080"/>
            <a:ext cx="48970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奈良県御杖村 森林再生・分散型エネルギー・地域所有のデータセンター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836495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382400" y="1866960"/>
            <a:ext cx="6857640" cy="609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1554852" name="Text 7"/>
          <p:cNvSpPr/>
          <p:nvPr/>
        </p:nvSpPr>
        <p:spPr bwMode="auto">
          <a:xfrm flipH="0" flipV="0">
            <a:off x="1047600" y="9191520"/>
            <a:ext cx="127614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01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286411" name="Text 8"/>
          <p:cNvSpPr/>
          <p:nvPr/>
        </p:nvSpPr>
        <p:spPr bwMode="auto">
          <a:xfrm>
            <a:off x="15267960" y="9191520"/>
            <a:ext cx="2048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森林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電力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AI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540468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0670500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017871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968851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01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舞台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605793" name="Text 4"/>
          <p:cNvSpPr/>
          <p:nvPr/>
        </p:nvSpPr>
        <p:spPr bwMode="auto">
          <a:xfrm>
            <a:off x="1047600" y="160020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御杖村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奈良県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191558" name="Text 5"/>
          <p:cNvSpPr/>
          <p:nvPr/>
        </p:nvSpPr>
        <p:spPr bwMode="auto">
          <a:xfrm>
            <a:off x="1047600" y="2104920"/>
            <a:ext cx="7946280" cy="44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50000" lnSpcReduction="10000"/>
          </a:bodyPr>
          <a:p>
            <a:pPr defTabSz="914400">
              <a:lnSpc>
                <a:spcPct val="117000"/>
              </a:lnSpc>
              <a:tabLst>
                <a:tab pos="0" algn="l"/>
              </a:tabLst>
              <a:defRPr/>
            </a:pPr>
            <a:r>
              <a:rPr lang="zh-CN" sz="11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空き校舎がひとつ。 </a:t>
            </a:r>
            <a:r>
              <a:rPr lang="zh-CN" sz="110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疲れた森林がひとつ。 </a:t>
            </a:r>
            <a:r>
              <a:rPr lang="zh-CN" sz="11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短いアイデアのリストがひとつ。</a:t>
            </a:r>
            <a:endParaRPr lang="en-US" sz="58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698757" name="Text 6"/>
          <p:cNvSpPr/>
          <p:nvPr/>
        </p:nvSpPr>
        <p:spPr bwMode="auto">
          <a:xfrm>
            <a:off x="1047600" y="628488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は奈良県の山あいの村。小学校は2021年に中学校と統合・新校舎へ移転し、旧校舎は空き家となっています。周辺の杉人工林は老齢化して管理されていません。電力網も脆弱です。日本の農村ではよくあること——それこそが要点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770386" name="Text 7"/>
          <p:cNvSpPr/>
          <p:nvPr/>
        </p:nvSpPr>
        <p:spPr bwMode="auto">
          <a:xfrm>
            <a:off x="1047600" y="8311680"/>
            <a:ext cx="7009920" cy="9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ここで小規模かつ丁寧な介入が機能すれば、同じ課題を抱える千の村にコピーできるはずです。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573992" name="Shape 8"/>
          <p:cNvSpPr/>
          <p:nvPr/>
        </p:nvSpPr>
        <p:spPr bwMode="auto">
          <a:xfrm>
            <a:off x="9524880" y="1600200"/>
            <a:ext cx="7714800" cy="45792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322110" name="Text 9"/>
          <p:cNvSpPr/>
          <p:nvPr/>
        </p:nvSpPr>
        <p:spPr bwMode="auto">
          <a:xfrm>
            <a:off x="9839160" y="1914480"/>
            <a:ext cx="7299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座標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385052" name="Text 10"/>
          <p:cNvSpPr/>
          <p:nvPr/>
        </p:nvSpPr>
        <p:spPr bwMode="auto">
          <a:xfrm>
            <a:off x="9839160" y="2381400"/>
            <a:ext cx="729900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en-US" sz="4800" b="0" u="none" strike="noStrike" spc="-23">
                <a:solidFill>
                  <a:srgbClr val="1F2A24"/>
                </a:solidFill>
                <a:latin typeface="Georgia"/>
                <a:ea typeface="Georgia"/>
              </a:rPr>
              <a:t>34.4194° N 136.0511° 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101733" name="Shape 11"/>
          <p:cNvSpPr/>
          <p:nvPr/>
        </p:nvSpPr>
        <p:spPr bwMode="auto">
          <a:xfrm>
            <a:off x="9839160" y="3890160"/>
            <a:ext cx="708624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951783" name="Text 12"/>
          <p:cNvSpPr/>
          <p:nvPr/>
        </p:nvSpPr>
        <p:spPr bwMode="auto">
          <a:xfrm>
            <a:off x="983916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人口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017131" name="Text 13"/>
          <p:cNvSpPr/>
          <p:nvPr/>
        </p:nvSpPr>
        <p:spPr bwMode="auto">
          <a:xfrm>
            <a:off x="983916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1,400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000704" name="Text 14"/>
          <p:cNvSpPr/>
          <p:nvPr/>
        </p:nvSpPr>
        <p:spPr bwMode="auto">
          <a:xfrm>
            <a:off x="1347804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統合移転年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776994" name="Text 15"/>
          <p:cNvSpPr/>
          <p:nvPr/>
        </p:nvSpPr>
        <p:spPr bwMode="auto">
          <a:xfrm>
            <a:off x="1347804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2020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192084" name="Text 16"/>
          <p:cNvSpPr/>
          <p:nvPr/>
        </p:nvSpPr>
        <p:spPr bwMode="auto">
          <a:xfrm>
            <a:off x="983916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382702" name="Text 17"/>
          <p:cNvSpPr/>
          <p:nvPr/>
        </p:nvSpPr>
        <p:spPr bwMode="auto">
          <a:xfrm>
            <a:off x="983916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93%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515198" name="Text 18"/>
          <p:cNvSpPr/>
          <p:nvPr/>
        </p:nvSpPr>
        <p:spPr bwMode="auto">
          <a:xfrm>
            <a:off x="1347804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計画期間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625837" name="Text 19"/>
          <p:cNvSpPr/>
          <p:nvPr/>
        </p:nvSpPr>
        <p:spPr bwMode="auto">
          <a:xfrm>
            <a:off x="1347804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25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年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488834" name="Text 20"/>
          <p:cNvSpPr/>
          <p:nvPr/>
        </p:nvSpPr>
        <p:spPr bwMode="auto">
          <a:xfrm>
            <a:off x="9524880" y="631332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農村再生、ただし静かに。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415673" name="Text 21"/>
          <p:cNvSpPr/>
          <p:nvPr/>
        </p:nvSpPr>
        <p:spPr bwMode="auto">
          <a:xfrm flipH="0" flipV="0">
            <a:off x="1047600" y="9530280"/>
            <a:ext cx="10578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02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633539" name="Text 22"/>
          <p:cNvSpPr/>
          <p:nvPr/>
        </p:nvSpPr>
        <p:spPr bwMode="auto">
          <a:xfrm>
            <a:off x="16219440" y="9530280"/>
            <a:ext cx="1096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mitsue.it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168171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393670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309250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057615" name="Text 3"/>
          <p:cNvSpPr/>
          <p:nvPr/>
        </p:nvSpPr>
        <p:spPr bwMode="auto">
          <a:xfrm>
            <a:off x="13480200" y="762120"/>
            <a:ext cx="387251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02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四つの圧力、ひとつの解答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210945" name="Text 4"/>
          <p:cNvSpPr/>
          <p:nvPr/>
        </p:nvSpPr>
        <p:spPr bwMode="auto">
          <a:xfrm>
            <a:off x="1047600" y="1619280"/>
            <a:ext cx="10344240" cy="177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別々だと高くつく問題が、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一緒に取り組むと安くなる。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894899" name="Text 5"/>
          <p:cNvSpPr/>
          <p:nvPr/>
        </p:nvSpPr>
        <p:spPr bwMode="auto">
          <a:xfrm>
            <a:off x="1047600" y="3489840"/>
            <a:ext cx="16678079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四つの構造的圧力、ひとつの農村型解答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733056" name="Shape 6"/>
          <p:cNvSpPr/>
          <p:nvPr/>
        </p:nvSpPr>
        <p:spPr bwMode="auto">
          <a:xfrm>
            <a:off x="10476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1038945" name="Text 7"/>
          <p:cNvSpPr/>
          <p:nvPr/>
        </p:nvSpPr>
        <p:spPr bwMode="auto">
          <a:xfrm>
            <a:off x="10476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01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エネルギー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5873561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476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2120519" name="Text 8"/>
          <p:cNvSpPr/>
          <p:nvPr/>
        </p:nvSpPr>
        <p:spPr bwMode="auto">
          <a:xfrm>
            <a:off x="104760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en-US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EV</a:t>
            </a: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時代が来る。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951347" name="Text 9"/>
          <p:cNvSpPr/>
          <p:nvPr/>
        </p:nvSpPr>
        <p:spPr bwMode="auto">
          <a:xfrm>
            <a:off x="104760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約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年で日本の乗用車の大半が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に。農村の電力網には新たな分散電源が必要。送電線の延伸は遅く、高コストです。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023777" name="Shape 10"/>
          <p:cNvSpPr/>
          <p:nvPr/>
        </p:nvSpPr>
        <p:spPr bwMode="auto">
          <a:xfrm>
            <a:off x="516744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941457" name="Text 11"/>
          <p:cNvSpPr/>
          <p:nvPr/>
        </p:nvSpPr>
        <p:spPr bwMode="auto">
          <a:xfrm>
            <a:off x="516744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02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6740304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516744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0446161" name="Text 12"/>
          <p:cNvSpPr/>
          <p:nvPr/>
        </p:nvSpPr>
        <p:spPr bwMode="auto">
          <a:xfrm>
            <a:off x="516744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杉は負債——そして燃料。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8951686" name="Text 13"/>
          <p:cNvSpPr/>
          <p:nvPr/>
        </p:nvSpPr>
        <p:spPr bwMode="auto">
          <a:xfrm>
            <a:off x="516744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老齢化した杉人工林——花粉、生物多様性の喪失、土砂崩れリスク。伐採すれば村を動かし、植え替えれば森を再生します。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007532" name="Shape 14"/>
          <p:cNvSpPr/>
          <p:nvPr/>
        </p:nvSpPr>
        <p:spPr bwMode="auto">
          <a:xfrm>
            <a:off x="928692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13260" name="Text 15"/>
          <p:cNvSpPr/>
          <p:nvPr/>
        </p:nvSpPr>
        <p:spPr bwMode="auto">
          <a:xfrm>
            <a:off x="928692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03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遊休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6734930" name="Image 2" descr="preencoded.png"/>
          <p:cNvPicPr/>
          <p:nvPr/>
        </p:nvPicPr>
        <p:blipFill rotWithShape="1">
          <a:blip r:embed="rId5"/>
          <a:stretch/>
        </p:blipFill>
        <p:spPr bwMode="auto">
          <a:xfrm>
            <a:off x="928692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3705255" name="Text 16"/>
          <p:cNvSpPr/>
          <p:nvPr/>
        </p:nvSpPr>
        <p:spPr bwMode="auto">
          <a:xfrm>
            <a:off x="9286920" y="6267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学校はただ放置されている。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457230" name="Text 17"/>
          <p:cNvSpPr/>
          <p:nvPr/>
        </p:nvSpPr>
        <p:spPr bwMode="auto">
          <a:xfrm>
            <a:off x="9286920" y="7101720"/>
            <a:ext cx="394848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空き校舎は人口減少自治体の維持費負担。生産的な再利用で、地域の拠点に変わります。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563276" name="Shape 18"/>
          <p:cNvSpPr/>
          <p:nvPr/>
        </p:nvSpPr>
        <p:spPr bwMode="auto">
          <a:xfrm>
            <a:off x="134064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867855" name="Text 19"/>
          <p:cNvSpPr/>
          <p:nvPr/>
        </p:nvSpPr>
        <p:spPr bwMode="auto">
          <a:xfrm>
            <a:off x="134064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デジタル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3372896" name="Image 3" descr="preencoded.png"/>
          <p:cNvPicPr/>
          <p:nvPr/>
        </p:nvPicPr>
        <p:blipFill rotWithShape="1">
          <a:blip r:embed="rId6"/>
          <a:stretch/>
        </p:blipFill>
        <p:spPr bwMode="auto">
          <a:xfrm>
            <a:off x="134064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484805" name="Text 20"/>
          <p:cNvSpPr/>
          <p:nvPr/>
        </p:nvSpPr>
        <p:spPr bwMode="auto">
          <a:xfrm>
            <a:off x="13406400" y="6339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農村の計算資源は不足している。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262737" name="Text 21"/>
          <p:cNvSpPr/>
          <p:nvPr/>
        </p:nvSpPr>
        <p:spPr bwMode="auto">
          <a:xfrm>
            <a:off x="13406400" y="7139880"/>
            <a:ext cx="3948480" cy="86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ブロードバンドとエッジ計算は都市に遅れる。小さなデータセンターが、地域電源で両方を一気に補います。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434406" name="Text 22"/>
          <p:cNvSpPr/>
          <p:nvPr/>
        </p:nvSpPr>
        <p:spPr bwMode="auto">
          <a:xfrm flipH="0" flipV="0">
            <a:off x="1047600" y="9191520"/>
            <a:ext cx="13753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03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953678" name="Text 23"/>
          <p:cNvSpPr/>
          <p:nvPr/>
        </p:nvSpPr>
        <p:spPr bwMode="auto">
          <a:xfrm>
            <a:off x="13487400" y="8229600"/>
            <a:ext cx="36903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別々だと高い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まとめれば解ける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801700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051111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4527036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629945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03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構想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7968381" name="Text 4"/>
          <p:cNvSpPr/>
          <p:nvPr/>
        </p:nvSpPr>
        <p:spPr bwMode="auto">
          <a:xfrm>
            <a:off x="1047600" y="1383120"/>
            <a:ext cx="1667807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三つの活動 </a:t>
            </a: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ひとつの主体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161197" name="Text 5"/>
          <p:cNvSpPr/>
          <p:nvPr/>
        </p:nvSpPr>
        <p:spPr bwMode="auto">
          <a:xfrm>
            <a:off x="1047600" y="2383560"/>
            <a:ext cx="15513480" cy="30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80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森林。電力。 計算。</a:t>
            </a:r>
            <a:r>
              <a:rPr lang="zh-CN" sz="8000" b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一つの台帳で。</a:t>
            </a:r>
            <a:endParaRPr lang="en-US" sz="1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780188" name="Text 6"/>
          <p:cNvSpPr/>
          <p:nvPr/>
        </p:nvSpPr>
        <p:spPr bwMode="auto">
          <a:xfrm>
            <a:off x="1047600" y="4052653"/>
            <a:ext cx="16678079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森林再生・分散型再生可能エネルギー・地域所有のデータセンター — 一つの台帳で。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5837495" name="Text 7"/>
          <p:cNvSpPr/>
          <p:nvPr/>
        </p:nvSpPr>
        <p:spPr bwMode="auto">
          <a:xfrm>
            <a:off x="972359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1952415" name="Text 8"/>
          <p:cNvSpPr/>
          <p:nvPr/>
        </p:nvSpPr>
        <p:spPr bwMode="auto">
          <a:xfrm>
            <a:off x="972359" y="605574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森林再生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654664" name="Text 9"/>
          <p:cNvSpPr/>
          <p:nvPr/>
        </p:nvSpPr>
        <p:spPr bwMode="auto">
          <a:xfrm>
            <a:off x="972359" y="675846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老齢杉 → 在来広葉樹、生態系の時計に合わせて。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911995" name="Text 10"/>
          <p:cNvSpPr/>
          <p:nvPr/>
        </p:nvSpPr>
        <p:spPr bwMode="auto">
          <a:xfrm>
            <a:off x="6560639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830645" name="Text 11"/>
          <p:cNvSpPr/>
          <p:nvPr/>
        </p:nvSpPr>
        <p:spPr bwMode="auto">
          <a:xfrm>
            <a:off x="6560639" y="605574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地域電源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EV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103193" name="Text 12"/>
          <p:cNvSpPr/>
          <p:nvPr/>
        </p:nvSpPr>
        <p:spPr bwMode="auto">
          <a:xfrm>
            <a:off x="6560639" y="675846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杉バイオマス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(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伐採材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)+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蓄電。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充電と停電耐性を内蔵。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6320110" name="Text 13"/>
          <p:cNvSpPr/>
          <p:nvPr/>
        </p:nvSpPr>
        <p:spPr bwMode="auto">
          <a:xfrm>
            <a:off x="12148560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830274" name="Text 14"/>
          <p:cNvSpPr/>
          <p:nvPr/>
        </p:nvSpPr>
        <p:spPr bwMode="auto">
          <a:xfrm>
            <a:off x="12148560" y="6055740"/>
            <a:ext cx="516672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エッジ・データセンター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8969194" name="Text 15"/>
          <p:cNvSpPr/>
          <p:nvPr/>
        </p:nvSpPr>
        <p:spPr bwMode="auto">
          <a:xfrm>
            <a:off x="12148560" y="6787978"/>
            <a:ext cx="5166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旧校舎を再利用。村が所有できる規模で。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891272" name="Text 16"/>
          <p:cNvSpPr/>
          <p:nvPr/>
        </p:nvSpPr>
        <p:spPr bwMode="auto">
          <a:xfrm flipH="0" flipV="0">
            <a:off x="1047600" y="9191520"/>
            <a:ext cx="1157087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04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7547592" name="Text 17"/>
          <p:cNvSpPr/>
          <p:nvPr/>
        </p:nvSpPr>
        <p:spPr bwMode="auto">
          <a:xfrm>
            <a:off x="12153959" y="7289460"/>
            <a:ext cx="53834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互いに支え合う。規模は控えめ、時間軸は長く。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710343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715291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480395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905470" name="Text 3"/>
          <p:cNvSpPr/>
          <p:nvPr/>
        </p:nvSpPr>
        <p:spPr bwMode="auto">
          <a:xfrm>
            <a:off x="15925680" y="762120"/>
            <a:ext cx="1390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森林再生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583620" name="Text 4"/>
          <p:cNvSpPr/>
          <p:nvPr/>
        </p:nvSpPr>
        <p:spPr bwMode="auto">
          <a:xfrm>
            <a:off x="1047600" y="1695600"/>
            <a:ext cx="832464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65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森でクマにご飯を出し、 </a:t>
            </a:r>
            <a:r>
              <a:rPr lang="zh-CN" sz="465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村への訪問を止めてもらう。</a:t>
            </a:r>
            <a:endParaRPr lang="en-US" sz="4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9366808" name="Text 5"/>
          <p:cNvSpPr/>
          <p:nvPr/>
        </p:nvSpPr>
        <p:spPr bwMode="auto">
          <a:xfrm>
            <a:off x="1047600" y="326520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老齢化した杉人工林を、在来広葉樹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ナラ、クリ、コナラ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に段階的に置き換えます。地主と林野庁との協働。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25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年という時間軸は、生態系の時計であって資金繰りの周期ではありません。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638716" name="Text 6"/>
          <p:cNvSpPr/>
          <p:nvPr/>
        </p:nvSpPr>
        <p:spPr bwMode="auto">
          <a:xfrm>
            <a:off x="1047600" y="529200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伐採した杉は無駄になりません——村の主要なバイオマス燃料となります。森が自らの再生費用を生み出します。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952935" name="Text 7"/>
          <p:cNvSpPr/>
          <p:nvPr/>
        </p:nvSpPr>
        <p:spPr bwMode="auto">
          <a:xfrm>
            <a:off x="1065959" y="664092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広葉樹はどんぐりや木の実を生み、シカ、イノシシ、クマの冬の食料となります。森が彼らを養えば、彼らは森に留まり、村の畑には来ません。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137047" name="Shape 8"/>
          <p:cNvSpPr/>
          <p:nvPr/>
        </p:nvSpPr>
        <p:spPr bwMode="auto">
          <a:xfrm>
            <a:off x="1065959" y="822780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943872" name="Text 9"/>
          <p:cNvSpPr/>
          <p:nvPr/>
        </p:nvSpPr>
        <p:spPr bwMode="auto">
          <a:xfrm>
            <a:off x="1065959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花粉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558139" name="Text 10"/>
          <p:cNvSpPr/>
          <p:nvPr/>
        </p:nvSpPr>
        <p:spPr bwMode="auto">
          <a:xfrm>
            <a:off x="1065959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366708" name="Text 11"/>
          <p:cNvSpPr/>
          <p:nvPr/>
        </p:nvSpPr>
        <p:spPr bwMode="auto">
          <a:xfrm>
            <a:off x="3855599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土砂崩れリスク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805184" name="Text 12"/>
          <p:cNvSpPr/>
          <p:nvPr/>
        </p:nvSpPr>
        <p:spPr bwMode="auto">
          <a:xfrm>
            <a:off x="3855599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449506" name="Text 13"/>
          <p:cNvSpPr/>
          <p:nvPr/>
        </p:nvSpPr>
        <p:spPr bwMode="auto">
          <a:xfrm>
            <a:off x="6644880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在来林冠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82582" name="Text 14"/>
          <p:cNvSpPr/>
          <p:nvPr/>
        </p:nvSpPr>
        <p:spPr bwMode="auto">
          <a:xfrm>
            <a:off x="6644880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↑ 増加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319028" name="Shape 15"/>
          <p:cNvSpPr/>
          <p:nvPr/>
        </p:nvSpPr>
        <p:spPr bwMode="auto">
          <a:xfrm>
            <a:off x="9892440" y="169560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929506" name="Text 16"/>
          <p:cNvSpPr/>
          <p:nvPr/>
        </p:nvSpPr>
        <p:spPr bwMode="auto">
          <a:xfrm>
            <a:off x="10168560" y="197172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変更前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杉人工林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7540481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168560" y="247644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0223579" name="Text 17"/>
          <p:cNvSpPr/>
          <p:nvPr/>
        </p:nvSpPr>
        <p:spPr bwMode="auto">
          <a:xfrm>
            <a:off x="10168560" y="404820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単一栽培。花粉。静かな地表。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946055" name="Shape 18"/>
          <p:cNvSpPr/>
          <p:nvPr/>
        </p:nvSpPr>
        <p:spPr bwMode="auto">
          <a:xfrm>
            <a:off x="9892440" y="568368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152379" name="Text 19"/>
          <p:cNvSpPr/>
          <p:nvPr/>
        </p:nvSpPr>
        <p:spPr bwMode="auto">
          <a:xfrm>
            <a:off x="10168560" y="595980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変更後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在来広葉樹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2248481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10168560" y="646452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2312345" name="Text 20"/>
          <p:cNvSpPr/>
          <p:nvPr/>
        </p:nvSpPr>
        <p:spPr bwMode="auto">
          <a:xfrm>
            <a:off x="10168560" y="80362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混交林。どんぐり。シカは森で食べ、大根は無事。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79663" name="Text 21"/>
          <p:cNvSpPr/>
          <p:nvPr/>
        </p:nvSpPr>
        <p:spPr bwMode="auto">
          <a:xfrm flipH="0" flipV="0">
            <a:off x="1047600" y="9443160"/>
            <a:ext cx="1236462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05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124912" name="Text 22"/>
          <p:cNvSpPr/>
          <p:nvPr/>
        </p:nvSpPr>
        <p:spPr bwMode="auto">
          <a:xfrm>
            <a:off x="13005720" y="9443160"/>
            <a:ext cx="4361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 → 広葉樹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年周期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生態系の均衡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028453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3793987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808859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125775" name="Text 3"/>
          <p:cNvSpPr/>
          <p:nvPr/>
        </p:nvSpPr>
        <p:spPr bwMode="auto">
          <a:xfrm>
            <a:off x="15309360" y="762120"/>
            <a:ext cx="2006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地域電源と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640089" name="Text 4"/>
          <p:cNvSpPr/>
          <p:nvPr/>
        </p:nvSpPr>
        <p:spPr bwMode="auto">
          <a:xfrm>
            <a:off x="1047600" y="1695600"/>
            <a:ext cx="9437760" cy="22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森が村を動かす。 </a:t>
            </a:r>
            <a:r>
              <a:rPr lang="zh-CN" sz="480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電力網が瞬いても </a:t>
            </a: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明かりは消えない。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157493" name="Text 5"/>
          <p:cNvSpPr/>
          <p:nvPr/>
        </p:nvSpPr>
        <p:spPr bwMode="auto">
          <a:xfrm>
            <a:off x="1047600" y="4290120"/>
            <a:ext cx="1047816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森林転換で伐採する杉が、村の小型バイオマス発電所の主燃料となり、データセンターと</a:t>
            </a:r>
            <a:r>
              <a:rPr lang="en-US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EV</a:t>
            </a: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充電器を動かします。地域の太陽光が補い、電力網はバックアップに。現地発電が、停電時にも学校・診療所・緊急設備の電源を維持します——老朽化した配電線で停電リスクは増しています。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217539" name="Shape 6"/>
          <p:cNvSpPr/>
          <p:nvPr/>
        </p:nvSpPr>
        <p:spPr bwMode="auto">
          <a:xfrm>
            <a:off x="1047600" y="5863319"/>
            <a:ext cx="16192079" cy="28134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0843728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400040" y="6215399"/>
            <a:ext cx="15487200" cy="210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5186655" name="Text 7"/>
          <p:cNvSpPr/>
          <p:nvPr/>
        </p:nvSpPr>
        <p:spPr bwMode="auto">
          <a:xfrm flipH="0" flipV="0">
            <a:off x="1047600" y="9191520"/>
            <a:ext cx="10578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06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987519" name="Text 8"/>
          <p:cNvSpPr/>
          <p:nvPr/>
        </p:nvSpPr>
        <p:spPr bwMode="auto">
          <a:xfrm>
            <a:off x="12618000" y="9191520"/>
            <a:ext cx="4760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杉バイオマス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充電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停電耐性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754872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02372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480941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101703" name="Text 3"/>
          <p:cNvSpPr/>
          <p:nvPr/>
        </p:nvSpPr>
        <p:spPr bwMode="auto">
          <a:xfrm>
            <a:off x="14553000" y="762120"/>
            <a:ext cx="2767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地域データセンター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517744" name="Text 4"/>
          <p:cNvSpPr/>
          <p:nvPr/>
        </p:nvSpPr>
        <p:spPr bwMode="auto">
          <a:xfrm>
            <a:off x="1047600" y="1695600"/>
            <a:ext cx="7946280" cy="16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4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小学校に通う </a:t>
            </a:r>
            <a:r>
              <a:rPr lang="zh-CN" sz="54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データセンター。</a:t>
            </a:r>
            <a:endParaRPr lang="en-US" sz="5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822288" name="Text 5"/>
          <p:cNvSpPr/>
          <p:nvPr/>
        </p:nvSpPr>
        <p:spPr bwMode="auto">
          <a:xfrm flipH="0" flipV="0">
            <a:off x="1047599" y="3452812"/>
            <a:ext cx="7009920" cy="194042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90000" lnSpcReduction="2000"/>
          </a:bodyPr>
          <a:p>
            <a:pPr>
              <a:defRPr/>
            </a:pPr>
            <a:r>
              <a:rPr lang="zh-CN" sz="1900" b="0" i="0" u="none" strike="noStrike" cap="none" spc="0">
                <a:solidFill>
                  <a:srgbClr val="1F2A24"/>
                </a:solidFill>
                <a:latin typeface="Noto Sans JP"/>
                <a:ea typeface="Noto Sans JP"/>
                <a:cs typeface="Noto Sans JP"/>
              </a:rPr>
              <a:t>"地域の中心に立つデータセンター。"</a:t>
            </a:r>
            <a:endParaRPr lang="zh-CN" sz="1900" b="0" i="0" u="none" strike="noStrike" cap="none" spc="0">
              <a:solidFill>
                <a:srgbClr val="1F2A24"/>
              </a:solidFill>
              <a:latin typeface="Noto Sans JP"/>
              <a:cs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900" b="0" i="0" u="none" strike="noStrike" cap="none" spc="0">
                <a:solidFill>
                  <a:srgbClr val="1F2A24"/>
                </a:solidFill>
                <a:latin typeface="Noto Sans JP"/>
                <a:ea typeface="Noto Sans JP"/>
                <a:cs typeface="Noto Sans JP"/>
              </a:rPr>
              <a:t>"御杖体験交流館（活用可能な地域の空き交流施設）を、エネルギー効率の高い小規模エッジ計算施設として活用。フェーズ2では村内の空き工場へ拡張します。100%地域の再生可能エネルギーで稼働します。"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978517" name="Text 6"/>
          <p:cNvSpPr/>
          <p:nvPr/>
        </p:nvSpPr>
        <p:spPr bwMode="auto">
          <a:xfrm>
            <a:off x="1047600" y="5194800"/>
            <a:ext cx="7009920" cy="22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ハイパースケールではなく、説明責任を果たせる規模に。村が所有し、監査し、何をしているかを説明できる規模。排熱は温室や公共施設の暖房に再利用。設計図はオープンライセンスで公開し、他の人口減少自治体でも複製できるように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643775" name="Shape 7"/>
          <p:cNvSpPr/>
          <p:nvPr/>
        </p:nvSpPr>
        <p:spPr bwMode="auto">
          <a:xfrm>
            <a:off x="1047600" y="7738200"/>
            <a:ext cx="771480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803266" name="Text 8"/>
          <p:cNvSpPr/>
          <p:nvPr/>
        </p:nvSpPr>
        <p:spPr bwMode="auto">
          <a:xfrm>
            <a:off x="104760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規模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6490503" name="Text 9"/>
          <p:cNvSpPr/>
          <p:nvPr/>
        </p:nvSpPr>
        <p:spPr bwMode="auto">
          <a:xfrm>
            <a:off x="104760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エッジ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972303" name="Text 10"/>
          <p:cNvSpPr/>
          <p:nvPr/>
        </p:nvSpPr>
        <p:spPr bwMode="auto">
          <a:xfrm>
            <a:off x="36957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電源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132659" name="Text 11"/>
          <p:cNvSpPr/>
          <p:nvPr/>
        </p:nvSpPr>
        <p:spPr bwMode="auto">
          <a:xfrm>
            <a:off x="36957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100%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地域産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635433" name="Text 12"/>
          <p:cNvSpPr/>
          <p:nvPr/>
        </p:nvSpPr>
        <p:spPr bwMode="auto">
          <a:xfrm>
            <a:off x="63435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所有者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360517" name="Text 13"/>
          <p:cNvSpPr/>
          <p:nvPr/>
        </p:nvSpPr>
        <p:spPr bwMode="auto">
          <a:xfrm>
            <a:off x="63435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村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455664" name="Shape 14"/>
          <p:cNvSpPr/>
          <p:nvPr/>
        </p:nvSpPr>
        <p:spPr bwMode="auto">
          <a:xfrm>
            <a:off x="9524880" y="1695600"/>
            <a:ext cx="7714800" cy="6590520"/>
          </a:xfrm>
          <a:prstGeom prst="rect">
            <a:avLst/>
          </a:prstGeom>
          <a:solidFill>
            <a:srgbClr val="2F4A37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083699" name="Text 15"/>
          <p:cNvSpPr/>
          <p:nvPr/>
        </p:nvSpPr>
        <p:spPr bwMode="auto">
          <a:xfrm>
            <a:off x="10010880" y="2181240"/>
            <a:ext cx="6945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教室から計算機へ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6361131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010880" y="2743200"/>
            <a:ext cx="6743520" cy="50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4056285" name="Text 16"/>
          <p:cNvSpPr/>
          <p:nvPr/>
        </p:nvSpPr>
        <p:spPr bwMode="auto">
          <a:xfrm flipH="0" flipV="0">
            <a:off x="1047600" y="919152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07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029099" name="Text 17"/>
          <p:cNvSpPr/>
          <p:nvPr/>
        </p:nvSpPr>
        <p:spPr bwMode="auto">
          <a:xfrm>
            <a:off x="11237760" y="9191520"/>
            <a:ext cx="6182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エッジ計算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排熱再利用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複製可能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進歩と持続可能性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3959685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987794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6703744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872066" name="Text 3"/>
          <p:cNvSpPr/>
          <p:nvPr/>
        </p:nvSpPr>
        <p:spPr bwMode="auto">
          <a:xfrm>
            <a:off x="14319360" y="762120"/>
            <a:ext cx="3008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07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恩恵 — 地域と環境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3166397" name="Text 4"/>
          <p:cNvSpPr/>
          <p:nvPr/>
        </p:nvSpPr>
        <p:spPr bwMode="auto">
          <a:xfrm>
            <a:off x="1047600" y="1695600"/>
            <a:ext cx="12522240" cy="31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8000"/>
              </a:lnSpc>
              <a:tabLst>
                <a:tab pos="0" algn="l"/>
              </a:tabLst>
              <a:defRPr/>
            </a:pPr>
            <a:r>
              <a:rPr lang="zh-CN" sz="6900" b="1" u="none" strike="noStrike" spc="-34">
                <a:solidFill>
                  <a:srgbClr val="F3ECE0"/>
                </a:solidFill>
                <a:latin typeface="Noto Serif JP"/>
                <a:ea typeface="Noto Serif JP"/>
              </a:rPr>
              <a:t>成功は、データセンターが </a:t>
            </a:r>
            <a:r>
              <a:rPr lang="zh-CN" sz="6900" b="1" u="none" strike="noStrike" spc="-34">
                <a:solidFill>
                  <a:srgbClr val="F3B486"/>
                </a:solidFill>
                <a:latin typeface="Noto Serif JP"/>
                <a:ea typeface="Noto Serif JP"/>
              </a:rPr>
              <a:t>商業的にヒットすることに依存しない。</a:t>
            </a:r>
            <a:endParaRPr lang="en-US" sz="6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4389786" name="Text 5"/>
          <p:cNvSpPr/>
          <p:nvPr/>
        </p:nvSpPr>
        <p:spPr bwMode="auto">
          <a:xfrm>
            <a:off x="1047600" y="5197680"/>
            <a:ext cx="1219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大半の恩恵は、計算事業の黒字化に関わらず、村にもたらされます。それが設計思想です。</a:t>
            </a:r>
            <a:endParaRPr lang="en-US" sz="21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6440392" name="Shape 6"/>
          <p:cNvSpPr/>
          <p:nvPr/>
        </p:nvSpPr>
        <p:spPr bwMode="auto">
          <a:xfrm>
            <a:off x="104760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787581" name="Text 7"/>
          <p:cNvSpPr/>
          <p:nvPr/>
        </p:nvSpPr>
        <p:spPr bwMode="auto">
          <a:xfrm>
            <a:off x="104760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936095" name="Text 8"/>
          <p:cNvSpPr/>
          <p:nvPr/>
        </p:nvSpPr>
        <p:spPr bwMode="auto">
          <a:xfrm>
            <a:off x="88776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通年の有給林業業務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住民・来訪者向け</a:t>
            </a: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充電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学校の維持費の出血が止まる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停電に強い診療所と通信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控えめで、説明責任があり、村が所有する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165120" name="Shape 9"/>
          <p:cNvSpPr/>
          <p:nvPr/>
        </p:nvSpPr>
        <p:spPr bwMode="auto">
          <a:xfrm>
            <a:off x="657216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279740" name="Text 10"/>
          <p:cNvSpPr/>
          <p:nvPr/>
        </p:nvSpPr>
        <p:spPr bwMode="auto">
          <a:xfrm>
            <a:off x="657216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484227" name="Text 11"/>
          <p:cNvSpPr/>
          <p:nvPr/>
        </p:nvSpPr>
        <p:spPr bwMode="auto">
          <a:xfrm>
            <a:off x="641232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在来広葉樹が大規模に戻る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杉花粉の負担が軽減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野生動物による農地被害の減少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土砂崩れリスクが時間とともに減少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100%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地域産再生可能エネルギー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443184" name="Shape 12"/>
          <p:cNvSpPr/>
          <p:nvPr/>
        </p:nvSpPr>
        <p:spPr bwMode="auto">
          <a:xfrm>
            <a:off x="1209672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699463" name="Text 13"/>
          <p:cNvSpPr/>
          <p:nvPr/>
        </p:nvSpPr>
        <p:spPr bwMode="auto">
          <a:xfrm>
            <a:off x="1209672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御杖の先へ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564323" name="Text 14"/>
          <p:cNvSpPr/>
          <p:nvPr/>
        </p:nvSpPr>
        <p:spPr bwMode="auto">
          <a:xfrm>
            <a:off x="1193688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方法とデータをオープン公開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複製可能な農村テンプレート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CC-BY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文書、オープンライセンス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コピーされる設計、フランチャイズではない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小規模核融合時代への橋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913045" name="Text 15"/>
          <p:cNvSpPr/>
          <p:nvPr/>
        </p:nvSpPr>
        <p:spPr bwMode="auto">
          <a:xfrm flipH="0" flipV="0">
            <a:off x="1047600" y="919152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08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4950762" name="Text 16"/>
          <p:cNvSpPr/>
          <p:nvPr/>
        </p:nvSpPr>
        <p:spPr bwMode="auto">
          <a:xfrm>
            <a:off x="13398480" y="9191520"/>
            <a:ext cx="3956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地域第一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開放と透明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8572215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8087472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111110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758089" name="Text 3"/>
          <p:cNvSpPr/>
          <p:nvPr/>
        </p:nvSpPr>
        <p:spPr bwMode="auto">
          <a:xfrm>
            <a:off x="14443920" y="762120"/>
            <a:ext cx="2880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08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現状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798006" name="Text 4"/>
          <p:cNvSpPr/>
          <p:nvPr/>
        </p:nvSpPr>
        <p:spPr bwMode="auto">
          <a:xfrm>
            <a:off x="1047600" y="16574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設立準備期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047204" name="Text 5"/>
          <p:cNvSpPr/>
          <p:nvPr/>
        </p:nvSpPr>
        <p:spPr bwMode="auto">
          <a:xfrm>
            <a:off x="1047600" y="2124000"/>
            <a:ext cx="8324640" cy="351251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意図的に静かに。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プレスも、 </a:t>
            </a: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サイト発表会もなし、 創業者パーカーもなし。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255037" name="Text 6"/>
          <p:cNvSpPr/>
          <p:nvPr/>
        </p:nvSpPr>
        <p:spPr bwMode="auto">
          <a:xfrm>
            <a:off x="1047600" y="5865480"/>
            <a:ext cx="731448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第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0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段階は、地域での信頼構築、創設チーム編成、定款の清書。自己資金、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¥0–0.5M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。今の重要な仕事は、発表ではなく面談です。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5674447" name="Shape 7"/>
          <p:cNvSpPr/>
          <p:nvPr/>
        </p:nvSpPr>
        <p:spPr bwMode="auto">
          <a:xfrm>
            <a:off x="1047600" y="747144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7831706" name="Text 8"/>
          <p:cNvSpPr/>
          <p:nvPr/>
        </p:nvSpPr>
        <p:spPr bwMode="auto">
          <a:xfrm>
            <a:off x="1047600" y="769032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アドバイザー就任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704298" name="Text 9"/>
          <p:cNvSpPr/>
          <p:nvPr/>
        </p:nvSpPr>
        <p:spPr bwMode="auto">
          <a:xfrm>
            <a:off x="1047600" y="8195400"/>
            <a:ext cx="252288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伊藤穰一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645231" name="Text 10"/>
          <p:cNvSpPr/>
          <p:nvPr/>
        </p:nvSpPr>
        <p:spPr bwMode="auto">
          <a:xfrm>
            <a:off x="1047600" y="8656200"/>
            <a:ext cx="25228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MIT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メディアラボ所長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297470" name="Text 11"/>
          <p:cNvSpPr/>
          <p:nvPr/>
        </p:nvSpPr>
        <p:spPr bwMode="auto">
          <a:xfrm flipH="0" flipV="0">
            <a:off x="3421644" y="8156931"/>
            <a:ext cx="4329360" cy="575537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レイ・オジー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981274" name="Text 12"/>
          <p:cNvSpPr/>
          <p:nvPr/>
        </p:nvSpPr>
        <p:spPr bwMode="auto">
          <a:xfrm flipH="0" flipV="0">
            <a:off x="3421644" y="8656200"/>
            <a:ext cx="4329360" cy="72867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80000" lnSpcReduction="4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ソフトウェアの先駆者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endParaRPr lang="zh-CN" sz="1800" b="0" u="none" strike="noStrike">
              <a:solidFill>
                <a:srgbClr val="4C554F"/>
              </a:solidFill>
              <a:latin typeface="Noto Sans JP"/>
              <a:ea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Microsoft CSA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024112" name="Shape 13"/>
          <p:cNvSpPr/>
          <p:nvPr/>
        </p:nvSpPr>
        <p:spPr bwMode="auto">
          <a:xfrm>
            <a:off x="9892440" y="1657440"/>
            <a:ext cx="7347600" cy="26287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796200" name="Text 14"/>
          <p:cNvSpPr/>
          <p:nvPr/>
        </p:nvSpPr>
        <p:spPr bwMode="auto">
          <a:xfrm>
            <a:off x="10187640" y="18954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2F4A37"/>
                </a:solidFill>
                <a:latin typeface="Noto Sans JP"/>
                <a:ea typeface="Noto Sans JP"/>
              </a:rPr>
              <a:t>✓ 完了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254589" name="Text 15"/>
          <p:cNvSpPr/>
          <p:nvPr/>
        </p:nvSpPr>
        <p:spPr bwMode="auto">
          <a:xfrm>
            <a:off x="10237320" y="2343240"/>
            <a:ext cx="6783840" cy="1742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御杖村副村長との初回面談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(2025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年後半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地元林業組合との初回面談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(2026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年初頭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創設定款と実行計画を起草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段階・資金ゲート図表を公開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アドバイザー就任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: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伊藤穰一、レイ・オジー、堂目卓生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284908" name="Shape 16"/>
          <p:cNvSpPr/>
          <p:nvPr/>
        </p:nvSpPr>
        <p:spPr bwMode="auto">
          <a:xfrm>
            <a:off x="9892440" y="449568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075205" name="Text 17"/>
          <p:cNvSpPr/>
          <p:nvPr/>
        </p:nvSpPr>
        <p:spPr bwMode="auto">
          <a:xfrm>
            <a:off x="10187640" y="47340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C4663A"/>
                </a:solidFill>
                <a:latin typeface="Noto Sans JP"/>
                <a:ea typeface="Noto Sans JP"/>
              </a:rPr>
              <a:t>→ 進行中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646596" name="Text 18"/>
          <p:cNvSpPr/>
          <p:nvPr/>
        </p:nvSpPr>
        <p:spPr bwMode="auto">
          <a:xfrm>
            <a:off x="10237320" y="518148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農村に信頼のある日本人共同創設者の特定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村長との正式面談の調整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一般社団法人の細則起草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奈良の行政書士への依頼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393752" name="Shape 19"/>
          <p:cNvSpPr/>
          <p:nvPr/>
        </p:nvSpPr>
        <p:spPr bwMode="auto">
          <a:xfrm>
            <a:off x="9892440" y="685800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801543" name="Text 20"/>
          <p:cNvSpPr/>
          <p:nvPr/>
        </p:nvSpPr>
        <p:spPr bwMode="auto">
          <a:xfrm>
            <a:off x="10187640" y="709596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◌ 次の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日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040435" name="Text 21"/>
          <p:cNvSpPr/>
          <p:nvPr/>
        </p:nvSpPr>
        <p:spPr bwMode="auto">
          <a:xfrm>
            <a:off x="10237320" y="754380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日本人共同創設者候補へのアプローチ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村長との非公式面談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行政書士への初期相談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二言語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ページの定款を最終化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584651" name="Text 22"/>
          <p:cNvSpPr/>
          <p:nvPr/>
        </p:nvSpPr>
        <p:spPr bwMode="auto">
          <a:xfrm flipH="0" flipV="0">
            <a:off x="1047600" y="959184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09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352732" name="Text 23"/>
          <p:cNvSpPr/>
          <p:nvPr/>
        </p:nvSpPr>
        <p:spPr bwMode="auto">
          <a:xfrm>
            <a:off x="14340146" y="9591840"/>
            <a:ext cx="3642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1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ヶ月目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自己資金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205783" name="Text 11"/>
          <p:cNvSpPr/>
          <p:nvPr/>
        </p:nvSpPr>
        <p:spPr bwMode="auto">
          <a:xfrm>
            <a:off x="6553749" y="8195400"/>
            <a:ext cx="432936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堂目卓生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830058" name="Text 12"/>
          <p:cNvSpPr/>
          <p:nvPr/>
        </p:nvSpPr>
        <p:spPr bwMode="auto">
          <a:xfrm flipH="0" flipV="0">
            <a:off x="6553749" y="8656200"/>
            <a:ext cx="4329360" cy="670362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70000" lnSpcReduction="6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大阪大学名誉教授・</a:t>
            </a:r>
            <a:endParaRPr lang="zh-CN" sz="1800" b="0" u="none" strike="noStrike">
              <a:solidFill>
                <a:srgbClr val="4C554F"/>
              </a:solidFill>
              <a:latin typeface="Noto Sans JP"/>
              <a:ea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いのち会議代表理事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522280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6532926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783222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690375" name="Text 3"/>
          <p:cNvSpPr/>
          <p:nvPr/>
        </p:nvSpPr>
        <p:spPr bwMode="auto">
          <a:xfrm>
            <a:off x="15175800" y="762120"/>
            <a:ext cx="2140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09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段階と関門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047618" name="Text 4"/>
          <p:cNvSpPr/>
          <p:nvPr/>
        </p:nvSpPr>
        <p:spPr bwMode="auto">
          <a:xfrm>
            <a:off x="1047600" y="1371600"/>
            <a:ext cx="76204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五段階。 四つの</a:t>
            </a:r>
            <a:r>
              <a:rPr lang="zh-CN" sz="4200" b="1" u="none" strike="noStrike" spc="-20">
                <a:solidFill>
                  <a:srgbClr val="C4663A"/>
                </a:solidFill>
                <a:latin typeface="Noto Serif JP"/>
                <a:ea typeface="Noto Serif JP"/>
              </a:rPr>
              <a:t>本物の </a:t>
            </a: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資金ゲート。</a:t>
            </a:r>
            <a:endParaRPr lang="en-US" sz="4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699349" name="Text 5"/>
          <p:cNvSpPr/>
          <p:nvPr/>
        </p:nvSpPr>
        <p:spPr bwMode="auto">
          <a:xfrm>
            <a:off x="1047600" y="2975760"/>
            <a:ext cx="10451520" cy="677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各ゲートはチェックポイント。通過できなければ保留し、再提案——資源不足のまま次へ加速はしません。資金スタックは意図的に五層構造で、単一の資金源で初期に止まらない設計です。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950831" name="Shape 6"/>
          <p:cNvSpPr/>
          <p:nvPr/>
        </p:nvSpPr>
        <p:spPr bwMode="auto">
          <a:xfrm>
            <a:off x="1047600" y="4073040"/>
            <a:ext cx="3131640" cy="1797840"/>
          </a:xfrm>
          <a:prstGeom prst="rect">
            <a:avLst/>
          </a:prstGeom>
          <a:solidFill>
            <a:srgbClr val="C4663A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628669" name="Text 7"/>
          <p:cNvSpPr/>
          <p:nvPr/>
        </p:nvSpPr>
        <p:spPr bwMode="auto">
          <a:xfrm>
            <a:off x="12096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現在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340319" name="Text 8"/>
          <p:cNvSpPr/>
          <p:nvPr/>
        </p:nvSpPr>
        <p:spPr bwMode="auto">
          <a:xfrm>
            <a:off x="12096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F3ECE0"/>
                </a:solidFill>
                <a:latin typeface="Noto Serif JP"/>
                <a:ea typeface="Noto Serif JP"/>
              </a:rPr>
              <a:t>設立準備期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172326" name="Text 9"/>
          <p:cNvSpPr/>
          <p:nvPr/>
        </p:nvSpPr>
        <p:spPr bwMode="auto">
          <a:xfrm>
            <a:off x="12096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¥0–0.5M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356530" name="Shape 10"/>
          <p:cNvSpPr/>
          <p:nvPr/>
        </p:nvSpPr>
        <p:spPr bwMode="auto">
          <a:xfrm>
            <a:off x="43128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266922" name="Text 11"/>
          <p:cNvSpPr/>
          <p:nvPr/>
        </p:nvSpPr>
        <p:spPr bwMode="auto">
          <a:xfrm>
            <a:off x="44748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799498" name="Text 12"/>
          <p:cNvSpPr/>
          <p:nvPr/>
        </p:nvSpPr>
        <p:spPr bwMode="auto">
          <a:xfrm>
            <a:off x="44748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設立期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686163" name="Text 13"/>
          <p:cNvSpPr/>
          <p:nvPr/>
        </p:nvSpPr>
        <p:spPr bwMode="auto">
          <a:xfrm>
            <a:off x="44748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947435" name="Shape 14"/>
          <p:cNvSpPr/>
          <p:nvPr/>
        </p:nvSpPr>
        <p:spPr bwMode="auto">
          <a:xfrm>
            <a:off x="75780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126716" name="Text 15"/>
          <p:cNvSpPr/>
          <p:nvPr/>
        </p:nvSpPr>
        <p:spPr bwMode="auto">
          <a:xfrm>
            <a:off x="77400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626192" name="Text 16"/>
          <p:cNvSpPr/>
          <p:nvPr/>
        </p:nvSpPr>
        <p:spPr bwMode="auto">
          <a:xfrm>
            <a:off x="77400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試行設計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559051" name="Text 17"/>
          <p:cNvSpPr/>
          <p:nvPr/>
        </p:nvSpPr>
        <p:spPr bwMode="auto">
          <a:xfrm>
            <a:off x="77400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18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¥15–30M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885097" name="Shape 18"/>
          <p:cNvSpPr/>
          <p:nvPr/>
        </p:nvSpPr>
        <p:spPr bwMode="auto">
          <a:xfrm>
            <a:off x="108432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946139" name="Text 19"/>
          <p:cNvSpPr/>
          <p:nvPr/>
        </p:nvSpPr>
        <p:spPr bwMode="auto">
          <a:xfrm>
            <a:off x="110052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712425" name="Text 20"/>
          <p:cNvSpPr/>
          <p:nvPr/>
        </p:nvSpPr>
        <p:spPr bwMode="auto">
          <a:xfrm>
            <a:off x="110052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試行構築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462764" name="Text 21"/>
          <p:cNvSpPr/>
          <p:nvPr/>
        </p:nvSpPr>
        <p:spPr bwMode="auto">
          <a:xfrm>
            <a:off x="110052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120625" name="Shape 22"/>
          <p:cNvSpPr/>
          <p:nvPr/>
        </p:nvSpPr>
        <p:spPr bwMode="auto">
          <a:xfrm>
            <a:off x="141084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732685" name="Text 23"/>
          <p:cNvSpPr/>
          <p:nvPr/>
        </p:nvSpPr>
        <p:spPr bwMode="auto">
          <a:xfrm>
            <a:off x="142704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596808" name="Text 24"/>
          <p:cNvSpPr/>
          <p:nvPr/>
        </p:nvSpPr>
        <p:spPr bwMode="auto">
          <a:xfrm>
            <a:off x="142704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運営・拡大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171855" name="Text 25"/>
          <p:cNvSpPr/>
          <p:nvPr/>
        </p:nvSpPr>
        <p:spPr bwMode="auto">
          <a:xfrm>
            <a:off x="142704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31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ヶ月〜 収益主導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649583" name="Text 26"/>
          <p:cNvSpPr/>
          <p:nvPr/>
        </p:nvSpPr>
        <p:spPr bwMode="auto">
          <a:xfrm>
            <a:off x="42660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G1 · 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850120" name="Text 27"/>
          <p:cNvSpPr/>
          <p:nvPr/>
        </p:nvSpPr>
        <p:spPr bwMode="auto">
          <a:xfrm>
            <a:off x="75312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G2 · ¥30–50M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838751" name="Text 28"/>
          <p:cNvSpPr/>
          <p:nvPr/>
        </p:nvSpPr>
        <p:spPr bwMode="auto">
          <a:xfrm>
            <a:off x="107964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G3 · 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005534" name="Text 29"/>
          <p:cNvSpPr/>
          <p:nvPr/>
        </p:nvSpPr>
        <p:spPr bwMode="auto">
          <a:xfrm>
            <a:off x="140616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収益化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515365" name="Text 30"/>
          <p:cNvSpPr/>
          <p:nvPr/>
        </p:nvSpPr>
        <p:spPr bwMode="auto">
          <a:xfrm>
            <a:off x="1047600" y="6356880"/>
            <a:ext cx="94539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五層資金スタック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年目目標 ≈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741437" name="Shape 31"/>
          <p:cNvSpPr/>
          <p:nvPr/>
        </p:nvSpPr>
        <p:spPr bwMode="auto">
          <a:xfrm>
            <a:off x="1047600" y="7062840"/>
            <a:ext cx="9178560" cy="900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1245722" name="Text 32"/>
          <p:cNvSpPr/>
          <p:nvPr/>
        </p:nvSpPr>
        <p:spPr bwMode="auto">
          <a:xfrm>
            <a:off x="1123920" y="678564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層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879334" name="Text 33"/>
          <p:cNvSpPr/>
          <p:nvPr/>
        </p:nvSpPr>
        <p:spPr bwMode="auto">
          <a:xfrm>
            <a:off x="2234880" y="6785640"/>
            <a:ext cx="41893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出所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926084" name="Text 34"/>
          <p:cNvSpPr/>
          <p:nvPr/>
        </p:nvSpPr>
        <p:spPr bwMode="auto">
          <a:xfrm>
            <a:off x="637416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696983" name="Text 35"/>
          <p:cNvSpPr/>
          <p:nvPr/>
        </p:nvSpPr>
        <p:spPr bwMode="auto">
          <a:xfrm>
            <a:off x="830052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59385" name="Shape 36"/>
          <p:cNvSpPr/>
          <p:nvPr/>
        </p:nvSpPr>
        <p:spPr bwMode="auto">
          <a:xfrm>
            <a:off x="1047600" y="73540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9994335" name="Text 37"/>
          <p:cNvSpPr/>
          <p:nvPr/>
        </p:nvSpPr>
        <p:spPr bwMode="auto">
          <a:xfrm>
            <a:off x="1123920" y="708192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924047" name="Text 38"/>
          <p:cNvSpPr/>
          <p:nvPr/>
        </p:nvSpPr>
        <p:spPr bwMode="auto">
          <a:xfrm>
            <a:off x="2168280" y="708192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創設者・私的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925597" name="Text 39"/>
          <p:cNvSpPr/>
          <p:nvPr/>
        </p:nvSpPr>
        <p:spPr bwMode="auto">
          <a:xfrm>
            <a:off x="6307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152330" name="Text 40"/>
          <p:cNvSpPr/>
          <p:nvPr/>
        </p:nvSpPr>
        <p:spPr bwMode="auto">
          <a:xfrm>
            <a:off x="8233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788583" name="Shape 41"/>
          <p:cNvSpPr/>
          <p:nvPr/>
        </p:nvSpPr>
        <p:spPr bwMode="auto">
          <a:xfrm>
            <a:off x="1047600" y="76456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675538" name="Text 42"/>
          <p:cNvSpPr/>
          <p:nvPr/>
        </p:nvSpPr>
        <p:spPr bwMode="auto">
          <a:xfrm>
            <a:off x="1123920" y="73731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L2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588724" name="Text 43"/>
          <p:cNvSpPr/>
          <p:nvPr/>
        </p:nvSpPr>
        <p:spPr bwMode="auto">
          <a:xfrm>
            <a:off x="2168280" y="73731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政府助成金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527347" name="Text 44"/>
          <p:cNvSpPr/>
          <p:nvPr/>
        </p:nvSpPr>
        <p:spPr bwMode="auto">
          <a:xfrm>
            <a:off x="6307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522155" name="Text 45"/>
          <p:cNvSpPr/>
          <p:nvPr/>
        </p:nvSpPr>
        <p:spPr bwMode="auto">
          <a:xfrm>
            <a:off x="8233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¥80M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946929" name="Shape 46"/>
          <p:cNvSpPr/>
          <p:nvPr/>
        </p:nvSpPr>
        <p:spPr bwMode="auto">
          <a:xfrm>
            <a:off x="1047600" y="79372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362202" name="Text 47"/>
          <p:cNvSpPr/>
          <p:nvPr/>
        </p:nvSpPr>
        <p:spPr bwMode="auto">
          <a:xfrm>
            <a:off x="1123920" y="76647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L3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256594" name="Text 48"/>
          <p:cNvSpPr/>
          <p:nvPr/>
        </p:nvSpPr>
        <p:spPr bwMode="auto">
          <a:xfrm>
            <a:off x="2168280" y="76647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財団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826639" name="Text 49"/>
          <p:cNvSpPr/>
          <p:nvPr/>
        </p:nvSpPr>
        <p:spPr bwMode="auto">
          <a:xfrm>
            <a:off x="6307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625587" name="Text 50"/>
          <p:cNvSpPr/>
          <p:nvPr/>
        </p:nvSpPr>
        <p:spPr bwMode="auto">
          <a:xfrm>
            <a:off x="8233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¥20M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389807" name="Shape 51"/>
          <p:cNvSpPr/>
          <p:nvPr/>
        </p:nvSpPr>
        <p:spPr bwMode="auto">
          <a:xfrm>
            <a:off x="1047600" y="82285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024993" name="Text 52"/>
          <p:cNvSpPr/>
          <p:nvPr/>
        </p:nvSpPr>
        <p:spPr bwMode="auto">
          <a:xfrm>
            <a:off x="1123920" y="79563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L4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820869" name="Text 53"/>
          <p:cNvSpPr/>
          <p:nvPr/>
        </p:nvSpPr>
        <p:spPr bwMode="auto">
          <a:xfrm>
            <a:off x="2168280" y="79563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企業パートナー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336134" name="Text 54"/>
          <p:cNvSpPr/>
          <p:nvPr/>
        </p:nvSpPr>
        <p:spPr bwMode="auto">
          <a:xfrm>
            <a:off x="6307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811619" name="Text 55"/>
          <p:cNvSpPr/>
          <p:nvPr/>
        </p:nvSpPr>
        <p:spPr bwMode="auto">
          <a:xfrm>
            <a:off x="8233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90400" name="Shape 56"/>
          <p:cNvSpPr/>
          <p:nvPr/>
        </p:nvSpPr>
        <p:spPr bwMode="auto">
          <a:xfrm>
            <a:off x="1047600" y="85201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3836872" name="Text 57"/>
          <p:cNvSpPr/>
          <p:nvPr/>
        </p:nvSpPr>
        <p:spPr bwMode="auto">
          <a:xfrm>
            <a:off x="1123920" y="824760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L5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303249" name="Text 58"/>
          <p:cNvSpPr/>
          <p:nvPr/>
        </p:nvSpPr>
        <p:spPr bwMode="auto">
          <a:xfrm>
            <a:off x="2168280" y="824760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運営収益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383823" name="Text 59"/>
          <p:cNvSpPr/>
          <p:nvPr/>
        </p:nvSpPr>
        <p:spPr bwMode="auto">
          <a:xfrm>
            <a:off x="6307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91160" name="Text 60"/>
          <p:cNvSpPr/>
          <p:nvPr/>
        </p:nvSpPr>
        <p:spPr bwMode="auto">
          <a:xfrm>
            <a:off x="8233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344475" name="Text 61"/>
          <p:cNvSpPr/>
          <p:nvPr/>
        </p:nvSpPr>
        <p:spPr bwMode="auto">
          <a:xfrm>
            <a:off x="1123920" y="853920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009581" name="Text 62"/>
          <p:cNvSpPr/>
          <p:nvPr/>
        </p:nvSpPr>
        <p:spPr bwMode="auto">
          <a:xfrm>
            <a:off x="2168280" y="8539200"/>
            <a:ext cx="43225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概算合計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77004" name="Text 63"/>
          <p:cNvSpPr/>
          <p:nvPr/>
        </p:nvSpPr>
        <p:spPr bwMode="auto">
          <a:xfrm>
            <a:off x="6307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354768" name="Text 64"/>
          <p:cNvSpPr/>
          <p:nvPr/>
        </p:nvSpPr>
        <p:spPr bwMode="auto">
          <a:xfrm>
            <a:off x="8233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831762" name="Text 65"/>
          <p:cNvSpPr/>
          <p:nvPr/>
        </p:nvSpPr>
        <p:spPr bwMode="auto">
          <a:xfrm>
            <a:off x="10683720" y="6356880"/>
            <a:ext cx="6752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六つの運営原則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669377" name="Text 66"/>
          <p:cNvSpPr/>
          <p:nvPr/>
        </p:nvSpPr>
        <p:spPr bwMode="auto">
          <a:xfrm>
            <a:off x="1068372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地域第一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677408" name="Text 67"/>
          <p:cNvSpPr/>
          <p:nvPr/>
        </p:nvSpPr>
        <p:spPr bwMode="auto">
          <a:xfrm>
            <a:off x="1409544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開放と透明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411145" name="Text 68"/>
          <p:cNvSpPr/>
          <p:nvPr/>
        </p:nvSpPr>
        <p:spPr bwMode="auto">
          <a:xfrm>
            <a:off x="1068372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034234" name="Text 69"/>
          <p:cNvSpPr/>
          <p:nvPr/>
        </p:nvSpPr>
        <p:spPr bwMode="auto">
          <a:xfrm>
            <a:off x="1409544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複製可能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260513" name="Text 70"/>
          <p:cNvSpPr/>
          <p:nvPr/>
        </p:nvSpPr>
        <p:spPr bwMode="auto">
          <a:xfrm>
            <a:off x="1068372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規模は控えめ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7294692" name="Text 71"/>
          <p:cNvSpPr/>
          <p:nvPr/>
        </p:nvSpPr>
        <p:spPr bwMode="auto">
          <a:xfrm>
            <a:off x="1409544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非党派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630489" name="Text 72"/>
          <p:cNvSpPr/>
          <p:nvPr/>
        </p:nvSpPr>
        <p:spPr bwMode="auto">
          <a:xfrm flipH="0" flipV="0">
            <a:off x="1047600" y="9191520"/>
            <a:ext cx="1355524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10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567176" name="Text 73"/>
          <p:cNvSpPr/>
          <p:nvPr/>
        </p:nvSpPr>
        <p:spPr bwMode="auto">
          <a:xfrm>
            <a:off x="13503240" y="9191520"/>
            <a:ext cx="38487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年の視野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&gt;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一つの流行サイクル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5813197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83597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116623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8090585" name="Text 3"/>
          <p:cNvSpPr/>
          <p:nvPr/>
        </p:nvSpPr>
        <p:spPr bwMode="auto">
          <a:xfrm>
            <a:off x="13964760" y="762120"/>
            <a:ext cx="3373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10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十年単位で考える方へ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157660" name="Text 4"/>
          <p:cNvSpPr/>
          <p:nvPr/>
        </p:nvSpPr>
        <p:spPr bwMode="auto">
          <a:xfrm>
            <a:off x="1047600" y="17690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あなたの時間軸が私たちと合うなら…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2679557" name="Text 5"/>
          <p:cNvSpPr/>
          <p:nvPr/>
        </p:nvSpPr>
        <p:spPr bwMode="auto">
          <a:xfrm>
            <a:off x="1047600" y="2331000"/>
            <a:ext cx="8324640" cy="57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6300" b="1" u="none" strike="noStrike" spc="-31">
                <a:solidFill>
                  <a:srgbClr val="F3ECE0"/>
                </a:solidFill>
                <a:latin typeface="Noto Serif JP"/>
                <a:ea typeface="Noto Serif JP"/>
              </a:rPr>
              <a:t>私たちが求めているのは、 忍耐強い資本、 率直なご批判、 そして数人の </a:t>
            </a:r>
            <a:r>
              <a:rPr lang="zh-CN" sz="6300" b="1" u="none" strike="noStrike" spc="-31">
                <a:solidFill>
                  <a:srgbClr val="F3B486"/>
                </a:solidFill>
                <a:latin typeface="Noto Serif JP"/>
                <a:ea typeface="Noto Serif JP"/>
              </a:rPr>
              <a:t>良き隣人。</a:t>
            </a:r>
            <a:endParaRPr lang="en-US" sz="63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2789491" name="Text 6"/>
          <p:cNvSpPr/>
          <p:nvPr/>
        </p:nvSpPr>
        <p:spPr bwMode="auto">
          <a:xfrm>
            <a:off x="9892440" y="1769040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いま助かるご支援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136931" name="Text 7"/>
          <p:cNvSpPr/>
          <p:nvPr/>
        </p:nvSpPr>
        <p:spPr bwMode="auto">
          <a:xfrm>
            <a:off x="9718920" y="2235960"/>
            <a:ext cx="759708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ご紹介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農村に信頼のある日本人共同創設者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アドバイザー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林業、エッジ計算、日本の非営利法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第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1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段階の忍耐強い出資者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(¥3–8M)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率直なご批判——論点のどこが間違っているか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766825" name="Shape 8"/>
          <p:cNvSpPr/>
          <p:nvPr/>
        </p:nvSpPr>
        <p:spPr bwMode="auto">
          <a:xfrm>
            <a:off x="9892440" y="405684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09668" name="Shape 9"/>
          <p:cNvSpPr/>
          <p:nvPr/>
        </p:nvSpPr>
        <p:spPr bwMode="auto">
          <a:xfrm>
            <a:off x="9892440" y="4276080"/>
            <a:ext cx="1618920" cy="16189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6079359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9987480" y="4371480"/>
            <a:ext cx="142848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199151" name="Text 10"/>
          <p:cNvSpPr/>
          <p:nvPr/>
        </p:nvSpPr>
        <p:spPr bwMode="auto">
          <a:xfrm>
            <a:off x="11778120" y="43570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QR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コードでアクセス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1879999" name="Text 11"/>
          <p:cNvSpPr/>
          <p:nvPr/>
        </p:nvSpPr>
        <p:spPr bwMode="auto">
          <a:xfrm>
            <a:off x="11778120" y="47476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250" b="0" u="none" strike="noStrike">
                <a:solidFill>
                  <a:srgbClr val="F3ECE0"/>
                </a:solidFill>
                <a:latin typeface="Courier New"/>
                <a:ea typeface="Courier New"/>
              </a:rPr>
              <a:t>mitsue.it</a:t>
            </a:r>
            <a:endParaRPr lang="en-US" sz="22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4086185" name="Text 12"/>
          <p:cNvSpPr/>
          <p:nvPr/>
        </p:nvSpPr>
        <p:spPr bwMode="auto">
          <a:xfrm>
            <a:off x="11778120" y="5138280"/>
            <a:ext cx="5625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codeberg.org / YR-Design / mitsue-ai-data-center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159831" name="Text 13"/>
          <p:cNvSpPr/>
          <p:nvPr/>
        </p:nvSpPr>
        <p:spPr bwMode="auto">
          <a:xfrm>
            <a:off x="11778120" y="5595480"/>
            <a:ext cx="56253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info@mitsue.it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156152" name="Shape 14"/>
          <p:cNvSpPr/>
          <p:nvPr/>
        </p:nvSpPr>
        <p:spPr bwMode="auto">
          <a:xfrm>
            <a:off x="9892440" y="612396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196524" name="Text 15"/>
          <p:cNvSpPr/>
          <p:nvPr/>
        </p:nvSpPr>
        <p:spPr bwMode="auto">
          <a:xfrm>
            <a:off x="9892440" y="6305039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プロジェクトリード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1504522" name="Text 16"/>
          <p:cNvSpPr/>
          <p:nvPr/>
        </p:nvSpPr>
        <p:spPr bwMode="auto">
          <a:xfrm>
            <a:off x="9892440" y="6695280"/>
            <a:ext cx="7567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000" b="1" u="none" strike="noStrike" spc="-14">
                <a:solidFill>
                  <a:srgbClr val="F3ECE0"/>
                </a:solidFill>
                <a:latin typeface="Noto Serif JP"/>
                <a:ea typeface="Noto Serif JP"/>
              </a:rPr>
              <a:t>Rob Oudendijk</a:t>
            </a:r>
            <a:endParaRPr lang="en-US" sz="3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3636420" name="Text 17"/>
          <p:cNvSpPr/>
          <p:nvPr/>
        </p:nvSpPr>
        <p:spPr bwMode="auto">
          <a:xfrm>
            <a:off x="9892440" y="71146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YR-Design · Safecast · </a:t>
            </a:r>
            <a:r>
              <a:rPr lang="zh-CN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奈良県御杖村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316891" name="Text 18"/>
          <p:cNvSpPr/>
          <p:nvPr/>
        </p:nvSpPr>
        <p:spPr bwMode="auto">
          <a:xfrm flipH="0" flipV="0">
            <a:off x="1047600" y="9191520"/>
            <a:ext cx="1415055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11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7025328" name="Text 19"/>
          <p:cNvSpPr/>
          <p:nvPr/>
        </p:nvSpPr>
        <p:spPr bwMode="auto">
          <a:xfrm>
            <a:off x="13171320" y="9191520"/>
            <a:ext cx="4190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ありがとうございました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Thank you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dc:language>en-US</dc:language>
  <cp:lastModifiedBy/>
  <cp:revision>5</cp:revision>
  <dcterms:created xsi:type="dcterms:W3CDTF">2026-05-28T12:44:57Z</dcterms:created>
  <dcterms:modified xsi:type="dcterms:W3CDTF">2026-05-31T22:39:53Z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