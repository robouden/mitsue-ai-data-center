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3.xml" ContentType="application/vnd.openxmlformats-officedocument.presentationml.slide+xml"/>
  <Override PartName="/ppt/viewProps.xml" ContentType="application/vnd.openxmlformats-officedocument.presentationml.viewProps+xml"/>
  <Override PartName="/docProps/custom.xml" ContentType="application/vnd.openxmlformats-officedocument.custom-propertie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s/slide4.xml" ContentType="application/vnd.openxmlformats-officedocument.presentationml.slide+xml"/>
  <Override PartName="/ppt/slideLayouts/slideLayout1.xml" ContentType="application/vnd.openxmlformats-officedocument.presentationml.slideLayout+xml"/>
  <Override PartName="/ppt/slides/slide5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sldMasterIdLst>
    <p:sldMasterId id="2147483648" r:id="rId1"/>
  </p:sldMasterIdLst>
  <p:notesMasterIdLst>
    <p:notesMasterId r:id="rId1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18288000" cy="10287000"/>
  <p:notesSz cx="10287000" cy="18288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>
        <p:scale>
          <a:sx n="0" d="6"/>
          <a:sy n="0" d="2"/>
        </p:scale>
        <p:origin x="1076287744" y="0"/>
      </p:cViewPr>
      <p:guideLst>
        <p:guide pos="5760"/>
        <p:guide pos="3240" orient="horz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 /><Relationship Id="rId17" Type="http://schemas.openxmlformats.org/officeDocument/2006/relationships/tableStyles" Target="tableStyles.xml" /><Relationship Id="rId1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7895979" name="PlaceHolder 1"/>
          <p:cNvSpPr>
            <a:spLocks noGrp="1"/>
          </p:cNvSpPr>
          <p:nvPr>
            <p:ph type="sldImg"/>
          </p:nvPr>
        </p:nvSpPr>
        <p:spPr bwMode="auto"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50640412" name="PlaceHolder 2"/>
          <p:cNvSpPr>
            <a:spLocks noGrp="1"/>
          </p:cNvSpPr>
          <p:nvPr>
            <p:ph type="body"/>
          </p:nvPr>
        </p:nvSpPr>
        <p:spPr bwMode="auto">
          <a:xfrm>
            <a:off x="756000" y="5078520"/>
            <a:ext cx="6047640" cy="481103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  <a:defRPr/>
            </a:pP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3071723" name="PlaceHolder 3"/>
          <p:cNvSpPr>
            <a:spLocks noGrp="1"/>
          </p:cNvSpPr>
          <p:nvPr>
            <p:ph type="hdr"/>
          </p:nvPr>
        </p:nvSpPr>
        <p:spPr bwMode="auto"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3806655" name="PlaceHolder 4"/>
          <p:cNvSpPr>
            <a:spLocks noGrp="1"/>
          </p:cNvSpPr>
          <p:nvPr>
            <p:ph type="dt" idx="1"/>
          </p:nvPr>
        </p:nvSpPr>
        <p:spPr bwMode="auto"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1591897" name="PlaceHolder 5"/>
          <p:cNvSpPr>
            <a:spLocks noGrp="1"/>
          </p:cNvSpPr>
          <p:nvPr>
            <p:ph type="ftr" idx="2"/>
          </p:nvPr>
        </p:nvSpPr>
        <p:spPr bwMode="auto"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8976285" name="PlaceHolder 6"/>
          <p:cNvSpPr>
            <a:spLocks noGrp="1"/>
          </p:cNvSpPr>
          <p:nvPr>
            <p:ph type="sldNum" idx="3"/>
          </p:nvPr>
        </p:nvSpPr>
        <p:spPr bwMode="auto"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  <a:defRPr/>
            </a:pPr>
            <a:fld id="{78D6D9A3-61C8-4A29-A2FC-B7E20CF3AB63}" type="slidenum"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6211730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1507511342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本日はお時間をいただき、ありがとうございます。御杖プロジェクト——日本の山あいで進める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25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年計画について、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10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分ほどでご説明します。要約はこのスライドの通りです——森林再生、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EV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電力、そして地域所有の小さなデータセンター。すべて奈良県の一つの山村に集約されます。一見無関係な三つの取り組みですが、実は深く結びついています。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1822082" name="PlaceHolder 3"/>
          <p:cNvSpPr>
            <a:spLocks noGrp="1"/>
          </p:cNvSpPr>
          <p:nvPr>
            <p:ph type="sldNum" idx="4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8CDEF561-E073-43C1-ACCD-D14669D8CE12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7185346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1096739650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御杖村は奈良県の山あいに位置します。人口は減少し、小学校は閉校。村を取り囲む杉の人工林は老齢化し、電力網も脆弱です。御杖に固有の問題ではなく、それこそが要点です。ここで機能する仕組みは、同じ課題を抱える千の村でも機能するはずです。現在は第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0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段階——設立準備期。プレスもサイト発表会もありません。信頼構築、定款の起草、創設チームの編成に集中しています。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1176902" name="PlaceHolder 3"/>
          <p:cNvSpPr>
            <a:spLocks noGrp="1"/>
          </p:cNvSpPr>
          <p:nvPr>
            <p:ph type="sldNum" idx="5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580EA119-A14A-4BDB-84AB-4D19ECD3EA34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0108819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404869994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四つの構造的圧力が、日本の農村に同時に押し寄せています。杉人工林は管理されず、花粉、生物多様性の喪失、土砂崩れの原因に。約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10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年で日本の乗用車の大半が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EV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化しますが、農村の電力網は対応できていません。閉校した学校は人口減少自治体の維持費負担。さらに、農村のブロードバンドとエッジ計算は都市に遅れています。個別には高コストですが、御杖の論点は——一緒に解決する方が安いということで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0511789" name="PlaceHolder 3"/>
          <p:cNvSpPr>
            <a:spLocks noGrp="1"/>
          </p:cNvSpPr>
          <p:nvPr>
            <p:ph type="sldNum" idx="6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EC6179F0-83ED-4742-8D04-A1433396F950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3198948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623723054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そこで、一つの主体のもとに三つの活動を統合します。森林再生。分散型再生可能エネルギーと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EV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充電。地域所有の小さなデータセンター。在来林への転換で伐採する杉そのものが、データセンターと自動車を動かすバイオマス燃料となります——転換が転換を支える仕組みです。データセンターは閉校校舎を村の生活に戻します。これらは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25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年間の方法・財務・成果を一つの台帳に記録し、公開します。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3297557" name="PlaceHolder 3"/>
          <p:cNvSpPr>
            <a:spLocks noGrp="1"/>
          </p:cNvSpPr>
          <p:nvPr>
            <p:ph type="sldNum" idx="7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1B660A4E-3C43-4442-B04B-A449ADF15D90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6210985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1585121518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森林について——老齢化した杉人工林を、在来広葉樹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(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ナラ、クリ、コナラ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)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に段階的に置き換えます。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25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年は生態系の時計であって、資金繰りの周期ではありません。地域への恩恵は具体的です——花粉が減り、土砂崩れリスクが下がり、再び森らしい森が戻ります。重要なのは——伐採した杉は無駄になりません。村のエネルギーシステムの主要なバイオマス燃料になります。そして広葉樹がどんぐりを実らせれば、クマ、イノシシ、シカは森で冬を越し、村の畑には来なくなり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6058632" name="PlaceHolder 3"/>
          <p:cNvSpPr>
            <a:spLocks noGrp="1"/>
          </p:cNvSpPr>
          <p:nvPr>
            <p:ph type="sldNum" idx="8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80DAEE55-EC66-4D4A-8E47-32256DFE4C2A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5045455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543997953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統合された一つの電力システム。森林転換で伐採する杉が主燃料——共通バスに接続された小さなバイオマス発電所です。地域の太陽光が補い、共同バッテリーで夜間をカバー、電力網はバックアップに。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EV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充電器は送電線延伸を待たず、地域発電と直結。そして村が最も気にする部分——現地発電が、停電時にも学校・診療所・緊急設備の電源を維持します。配電線の老朽化で停電リスクは増しています。レジリエンスは後付けではなく、最初から組み込み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078193" name="PlaceHolder 3"/>
          <p:cNvSpPr>
            <a:spLocks noGrp="1"/>
          </p:cNvSpPr>
          <p:nvPr>
            <p:ph type="sldNum" idx="9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DE5135CC-135A-451E-BFD0-97E9DC123C8F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9446542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428833503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閉校した御杖小学校の校舎を、エネルギー効率の高い小規模エッジ計算施設として再利用。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100%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地域の再生可能エネルギーで稼働。説明責任を果たせる規模——ハイパースケールではありません。村が所有し、監査でき、何をしているかを説明できる規模。サーバーの排熱は温室や公共施設の暖房に再利用。御杖でうまくいけば、設計図を公開し、次の村が複製できるようにし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701800" name="PlaceHolder 3"/>
          <p:cNvSpPr>
            <a:spLocks noGrp="1"/>
          </p:cNvSpPr>
          <p:nvPr>
            <p:ph type="sldNum" idx="10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084CAD6C-587A-4795-BE25-F43DF5FDFBFA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8828616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648929935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ここを覚えていただきたいです。恩恵は、データセンターが商業的に成功するかどうかに依存しません。森林再生は変わらず進みます。野生動物による農地被害は減ります。校舎は維持費を食うだけの存在ではなくなります。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EV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充電は車が必要になる前に整備されます。停電耐性は恒久的なインフラ改善になります。地域がアップサイドを保ち、私たちはすべてを記録し、他の村は教科書を無料で得られます。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818888" name="PlaceHolder 3"/>
          <p:cNvSpPr>
            <a:spLocks noGrp="1"/>
          </p:cNvSpPr>
          <p:nvPr>
            <p:ph type="sldNum" idx="11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80697BBA-43BB-4406-B942-7F71FC538211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1471005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1049683567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現状、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2026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年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5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月。第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0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段階、意図的に静かに進めています。御杖村副村長との初回面談、地元林業組合との初回面談は完了。定款と実行計画は起草済み。段階と資金ゲートの図表も公開済み。アドバイザーとして二名が確定——伊藤穰一氏とレイ・オジー氏。次の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30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日——日本人共同創設者へのアプローチ、村長との面談、奈良の行政書士への相談、二言語版定款の最終化です。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84448" name="PlaceHolder 3"/>
          <p:cNvSpPr>
            <a:spLocks noGrp="1"/>
          </p:cNvSpPr>
          <p:nvPr>
            <p:ph type="sldNum" idx="12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488FE47F-10CD-4D00-AA37-393009C358A2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3946235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415300725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五段階、四つの明確な資金ゲート。ゲートを通過できなければ保留し、再提案——資源不足のまま次段階に加速はしません。資金スタックは意図的に五層構造で、単一の資金源で初期に止まらない設計です。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3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年目までの目標額はおよそ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1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億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3400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万円。これらは計画上の目標であり、確約ではありません。ゲートの目的は——支えられない段階に村を賭けないことです。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1397099" name="PlaceHolder 3"/>
          <p:cNvSpPr>
            <a:spLocks noGrp="1"/>
          </p:cNvSpPr>
          <p:nvPr>
            <p:ph type="sldNum" idx="13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58EB8B4D-2533-4AE3-A434-23810C8DDC13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611002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791698350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皆さまにお願いしたいこと——四半期ではなく十年単位で考える、忍耐強い資本。農村に信頼のある日本人共同創設者のご紹介。林業、エッジ計算、日本の非営利法のアドバイザー。そして率直なご批判——論点のどこが間違っているか教えてください。文書はすべて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Codeberg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にオープンライセンスで公開。プロジェクトのサイトは 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mitsue.it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。ご清聴ありがとうございました——ご質問をお受けします。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6326610" name="PlaceHolder 3"/>
          <p:cNvSpPr>
            <a:spLocks noGrp="1"/>
          </p:cNvSpPr>
          <p:nvPr>
            <p:ph type="sldNum" idx="14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FD897C16-D543-4ECF-8491-9CAD5C15B5D7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DEFAUL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2597993" name="PlaceHolder 1"/>
          <p:cNvSpPr>
            <a:spLocks noGrp="1"/>
          </p:cNvSpPr>
          <p:nvPr>
            <p:ph type="title"/>
          </p:nvPr>
        </p:nvSpPr>
        <p:spPr bwMode="auto"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latin typeface="Calibri"/>
              </a:defRPr>
            </a:lvl1pPr>
          </a:lstStyle>
          <a:p>
            <a:pPr indent="0" algn="l">
              <a:buNone/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Calibri"/>
              </a:rPr>
              <a:t>Click to edit the </a:t>
            </a:r>
            <a:r>
              <a:rPr lang="en-US" sz="1800" b="0" u="none" strike="noStrike">
                <a:solidFill>
                  <a:schemeClr val="dk1"/>
                </a:solidFill>
                <a:latin typeface="Calibri"/>
              </a:rPr>
              <a:t>title text format</a:t>
            </a:r>
            <a:endParaRPr lang="en-US" sz="1800" b="0" u="none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00979602" name="PlaceHolder 2"/>
          <p:cNvSpPr>
            <a:spLocks noGrp="1"/>
          </p:cNvSpPr>
          <p:nvPr>
            <p:ph type="body"/>
          </p:nvPr>
        </p:nvSpPr>
        <p:spPr bwMode="auto"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3200" b="0" u="none" strike="noStrike">
                <a:solidFill>
                  <a:schemeClr val="dk1"/>
                </a:solidFill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lang="en-US" sz="2400" b="0" u="none" strike="noStrike">
                <a:solidFill>
                  <a:schemeClr val="dk1"/>
                </a:solidFill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chemeClr val="dk1"/>
                </a:solidFill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lang="en-US" sz="2000" b="0" u="none" strike="noStrike">
                <a:solidFill>
                  <a:schemeClr val="dk1"/>
                </a:solidFill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chemeClr val="dk1"/>
                </a:solidFill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chemeClr val="dk1"/>
                </a:solidFill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chemeClr val="dk1"/>
                </a:solidFill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3200" b="0" u="none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en-US" sz="2400" b="0" u="none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4983152" name="Shape 0"/>
          <p:cNvSpPr/>
          <p:nvPr/>
        </p:nvSpPr>
        <p:spPr bwMode="auto">
          <a:xfrm>
            <a:off x="1047600" y="762120"/>
            <a:ext cx="533160" cy="53316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8360476" name="Text 1"/>
          <p:cNvSpPr/>
          <p:nvPr/>
        </p:nvSpPr>
        <p:spPr bwMode="auto">
          <a:xfrm>
            <a:off x="1047600" y="762120"/>
            <a:ext cx="6091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210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6316595" name="Text 2"/>
          <p:cNvSpPr/>
          <p:nvPr/>
        </p:nvSpPr>
        <p:spPr bwMode="auto">
          <a:xfrm>
            <a:off x="1714680" y="8618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9318694" name="Text 3"/>
          <p:cNvSpPr/>
          <p:nvPr/>
        </p:nvSpPr>
        <p:spPr bwMode="auto">
          <a:xfrm>
            <a:off x="13438079" y="762120"/>
            <a:ext cx="39160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0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段階 </a:t>
            </a: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設立準備期 </a:t>
            </a: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· 2026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年</a:t>
            </a: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5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6275716" name="Text 4"/>
          <p:cNvSpPr/>
          <p:nvPr/>
        </p:nvSpPr>
        <p:spPr bwMode="auto">
          <a:xfrm>
            <a:off x="1047600" y="1866960"/>
            <a:ext cx="88293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25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年計画 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· A 25-Year initiative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5772733" name="Text 5"/>
          <p:cNvSpPr/>
          <p:nvPr/>
        </p:nvSpPr>
        <p:spPr bwMode="auto">
          <a:xfrm>
            <a:off x="1047600" y="2467080"/>
            <a:ext cx="8829360" cy="456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8100" b="1" u="none" strike="noStrike" spc="-40">
                <a:solidFill>
                  <a:srgbClr val="1F2A24"/>
                </a:solidFill>
                <a:latin typeface="Noto Serif JP"/>
                <a:ea typeface="Noto Serif JP"/>
              </a:rPr>
              <a:t>山あいの 小さな村のための、 </a:t>
            </a:r>
            <a:r>
              <a:rPr lang="zh-CN" sz="8100" b="1" u="none" strike="noStrike" spc="-40">
                <a:solidFill>
                  <a:srgbClr val="C4663A"/>
                </a:solidFill>
                <a:latin typeface="Noto Serif JP"/>
                <a:ea typeface="Noto Serif JP"/>
              </a:rPr>
              <a:t>ささやかな計画。</a:t>
            </a:r>
            <a:endParaRPr lang="en-US" sz="8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7463042" name="Text 6"/>
          <p:cNvSpPr/>
          <p:nvPr/>
        </p:nvSpPr>
        <p:spPr bwMode="auto">
          <a:xfrm>
            <a:off x="1047600" y="7336080"/>
            <a:ext cx="4897080" cy="131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4C554F"/>
                </a:solidFill>
                <a:latin typeface="Noto Serif JP"/>
                <a:ea typeface="Noto Serif JP"/>
              </a:rPr>
              <a:t>奈良県御杖村 森林再生・分散型エネルギー・地域所有のデータセンター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90128803" name="Image 0" descr="preencoded.png"/>
          <p:cNvPicPr/>
          <p:nvPr/>
        </p:nvPicPr>
        <p:blipFill rotWithShape="1">
          <a:blip r:embed="rId3"/>
          <a:stretch/>
        </p:blipFill>
        <p:spPr bwMode="auto">
          <a:xfrm>
            <a:off x="10382400" y="1866960"/>
            <a:ext cx="6857640" cy="6095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94087861" name="Text 7"/>
          <p:cNvSpPr/>
          <p:nvPr/>
        </p:nvSpPr>
        <p:spPr bwMode="auto">
          <a:xfrm flipH="0" flipV="0">
            <a:off x="1047600" y="9191520"/>
            <a:ext cx="1276149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01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0661591" name="Text 8"/>
          <p:cNvSpPr/>
          <p:nvPr/>
        </p:nvSpPr>
        <p:spPr bwMode="auto">
          <a:xfrm>
            <a:off x="15267960" y="9191520"/>
            <a:ext cx="20484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森林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EV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電力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AI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2966370" name="Shape 0"/>
          <p:cNvSpPr/>
          <p:nvPr/>
        </p:nvSpPr>
        <p:spPr bwMode="auto">
          <a:xfrm>
            <a:off x="1047600" y="762120"/>
            <a:ext cx="456840" cy="45684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5829317" name="Text 1"/>
          <p:cNvSpPr/>
          <p:nvPr/>
        </p:nvSpPr>
        <p:spPr bwMode="auto">
          <a:xfrm>
            <a:off x="1047600" y="762120"/>
            <a:ext cx="5331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4331782" name="Text 2"/>
          <p:cNvSpPr/>
          <p:nvPr/>
        </p:nvSpPr>
        <p:spPr bwMode="auto">
          <a:xfrm>
            <a:off x="1638360" y="8240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8084993" name="Text 3"/>
          <p:cNvSpPr/>
          <p:nvPr/>
        </p:nvSpPr>
        <p:spPr bwMode="auto">
          <a:xfrm>
            <a:off x="15902640" y="762120"/>
            <a:ext cx="14133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§ 01 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舞台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0312415" name="Text 4"/>
          <p:cNvSpPr/>
          <p:nvPr/>
        </p:nvSpPr>
        <p:spPr bwMode="auto">
          <a:xfrm>
            <a:off x="1047600" y="1600200"/>
            <a:ext cx="79462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御杖村 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奈良県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530276" name="Text 5"/>
          <p:cNvSpPr/>
          <p:nvPr/>
        </p:nvSpPr>
        <p:spPr bwMode="auto">
          <a:xfrm>
            <a:off x="1047600" y="2104920"/>
            <a:ext cx="7946280" cy="44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17000"/>
              </a:lnSpc>
              <a:tabLst>
                <a:tab pos="0" algn="l"/>
              </a:tabLst>
              <a:defRPr/>
            </a:pPr>
            <a:r>
              <a:rPr lang="zh-CN" sz="5850" b="1" u="none" strike="noStrike" spc="-28">
                <a:solidFill>
                  <a:srgbClr val="1F2A24"/>
                </a:solidFill>
                <a:latin typeface="Noto Serif JP"/>
                <a:ea typeface="Noto Serif JP"/>
              </a:rPr>
              <a:t>空き校舎がひとつ。 </a:t>
            </a:r>
            <a:r>
              <a:rPr lang="zh-CN" sz="5850" b="1" u="none" strike="noStrike" spc="-28">
                <a:solidFill>
                  <a:srgbClr val="C4663A"/>
                </a:solidFill>
                <a:latin typeface="Noto Serif JP"/>
                <a:ea typeface="Noto Serif JP"/>
              </a:rPr>
              <a:t>疲れた森林がひとつ。 </a:t>
            </a:r>
            <a:r>
              <a:rPr lang="zh-CN" sz="5850" b="1" u="none" strike="noStrike" spc="-28">
                <a:solidFill>
                  <a:srgbClr val="1F2A24"/>
                </a:solidFill>
                <a:latin typeface="Noto Serif JP"/>
                <a:ea typeface="Noto Serif JP"/>
              </a:rPr>
              <a:t>短いアイデアのリストがひとつ。</a:t>
            </a:r>
            <a:endParaRPr lang="en-US" sz="58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2408367" name="Text 6"/>
          <p:cNvSpPr/>
          <p:nvPr/>
        </p:nvSpPr>
        <p:spPr bwMode="auto">
          <a:xfrm>
            <a:off x="1047600" y="6284880"/>
            <a:ext cx="7009920" cy="179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御杖は奈良県の山あいの村。小学校は2021年に中学校と統合・新校舎へ移転し、旧校舎は空き家となっています。周辺の杉人工林は老齢化して管理されていません。電力網も脆弱です。日本の農村ではよくあること——それこそが要点です。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1083202" name="Text 7"/>
          <p:cNvSpPr/>
          <p:nvPr/>
        </p:nvSpPr>
        <p:spPr bwMode="auto">
          <a:xfrm>
            <a:off x="1047600" y="8311680"/>
            <a:ext cx="7009920" cy="91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ここで小規模かつ丁寧な介入が機能すれば、同じ課題を抱える千の村にコピーできるはずです。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1631008" name="Shape 8"/>
          <p:cNvSpPr/>
          <p:nvPr/>
        </p:nvSpPr>
        <p:spPr bwMode="auto">
          <a:xfrm>
            <a:off x="9524880" y="1600200"/>
            <a:ext cx="7714800" cy="457920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8147217" name="Text 9"/>
          <p:cNvSpPr/>
          <p:nvPr/>
        </p:nvSpPr>
        <p:spPr bwMode="auto">
          <a:xfrm>
            <a:off x="9839160" y="1914480"/>
            <a:ext cx="7299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座標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5653186" name="Text 10"/>
          <p:cNvSpPr/>
          <p:nvPr/>
        </p:nvSpPr>
        <p:spPr bwMode="auto">
          <a:xfrm>
            <a:off x="9839160" y="2381400"/>
            <a:ext cx="7299000" cy="131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  <a:defRPr/>
            </a:pPr>
            <a:r>
              <a:rPr lang="en-US" sz="4800" b="0" u="none" strike="noStrike" spc="-23">
                <a:solidFill>
                  <a:srgbClr val="1F2A24"/>
                </a:solidFill>
                <a:latin typeface="Georgia"/>
                <a:ea typeface="Georgia"/>
              </a:rPr>
              <a:t>34.4194° N 136.0511° E</a:t>
            </a:r>
            <a:endParaRPr lang="en-US" sz="4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487519" name="Shape 11"/>
          <p:cNvSpPr/>
          <p:nvPr/>
        </p:nvSpPr>
        <p:spPr bwMode="auto">
          <a:xfrm>
            <a:off x="9839160" y="3890160"/>
            <a:ext cx="7086240" cy="9000"/>
          </a:xfrm>
          <a:prstGeom prst="rect">
            <a:avLst/>
          </a:prstGeom>
          <a:solidFill>
            <a:srgbClr val="1F2A24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3798128" name="Text 12"/>
          <p:cNvSpPr/>
          <p:nvPr/>
        </p:nvSpPr>
        <p:spPr bwMode="auto">
          <a:xfrm>
            <a:off x="9839160" y="4128120"/>
            <a:ext cx="35510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人口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2602763" name="Text 13"/>
          <p:cNvSpPr/>
          <p:nvPr/>
        </p:nvSpPr>
        <p:spPr bwMode="auto">
          <a:xfrm>
            <a:off x="9839160" y="4461480"/>
            <a:ext cx="355104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150" b="0" u="none" strike="noStrike" spc="-17">
                <a:solidFill>
                  <a:srgbClr val="1F2A24"/>
                </a:solidFill>
                <a:latin typeface="Georgia"/>
                <a:ea typeface="Georgia"/>
              </a:rPr>
              <a:t>≈ 1,400</a:t>
            </a:r>
            <a:endParaRPr lang="en-US" sz="31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391059" name="Text 14"/>
          <p:cNvSpPr/>
          <p:nvPr/>
        </p:nvSpPr>
        <p:spPr bwMode="auto">
          <a:xfrm>
            <a:off x="13478040" y="4128120"/>
            <a:ext cx="35510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統合移転年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172923" name="Text 15"/>
          <p:cNvSpPr/>
          <p:nvPr/>
        </p:nvSpPr>
        <p:spPr bwMode="auto">
          <a:xfrm>
            <a:off x="13478040" y="4461480"/>
            <a:ext cx="355104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150" b="0" u="none" strike="noStrike" spc="-17">
                <a:solidFill>
                  <a:srgbClr val="1F2A24"/>
                </a:solidFill>
                <a:latin typeface="Georgia"/>
                <a:ea typeface="Georgia"/>
              </a:rPr>
              <a:t>2020</a:t>
            </a:r>
            <a:endParaRPr lang="en-US" sz="31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1557903" name="Text 16"/>
          <p:cNvSpPr/>
          <p:nvPr/>
        </p:nvSpPr>
        <p:spPr bwMode="auto">
          <a:xfrm>
            <a:off x="9839160" y="5092200"/>
            <a:ext cx="35510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森林率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2293559" name="Text 17"/>
          <p:cNvSpPr/>
          <p:nvPr/>
        </p:nvSpPr>
        <p:spPr bwMode="auto">
          <a:xfrm>
            <a:off x="9839160" y="5425560"/>
            <a:ext cx="355104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150" b="0" u="none" strike="noStrike" spc="-17">
                <a:solidFill>
                  <a:srgbClr val="1F2A24"/>
                </a:solidFill>
                <a:latin typeface="Georgia"/>
                <a:ea typeface="Georgia"/>
              </a:rPr>
              <a:t>≈ 93%</a:t>
            </a:r>
            <a:endParaRPr lang="en-US" sz="31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3198876" name="Text 18"/>
          <p:cNvSpPr/>
          <p:nvPr/>
        </p:nvSpPr>
        <p:spPr bwMode="auto">
          <a:xfrm>
            <a:off x="13478040" y="5092200"/>
            <a:ext cx="35510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計画期間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2101145" name="Text 19"/>
          <p:cNvSpPr/>
          <p:nvPr/>
        </p:nvSpPr>
        <p:spPr bwMode="auto">
          <a:xfrm>
            <a:off x="13478040" y="5425560"/>
            <a:ext cx="355104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1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25</a:t>
            </a:r>
            <a:r>
              <a:rPr lang="zh-CN" sz="31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年</a:t>
            </a:r>
            <a:endParaRPr lang="en-US" sz="31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4256938" name="Text 20"/>
          <p:cNvSpPr/>
          <p:nvPr/>
        </p:nvSpPr>
        <p:spPr bwMode="auto">
          <a:xfrm>
            <a:off x="9524880" y="6313320"/>
            <a:ext cx="79462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農村再生、ただし静かに。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935062" name="Text 21"/>
          <p:cNvSpPr/>
          <p:nvPr/>
        </p:nvSpPr>
        <p:spPr bwMode="auto">
          <a:xfrm flipH="0" flipV="0">
            <a:off x="1047600" y="9530280"/>
            <a:ext cx="1057868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02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2809202" name="Text 22"/>
          <p:cNvSpPr/>
          <p:nvPr/>
        </p:nvSpPr>
        <p:spPr bwMode="auto">
          <a:xfrm>
            <a:off x="16219440" y="9530280"/>
            <a:ext cx="10965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mitsue.it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7784983" name="Shape 0"/>
          <p:cNvSpPr/>
          <p:nvPr/>
        </p:nvSpPr>
        <p:spPr bwMode="auto">
          <a:xfrm>
            <a:off x="1047600" y="762120"/>
            <a:ext cx="456840" cy="45684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7291212" name="Text 1"/>
          <p:cNvSpPr/>
          <p:nvPr/>
        </p:nvSpPr>
        <p:spPr bwMode="auto">
          <a:xfrm>
            <a:off x="1047600" y="762120"/>
            <a:ext cx="5331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5081152" name="Text 2"/>
          <p:cNvSpPr/>
          <p:nvPr/>
        </p:nvSpPr>
        <p:spPr bwMode="auto">
          <a:xfrm>
            <a:off x="1638360" y="8240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792254" name="Text 3"/>
          <p:cNvSpPr/>
          <p:nvPr/>
        </p:nvSpPr>
        <p:spPr bwMode="auto">
          <a:xfrm>
            <a:off x="13480200" y="762120"/>
            <a:ext cx="3872519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§ 02 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四つの圧力、ひとつの解答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5676503" name="Text 4"/>
          <p:cNvSpPr/>
          <p:nvPr/>
        </p:nvSpPr>
        <p:spPr bwMode="auto">
          <a:xfrm>
            <a:off x="1047600" y="1619280"/>
            <a:ext cx="10344240" cy="177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20000"/>
              </a:lnSpc>
              <a:tabLst>
                <a:tab pos="0" algn="l"/>
              </a:tabLst>
              <a:defRPr/>
            </a:pPr>
            <a:r>
              <a:rPr lang="zh-CN" sz="5700" b="1" u="none" strike="noStrike" spc="-28">
                <a:solidFill>
                  <a:srgbClr val="1F2A24"/>
                </a:solidFill>
                <a:latin typeface="Noto Serif JP"/>
                <a:ea typeface="Noto Serif JP"/>
              </a:rPr>
              <a:t>別々だと高くつく問題が、 </a:t>
            </a:r>
            <a:r>
              <a:rPr lang="zh-CN" sz="5700" b="1" u="none" strike="noStrike" spc="-28">
                <a:solidFill>
                  <a:srgbClr val="C4663A"/>
                </a:solidFill>
                <a:latin typeface="Noto Serif JP"/>
                <a:ea typeface="Noto Serif JP"/>
              </a:rPr>
              <a:t>一緒に取り組むと安くなる。</a:t>
            </a:r>
            <a:endParaRPr lang="en-US" sz="57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4607199" name="Text 5"/>
          <p:cNvSpPr/>
          <p:nvPr/>
        </p:nvSpPr>
        <p:spPr bwMode="auto">
          <a:xfrm>
            <a:off x="1047600" y="3489840"/>
            <a:ext cx="16678079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0" u="none" strike="noStrike">
                <a:solidFill>
                  <a:srgbClr val="4C554F"/>
                </a:solidFill>
                <a:latin typeface="Noto Serif JP"/>
                <a:ea typeface="Noto Serif JP"/>
              </a:rPr>
              <a:t>四つの構造的圧力、ひとつの農村型解答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192181" name="Shape 6"/>
          <p:cNvSpPr/>
          <p:nvPr/>
        </p:nvSpPr>
        <p:spPr bwMode="auto">
          <a:xfrm>
            <a:off x="1047600" y="4232880"/>
            <a:ext cx="3833280" cy="18720"/>
          </a:xfrm>
          <a:prstGeom prst="rect">
            <a:avLst/>
          </a:prstGeom>
          <a:solidFill>
            <a:srgbClr val="1F2A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7083871" name="Text 7"/>
          <p:cNvSpPr/>
          <p:nvPr/>
        </p:nvSpPr>
        <p:spPr bwMode="auto">
          <a:xfrm>
            <a:off x="1047600" y="4518720"/>
            <a:ext cx="39484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01 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エネルギー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74602087" name="Image 0" descr="preencoded.png"/>
          <p:cNvPicPr/>
          <p:nvPr/>
        </p:nvPicPr>
        <p:blipFill rotWithShape="1">
          <a:blip r:embed="rId3"/>
          <a:stretch/>
        </p:blipFill>
        <p:spPr bwMode="auto">
          <a:xfrm>
            <a:off x="1047600" y="5042520"/>
            <a:ext cx="3833280" cy="114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044135" name="Text 8"/>
          <p:cNvSpPr/>
          <p:nvPr/>
        </p:nvSpPr>
        <p:spPr bwMode="auto">
          <a:xfrm>
            <a:off x="1047600" y="6375960"/>
            <a:ext cx="394848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25000"/>
              </a:lnSpc>
              <a:tabLst>
                <a:tab pos="0" algn="l"/>
              </a:tabLst>
              <a:defRPr/>
            </a:pPr>
            <a:r>
              <a:rPr lang="en-US" sz="240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EV</a:t>
            </a:r>
            <a:r>
              <a:rPr lang="zh-CN" sz="240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時代が来る。</a:t>
            </a:r>
            <a:endParaRPr lang="en-US" sz="2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7391438" name="Text 9"/>
          <p:cNvSpPr/>
          <p:nvPr/>
        </p:nvSpPr>
        <p:spPr bwMode="auto">
          <a:xfrm>
            <a:off x="1047600" y="7080840"/>
            <a:ext cx="3948480" cy="145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約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10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年で日本の乗用車の大半が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EV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に。農村の電力網には新たな分散電源が必要。送電線の延伸は遅く、高コストです。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1933813" name="Shape 10"/>
          <p:cNvSpPr/>
          <p:nvPr/>
        </p:nvSpPr>
        <p:spPr bwMode="auto">
          <a:xfrm>
            <a:off x="5167440" y="4232880"/>
            <a:ext cx="3833280" cy="18720"/>
          </a:xfrm>
          <a:prstGeom prst="rect">
            <a:avLst/>
          </a:prstGeom>
          <a:solidFill>
            <a:srgbClr val="1F2A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2994988" name="Text 11"/>
          <p:cNvSpPr/>
          <p:nvPr/>
        </p:nvSpPr>
        <p:spPr bwMode="auto">
          <a:xfrm>
            <a:off x="5167440" y="4518720"/>
            <a:ext cx="39484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02 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森林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91595990" name="Image 1" descr="preencoded.png"/>
          <p:cNvPicPr/>
          <p:nvPr/>
        </p:nvPicPr>
        <p:blipFill rotWithShape="1">
          <a:blip r:embed="rId4"/>
          <a:stretch/>
        </p:blipFill>
        <p:spPr bwMode="auto">
          <a:xfrm>
            <a:off x="5167440" y="5042520"/>
            <a:ext cx="3833280" cy="114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23310150" name="Text 12"/>
          <p:cNvSpPr/>
          <p:nvPr/>
        </p:nvSpPr>
        <p:spPr bwMode="auto">
          <a:xfrm>
            <a:off x="5167440" y="6375960"/>
            <a:ext cx="394848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25000"/>
              </a:lnSpc>
              <a:tabLst>
                <a:tab pos="0" algn="l"/>
              </a:tabLst>
              <a:defRPr/>
            </a:pPr>
            <a:r>
              <a:rPr lang="zh-CN" sz="240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杉は負債——そして燃料。</a:t>
            </a:r>
            <a:endParaRPr lang="en-US" sz="2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4771887" name="Text 13"/>
          <p:cNvSpPr/>
          <p:nvPr/>
        </p:nvSpPr>
        <p:spPr bwMode="auto">
          <a:xfrm>
            <a:off x="5167440" y="7080840"/>
            <a:ext cx="3948480" cy="145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老齢化した杉人工林——花粉、生物多様性の喪失、土砂崩れリスク。伐採すれば村を動かし、植え替えれば森を再生します。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8697149" name="Shape 14"/>
          <p:cNvSpPr/>
          <p:nvPr/>
        </p:nvSpPr>
        <p:spPr bwMode="auto">
          <a:xfrm>
            <a:off x="9286920" y="4232880"/>
            <a:ext cx="3833280" cy="18720"/>
          </a:xfrm>
          <a:prstGeom prst="rect">
            <a:avLst/>
          </a:prstGeom>
          <a:solidFill>
            <a:srgbClr val="1F2A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0021494" name="Text 15"/>
          <p:cNvSpPr/>
          <p:nvPr/>
        </p:nvSpPr>
        <p:spPr bwMode="auto">
          <a:xfrm>
            <a:off x="9286920" y="4518720"/>
            <a:ext cx="39484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03 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遊休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91452114" name="Image 2" descr="preencoded.png"/>
          <p:cNvPicPr/>
          <p:nvPr/>
        </p:nvPicPr>
        <p:blipFill rotWithShape="1">
          <a:blip r:embed="rId5"/>
          <a:stretch/>
        </p:blipFill>
        <p:spPr bwMode="auto">
          <a:xfrm>
            <a:off x="9286920" y="5042520"/>
            <a:ext cx="3833280" cy="114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88444737" name="Text 16"/>
          <p:cNvSpPr/>
          <p:nvPr/>
        </p:nvSpPr>
        <p:spPr bwMode="auto">
          <a:xfrm>
            <a:off x="9286920" y="6267960"/>
            <a:ext cx="3948480" cy="79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  <a:defRPr/>
            </a:pPr>
            <a:r>
              <a:rPr lang="zh-CN" sz="240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学校はただ放置されている。</a:t>
            </a:r>
            <a:endParaRPr lang="en-US" sz="2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4120650" name="Text 17"/>
          <p:cNvSpPr/>
          <p:nvPr/>
        </p:nvSpPr>
        <p:spPr bwMode="auto">
          <a:xfrm>
            <a:off x="9286920" y="7101720"/>
            <a:ext cx="3948480" cy="11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空き校舎は人口減少自治体の維持費負担。生産的な再利用で、地域の拠点に変わります。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4951067" name="Shape 18"/>
          <p:cNvSpPr/>
          <p:nvPr/>
        </p:nvSpPr>
        <p:spPr bwMode="auto">
          <a:xfrm>
            <a:off x="13406400" y="4232880"/>
            <a:ext cx="3833280" cy="18720"/>
          </a:xfrm>
          <a:prstGeom prst="rect">
            <a:avLst/>
          </a:prstGeom>
          <a:solidFill>
            <a:srgbClr val="1F2A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1846709" name="Text 19"/>
          <p:cNvSpPr/>
          <p:nvPr/>
        </p:nvSpPr>
        <p:spPr bwMode="auto">
          <a:xfrm>
            <a:off x="13406400" y="4518720"/>
            <a:ext cx="39484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04 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デジタル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04531516" name="Image 3" descr="preencoded.png"/>
          <p:cNvPicPr/>
          <p:nvPr/>
        </p:nvPicPr>
        <p:blipFill rotWithShape="1">
          <a:blip r:embed="rId6"/>
          <a:stretch/>
        </p:blipFill>
        <p:spPr bwMode="auto">
          <a:xfrm>
            <a:off x="13406400" y="5042520"/>
            <a:ext cx="3833280" cy="114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10706669" name="Text 20"/>
          <p:cNvSpPr/>
          <p:nvPr/>
        </p:nvSpPr>
        <p:spPr bwMode="auto">
          <a:xfrm>
            <a:off x="13406400" y="6339960"/>
            <a:ext cx="3948480" cy="79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25000"/>
              </a:lnSpc>
              <a:tabLst>
                <a:tab pos="0" algn="l"/>
              </a:tabLst>
              <a:defRPr/>
            </a:pPr>
            <a:r>
              <a:rPr lang="zh-CN" sz="240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農村の計算資源は不足している。</a:t>
            </a:r>
            <a:endParaRPr lang="en-US" sz="2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210511" name="Text 21"/>
          <p:cNvSpPr/>
          <p:nvPr/>
        </p:nvSpPr>
        <p:spPr bwMode="auto">
          <a:xfrm>
            <a:off x="13406400" y="7139880"/>
            <a:ext cx="3948480" cy="86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77500"/>
          </a:bodyPr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ブロードバンドとエッジ計算は都市に遅れる。小さなデータセンターが、地域電源で両方を一気に補います。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74419" name="Text 22"/>
          <p:cNvSpPr/>
          <p:nvPr/>
        </p:nvSpPr>
        <p:spPr bwMode="auto">
          <a:xfrm flipH="0" flipV="0">
            <a:off x="1047600" y="9191520"/>
            <a:ext cx="1375368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03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0691820" name="Text 23"/>
          <p:cNvSpPr/>
          <p:nvPr/>
        </p:nvSpPr>
        <p:spPr bwMode="auto">
          <a:xfrm>
            <a:off x="13487400" y="8229600"/>
            <a:ext cx="369036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77500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別々だと高い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まとめれば解ける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2F4A3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7991443" name="Shape 0"/>
          <p:cNvSpPr/>
          <p:nvPr/>
        </p:nvSpPr>
        <p:spPr bwMode="auto">
          <a:xfrm>
            <a:off x="1047600" y="762120"/>
            <a:ext cx="456840" cy="456840"/>
          </a:xfrm>
          <a:prstGeom prst="ellipse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8640568" name="Text 1"/>
          <p:cNvSpPr/>
          <p:nvPr/>
        </p:nvSpPr>
        <p:spPr bwMode="auto">
          <a:xfrm>
            <a:off x="1047600" y="762120"/>
            <a:ext cx="5331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2F4A37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8535726" name="Text 2"/>
          <p:cNvSpPr/>
          <p:nvPr/>
        </p:nvSpPr>
        <p:spPr bwMode="auto">
          <a:xfrm>
            <a:off x="1638360" y="8240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5909365" name="Text 3"/>
          <p:cNvSpPr/>
          <p:nvPr/>
        </p:nvSpPr>
        <p:spPr bwMode="auto">
          <a:xfrm>
            <a:off x="15902640" y="762120"/>
            <a:ext cx="14133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§ 03 · </a:t>
            </a:r>
            <a:r>
              <a:rPr lang="zh-CN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構想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7292284" name="Text 4"/>
          <p:cNvSpPr/>
          <p:nvPr/>
        </p:nvSpPr>
        <p:spPr bwMode="auto">
          <a:xfrm>
            <a:off x="1047600" y="1383120"/>
            <a:ext cx="16678079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三つの活動 </a:t>
            </a:r>
            <a:r>
              <a:rPr lang="en-US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ひとつの主体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1483783" name="Text 5"/>
          <p:cNvSpPr/>
          <p:nvPr/>
        </p:nvSpPr>
        <p:spPr bwMode="auto">
          <a:xfrm>
            <a:off x="1047600" y="2021040"/>
            <a:ext cx="15513480" cy="30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05000"/>
              </a:lnSpc>
              <a:tabLst>
                <a:tab pos="0" algn="l"/>
              </a:tabLst>
              <a:defRPr/>
            </a:pPr>
            <a:r>
              <a:rPr lang="zh-CN" sz="11400" b="1" u="none" strike="noStrike" spc="-57">
                <a:solidFill>
                  <a:srgbClr val="F3ECE0"/>
                </a:solidFill>
                <a:latin typeface="Noto Serif JP"/>
                <a:ea typeface="Noto Serif JP"/>
              </a:rPr>
              <a:t>森林。電力。 計算。</a:t>
            </a:r>
            <a:r>
              <a:rPr lang="zh-CN" sz="11400" b="1" u="none" strike="noStrike" spc="-57">
                <a:solidFill>
                  <a:srgbClr val="F3B486"/>
                </a:solidFill>
                <a:latin typeface="Noto Serif JP"/>
                <a:ea typeface="Noto Serif JP"/>
              </a:rPr>
              <a:t>一つの台帳で。</a:t>
            </a:r>
            <a:endParaRPr lang="en-US" sz="11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1923071" name="Text 6"/>
          <p:cNvSpPr/>
          <p:nvPr/>
        </p:nvSpPr>
        <p:spPr bwMode="auto">
          <a:xfrm>
            <a:off x="1047600" y="5461560"/>
            <a:ext cx="16678079" cy="4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2400" b="0" u="none" strike="noStrike">
                <a:solidFill>
                  <a:srgbClr val="F3ECE0">
                    <a:alpha val="60000"/>
                  </a:srgbClr>
                </a:solidFill>
                <a:latin typeface="Noto Serif JP"/>
                <a:ea typeface="Noto Serif JP"/>
              </a:rPr>
              <a:t>森林再生・分散型再生可能エネルギー・地域所有のデータセンター — 一つの台帳で。</a:t>
            </a:r>
            <a:endParaRPr lang="en-US" sz="2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1661197" name="Text 7"/>
          <p:cNvSpPr/>
          <p:nvPr/>
        </p:nvSpPr>
        <p:spPr bwMode="auto">
          <a:xfrm>
            <a:off x="1047600" y="6576120"/>
            <a:ext cx="51667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I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0592720" name="Text 8"/>
          <p:cNvSpPr/>
          <p:nvPr/>
        </p:nvSpPr>
        <p:spPr bwMode="auto">
          <a:xfrm>
            <a:off x="1047600" y="6985800"/>
            <a:ext cx="5166720" cy="60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zh-CN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森林再生</a:t>
            </a:r>
            <a:endParaRPr lang="en-US" sz="39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2385276" name="Text 9"/>
          <p:cNvSpPr/>
          <p:nvPr/>
        </p:nvSpPr>
        <p:spPr bwMode="auto">
          <a:xfrm>
            <a:off x="1047600" y="7688520"/>
            <a:ext cx="5166720" cy="79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老齢杉 → 在来広葉樹、生態系の時計に合わせて。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9464473" name="Text 10"/>
          <p:cNvSpPr/>
          <p:nvPr/>
        </p:nvSpPr>
        <p:spPr bwMode="auto">
          <a:xfrm>
            <a:off x="6635880" y="6576120"/>
            <a:ext cx="51667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II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3363936" name="Text 11"/>
          <p:cNvSpPr/>
          <p:nvPr/>
        </p:nvSpPr>
        <p:spPr bwMode="auto">
          <a:xfrm>
            <a:off x="6635880" y="6985800"/>
            <a:ext cx="5166720" cy="60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zh-CN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地域電源 </a:t>
            </a:r>
            <a:r>
              <a:rPr lang="en-US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+ EV</a:t>
            </a:r>
            <a:endParaRPr lang="en-US" sz="39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8178793" name="Text 12"/>
          <p:cNvSpPr/>
          <p:nvPr/>
        </p:nvSpPr>
        <p:spPr bwMode="auto">
          <a:xfrm>
            <a:off x="6635880" y="7688520"/>
            <a:ext cx="5166720" cy="79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杉バイオマス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(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伐採材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)+ 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太陽光 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+ 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蓄電。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EV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充電と停電耐性を内蔵。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1482316" name="Text 13"/>
          <p:cNvSpPr/>
          <p:nvPr/>
        </p:nvSpPr>
        <p:spPr bwMode="auto">
          <a:xfrm>
            <a:off x="12223800" y="6576120"/>
            <a:ext cx="51667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III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3767296" name="Text 14"/>
          <p:cNvSpPr/>
          <p:nvPr/>
        </p:nvSpPr>
        <p:spPr bwMode="auto">
          <a:xfrm>
            <a:off x="12223800" y="6985800"/>
            <a:ext cx="5166720" cy="117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zh-CN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エッジ・データセンター</a:t>
            </a:r>
            <a:endParaRPr lang="en-US" sz="39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6907736" name="Text 15"/>
          <p:cNvSpPr/>
          <p:nvPr/>
        </p:nvSpPr>
        <p:spPr bwMode="auto">
          <a:xfrm>
            <a:off x="12223800" y="7718039"/>
            <a:ext cx="5166720" cy="41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旧校舎を再利用。村が所有できる規模で。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0854606" name="Text 16"/>
          <p:cNvSpPr/>
          <p:nvPr/>
        </p:nvSpPr>
        <p:spPr bwMode="auto">
          <a:xfrm flipH="0" flipV="0">
            <a:off x="1047600" y="9191520"/>
            <a:ext cx="1157087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04 / 11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7908144" name="Text 17"/>
          <p:cNvSpPr/>
          <p:nvPr/>
        </p:nvSpPr>
        <p:spPr bwMode="auto">
          <a:xfrm>
            <a:off x="12229200" y="8219520"/>
            <a:ext cx="53834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互いに支え合う。規模は控えめ、時間軸は長く。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7567861" name="Shape 0"/>
          <p:cNvSpPr/>
          <p:nvPr/>
        </p:nvSpPr>
        <p:spPr bwMode="auto">
          <a:xfrm>
            <a:off x="1047600" y="762120"/>
            <a:ext cx="456840" cy="45684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1662461" name="Text 1"/>
          <p:cNvSpPr/>
          <p:nvPr/>
        </p:nvSpPr>
        <p:spPr bwMode="auto">
          <a:xfrm>
            <a:off x="1047600" y="762120"/>
            <a:ext cx="5331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0584295" name="Text 2"/>
          <p:cNvSpPr/>
          <p:nvPr/>
        </p:nvSpPr>
        <p:spPr bwMode="auto">
          <a:xfrm>
            <a:off x="1638360" y="8240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024144" name="Text 3"/>
          <p:cNvSpPr/>
          <p:nvPr/>
        </p:nvSpPr>
        <p:spPr bwMode="auto">
          <a:xfrm>
            <a:off x="15925680" y="762120"/>
            <a:ext cx="13903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I 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森林再生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9139451" name="Text 4"/>
          <p:cNvSpPr/>
          <p:nvPr/>
        </p:nvSpPr>
        <p:spPr bwMode="auto">
          <a:xfrm>
            <a:off x="1047600" y="1695600"/>
            <a:ext cx="8324640" cy="145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20000"/>
              </a:lnSpc>
              <a:tabLst>
                <a:tab pos="0" algn="l"/>
              </a:tabLst>
              <a:defRPr/>
            </a:pPr>
            <a:r>
              <a:rPr lang="zh-CN" sz="4650" b="1" u="none" strike="noStrike" spc="-23">
                <a:solidFill>
                  <a:srgbClr val="1F2A24"/>
                </a:solidFill>
                <a:latin typeface="Noto Serif JP"/>
                <a:ea typeface="Noto Serif JP"/>
              </a:rPr>
              <a:t>森でクマにご飯を出し、 </a:t>
            </a:r>
            <a:r>
              <a:rPr lang="zh-CN" sz="4650" b="1" u="none" strike="noStrike" spc="-23">
                <a:solidFill>
                  <a:srgbClr val="C4663A"/>
                </a:solidFill>
                <a:latin typeface="Noto Serif JP"/>
                <a:ea typeface="Noto Serif JP"/>
              </a:rPr>
              <a:t>村への訪問を止めてもらう。</a:t>
            </a:r>
            <a:endParaRPr lang="en-US" sz="46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5261052" name="Text 5"/>
          <p:cNvSpPr/>
          <p:nvPr/>
        </p:nvSpPr>
        <p:spPr bwMode="auto">
          <a:xfrm>
            <a:off x="1047600" y="3265200"/>
            <a:ext cx="7009920" cy="179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老齢化した杉人工林を、在来広葉樹</a:t>
            </a:r>
            <a:r>
              <a:rPr lang="en-US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(</a:t>
            </a: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ナラ、クリ、コナラ</a:t>
            </a:r>
            <a:r>
              <a:rPr lang="en-US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)</a:t>
            </a: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に段階的に置き換えます。地主と林野庁との協働。</a:t>
            </a:r>
            <a:r>
              <a:rPr lang="en-US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25</a:t>
            </a: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年という時間軸は、生態系の時計であって資金繰りの周期ではありません。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9604795" name="Text 6"/>
          <p:cNvSpPr/>
          <p:nvPr/>
        </p:nvSpPr>
        <p:spPr bwMode="auto">
          <a:xfrm>
            <a:off x="1047600" y="5292000"/>
            <a:ext cx="7009920" cy="135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伐採した杉は無駄になりません——村の主要なバイオマス燃料となります。森が自らの再生費用を生み出します。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3920334" name="Text 7"/>
          <p:cNvSpPr/>
          <p:nvPr/>
        </p:nvSpPr>
        <p:spPr bwMode="auto">
          <a:xfrm>
            <a:off x="1065959" y="6640920"/>
            <a:ext cx="7009920" cy="135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広葉樹はどんぐりや木の実を生み、シカ、イノシシ、クマの冬の食料となります。森が彼らを養えば、彼らは森に留まり、村の畑には来ません。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2583266" name="Shape 8"/>
          <p:cNvSpPr/>
          <p:nvPr/>
        </p:nvSpPr>
        <p:spPr bwMode="auto">
          <a:xfrm>
            <a:off x="1065959" y="8227800"/>
            <a:ext cx="8082360" cy="9000"/>
          </a:xfrm>
          <a:prstGeom prst="rect">
            <a:avLst/>
          </a:prstGeom>
          <a:solidFill>
            <a:srgbClr val="1F2A24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1988100" name="Text 9"/>
          <p:cNvSpPr/>
          <p:nvPr/>
        </p:nvSpPr>
        <p:spPr bwMode="auto">
          <a:xfrm>
            <a:off x="1065959" y="8389800"/>
            <a:ext cx="25794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花粉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7098632" name="Text 10"/>
          <p:cNvSpPr/>
          <p:nvPr/>
        </p:nvSpPr>
        <p:spPr bwMode="auto">
          <a:xfrm>
            <a:off x="1065959" y="8723159"/>
            <a:ext cx="2579400" cy="51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4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↓ 減少</a:t>
            </a:r>
            <a:endParaRPr lang="en-US" sz="34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1214024" name="Text 11"/>
          <p:cNvSpPr/>
          <p:nvPr/>
        </p:nvSpPr>
        <p:spPr bwMode="auto">
          <a:xfrm>
            <a:off x="3855599" y="8389800"/>
            <a:ext cx="25794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土砂崩れリスク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3954453" name="Text 12"/>
          <p:cNvSpPr/>
          <p:nvPr/>
        </p:nvSpPr>
        <p:spPr bwMode="auto">
          <a:xfrm>
            <a:off x="3855599" y="8723159"/>
            <a:ext cx="2579400" cy="51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4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↓ 減少</a:t>
            </a:r>
            <a:endParaRPr lang="en-US" sz="34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5312755" name="Text 13"/>
          <p:cNvSpPr/>
          <p:nvPr/>
        </p:nvSpPr>
        <p:spPr bwMode="auto">
          <a:xfrm>
            <a:off x="6644880" y="8389800"/>
            <a:ext cx="25794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在来林冠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030908" name="Text 14"/>
          <p:cNvSpPr/>
          <p:nvPr/>
        </p:nvSpPr>
        <p:spPr bwMode="auto">
          <a:xfrm>
            <a:off x="6644880" y="8723159"/>
            <a:ext cx="2579400" cy="51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4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↑ 増加</a:t>
            </a:r>
            <a:endParaRPr lang="en-US" sz="34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3554347" name="Shape 15"/>
          <p:cNvSpPr/>
          <p:nvPr/>
        </p:nvSpPr>
        <p:spPr bwMode="auto">
          <a:xfrm>
            <a:off x="9892440" y="1695600"/>
            <a:ext cx="7347600" cy="375912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990931" name="Text 16"/>
          <p:cNvSpPr/>
          <p:nvPr/>
        </p:nvSpPr>
        <p:spPr bwMode="auto">
          <a:xfrm>
            <a:off x="10168560" y="1971720"/>
            <a:ext cx="69991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変更前 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杉人工林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85904654" name="Image 0" descr="preencoded.png"/>
          <p:cNvPicPr/>
          <p:nvPr/>
        </p:nvPicPr>
        <p:blipFill rotWithShape="1">
          <a:blip r:embed="rId3"/>
          <a:stretch/>
        </p:blipFill>
        <p:spPr bwMode="auto">
          <a:xfrm>
            <a:off x="10168560" y="2476440"/>
            <a:ext cx="6795000" cy="1523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10152782" name="Text 17"/>
          <p:cNvSpPr/>
          <p:nvPr/>
        </p:nvSpPr>
        <p:spPr bwMode="auto">
          <a:xfrm>
            <a:off x="10168560" y="4048200"/>
            <a:ext cx="6009480" cy="41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単一栽培。花粉。静かな地表。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9641058" name="Shape 18"/>
          <p:cNvSpPr/>
          <p:nvPr/>
        </p:nvSpPr>
        <p:spPr bwMode="auto">
          <a:xfrm>
            <a:off x="9892440" y="5683680"/>
            <a:ext cx="7347600" cy="375912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841682" name="Text 19"/>
          <p:cNvSpPr/>
          <p:nvPr/>
        </p:nvSpPr>
        <p:spPr bwMode="auto">
          <a:xfrm>
            <a:off x="10168560" y="5959800"/>
            <a:ext cx="69991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変更後 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在来広葉樹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61062874" name="Image 1" descr="preencoded.png"/>
          <p:cNvPicPr/>
          <p:nvPr/>
        </p:nvPicPr>
        <p:blipFill rotWithShape="1">
          <a:blip r:embed="rId4"/>
          <a:stretch/>
        </p:blipFill>
        <p:spPr bwMode="auto">
          <a:xfrm>
            <a:off x="10168560" y="6464520"/>
            <a:ext cx="6795000" cy="1523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1831094" name="Text 20"/>
          <p:cNvSpPr/>
          <p:nvPr/>
        </p:nvSpPr>
        <p:spPr bwMode="auto">
          <a:xfrm>
            <a:off x="10168560" y="8036280"/>
            <a:ext cx="6009480" cy="41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混交林。どんぐり。シカは森で食べ、大根は無事。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1299510" name="Text 21"/>
          <p:cNvSpPr/>
          <p:nvPr/>
        </p:nvSpPr>
        <p:spPr bwMode="auto">
          <a:xfrm flipH="0" flipV="0">
            <a:off x="1047600" y="9443160"/>
            <a:ext cx="1236462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05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4417979" name="Text 22"/>
          <p:cNvSpPr/>
          <p:nvPr/>
        </p:nvSpPr>
        <p:spPr bwMode="auto">
          <a:xfrm>
            <a:off x="13005720" y="9443160"/>
            <a:ext cx="43614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杉 → 広葉樹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25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年周期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生態系の均衡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2289921" name="Shape 0"/>
          <p:cNvSpPr/>
          <p:nvPr/>
        </p:nvSpPr>
        <p:spPr bwMode="auto">
          <a:xfrm>
            <a:off x="1047600" y="762120"/>
            <a:ext cx="456840" cy="45684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2541618" name="Text 1"/>
          <p:cNvSpPr/>
          <p:nvPr/>
        </p:nvSpPr>
        <p:spPr bwMode="auto">
          <a:xfrm>
            <a:off x="1047600" y="762120"/>
            <a:ext cx="5331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4494260" name="Text 2"/>
          <p:cNvSpPr/>
          <p:nvPr/>
        </p:nvSpPr>
        <p:spPr bwMode="auto">
          <a:xfrm>
            <a:off x="1638360" y="8240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144234" name="Text 3"/>
          <p:cNvSpPr/>
          <p:nvPr/>
        </p:nvSpPr>
        <p:spPr bwMode="auto">
          <a:xfrm>
            <a:off x="15309360" y="762120"/>
            <a:ext cx="20066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II 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地域電源と</a:t>
            </a: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EV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2498097" name="Text 4"/>
          <p:cNvSpPr/>
          <p:nvPr/>
        </p:nvSpPr>
        <p:spPr bwMode="auto">
          <a:xfrm>
            <a:off x="1047600" y="1695600"/>
            <a:ext cx="9437760" cy="223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  <a:defRPr/>
            </a:pPr>
            <a:r>
              <a:rPr lang="zh-CN" sz="4800" b="1" u="none" strike="noStrike" spc="-23">
                <a:solidFill>
                  <a:srgbClr val="1F2A24"/>
                </a:solidFill>
                <a:latin typeface="Noto Serif JP"/>
                <a:ea typeface="Noto Serif JP"/>
              </a:rPr>
              <a:t>森が村を動かす。 </a:t>
            </a:r>
            <a:r>
              <a:rPr lang="zh-CN" sz="4800" b="1" u="none" strike="noStrike" spc="-23">
                <a:solidFill>
                  <a:srgbClr val="C4663A"/>
                </a:solidFill>
                <a:latin typeface="Noto Serif JP"/>
                <a:ea typeface="Noto Serif JP"/>
              </a:rPr>
              <a:t>電力網が瞬いても </a:t>
            </a:r>
            <a:r>
              <a:rPr lang="zh-CN" sz="4800" b="1" u="none" strike="noStrike" spc="-23">
                <a:solidFill>
                  <a:srgbClr val="1F2A24"/>
                </a:solidFill>
                <a:latin typeface="Noto Serif JP"/>
                <a:ea typeface="Noto Serif JP"/>
              </a:rPr>
              <a:t>明かりは消えない。</a:t>
            </a:r>
            <a:endParaRPr lang="en-US" sz="4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8666556" name="Text 5"/>
          <p:cNvSpPr/>
          <p:nvPr/>
        </p:nvSpPr>
        <p:spPr bwMode="auto">
          <a:xfrm>
            <a:off x="1047600" y="4290120"/>
            <a:ext cx="10478160" cy="157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zh-CN" sz="195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森林転換で伐採する杉が、村の小型バイオマス発電所の主燃料となり、データセンターと</a:t>
            </a:r>
            <a:r>
              <a:rPr lang="en-US" sz="195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EV</a:t>
            </a:r>
            <a:r>
              <a:rPr lang="zh-CN" sz="195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充電器を動かします。地域の太陽光が補い、電力網はバックアップに。現地発電が、停電時にも学校・診療所・緊急設備の電源を維持します——老朽化した配電線で停電リスクは増しています。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6735210" name="Shape 6"/>
          <p:cNvSpPr/>
          <p:nvPr/>
        </p:nvSpPr>
        <p:spPr bwMode="auto">
          <a:xfrm>
            <a:off x="1047600" y="5863319"/>
            <a:ext cx="16192079" cy="281340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07808057" name="Image 0" descr="preencoded.png"/>
          <p:cNvPicPr/>
          <p:nvPr/>
        </p:nvPicPr>
        <p:blipFill rotWithShape="1">
          <a:blip r:embed="rId3"/>
          <a:stretch/>
        </p:blipFill>
        <p:spPr bwMode="auto">
          <a:xfrm>
            <a:off x="1400040" y="6215399"/>
            <a:ext cx="15487200" cy="210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8334055" name="Text 7"/>
          <p:cNvSpPr/>
          <p:nvPr/>
        </p:nvSpPr>
        <p:spPr bwMode="auto">
          <a:xfrm flipH="0" flipV="0">
            <a:off x="1047600" y="9191520"/>
            <a:ext cx="1057868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06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6567989" name="Text 8"/>
          <p:cNvSpPr/>
          <p:nvPr/>
        </p:nvSpPr>
        <p:spPr bwMode="auto">
          <a:xfrm>
            <a:off x="12618000" y="9191520"/>
            <a:ext cx="47606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杉バイオマス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太陽光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EV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充電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停電耐性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4542079" name="Shape 0"/>
          <p:cNvSpPr/>
          <p:nvPr/>
        </p:nvSpPr>
        <p:spPr bwMode="auto">
          <a:xfrm>
            <a:off x="1047600" y="762120"/>
            <a:ext cx="456840" cy="45684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960998" name="Text 1"/>
          <p:cNvSpPr/>
          <p:nvPr/>
        </p:nvSpPr>
        <p:spPr bwMode="auto">
          <a:xfrm>
            <a:off x="1047600" y="762120"/>
            <a:ext cx="5331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000128" name="Text 2"/>
          <p:cNvSpPr/>
          <p:nvPr/>
        </p:nvSpPr>
        <p:spPr bwMode="auto">
          <a:xfrm>
            <a:off x="1638360" y="8240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683873" name="Text 3"/>
          <p:cNvSpPr/>
          <p:nvPr/>
        </p:nvSpPr>
        <p:spPr bwMode="auto">
          <a:xfrm>
            <a:off x="14553000" y="762120"/>
            <a:ext cx="27673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III 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地域データセンター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5462154" name="Text 4"/>
          <p:cNvSpPr/>
          <p:nvPr/>
        </p:nvSpPr>
        <p:spPr bwMode="auto">
          <a:xfrm>
            <a:off x="1047600" y="1695600"/>
            <a:ext cx="7946280" cy="168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20000"/>
              </a:lnSpc>
              <a:tabLst>
                <a:tab pos="0" algn="l"/>
              </a:tabLst>
              <a:defRPr/>
            </a:pPr>
            <a:r>
              <a:rPr lang="zh-CN" sz="5400" b="1" u="none" strike="noStrike" spc="-28">
                <a:solidFill>
                  <a:srgbClr val="1F2A24"/>
                </a:solidFill>
                <a:latin typeface="Noto Serif JP"/>
                <a:ea typeface="Noto Serif JP"/>
              </a:rPr>
              <a:t>小学校に通う </a:t>
            </a:r>
            <a:r>
              <a:rPr lang="zh-CN" sz="5400" b="1" u="none" strike="noStrike" spc="-28">
                <a:solidFill>
                  <a:srgbClr val="C4663A"/>
                </a:solidFill>
                <a:latin typeface="Noto Serif JP"/>
                <a:ea typeface="Noto Serif JP"/>
              </a:rPr>
              <a:t>データセンター。</a:t>
            </a:r>
            <a:endParaRPr lang="en-US" sz="5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3709474" name="Text 5"/>
          <p:cNvSpPr/>
          <p:nvPr/>
        </p:nvSpPr>
        <p:spPr bwMode="auto">
          <a:xfrm>
            <a:off x="1047600" y="3607920"/>
            <a:ext cx="7009920" cy="135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御杖小学校の旧校舎（2021年に中学校と統合・移転）を、エネルギー効率の高い小規模エッジ計算施設として再利用。</a:t>
            </a:r>
            <a:r>
              <a:rPr lang="en-US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100%</a:t>
            </a: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地域の再生可能エネルギーで稼働します。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5695302" name="Text 6"/>
          <p:cNvSpPr/>
          <p:nvPr/>
        </p:nvSpPr>
        <p:spPr bwMode="auto">
          <a:xfrm>
            <a:off x="1047600" y="5194800"/>
            <a:ext cx="7009920" cy="22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ハイパースケールではなく、説明責任を果たせる規模に。村が所有し、監査し、何をしているかを説明できる規模。排熱は温室や公共施設の暖房に再利用。設計図はオープンライセンスで公開し、他の人口減少自治体でも複製できるようにします。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8612895" name="Shape 7"/>
          <p:cNvSpPr/>
          <p:nvPr/>
        </p:nvSpPr>
        <p:spPr bwMode="auto">
          <a:xfrm>
            <a:off x="1047600" y="7738200"/>
            <a:ext cx="7714800" cy="9000"/>
          </a:xfrm>
          <a:prstGeom prst="rect">
            <a:avLst/>
          </a:prstGeom>
          <a:solidFill>
            <a:srgbClr val="1F2A24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98225" name="Text 8"/>
          <p:cNvSpPr/>
          <p:nvPr/>
        </p:nvSpPr>
        <p:spPr bwMode="auto">
          <a:xfrm>
            <a:off x="1047600" y="7957080"/>
            <a:ext cx="24951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規模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9320609" name="Text 9"/>
          <p:cNvSpPr/>
          <p:nvPr/>
        </p:nvSpPr>
        <p:spPr bwMode="auto">
          <a:xfrm>
            <a:off x="1047600" y="8290440"/>
            <a:ext cx="249516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31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エッジ</a:t>
            </a:r>
            <a:endParaRPr lang="en-US" sz="31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8736415" name="Text 10"/>
          <p:cNvSpPr/>
          <p:nvPr/>
        </p:nvSpPr>
        <p:spPr bwMode="auto">
          <a:xfrm>
            <a:off x="3695760" y="7957080"/>
            <a:ext cx="24951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電源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5892601" name="Text 11"/>
          <p:cNvSpPr/>
          <p:nvPr/>
        </p:nvSpPr>
        <p:spPr bwMode="auto">
          <a:xfrm>
            <a:off x="3695760" y="8290440"/>
            <a:ext cx="249516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1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100%</a:t>
            </a:r>
            <a:r>
              <a:rPr lang="zh-CN" sz="31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地域産</a:t>
            </a:r>
            <a:endParaRPr lang="en-US" sz="31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906034" name="Text 12"/>
          <p:cNvSpPr/>
          <p:nvPr/>
        </p:nvSpPr>
        <p:spPr bwMode="auto">
          <a:xfrm>
            <a:off x="6343560" y="7957080"/>
            <a:ext cx="24951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所有者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347566" name="Text 13"/>
          <p:cNvSpPr/>
          <p:nvPr/>
        </p:nvSpPr>
        <p:spPr bwMode="auto">
          <a:xfrm>
            <a:off x="6343560" y="8290440"/>
            <a:ext cx="249516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31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村</a:t>
            </a:r>
            <a:endParaRPr lang="en-US" sz="31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1084134" name="Shape 14"/>
          <p:cNvSpPr/>
          <p:nvPr/>
        </p:nvSpPr>
        <p:spPr bwMode="auto">
          <a:xfrm>
            <a:off x="9524880" y="1695600"/>
            <a:ext cx="7714800" cy="6590520"/>
          </a:xfrm>
          <a:prstGeom prst="rect">
            <a:avLst/>
          </a:prstGeom>
          <a:solidFill>
            <a:srgbClr val="2F4A37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849378" name="Text 15"/>
          <p:cNvSpPr/>
          <p:nvPr/>
        </p:nvSpPr>
        <p:spPr bwMode="auto">
          <a:xfrm>
            <a:off x="10010880" y="2181240"/>
            <a:ext cx="69454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教室から計算機へ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22405130" name="Image 0" descr="preencoded.png"/>
          <p:cNvPicPr/>
          <p:nvPr/>
        </p:nvPicPr>
        <p:blipFill rotWithShape="1">
          <a:blip r:embed="rId3"/>
          <a:stretch/>
        </p:blipFill>
        <p:spPr bwMode="auto">
          <a:xfrm>
            <a:off x="10010880" y="2743200"/>
            <a:ext cx="6743520" cy="50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0546180" name="Text 16"/>
          <p:cNvSpPr/>
          <p:nvPr/>
        </p:nvSpPr>
        <p:spPr bwMode="auto">
          <a:xfrm flipH="0" flipV="0">
            <a:off x="1047600" y="9191520"/>
            <a:ext cx="1117399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07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3576094" name="Text 17"/>
          <p:cNvSpPr/>
          <p:nvPr/>
        </p:nvSpPr>
        <p:spPr bwMode="auto">
          <a:xfrm>
            <a:off x="11237760" y="9191520"/>
            <a:ext cx="61822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エッジ計算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排熱再利用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複製可能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進歩と持続可能性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2F4A3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7225975" name="Shape 0"/>
          <p:cNvSpPr/>
          <p:nvPr/>
        </p:nvSpPr>
        <p:spPr bwMode="auto">
          <a:xfrm>
            <a:off x="1047600" y="762120"/>
            <a:ext cx="456840" cy="456840"/>
          </a:xfrm>
          <a:prstGeom prst="ellipse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102458" name="Text 1"/>
          <p:cNvSpPr/>
          <p:nvPr/>
        </p:nvSpPr>
        <p:spPr bwMode="auto">
          <a:xfrm>
            <a:off x="1047600" y="762120"/>
            <a:ext cx="5331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2F4A37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6941153" name="Text 2"/>
          <p:cNvSpPr/>
          <p:nvPr/>
        </p:nvSpPr>
        <p:spPr bwMode="auto">
          <a:xfrm>
            <a:off x="1638360" y="8240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2889715" name="Text 3"/>
          <p:cNvSpPr/>
          <p:nvPr/>
        </p:nvSpPr>
        <p:spPr bwMode="auto">
          <a:xfrm>
            <a:off x="14319360" y="762120"/>
            <a:ext cx="30081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§ 07 · </a:t>
            </a:r>
            <a:r>
              <a:rPr lang="zh-CN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恩恵 — 地域と環境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1197527" name="Text 4"/>
          <p:cNvSpPr/>
          <p:nvPr/>
        </p:nvSpPr>
        <p:spPr bwMode="auto">
          <a:xfrm>
            <a:off x="1047600" y="1695600"/>
            <a:ext cx="12522240" cy="313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18000"/>
              </a:lnSpc>
              <a:tabLst>
                <a:tab pos="0" algn="l"/>
              </a:tabLst>
              <a:defRPr/>
            </a:pPr>
            <a:r>
              <a:rPr lang="zh-CN" sz="6900" b="1" u="none" strike="noStrike" spc="-34">
                <a:solidFill>
                  <a:srgbClr val="F3ECE0"/>
                </a:solidFill>
                <a:latin typeface="Noto Serif JP"/>
                <a:ea typeface="Noto Serif JP"/>
              </a:rPr>
              <a:t>成功は、データセンターが </a:t>
            </a:r>
            <a:r>
              <a:rPr lang="zh-CN" sz="6900" b="1" u="none" strike="noStrike" spc="-34">
                <a:solidFill>
                  <a:srgbClr val="F3B486"/>
                </a:solidFill>
                <a:latin typeface="Noto Serif JP"/>
                <a:ea typeface="Noto Serif JP"/>
              </a:rPr>
              <a:t>商業的にヒットすることに依存しない。</a:t>
            </a:r>
            <a:endParaRPr lang="en-US" sz="69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5514771" name="Text 5"/>
          <p:cNvSpPr/>
          <p:nvPr/>
        </p:nvSpPr>
        <p:spPr bwMode="auto">
          <a:xfrm>
            <a:off x="1047600" y="5197680"/>
            <a:ext cx="1219104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大半の恩恵は、計算事業の黒字化に関わらず、村にもたらされます。それが設計思想です。</a:t>
            </a:r>
            <a:endParaRPr lang="en-US" sz="21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4328356" name="Shape 6"/>
          <p:cNvSpPr/>
          <p:nvPr/>
        </p:nvSpPr>
        <p:spPr bwMode="auto">
          <a:xfrm>
            <a:off x="1047600" y="6018840"/>
            <a:ext cx="5143320" cy="18720"/>
          </a:xfrm>
          <a:prstGeom prst="rect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0591417" name="Text 7"/>
          <p:cNvSpPr/>
          <p:nvPr/>
        </p:nvSpPr>
        <p:spPr bwMode="auto">
          <a:xfrm>
            <a:off x="1047600" y="6266520"/>
            <a:ext cx="52974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地域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1167511" name="Text 8"/>
          <p:cNvSpPr/>
          <p:nvPr/>
        </p:nvSpPr>
        <p:spPr bwMode="auto">
          <a:xfrm>
            <a:off x="887760" y="6828480"/>
            <a:ext cx="5379480" cy="186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通年の有給林業業務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住民・来訪者向け</a:t>
            </a: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EV</a:t>
            </a:r>
            <a:r>
              <a:rPr lang="zh-CN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充電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学校の維持費の出血が止まる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停電に強い診療所と通信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控えめで、説明責任があり、村が所有する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9306780" name="Shape 9"/>
          <p:cNvSpPr/>
          <p:nvPr/>
        </p:nvSpPr>
        <p:spPr bwMode="auto">
          <a:xfrm>
            <a:off x="6572160" y="6018840"/>
            <a:ext cx="5143320" cy="18720"/>
          </a:xfrm>
          <a:prstGeom prst="rect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946355" name="Text 10"/>
          <p:cNvSpPr/>
          <p:nvPr/>
        </p:nvSpPr>
        <p:spPr bwMode="auto">
          <a:xfrm>
            <a:off x="6572160" y="6266520"/>
            <a:ext cx="52974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環境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2512474" name="Text 11"/>
          <p:cNvSpPr/>
          <p:nvPr/>
        </p:nvSpPr>
        <p:spPr bwMode="auto">
          <a:xfrm>
            <a:off x="6412320" y="6828480"/>
            <a:ext cx="5379480" cy="186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在来広葉樹が大規模に戻る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杉花粉の負担が軽減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野生動物による農地被害の減少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土砂崩れリスクが時間とともに減少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100%</a:t>
            </a:r>
            <a:r>
              <a:rPr lang="zh-CN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地域産再生可能エネルギー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388029" name="Shape 12"/>
          <p:cNvSpPr/>
          <p:nvPr/>
        </p:nvSpPr>
        <p:spPr bwMode="auto">
          <a:xfrm>
            <a:off x="12096720" y="6018840"/>
            <a:ext cx="5143320" cy="18720"/>
          </a:xfrm>
          <a:prstGeom prst="rect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338042" name="Text 13"/>
          <p:cNvSpPr/>
          <p:nvPr/>
        </p:nvSpPr>
        <p:spPr bwMode="auto">
          <a:xfrm>
            <a:off x="12096720" y="6266520"/>
            <a:ext cx="52974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御杖の先へ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5076478" name="Text 14"/>
          <p:cNvSpPr/>
          <p:nvPr/>
        </p:nvSpPr>
        <p:spPr bwMode="auto">
          <a:xfrm>
            <a:off x="11936880" y="6828480"/>
            <a:ext cx="5379480" cy="186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方法とデータをオープン公開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複製可能な農村テンプレート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CC-BY</a:t>
            </a:r>
            <a:r>
              <a:rPr lang="zh-CN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文書、オープンライセンス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コピーされる設計、フランチャイズではない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小規模核融合時代への橋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0888862" name="Text 15"/>
          <p:cNvSpPr/>
          <p:nvPr/>
        </p:nvSpPr>
        <p:spPr bwMode="auto">
          <a:xfrm flipH="0" flipV="0">
            <a:off x="1047600" y="9191520"/>
            <a:ext cx="1117399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08 / 11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0735263" name="Text 16"/>
          <p:cNvSpPr/>
          <p:nvPr/>
        </p:nvSpPr>
        <p:spPr bwMode="auto">
          <a:xfrm>
            <a:off x="13398480" y="9191520"/>
            <a:ext cx="39564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地域第一 </a:t>
            </a: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開放と透明 </a:t>
            </a: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忍耐と長期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2404040" name="Shape 0"/>
          <p:cNvSpPr/>
          <p:nvPr/>
        </p:nvSpPr>
        <p:spPr bwMode="auto">
          <a:xfrm>
            <a:off x="1047600" y="762120"/>
            <a:ext cx="456840" cy="45684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6607059" name="Text 1"/>
          <p:cNvSpPr/>
          <p:nvPr/>
        </p:nvSpPr>
        <p:spPr bwMode="auto">
          <a:xfrm>
            <a:off x="1047600" y="762120"/>
            <a:ext cx="5331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0489206" name="Text 2"/>
          <p:cNvSpPr/>
          <p:nvPr/>
        </p:nvSpPr>
        <p:spPr bwMode="auto">
          <a:xfrm>
            <a:off x="1638360" y="8240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8040653" name="Text 3"/>
          <p:cNvSpPr/>
          <p:nvPr/>
        </p:nvSpPr>
        <p:spPr bwMode="auto">
          <a:xfrm>
            <a:off x="14443920" y="762120"/>
            <a:ext cx="2880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§ 08 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現状 </a:t>
            </a: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· 2026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年</a:t>
            </a: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5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6763121" name="Text 4"/>
          <p:cNvSpPr/>
          <p:nvPr/>
        </p:nvSpPr>
        <p:spPr bwMode="auto">
          <a:xfrm>
            <a:off x="1047600" y="1657440"/>
            <a:ext cx="83246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0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段階 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設立準備期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7681068" name="Text 5"/>
          <p:cNvSpPr/>
          <p:nvPr/>
        </p:nvSpPr>
        <p:spPr bwMode="auto">
          <a:xfrm>
            <a:off x="1047600" y="2124000"/>
            <a:ext cx="8324640" cy="3512519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  <a:defRPr/>
            </a:pPr>
            <a:r>
              <a:rPr lang="zh-CN" sz="5700" b="1" u="none" strike="noStrike" spc="-28">
                <a:solidFill>
                  <a:srgbClr val="1F2A24"/>
                </a:solidFill>
                <a:latin typeface="Noto Serif JP"/>
                <a:ea typeface="Noto Serif JP"/>
              </a:rPr>
              <a:t>意図的に静かに。 </a:t>
            </a:r>
            <a:r>
              <a:rPr lang="zh-CN" sz="5700" b="1" u="none" strike="noStrike" spc="-28">
                <a:solidFill>
                  <a:srgbClr val="C4663A"/>
                </a:solidFill>
                <a:latin typeface="Noto Serif JP"/>
                <a:ea typeface="Noto Serif JP"/>
              </a:rPr>
              <a:t>プレスも、 </a:t>
            </a:r>
            <a:r>
              <a:rPr lang="zh-CN" sz="5700" b="1" u="none" strike="noStrike" spc="-28">
                <a:solidFill>
                  <a:srgbClr val="1F2A24"/>
                </a:solidFill>
                <a:latin typeface="Noto Serif JP"/>
                <a:ea typeface="Noto Serif JP"/>
              </a:rPr>
              <a:t>サイト発表会もなし、 創業者パーカーもなし。</a:t>
            </a:r>
            <a:endParaRPr lang="en-US" sz="57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3031485" name="Text 6"/>
          <p:cNvSpPr/>
          <p:nvPr/>
        </p:nvSpPr>
        <p:spPr bwMode="auto">
          <a:xfrm>
            <a:off x="1047600" y="5865480"/>
            <a:ext cx="7314480" cy="135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第</a:t>
            </a:r>
            <a:r>
              <a:rPr lang="en-US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0</a:t>
            </a: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段階は、地域での信頼構築、創設チーム編成、定款の清書。自己資金、</a:t>
            </a:r>
            <a:r>
              <a:rPr lang="en-US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¥0–0.5M</a:t>
            </a: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。今の重要な仕事は、発表ではなく面談です。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8341467" name="Shape 7"/>
          <p:cNvSpPr/>
          <p:nvPr/>
        </p:nvSpPr>
        <p:spPr bwMode="auto">
          <a:xfrm>
            <a:off x="1047600" y="7471440"/>
            <a:ext cx="8082360" cy="9000"/>
          </a:xfrm>
          <a:prstGeom prst="rect">
            <a:avLst/>
          </a:prstGeom>
          <a:solidFill>
            <a:srgbClr val="1F2A24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5760708" name="Text 8"/>
          <p:cNvSpPr/>
          <p:nvPr/>
        </p:nvSpPr>
        <p:spPr bwMode="auto">
          <a:xfrm>
            <a:off x="1047600" y="7690320"/>
            <a:ext cx="83246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アドバイザー就任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9965251" name="Text 9"/>
          <p:cNvSpPr/>
          <p:nvPr/>
        </p:nvSpPr>
        <p:spPr bwMode="auto">
          <a:xfrm>
            <a:off x="1047600" y="8195400"/>
            <a:ext cx="2522880" cy="49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330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伊藤穰一</a:t>
            </a:r>
            <a:endParaRPr lang="en-US" sz="33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2903205" name="Text 10"/>
          <p:cNvSpPr/>
          <p:nvPr/>
        </p:nvSpPr>
        <p:spPr bwMode="auto">
          <a:xfrm>
            <a:off x="1047600" y="8656200"/>
            <a:ext cx="2522880" cy="41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元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MIT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メディアラボ所長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1424592" name="Text 11"/>
          <p:cNvSpPr/>
          <p:nvPr/>
        </p:nvSpPr>
        <p:spPr bwMode="auto">
          <a:xfrm flipH="0" flipV="0">
            <a:off x="3421644" y="8156931"/>
            <a:ext cx="4329360" cy="575537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vertOverflow="overflow" horzOverflow="overflow" vert="horz" wrap="square" lIns="25560" tIns="25560" rIns="25560" bIns="25560" numCol="1" spcCol="0" rtlCol="0" fromWordArt="0" anchor="t" anchorCtr="0" forceAA="0" upright="0" compatLnSpc="0">
            <a:norm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330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レイ・オジー</a:t>
            </a:r>
            <a:endParaRPr lang="en-US" sz="33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9685589" name="Text 12"/>
          <p:cNvSpPr/>
          <p:nvPr/>
        </p:nvSpPr>
        <p:spPr bwMode="auto">
          <a:xfrm flipH="0" flipV="0">
            <a:off x="3421644" y="8656200"/>
            <a:ext cx="4329360" cy="728674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vertOverflow="overflow" horzOverflow="overflow" vert="horz" wrap="square" lIns="25560" tIns="25560" rIns="25560" bIns="25560" numCol="1" spcCol="0" rtlCol="0" fromWordArt="0" anchor="t" anchorCtr="0" forceAA="0" upright="0" compatLnSpc="0">
            <a:normAutofit fontScale="80000" lnSpcReduction="40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ソフトウェアの先駆者 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endParaRPr lang="zh-CN" sz="1800" b="0" u="none" strike="noStrike">
              <a:solidFill>
                <a:srgbClr val="4C554F"/>
              </a:solidFill>
              <a:latin typeface="Noto Sans JP"/>
              <a:ea typeface="Noto Sans JP"/>
            </a:endParaRPr>
          </a:p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元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Microsoft CSA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0703846" name="Shape 13"/>
          <p:cNvSpPr/>
          <p:nvPr/>
        </p:nvSpPr>
        <p:spPr bwMode="auto">
          <a:xfrm>
            <a:off x="9892440" y="1657440"/>
            <a:ext cx="7347600" cy="262872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9198799" name="Text 14"/>
          <p:cNvSpPr/>
          <p:nvPr/>
        </p:nvSpPr>
        <p:spPr bwMode="auto">
          <a:xfrm>
            <a:off x="10187640" y="1895400"/>
            <a:ext cx="69598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2F4A37"/>
                </a:solidFill>
                <a:latin typeface="Noto Sans JP"/>
                <a:ea typeface="Noto Sans JP"/>
              </a:rPr>
              <a:t>✓ 完了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915192" name="Text 15"/>
          <p:cNvSpPr/>
          <p:nvPr/>
        </p:nvSpPr>
        <p:spPr bwMode="auto">
          <a:xfrm>
            <a:off x="10237320" y="2343240"/>
            <a:ext cx="6783840" cy="1742759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御杖村副村長との初回面談</a:t>
            </a: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(2025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年後半</a:t>
            </a: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)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地元林業組合との初回面談</a:t>
            </a: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(2026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年初頭</a:t>
            </a: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)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創設定款と実行計画を起草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段階・資金ゲート図表を公開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アドバイザー就任</a:t>
            </a: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: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伊藤穰一、レイ・オジー、堂目卓生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1140794" name="Shape 16"/>
          <p:cNvSpPr/>
          <p:nvPr/>
        </p:nvSpPr>
        <p:spPr bwMode="auto">
          <a:xfrm>
            <a:off x="9892440" y="4495680"/>
            <a:ext cx="7347600" cy="208764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6594786" name="Text 17"/>
          <p:cNvSpPr/>
          <p:nvPr/>
        </p:nvSpPr>
        <p:spPr bwMode="auto">
          <a:xfrm>
            <a:off x="10187640" y="4734000"/>
            <a:ext cx="69598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C4663A"/>
                </a:solidFill>
                <a:latin typeface="Noto Sans JP"/>
                <a:ea typeface="Noto Sans JP"/>
              </a:rPr>
              <a:t>→ 進行中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1094396" name="Text 18"/>
          <p:cNvSpPr/>
          <p:nvPr/>
        </p:nvSpPr>
        <p:spPr bwMode="auto">
          <a:xfrm>
            <a:off x="10237320" y="5181480"/>
            <a:ext cx="6783840" cy="14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農村に信頼のある日本人共同創設者の特定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村長との正式面談の調整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一般社団法人の細則起草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奈良の行政書士への依頼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9021379" name="Shape 19"/>
          <p:cNvSpPr/>
          <p:nvPr/>
        </p:nvSpPr>
        <p:spPr bwMode="auto">
          <a:xfrm>
            <a:off x="9892440" y="6858000"/>
            <a:ext cx="7347600" cy="208764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906442" name="Text 20"/>
          <p:cNvSpPr/>
          <p:nvPr/>
        </p:nvSpPr>
        <p:spPr bwMode="auto">
          <a:xfrm>
            <a:off x="10187640" y="7095960"/>
            <a:ext cx="69598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◌ 次の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30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日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377815" name="Text 21"/>
          <p:cNvSpPr/>
          <p:nvPr/>
        </p:nvSpPr>
        <p:spPr bwMode="auto">
          <a:xfrm>
            <a:off x="10237320" y="7543800"/>
            <a:ext cx="6783840" cy="14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日本人共同創設者候補へのアプローチ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村長との非公式面談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行政書士への初期相談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二言語</a:t>
            </a: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2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ページの定款を最終化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3945238" name="Text 22"/>
          <p:cNvSpPr/>
          <p:nvPr/>
        </p:nvSpPr>
        <p:spPr bwMode="auto">
          <a:xfrm flipH="0" flipV="0">
            <a:off x="1047600" y="9591840"/>
            <a:ext cx="1117399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09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1661214" name="Text 23"/>
          <p:cNvSpPr/>
          <p:nvPr/>
        </p:nvSpPr>
        <p:spPr bwMode="auto">
          <a:xfrm>
            <a:off x="14340146" y="9591840"/>
            <a:ext cx="36421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段階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1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〜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3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ヶ月目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自己資金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827772" name="Text 11"/>
          <p:cNvSpPr/>
          <p:nvPr/>
        </p:nvSpPr>
        <p:spPr bwMode="auto">
          <a:xfrm>
            <a:off x="6553749" y="8195400"/>
            <a:ext cx="4329360" cy="49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330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堂目卓生</a:t>
            </a:r>
            <a:endParaRPr lang="en-US" sz="33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596193" name="Text 12"/>
          <p:cNvSpPr/>
          <p:nvPr/>
        </p:nvSpPr>
        <p:spPr bwMode="auto">
          <a:xfrm flipH="0" flipV="0">
            <a:off x="6553749" y="8656200"/>
            <a:ext cx="4329360" cy="670362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vertOverflow="overflow" horzOverflow="overflow" vert="horz" wrap="square" lIns="25560" tIns="25560" rIns="25560" bIns="25560" numCol="1" spcCol="0" rtlCol="0" fromWordArt="0" anchor="t" anchorCtr="0" forceAA="0" upright="0" compatLnSpc="0">
            <a:normAutofit fontScale="70000" lnSpcReduction="60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大阪大学名誉教授・</a:t>
            </a:r>
            <a:endParaRPr lang="zh-CN" sz="1800" b="0" u="none" strike="noStrike">
              <a:solidFill>
                <a:srgbClr val="4C554F"/>
              </a:solidFill>
              <a:latin typeface="Noto Sans JP"/>
              <a:ea typeface="Noto Sans JP"/>
            </a:endParaRPr>
          </a:p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いのち会議代表理事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2931399" name="Shape 0"/>
          <p:cNvSpPr/>
          <p:nvPr/>
        </p:nvSpPr>
        <p:spPr bwMode="auto">
          <a:xfrm>
            <a:off x="1047600" y="762120"/>
            <a:ext cx="456840" cy="45684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5343031" name="Text 1"/>
          <p:cNvSpPr/>
          <p:nvPr/>
        </p:nvSpPr>
        <p:spPr bwMode="auto">
          <a:xfrm>
            <a:off x="1047600" y="762120"/>
            <a:ext cx="5331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612443" name="Text 2"/>
          <p:cNvSpPr/>
          <p:nvPr/>
        </p:nvSpPr>
        <p:spPr bwMode="auto">
          <a:xfrm>
            <a:off x="1638360" y="8240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344753" name="Text 3"/>
          <p:cNvSpPr/>
          <p:nvPr/>
        </p:nvSpPr>
        <p:spPr bwMode="auto">
          <a:xfrm>
            <a:off x="15175800" y="762120"/>
            <a:ext cx="21402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§ 09 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段階と関門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5863713" name="Text 4"/>
          <p:cNvSpPr/>
          <p:nvPr/>
        </p:nvSpPr>
        <p:spPr bwMode="auto">
          <a:xfrm>
            <a:off x="1047600" y="1371600"/>
            <a:ext cx="7620480" cy="131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20000"/>
              </a:lnSpc>
              <a:tabLst>
                <a:tab pos="0" algn="l"/>
              </a:tabLst>
              <a:defRPr/>
            </a:pPr>
            <a:r>
              <a:rPr lang="zh-CN" sz="4200" b="1" u="none" strike="noStrike" spc="-20">
                <a:solidFill>
                  <a:srgbClr val="1F2A24"/>
                </a:solidFill>
                <a:latin typeface="Noto Serif JP"/>
                <a:ea typeface="Noto Serif JP"/>
              </a:rPr>
              <a:t>五段階。 四つの</a:t>
            </a:r>
            <a:r>
              <a:rPr lang="zh-CN" sz="4200" b="1" u="none" strike="noStrike" spc="-20">
                <a:solidFill>
                  <a:srgbClr val="C4663A"/>
                </a:solidFill>
                <a:latin typeface="Noto Serif JP"/>
                <a:ea typeface="Noto Serif JP"/>
              </a:rPr>
              <a:t>本物の </a:t>
            </a:r>
            <a:r>
              <a:rPr lang="zh-CN" sz="4200" b="1" u="none" strike="noStrike" spc="-20">
                <a:solidFill>
                  <a:srgbClr val="1F2A24"/>
                </a:solidFill>
                <a:latin typeface="Noto Serif JP"/>
                <a:ea typeface="Noto Serif JP"/>
              </a:rPr>
              <a:t>資金ゲート。</a:t>
            </a:r>
            <a:endParaRPr lang="en-US" sz="42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728527" name="Text 5"/>
          <p:cNvSpPr/>
          <p:nvPr/>
        </p:nvSpPr>
        <p:spPr bwMode="auto">
          <a:xfrm>
            <a:off x="1047600" y="2975760"/>
            <a:ext cx="10451520" cy="677879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40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各ゲートはチェックポイント。通過できなければ保留し、再提案——資源不足のまま次へ加速はしません。資金スタックは意図的に五層構造で、単一の資金源で初期に止まらない設計です。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90788" name="Shape 6"/>
          <p:cNvSpPr/>
          <p:nvPr/>
        </p:nvSpPr>
        <p:spPr bwMode="auto">
          <a:xfrm>
            <a:off x="1047600" y="4073040"/>
            <a:ext cx="3131640" cy="1797840"/>
          </a:xfrm>
          <a:prstGeom prst="rect">
            <a:avLst/>
          </a:prstGeom>
          <a:solidFill>
            <a:srgbClr val="C4663A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6979894" name="Text 7"/>
          <p:cNvSpPr/>
          <p:nvPr/>
        </p:nvSpPr>
        <p:spPr bwMode="auto">
          <a:xfrm>
            <a:off x="1209600" y="4234680"/>
            <a:ext cx="28918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80000"/>
                  </a:srgbClr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145">
                <a:solidFill>
                  <a:srgbClr val="F3ECE0">
                    <a:alpha val="80000"/>
                  </a:srgbClr>
                </a:solidFill>
                <a:latin typeface="Noto Sans JP"/>
                <a:ea typeface="Noto Sans JP"/>
              </a:rPr>
              <a:t>0</a:t>
            </a:r>
            <a:r>
              <a:rPr lang="zh-CN" sz="1800" b="0" u="none" strike="noStrike" spc="145">
                <a:solidFill>
                  <a:srgbClr val="F3ECE0">
                    <a:alpha val="80000"/>
                  </a:srgbClr>
                </a:solidFill>
                <a:latin typeface="Noto Sans JP"/>
                <a:ea typeface="Noto Sans JP"/>
              </a:rPr>
              <a:t>段階 </a:t>
            </a:r>
            <a:r>
              <a:rPr lang="en-US" sz="1800" b="0" u="none" strike="noStrike" spc="145">
                <a:solidFill>
                  <a:srgbClr val="F3ECE0">
                    <a:alpha val="80000"/>
                  </a:srgbClr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145">
                <a:solidFill>
                  <a:srgbClr val="F3ECE0">
                    <a:alpha val="80000"/>
                  </a:srgbClr>
                </a:solidFill>
                <a:latin typeface="Noto Sans JP"/>
                <a:ea typeface="Noto Sans JP"/>
              </a:rPr>
              <a:t>現在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807705" name="Text 8"/>
          <p:cNvSpPr/>
          <p:nvPr/>
        </p:nvSpPr>
        <p:spPr bwMode="auto">
          <a:xfrm>
            <a:off x="1209600" y="4625280"/>
            <a:ext cx="28918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1950" b="1" u="none" strike="noStrike" spc="-11">
                <a:solidFill>
                  <a:srgbClr val="F3ECE0"/>
                </a:solidFill>
                <a:latin typeface="Noto Serif JP"/>
                <a:ea typeface="Noto Serif JP"/>
              </a:rPr>
              <a:t>設立準備期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7826300" name="Text 9"/>
          <p:cNvSpPr/>
          <p:nvPr/>
        </p:nvSpPr>
        <p:spPr bwMode="auto">
          <a:xfrm>
            <a:off x="1209600" y="4955039"/>
            <a:ext cx="2891880" cy="79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>
                    <a:alpha val="90000"/>
                  </a:srgbClr>
                </a:solidFill>
                <a:latin typeface="Noto Sans JP"/>
                <a:ea typeface="Noto Sans JP"/>
              </a:rPr>
              <a:t>1</a:t>
            </a:r>
            <a:r>
              <a:rPr lang="zh-CN" sz="1800" b="0" u="none" strike="noStrike">
                <a:solidFill>
                  <a:srgbClr val="F3ECE0">
                    <a:alpha val="90000"/>
                  </a:srgbClr>
                </a:solidFill>
                <a:latin typeface="Noto Sans JP"/>
                <a:ea typeface="Noto Sans JP"/>
              </a:rPr>
              <a:t>〜</a:t>
            </a:r>
            <a:r>
              <a:rPr lang="en-US" sz="1800" b="0" u="none" strike="noStrike">
                <a:solidFill>
                  <a:srgbClr val="F3ECE0">
                    <a:alpha val="90000"/>
                  </a:srgbClr>
                </a:solidFill>
                <a:latin typeface="Noto Sans JP"/>
                <a:ea typeface="Noto Sans JP"/>
              </a:rPr>
              <a:t>3</a:t>
            </a:r>
            <a:r>
              <a:rPr lang="zh-CN" sz="1800" b="0" u="none" strike="noStrike">
                <a:solidFill>
                  <a:srgbClr val="F3ECE0">
                    <a:alpha val="90000"/>
                  </a:srgbClr>
                </a:solidFill>
                <a:latin typeface="Noto Sans JP"/>
                <a:ea typeface="Noto Sans JP"/>
              </a:rPr>
              <a:t>ヶ月 </a:t>
            </a:r>
            <a:r>
              <a:rPr lang="en-US" sz="1800" b="0" u="none" strike="noStrike">
                <a:solidFill>
                  <a:srgbClr val="F3ECE0">
                    <a:alpha val="90000"/>
                  </a:srgbClr>
                </a:solidFill>
                <a:latin typeface="Noto Sans JP"/>
                <a:ea typeface="Noto Sans JP"/>
              </a:rPr>
              <a:t>¥0–0.5M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951074" name="Shape 10"/>
          <p:cNvSpPr/>
          <p:nvPr/>
        </p:nvSpPr>
        <p:spPr bwMode="auto">
          <a:xfrm>
            <a:off x="4312800" y="4073040"/>
            <a:ext cx="3131640" cy="179784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839531" name="Text 11"/>
          <p:cNvSpPr/>
          <p:nvPr/>
        </p:nvSpPr>
        <p:spPr bwMode="auto">
          <a:xfrm>
            <a:off x="4474800" y="4234680"/>
            <a:ext cx="28918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1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段階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2360033" name="Text 12"/>
          <p:cNvSpPr/>
          <p:nvPr/>
        </p:nvSpPr>
        <p:spPr bwMode="auto">
          <a:xfrm>
            <a:off x="4474800" y="4625280"/>
            <a:ext cx="28918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195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設立期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5474" name="Text 13"/>
          <p:cNvSpPr/>
          <p:nvPr/>
        </p:nvSpPr>
        <p:spPr bwMode="auto">
          <a:xfrm>
            <a:off x="4474800" y="4955039"/>
            <a:ext cx="2891880" cy="79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4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〜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9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ヶ月 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¥3–8M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618652" name="Shape 14"/>
          <p:cNvSpPr/>
          <p:nvPr/>
        </p:nvSpPr>
        <p:spPr bwMode="auto">
          <a:xfrm>
            <a:off x="7578000" y="4073040"/>
            <a:ext cx="3131640" cy="179784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078918" name="Text 15"/>
          <p:cNvSpPr/>
          <p:nvPr/>
        </p:nvSpPr>
        <p:spPr bwMode="auto">
          <a:xfrm>
            <a:off x="7740000" y="4234680"/>
            <a:ext cx="28918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2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段階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189169" name="Text 16"/>
          <p:cNvSpPr/>
          <p:nvPr/>
        </p:nvSpPr>
        <p:spPr bwMode="auto">
          <a:xfrm>
            <a:off x="7740000" y="4625280"/>
            <a:ext cx="28918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195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試行設計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674030" name="Text 17"/>
          <p:cNvSpPr/>
          <p:nvPr/>
        </p:nvSpPr>
        <p:spPr bwMode="auto">
          <a:xfrm>
            <a:off x="7740000" y="4955039"/>
            <a:ext cx="2891880" cy="79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10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〜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18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ヶ月 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¥15–30M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6629873" name="Shape 18"/>
          <p:cNvSpPr/>
          <p:nvPr/>
        </p:nvSpPr>
        <p:spPr bwMode="auto">
          <a:xfrm>
            <a:off x="10843200" y="4073040"/>
            <a:ext cx="3131640" cy="179784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0057734" name="Text 19"/>
          <p:cNvSpPr/>
          <p:nvPr/>
        </p:nvSpPr>
        <p:spPr bwMode="auto">
          <a:xfrm>
            <a:off x="11005200" y="4234680"/>
            <a:ext cx="28918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3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段階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501470" name="Text 20"/>
          <p:cNvSpPr/>
          <p:nvPr/>
        </p:nvSpPr>
        <p:spPr bwMode="auto">
          <a:xfrm>
            <a:off x="11005200" y="4625280"/>
            <a:ext cx="28918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195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試行構築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4929041" name="Text 21"/>
          <p:cNvSpPr/>
          <p:nvPr/>
        </p:nvSpPr>
        <p:spPr bwMode="auto">
          <a:xfrm>
            <a:off x="11005200" y="4955039"/>
            <a:ext cx="2891880" cy="79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19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〜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30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ヶ月 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¥80–200M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9085978" name="Shape 22"/>
          <p:cNvSpPr/>
          <p:nvPr/>
        </p:nvSpPr>
        <p:spPr bwMode="auto">
          <a:xfrm>
            <a:off x="14108400" y="4073040"/>
            <a:ext cx="3131640" cy="179784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1291315" name="Text 23"/>
          <p:cNvSpPr/>
          <p:nvPr/>
        </p:nvSpPr>
        <p:spPr bwMode="auto">
          <a:xfrm>
            <a:off x="14270400" y="4234680"/>
            <a:ext cx="28918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4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段階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232064" name="Text 24"/>
          <p:cNvSpPr/>
          <p:nvPr/>
        </p:nvSpPr>
        <p:spPr bwMode="auto">
          <a:xfrm>
            <a:off x="14270400" y="4625280"/>
            <a:ext cx="28918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195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運営・拡大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711395" name="Text 25"/>
          <p:cNvSpPr/>
          <p:nvPr/>
        </p:nvSpPr>
        <p:spPr bwMode="auto">
          <a:xfrm>
            <a:off x="14270400" y="4955039"/>
            <a:ext cx="2891880" cy="79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31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ヶ月〜 収益主導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405453" name="Text 26"/>
          <p:cNvSpPr/>
          <p:nvPr/>
        </p:nvSpPr>
        <p:spPr bwMode="auto">
          <a:xfrm>
            <a:off x="4266000" y="5947560"/>
            <a:ext cx="32252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G1 · ¥3–8M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30211" name="Text 27"/>
          <p:cNvSpPr/>
          <p:nvPr/>
        </p:nvSpPr>
        <p:spPr bwMode="auto">
          <a:xfrm>
            <a:off x="7531200" y="5947560"/>
            <a:ext cx="32252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G2 · ¥30–50M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43854" name="Text 28"/>
          <p:cNvSpPr/>
          <p:nvPr/>
        </p:nvSpPr>
        <p:spPr bwMode="auto">
          <a:xfrm>
            <a:off x="10796400" y="5947560"/>
            <a:ext cx="32252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G3 · ¥80–200M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5019952" name="Text 29"/>
          <p:cNvSpPr/>
          <p:nvPr/>
        </p:nvSpPr>
        <p:spPr bwMode="auto">
          <a:xfrm>
            <a:off x="14061600" y="5947560"/>
            <a:ext cx="32252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G4 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収益化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5207230" name="Text 30"/>
          <p:cNvSpPr/>
          <p:nvPr/>
        </p:nvSpPr>
        <p:spPr bwMode="auto">
          <a:xfrm>
            <a:off x="1047600" y="6356880"/>
            <a:ext cx="94539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五層資金スタック 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· 3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年目目標 ≈ 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¥134M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3257034" name="Shape 31"/>
          <p:cNvSpPr/>
          <p:nvPr/>
        </p:nvSpPr>
        <p:spPr bwMode="auto">
          <a:xfrm>
            <a:off x="1047600" y="7062840"/>
            <a:ext cx="9178560" cy="9000"/>
          </a:xfrm>
          <a:prstGeom prst="rect">
            <a:avLst/>
          </a:prstGeom>
          <a:solidFill>
            <a:srgbClr val="1F2A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0643972" name="Text 32"/>
          <p:cNvSpPr/>
          <p:nvPr/>
        </p:nvSpPr>
        <p:spPr bwMode="auto">
          <a:xfrm>
            <a:off x="1123920" y="6785640"/>
            <a:ext cx="10342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層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0268800" name="Text 33"/>
          <p:cNvSpPr/>
          <p:nvPr/>
        </p:nvSpPr>
        <p:spPr bwMode="auto">
          <a:xfrm>
            <a:off x="2234880" y="6785640"/>
            <a:ext cx="418932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出所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5221859" name="Text 34"/>
          <p:cNvSpPr/>
          <p:nvPr/>
        </p:nvSpPr>
        <p:spPr bwMode="auto">
          <a:xfrm>
            <a:off x="6374160" y="6785640"/>
            <a:ext cx="18496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1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年目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8782007" name="Text 35"/>
          <p:cNvSpPr/>
          <p:nvPr/>
        </p:nvSpPr>
        <p:spPr bwMode="auto">
          <a:xfrm>
            <a:off x="8300520" y="6785640"/>
            <a:ext cx="18496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3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年目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125606" name="Shape 36"/>
          <p:cNvSpPr/>
          <p:nvPr/>
        </p:nvSpPr>
        <p:spPr bwMode="auto">
          <a:xfrm>
            <a:off x="1047600" y="7354080"/>
            <a:ext cx="9178560" cy="9000"/>
          </a:xfrm>
          <a:prstGeom prst="rect">
            <a:avLst/>
          </a:prstGeom>
          <a:solidFill>
            <a:srgbClr val="1F2A24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922995" name="Text 37"/>
          <p:cNvSpPr/>
          <p:nvPr/>
        </p:nvSpPr>
        <p:spPr bwMode="auto">
          <a:xfrm>
            <a:off x="1123920" y="7081920"/>
            <a:ext cx="10342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L1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0427522" name="Text 38"/>
          <p:cNvSpPr/>
          <p:nvPr/>
        </p:nvSpPr>
        <p:spPr bwMode="auto">
          <a:xfrm>
            <a:off x="2168280" y="7081920"/>
            <a:ext cx="43225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創設者・私的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2944757" name="Text 39"/>
          <p:cNvSpPr/>
          <p:nvPr/>
        </p:nvSpPr>
        <p:spPr bwMode="auto">
          <a:xfrm>
            <a:off x="6307560" y="7081920"/>
            <a:ext cx="1983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¥3M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8677262" name="Text 40"/>
          <p:cNvSpPr/>
          <p:nvPr/>
        </p:nvSpPr>
        <p:spPr bwMode="auto">
          <a:xfrm>
            <a:off x="8233560" y="7081920"/>
            <a:ext cx="1983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¥1M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5346382" name="Shape 41"/>
          <p:cNvSpPr/>
          <p:nvPr/>
        </p:nvSpPr>
        <p:spPr bwMode="auto">
          <a:xfrm>
            <a:off x="1047600" y="7645680"/>
            <a:ext cx="9178560" cy="9000"/>
          </a:xfrm>
          <a:prstGeom prst="rect">
            <a:avLst/>
          </a:prstGeom>
          <a:solidFill>
            <a:srgbClr val="1F2A24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4927580" name="Text 42"/>
          <p:cNvSpPr/>
          <p:nvPr/>
        </p:nvSpPr>
        <p:spPr bwMode="auto">
          <a:xfrm>
            <a:off x="1123920" y="7373160"/>
            <a:ext cx="10342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L2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816314" name="Text 43"/>
          <p:cNvSpPr/>
          <p:nvPr/>
        </p:nvSpPr>
        <p:spPr bwMode="auto">
          <a:xfrm>
            <a:off x="2168280" y="7373160"/>
            <a:ext cx="43225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政府助成金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4236075" name="Text 44"/>
          <p:cNvSpPr/>
          <p:nvPr/>
        </p:nvSpPr>
        <p:spPr bwMode="auto">
          <a:xfrm>
            <a:off x="6307560" y="7373160"/>
            <a:ext cx="1983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¥5M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1719973" name="Text 45"/>
          <p:cNvSpPr/>
          <p:nvPr/>
        </p:nvSpPr>
        <p:spPr bwMode="auto">
          <a:xfrm>
            <a:off x="8233560" y="7373160"/>
            <a:ext cx="1983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¥80M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354628" name="Shape 46"/>
          <p:cNvSpPr/>
          <p:nvPr/>
        </p:nvSpPr>
        <p:spPr bwMode="auto">
          <a:xfrm>
            <a:off x="1047600" y="7937280"/>
            <a:ext cx="9178560" cy="9000"/>
          </a:xfrm>
          <a:prstGeom prst="rect">
            <a:avLst/>
          </a:prstGeom>
          <a:solidFill>
            <a:srgbClr val="1F2A24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7915759" name="Text 47"/>
          <p:cNvSpPr/>
          <p:nvPr/>
        </p:nvSpPr>
        <p:spPr bwMode="auto">
          <a:xfrm>
            <a:off x="1123920" y="7664760"/>
            <a:ext cx="10342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L3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7216241" name="Text 48"/>
          <p:cNvSpPr/>
          <p:nvPr/>
        </p:nvSpPr>
        <p:spPr bwMode="auto">
          <a:xfrm>
            <a:off x="2168280" y="7664760"/>
            <a:ext cx="43225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財団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0099329" name="Text 49"/>
          <p:cNvSpPr/>
          <p:nvPr/>
        </p:nvSpPr>
        <p:spPr bwMode="auto">
          <a:xfrm>
            <a:off x="6307560" y="7664760"/>
            <a:ext cx="1983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¥3M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896452" name="Text 50"/>
          <p:cNvSpPr/>
          <p:nvPr/>
        </p:nvSpPr>
        <p:spPr bwMode="auto">
          <a:xfrm>
            <a:off x="8233560" y="7664760"/>
            <a:ext cx="1983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¥20M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0678036" name="Shape 51"/>
          <p:cNvSpPr/>
          <p:nvPr/>
        </p:nvSpPr>
        <p:spPr bwMode="auto">
          <a:xfrm>
            <a:off x="1047600" y="8228520"/>
            <a:ext cx="9178560" cy="9000"/>
          </a:xfrm>
          <a:prstGeom prst="rect">
            <a:avLst/>
          </a:prstGeom>
          <a:solidFill>
            <a:srgbClr val="1F2A24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0319304" name="Text 52"/>
          <p:cNvSpPr/>
          <p:nvPr/>
        </p:nvSpPr>
        <p:spPr bwMode="auto">
          <a:xfrm>
            <a:off x="1123920" y="7956360"/>
            <a:ext cx="10342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L4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791058" name="Text 53"/>
          <p:cNvSpPr/>
          <p:nvPr/>
        </p:nvSpPr>
        <p:spPr bwMode="auto">
          <a:xfrm>
            <a:off x="2168280" y="7956360"/>
            <a:ext cx="43225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企業パートナー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0097308" name="Text 54"/>
          <p:cNvSpPr/>
          <p:nvPr/>
        </p:nvSpPr>
        <p:spPr bwMode="auto">
          <a:xfrm>
            <a:off x="6307560" y="7956360"/>
            <a:ext cx="1983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¥0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520974" name="Text 55"/>
          <p:cNvSpPr/>
          <p:nvPr/>
        </p:nvSpPr>
        <p:spPr bwMode="auto">
          <a:xfrm>
            <a:off x="8233560" y="7956360"/>
            <a:ext cx="1983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¥30M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8839073" name="Shape 56"/>
          <p:cNvSpPr/>
          <p:nvPr/>
        </p:nvSpPr>
        <p:spPr bwMode="auto">
          <a:xfrm>
            <a:off x="1047600" y="8520120"/>
            <a:ext cx="9178560" cy="9000"/>
          </a:xfrm>
          <a:prstGeom prst="rect">
            <a:avLst/>
          </a:prstGeom>
          <a:solidFill>
            <a:srgbClr val="1F2A24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8805811" name="Text 57"/>
          <p:cNvSpPr/>
          <p:nvPr/>
        </p:nvSpPr>
        <p:spPr bwMode="auto">
          <a:xfrm>
            <a:off x="1123920" y="8247600"/>
            <a:ext cx="10342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L5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750742" name="Text 58"/>
          <p:cNvSpPr/>
          <p:nvPr/>
        </p:nvSpPr>
        <p:spPr bwMode="auto">
          <a:xfrm>
            <a:off x="2168280" y="8247600"/>
            <a:ext cx="43225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運営収益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609816" name="Text 59"/>
          <p:cNvSpPr/>
          <p:nvPr/>
        </p:nvSpPr>
        <p:spPr bwMode="auto">
          <a:xfrm>
            <a:off x="6307560" y="8247600"/>
            <a:ext cx="1983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¥0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514426" name="Text 60"/>
          <p:cNvSpPr/>
          <p:nvPr/>
        </p:nvSpPr>
        <p:spPr bwMode="auto">
          <a:xfrm>
            <a:off x="8233560" y="8247600"/>
            <a:ext cx="1983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¥3M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3252366" name="Text 61"/>
          <p:cNvSpPr/>
          <p:nvPr/>
        </p:nvSpPr>
        <p:spPr bwMode="auto">
          <a:xfrm>
            <a:off x="1123920" y="8539200"/>
            <a:ext cx="10342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1" u="none" strike="noStrike">
                <a:solidFill>
                  <a:srgbClr val="1F2A24"/>
                </a:solidFill>
                <a:latin typeface="Courier New"/>
                <a:ea typeface="Courier New"/>
              </a:rPr>
              <a:t>∑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7996338" name="Text 62"/>
          <p:cNvSpPr/>
          <p:nvPr/>
        </p:nvSpPr>
        <p:spPr bwMode="auto">
          <a:xfrm>
            <a:off x="2168280" y="8539200"/>
            <a:ext cx="432252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zh-CN" sz="1800" b="1" u="none" strike="noStrike">
                <a:solidFill>
                  <a:srgbClr val="1F2A24"/>
                </a:solidFill>
                <a:latin typeface="Courier New"/>
                <a:ea typeface="Courier New"/>
              </a:rPr>
              <a:t>概算合計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5392541" name="Text 63"/>
          <p:cNvSpPr/>
          <p:nvPr/>
        </p:nvSpPr>
        <p:spPr bwMode="auto">
          <a:xfrm>
            <a:off x="6307560" y="8539200"/>
            <a:ext cx="198324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1" u="none" strike="noStrike">
                <a:solidFill>
                  <a:srgbClr val="1F2A24"/>
                </a:solidFill>
                <a:latin typeface="Courier New"/>
                <a:ea typeface="Courier New"/>
              </a:rPr>
              <a:t>¥11M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228131" name="Text 64"/>
          <p:cNvSpPr/>
          <p:nvPr/>
        </p:nvSpPr>
        <p:spPr bwMode="auto">
          <a:xfrm>
            <a:off x="8233560" y="8539200"/>
            <a:ext cx="198324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1" u="none" strike="noStrike">
                <a:solidFill>
                  <a:srgbClr val="1F2A24"/>
                </a:solidFill>
                <a:latin typeface="Courier New"/>
                <a:ea typeface="Courier New"/>
              </a:rPr>
              <a:t>¥134M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8397296" name="Text 65"/>
          <p:cNvSpPr/>
          <p:nvPr/>
        </p:nvSpPr>
        <p:spPr bwMode="auto">
          <a:xfrm>
            <a:off x="10683720" y="6356880"/>
            <a:ext cx="67528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六つの運営原則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1397585" name="Text 66"/>
          <p:cNvSpPr/>
          <p:nvPr/>
        </p:nvSpPr>
        <p:spPr bwMode="auto">
          <a:xfrm>
            <a:off x="10683720" y="6766560"/>
            <a:ext cx="323892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4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I. 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地域第一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234461" name="Text 67"/>
          <p:cNvSpPr/>
          <p:nvPr/>
        </p:nvSpPr>
        <p:spPr bwMode="auto">
          <a:xfrm>
            <a:off x="14095440" y="6766560"/>
            <a:ext cx="323892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4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II. 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開放と透明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4769765" name="Text 68"/>
          <p:cNvSpPr/>
          <p:nvPr/>
        </p:nvSpPr>
        <p:spPr bwMode="auto">
          <a:xfrm>
            <a:off x="10683720" y="7182000"/>
            <a:ext cx="323892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4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III. 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忍耐と長期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5952324" name="Text 69"/>
          <p:cNvSpPr/>
          <p:nvPr/>
        </p:nvSpPr>
        <p:spPr bwMode="auto">
          <a:xfrm>
            <a:off x="14095440" y="7182000"/>
            <a:ext cx="323892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4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IV. 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複製可能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963746" name="Text 70"/>
          <p:cNvSpPr/>
          <p:nvPr/>
        </p:nvSpPr>
        <p:spPr bwMode="auto">
          <a:xfrm>
            <a:off x="10683720" y="7597080"/>
            <a:ext cx="323892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4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V. 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規模は控えめ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1281984" name="Text 71"/>
          <p:cNvSpPr/>
          <p:nvPr/>
        </p:nvSpPr>
        <p:spPr bwMode="auto">
          <a:xfrm>
            <a:off x="14095440" y="7597080"/>
            <a:ext cx="323892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4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VI. 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非党派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729794" name="Text 72"/>
          <p:cNvSpPr/>
          <p:nvPr/>
        </p:nvSpPr>
        <p:spPr bwMode="auto">
          <a:xfrm flipH="0" flipV="0">
            <a:off x="1047600" y="9191520"/>
            <a:ext cx="1355524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10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437043" name="Text 73"/>
          <p:cNvSpPr/>
          <p:nvPr/>
        </p:nvSpPr>
        <p:spPr bwMode="auto">
          <a:xfrm>
            <a:off x="13503240" y="9191520"/>
            <a:ext cx="38487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25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年の視野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&gt;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一つの流行サイクル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2F4A3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0730786" name="Shape 0"/>
          <p:cNvSpPr/>
          <p:nvPr/>
        </p:nvSpPr>
        <p:spPr bwMode="auto">
          <a:xfrm>
            <a:off x="1047600" y="762120"/>
            <a:ext cx="456840" cy="456840"/>
          </a:xfrm>
          <a:prstGeom prst="ellipse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2284194" name="Text 1"/>
          <p:cNvSpPr/>
          <p:nvPr/>
        </p:nvSpPr>
        <p:spPr bwMode="auto">
          <a:xfrm>
            <a:off x="1047600" y="762120"/>
            <a:ext cx="5331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2F4A37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5072173" name="Text 2"/>
          <p:cNvSpPr/>
          <p:nvPr/>
        </p:nvSpPr>
        <p:spPr bwMode="auto">
          <a:xfrm>
            <a:off x="1638360" y="8240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6109233" name="Text 3"/>
          <p:cNvSpPr/>
          <p:nvPr/>
        </p:nvSpPr>
        <p:spPr bwMode="auto">
          <a:xfrm>
            <a:off x="13964760" y="762120"/>
            <a:ext cx="33735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§ 10 · </a:t>
            </a:r>
            <a:r>
              <a:rPr lang="zh-CN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十年単位で考える方へ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5203197" name="Text 4"/>
          <p:cNvSpPr/>
          <p:nvPr/>
        </p:nvSpPr>
        <p:spPr bwMode="auto">
          <a:xfrm>
            <a:off x="1047600" y="1769040"/>
            <a:ext cx="83246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あなたの時間軸が私たちと合うなら…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8836413" name="Text 5"/>
          <p:cNvSpPr/>
          <p:nvPr/>
        </p:nvSpPr>
        <p:spPr bwMode="auto">
          <a:xfrm>
            <a:off x="1047600" y="2331000"/>
            <a:ext cx="8324640" cy="57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  <a:defRPr/>
            </a:pPr>
            <a:r>
              <a:rPr lang="zh-CN" sz="6300" b="1" u="none" strike="noStrike" spc="-31">
                <a:solidFill>
                  <a:srgbClr val="F3ECE0"/>
                </a:solidFill>
                <a:latin typeface="Noto Serif JP"/>
                <a:ea typeface="Noto Serif JP"/>
              </a:rPr>
              <a:t>私たちが求めているのは、 忍耐強い資本、 率直なご批判、 そして数人の </a:t>
            </a:r>
            <a:r>
              <a:rPr lang="zh-CN" sz="6300" b="1" u="none" strike="noStrike" spc="-31">
                <a:solidFill>
                  <a:srgbClr val="F3B486"/>
                </a:solidFill>
                <a:latin typeface="Noto Serif JP"/>
                <a:ea typeface="Noto Serif JP"/>
              </a:rPr>
              <a:t>良き隣人。</a:t>
            </a:r>
            <a:endParaRPr lang="en-US" sz="63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9056244" name="Text 6"/>
          <p:cNvSpPr/>
          <p:nvPr/>
        </p:nvSpPr>
        <p:spPr bwMode="auto">
          <a:xfrm>
            <a:off x="9892440" y="1769040"/>
            <a:ext cx="75679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いま助かるご支援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996244" name="Text 7"/>
          <p:cNvSpPr/>
          <p:nvPr/>
        </p:nvSpPr>
        <p:spPr bwMode="auto">
          <a:xfrm>
            <a:off x="9718920" y="2235960"/>
            <a:ext cx="7597080" cy="157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ご紹介</a:t>
            </a: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:</a:t>
            </a:r>
            <a:r>
              <a:rPr lang="zh-CN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農村に信頼のある日本人共同創設者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アドバイザー</a:t>
            </a: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:</a:t>
            </a:r>
            <a:r>
              <a:rPr lang="zh-CN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林業、エッジ計算、日本の非営利法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第</a:t>
            </a: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1</a:t>
            </a:r>
            <a:r>
              <a:rPr lang="zh-CN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段階の忍耐強い出資者</a:t>
            </a: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(¥3–8M)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率直なご批判——論点のどこが間違っているか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031958" name="Shape 8"/>
          <p:cNvSpPr/>
          <p:nvPr/>
        </p:nvSpPr>
        <p:spPr bwMode="auto">
          <a:xfrm>
            <a:off x="9892440" y="4056840"/>
            <a:ext cx="7347600" cy="9000"/>
          </a:xfrm>
          <a:prstGeom prst="rect">
            <a:avLst/>
          </a:prstGeom>
          <a:solidFill>
            <a:srgbClr val="F3ECE0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504544" name="Shape 9"/>
          <p:cNvSpPr/>
          <p:nvPr/>
        </p:nvSpPr>
        <p:spPr bwMode="auto">
          <a:xfrm>
            <a:off x="9892440" y="4276080"/>
            <a:ext cx="1618920" cy="1618920"/>
          </a:xfrm>
          <a:prstGeom prst="rect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6991283" name="Image 0" descr="preencoded.png"/>
          <p:cNvPicPr/>
          <p:nvPr/>
        </p:nvPicPr>
        <p:blipFill rotWithShape="1">
          <a:blip r:embed="rId3"/>
          <a:stretch/>
        </p:blipFill>
        <p:spPr bwMode="auto">
          <a:xfrm>
            <a:off x="9987480" y="4371480"/>
            <a:ext cx="1428480" cy="142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737617" name="Text 10"/>
          <p:cNvSpPr/>
          <p:nvPr/>
        </p:nvSpPr>
        <p:spPr bwMode="auto">
          <a:xfrm>
            <a:off x="11778120" y="4357080"/>
            <a:ext cx="56253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QR</a:t>
            </a: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コードでアクセス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139398" name="Text 11"/>
          <p:cNvSpPr/>
          <p:nvPr/>
        </p:nvSpPr>
        <p:spPr bwMode="auto">
          <a:xfrm>
            <a:off x="11778120" y="4747680"/>
            <a:ext cx="56253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2250" b="0" u="none" strike="noStrike">
                <a:solidFill>
                  <a:srgbClr val="F3ECE0"/>
                </a:solidFill>
                <a:latin typeface="Courier New"/>
                <a:ea typeface="Courier New"/>
              </a:rPr>
              <a:t>mitsue.it</a:t>
            </a:r>
            <a:endParaRPr lang="en-US" sz="225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840289" name="Text 12"/>
          <p:cNvSpPr/>
          <p:nvPr/>
        </p:nvSpPr>
        <p:spPr bwMode="auto">
          <a:xfrm>
            <a:off x="11778120" y="5138280"/>
            <a:ext cx="562536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500" b="0" u="none" strike="noStrike">
                <a:solidFill>
                  <a:srgbClr val="F3ECE0">
                    <a:alpha val="70000"/>
                  </a:srgbClr>
                </a:solidFill>
                <a:latin typeface="Courier New"/>
                <a:ea typeface="Courier New"/>
              </a:rPr>
              <a:t>codeberg.org / YR-Design / mitsue-ai-data-center</a:t>
            </a:r>
            <a:endParaRPr lang="en-US" sz="15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6098738" name="Text 13"/>
          <p:cNvSpPr/>
          <p:nvPr/>
        </p:nvSpPr>
        <p:spPr bwMode="auto">
          <a:xfrm>
            <a:off x="11778120" y="5595480"/>
            <a:ext cx="562536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500" b="0" u="none" strike="noStrike">
                <a:solidFill>
                  <a:srgbClr val="F3ECE0">
                    <a:alpha val="70000"/>
                  </a:srgbClr>
                </a:solidFill>
                <a:latin typeface="Courier New"/>
                <a:ea typeface="Courier New"/>
              </a:rPr>
              <a:t>info@mitsue.it</a:t>
            </a:r>
            <a:endParaRPr lang="en-US" sz="15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6715348" name="Shape 14"/>
          <p:cNvSpPr/>
          <p:nvPr/>
        </p:nvSpPr>
        <p:spPr bwMode="auto">
          <a:xfrm>
            <a:off x="9892440" y="6123960"/>
            <a:ext cx="7347600" cy="9000"/>
          </a:xfrm>
          <a:prstGeom prst="rect">
            <a:avLst/>
          </a:prstGeom>
          <a:solidFill>
            <a:srgbClr val="F3ECE0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5590522" name="Text 15"/>
          <p:cNvSpPr/>
          <p:nvPr/>
        </p:nvSpPr>
        <p:spPr bwMode="auto">
          <a:xfrm>
            <a:off x="9892440" y="6305039"/>
            <a:ext cx="75679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プロジェクトリード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0919286" name="Text 16"/>
          <p:cNvSpPr/>
          <p:nvPr/>
        </p:nvSpPr>
        <p:spPr bwMode="auto">
          <a:xfrm>
            <a:off x="9892440" y="6695280"/>
            <a:ext cx="7567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000" b="1" u="none" strike="noStrike" spc="-14">
                <a:solidFill>
                  <a:srgbClr val="F3ECE0"/>
                </a:solidFill>
                <a:latin typeface="Noto Serif JP"/>
                <a:ea typeface="Noto Serif JP"/>
              </a:rPr>
              <a:t>Rob Oudendijk</a:t>
            </a:r>
            <a:endParaRPr lang="en-US" sz="30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6863" name="Text 17"/>
          <p:cNvSpPr/>
          <p:nvPr/>
        </p:nvSpPr>
        <p:spPr bwMode="auto">
          <a:xfrm>
            <a:off x="9892440" y="7114680"/>
            <a:ext cx="6009480" cy="41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>
                    <a:alpha val="80000"/>
                  </a:srgbClr>
                </a:solidFill>
                <a:latin typeface="Noto Sans JP"/>
                <a:ea typeface="Noto Sans JP"/>
              </a:rPr>
              <a:t>YR-Design · Safecast · </a:t>
            </a:r>
            <a:r>
              <a:rPr lang="zh-CN" sz="1800" b="0" u="none" strike="noStrike">
                <a:solidFill>
                  <a:srgbClr val="F3ECE0">
                    <a:alpha val="80000"/>
                  </a:srgbClr>
                </a:solidFill>
                <a:latin typeface="Noto Sans JP"/>
                <a:ea typeface="Noto Sans JP"/>
              </a:rPr>
              <a:t>奈良県御杖村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6522552" name="Text 18"/>
          <p:cNvSpPr/>
          <p:nvPr/>
        </p:nvSpPr>
        <p:spPr bwMode="auto">
          <a:xfrm flipH="0" flipV="0">
            <a:off x="1047600" y="9191520"/>
            <a:ext cx="1415055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11 / 11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8286961" name="Text 19"/>
          <p:cNvSpPr/>
          <p:nvPr/>
        </p:nvSpPr>
        <p:spPr bwMode="auto">
          <a:xfrm>
            <a:off x="13171320" y="9191520"/>
            <a:ext cx="41904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ありがとうございました </a:t>
            </a: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· Thank you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ONLYOFFICE/9.4.0.129</Application>
  <PresentationFormat>On-screen Show (4:3)</PresentationFormat>
  <Paragraphs>0</Paragraphs>
  <Slides>11</Slides>
  <Notes>11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dc:description/>
  <dc:language>en-US</dc:language>
  <cp:lastModifiedBy/>
  <cp:revision>3</cp:revision>
  <dcterms:created xsi:type="dcterms:W3CDTF">2026-05-28T12:44:57Z</dcterms:created>
  <dcterms:modified xsi:type="dcterms:W3CDTF">2026-05-29T11:42:01Z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11</vt:i4>
  </property>
  <property fmtid="{D5CDD505-2E9C-101B-9397-08002B2CF9AE}" pid="3" name="PresentationFormat">
    <vt:lpwstr>On-screen Show (16:9)</vt:lpwstr>
  </property>
  <property fmtid="{D5CDD505-2E9C-101B-9397-08002B2CF9AE}" pid="4" name="Slides">
    <vt:i4>11</vt:i4>
  </property>
</Properties>
</file>