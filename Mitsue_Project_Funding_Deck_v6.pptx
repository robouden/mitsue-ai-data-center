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media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6"/>
          <a:sy n="0" d="2"/>
        </p:scale>
        <p:origin x="1130769232" y="0"/>
      </p:cViewPr>
      <p:guideLst>
        <p:guide pos="5760"/>
        <p:guide pos="324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tableStyles" Target="tableStyles.xml"/><Relationship Id="rId2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320535789" name="PlaceHolder 1"/>
          <p:cNvSpPr>
            <a:spLocks noGrp="1"/>
          </p:cNvSpPr>
          <p:nvPr>
            <p:ph type="sldImg"/>
          </p:nvPr>
        </p:nvSpPr>
        <p:spPr bwMode="auto">
          <a:xfrm>
            <a:off x="216000" y="812520"/>
            <a:ext cx="7127280" cy="4008960"/>
          </a:xfrm>
          <a:prstGeom prst="rect">
            <a:avLst/>
          </a:prstGeom>
          <a:noFill/>
          <a:ln w="0">
            <a:noFill/>
          </a:ln>
        </p:spPr>
        <p:txBody>
          <a:bodyPr lIns="0" tIns="0" rIns="0" bIns="0" anchor="ctr">
            <a:noAutofit/>
          </a:bodyPr>
          <a:p>
            <a:pPr>
              <a:defRPr/>
            </a:pPr>
            <a:r>
              <a:rPr lang="en-US" sz="1800" b="0" u="none" strike="noStrike">
                <a:solidFill>
                  <a:schemeClr val="dk1"/>
                </a:solidFill>
                <a:latin typeface="Calibri"/>
              </a:rPr>
              <a:t>Click to move the slide</a:t>
            </a:r>
            <a:endParaRPr lang="en-US" sz="1800" b="0" u="none" strike="noStrike">
              <a:solidFill>
                <a:schemeClr val="dk1"/>
              </a:solidFill>
              <a:latin typeface="Calibri"/>
            </a:endParaRPr>
          </a:p>
        </p:txBody>
      </p:sp>
      <p:sp>
        <p:nvSpPr>
          <p:cNvPr id="978374322"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indent="0" algn="l">
              <a:buNone/>
              <a:defRPr/>
            </a:pPr>
            <a:r>
              <a:rPr lang="en-US" sz="2000" b="0" u="none" strike="noStrike">
                <a:solidFill>
                  <a:srgbClr val="000000"/>
                </a:solidFill>
                <a:latin typeface="Arial"/>
              </a:rPr>
              <a:t>Click to edit the notes format</a:t>
            </a:r>
            <a:endParaRPr lang="en-US" sz="2000" b="0" u="none" strike="noStrike">
              <a:solidFill>
                <a:srgbClr val="000000"/>
              </a:solidFill>
              <a:latin typeface="Arial"/>
            </a:endParaRPr>
          </a:p>
        </p:txBody>
      </p:sp>
      <p:sp>
        <p:nvSpPr>
          <p:cNvPr id="1207325289"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797066999"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latin typeface="Times New Roman"/>
              </a:defRPr>
            </a:lvl1pPr>
          </a:lstStyle>
          <a:p>
            <a:pPr indent="0" algn="r">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639205633"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latin typeface="Times New Roman"/>
              </a:defRPr>
            </a:lvl1pPr>
          </a:lstStyle>
          <a:p>
            <a:pPr indent="0" algn="l">
              <a:buNone/>
              <a:defRPr/>
            </a:pPr>
            <a:r>
              <a:rPr lang="en-US" sz="1400" b="0" u="none" strike="noStrike">
                <a:solidFill>
                  <a:srgbClr val="000000"/>
                </a:solidFill>
                <a:latin typeface="Times New Roman"/>
              </a:rPr>
              <a:t> </a:t>
            </a:r>
            <a:endParaRPr lang="en-US" sz="1400" b="0" u="none" strike="noStrike">
              <a:solidFill>
                <a:srgbClr val="000000"/>
              </a:solidFill>
              <a:latin typeface="Times New Roman"/>
            </a:endParaRPr>
          </a:p>
        </p:txBody>
      </p:sp>
      <p:sp>
        <p:nvSpPr>
          <p:cNvPr id="522645482"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latin typeface="Times New Roman"/>
              </a:defRPr>
            </a:lvl1pPr>
          </a:lstStyle>
          <a:p>
            <a:pPr indent="0" algn="r">
              <a:buNone/>
              <a:defRPr/>
            </a:pPr>
            <a:fld id="{7D290924-AA94-40AD-A587-F21914333765}" type="slidenum">
              <a:rPr lang="en-US" sz="1400" b="0" u="none" strike="noStrike">
                <a:solidFill>
                  <a:srgbClr val="000000"/>
                </a:solidFill>
                <a:latin typeface="Times New Roman"/>
              </a:rPr>
              <a:t>1</a:t>
            </a:fld>
            <a:endParaRPr lang="en-U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1131814" name="Slide Image Placeholder 1"/>
          <p:cNvSpPr>
            <a:spLocks noChangeAspect="1" noGrp="1" noRot="1"/>
          </p:cNvSpPr>
          <p:nvPr>
            <p:ph type="sldImg"/>
          </p:nvPr>
        </p:nvSpPr>
        <p:spPr bwMode="auto"/>
      </p:sp>
      <p:sp>
        <p:nvSpPr>
          <p:cNvPr id="1864874732" name="Notes Placeholder 2"/>
          <p:cNvSpPr>
            <a:spLocks noGrp="1"/>
          </p:cNvSpPr>
          <p:nvPr>
            <p:ph type="body" idx="1"/>
          </p:nvPr>
        </p:nvSpPr>
        <p:spPr bwMode="auto"/>
        <p:txBody>
          <a:bodyPr/>
          <a:lstStyle/>
          <a:p>
            <a:pPr>
              <a:defRPr/>
            </a:pPr>
            <a:endParaRPr/>
          </a:p>
        </p:txBody>
      </p:sp>
      <p:sp>
        <p:nvSpPr>
          <p:cNvPr id="281279600" name="Slide Number Placeholder 3"/>
          <p:cNvSpPr>
            <a:spLocks noGrp="1"/>
          </p:cNvSpPr>
          <p:nvPr>
            <p:ph type="sldNum" sz="quarter" idx="10"/>
          </p:nvPr>
        </p:nvSpPr>
        <p:spPr bwMode="auto"/>
        <p:txBody>
          <a:bodyPr/>
          <a:lstStyle/>
          <a:p>
            <a:pPr>
              <a:defRPr/>
            </a:pPr>
            <a:fld id="{DD427868-59A5-2A97-C608-B98057339888}"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8969486" name="PlaceHolder 1"/>
          <p:cNvSpPr>
            <a:spLocks noGrp="1"/>
          </p:cNvSpPr>
          <p:nvPr>
            <p:ph type="sldImg"/>
          </p:nvPr>
        </p:nvSpPr>
        <p:spPr bwMode="auto">
          <a:xfrm>
            <a:off x="685800" y="1143000"/>
            <a:ext cx="5485680" cy="3085560"/>
          </a:xfrm>
          <a:prstGeom prst="rect">
            <a:avLst/>
          </a:prstGeom>
          <a:ln w="0">
            <a:noFill/>
          </a:ln>
        </p:spPr>
      </p:sp>
      <p:sp>
        <p:nvSpPr>
          <p:cNvPr id="1781375591"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Good morning, and thank you for being here. What you're looking at is a village in eastern Nara called Mitsue — ninety-three percent forest, fewer than fifteen hundred people, and getting smaller every year. Over the next ten minutes I want to show you why we think this particular village is the right place to prove something much larger: that rural decline can be reversed with a model that pays for itself, and that what works here can be copied anywhere. This is an invitation to invest in that proof.</a:t>
            </a:r>
            <a:endParaRPr lang="en-US" sz="2000" b="0" u="none" strike="noStrike">
              <a:solidFill>
                <a:srgbClr val="000000"/>
              </a:solidFill>
              <a:latin typeface="Arial"/>
            </a:endParaRPr>
          </a:p>
        </p:txBody>
      </p:sp>
      <p:sp>
        <p:nvSpPr>
          <p:cNvPr id="935831994" name="PlaceHolder 3"/>
          <p:cNvSpPr>
            <a:spLocks noGrp="1"/>
          </p:cNvSpPr>
          <p:nvPr>
            <p:ph type="sldNum" idx="4"/>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4E5CDDB6-6CA0-404E-AB13-83275DD22790}"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6091257" name="PlaceHolder 1"/>
          <p:cNvSpPr>
            <a:spLocks noGrp="1"/>
          </p:cNvSpPr>
          <p:nvPr>
            <p:ph type="sldImg"/>
          </p:nvPr>
        </p:nvSpPr>
        <p:spPr bwMode="auto">
          <a:xfrm>
            <a:off x="685800" y="1143000"/>
            <a:ext cx="5485680" cy="3085560"/>
          </a:xfrm>
          <a:prstGeom prst="rect">
            <a:avLst/>
          </a:prstGeom>
          <a:ln w="0">
            <a:noFill/>
          </a:ln>
        </p:spPr>
      </p:sp>
      <p:sp>
        <p:nvSpPr>
          <p:cNvPr id="64141221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Let me start with the idea itself, because it's simple. Most rural revitalization fails because it depends on subsidy that never ends. Ours is built the other way around: three activities — restoring the forest, generating clean energy, and running a small community-owned data center — wired together so that each one feeds the next, and the whole thing eventually funds itself. And here's the part I most want you to hold onto: the data center is not the point. It is the engine. The forest, the jobs, and the village's future are the return on it.</a:t>
            </a:r>
            <a:endParaRPr lang="en-US" sz="2000" b="0" u="none" strike="noStrike">
              <a:solidFill>
                <a:srgbClr val="000000"/>
              </a:solidFill>
              <a:latin typeface="Arial"/>
            </a:endParaRPr>
          </a:p>
        </p:txBody>
      </p:sp>
      <p:sp>
        <p:nvSpPr>
          <p:cNvPr id="422821228" name="PlaceHolder 3"/>
          <p:cNvSpPr>
            <a:spLocks noGrp="1"/>
          </p:cNvSpPr>
          <p:nvPr>
            <p:ph type="sldNum" idx="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4CB3A526-1DA5-429A-9BDC-6B3177C85903}"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4870694" name="PlaceHolder 1"/>
          <p:cNvSpPr>
            <a:spLocks noGrp="1"/>
          </p:cNvSpPr>
          <p:nvPr>
            <p:ph type="sldImg"/>
          </p:nvPr>
        </p:nvSpPr>
        <p:spPr bwMode="auto">
          <a:xfrm>
            <a:off x="685800" y="1143000"/>
            <a:ext cx="5485680" cy="3085560"/>
          </a:xfrm>
          <a:prstGeom prst="rect">
            <a:avLst/>
          </a:prstGeom>
          <a:ln w="0">
            <a:noFill/>
          </a:ln>
        </p:spPr>
      </p:sp>
      <p:sp>
        <p:nvSpPr>
          <p:cNvPr id="475401717"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So what are we starting with? Be honest about it. The population is under fifteen hundred and projected to roughly halve again; more than half of who remains will be over sixty-five. The mountains are ninety-three percent forest, but most of it is aging cedar plantation that nobody is managing — a pollen and landslide liability, not an asset. The elementary school closed and now costs the village money to stand empty. And almost every yen of energy is bought from outside and shipped in. Four problems — but notice they are also four raw materials.</a:t>
            </a:r>
            <a:endParaRPr lang="en-US" sz="2000" b="0" u="none" strike="noStrike">
              <a:solidFill>
                <a:srgbClr val="000000"/>
              </a:solidFill>
              <a:latin typeface="Arial"/>
            </a:endParaRPr>
          </a:p>
        </p:txBody>
      </p:sp>
      <p:sp>
        <p:nvSpPr>
          <p:cNvPr id="783264598" name="PlaceHolder 3"/>
          <p:cNvSpPr>
            <a:spLocks noGrp="1"/>
          </p:cNvSpPr>
          <p:nvPr>
            <p:ph type="sldNum" idx="6"/>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DE89BD5D-0112-4C91-BE97-2633601385C0}"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6451637" name="PlaceHolder 1"/>
          <p:cNvSpPr>
            <a:spLocks noGrp="1"/>
          </p:cNvSpPr>
          <p:nvPr>
            <p:ph type="sldImg"/>
          </p:nvPr>
        </p:nvSpPr>
        <p:spPr bwMode="auto">
          <a:xfrm>
            <a:off x="685800" y="1143000"/>
            <a:ext cx="5485680" cy="3085560"/>
          </a:xfrm>
          <a:prstGeom prst="rect">
            <a:avLst/>
          </a:prstGeom>
          <a:ln w="0">
            <a:noFill/>
          </a:ln>
        </p:spPr>
      </p:sp>
      <p:sp>
        <p:nvSpPr>
          <p:cNvPr id="2091951774"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Here is how the four raw materials connect. Start anywhere — say the village. The village manages the forest. The forest yields timber and fuel. That fuel makes heat and power. That energy runs a small data center. The data center earns revenue. And the revenue flows back into the forest, the jobs, and the village. It's a loop, not a line — a circular economy where the output of each step is the input to the next. Subsidy might prime it, but the loop is designed to keep turning on its own.</a:t>
            </a:r>
            <a:endParaRPr lang="en-US" sz="2000" b="0" u="none" strike="noStrike">
              <a:solidFill>
                <a:srgbClr val="000000"/>
              </a:solidFill>
              <a:latin typeface="Arial"/>
            </a:endParaRPr>
          </a:p>
        </p:txBody>
      </p:sp>
      <p:sp>
        <p:nvSpPr>
          <p:cNvPr id="1764025720" name="PlaceHolder 3"/>
          <p:cNvSpPr>
            <a:spLocks noGrp="1"/>
          </p:cNvSpPr>
          <p:nvPr>
            <p:ph type="sldNum" idx="7"/>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0F882D67-BAD2-4918-B724-6009A06EFBE5}"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7820960" name="PlaceHolder 1"/>
          <p:cNvSpPr>
            <a:spLocks noGrp="1"/>
          </p:cNvSpPr>
          <p:nvPr>
            <p:ph type="sldImg"/>
          </p:nvPr>
        </p:nvSpPr>
        <p:spPr bwMode="auto">
          <a:xfrm>
            <a:off x="685800" y="1143000"/>
            <a:ext cx="5485680" cy="3085560"/>
          </a:xfrm>
          <a:prstGeom prst="rect">
            <a:avLst/>
          </a:prstGeom>
          <a:ln w="0">
            <a:noFill/>
          </a:ln>
        </p:spPr>
      </p:sp>
      <p:sp>
        <p:nvSpPr>
          <p:cNvPr id="161294481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Let's talk about the engine, because it's the part that makes this an investment and not a donation. We take the closed elementary school and turn it into a small, energy-efficient data center — edge and AI compute, powered by local renewable energy. It is deliberately modest: sized for accountability and community ownership, not hyperscale. But it produces something the forest and the village never could on their own — recurring digital revenue. That revenue is what funds the restoration, the jobs, and the charging network, year after year.</a:t>
            </a:r>
            <a:endParaRPr lang="en-US" sz="2000" b="0" u="none" strike="noStrike">
              <a:solidFill>
                <a:srgbClr val="000000"/>
              </a:solidFill>
              <a:latin typeface="Arial"/>
            </a:endParaRPr>
          </a:p>
        </p:txBody>
      </p:sp>
      <p:sp>
        <p:nvSpPr>
          <p:cNvPr id="1565626802" name="PlaceHolder 3"/>
          <p:cNvSpPr>
            <a:spLocks noGrp="1"/>
          </p:cNvSpPr>
          <p:nvPr>
            <p:ph type="sldNum" idx="8"/>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92682D6-D7DC-4EFC-BBF9-3FE35348A787}"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4762397" name="PlaceHolder 1"/>
          <p:cNvSpPr>
            <a:spLocks noGrp="1"/>
          </p:cNvSpPr>
          <p:nvPr>
            <p:ph type="sldImg"/>
          </p:nvPr>
        </p:nvSpPr>
        <p:spPr bwMode="auto">
          <a:xfrm>
            <a:off x="685800" y="1143000"/>
            <a:ext cx="5485680" cy="3085560"/>
          </a:xfrm>
          <a:prstGeom prst="rect">
            <a:avLst/>
          </a:prstGeom>
          <a:ln w="0">
            <a:noFill/>
          </a:ln>
        </p:spPr>
      </p:sp>
      <p:sp>
        <p:nvSpPr>
          <p:cNvPr id="515976040"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The forest is where the environmental return lives, and it's a twenty-five year job by nature. Post-war Japan planted enormous monocultures of sugi cedar that were never thinned. We replace them, in phases, with native broadleaf species — working alongside the landowners, the village forestry cooperative, and the Forestry Agency. That does three things at once: it pulls the aging plantation down as fuel for the energy system, it brings back biodiversity and water retention, and it earns carbon credits. The liability becomes the feedstock.</a:t>
            </a:r>
            <a:endParaRPr lang="en-US" sz="2000" b="0" u="none" strike="noStrike">
              <a:solidFill>
                <a:srgbClr val="000000"/>
              </a:solidFill>
              <a:latin typeface="Arial"/>
            </a:endParaRPr>
          </a:p>
        </p:txBody>
      </p:sp>
      <p:sp>
        <p:nvSpPr>
          <p:cNvPr id="624333629" name="PlaceHolder 3"/>
          <p:cNvSpPr>
            <a:spLocks noGrp="1"/>
          </p:cNvSpPr>
          <p:nvPr>
            <p:ph type="sldNum" idx="9"/>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03F88B15-0928-4ABA-AD76-CCD93CA0D926}"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6630391" name="PlaceHolder 1"/>
          <p:cNvSpPr>
            <a:spLocks noGrp="1"/>
          </p:cNvSpPr>
          <p:nvPr>
            <p:ph type="sldImg"/>
          </p:nvPr>
        </p:nvSpPr>
        <p:spPr bwMode="auto">
          <a:xfrm>
            <a:off x="685800" y="1143000"/>
            <a:ext cx="5485680" cy="3085560"/>
          </a:xfrm>
          <a:prstGeom prst="rect">
            <a:avLst/>
          </a:prstGeom>
          <a:ln w="0">
            <a:noFill/>
          </a:ln>
        </p:spPr>
      </p:sp>
      <p:sp>
        <p:nvSpPr>
          <p:cNvPr id="2011296480"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Let me be clear about the priority, because it drives everything downstream. Power comes first. The whole point is electricity — to run the AI data center and to build out EV charging for residents and visitors. That is the demand we are designing around. Heat is real and we will capture it, but it comes second: we do not have a committed heat off-taker yet, so we treat recovered heat as an opportunity to develop, not a foundation to depend on. The supply mix is unchanged — biomass for baseload, the village's existing solar by day, the grid for backup — but it is pointed squarely at compute and mobility.</a:t>
            </a:r>
            <a:endParaRPr lang="en-US" sz="2000" b="0" u="none" strike="noStrike">
              <a:solidFill>
                <a:srgbClr val="000000"/>
              </a:solidFill>
              <a:latin typeface="Arial"/>
            </a:endParaRPr>
          </a:p>
        </p:txBody>
      </p:sp>
      <p:sp>
        <p:nvSpPr>
          <p:cNvPr id="1501876005" name="PlaceHolder 3"/>
          <p:cNvSpPr>
            <a:spLocks noGrp="1"/>
          </p:cNvSpPr>
          <p:nvPr>
            <p:ph type="sldNum" idx="10"/>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A08F272A-61C5-4889-A873-0AB0DB647DE6}"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5234309" name="PlaceHolder 1"/>
          <p:cNvSpPr>
            <a:spLocks noGrp="1"/>
          </p:cNvSpPr>
          <p:nvPr>
            <p:ph type="sldImg"/>
          </p:nvPr>
        </p:nvSpPr>
        <p:spPr bwMode="auto">
          <a:xfrm>
            <a:off x="685800" y="1143000"/>
            <a:ext cx="5485680" cy="3085560"/>
          </a:xfrm>
          <a:prstGeom prst="rect">
            <a:avLst/>
          </a:prstGeom>
          <a:ln w="0">
            <a:noFill/>
          </a:ln>
        </p:spPr>
      </p:sp>
      <p:sp>
        <p:nvSpPr>
          <p:cNvPr id="973242218"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buNone/>
              <a:defRPr/>
            </a:pPr>
            <a:endParaRPr lang="en-US" sz="1800" b="0" u="none" strike="noStrike">
              <a:solidFill>
                <a:srgbClr val="000000"/>
              </a:solidFill>
              <a:latin typeface="Arial"/>
            </a:endParaRPr>
          </a:p>
        </p:txBody>
      </p:sp>
      <p:sp>
        <p:nvSpPr>
          <p:cNvPr id="153752588" name="PlaceHolder 3"/>
          <p:cNvSpPr>
            <a:spLocks noGrp="1"/>
          </p:cNvSpPr>
          <p:nvPr>
            <p:ph type="sldNum" idx="11"/>
          </p:nvPr>
        </p:nvSpPr>
        <p:spPr bwMode="auto">
          <a:xfrm>
            <a:off x="3884760" y="8685360"/>
            <a:ext cx="2971080" cy="457920"/>
          </a:xfrm>
          <a:prstGeom prst="rect">
            <a:avLst/>
          </a:prstGeom>
          <a:noFill/>
          <a:ln w="0">
            <a:noFill/>
          </a:ln>
        </p:spPr>
        <p:txBody>
          <a:bodyPr lIns="91440" tIns="45720" rIns="91440" bIns="45720" anchor="b">
            <a:noAutofit/>
          </a:bodyPr>
          <a:p>
            <a:pPr indent="0" algn="l">
              <a:buNone/>
              <a:defRPr/>
            </a:pPr>
            <a:endParaRPr lang="en-US" sz="1400" b="0" u="none" strike="noStrike">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983906" name="PlaceHolder 1"/>
          <p:cNvSpPr>
            <a:spLocks noGrp="1"/>
          </p:cNvSpPr>
          <p:nvPr>
            <p:ph type="sldImg"/>
          </p:nvPr>
        </p:nvSpPr>
        <p:spPr bwMode="auto">
          <a:xfrm>
            <a:off x="685800" y="1143000"/>
            <a:ext cx="5485680" cy="3085560"/>
          </a:xfrm>
          <a:prstGeom prst="rect">
            <a:avLst/>
          </a:prstGeom>
          <a:ln w="0">
            <a:noFill/>
          </a:ln>
        </p:spPr>
      </p:sp>
      <p:sp>
        <p:nvSpPr>
          <p:cNvPr id="1437685306"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Now the numbers — and these are the indicators a Japanese municipality is actually measured on, from the national Energy Database. Today Mitsue is almost completely energy-dependent: self-sufficiency in single digits, ninety percent of its energy imported, money flowing out, and the emissions that come with all that fossil fuel. The scenario on the right is where the integrated system takes us by twenty-fifty: a net energy exporter, dependency cut to a quarter, the trade balance flipped from negative to positive, and emissions down roughly three-quarters. I want to be straight with you — these are illustrative figures pending the simulator run, but the direction is not in doubt.</a:t>
            </a:r>
            <a:endParaRPr lang="en-US" sz="2000" b="0" u="none" strike="noStrike">
              <a:solidFill>
                <a:srgbClr val="000000"/>
              </a:solidFill>
              <a:latin typeface="Arial"/>
            </a:endParaRPr>
          </a:p>
        </p:txBody>
      </p:sp>
      <p:sp>
        <p:nvSpPr>
          <p:cNvPr id="2114397006" name="PlaceHolder 3"/>
          <p:cNvSpPr>
            <a:spLocks noGrp="1"/>
          </p:cNvSpPr>
          <p:nvPr>
            <p:ph type="sldNum" idx="12"/>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94E7BB5-CB19-4A87-90D4-4DCA795E55EE}"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9970049" name="PlaceHolder 1"/>
          <p:cNvSpPr>
            <a:spLocks noGrp="1"/>
          </p:cNvSpPr>
          <p:nvPr>
            <p:ph type="sldImg"/>
          </p:nvPr>
        </p:nvSpPr>
        <p:spPr bwMode="auto">
          <a:xfrm>
            <a:off x="685800" y="1143000"/>
            <a:ext cx="5485680" cy="3085560"/>
          </a:xfrm>
          <a:prstGeom prst="rect">
            <a:avLst/>
          </a:prstGeom>
          <a:ln w="0">
            <a:noFill/>
          </a:ln>
        </p:spPr>
      </p:sp>
      <p:sp>
        <p:nvSpPr>
          <p:cNvPr id="1169622324"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So what does an investor actually get back? Not one return — five, and they compound. Ecological: a restored watershed and carbon drawn down. Energy: a village that powers itself and stops exporting cash. Economic: new jobs in forestry, operations and hosting. Digital: edge compute and connectivity that rural Japan badly lacks. And knowledge: because we publish everything under open licences, every lesson here becomes a template other villages can lift. That last one is the multiplier — it's how one village becomes a movement.</a:t>
            </a:r>
            <a:endParaRPr lang="en-US" sz="2000" b="0" u="none" strike="noStrike">
              <a:solidFill>
                <a:srgbClr val="000000"/>
              </a:solidFill>
              <a:latin typeface="Arial"/>
            </a:endParaRPr>
          </a:p>
        </p:txBody>
      </p:sp>
      <p:sp>
        <p:nvSpPr>
          <p:cNvPr id="2059500801" name="PlaceHolder 3"/>
          <p:cNvSpPr>
            <a:spLocks noGrp="1"/>
          </p:cNvSpPr>
          <p:nvPr>
            <p:ph type="sldNum" idx="13"/>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AC6AA8D6-319C-4662-84DB-EFEBFC460899}"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8201955" name="PlaceHolder 1"/>
          <p:cNvSpPr>
            <a:spLocks noGrp="1"/>
          </p:cNvSpPr>
          <p:nvPr>
            <p:ph type="sldImg"/>
          </p:nvPr>
        </p:nvSpPr>
        <p:spPr bwMode="auto">
          <a:xfrm>
            <a:off x="685800" y="1143000"/>
            <a:ext cx="5485680" cy="3085560"/>
          </a:xfrm>
          <a:prstGeom prst="rect">
            <a:avLst/>
          </a:prstGeom>
          <a:ln w="0">
            <a:noFill/>
          </a:ln>
        </p:spPr>
      </p:sp>
      <p:sp>
        <p:nvSpPr>
          <p:cNvPr id="30262599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This is the part that should make a funder comfortable. We are not asking for one big cheque. The first three years are five phases, and between each phase there is a funding gate. You only unlock the next phase by clearing the last one — and if we fall short at a gate, the plan is explicit: we hold and re-pitch, or we descope. We do not accelerate into an under-resourced phase. Right now we are in Phase Zero, pre-foundation, self-funded, no press, no website — exactly where a careful project should be before it asks for money.</a:t>
            </a:r>
            <a:endParaRPr lang="en-US" sz="2000" b="0" u="none" strike="noStrike">
              <a:solidFill>
                <a:srgbClr val="000000"/>
              </a:solidFill>
              <a:latin typeface="Arial"/>
            </a:endParaRPr>
          </a:p>
        </p:txBody>
      </p:sp>
      <p:sp>
        <p:nvSpPr>
          <p:cNvPr id="1409561898" name="PlaceHolder 3"/>
          <p:cNvSpPr>
            <a:spLocks noGrp="1"/>
          </p:cNvSpPr>
          <p:nvPr>
            <p:ph type="sldNum" idx="14"/>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CB50544-BE4E-4F99-952C-F69CB7CDF165}"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4645624" name="PlaceHolder 1"/>
          <p:cNvSpPr>
            <a:spLocks noGrp="1"/>
          </p:cNvSpPr>
          <p:nvPr>
            <p:ph type="sldImg"/>
          </p:nvPr>
        </p:nvSpPr>
        <p:spPr bwMode="auto">
          <a:xfrm>
            <a:off x="685800" y="1143000"/>
            <a:ext cx="5485680" cy="3085560"/>
          </a:xfrm>
          <a:prstGeom prst="rect">
            <a:avLst/>
          </a:prstGeom>
          <a:ln w="0">
            <a:noFill/>
          </a:ln>
        </p:spPr>
      </p:sp>
      <p:sp>
        <p:nvSpPr>
          <p:cNvPr id="706898315"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The capital is layered the same way the phases are. Five sources, each unlocked by the deliverables of the one before it, so we are never dependent on a single cheque. Founder capital primes it. Government grants — NEDO, METI, Nara Prefecture, the village itself — do the heavy lifting. Foundations and corporate CSR partners, Dutch and Japanese, add to it. And by year three, operating revenue — hosting, feed-in, EV charging, carbon credits — starts carrying its own weight. We grow from about eleven million yen in year one to roughly one hundred thirty-four million by year three. These are planning targets, not commitments, and we are honest about that.</a:t>
            </a:r>
            <a:endParaRPr lang="en-US" sz="2000" b="0" u="none" strike="noStrike">
              <a:solidFill>
                <a:srgbClr val="000000"/>
              </a:solidFill>
              <a:latin typeface="Arial"/>
            </a:endParaRPr>
          </a:p>
        </p:txBody>
      </p:sp>
      <p:sp>
        <p:nvSpPr>
          <p:cNvPr id="1222979912" name="PlaceHolder 3"/>
          <p:cNvSpPr>
            <a:spLocks noGrp="1"/>
          </p:cNvSpPr>
          <p:nvPr>
            <p:ph type="sldNum" idx="15"/>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5F8356E-02F4-46B5-9BBF-BC08982459FB}"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3192954" name="PlaceHolder 1"/>
          <p:cNvSpPr>
            <a:spLocks noGrp="1"/>
          </p:cNvSpPr>
          <p:nvPr>
            <p:ph type="sldImg"/>
          </p:nvPr>
        </p:nvSpPr>
        <p:spPr bwMode="auto">
          <a:xfrm>
            <a:off x="685800" y="1143000"/>
            <a:ext cx="5485680" cy="3085560"/>
          </a:xfrm>
          <a:prstGeom prst="rect">
            <a:avLst/>
          </a:prstGeom>
          <a:ln w="0">
            <a:noFill/>
          </a:ln>
        </p:spPr>
      </p:sp>
      <p:sp>
        <p:nvSpPr>
          <p:cNvPr id="2130899190"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And this is the case for patience. A conventional grant is spent once and it's gone. What we are building is an asset base that keeps producing — for twenty-five years and beyond. As the phases mature, the funding mix inverts: it starts almost entirely grant-dependent, and it ends carrying itself on four recurring revenue streams — compute hosting, energy feed-in, EV charging, and carbon credits. The twenty-five year horizon is deliberate. It's the bridge between today's rural deficits and the localized, small-scale power generation we expect to arrive within that window. You are not funding an expense. You are seeding an endowment that happens to be made of forest, energy, and compute.</a:t>
            </a:r>
            <a:endParaRPr lang="en-US" sz="2000" b="0" u="none" strike="noStrike">
              <a:solidFill>
                <a:srgbClr val="000000"/>
              </a:solidFill>
              <a:latin typeface="Arial"/>
            </a:endParaRPr>
          </a:p>
        </p:txBody>
      </p:sp>
      <p:sp>
        <p:nvSpPr>
          <p:cNvPr id="1953794032" name="PlaceHolder 3"/>
          <p:cNvSpPr>
            <a:spLocks noGrp="1"/>
          </p:cNvSpPr>
          <p:nvPr>
            <p:ph type="sldNum" idx="16"/>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91C3DC34-4BB5-43F0-A6EE-1D089EC4EF5D}"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4909382" name="PlaceHolder 1"/>
          <p:cNvSpPr>
            <a:spLocks noGrp="1"/>
          </p:cNvSpPr>
          <p:nvPr>
            <p:ph type="sldImg"/>
          </p:nvPr>
        </p:nvSpPr>
        <p:spPr bwMode="auto">
          <a:xfrm>
            <a:off x="685800" y="1143000"/>
            <a:ext cx="5485680" cy="3085560"/>
          </a:xfrm>
          <a:prstGeom prst="rect">
            <a:avLst/>
          </a:prstGeom>
          <a:ln w="0">
            <a:noFill/>
          </a:ln>
        </p:spPr>
      </p:sp>
      <p:sp>
        <p:nvSpPr>
          <p:cNvPr id="114700039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Who is behind this. The project is led by Rob Oudendijk, of YR-Design and Safecast — Safecast being the open environmental-data network that grew out of Fukushima, which tells you something about our commitment to transparency. The legal path runs from a general incorporated association today toward certified non-profit status, so that donations become tax-deductible. And we are advised by people who have built real things: Ray Ozzie, San Poisson, Professor Emeritus Takuo Dome of Osaka University and the Inochi Forum, and Evin Zoet and Yoshiko Zoet-Suzuki of Transom. Small team, serious people, open books.</a:t>
            </a:r>
            <a:endParaRPr lang="en-US" sz="2000" b="0" u="none" strike="noStrike">
              <a:solidFill>
                <a:srgbClr val="000000"/>
              </a:solidFill>
              <a:latin typeface="Arial"/>
            </a:endParaRPr>
          </a:p>
        </p:txBody>
      </p:sp>
      <p:sp>
        <p:nvSpPr>
          <p:cNvPr id="1390077013" name="PlaceHolder 3"/>
          <p:cNvSpPr>
            <a:spLocks noGrp="1"/>
          </p:cNvSpPr>
          <p:nvPr>
            <p:ph type="sldNum" idx="17"/>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FDFC5062-668C-4F38-A93F-905CB7A18DE2}"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5589234" name="PlaceHolder 1"/>
          <p:cNvSpPr>
            <a:spLocks noGrp="1"/>
          </p:cNvSpPr>
          <p:nvPr>
            <p:ph type="sldImg"/>
          </p:nvPr>
        </p:nvSpPr>
        <p:spPr bwMode="auto">
          <a:xfrm>
            <a:off x="685800" y="1143000"/>
            <a:ext cx="5485680" cy="3085560"/>
          </a:xfrm>
          <a:prstGeom prst="rect">
            <a:avLst/>
          </a:prstGeom>
          <a:ln w="0">
            <a:noFill/>
          </a:ln>
        </p:spPr>
      </p:sp>
      <p:sp>
        <p:nvSpPr>
          <p:cNvPr id="1304631753"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And here is why this is worth more than one village. Mitsue is not the destination — it's the prototype. There are hundreds of depopulating municipalities across Japan with the same four raw materials: empty forest, a closed school, an energy bill, and a shrinking population. Every method, every financial record, every lesson we learn here is published under open licences. So the real product is not the data center. It's the documented, repeatable playbook — a blueprint another community can pick up and adapt without starting from zero. Fund Mitsue once, and you are funding the template for many.</a:t>
            </a:r>
            <a:endParaRPr lang="en-US" sz="2000" b="0" u="none" strike="noStrike">
              <a:solidFill>
                <a:srgbClr val="000000"/>
              </a:solidFill>
              <a:latin typeface="Arial"/>
            </a:endParaRPr>
          </a:p>
        </p:txBody>
      </p:sp>
      <p:sp>
        <p:nvSpPr>
          <p:cNvPr id="57232277" name="PlaceHolder 3"/>
          <p:cNvSpPr>
            <a:spLocks noGrp="1"/>
          </p:cNvSpPr>
          <p:nvPr>
            <p:ph type="sldNum" idx="18"/>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3D060273-FC1A-401D-905C-7810FD5BF6C8}"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2452127" name="PlaceHolder 1"/>
          <p:cNvSpPr>
            <a:spLocks noGrp="1"/>
          </p:cNvSpPr>
          <p:nvPr>
            <p:ph type="sldImg"/>
          </p:nvPr>
        </p:nvSpPr>
        <p:spPr bwMode="auto">
          <a:xfrm>
            <a:off x="685800" y="1143000"/>
            <a:ext cx="5485680" cy="3085560"/>
          </a:xfrm>
          <a:prstGeom prst="rect">
            <a:avLst/>
          </a:prstGeom>
          <a:ln w="0">
            <a:noFill/>
          </a:ln>
        </p:spPr>
      </p:sp>
      <p:sp>
        <p:nvSpPr>
          <p:cNvPr id="1325130219" name="PlaceHolder 2"/>
          <p:cNvSpPr>
            <a:spLocks noGrp="1"/>
          </p:cNvSpPr>
          <p:nvPr>
            <p:ph type="body"/>
          </p:nvPr>
        </p:nvSpPr>
        <p:spPr bwMode="auto">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defRPr/>
            </a:pPr>
            <a:r>
              <a:rPr lang="en-US" sz="2000" b="0" u="none" strike="noStrike">
                <a:solidFill>
                  <a:srgbClr val="000000"/>
                </a:solidFill>
                <a:latin typeface="Arial"/>
              </a:rPr>
              <a:t>So here is the invitation. We are in Phase Zero, and we are looking for the partners who clear Gate One — three to eight million yen to stand up the legal entity, the feasibility work, and the professional advisors that the next phase depends on. Come in as a founding partner: government, foundation, corporate, or impact investor. What you get is not a logo on a wall. You get a stake in the first fully-documented model for regenerating rural Japan — and the right to say you helped write the blueprint the others followed. Thank you. Let's talk.</a:t>
            </a:r>
            <a:endParaRPr lang="en-US" sz="2000" b="0" u="none" strike="noStrike">
              <a:solidFill>
                <a:srgbClr val="000000"/>
              </a:solidFill>
              <a:latin typeface="Arial"/>
            </a:endParaRPr>
          </a:p>
        </p:txBody>
      </p:sp>
      <p:sp>
        <p:nvSpPr>
          <p:cNvPr id="1518821256" name="PlaceHolder 3"/>
          <p:cNvSpPr>
            <a:spLocks noGrp="1"/>
          </p:cNvSpPr>
          <p:nvPr>
            <p:ph type="sldNum" idx="19"/>
          </p:nvPr>
        </p:nvSpPr>
        <p:spPr bwMode="auto">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latin typeface="+mn-lt"/>
                <a:ea typeface="+mn-ea"/>
              </a:defRPr>
            </a:lvl1pPr>
          </a:lstStyle>
          <a:p>
            <a:pPr indent="0" algn="r" defTabSz="914400">
              <a:lnSpc>
                <a:spcPct val="100000"/>
              </a:lnSpc>
              <a:buNone/>
              <a:tabLst>
                <a:tab pos="0" algn="l"/>
              </a:tabLst>
              <a:defRPr/>
            </a:pPr>
            <a:fld id="{A5C7DCE3-221C-430C-B7AB-D2636B1CA059}" type="slidenum">
              <a:rPr lang="en-US" sz="1200" b="0" u="none" strike="noStrike">
                <a:solidFill>
                  <a:schemeClr val="dk1"/>
                </a:solidFill>
                <a:latin typeface="+mn-lt"/>
                <a:ea typeface="+mn-ea"/>
              </a:rPr>
              <a:t>16</a:t>
            </a:fld>
            <a:endParaRPr lang="en-US" sz="1200" b="0" u="none" strike="noStrike">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572903109" name="PlaceHolder 1"/>
          <p:cNvSpPr>
            <a:spLocks noGrp="1"/>
          </p:cNvSpPr>
          <p:nvPr>
            <p:ph type="title"/>
          </p:nvPr>
        </p:nvSpPr>
        <p:spPr bwMode="auto">
          <a:xfrm>
            <a:off x="914400" y="410400"/>
            <a:ext cx="16458840" cy="171756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latin typeface="Calibri"/>
              </a:defRPr>
            </a:lvl1pPr>
          </a:lstStyle>
          <a:p>
            <a:pPr indent="0" algn="l">
              <a:buNone/>
              <a:tabLst>
                <a:tab pos="0" algn="l"/>
              </a:tabLst>
              <a:defRPr/>
            </a:pPr>
            <a:r>
              <a:rPr lang="en-US" sz="1800" b="0" u="none" strike="noStrike">
                <a:solidFill>
                  <a:schemeClr val="dk1"/>
                </a:solidFill>
                <a:latin typeface="Calibri"/>
              </a:rPr>
              <a:t>Click to edit the title text format</a:t>
            </a:r>
            <a:endParaRPr lang="en-US" sz="1800" b="0" u="none" strike="noStrike">
              <a:solidFill>
                <a:schemeClr val="dk1"/>
              </a:solidFill>
              <a:latin typeface="Calibri"/>
            </a:endParaRPr>
          </a:p>
        </p:txBody>
      </p:sp>
      <p:sp>
        <p:nvSpPr>
          <p:cNvPr id="2085181062" name="PlaceHolder 2"/>
          <p:cNvSpPr>
            <a:spLocks noGrp="1"/>
          </p:cNvSpPr>
          <p:nvPr>
            <p:ph type="body"/>
          </p:nvPr>
        </p:nvSpPr>
        <p:spPr bwMode="auto">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a:buChar char=""/>
              <a:defRPr lang="en-US" sz="3200" b="0" u="none" strike="noStrike">
                <a:solidFill>
                  <a:schemeClr val="dk1"/>
                </a:solidFill>
                <a:latin typeface="Calibri"/>
              </a:defRPr>
            </a:lvl1pPr>
            <a:lvl2pPr lvl="1" algn="l">
              <a:spcBef>
                <a:spcPts val="1134"/>
              </a:spcBef>
              <a:buClr>
                <a:srgbClr val="000000"/>
              </a:buClr>
              <a:buSzPct val="75000"/>
              <a:buFont typeface="Symbol"/>
              <a:buChar char=""/>
              <a:defRPr lang="en-US" sz="2400" b="0" u="none" strike="noStrike">
                <a:solidFill>
                  <a:schemeClr val="dk1"/>
                </a:solidFill>
                <a:latin typeface="Calibri"/>
              </a:defRPr>
            </a:lvl2pPr>
            <a:lvl3pPr lvl="2" algn="l">
              <a:spcBef>
                <a:spcPts val="850"/>
              </a:spcBef>
              <a:buClr>
                <a:srgbClr val="000000"/>
              </a:buClr>
              <a:buSzPct val="45000"/>
              <a:buFont typeface="Wingdings"/>
              <a:buChar char=""/>
              <a:defRPr lang="en-US" sz="2000" b="0" u="none" strike="noStrike">
                <a:solidFill>
                  <a:schemeClr val="dk1"/>
                </a:solidFill>
                <a:latin typeface="Calibri"/>
              </a:defRPr>
            </a:lvl3pPr>
            <a:lvl4pPr lvl="3" algn="l">
              <a:spcBef>
                <a:spcPts val="567"/>
              </a:spcBef>
              <a:buClr>
                <a:srgbClr val="000000"/>
              </a:buClr>
              <a:buSzPct val="75000"/>
              <a:buFont typeface="Symbol"/>
              <a:buChar char=""/>
              <a:defRPr lang="en-US" sz="2000" b="0" u="none" strike="noStrike">
                <a:solidFill>
                  <a:schemeClr val="dk1"/>
                </a:solidFill>
                <a:latin typeface="Calibri"/>
              </a:defRPr>
            </a:lvl4pPr>
            <a:lvl5pPr lvl="4" algn="l">
              <a:spcBef>
                <a:spcPts val="283"/>
              </a:spcBef>
              <a:buClr>
                <a:srgbClr val="000000"/>
              </a:buClr>
              <a:buSzPct val="45000"/>
              <a:buFont typeface="Wingdings"/>
              <a:buChar char=""/>
              <a:defRPr lang="en-US" sz="2000" b="0" u="none" strike="noStrike">
                <a:solidFill>
                  <a:schemeClr val="dk1"/>
                </a:solidFill>
                <a:latin typeface="Calibri"/>
              </a:defRPr>
            </a:lvl5pPr>
            <a:lvl6pPr lvl="5" algn="l">
              <a:spcBef>
                <a:spcPts val="283"/>
              </a:spcBef>
              <a:buClr>
                <a:srgbClr val="000000"/>
              </a:buClr>
              <a:buSzPct val="45000"/>
              <a:buFont typeface="Wingdings"/>
              <a:buChar char=""/>
              <a:defRPr lang="en-US" sz="2000" b="0" u="none" strike="noStrike">
                <a:solidFill>
                  <a:schemeClr val="dk1"/>
                </a:solidFill>
                <a:latin typeface="Calibri"/>
              </a:defRPr>
            </a:lvl6pPr>
            <a:lvl7pPr lvl="6" algn="l">
              <a:spcBef>
                <a:spcPts val="283"/>
              </a:spcBef>
              <a:buClr>
                <a:srgbClr val="000000"/>
              </a:buClr>
              <a:buSzPct val="45000"/>
              <a:buFont typeface="Wingdings"/>
              <a:buChar char=""/>
              <a:defRPr lang="en-US" sz="2000" b="0" u="none" strike="noStrike">
                <a:solidFill>
                  <a:schemeClr val="dk1"/>
                </a:solidFill>
                <a:latin typeface="Calibri"/>
              </a:defRPr>
            </a:lvl7pPr>
          </a:lstStyle>
          <a:p>
            <a:pPr indent="-324000" algn="l">
              <a:spcBef>
                <a:spcPts val="1417"/>
              </a:spcBef>
              <a:buClr>
                <a:srgbClr val="000000"/>
              </a:buClr>
              <a:buSzPct val="45000"/>
              <a:buFont typeface="Wingdings"/>
              <a:buChar char=""/>
              <a:defRPr/>
            </a:pPr>
            <a:r>
              <a:rPr lang="en-US" sz="3200" b="0" u="none" strike="noStrike">
                <a:solidFill>
                  <a:schemeClr val="dk1"/>
                </a:solidFill>
                <a:latin typeface="Calibri"/>
              </a:rPr>
              <a:t>Click to edit the outline text format</a:t>
            </a:r>
            <a:endParaRPr lang="en-US" sz="3200" b="0" u="none" strike="noStrike">
              <a:solidFill>
                <a:schemeClr val="dk1"/>
              </a:solidFill>
              <a:latin typeface="Calibri"/>
            </a:endParaRPr>
          </a:p>
          <a:p>
            <a:pPr marL="864000" lvl="1" indent="-324000" algn="l">
              <a:spcBef>
                <a:spcPts val="1134"/>
              </a:spcBef>
              <a:buClr>
                <a:srgbClr val="000000"/>
              </a:buClr>
              <a:buSzPct val="75000"/>
              <a:buFont typeface="Symbol"/>
              <a:buChar char=""/>
              <a:defRPr/>
            </a:pPr>
            <a:r>
              <a:rPr lang="en-US" sz="2400" b="0" u="none" strike="noStrike">
                <a:solidFill>
                  <a:schemeClr val="dk1"/>
                </a:solidFill>
                <a:latin typeface="Calibri"/>
              </a:rPr>
              <a:t>Second Outline Level</a:t>
            </a:r>
            <a:endParaRPr lang="en-US" sz="2400" b="0" u="none" strike="noStrike">
              <a:solidFill>
                <a:schemeClr val="dk1"/>
              </a:solidFill>
              <a:latin typeface="Calibri"/>
            </a:endParaRPr>
          </a:p>
          <a:p>
            <a:pPr marL="1296000" lvl="2" indent="-288000" algn="l">
              <a:spcBef>
                <a:spcPts val="850"/>
              </a:spcBef>
              <a:buClr>
                <a:srgbClr val="000000"/>
              </a:buClr>
              <a:buSzPct val="45000"/>
              <a:buFont typeface="Wingdings"/>
              <a:buChar char=""/>
              <a:defRPr/>
            </a:pPr>
            <a:r>
              <a:rPr lang="en-US" sz="2000" b="0" u="none" strike="noStrike">
                <a:solidFill>
                  <a:schemeClr val="dk1"/>
                </a:solidFill>
                <a:latin typeface="Calibri"/>
              </a:rPr>
              <a:t>Third Outline Level</a:t>
            </a:r>
            <a:endParaRPr lang="en-US" sz="2000" b="0" u="none" strike="noStrike">
              <a:solidFill>
                <a:schemeClr val="dk1"/>
              </a:solidFill>
              <a:latin typeface="Calibri"/>
            </a:endParaRPr>
          </a:p>
          <a:p>
            <a:pPr marL="1728000" lvl="3" indent="-216000" algn="l">
              <a:spcBef>
                <a:spcPts val="567"/>
              </a:spcBef>
              <a:buClr>
                <a:srgbClr val="000000"/>
              </a:buClr>
              <a:buSzPct val="75000"/>
              <a:buFont typeface="Symbol"/>
              <a:buChar char=""/>
              <a:defRPr/>
            </a:pPr>
            <a:r>
              <a:rPr lang="en-US" sz="2000" b="0" u="none" strike="noStrike">
                <a:solidFill>
                  <a:schemeClr val="dk1"/>
                </a:solidFill>
                <a:latin typeface="Calibri"/>
              </a:rPr>
              <a:t>Fourth Outline Level</a:t>
            </a:r>
            <a:endParaRPr lang="en-US" sz="2000" b="0" u="none" strike="noStrike">
              <a:solidFill>
                <a:schemeClr val="dk1"/>
              </a:solidFill>
              <a:latin typeface="Calibri"/>
            </a:endParaRPr>
          </a:p>
          <a:p>
            <a:pPr marL="2160000" lvl="4" indent="-216000" algn="l">
              <a:spcBef>
                <a:spcPts val="283"/>
              </a:spcBef>
              <a:buClr>
                <a:srgbClr val="000000"/>
              </a:buClr>
              <a:buSzPct val="45000"/>
              <a:buFont typeface="Wingdings"/>
              <a:buChar char=""/>
              <a:defRPr/>
            </a:pPr>
            <a:r>
              <a:rPr lang="en-US" sz="2000" b="0" u="none" strike="noStrike">
                <a:solidFill>
                  <a:schemeClr val="dk1"/>
                </a:solidFill>
                <a:latin typeface="Calibri"/>
              </a:rPr>
              <a:t>Fifth Outline Level</a:t>
            </a:r>
            <a:endParaRPr lang="en-US" sz="2000" b="0" u="none" strike="noStrike">
              <a:solidFill>
                <a:schemeClr val="dk1"/>
              </a:solidFill>
              <a:latin typeface="Calibri"/>
            </a:endParaRPr>
          </a:p>
          <a:p>
            <a:pPr marL="2592000" lvl="5" indent="-216000" algn="l">
              <a:spcBef>
                <a:spcPts val="283"/>
              </a:spcBef>
              <a:buClr>
                <a:srgbClr val="000000"/>
              </a:buClr>
              <a:buSzPct val="45000"/>
              <a:buFont typeface="Wingdings"/>
              <a:buChar char=""/>
              <a:defRPr/>
            </a:pPr>
            <a:r>
              <a:rPr lang="en-US" sz="2000" b="0" u="none" strike="noStrike">
                <a:solidFill>
                  <a:schemeClr val="dk1"/>
                </a:solidFill>
                <a:latin typeface="Calibri"/>
              </a:rPr>
              <a:t>Sixth Outline Level</a:t>
            </a:r>
            <a:endParaRPr lang="en-US" sz="2000" b="0" u="none" strike="noStrike">
              <a:solidFill>
                <a:schemeClr val="dk1"/>
              </a:solidFill>
              <a:latin typeface="Calibri"/>
            </a:endParaRPr>
          </a:p>
          <a:p>
            <a:pPr marL="3024000" lvl="6" indent="-216000" algn="l">
              <a:spcBef>
                <a:spcPts val="283"/>
              </a:spcBef>
              <a:buClr>
                <a:srgbClr val="000000"/>
              </a:buClr>
              <a:buSzPct val="45000"/>
              <a:buFont typeface="Wingdings"/>
              <a:buChar char=""/>
              <a:defRPr/>
            </a:pPr>
            <a:r>
              <a:rPr lang="en-US" sz="2000" b="0" u="none" strike="noStrike">
                <a:solidFill>
                  <a:schemeClr val="dk1"/>
                </a:solidFill>
                <a:latin typeface="Calibri"/>
              </a:rPr>
              <a:t>Seventh Outline Level</a:t>
            </a:r>
            <a:endParaRPr lang="en-US" sz="2000" b="0" u="none" strike="noStrike">
              <a:solidFill>
                <a:schemeClr val="dk1"/>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media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jp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jp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 name="TextBox 1"/>
          <p:cNvSpPr txBox="1"/>
          <p:nvPr/>
        </p:nvSpPr>
        <p:spPr>
          <a:xfrm>
            <a:off x="0" y="8987000"/>
            <a:ext cx="18288000" cy="1100000"/>
          </a:xfrm>
          <a:prstGeom prst="rect">
            <a:avLst/>
          </a:prstGeom>
          <a:noFill/>
        </p:spPr>
        <p:txBody>
          <a:bodyPr wrap="square">
            <a:spAutoFit/>
          </a:bodyPr>
          <a:lstStyle/>
          <a:p>
            <a:pPr algn="ctr"/>
            <a:r>
              <a:rPr i="1" sz="1300">
                <a:solidFill>
                  <a:srgbClr val="3A7A5A"/>
                </a:solidFill>
              </a:rPr>
              <a:t>"The forest our ancestors planted — powering the village they built."</a:t>
            </a:r>
          </a:p>
          <a:p>
            <a:pPr algn="ctr"/>
            <a:r>
              <a:rPr i="1" sz="1100">
                <a:solidFill>
                  <a:srgbClr val="3A7A5A"/>
                </a:solidFill>
              </a:rPr>
              <a:t>先人が植えた森が、今、村に豊かさをもたらす。</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93023416"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06969112" name="Shape 1"/>
          <p:cNvSpPr/>
          <p:nvPr/>
        </p:nvSpPr>
        <p:spPr bwMode="auto">
          <a:xfrm>
            <a:off x="0" y="600120"/>
            <a:ext cx="1828728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726916195" name="Text 2"/>
          <p:cNvSpPr/>
          <p:nvPr/>
        </p:nvSpPr>
        <p:spPr bwMode="auto">
          <a:xfrm>
            <a:off x="609480" y="243000"/>
            <a:ext cx="239256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246">
                <a:solidFill>
                  <a:srgbClr val="6E7174"/>
                </a:solidFill>
                <a:latin typeface="Open Sans"/>
                <a:ea typeface="Open Sans"/>
              </a:rPr>
              <a:t>YR-DESIGN · SAFECAST</a:t>
            </a:r>
            <a:endParaRPr lang="en-US" sz="1150" b="0" u="none" strike="noStrike">
              <a:solidFill>
                <a:srgbClr val="000000"/>
              </a:solidFill>
              <a:latin typeface="Arial"/>
            </a:endParaRPr>
          </a:p>
        </p:txBody>
      </p:sp>
      <p:sp>
        <p:nvSpPr>
          <p:cNvPr id="1553325171" name="Text 3"/>
          <p:cNvSpPr/>
          <p:nvPr/>
        </p:nvSpPr>
        <p:spPr bwMode="auto">
          <a:xfrm>
            <a:off x="6929640" y="228600"/>
            <a:ext cx="514296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246">
                <a:solidFill>
                  <a:srgbClr val="9B9DA0"/>
                </a:solidFill>
                <a:latin typeface="Open Sans"/>
                <a:ea typeface="Open Sans"/>
              </a:rPr>
              <a:t>IMPACT INVESTMENT PROSPECTUS · </a:t>
            </a:r>
            <a:r>
              <a:rPr lang="zh-CN" sz="1150" b="1" u="none" strike="noStrike" spc="246">
                <a:solidFill>
                  <a:srgbClr val="9B9DA0"/>
                </a:solidFill>
                <a:latin typeface="Open Sans"/>
                <a:ea typeface="Open Sans"/>
              </a:rPr>
              <a:t>インパクト投資</a:t>
            </a:r>
            <a:endParaRPr lang="en-US" sz="1150" b="0" u="none" strike="noStrike">
              <a:solidFill>
                <a:srgbClr val="000000"/>
              </a:solidFill>
              <a:latin typeface="Arial"/>
            </a:endParaRPr>
          </a:p>
        </p:txBody>
      </p:sp>
      <p:sp>
        <p:nvSpPr>
          <p:cNvPr id="1494621022" name="Text 4"/>
          <p:cNvSpPr/>
          <p:nvPr/>
        </p:nvSpPr>
        <p:spPr bwMode="auto">
          <a:xfrm>
            <a:off x="15750360" y="243000"/>
            <a:ext cx="2120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246">
                <a:solidFill>
                  <a:srgbClr val="E58520"/>
                </a:solidFill>
                <a:latin typeface="Open Sans"/>
                <a:ea typeface="Open Sans"/>
              </a:rPr>
              <a:t>NARA, JAPAN · 2026</a:t>
            </a:r>
            <a:endParaRPr lang="en-US" sz="1150" b="0" u="none" strike="noStrike">
              <a:solidFill>
                <a:srgbClr val="000000"/>
              </a:solidFill>
              <a:latin typeface="Arial"/>
            </a:endParaRPr>
          </a:p>
        </p:txBody>
      </p:sp>
      <p:sp>
        <p:nvSpPr>
          <p:cNvPr id="1865756616" name="Shape 5"/>
          <p:cNvSpPr/>
          <p:nvPr/>
        </p:nvSpPr>
        <p:spPr bwMode="auto">
          <a:xfrm>
            <a:off x="609480" y="150984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441247776" name="Text 6"/>
          <p:cNvSpPr/>
          <p:nvPr/>
        </p:nvSpPr>
        <p:spPr bwMode="auto">
          <a:xfrm>
            <a:off x="1200240" y="1409759"/>
            <a:ext cx="5259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spc="142">
                <a:solidFill>
                  <a:srgbClr val="9B9DA0"/>
                </a:solidFill>
                <a:latin typeface="Open Sans"/>
                <a:ea typeface="Open Sans"/>
              </a:rPr>
              <a:t>A 25-YEAR MODEL FOR RURAL REGENERATION</a:t>
            </a:r>
            <a:endParaRPr lang="en-US" sz="1450" b="0" u="none" strike="noStrike">
              <a:solidFill>
                <a:srgbClr val="000000"/>
              </a:solidFill>
              <a:latin typeface="Arial"/>
            </a:endParaRPr>
          </a:p>
        </p:txBody>
      </p:sp>
      <p:sp>
        <p:nvSpPr>
          <p:cNvPr id="1857754879" name="Text 7"/>
          <p:cNvSpPr/>
          <p:nvPr/>
        </p:nvSpPr>
        <p:spPr bwMode="auto">
          <a:xfrm>
            <a:off x="609480" y="1943280"/>
            <a:ext cx="8915400" cy="2361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8000" b="1" u="none" strike="noStrike" spc="-45">
                <a:solidFill>
                  <a:srgbClr val="2E2E2E"/>
                </a:solidFill>
                <a:latin typeface="Arial"/>
                <a:ea typeface="Arial"/>
              </a:rPr>
              <a:t>Mitsue Project</a:t>
            </a:r>
            <a:endParaRPr lang="en-US" sz="8000" b="0" u="none" strike="noStrike">
              <a:solidFill>
                <a:srgbClr val="000000"/>
              </a:solidFill>
              <a:latin typeface="Arial"/>
            </a:endParaRPr>
          </a:p>
        </p:txBody>
      </p:sp>
      <p:sp>
        <p:nvSpPr>
          <p:cNvPr id="413750469" name="Text 8"/>
          <p:cNvSpPr/>
          <p:nvPr/>
        </p:nvSpPr>
        <p:spPr bwMode="auto">
          <a:xfrm>
            <a:off x="609480" y="4476600"/>
            <a:ext cx="9521280" cy="6566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3300" b="1" u="none" strike="noStrike" spc="65">
                <a:solidFill>
                  <a:srgbClr val="6E7174"/>
                </a:solidFill>
                <a:latin typeface="Noto Sans JP"/>
                <a:ea typeface="Noto Sans JP"/>
              </a:rPr>
              <a:t>御杖プロジェクト</a:t>
            </a:r>
            <a:endParaRPr lang="en-US" sz="3300" b="0" u="none" strike="noStrike">
              <a:solidFill>
                <a:srgbClr val="000000"/>
              </a:solidFill>
              <a:latin typeface="Arial"/>
            </a:endParaRPr>
          </a:p>
        </p:txBody>
      </p:sp>
      <p:sp>
        <p:nvSpPr>
          <p:cNvPr id="966146575" name="Text 9"/>
          <p:cNvSpPr/>
          <p:nvPr/>
        </p:nvSpPr>
        <p:spPr bwMode="auto">
          <a:xfrm>
            <a:off x="609480" y="5754960"/>
            <a:ext cx="6278039" cy="1690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0000"/>
              </a:lnSpc>
              <a:tabLst>
                <a:tab pos="0" algn="l"/>
              </a:tabLst>
              <a:defRPr/>
            </a:pPr>
            <a:r>
              <a:rPr lang="en-US" sz="2350" b="0" u="none" strike="noStrike">
                <a:solidFill>
                  <a:srgbClr val="3A3A3A"/>
                </a:solidFill>
                <a:latin typeface="Open Sans"/>
                <a:ea typeface="Open Sans"/>
              </a:rPr>
              <a:t>Restore</a:t>
            </a:r>
            <a:r>
              <a:rPr lang="en-US" sz="2350" b="0" u="none" strike="noStrike">
                <a:solidFill>
                  <a:srgbClr val="3A3A3A"/>
                </a:solidFill>
                <a:latin typeface="Open Sans"/>
                <a:ea typeface="Open Sans"/>
              </a:rPr>
              <a:t>d forest, </a:t>
            </a:r>
            <a:r>
              <a:rPr lang="en-US" sz="2350" b="0" u="none" strike="noStrike">
                <a:solidFill>
                  <a:srgbClr val="3A3A3A"/>
                </a:solidFill>
                <a:latin typeface="Open Sans"/>
                <a:ea typeface="Open Sans"/>
              </a:rPr>
              <a:t>local </a:t>
            </a:r>
            <a:r>
              <a:rPr lang="en-US" sz="2350" b="0" u="none" strike="noStrike">
                <a:solidFill>
                  <a:srgbClr val="3A3A3A"/>
                </a:solidFill>
                <a:latin typeface="Open Sans"/>
                <a:ea typeface="Open Sans"/>
              </a:rPr>
              <a:t>clean </a:t>
            </a:r>
            <a:r>
              <a:rPr lang="en-US" sz="2350" b="0" u="none" strike="noStrike">
                <a:solidFill>
                  <a:srgbClr val="3A3A3A"/>
                </a:solidFill>
                <a:latin typeface="Open Sans"/>
                <a:ea typeface="Open Sans"/>
              </a:rPr>
              <a:t>energy, </a:t>
            </a:r>
            <a:r>
              <a:rPr lang="en-US" sz="2350" b="0" u="none" strike="noStrike">
                <a:solidFill>
                  <a:srgbClr val="3A3A3A"/>
                </a:solidFill>
                <a:latin typeface="Open Sans"/>
                <a:ea typeface="Open Sans"/>
              </a:rPr>
              <a:t>and a </a:t>
            </a:r>
            <a:r>
              <a:rPr lang="en-US" sz="2350" b="0" u="none" strike="noStrike">
                <a:solidFill>
                  <a:srgbClr val="3A3A3A"/>
                </a:solidFill>
                <a:latin typeface="Open Sans"/>
                <a:ea typeface="Open Sans"/>
              </a:rPr>
              <a:t>commu</a:t>
            </a:r>
            <a:r>
              <a:rPr lang="en-US" sz="2350" b="0" u="none" strike="noStrike">
                <a:solidFill>
                  <a:srgbClr val="3A3A3A"/>
                </a:solidFill>
                <a:latin typeface="Open Sans"/>
                <a:ea typeface="Open Sans"/>
              </a:rPr>
              <a:t>nity-</a:t>
            </a:r>
            <a:r>
              <a:rPr lang="en-US" sz="2350" b="0" u="none" strike="noStrike">
                <a:solidFill>
                  <a:srgbClr val="3A3A3A"/>
                </a:solidFill>
                <a:latin typeface="Open Sans"/>
                <a:ea typeface="Open Sans"/>
              </a:rPr>
              <a:t>owned </a:t>
            </a:r>
            <a:r>
              <a:rPr lang="en-US" sz="2350" b="0" u="none" strike="noStrike">
                <a:solidFill>
                  <a:srgbClr val="3A3A3A"/>
                </a:solidFill>
                <a:latin typeface="Open Sans"/>
                <a:ea typeface="Open Sans"/>
              </a:rPr>
              <a:t>data </a:t>
            </a:r>
            <a:r>
              <a:rPr lang="en-US" sz="2350" b="0" u="none" strike="noStrike">
                <a:solidFill>
                  <a:srgbClr val="3A3A3A"/>
                </a:solidFill>
                <a:latin typeface="Open Sans"/>
                <a:ea typeface="Open Sans"/>
              </a:rPr>
              <a:t>center </a:t>
            </a:r>
            <a:r>
              <a:rPr lang="en-US" sz="2350" b="0" u="none" strike="noStrike">
                <a:solidFill>
                  <a:srgbClr val="3A3A3A"/>
                </a:solidFill>
                <a:latin typeface="Open Sans"/>
                <a:ea typeface="Open Sans"/>
              </a:rPr>
              <a:t>— one </a:t>
            </a:r>
            <a:r>
              <a:rPr lang="en-US" sz="2350" b="0" u="none" strike="noStrike">
                <a:solidFill>
                  <a:srgbClr val="3A3A3A"/>
                </a:solidFill>
                <a:latin typeface="Open Sans"/>
                <a:ea typeface="Open Sans"/>
              </a:rPr>
              <a:t>integrat</a:t>
            </a:r>
            <a:r>
              <a:rPr lang="en-US" sz="2350" b="0" u="none" strike="noStrike">
                <a:solidFill>
                  <a:srgbClr val="3A3A3A"/>
                </a:solidFill>
                <a:latin typeface="Open Sans"/>
                <a:ea typeface="Open Sans"/>
              </a:rPr>
              <a:t>ed </a:t>
            </a:r>
            <a:r>
              <a:rPr lang="en-US" sz="2350" b="0" u="none" strike="noStrike">
                <a:solidFill>
                  <a:srgbClr val="3A3A3A"/>
                </a:solidFill>
                <a:latin typeface="Open Sans"/>
                <a:ea typeface="Open Sans"/>
              </a:rPr>
              <a:t>system, </a:t>
            </a:r>
            <a:r>
              <a:rPr lang="en-US" sz="2350" b="0" u="none" strike="noStrike">
                <a:solidFill>
                  <a:srgbClr val="3A3A3A"/>
                </a:solidFill>
                <a:latin typeface="Open Sans"/>
                <a:ea typeface="Open Sans"/>
              </a:rPr>
              <a:t>openly </a:t>
            </a:r>
            <a:r>
              <a:rPr lang="en-US" sz="2350" b="0" u="none" strike="noStrike">
                <a:solidFill>
                  <a:srgbClr val="3A3A3A"/>
                </a:solidFill>
                <a:latin typeface="Open Sans"/>
                <a:ea typeface="Open Sans"/>
              </a:rPr>
              <a:t>docume</a:t>
            </a:r>
            <a:r>
              <a:rPr lang="en-US" sz="2350" b="0" u="none" strike="noStrike">
                <a:solidFill>
                  <a:srgbClr val="3A3A3A"/>
                </a:solidFill>
                <a:latin typeface="Open Sans"/>
                <a:ea typeface="Open Sans"/>
              </a:rPr>
              <a:t>nted for </a:t>
            </a:r>
            <a:r>
              <a:rPr lang="en-US" sz="2350" b="0" u="none" strike="noStrike">
                <a:solidFill>
                  <a:srgbClr val="3A3A3A"/>
                </a:solidFill>
                <a:latin typeface="Open Sans"/>
                <a:ea typeface="Open Sans"/>
              </a:rPr>
              <a:t>any </a:t>
            </a:r>
            <a:r>
              <a:rPr lang="en-US" sz="2350" b="0" u="none" strike="noStrike">
                <a:solidFill>
                  <a:srgbClr val="3A3A3A"/>
                </a:solidFill>
                <a:latin typeface="Open Sans"/>
                <a:ea typeface="Open Sans"/>
              </a:rPr>
              <a:t>village </a:t>
            </a:r>
            <a:r>
              <a:rPr lang="en-US" sz="2350" b="0" u="none" strike="noStrike">
                <a:solidFill>
                  <a:srgbClr val="3A3A3A"/>
                </a:solidFill>
                <a:latin typeface="Open Sans"/>
                <a:ea typeface="Open Sans"/>
              </a:rPr>
              <a:t>to </a:t>
            </a:r>
            <a:r>
              <a:rPr lang="en-US" sz="2350" b="0" u="none" strike="noStrike">
                <a:solidFill>
                  <a:srgbClr val="3A3A3A"/>
                </a:solidFill>
                <a:latin typeface="Open Sans"/>
                <a:ea typeface="Open Sans"/>
              </a:rPr>
              <a:t>follow.</a:t>
            </a:r>
            <a:endParaRPr lang="en-US" sz="2350" b="0" u="none" strike="noStrike">
              <a:solidFill>
                <a:srgbClr val="000000"/>
              </a:solidFill>
              <a:latin typeface="Arial"/>
            </a:endParaRPr>
          </a:p>
        </p:txBody>
      </p:sp>
      <p:sp>
        <p:nvSpPr>
          <p:cNvPr id="845879075" name="Text 10"/>
          <p:cNvSpPr/>
          <p:nvPr/>
        </p:nvSpPr>
        <p:spPr bwMode="auto">
          <a:xfrm>
            <a:off x="609480" y="7542000"/>
            <a:ext cx="6278039" cy="704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75000"/>
              </a:lnSpc>
              <a:tabLst>
                <a:tab pos="0" algn="l"/>
              </a:tabLst>
              <a:defRPr/>
            </a:pPr>
            <a:r>
              <a:rPr lang="zh-CN" sz="1500" b="0" u="none" strike="noStrike">
                <a:solidFill>
                  <a:srgbClr val="85888C"/>
                </a:solidFill>
                <a:latin typeface="Noto Sans JP"/>
                <a:ea typeface="Noto Sans JP"/>
              </a:rPr>
              <a:t>森林再生・地域エネルギー・コミュニティ所有のデータセンター。どの集落も辿れる、公</a:t>
            </a:r>
            <a:r>
              <a:rPr lang="zh-CN" sz="1500" b="0" u="none" strike="noStrike">
                <a:solidFill>
                  <a:srgbClr val="85888C"/>
                </a:solidFill>
                <a:latin typeface="Noto Sans JP"/>
                <a:ea typeface="Noto Sans JP"/>
              </a:rPr>
              <a:t>開された統合モデル。</a:t>
            </a:r>
            <a:endParaRPr lang="en-US" sz="1500" b="0" u="none" strike="noStrike">
              <a:solidFill>
                <a:srgbClr val="000000"/>
              </a:solidFill>
              <a:latin typeface="Arial"/>
            </a:endParaRPr>
          </a:p>
        </p:txBody>
      </p:sp>
      <p:sp>
        <p:nvSpPr>
          <p:cNvPr id="157753073" name="Shape 11"/>
          <p:cNvSpPr/>
          <p:nvPr/>
        </p:nvSpPr>
        <p:spPr bwMode="auto">
          <a:xfrm>
            <a:off x="609480" y="8867880"/>
            <a:ext cx="865548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947816261" name="Text 12"/>
          <p:cNvSpPr/>
          <p:nvPr/>
        </p:nvSpPr>
        <p:spPr bwMode="auto">
          <a:xfrm>
            <a:off x="60948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A9ABAE"/>
                </a:solidFill>
                <a:latin typeface="Open Sans"/>
                <a:ea typeface="Open Sans"/>
              </a:rPr>
              <a:t>HORIZON · </a:t>
            </a:r>
            <a:r>
              <a:rPr lang="zh-CN" sz="1000" b="1" u="none" strike="noStrike" spc="136">
                <a:solidFill>
                  <a:srgbClr val="A9ABAE"/>
                </a:solidFill>
                <a:latin typeface="Open Sans"/>
                <a:ea typeface="Open Sans"/>
              </a:rPr>
              <a:t>期間</a:t>
            </a:r>
            <a:endParaRPr lang="en-US" sz="1000" b="0" u="none" strike="noStrike">
              <a:solidFill>
                <a:srgbClr val="000000"/>
              </a:solidFill>
              <a:latin typeface="Arial"/>
            </a:endParaRPr>
          </a:p>
        </p:txBody>
      </p:sp>
      <p:sp>
        <p:nvSpPr>
          <p:cNvPr id="1738129762" name="Text 13"/>
          <p:cNvSpPr/>
          <p:nvPr/>
        </p:nvSpPr>
        <p:spPr bwMode="auto">
          <a:xfrm>
            <a:off x="60948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25 </a:t>
            </a:r>
            <a:r>
              <a:rPr lang="en-US" sz="1900" b="1" u="none" strike="noStrike">
                <a:solidFill>
                  <a:srgbClr val="2E2E2E"/>
                </a:solidFill>
                <a:latin typeface="Open Sans"/>
                <a:ea typeface="Open Sans"/>
              </a:rPr>
              <a:t>years</a:t>
            </a:r>
            <a:endParaRPr lang="en-US" sz="1900" b="0" u="none" strike="noStrike">
              <a:solidFill>
                <a:srgbClr val="000000"/>
              </a:solidFill>
              <a:latin typeface="Arial"/>
            </a:endParaRPr>
          </a:p>
        </p:txBody>
      </p:sp>
      <p:sp>
        <p:nvSpPr>
          <p:cNvPr id="161065016" name="Text 14"/>
          <p:cNvSpPr/>
          <p:nvPr/>
        </p:nvSpPr>
        <p:spPr bwMode="auto">
          <a:xfrm>
            <a:off x="349488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A9ABAE"/>
                </a:solidFill>
                <a:latin typeface="Open Sans"/>
                <a:ea typeface="Open Sans"/>
              </a:rPr>
              <a:t>PHASE · </a:t>
            </a:r>
            <a:r>
              <a:rPr lang="zh-CN" sz="1000" b="1" u="none" strike="noStrike" spc="136">
                <a:solidFill>
                  <a:srgbClr val="A9ABAE"/>
                </a:solidFill>
                <a:latin typeface="Open Sans"/>
                <a:ea typeface="Open Sans"/>
              </a:rPr>
              <a:t>段階</a:t>
            </a:r>
            <a:endParaRPr lang="en-US" sz="1000" b="0" u="none" strike="noStrike">
              <a:solidFill>
                <a:srgbClr val="000000"/>
              </a:solidFill>
              <a:latin typeface="Arial"/>
            </a:endParaRPr>
          </a:p>
        </p:txBody>
      </p:sp>
      <p:sp>
        <p:nvSpPr>
          <p:cNvPr id="1357292125" name="Text 15"/>
          <p:cNvSpPr/>
          <p:nvPr/>
        </p:nvSpPr>
        <p:spPr bwMode="auto">
          <a:xfrm>
            <a:off x="349488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0 · Pre-</a:t>
            </a:r>
            <a:r>
              <a:rPr lang="en-US" sz="1900" b="1" u="none" strike="noStrike">
                <a:solidFill>
                  <a:srgbClr val="2E2E2E"/>
                </a:solidFill>
                <a:latin typeface="Open Sans"/>
                <a:ea typeface="Open Sans"/>
              </a:rPr>
              <a:t>foundatio</a:t>
            </a:r>
            <a:r>
              <a:rPr lang="en-US" sz="1900" b="1" u="none" strike="noStrike">
                <a:solidFill>
                  <a:srgbClr val="2E2E2E"/>
                </a:solidFill>
                <a:latin typeface="Open Sans"/>
                <a:ea typeface="Open Sans"/>
              </a:rPr>
              <a:t>n</a:t>
            </a:r>
            <a:endParaRPr lang="en-US" sz="1900" b="0" u="none" strike="noStrike">
              <a:solidFill>
                <a:srgbClr val="000000"/>
              </a:solidFill>
              <a:latin typeface="Arial"/>
            </a:endParaRPr>
          </a:p>
        </p:txBody>
      </p:sp>
      <p:sp>
        <p:nvSpPr>
          <p:cNvPr id="1518632304" name="Text 16"/>
          <p:cNvSpPr/>
          <p:nvPr/>
        </p:nvSpPr>
        <p:spPr bwMode="auto">
          <a:xfrm>
            <a:off x="6380640" y="9105840"/>
            <a:ext cx="317340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A9ABAE"/>
                </a:solidFill>
                <a:latin typeface="Open Sans"/>
                <a:ea typeface="Open Sans"/>
              </a:rPr>
              <a:t>ADVISORS · </a:t>
            </a:r>
            <a:r>
              <a:rPr lang="zh-CN" sz="1000" b="1" u="none" strike="noStrike" spc="136">
                <a:solidFill>
                  <a:srgbClr val="A9ABAE"/>
                </a:solidFill>
                <a:latin typeface="Open Sans"/>
                <a:ea typeface="Open Sans"/>
              </a:rPr>
              <a:t>顧問</a:t>
            </a:r>
            <a:endParaRPr lang="en-US" sz="1000" b="0" u="none" strike="noStrike">
              <a:solidFill>
                <a:srgbClr val="000000"/>
              </a:solidFill>
              <a:latin typeface="Arial"/>
            </a:endParaRPr>
          </a:p>
        </p:txBody>
      </p:sp>
      <p:sp>
        <p:nvSpPr>
          <p:cNvPr id="1737454685" name="Text 17"/>
          <p:cNvSpPr/>
          <p:nvPr/>
        </p:nvSpPr>
        <p:spPr bwMode="auto">
          <a:xfrm>
            <a:off x="6380640" y="9353520"/>
            <a:ext cx="317340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O</a:t>
            </a:r>
            <a:r>
              <a:rPr lang="en-US" sz="1900" b="1" u="none" strike="noStrike">
                <a:solidFill>
                  <a:srgbClr val="2E2E2E"/>
                </a:solidFill>
                <a:latin typeface="Open Sans"/>
                <a:ea typeface="Open Sans"/>
              </a:rPr>
              <a:t>z</a:t>
            </a:r>
            <a:r>
              <a:rPr lang="en-US" sz="1900" b="1" u="none" strike="noStrike">
                <a:solidFill>
                  <a:srgbClr val="2E2E2E"/>
                </a:solidFill>
                <a:latin typeface="Open Sans"/>
                <a:ea typeface="Open Sans"/>
              </a:rPr>
              <a:t>z</a:t>
            </a:r>
            <a:r>
              <a:rPr lang="en-US" sz="1900" b="1" u="none" strike="noStrike">
                <a:solidFill>
                  <a:srgbClr val="2E2E2E"/>
                </a:solidFill>
                <a:latin typeface="Open Sans"/>
                <a:ea typeface="Open Sans"/>
              </a:rPr>
              <a:t>i</a:t>
            </a:r>
            <a:r>
              <a:rPr lang="en-US" sz="1900" b="1" u="none" strike="noStrike">
                <a:solidFill>
                  <a:srgbClr val="2E2E2E"/>
                </a:solidFill>
                <a:latin typeface="Open Sans"/>
                <a:ea typeface="Open Sans"/>
              </a:rPr>
              <a:t>e</a:t>
            </a:r>
            <a:r>
              <a:rPr lang="en-US" sz="1900" b="1" u="none" strike="noStrike">
                <a:solidFill>
                  <a:srgbClr val="2E2E2E"/>
                </a:solidFill>
                <a:latin typeface="Open Sans"/>
                <a:ea typeface="Open Sans"/>
              </a:rPr>
              <a:t> </a:t>
            </a:r>
            <a:r>
              <a:rPr lang="en-US" sz="1900" b="1" u="none" strike="noStrike">
                <a:solidFill>
                  <a:srgbClr val="2E2E2E"/>
                </a:solidFill>
                <a:latin typeface="Open Sans"/>
                <a:ea typeface="Open Sans"/>
              </a:rPr>
              <a:t>·</a:t>
            </a:r>
            <a:r>
              <a:rPr lang="en-US" sz="1900" b="1" u="none" strike="noStrike">
                <a:solidFill>
                  <a:srgbClr val="2E2E2E"/>
                </a:solidFill>
                <a:latin typeface="Open Sans"/>
                <a:ea typeface="Open Sans"/>
              </a:rPr>
              <a:t> </a:t>
            </a:r>
            <a:r>
              <a:rPr lang="en-US" sz="1900" b="1" u="none" strike="noStrike">
                <a:solidFill>
                  <a:srgbClr val="2E2E2E"/>
                </a:solidFill>
                <a:latin typeface="Open Sans"/>
                <a:ea typeface="Open Sans"/>
              </a:rPr>
              <a:t>D</a:t>
            </a:r>
            <a:r>
              <a:rPr lang="en-US" sz="1900" b="1" u="none" strike="noStrike">
                <a:solidFill>
                  <a:srgbClr val="2E2E2E"/>
                </a:solidFill>
                <a:latin typeface="Open Sans"/>
                <a:ea typeface="Open Sans"/>
              </a:rPr>
              <a:t>o</a:t>
            </a:r>
            <a:r>
              <a:rPr lang="en-US" sz="1900" b="1" u="none" strike="noStrike">
                <a:solidFill>
                  <a:srgbClr val="2E2E2E"/>
                </a:solidFill>
                <a:latin typeface="Open Sans"/>
                <a:ea typeface="Open Sans"/>
              </a:rPr>
              <a:t>m</a:t>
            </a:r>
            <a:r>
              <a:rPr lang="en-US" sz="1900" b="1" u="none" strike="noStrike">
                <a:solidFill>
                  <a:srgbClr val="2E2E2E"/>
                </a:solidFill>
                <a:latin typeface="Open Sans"/>
                <a:ea typeface="Open Sans"/>
              </a:rPr>
              <a:t>e</a:t>
            </a:r>
            <a:endParaRPr lang="en-US" sz="1900" b="0" u="none" strike="noStrike">
              <a:solidFill>
                <a:srgbClr val="000000"/>
              </a:solidFill>
              <a:latin typeface="Arial"/>
            </a:endParaRPr>
          </a:p>
        </p:txBody>
      </p:sp>
      <p:pic>
        <p:nvPicPr>
          <p:cNvPr id="1466425415" name="Image 0" descr="preencoded.png"/>
          <p:cNvPicPr/>
          <p:nvPr/>
        </p:nvPicPr>
        <p:blipFill rotWithShape="1">
          <a:blip r:embed="rId3"/>
          <a:srcRect l="29187" t="0" r="29186" b="0"/>
          <a:stretch/>
        </p:blipFill>
        <p:spPr bwMode="auto">
          <a:xfrm>
            <a:off x="9837360" y="2225880"/>
            <a:ext cx="7802280" cy="6836400"/>
          </a:xfrm>
          <a:prstGeom prst="rect">
            <a:avLst/>
          </a:prstGeom>
          <a:noFill/>
          <a:ln w="0">
            <a:noFill/>
          </a:ln>
        </p:spPr>
      </p:pic>
      <p:sp>
        <p:nvSpPr>
          <p:cNvPr id="1392984004" name="Shape 18"/>
          <p:cNvSpPr/>
          <p:nvPr/>
        </p:nvSpPr>
        <p:spPr bwMode="auto">
          <a:xfrm>
            <a:off x="9875520" y="8634240"/>
            <a:ext cx="2679840" cy="42804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306270840" name="Text 19"/>
          <p:cNvSpPr/>
          <p:nvPr/>
        </p:nvSpPr>
        <p:spPr bwMode="auto">
          <a:xfrm>
            <a:off x="10046880" y="8739360"/>
            <a:ext cx="245880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45">
                <a:solidFill>
                  <a:srgbClr val="FFFFFF"/>
                </a:solidFill>
                <a:latin typeface="Open Sans"/>
                <a:ea typeface="Open Sans"/>
              </a:rPr>
              <a:t>Mitsue Village · </a:t>
            </a:r>
            <a:r>
              <a:rPr lang="zh-CN" sz="1150" b="1" u="none" strike="noStrike" spc="45">
                <a:solidFill>
                  <a:srgbClr val="FFFFFF"/>
                </a:solidFill>
                <a:latin typeface="Open Sans"/>
                <a:ea typeface="Open Sans"/>
              </a:rPr>
              <a:t>御杖村</a:t>
            </a:r>
            <a:r>
              <a:rPr lang="en-US" sz="1150" b="1" u="none" strike="noStrike" spc="45">
                <a:solidFill>
                  <a:srgbClr val="FFFFFF"/>
                </a:solidFill>
                <a:latin typeface="Open Sans"/>
                <a:ea typeface="Open Sans"/>
              </a:rPr>
              <a:t>, Nara</a:t>
            </a:r>
            <a:endParaRPr lang="en-US" sz="11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7364782"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460467862"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849025381" name="Text 2"/>
          <p:cNvSpPr/>
          <p:nvPr/>
        </p:nvSpPr>
        <p:spPr bwMode="auto">
          <a:xfrm>
            <a:off x="1181160" y="800280"/>
            <a:ext cx="23806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THESIS · </a:t>
            </a:r>
            <a:r>
              <a:rPr lang="zh-CN" sz="1300" b="1" u="none" strike="noStrike" spc="204">
                <a:solidFill>
                  <a:srgbClr val="9B9DA0"/>
                </a:solidFill>
                <a:latin typeface="Open Sans"/>
                <a:ea typeface="Open Sans"/>
              </a:rPr>
              <a:t>命題 </a:t>
            </a:r>
            <a:r>
              <a:rPr lang="en-US" sz="1300" b="1" u="none" strike="noStrike" spc="204">
                <a:solidFill>
                  <a:srgbClr val="9B9DA0"/>
                </a:solidFill>
                <a:latin typeface="Open Sans"/>
                <a:ea typeface="Open Sans"/>
              </a:rPr>
              <a:t>· 02</a:t>
            </a:r>
            <a:endParaRPr lang="en-US" sz="1300" b="0" u="none" strike="noStrike">
              <a:solidFill>
                <a:srgbClr val="000000"/>
              </a:solidFill>
              <a:latin typeface="Arial"/>
            </a:endParaRPr>
          </a:p>
        </p:txBody>
      </p:sp>
      <p:sp>
        <p:nvSpPr>
          <p:cNvPr id="132220376" name="Text 3"/>
          <p:cNvSpPr/>
          <p:nvPr/>
        </p:nvSpPr>
        <p:spPr bwMode="auto">
          <a:xfrm>
            <a:off x="609480" y="1285920"/>
            <a:ext cx="14715360" cy="14774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5000"/>
              </a:lnSpc>
              <a:tabLst>
                <a:tab pos="0" algn="l"/>
              </a:tabLst>
              <a:defRPr/>
            </a:pPr>
            <a:r>
              <a:rPr lang="en-US" sz="5400" b="1" u="none" strike="noStrike" spc="-54">
                <a:solidFill>
                  <a:srgbClr val="2E2E2E"/>
                </a:solidFill>
                <a:latin typeface="Sora"/>
                <a:ea typeface="Sora"/>
              </a:rPr>
              <a:t>A replicable model for rural </a:t>
            </a:r>
            <a:r>
              <a:rPr lang="en-US" sz="5400" b="1" u="none" strike="noStrike" spc="-54">
                <a:solidFill>
                  <a:srgbClr val="2E2E2E"/>
                </a:solidFill>
                <a:latin typeface="Sora"/>
                <a:ea typeface="Sora"/>
              </a:rPr>
              <a:t>regeneration.</a:t>
            </a:r>
            <a:endParaRPr lang="en-US" sz="5400" b="0" u="none" strike="noStrike">
              <a:solidFill>
                <a:srgbClr val="000000"/>
              </a:solidFill>
              <a:latin typeface="Arial"/>
            </a:endParaRPr>
          </a:p>
        </p:txBody>
      </p:sp>
      <p:sp>
        <p:nvSpPr>
          <p:cNvPr id="1705642659" name="Text 4"/>
          <p:cNvSpPr/>
          <p:nvPr/>
        </p:nvSpPr>
        <p:spPr bwMode="auto">
          <a:xfrm>
            <a:off x="609480" y="2859480"/>
            <a:ext cx="18775080" cy="437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100" b="0" u="none" strike="noStrike">
                <a:solidFill>
                  <a:srgbClr val="6E7174"/>
                </a:solidFill>
                <a:latin typeface="Noto Sans JP"/>
                <a:ea typeface="Noto Sans JP"/>
              </a:rPr>
              <a:t>地方再生の、再現可能なモデル。</a:t>
            </a:r>
            <a:endParaRPr lang="en-US" sz="2100" b="0" u="none" strike="noStrike">
              <a:solidFill>
                <a:srgbClr val="000000"/>
              </a:solidFill>
              <a:latin typeface="Arial"/>
            </a:endParaRPr>
          </a:p>
        </p:txBody>
      </p:sp>
      <p:sp>
        <p:nvSpPr>
          <p:cNvPr id="849701673" name="Shape 5"/>
          <p:cNvSpPr/>
          <p:nvPr/>
        </p:nvSpPr>
        <p:spPr bwMode="auto">
          <a:xfrm>
            <a:off x="60948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00736779" name="Shape 6"/>
          <p:cNvSpPr/>
          <p:nvPr/>
        </p:nvSpPr>
        <p:spPr bwMode="auto">
          <a:xfrm>
            <a:off x="609480" y="4640760"/>
            <a:ext cx="5485680" cy="46800"/>
          </a:xfrm>
          <a:prstGeom prst="rect">
            <a:avLst/>
          </a:prstGeom>
          <a:solidFill>
            <a:srgbClr val="2E2E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445422896" name="Text 7"/>
          <p:cNvSpPr/>
          <p:nvPr/>
        </p:nvSpPr>
        <p:spPr bwMode="auto">
          <a:xfrm>
            <a:off x="93348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2E2E2E"/>
                </a:solidFill>
                <a:latin typeface="Sora"/>
                <a:ea typeface="Sora"/>
              </a:rPr>
              <a:t>Forest</a:t>
            </a:r>
            <a:endParaRPr lang="en-US" sz="2250" b="0" u="none" strike="noStrike">
              <a:solidFill>
                <a:srgbClr val="000000"/>
              </a:solidFill>
              <a:latin typeface="Arial"/>
            </a:endParaRPr>
          </a:p>
        </p:txBody>
      </p:sp>
      <p:sp>
        <p:nvSpPr>
          <p:cNvPr id="426241920" name="Text 8"/>
          <p:cNvSpPr/>
          <p:nvPr/>
        </p:nvSpPr>
        <p:spPr bwMode="auto">
          <a:xfrm>
            <a:off x="93348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u="none" strike="noStrike">
                <a:solidFill>
                  <a:srgbClr val="9B9DA0"/>
                </a:solidFill>
                <a:latin typeface="Noto Sans JP"/>
                <a:ea typeface="Noto Sans JP"/>
              </a:rPr>
              <a:t>森林再生</a:t>
            </a:r>
            <a:endParaRPr lang="en-US" sz="1450" b="0" u="none" strike="noStrike">
              <a:solidFill>
                <a:srgbClr val="000000"/>
              </a:solidFill>
              <a:latin typeface="Arial"/>
            </a:endParaRPr>
          </a:p>
        </p:txBody>
      </p:sp>
      <p:sp>
        <p:nvSpPr>
          <p:cNvPr id="1683933599" name="Text 9"/>
          <p:cNvSpPr/>
          <p:nvPr/>
        </p:nvSpPr>
        <p:spPr bwMode="auto">
          <a:xfrm>
            <a:off x="93348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4A4A4A"/>
                </a:solidFill>
                <a:latin typeface="Open Sans"/>
                <a:ea typeface="Open Sans"/>
              </a:rPr>
              <a:t>Aged cedar restored to native broadleaf — turning a liability into feedstock and habitat.</a:t>
            </a:r>
            <a:endParaRPr lang="en-US" sz="1650" b="0" u="none" strike="noStrike">
              <a:solidFill>
                <a:srgbClr val="000000"/>
              </a:solidFill>
              <a:latin typeface="Arial"/>
            </a:endParaRPr>
          </a:p>
        </p:txBody>
      </p:sp>
      <p:sp>
        <p:nvSpPr>
          <p:cNvPr id="476367158" name="Shape 10"/>
          <p:cNvSpPr/>
          <p:nvPr/>
        </p:nvSpPr>
        <p:spPr bwMode="auto">
          <a:xfrm>
            <a:off x="640080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75028937" name="Shape 11"/>
          <p:cNvSpPr/>
          <p:nvPr/>
        </p:nvSpPr>
        <p:spPr bwMode="auto">
          <a:xfrm>
            <a:off x="6400800" y="4640760"/>
            <a:ext cx="5485680" cy="46800"/>
          </a:xfrm>
          <a:prstGeom prst="rect">
            <a:avLst/>
          </a:prstGeom>
          <a:solidFill>
            <a:srgbClr val="2E2E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170759927" name="Text 12"/>
          <p:cNvSpPr/>
          <p:nvPr/>
        </p:nvSpPr>
        <p:spPr bwMode="auto">
          <a:xfrm>
            <a:off x="672480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2E2E2E"/>
                </a:solidFill>
                <a:latin typeface="Sora"/>
                <a:ea typeface="Sora"/>
              </a:rPr>
              <a:t>Energy</a:t>
            </a:r>
            <a:endParaRPr lang="en-US" sz="2250" b="0" u="none" strike="noStrike">
              <a:solidFill>
                <a:srgbClr val="000000"/>
              </a:solidFill>
              <a:latin typeface="Arial"/>
            </a:endParaRPr>
          </a:p>
        </p:txBody>
      </p:sp>
      <p:sp>
        <p:nvSpPr>
          <p:cNvPr id="228728368" name="Text 13"/>
          <p:cNvSpPr/>
          <p:nvPr/>
        </p:nvSpPr>
        <p:spPr bwMode="auto">
          <a:xfrm>
            <a:off x="672480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u="none" strike="noStrike">
                <a:solidFill>
                  <a:srgbClr val="9B9DA0"/>
                </a:solidFill>
                <a:latin typeface="Noto Sans JP"/>
                <a:ea typeface="Noto Sans JP"/>
              </a:rPr>
              <a:t>地域エネルギー</a:t>
            </a:r>
            <a:endParaRPr lang="en-US" sz="1450" b="0" u="none" strike="noStrike">
              <a:solidFill>
                <a:srgbClr val="000000"/>
              </a:solidFill>
              <a:latin typeface="Arial"/>
            </a:endParaRPr>
          </a:p>
        </p:txBody>
      </p:sp>
      <p:sp>
        <p:nvSpPr>
          <p:cNvPr id="266225790" name="Text 14"/>
          <p:cNvSpPr/>
          <p:nvPr/>
        </p:nvSpPr>
        <p:spPr bwMode="auto">
          <a:xfrm>
            <a:off x="672480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4A4A4A"/>
                </a:solidFill>
                <a:latin typeface="Open Sans"/>
                <a:ea typeface="Open Sans"/>
              </a:rPr>
              <a:t>Biomass heat and existing solar — local power, kept local, with the grid as backup.</a:t>
            </a:r>
            <a:endParaRPr lang="en-US" sz="1650" b="0" u="none" strike="noStrike">
              <a:solidFill>
                <a:srgbClr val="000000"/>
              </a:solidFill>
              <a:latin typeface="Arial"/>
            </a:endParaRPr>
          </a:p>
        </p:txBody>
      </p:sp>
      <p:sp>
        <p:nvSpPr>
          <p:cNvPr id="1965228476" name="Shape 15"/>
          <p:cNvSpPr/>
          <p:nvPr/>
        </p:nvSpPr>
        <p:spPr bwMode="auto">
          <a:xfrm>
            <a:off x="12192120" y="4640760"/>
            <a:ext cx="5485680" cy="2856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370865603" name="Shape 16"/>
          <p:cNvSpPr/>
          <p:nvPr/>
        </p:nvSpPr>
        <p:spPr bwMode="auto">
          <a:xfrm>
            <a:off x="12192120" y="4640760"/>
            <a:ext cx="548568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062675362" name="Text 17"/>
          <p:cNvSpPr/>
          <p:nvPr/>
        </p:nvSpPr>
        <p:spPr bwMode="auto">
          <a:xfrm>
            <a:off x="12515760" y="5050440"/>
            <a:ext cx="532188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C26A12"/>
                </a:solidFill>
                <a:latin typeface="Sora"/>
                <a:ea typeface="Sora"/>
              </a:rPr>
              <a:t>Compute</a:t>
            </a:r>
            <a:endParaRPr lang="en-US" sz="2250" b="0" u="none" strike="noStrike">
              <a:solidFill>
                <a:srgbClr val="000000"/>
              </a:solidFill>
              <a:latin typeface="Arial"/>
            </a:endParaRPr>
          </a:p>
        </p:txBody>
      </p:sp>
      <p:sp>
        <p:nvSpPr>
          <p:cNvPr id="1581469309" name="Text 18"/>
          <p:cNvSpPr/>
          <p:nvPr/>
        </p:nvSpPr>
        <p:spPr bwMode="auto">
          <a:xfrm>
            <a:off x="12515760" y="6176160"/>
            <a:ext cx="53218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450" b="1" u="none" strike="noStrike">
                <a:solidFill>
                  <a:srgbClr val="E58520"/>
                </a:solidFill>
                <a:latin typeface="Noto Sans JP"/>
                <a:ea typeface="Noto Sans JP"/>
              </a:rPr>
              <a:t>演算 — エンジン</a:t>
            </a:r>
            <a:endParaRPr lang="en-US" sz="1450" b="0" u="none" strike="noStrike">
              <a:solidFill>
                <a:srgbClr val="000000"/>
              </a:solidFill>
              <a:latin typeface="Arial"/>
            </a:endParaRPr>
          </a:p>
        </p:txBody>
      </p:sp>
      <p:sp>
        <p:nvSpPr>
          <p:cNvPr id="1878084941" name="Text 19"/>
          <p:cNvSpPr/>
          <p:nvPr/>
        </p:nvSpPr>
        <p:spPr bwMode="auto">
          <a:xfrm>
            <a:off x="12515760" y="6528600"/>
            <a:ext cx="4983120" cy="645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50" b="0" u="none" strike="noStrike">
                <a:solidFill>
                  <a:srgbClr val="4A4A4A"/>
                </a:solidFill>
                <a:latin typeface="Open Sans"/>
                <a:ea typeface="Open Sans"/>
              </a:rPr>
              <a:t>A community-owned data center — the revenue engine that finances everything else.</a:t>
            </a:r>
            <a:endParaRPr lang="en-US" sz="1650" b="0" u="none" strike="noStrike">
              <a:solidFill>
                <a:srgbClr val="000000"/>
              </a:solidFill>
              <a:latin typeface="Arial"/>
            </a:endParaRPr>
          </a:p>
        </p:txBody>
      </p:sp>
      <p:sp>
        <p:nvSpPr>
          <p:cNvPr id="2104125204" name="Shape 20"/>
          <p:cNvSpPr/>
          <p:nvPr/>
        </p:nvSpPr>
        <p:spPr bwMode="auto">
          <a:xfrm>
            <a:off x="609480" y="8784360"/>
            <a:ext cx="17067960" cy="81612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60352862" name="Text 21"/>
          <p:cNvSpPr/>
          <p:nvPr/>
        </p:nvSpPr>
        <p:spPr bwMode="auto">
          <a:xfrm>
            <a:off x="933480" y="9035640"/>
            <a:ext cx="114948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F4B872"/>
                </a:solidFill>
                <a:latin typeface="Sora"/>
                <a:ea typeface="Sora"/>
              </a:rPr>
              <a:t>Key idea</a:t>
            </a:r>
            <a:endParaRPr lang="en-US" sz="1950" b="0" u="none" strike="noStrike">
              <a:solidFill>
                <a:srgbClr val="000000"/>
              </a:solidFill>
              <a:latin typeface="Arial"/>
            </a:endParaRPr>
          </a:p>
        </p:txBody>
      </p:sp>
      <p:sp>
        <p:nvSpPr>
          <p:cNvPr id="977796162" name="Text 22"/>
          <p:cNvSpPr/>
          <p:nvPr/>
        </p:nvSpPr>
        <p:spPr bwMode="auto">
          <a:xfrm>
            <a:off x="2216880" y="9032040"/>
            <a:ext cx="13814280" cy="358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5000"/>
              </a:lnSpc>
              <a:tabLst>
                <a:tab pos="0" algn="l"/>
              </a:tabLst>
              <a:defRPr/>
            </a:pPr>
            <a:r>
              <a:rPr lang="en-US" sz="1900" b="1" u="none" strike="noStrike">
                <a:solidFill>
                  <a:srgbClr val="FFFFFF"/>
                </a:solidFill>
                <a:latin typeface="Open Sans"/>
                <a:ea typeface="Open Sans"/>
              </a:rPr>
              <a:t>The data center is the engine. The forest and the village are the return. </a:t>
            </a:r>
            <a:r>
              <a:rPr lang="zh-CN" sz="1500" b="0" u="none" strike="noStrike">
                <a:solidFill>
                  <a:srgbClr val="C7C9CB"/>
                </a:solidFill>
                <a:latin typeface="Noto Sans JP"/>
                <a:ea typeface="Noto Sans JP"/>
              </a:rPr>
              <a:t>データセンターはエンジン、森と集落がリターン。</a:t>
            </a:r>
            <a:endParaRPr lang="en-US" sz="15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54774112"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15086020"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52418585" name="Text 2"/>
          <p:cNvSpPr/>
          <p:nvPr/>
        </p:nvSpPr>
        <p:spPr bwMode="auto">
          <a:xfrm>
            <a:off x="1181160" y="800280"/>
            <a:ext cx="353844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CHALLENGE · </a:t>
            </a:r>
            <a:r>
              <a:rPr lang="zh-CN" sz="1300" b="1" u="none" strike="noStrike" spc="204">
                <a:solidFill>
                  <a:srgbClr val="9B9DA0"/>
                </a:solidFill>
                <a:latin typeface="Open Sans"/>
                <a:ea typeface="Open Sans"/>
              </a:rPr>
              <a:t>現状の課題 </a:t>
            </a:r>
            <a:r>
              <a:rPr lang="en-US" sz="1300" b="1" u="none" strike="noStrike" spc="204">
                <a:solidFill>
                  <a:srgbClr val="9B9DA0"/>
                </a:solidFill>
                <a:latin typeface="Open Sans"/>
                <a:ea typeface="Open Sans"/>
              </a:rPr>
              <a:t>· 03</a:t>
            </a:r>
            <a:endParaRPr lang="en-US" sz="1300" b="0" u="none" strike="noStrike">
              <a:solidFill>
                <a:srgbClr val="000000"/>
              </a:solidFill>
              <a:latin typeface="Arial"/>
            </a:endParaRPr>
          </a:p>
        </p:txBody>
      </p:sp>
      <p:sp>
        <p:nvSpPr>
          <p:cNvPr id="2009564430" name="Text 3"/>
          <p:cNvSpPr/>
          <p:nvPr/>
        </p:nvSpPr>
        <p:spPr bwMode="auto">
          <a:xfrm>
            <a:off x="609480" y="1266840"/>
            <a:ext cx="18775080" cy="671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4000"/>
              </a:lnSpc>
              <a:tabLst>
                <a:tab pos="0" algn="l"/>
              </a:tabLst>
              <a:defRPr/>
            </a:pPr>
            <a:r>
              <a:rPr lang="en-US" sz="4800" b="1" u="none" strike="noStrike" spc="-47">
                <a:solidFill>
                  <a:srgbClr val="2E2E2E"/>
                </a:solidFill>
                <a:latin typeface="Sora"/>
                <a:ea typeface="Sora"/>
              </a:rPr>
              <a:t>Four problems — or four raw materials</a:t>
            </a:r>
            <a:endParaRPr lang="en-US" sz="4800" b="0" u="none" strike="noStrike">
              <a:solidFill>
                <a:srgbClr val="000000"/>
              </a:solidFill>
              <a:latin typeface="Arial"/>
            </a:endParaRPr>
          </a:p>
        </p:txBody>
      </p:sp>
      <p:sp>
        <p:nvSpPr>
          <p:cNvPr id="1615598465" name="Text 4"/>
          <p:cNvSpPr/>
          <p:nvPr/>
        </p:nvSpPr>
        <p:spPr bwMode="auto">
          <a:xfrm>
            <a:off x="609480" y="201528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四つの課題は、見方を変えれば四つの資源。</a:t>
            </a:r>
            <a:endParaRPr lang="en-US" sz="1950" b="0" u="none" strike="noStrike">
              <a:solidFill>
                <a:srgbClr val="000000"/>
              </a:solidFill>
              <a:latin typeface="Arial"/>
            </a:endParaRPr>
          </a:p>
        </p:txBody>
      </p:sp>
      <p:sp>
        <p:nvSpPr>
          <p:cNvPr id="104670314" name="Shape 5"/>
          <p:cNvSpPr/>
          <p:nvPr/>
        </p:nvSpPr>
        <p:spPr bwMode="auto">
          <a:xfrm>
            <a:off x="60948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1872355200" name="Text 6"/>
          <p:cNvSpPr/>
          <p:nvPr/>
        </p:nvSpPr>
        <p:spPr bwMode="auto">
          <a:xfrm>
            <a:off x="60948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500" b="1" u="none" strike="noStrike">
                <a:solidFill>
                  <a:srgbClr val="2E2E2E"/>
                </a:solidFill>
                <a:latin typeface="Sora"/>
                <a:ea typeface="Sora"/>
              </a:rPr>
              <a:t>&lt;1,500</a:t>
            </a:r>
            <a:endParaRPr lang="en-US" sz="4500" b="0" u="none" strike="noStrike">
              <a:solidFill>
                <a:srgbClr val="000000"/>
              </a:solidFill>
              <a:latin typeface="Arial"/>
            </a:endParaRPr>
          </a:p>
        </p:txBody>
      </p:sp>
      <p:sp>
        <p:nvSpPr>
          <p:cNvPr id="640793397" name="Text 7"/>
          <p:cNvSpPr/>
          <p:nvPr/>
        </p:nvSpPr>
        <p:spPr bwMode="auto">
          <a:xfrm>
            <a:off x="60948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Residents, and falling</a:t>
            </a:r>
            <a:endParaRPr lang="en-US" sz="1750" b="0" u="none" strike="noStrike">
              <a:solidFill>
                <a:srgbClr val="000000"/>
              </a:solidFill>
              <a:latin typeface="Arial"/>
            </a:endParaRPr>
          </a:p>
        </p:txBody>
      </p:sp>
      <p:sp>
        <p:nvSpPr>
          <p:cNvPr id="1875834734" name="Text 8"/>
          <p:cNvSpPr/>
          <p:nvPr/>
        </p:nvSpPr>
        <p:spPr bwMode="auto">
          <a:xfrm>
            <a:off x="60948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9B9DA0"/>
                </a:solidFill>
                <a:latin typeface="Noto Sans JP"/>
                <a:ea typeface="Noto Sans JP"/>
              </a:rPr>
              <a:t>人口減少・高齢化（</a:t>
            </a:r>
            <a:r>
              <a:rPr lang="en-US" sz="1350" b="0" u="none" strike="noStrike">
                <a:solidFill>
                  <a:srgbClr val="9B9DA0"/>
                </a:solidFill>
                <a:latin typeface="Noto Sans JP"/>
                <a:ea typeface="Noto Sans JP"/>
              </a:rPr>
              <a:t>65</a:t>
            </a:r>
            <a:r>
              <a:rPr lang="zh-CN" sz="1350" b="0" u="none" strike="noStrike">
                <a:solidFill>
                  <a:srgbClr val="9B9DA0"/>
                </a:solidFill>
                <a:latin typeface="Noto Sans JP"/>
                <a:ea typeface="Noto Sans JP"/>
              </a:rPr>
              <a:t>歳以上が過半）</a:t>
            </a:r>
            <a:endParaRPr lang="en-US" sz="1350" b="0" u="none" strike="noStrike">
              <a:solidFill>
                <a:srgbClr val="000000"/>
              </a:solidFill>
              <a:latin typeface="Arial"/>
            </a:endParaRPr>
          </a:p>
        </p:txBody>
      </p:sp>
      <p:sp>
        <p:nvSpPr>
          <p:cNvPr id="1959204042" name="Text 9"/>
          <p:cNvSpPr/>
          <p:nvPr/>
        </p:nvSpPr>
        <p:spPr bwMode="auto">
          <a:xfrm>
            <a:off x="60948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An aging community that needs new work and reasons to stay.</a:t>
            </a:r>
            <a:endParaRPr lang="en-US" sz="1450" b="0" u="none" strike="noStrike">
              <a:solidFill>
                <a:srgbClr val="000000"/>
              </a:solidFill>
              <a:latin typeface="Arial"/>
            </a:endParaRPr>
          </a:p>
        </p:txBody>
      </p:sp>
      <p:sp>
        <p:nvSpPr>
          <p:cNvPr id="387943124" name="Shape 10"/>
          <p:cNvSpPr/>
          <p:nvPr/>
        </p:nvSpPr>
        <p:spPr bwMode="auto">
          <a:xfrm>
            <a:off x="493884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24897542" name="Text 11"/>
          <p:cNvSpPr/>
          <p:nvPr/>
        </p:nvSpPr>
        <p:spPr bwMode="auto">
          <a:xfrm>
            <a:off x="4938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500" b="1" u="none" strike="noStrike">
                <a:solidFill>
                  <a:srgbClr val="2E2E2E"/>
                </a:solidFill>
                <a:latin typeface="Sora"/>
                <a:ea typeface="Sora"/>
              </a:rPr>
              <a:t>93%</a:t>
            </a:r>
            <a:endParaRPr lang="en-US" sz="4500" b="0" u="none" strike="noStrike">
              <a:solidFill>
                <a:srgbClr val="000000"/>
              </a:solidFill>
              <a:latin typeface="Arial"/>
            </a:endParaRPr>
          </a:p>
        </p:txBody>
      </p:sp>
      <p:sp>
        <p:nvSpPr>
          <p:cNvPr id="1303467193" name="Text 12"/>
          <p:cNvSpPr/>
          <p:nvPr/>
        </p:nvSpPr>
        <p:spPr bwMode="auto">
          <a:xfrm>
            <a:off x="4938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Forest, much unmanaged</a:t>
            </a:r>
            <a:endParaRPr lang="en-US" sz="1750" b="0" u="none" strike="noStrike">
              <a:solidFill>
                <a:srgbClr val="000000"/>
              </a:solidFill>
              <a:latin typeface="Arial"/>
            </a:endParaRPr>
          </a:p>
        </p:txBody>
      </p:sp>
      <p:sp>
        <p:nvSpPr>
          <p:cNvPr id="1018364008" name="Text 13"/>
          <p:cNvSpPr/>
          <p:nvPr/>
        </p:nvSpPr>
        <p:spPr bwMode="auto">
          <a:xfrm>
            <a:off x="4938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9B9DA0"/>
                </a:solidFill>
                <a:latin typeface="Noto Sans JP"/>
                <a:ea typeface="Noto Sans JP"/>
              </a:rPr>
              <a:t>森林率</a:t>
            </a:r>
            <a:r>
              <a:rPr lang="en-US" sz="1350" b="0" u="none" strike="noStrike">
                <a:solidFill>
                  <a:srgbClr val="9B9DA0"/>
                </a:solidFill>
                <a:latin typeface="Noto Sans JP"/>
                <a:ea typeface="Noto Sans JP"/>
              </a:rPr>
              <a:t>93%</a:t>
            </a:r>
            <a:r>
              <a:rPr lang="zh-CN" sz="1350" b="0" u="none" strike="noStrike">
                <a:solidFill>
                  <a:srgbClr val="9B9DA0"/>
                </a:solidFill>
                <a:latin typeface="Noto Sans JP"/>
                <a:ea typeface="Noto Sans JP"/>
              </a:rPr>
              <a:t>・放置された人工林</a:t>
            </a:r>
            <a:endParaRPr lang="en-US" sz="1350" b="0" u="none" strike="noStrike">
              <a:solidFill>
                <a:srgbClr val="000000"/>
              </a:solidFill>
              <a:latin typeface="Arial"/>
            </a:endParaRPr>
          </a:p>
        </p:txBody>
      </p:sp>
      <p:sp>
        <p:nvSpPr>
          <p:cNvPr id="1503563207" name="Text 14"/>
          <p:cNvSpPr/>
          <p:nvPr/>
        </p:nvSpPr>
        <p:spPr bwMode="auto">
          <a:xfrm>
            <a:off x="4938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Aged cedar: a pollen, fire and landslide liability — and a fuel.</a:t>
            </a:r>
            <a:endParaRPr lang="en-US" sz="1450" b="0" u="none" strike="noStrike">
              <a:solidFill>
                <a:srgbClr val="000000"/>
              </a:solidFill>
              <a:latin typeface="Arial"/>
            </a:endParaRPr>
          </a:p>
        </p:txBody>
      </p:sp>
      <p:sp>
        <p:nvSpPr>
          <p:cNvPr id="1185894937" name="Shape 15"/>
          <p:cNvSpPr/>
          <p:nvPr/>
        </p:nvSpPr>
        <p:spPr bwMode="auto">
          <a:xfrm>
            <a:off x="9267840" y="2767680"/>
            <a:ext cx="4080600" cy="18360"/>
          </a:xfrm>
          <a:prstGeom prst="rect">
            <a:avLst/>
          </a:prstGeom>
          <a:solidFill>
            <a:srgbClr val="E6E6E2"/>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000000"/>
              </a:solidFill>
              <a:latin typeface="Arial"/>
            </a:endParaRPr>
          </a:p>
        </p:txBody>
      </p:sp>
      <p:sp>
        <p:nvSpPr>
          <p:cNvPr id="2129905198" name="Text 16"/>
          <p:cNvSpPr/>
          <p:nvPr/>
        </p:nvSpPr>
        <p:spPr bwMode="auto">
          <a:xfrm>
            <a:off x="9267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ja-JP" sz="4500" b="1" u="none" strike="noStrike">
                <a:solidFill>
                  <a:srgbClr val="2E2E2E"/>
                </a:solidFill>
                <a:latin typeface="Sora"/>
                <a:ea typeface="Sora"/>
              </a:rPr>
              <a:t>2</a:t>
            </a:r>
            <a:endParaRPr lang="en-US" sz="4500" b="0" u="none" strike="noStrike">
              <a:solidFill>
                <a:srgbClr val="000000"/>
              </a:solidFill>
              <a:latin typeface="Arial"/>
            </a:endParaRPr>
          </a:p>
        </p:txBody>
      </p:sp>
      <p:sp>
        <p:nvSpPr>
          <p:cNvPr id="476524084" name="Text 17"/>
          <p:cNvSpPr/>
          <p:nvPr/>
        </p:nvSpPr>
        <p:spPr bwMode="auto">
          <a:xfrm>
            <a:off x="9267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Closed school</a:t>
            </a:r>
            <a:r>
              <a:rPr lang="ja-JP" sz="1750" b="0" u="none" strike="noStrike">
                <a:solidFill>
                  <a:srgbClr val="000000"/>
                </a:solidFill>
                <a:latin typeface="Arial"/>
              </a:rPr>
              <a:t>s</a:t>
            </a:r>
            <a:endParaRPr lang="en-US" sz="1750" b="0" u="none" strike="noStrike">
              <a:solidFill>
                <a:srgbClr val="000000"/>
              </a:solidFill>
              <a:latin typeface="Arial"/>
            </a:endParaRPr>
          </a:p>
        </p:txBody>
      </p:sp>
      <p:sp>
        <p:nvSpPr>
          <p:cNvPr id="1350399442" name="Text 18"/>
          <p:cNvSpPr/>
          <p:nvPr/>
        </p:nvSpPr>
        <p:spPr bwMode="auto">
          <a:xfrm>
            <a:off x="9267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9B9DA0"/>
                </a:solidFill>
                <a:latin typeface="Noto Sans JP"/>
                <a:ea typeface="Noto Sans JP"/>
              </a:rPr>
              <a:t>旧御杖小学校 — 維持費のかかる遊休資産</a:t>
            </a:r>
            <a:endParaRPr lang="en-US" sz="1350" b="0" u="none" strike="noStrike">
              <a:solidFill>
                <a:srgbClr val="000000"/>
              </a:solidFill>
              <a:latin typeface="Arial"/>
            </a:endParaRPr>
          </a:p>
        </p:txBody>
      </p:sp>
      <p:sp>
        <p:nvSpPr>
          <p:cNvPr id="2084217271" name="Text 19"/>
          <p:cNvSpPr/>
          <p:nvPr/>
        </p:nvSpPr>
        <p:spPr bwMode="auto">
          <a:xfrm>
            <a:off x="9267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A maintained building earning nothing — ready to be repurposed.</a:t>
            </a:r>
            <a:endParaRPr lang="en-US" sz="1450" b="0" u="none" strike="noStrike">
              <a:solidFill>
                <a:srgbClr val="000000"/>
              </a:solidFill>
              <a:latin typeface="Arial"/>
            </a:endParaRPr>
          </a:p>
        </p:txBody>
      </p:sp>
      <p:sp>
        <p:nvSpPr>
          <p:cNvPr id="1773095659" name="Shape 20"/>
          <p:cNvSpPr/>
          <p:nvPr/>
        </p:nvSpPr>
        <p:spPr bwMode="auto">
          <a:xfrm>
            <a:off x="13596840" y="2767680"/>
            <a:ext cx="4080600" cy="18360"/>
          </a:xfrm>
          <a:prstGeom prst="rect">
            <a:avLst/>
          </a:prstGeom>
          <a:solidFill>
            <a:srgbClr val="E58520"/>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92063536" name="Text 21"/>
          <p:cNvSpPr/>
          <p:nvPr/>
        </p:nvSpPr>
        <p:spPr bwMode="auto">
          <a:xfrm>
            <a:off x="13596840" y="3015360"/>
            <a:ext cx="4488840" cy="6087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500" b="1" u="none" strike="noStrike">
                <a:solidFill>
                  <a:srgbClr val="C26A12"/>
                </a:solidFill>
                <a:latin typeface="Sora"/>
                <a:ea typeface="Sora"/>
              </a:rPr>
              <a:t>~92%</a:t>
            </a:r>
            <a:endParaRPr lang="en-US" sz="4500" b="0" u="none" strike="noStrike">
              <a:solidFill>
                <a:srgbClr val="000000"/>
              </a:solidFill>
              <a:latin typeface="Arial"/>
            </a:endParaRPr>
          </a:p>
        </p:txBody>
      </p:sp>
      <p:sp>
        <p:nvSpPr>
          <p:cNvPr id="1215880726" name="Text 22"/>
          <p:cNvSpPr/>
          <p:nvPr/>
        </p:nvSpPr>
        <p:spPr bwMode="auto">
          <a:xfrm>
            <a:off x="13596840" y="3720240"/>
            <a:ext cx="448884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750" b="1" u="none" strike="noStrike">
                <a:solidFill>
                  <a:srgbClr val="2E2E2E"/>
                </a:solidFill>
                <a:latin typeface="Open Sans"/>
                <a:ea typeface="Open Sans"/>
              </a:rPr>
              <a:t>Energy imported</a:t>
            </a:r>
            <a:endParaRPr lang="en-US" sz="1750" b="0" u="none" strike="noStrike">
              <a:solidFill>
                <a:srgbClr val="000000"/>
              </a:solidFill>
              <a:latin typeface="Arial"/>
            </a:endParaRPr>
          </a:p>
        </p:txBody>
      </p:sp>
      <p:sp>
        <p:nvSpPr>
          <p:cNvPr id="746153708" name="Text 23"/>
          <p:cNvSpPr/>
          <p:nvPr/>
        </p:nvSpPr>
        <p:spPr bwMode="auto">
          <a:xfrm>
            <a:off x="13596840" y="4082040"/>
            <a:ext cx="448884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zh-CN" sz="1350" b="0" u="none" strike="noStrike">
                <a:solidFill>
                  <a:srgbClr val="E58520"/>
                </a:solidFill>
                <a:latin typeface="Noto Sans JP"/>
                <a:ea typeface="Noto Sans JP"/>
              </a:rPr>
              <a:t>エネルギーの大半を域外に依存</a:t>
            </a:r>
            <a:endParaRPr lang="en-US" sz="1350" b="0" u="none" strike="noStrike">
              <a:solidFill>
                <a:srgbClr val="000000"/>
              </a:solidFill>
              <a:latin typeface="Arial"/>
            </a:endParaRPr>
          </a:p>
        </p:txBody>
      </p:sp>
      <p:sp>
        <p:nvSpPr>
          <p:cNvPr id="1287600754" name="Text 24"/>
          <p:cNvSpPr/>
          <p:nvPr/>
        </p:nvSpPr>
        <p:spPr bwMode="auto">
          <a:xfrm>
            <a:off x="13596840" y="8638200"/>
            <a:ext cx="4203360" cy="5623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5000"/>
              </a:lnSpc>
              <a:tabLst>
                <a:tab pos="0" algn="l"/>
              </a:tabLst>
              <a:defRPr/>
            </a:pPr>
            <a:r>
              <a:rPr lang="en-US" sz="1450" b="0" u="none" strike="noStrike">
                <a:solidFill>
                  <a:srgbClr val="6E7174"/>
                </a:solidFill>
                <a:latin typeface="Open Sans"/>
                <a:ea typeface="Open Sans"/>
              </a:rPr>
              <a:t>Money leaves the village every month to buy power and fuel.</a:t>
            </a:r>
            <a:endParaRPr lang="en-US" sz="1450" b="0" u="none" strike="noStrike">
              <a:solidFill>
                <a:srgbClr val="000000"/>
              </a:solidFill>
              <a:latin typeface="Arial"/>
            </a:endParaRPr>
          </a:p>
        </p:txBody>
      </p:sp>
      <p:sp>
        <p:nvSpPr>
          <p:cNvPr id="638328792" name="Text 25"/>
          <p:cNvSpPr/>
          <p:nvPr/>
        </p:nvSpPr>
        <p:spPr bwMode="auto">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Population &amp; forest: Mitsue Village statistics / Census. Energy import share illustrative — Japan Energy Database indicators. </a:t>
            </a:r>
            <a:r>
              <a:rPr lang="zh-CN" sz="1000" b="1" u="none" strike="noStrike" spc="20">
                <a:solidFill>
                  <a:srgbClr val="A9ABAE"/>
                </a:solidFill>
                <a:latin typeface="Open Sans"/>
                <a:ea typeface="Open Sans"/>
              </a:rPr>
              <a:t>出典：御杖村統計・国勢調査／エネルギーは試算</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1701672715"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2120054442"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083216958" name="Text 2"/>
          <p:cNvSpPr/>
          <p:nvPr/>
        </p:nvSpPr>
        <p:spPr bwMode="auto">
          <a:xfrm>
            <a:off x="1181160" y="800280"/>
            <a:ext cx="42012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CIRCULAR MODEL · </a:t>
            </a:r>
            <a:r>
              <a:rPr lang="zh-CN" sz="1300" b="1" u="none" strike="noStrike" spc="204">
                <a:solidFill>
                  <a:srgbClr val="9B9DA0"/>
                </a:solidFill>
                <a:latin typeface="Open Sans"/>
                <a:ea typeface="Open Sans"/>
              </a:rPr>
              <a:t>循環モデル </a:t>
            </a:r>
            <a:r>
              <a:rPr lang="en-US" sz="1300" b="1" u="none" strike="noStrike" spc="204">
                <a:solidFill>
                  <a:srgbClr val="9B9DA0"/>
                </a:solidFill>
                <a:latin typeface="Open Sans"/>
                <a:ea typeface="Open Sans"/>
              </a:rPr>
              <a:t>· 04</a:t>
            </a:r>
            <a:endParaRPr lang="en-US" sz="1300" b="0" u="none" strike="noStrike">
              <a:solidFill>
                <a:srgbClr val="000000"/>
              </a:solidFill>
              <a:latin typeface="Arial"/>
            </a:endParaRPr>
          </a:p>
        </p:txBody>
      </p:sp>
      <p:sp>
        <p:nvSpPr>
          <p:cNvPr id="164236510" name="Text 3"/>
          <p:cNvSpPr/>
          <p:nvPr/>
        </p:nvSpPr>
        <p:spPr bwMode="auto">
          <a:xfrm>
            <a:off x="609480" y="1247759"/>
            <a:ext cx="5616360" cy="659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A loop, not a line</a:t>
            </a:r>
            <a:endParaRPr lang="en-US" sz="4800" b="0" u="none" strike="noStrike">
              <a:solidFill>
                <a:srgbClr val="000000"/>
              </a:solidFill>
              <a:latin typeface="Arial"/>
            </a:endParaRPr>
          </a:p>
        </p:txBody>
      </p:sp>
      <p:sp>
        <p:nvSpPr>
          <p:cNvPr id="273696423" name="Text 4"/>
          <p:cNvSpPr/>
          <p:nvPr/>
        </p:nvSpPr>
        <p:spPr bwMode="auto">
          <a:xfrm>
            <a:off x="609480" y="1964880"/>
            <a:ext cx="5616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直線ではなく、循環。各段階が次を支える。</a:t>
            </a:r>
            <a:endParaRPr lang="en-US" sz="1950" b="0" u="none" strike="noStrike">
              <a:solidFill>
                <a:srgbClr val="000000"/>
              </a:solidFill>
              <a:latin typeface="Arial"/>
            </a:endParaRPr>
          </a:p>
        </p:txBody>
      </p:sp>
      <p:sp>
        <p:nvSpPr>
          <p:cNvPr id="1081895476" name="Text 5"/>
          <p:cNvSpPr/>
          <p:nvPr/>
        </p:nvSpPr>
        <p:spPr bwMode="auto">
          <a:xfrm>
            <a:off x="13912200" y="1369440"/>
            <a:ext cx="3878280" cy="627120"/>
          </a:xfrm>
          <a:prstGeom prst="rect">
            <a:avLst/>
          </a:prstGeom>
          <a:noFill/>
          <a:ln w="0">
            <a:noFill/>
          </a:ln>
        </p:spPr>
        <p:style>
          <a:lnRef idx="0"/>
          <a:fillRef idx="0"/>
          <a:effectRef idx="0"/>
          <a:fontRef idx="minor"/>
        </p:style>
        <p:txBody>
          <a:bodyPr lIns="0" tIns="0" rIns="0" bIns="0" anchor="t">
            <a:normAutofit fontScale="92500" lnSpcReduction="9999"/>
          </a:bodyPr>
          <a:p>
            <a:pPr algn="r" defTabSz="914400">
              <a:lnSpc>
                <a:spcPct val="145000"/>
              </a:lnSpc>
              <a:tabLst>
                <a:tab pos="0" algn="l"/>
              </a:tabLst>
              <a:defRPr/>
            </a:pPr>
            <a:r>
              <a:rPr lang="en-US" sz="1650" b="0" u="none" strike="noStrike">
                <a:solidFill>
                  <a:srgbClr val="4A4A4A"/>
                </a:solidFill>
                <a:latin typeface="Open Sans"/>
                <a:ea typeface="Open Sans"/>
              </a:rPr>
              <a:t>Each output is the next input. Revenue returns to the forest and the village.</a:t>
            </a:r>
            <a:endParaRPr lang="en-US" sz="1650" b="0" u="none" strike="noStrike">
              <a:solidFill>
                <a:srgbClr val="000000"/>
              </a:solidFill>
              <a:latin typeface="Arial"/>
            </a:endParaRPr>
          </a:p>
        </p:txBody>
      </p:sp>
      <p:sp>
        <p:nvSpPr>
          <p:cNvPr id="1845884932" name="Text 6"/>
          <p:cNvSpPr/>
          <p:nvPr/>
        </p:nvSpPr>
        <p:spPr bwMode="auto">
          <a:xfrm>
            <a:off x="13173120" y="2044440"/>
            <a:ext cx="4504680" cy="272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algn="r" defTabSz="914400">
              <a:lnSpc>
                <a:spcPct val="145000"/>
              </a:lnSpc>
              <a:tabLst>
                <a:tab pos="0" algn="l"/>
              </a:tabLst>
              <a:defRPr/>
            </a:pPr>
            <a:r>
              <a:rPr lang="zh-CN" sz="1300" b="0" u="none" strike="noStrike">
                <a:solidFill>
                  <a:srgbClr val="9B9DA0"/>
                </a:solidFill>
                <a:latin typeface="Noto Sans JP"/>
                <a:ea typeface="Noto Sans JP"/>
              </a:rPr>
              <a:t>収益は森と集落へ還る。</a:t>
            </a:r>
            <a:endParaRPr lang="en-US" sz="1300" b="0" u="none" strike="noStrike">
              <a:solidFill>
                <a:srgbClr val="000000"/>
              </a:solidFill>
              <a:latin typeface="Arial"/>
            </a:endParaRPr>
          </a:p>
        </p:txBody>
      </p:sp>
      <p:pic>
        <p:nvPicPr>
          <p:cNvPr id="342044567" name="Image 0" descr="preencoded.png"/>
          <p:cNvPicPr/>
          <p:nvPr/>
        </p:nvPicPr>
        <p:blipFill rotWithShape="1">
          <a:blip r:embed="rId3">
            <a:extLst>
              <a:ext uri="{96DAC541-7B7A-43D3-8B79-37D633B846F1}">
                <asvg:svgBlip xmlns:asvg="http://schemas.microsoft.com/office/drawing/2016/SVG/main" r:embed="rId4"/>
              </a:ext>
            </a:extLst>
          </a:blip>
          <a:stretch/>
        </p:blipFill>
        <p:spPr bwMode="auto">
          <a:xfrm>
            <a:off x="609480" y="1000440"/>
            <a:ext cx="17067960" cy="752112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1455724303" name=""/>
          <p:cNvPicPr/>
          <p:nvPr/>
        </p:nvPicPr>
        <p:blipFill rotWithShape="1">
          <a:blip r:embed="rId3"/>
          <a:srcRect l="23550" t="0" r="19768" b="0"/>
          <a:stretch/>
        </p:blipFill>
        <p:spPr bwMode="auto">
          <a:xfrm flipH="0" flipV="0">
            <a:off x="8438759" y="1332516"/>
            <a:ext cx="8785888" cy="7462463"/>
          </a:xfrm>
          <a:prstGeom prst="rect">
            <a:avLst/>
          </a:prstGeom>
          <a:noFill/>
          <a:ln w="0">
            <a:noFill/>
          </a:ln>
        </p:spPr>
      </p:pic>
      <p:sp>
        <p:nvSpPr>
          <p:cNvPr id="2119988431"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319571799" name="Shape 1"/>
          <p:cNvSpPr/>
          <p:nvPr/>
        </p:nvSpPr>
        <p:spPr bwMode="auto">
          <a:xfrm>
            <a:off x="53352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199039386" name="Text 2"/>
          <p:cNvSpPr/>
          <p:nvPr/>
        </p:nvSpPr>
        <p:spPr bwMode="auto">
          <a:xfrm>
            <a:off x="1104840" y="800280"/>
            <a:ext cx="28764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ENGINE · </a:t>
            </a:r>
            <a:r>
              <a:rPr lang="zh-CN" sz="1300" b="1" u="none" strike="noStrike" spc="204">
                <a:solidFill>
                  <a:srgbClr val="9B9DA0"/>
                </a:solidFill>
                <a:latin typeface="Open Sans"/>
                <a:ea typeface="Open Sans"/>
              </a:rPr>
              <a:t>エンジン </a:t>
            </a:r>
            <a:r>
              <a:rPr lang="en-US" sz="1300" b="1" u="none" strike="noStrike" spc="204">
                <a:solidFill>
                  <a:srgbClr val="9B9DA0"/>
                </a:solidFill>
                <a:latin typeface="Open Sans"/>
                <a:ea typeface="Open Sans"/>
              </a:rPr>
              <a:t>· 05</a:t>
            </a:r>
            <a:endParaRPr lang="en-US" sz="1300" b="0" u="none" strike="noStrike">
              <a:solidFill>
                <a:srgbClr val="000000"/>
              </a:solidFill>
              <a:latin typeface="Arial"/>
            </a:endParaRPr>
          </a:p>
        </p:txBody>
      </p:sp>
      <p:sp>
        <p:nvSpPr>
          <p:cNvPr id="113239836" name="Text 3"/>
          <p:cNvSpPr/>
          <p:nvPr/>
        </p:nvSpPr>
        <p:spPr bwMode="auto">
          <a:xfrm>
            <a:off x="533520" y="1247759"/>
            <a:ext cx="8318880" cy="12261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4000"/>
              </a:lnSpc>
              <a:tabLst>
                <a:tab pos="0" algn="l"/>
              </a:tabLst>
              <a:defRPr/>
            </a:pPr>
            <a:r>
              <a:rPr lang="en-US" sz="4500" b="1" u="none" strike="noStrike" spc="-45">
                <a:solidFill>
                  <a:srgbClr val="2E2E2E"/>
                </a:solidFill>
                <a:latin typeface="Sora"/>
                <a:ea typeface="Sora"/>
              </a:rPr>
              <a:t>A community-owned data center</a:t>
            </a:r>
            <a:endParaRPr lang="en-US" sz="4500" b="0" u="none" strike="noStrike">
              <a:solidFill>
                <a:srgbClr val="000000"/>
              </a:solidFill>
              <a:latin typeface="Arial"/>
            </a:endParaRPr>
          </a:p>
        </p:txBody>
      </p:sp>
      <p:sp>
        <p:nvSpPr>
          <p:cNvPr id="1021643033" name="Text 4"/>
          <p:cNvSpPr/>
          <p:nvPr/>
        </p:nvSpPr>
        <p:spPr bwMode="auto">
          <a:xfrm>
            <a:off x="533520" y="2531880"/>
            <a:ext cx="8884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コミュニティ所有の小規模データセンター</a:t>
            </a:r>
            <a:endParaRPr lang="en-US" sz="1900" b="0" u="none" strike="noStrike">
              <a:solidFill>
                <a:srgbClr val="000000"/>
              </a:solidFill>
              <a:latin typeface="Arial"/>
            </a:endParaRPr>
          </a:p>
        </p:txBody>
      </p:sp>
      <p:sp>
        <p:nvSpPr>
          <p:cNvPr id="902554226" name="Text 5"/>
          <p:cNvSpPr/>
          <p:nvPr/>
        </p:nvSpPr>
        <p:spPr bwMode="auto">
          <a:xfrm>
            <a:off x="533520" y="3169800"/>
            <a:ext cx="6278039" cy="1409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800" b="0" u="none" strike="noStrike">
                <a:solidFill>
                  <a:srgbClr val="3A3A3A"/>
                </a:solidFill>
                <a:latin typeface="Open Sans"/>
                <a:ea typeface="Open Sans"/>
              </a:rPr>
              <a:t>The closed Mitsue Elementary School, repurposed as a small, energy-efficient edge &amp; AI compute facility — powered entirely by local renewable energy, owned by the community it serves.</a:t>
            </a:r>
            <a:endParaRPr lang="en-US" sz="1800" b="0" u="none" strike="noStrike">
              <a:solidFill>
                <a:srgbClr val="000000"/>
              </a:solidFill>
              <a:latin typeface="Arial"/>
            </a:endParaRPr>
          </a:p>
        </p:txBody>
      </p:sp>
      <p:sp>
        <p:nvSpPr>
          <p:cNvPr id="54848848" name="Shape 6"/>
          <p:cNvSpPr/>
          <p:nvPr/>
        </p:nvSpPr>
        <p:spPr bwMode="auto">
          <a:xfrm flipH="0" flipV="0">
            <a:off x="533519" y="7897320"/>
            <a:ext cx="6681700" cy="4572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402008219" name="Text 7"/>
          <p:cNvSpPr/>
          <p:nvPr/>
        </p:nvSpPr>
        <p:spPr bwMode="auto">
          <a:xfrm>
            <a:off x="533520" y="811548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1" u="none" strike="noStrike">
                <a:solidFill>
                  <a:srgbClr val="E58520"/>
                </a:solidFill>
                <a:latin typeface="Sora"/>
                <a:ea typeface="Sora"/>
              </a:rPr>
              <a:t>01</a:t>
            </a:r>
            <a:endParaRPr lang="en-US" sz="1800" b="0" u="none" strike="noStrike">
              <a:solidFill>
                <a:srgbClr val="000000"/>
              </a:solidFill>
              <a:latin typeface="Arial"/>
            </a:endParaRPr>
          </a:p>
        </p:txBody>
      </p:sp>
      <p:sp>
        <p:nvSpPr>
          <p:cNvPr id="1706347415" name="Text 8"/>
          <p:cNvSpPr/>
          <p:nvPr/>
        </p:nvSpPr>
        <p:spPr bwMode="auto">
          <a:xfrm>
            <a:off x="1162080" y="8118000"/>
            <a:ext cx="679572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defRPr/>
            </a:pPr>
            <a:r>
              <a:rPr lang="en-US" sz="1600" b="0" u="none" strike="noStrike">
                <a:solidFill>
                  <a:srgbClr val="4A4A4A"/>
                </a:solidFill>
                <a:latin typeface="Open Sans"/>
                <a:ea typeface="Open Sans"/>
              </a:rPr>
              <a:t>Sized for </a:t>
            </a:r>
            <a:r>
              <a:rPr lang="en-US" sz="1600" b="1" u="none" strike="noStrike">
                <a:solidFill>
                  <a:srgbClr val="4A4A4A"/>
                </a:solidFill>
                <a:latin typeface="Open Sans"/>
                <a:ea typeface="Open Sans"/>
              </a:rPr>
              <a:t>accountability &amp; ownership</a:t>
            </a:r>
            <a:r>
              <a:rPr lang="en-US" sz="1600" b="0" u="none" strike="noStrike">
                <a:solidFill>
                  <a:srgbClr val="4A4A4A"/>
                </a:solidFill>
                <a:latin typeface="Open Sans"/>
                <a:ea typeface="Open Sans"/>
              </a:rPr>
              <a:t>, not hyperscale economics.</a:t>
            </a:r>
            <a:endParaRPr lang="en-US" sz="1600" b="0" u="none" strike="noStrike">
              <a:solidFill>
                <a:srgbClr val="000000"/>
              </a:solidFill>
              <a:latin typeface="Arial"/>
            </a:endParaRPr>
          </a:p>
        </p:txBody>
      </p:sp>
      <p:sp>
        <p:nvSpPr>
          <p:cNvPr id="1638528388" name="Shape 9"/>
          <p:cNvSpPr/>
          <p:nvPr/>
        </p:nvSpPr>
        <p:spPr bwMode="auto">
          <a:xfrm flipH="0" flipV="0">
            <a:off x="533519" y="8535600"/>
            <a:ext cx="6765744" cy="4572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646955973" name="Text 10"/>
          <p:cNvSpPr/>
          <p:nvPr/>
        </p:nvSpPr>
        <p:spPr bwMode="auto">
          <a:xfrm>
            <a:off x="533520" y="875340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1" u="none" strike="noStrike">
                <a:solidFill>
                  <a:srgbClr val="E58520"/>
                </a:solidFill>
                <a:latin typeface="Sora"/>
                <a:ea typeface="Sora"/>
              </a:rPr>
              <a:t>02</a:t>
            </a:r>
            <a:endParaRPr lang="en-US" sz="1800" b="0" u="none" strike="noStrike">
              <a:solidFill>
                <a:srgbClr val="000000"/>
              </a:solidFill>
              <a:latin typeface="Arial"/>
            </a:endParaRPr>
          </a:p>
        </p:txBody>
      </p:sp>
      <p:sp>
        <p:nvSpPr>
          <p:cNvPr id="1753093826" name="Text 11"/>
          <p:cNvSpPr/>
          <p:nvPr/>
        </p:nvSpPr>
        <p:spPr bwMode="auto">
          <a:xfrm>
            <a:off x="1162080" y="8756280"/>
            <a:ext cx="581688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defRPr/>
            </a:pPr>
            <a:r>
              <a:rPr lang="en-US" sz="1600" b="0" u="none" strike="noStrike">
                <a:solidFill>
                  <a:srgbClr val="4A4A4A"/>
                </a:solidFill>
                <a:latin typeface="Open Sans"/>
                <a:ea typeface="Open Sans"/>
              </a:rPr>
              <a:t>Reuses a </a:t>
            </a:r>
            <a:r>
              <a:rPr lang="en-US" sz="1600" b="1" u="none" strike="noStrike">
                <a:solidFill>
                  <a:srgbClr val="4A4A4A"/>
                </a:solidFill>
                <a:latin typeface="Open Sans"/>
                <a:ea typeface="Open Sans"/>
              </a:rPr>
              <a:t>stranded public asset </a:t>
            </a:r>
            <a:r>
              <a:rPr lang="en-US" sz="1600" b="0" u="none" strike="noStrike">
                <a:solidFill>
                  <a:srgbClr val="4A4A4A"/>
                </a:solidFill>
                <a:latin typeface="Open Sans"/>
                <a:ea typeface="Open Sans"/>
              </a:rPr>
              <a:t>instead of building new.</a:t>
            </a:r>
            <a:endParaRPr lang="en-US" sz="1600" b="0" u="none" strike="noStrike">
              <a:solidFill>
                <a:srgbClr val="000000"/>
              </a:solidFill>
              <a:latin typeface="Arial"/>
            </a:endParaRPr>
          </a:p>
        </p:txBody>
      </p:sp>
      <p:sp>
        <p:nvSpPr>
          <p:cNvPr id="109926285" name="Shape 12"/>
          <p:cNvSpPr/>
          <p:nvPr/>
        </p:nvSpPr>
        <p:spPr bwMode="auto">
          <a:xfrm flipH="0" flipV="0">
            <a:off x="533519" y="9173520"/>
            <a:ext cx="6765744" cy="4572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506559720" name="Text 13"/>
          <p:cNvSpPr/>
          <p:nvPr/>
        </p:nvSpPr>
        <p:spPr bwMode="auto">
          <a:xfrm>
            <a:off x="533520" y="9391680"/>
            <a:ext cx="532800" cy="3232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800" b="1" u="none" strike="noStrike">
                <a:solidFill>
                  <a:srgbClr val="E58520"/>
                </a:solidFill>
                <a:latin typeface="Sora"/>
                <a:ea typeface="Sora"/>
              </a:rPr>
              <a:t>03</a:t>
            </a:r>
            <a:endParaRPr lang="en-US" sz="1800" b="0" u="none" strike="noStrike">
              <a:solidFill>
                <a:srgbClr val="000000"/>
              </a:solidFill>
              <a:latin typeface="Arial"/>
            </a:endParaRPr>
          </a:p>
        </p:txBody>
      </p:sp>
      <p:sp>
        <p:nvSpPr>
          <p:cNvPr id="1595617430" name="Text 14"/>
          <p:cNvSpPr/>
          <p:nvPr/>
        </p:nvSpPr>
        <p:spPr bwMode="auto">
          <a:xfrm>
            <a:off x="1162080" y="9394560"/>
            <a:ext cx="5572080" cy="31752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40000"/>
              </a:lnSpc>
              <a:tabLst>
                <a:tab pos="0" algn="l"/>
              </a:tabLst>
              <a:defRPr/>
            </a:pPr>
            <a:r>
              <a:rPr lang="en-US" sz="1600" b="0" u="none" strike="noStrike">
                <a:solidFill>
                  <a:srgbClr val="4A4A4A"/>
                </a:solidFill>
                <a:latin typeface="Open Sans"/>
                <a:ea typeface="Open Sans"/>
              </a:rPr>
              <a:t>Generates the </a:t>
            </a:r>
            <a:r>
              <a:rPr lang="en-US" sz="1600" b="1" u="none" strike="noStrike">
                <a:solidFill>
                  <a:srgbClr val="4A4A4A"/>
                </a:solidFill>
                <a:latin typeface="Open Sans"/>
                <a:ea typeface="Open Sans"/>
              </a:rPr>
              <a:t>recurring revenue </a:t>
            </a:r>
            <a:r>
              <a:rPr lang="en-US" sz="1600" b="0" u="none" strike="noStrike">
                <a:solidFill>
                  <a:srgbClr val="4A4A4A"/>
                </a:solidFill>
                <a:latin typeface="Open Sans"/>
                <a:ea typeface="Open Sans"/>
              </a:rPr>
              <a:t>that funds the loop.</a:t>
            </a:r>
            <a:endParaRPr lang="en-US" sz="1600" b="0" u="none" strike="noStrike">
              <a:solidFill>
                <a:srgbClr val="000000"/>
              </a:solidFill>
              <a:latin typeface="Arial"/>
            </a:endParaRPr>
          </a:p>
        </p:txBody>
      </p:sp>
      <p:sp>
        <p:nvSpPr>
          <p:cNvPr id="2029847540" name="Shape 15"/>
          <p:cNvSpPr/>
          <p:nvPr/>
        </p:nvSpPr>
        <p:spPr bwMode="auto">
          <a:xfrm>
            <a:off x="8438760" y="8367299"/>
            <a:ext cx="3360960" cy="42804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477600796" name="Text 16"/>
          <p:cNvSpPr/>
          <p:nvPr/>
        </p:nvSpPr>
        <p:spPr bwMode="auto">
          <a:xfrm>
            <a:off x="8610120" y="8472059"/>
            <a:ext cx="311904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34">
                <a:solidFill>
                  <a:srgbClr val="FFFFFF"/>
                </a:solidFill>
                <a:latin typeface="Open Sans"/>
                <a:ea typeface="Open Sans"/>
              </a:rPr>
              <a:t>Former Mitsue Elementary · </a:t>
            </a:r>
            <a:r>
              <a:rPr lang="zh-CN" sz="1150" b="1" u="none" strike="noStrike" spc="34">
                <a:solidFill>
                  <a:srgbClr val="FFFFFF"/>
                </a:solidFill>
                <a:latin typeface="Open Sans"/>
                <a:ea typeface="Open Sans"/>
              </a:rPr>
              <a:t>旧御杖小学校</a:t>
            </a:r>
            <a:endParaRPr lang="en-US" sz="11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pic>
        <p:nvPicPr>
          <p:cNvPr id="1949841321" name=""/>
          <p:cNvPicPr/>
          <p:nvPr/>
        </p:nvPicPr>
        <p:blipFill rotWithShape="1">
          <a:blip r:embed="rId3"/>
          <a:stretch/>
        </p:blipFill>
        <p:spPr bwMode="auto">
          <a:xfrm>
            <a:off x="7819200" y="1334880"/>
            <a:ext cx="10108440" cy="7191360"/>
          </a:xfrm>
          <a:prstGeom prst="rect">
            <a:avLst/>
          </a:prstGeom>
          <a:noFill/>
          <a:ln w="0">
            <a:noFill/>
          </a:ln>
        </p:spPr>
      </p:pic>
      <p:sp>
        <p:nvSpPr>
          <p:cNvPr id="966309204"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58907274"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47828445" name="Text 2"/>
          <p:cNvSpPr/>
          <p:nvPr/>
        </p:nvSpPr>
        <p:spPr bwMode="auto">
          <a:xfrm>
            <a:off x="1181160" y="800280"/>
            <a:ext cx="399564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FOREST RESTORATION · </a:t>
            </a:r>
            <a:r>
              <a:rPr lang="zh-CN" sz="1300" b="1" u="none" strike="noStrike" spc="204">
                <a:solidFill>
                  <a:srgbClr val="9B9DA0"/>
                </a:solidFill>
                <a:latin typeface="Open Sans"/>
                <a:ea typeface="Open Sans"/>
              </a:rPr>
              <a:t>森林再生 </a:t>
            </a:r>
            <a:r>
              <a:rPr lang="en-US" sz="1300" b="1" u="none" strike="noStrike" spc="204">
                <a:solidFill>
                  <a:srgbClr val="9B9DA0"/>
                </a:solidFill>
                <a:latin typeface="Open Sans"/>
                <a:ea typeface="Open Sans"/>
              </a:rPr>
              <a:t>· 06</a:t>
            </a:r>
            <a:endParaRPr lang="en-US" sz="1300" b="0" u="none" strike="noStrike">
              <a:solidFill>
                <a:srgbClr val="000000"/>
              </a:solidFill>
              <a:latin typeface="Arial"/>
            </a:endParaRPr>
          </a:p>
        </p:txBody>
      </p:sp>
      <p:sp>
        <p:nvSpPr>
          <p:cNvPr id="985771851"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From liability to asset</a:t>
            </a:r>
            <a:endParaRPr lang="en-US" sz="4800" b="0" u="none" strike="noStrike">
              <a:solidFill>
                <a:srgbClr val="000000"/>
              </a:solidFill>
              <a:latin typeface="Arial"/>
            </a:endParaRPr>
          </a:p>
        </p:txBody>
      </p:sp>
      <p:sp>
        <p:nvSpPr>
          <p:cNvPr id="1184491420"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負債から資産へ — </a:t>
            </a:r>
            <a:r>
              <a:rPr lang="en-US" sz="1950" b="0" u="none" strike="noStrike">
                <a:solidFill>
                  <a:srgbClr val="6E7174"/>
                </a:solidFill>
                <a:latin typeface="Noto Sans JP"/>
                <a:ea typeface="Noto Sans JP"/>
              </a:rPr>
              <a:t>25</a:t>
            </a:r>
            <a:r>
              <a:rPr lang="zh-CN" sz="1950" b="0" u="none" strike="noStrike">
                <a:solidFill>
                  <a:srgbClr val="6E7174"/>
                </a:solidFill>
                <a:latin typeface="Noto Sans JP"/>
                <a:ea typeface="Noto Sans JP"/>
              </a:rPr>
              <a:t>年の生態系再生。</a:t>
            </a:r>
            <a:endParaRPr lang="en-US" sz="1950" b="0" u="none" strike="noStrike">
              <a:solidFill>
                <a:srgbClr val="000000"/>
              </a:solidFill>
              <a:latin typeface="Arial"/>
            </a:endParaRPr>
          </a:p>
        </p:txBody>
      </p:sp>
      <p:sp>
        <p:nvSpPr>
          <p:cNvPr id="1814441903" name="Shape 5"/>
          <p:cNvSpPr/>
          <p:nvPr/>
        </p:nvSpPr>
        <p:spPr bwMode="auto">
          <a:xfrm>
            <a:off x="630720" y="5568840"/>
            <a:ext cx="6359760" cy="96120"/>
          </a:xfrm>
          <a:prstGeom prst="rect">
            <a:avLst/>
          </a:prstGeom>
          <a:solidFill>
            <a:srgbClr val="E6E6E2"/>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07729661" name="Text 6"/>
          <p:cNvSpPr/>
          <p:nvPr/>
        </p:nvSpPr>
        <p:spPr bwMode="auto">
          <a:xfrm>
            <a:off x="609480" y="4905000"/>
            <a:ext cx="157104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9B9DA0"/>
                </a:solidFill>
                <a:latin typeface="Open Sans"/>
                <a:ea typeface="Open Sans"/>
              </a:rPr>
              <a:t>Today · </a:t>
            </a:r>
            <a:r>
              <a:rPr lang="zh-CN" sz="1650" b="1" u="none" strike="noStrike">
                <a:solidFill>
                  <a:srgbClr val="9B9DA0"/>
                </a:solidFill>
                <a:latin typeface="Open Sans"/>
                <a:ea typeface="Open Sans"/>
              </a:rPr>
              <a:t>現状</a:t>
            </a:r>
            <a:endParaRPr lang="en-US" sz="1650" b="0" u="none" strike="noStrike">
              <a:solidFill>
                <a:srgbClr val="000000"/>
              </a:solidFill>
              <a:latin typeface="Arial"/>
            </a:endParaRPr>
          </a:p>
        </p:txBody>
      </p:sp>
      <p:sp>
        <p:nvSpPr>
          <p:cNvPr id="2047702685" name="Text 7"/>
          <p:cNvSpPr/>
          <p:nvPr/>
        </p:nvSpPr>
        <p:spPr bwMode="auto">
          <a:xfrm>
            <a:off x="2266920" y="4728600"/>
            <a:ext cx="4908240" cy="704160"/>
          </a:xfrm>
          <a:prstGeom prst="rect">
            <a:avLst/>
          </a:prstGeom>
          <a:noFill/>
          <a:ln w="0">
            <a:noFill/>
          </a:ln>
        </p:spPr>
        <p:style>
          <a:lnRef idx="0"/>
          <a:fillRef idx="0"/>
          <a:effectRef idx="0"/>
          <a:fontRef idx="minor"/>
        </p:style>
        <p:txBody>
          <a:bodyPr horzOverflow="overflow" lIns="25560" tIns="25560" rIns="25560" bIns="25560" numCol="1" spcCol="0" anchor="t">
            <a:normAutofit fontScale="85000" lnSpcReduction="9999"/>
          </a:bodyPr>
          <a:p>
            <a:pPr defTabSz="914400">
              <a:lnSpc>
                <a:spcPct val="140000"/>
              </a:lnSpc>
              <a:tabLst>
                <a:tab pos="0" algn="l"/>
              </a:tabLst>
              <a:defRPr/>
            </a:pPr>
            <a:r>
              <a:rPr lang="en-US" sz="1900" b="0" u="none" strike="noStrike">
                <a:solidFill>
                  <a:srgbClr val="4A4A4A"/>
                </a:solidFill>
                <a:latin typeface="Open Sans"/>
                <a:ea typeface="Open Sans"/>
              </a:rPr>
              <a:t>Aged </a:t>
            </a:r>
            <a:r>
              <a:rPr lang="en-US" sz="1900" b="1" u="none" strike="noStrike">
                <a:solidFill>
                  <a:srgbClr val="4A4A4A"/>
                </a:solidFill>
                <a:latin typeface="Open Sans"/>
                <a:ea typeface="Open Sans"/>
              </a:rPr>
              <a:t>sugi cedar </a:t>
            </a:r>
            <a:r>
              <a:rPr lang="en-US" sz="1900" b="0" u="none" strike="noStrike">
                <a:solidFill>
                  <a:srgbClr val="4A4A4A"/>
                </a:solidFill>
                <a:latin typeface="Open Sans"/>
                <a:ea typeface="Open Sans"/>
              </a:rPr>
              <a:t>monoculture — pollen, landslide and fire risk, little habitat.</a:t>
            </a:r>
            <a:endParaRPr lang="en-US" sz="1900" b="0" u="none" strike="noStrike">
              <a:solidFill>
                <a:srgbClr val="000000"/>
              </a:solidFill>
              <a:latin typeface="Arial"/>
            </a:endParaRPr>
          </a:p>
        </p:txBody>
      </p:sp>
      <p:sp>
        <p:nvSpPr>
          <p:cNvPr id="854380151" name="Text 8"/>
          <p:cNvSpPr/>
          <p:nvPr/>
        </p:nvSpPr>
        <p:spPr bwMode="auto">
          <a:xfrm>
            <a:off x="1822320" y="5765039"/>
            <a:ext cx="4809240" cy="399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2250" b="1" u="none" strike="noStrike">
                <a:solidFill>
                  <a:srgbClr val="E58520"/>
                </a:solidFill>
                <a:latin typeface="Sora"/>
                <a:ea typeface="Sora"/>
              </a:rPr>
              <a:t>↓ 25-year phased restoration</a:t>
            </a:r>
            <a:endParaRPr lang="en-US" sz="2250" b="0" u="none" strike="noStrike">
              <a:solidFill>
                <a:srgbClr val="000000"/>
              </a:solidFill>
              <a:latin typeface="Arial"/>
            </a:endParaRPr>
          </a:p>
        </p:txBody>
      </p:sp>
      <p:sp>
        <p:nvSpPr>
          <p:cNvPr id="757113783" name="Shape 9"/>
          <p:cNvSpPr/>
          <p:nvPr/>
        </p:nvSpPr>
        <p:spPr bwMode="auto">
          <a:xfrm flipV="1">
            <a:off x="609480" y="6337800"/>
            <a:ext cx="6381000" cy="45000"/>
          </a:xfrm>
          <a:prstGeom prst="rect">
            <a:avLst/>
          </a:prstGeom>
          <a:solidFill>
            <a:srgbClr val="2E2E2E"/>
          </a:solidFill>
          <a:ln w="0">
            <a:noFill/>
          </a:ln>
        </p:spPr>
        <p:style>
          <a:lnRef idx="0"/>
          <a:fillRef idx="0"/>
          <a:effectRef idx="0"/>
          <a:fontRef idx="minor"/>
        </p:style>
        <p:txBody>
          <a:bodyPr lIns="90000" tIns="720" rIns="90000" bIns="720" anchor="t">
            <a:noAutofit/>
          </a:bodyPr>
          <a:p>
            <a:pPr>
              <a:defRPr/>
            </a:pPr>
            <a:endParaRPr lang="en-US" sz="1800" b="0" u="none" strike="noStrike">
              <a:solidFill>
                <a:srgbClr val="FFFFFF"/>
              </a:solidFill>
              <a:latin typeface="Arial"/>
            </a:endParaRPr>
          </a:p>
        </p:txBody>
      </p:sp>
      <p:sp>
        <p:nvSpPr>
          <p:cNvPr id="1858004229" name="Text 10"/>
          <p:cNvSpPr/>
          <p:nvPr/>
        </p:nvSpPr>
        <p:spPr bwMode="auto">
          <a:xfrm>
            <a:off x="609480" y="6724080"/>
            <a:ext cx="1571040" cy="3517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2050 · </a:t>
            </a:r>
            <a:r>
              <a:rPr lang="zh-CN" sz="1650" b="1" u="none" strike="noStrike">
                <a:solidFill>
                  <a:srgbClr val="2E2E2E"/>
                </a:solidFill>
                <a:latin typeface="Open Sans"/>
                <a:ea typeface="Open Sans"/>
              </a:rPr>
              <a:t>想定</a:t>
            </a:r>
            <a:endParaRPr lang="en-US" sz="1650" b="0" u="none" strike="noStrike">
              <a:solidFill>
                <a:srgbClr val="000000"/>
              </a:solidFill>
              <a:latin typeface="Arial"/>
            </a:endParaRPr>
          </a:p>
        </p:txBody>
      </p:sp>
      <p:sp>
        <p:nvSpPr>
          <p:cNvPr id="825970819" name="Text 11"/>
          <p:cNvSpPr/>
          <p:nvPr/>
        </p:nvSpPr>
        <p:spPr bwMode="auto">
          <a:xfrm>
            <a:off x="2266920" y="6548039"/>
            <a:ext cx="4723560" cy="704160"/>
          </a:xfrm>
          <a:prstGeom prst="rect">
            <a:avLst/>
          </a:prstGeom>
          <a:noFill/>
          <a:ln w="0">
            <a:noFill/>
          </a:ln>
        </p:spPr>
        <p:style>
          <a:lnRef idx="0"/>
          <a:fillRef idx="0"/>
          <a:effectRef idx="0"/>
          <a:fontRef idx="minor"/>
        </p:style>
        <p:txBody>
          <a:bodyPr horzOverflow="overflow" lIns="25560" tIns="25560" rIns="25560" bIns="25560" numCol="1" spcCol="0" anchor="t">
            <a:normAutofit fontScale="85000" lnSpcReduction="9999"/>
          </a:bodyPr>
          <a:p>
            <a:pPr defTabSz="914400">
              <a:lnSpc>
                <a:spcPct val="140000"/>
              </a:lnSpc>
              <a:tabLst>
                <a:tab pos="0" algn="l"/>
              </a:tabLst>
              <a:defRPr/>
            </a:pPr>
            <a:r>
              <a:rPr lang="en-US" sz="1900" b="1" u="none" strike="noStrike">
                <a:solidFill>
                  <a:srgbClr val="2E2E2E"/>
                </a:solidFill>
                <a:latin typeface="Open Sans"/>
                <a:ea typeface="Open Sans"/>
              </a:rPr>
              <a:t>Native broadleaf forest </a:t>
            </a:r>
            <a:r>
              <a:rPr lang="en-US" sz="1900" b="0" u="none" strike="noStrike">
                <a:solidFill>
                  <a:srgbClr val="2E2E2E"/>
                </a:solidFill>
                <a:latin typeface="Open Sans"/>
                <a:ea typeface="Open Sans"/>
              </a:rPr>
              <a:t>— biodiversity, water retention, timber &amp; biomass.</a:t>
            </a:r>
            <a:endParaRPr lang="en-US" sz="1900" b="0" u="none" strike="noStrike">
              <a:solidFill>
                <a:srgbClr val="000000"/>
              </a:solidFill>
              <a:latin typeface="Arial"/>
            </a:endParaRPr>
          </a:p>
        </p:txBody>
      </p:sp>
      <p:sp>
        <p:nvSpPr>
          <p:cNvPr id="78557745" name="Shape 12"/>
          <p:cNvSpPr/>
          <p:nvPr/>
        </p:nvSpPr>
        <p:spPr bwMode="auto">
          <a:xfrm>
            <a:off x="7805520" y="6413400"/>
            <a:ext cx="8818200" cy="2121480"/>
          </a:xfrm>
          <a:prstGeom prst="rect">
            <a:avLst/>
          </a:prstGeom>
          <a:gradFill rotWithShape="0">
            <a:gsLst>
              <a:gs pos="0">
                <a:srgbClr val="0E1A0E">
                  <a:alpha val="92000"/>
                </a:srgbClr>
              </a:gs>
              <a:gs pos="100000">
                <a:srgbClr val="0E1A0E">
                  <a:alpha val="0"/>
                </a:srgbClr>
              </a:gs>
            </a:gsLst>
            <a:lin ang="16200000" scaled="1"/>
          </a:gra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483384090" name="Shape 13"/>
          <p:cNvSpPr/>
          <p:nvPr/>
        </p:nvSpPr>
        <p:spPr bwMode="auto">
          <a:xfrm>
            <a:off x="7898760" y="671328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pPr>
              <a:defRPr/>
            </a:pPr>
            <a:endParaRPr lang="en-US" sz="1800" b="0" u="none" strike="noStrike">
              <a:solidFill>
                <a:srgbClr val="FFFFFF"/>
              </a:solidFill>
              <a:latin typeface="Arial"/>
            </a:endParaRPr>
          </a:p>
        </p:txBody>
      </p:sp>
      <p:sp>
        <p:nvSpPr>
          <p:cNvPr id="1479409885" name="Text 14"/>
          <p:cNvSpPr/>
          <p:nvPr/>
        </p:nvSpPr>
        <p:spPr bwMode="auto">
          <a:xfrm>
            <a:off x="8200080" y="6622920"/>
            <a:ext cx="444276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FFFFF"/>
                </a:solidFill>
                <a:latin typeface="Open Sans"/>
                <a:ea typeface="Open Sans"/>
              </a:rPr>
              <a:t>Thinnings → energy feedstock </a:t>
            </a:r>
            <a:r>
              <a:rPr lang="zh-CN" sz="1450" b="0" u="none" strike="noStrike">
                <a:solidFill>
                  <a:srgbClr val="C7C9CB"/>
                </a:solidFill>
                <a:latin typeface="Open Sans"/>
                <a:ea typeface="Open Sans"/>
              </a:rPr>
              <a:t>間伐材を燃料に</a:t>
            </a:r>
            <a:endParaRPr lang="en-US" sz="1450" b="0" u="none" strike="noStrike">
              <a:solidFill>
                <a:srgbClr val="000000"/>
              </a:solidFill>
              <a:latin typeface="Arial"/>
            </a:endParaRPr>
          </a:p>
        </p:txBody>
      </p:sp>
      <p:sp>
        <p:nvSpPr>
          <p:cNvPr id="932162432" name="Shape 15"/>
          <p:cNvSpPr/>
          <p:nvPr/>
        </p:nvSpPr>
        <p:spPr bwMode="auto">
          <a:xfrm>
            <a:off x="7898760" y="711360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pPr>
              <a:defRPr/>
            </a:pPr>
            <a:endParaRPr lang="en-US" sz="1800" b="0" u="none" strike="noStrike">
              <a:solidFill>
                <a:srgbClr val="FFFFFF"/>
              </a:solidFill>
              <a:latin typeface="Arial"/>
            </a:endParaRPr>
          </a:p>
        </p:txBody>
      </p:sp>
      <p:sp>
        <p:nvSpPr>
          <p:cNvPr id="1642785747" name="Text 16"/>
          <p:cNvSpPr/>
          <p:nvPr/>
        </p:nvSpPr>
        <p:spPr bwMode="auto">
          <a:xfrm>
            <a:off x="8194680" y="7022880"/>
            <a:ext cx="418320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FFFFF"/>
                </a:solidFill>
                <a:latin typeface="Open Sans"/>
                <a:ea typeface="Open Sans"/>
              </a:rPr>
              <a:t>Biodiversity &amp; watershed </a:t>
            </a:r>
            <a:r>
              <a:rPr lang="zh-CN" sz="1450" b="0" u="none" strike="noStrike">
                <a:solidFill>
                  <a:srgbClr val="C7C9CB"/>
                </a:solidFill>
                <a:latin typeface="Open Sans"/>
                <a:ea typeface="Open Sans"/>
              </a:rPr>
              <a:t>生物多様性と水源</a:t>
            </a:r>
            <a:endParaRPr lang="en-US" sz="1450" b="0" u="none" strike="noStrike">
              <a:solidFill>
                <a:srgbClr val="000000"/>
              </a:solidFill>
              <a:latin typeface="Arial"/>
            </a:endParaRPr>
          </a:p>
        </p:txBody>
      </p:sp>
      <p:sp>
        <p:nvSpPr>
          <p:cNvPr id="1032678899" name="Shape 17"/>
          <p:cNvSpPr/>
          <p:nvPr/>
        </p:nvSpPr>
        <p:spPr bwMode="auto">
          <a:xfrm>
            <a:off x="7898760" y="7513560"/>
            <a:ext cx="97920" cy="134280"/>
          </a:xfrm>
          <a:prstGeom prst="rect">
            <a:avLst/>
          </a:prstGeom>
          <a:solidFill>
            <a:srgbClr val="E58520"/>
          </a:solidFill>
          <a:ln w="0">
            <a:noFill/>
          </a:ln>
        </p:spPr>
        <p:style>
          <a:lnRef idx="0"/>
          <a:fillRef idx="0"/>
          <a:effectRef idx="0"/>
          <a:fontRef idx="minor"/>
        </p:style>
        <p:txBody>
          <a:bodyPr lIns="48960" tIns="45000" rIns="48960" bIns="45000" anchor="t">
            <a:noAutofit/>
          </a:bodyPr>
          <a:p>
            <a:pPr>
              <a:defRPr/>
            </a:pPr>
            <a:endParaRPr lang="en-US" sz="1800" b="0" u="none" strike="noStrike">
              <a:solidFill>
                <a:srgbClr val="FFFFFF"/>
              </a:solidFill>
              <a:latin typeface="Arial"/>
            </a:endParaRPr>
          </a:p>
        </p:txBody>
      </p:sp>
      <p:sp>
        <p:nvSpPr>
          <p:cNvPr id="473337751" name="Text 18"/>
          <p:cNvSpPr/>
          <p:nvPr/>
        </p:nvSpPr>
        <p:spPr bwMode="auto">
          <a:xfrm>
            <a:off x="8186400" y="7423200"/>
            <a:ext cx="3799080" cy="445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FFFFF"/>
                </a:solidFill>
                <a:latin typeface="Open Sans"/>
                <a:ea typeface="Open Sans"/>
              </a:rPr>
              <a:t>J-Credits revenue layer </a:t>
            </a:r>
            <a:r>
              <a:rPr lang="en-US" sz="1450" b="0" u="none" strike="noStrike">
                <a:solidFill>
                  <a:srgbClr val="C7C9CB"/>
                </a:solidFill>
                <a:latin typeface="Open Sans"/>
                <a:ea typeface="Open Sans"/>
              </a:rPr>
              <a:t>J</a:t>
            </a:r>
            <a:r>
              <a:rPr lang="zh-CN" sz="1450" b="0" u="none" strike="noStrike">
                <a:solidFill>
                  <a:srgbClr val="C7C9CB"/>
                </a:solidFill>
                <a:latin typeface="Open Sans"/>
                <a:ea typeface="Open Sans"/>
              </a:rPr>
              <a:t>クレジット収益</a:t>
            </a:r>
            <a:endParaRPr lang="en-US" sz="1450" b="0" u="none" strike="noStrike">
              <a:solidFill>
                <a:srgbClr val="000000"/>
              </a:solidFill>
              <a:latin typeface="Arial"/>
            </a:endParaRPr>
          </a:p>
        </p:txBody>
      </p:sp>
      <p:sp>
        <p:nvSpPr>
          <p:cNvPr id="1257084599" name="Text 19"/>
          <p:cNvSpPr/>
          <p:nvPr/>
        </p:nvSpPr>
        <p:spPr bwMode="auto">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In cooperation with private landowners, the Mitsue Forestry Cooperative, and the Forestry Agency (</a:t>
            </a:r>
            <a:r>
              <a:rPr lang="zh-CN" sz="1000" b="1" u="none" strike="noStrike" spc="20">
                <a:solidFill>
                  <a:srgbClr val="A9ABAE"/>
                </a:solidFill>
                <a:latin typeface="Open Sans"/>
                <a:ea typeface="Open Sans"/>
              </a:rPr>
              <a:t>林野庁</a:t>
            </a:r>
            <a:r>
              <a:rPr lang="en-US" sz="1000" b="1" u="none" strike="noStrike" spc="20">
                <a:solidFill>
                  <a:srgbClr val="A9ABAE"/>
                </a:solidFill>
                <a:latin typeface="Open Sans"/>
                <a:ea typeface="Open Sans"/>
              </a:rPr>
              <a:t>).</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43238599"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259603402"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850218042" name="Text 2"/>
          <p:cNvSpPr/>
          <p:nvPr/>
        </p:nvSpPr>
        <p:spPr bwMode="auto">
          <a:xfrm>
            <a:off x="1181160" y="800280"/>
            <a:ext cx="39459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ENERGY SYSTEM · </a:t>
            </a:r>
            <a:r>
              <a:rPr lang="zh-CN" sz="1300" b="1" u="none" strike="noStrike" spc="204">
                <a:solidFill>
                  <a:srgbClr val="9B9DA0"/>
                </a:solidFill>
                <a:latin typeface="Open Sans"/>
                <a:ea typeface="Open Sans"/>
              </a:rPr>
              <a:t>エネルギー設計 </a:t>
            </a:r>
            <a:r>
              <a:rPr lang="en-US" sz="1300" b="1" u="none" strike="noStrike" spc="204">
                <a:solidFill>
                  <a:srgbClr val="9B9DA0"/>
                </a:solidFill>
                <a:latin typeface="Open Sans"/>
                <a:ea typeface="Open Sans"/>
              </a:rPr>
              <a:t>· 07</a:t>
            </a:r>
            <a:endParaRPr lang="en-US" sz="1300" b="0" u="none" strike="noStrike">
              <a:solidFill>
                <a:srgbClr val="000000"/>
              </a:solidFill>
              <a:latin typeface="Arial"/>
            </a:endParaRPr>
          </a:p>
        </p:txBody>
      </p:sp>
      <p:sp>
        <p:nvSpPr>
          <p:cNvPr id="204934984"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Power first — for compute &amp; charging</a:t>
            </a:r>
            <a:endParaRPr lang="en-US" sz="4800" b="0" u="none" strike="noStrike">
              <a:solidFill>
                <a:srgbClr val="000000"/>
              </a:solidFill>
              <a:latin typeface="Arial"/>
            </a:endParaRPr>
          </a:p>
        </p:txBody>
      </p:sp>
      <p:sp>
        <p:nvSpPr>
          <p:cNvPr id="1950951691"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電力優先 — データセンターと</a:t>
            </a:r>
            <a:r>
              <a:rPr lang="en-US" sz="1950" b="0" u="none" strike="noStrike">
                <a:solidFill>
                  <a:srgbClr val="6E7174"/>
                </a:solidFill>
                <a:latin typeface="Noto Sans JP"/>
                <a:ea typeface="Noto Sans JP"/>
              </a:rPr>
              <a:t>EV</a:t>
            </a:r>
            <a:r>
              <a:rPr lang="zh-CN" sz="1950" b="0" u="none" strike="noStrike">
                <a:solidFill>
                  <a:srgbClr val="6E7174"/>
                </a:solidFill>
                <a:latin typeface="Noto Sans JP"/>
                <a:ea typeface="Noto Sans JP"/>
              </a:rPr>
              <a:t>充電へ。</a:t>
            </a:r>
            <a:endParaRPr lang="en-US" sz="1950" b="0" u="none" strike="noStrike">
              <a:solidFill>
                <a:srgbClr val="000000"/>
              </a:solidFill>
              <a:latin typeface="Arial"/>
            </a:endParaRPr>
          </a:p>
        </p:txBody>
      </p:sp>
      <p:sp>
        <p:nvSpPr>
          <p:cNvPr id="266734735" name="Shape 5"/>
          <p:cNvSpPr/>
          <p:nvPr/>
        </p:nvSpPr>
        <p:spPr bwMode="auto">
          <a:xfrm>
            <a:off x="609480" y="2704320"/>
            <a:ext cx="8009640" cy="3333240"/>
          </a:xfrm>
          <a:prstGeom prst="rect">
            <a:avLst/>
          </a:prstGeom>
          <a:solidFill>
            <a:srgbClr val="FBEF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74973897" name="Shape 6"/>
          <p:cNvSpPr/>
          <p:nvPr/>
        </p:nvSpPr>
        <p:spPr bwMode="auto">
          <a:xfrm>
            <a:off x="609480" y="2704320"/>
            <a:ext cx="800964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982743591" name="Text 7"/>
          <p:cNvSpPr/>
          <p:nvPr/>
        </p:nvSpPr>
        <p:spPr bwMode="auto">
          <a:xfrm>
            <a:off x="914400" y="3895560"/>
            <a:ext cx="8140320" cy="36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2050" b="1" u="none" strike="noStrike">
                <a:solidFill>
                  <a:srgbClr val="C26A12"/>
                </a:solidFill>
                <a:latin typeface="Sora"/>
                <a:ea typeface="Sora"/>
              </a:rPr>
              <a:t>1 · Power first</a:t>
            </a:r>
            <a:endParaRPr lang="en-US" sz="2050" b="0" u="none" strike="noStrike">
              <a:solidFill>
                <a:srgbClr val="000000"/>
              </a:solidFill>
              <a:latin typeface="Arial"/>
            </a:endParaRPr>
          </a:p>
        </p:txBody>
      </p:sp>
      <p:sp>
        <p:nvSpPr>
          <p:cNvPr id="2114567652" name="Text 8"/>
          <p:cNvSpPr/>
          <p:nvPr/>
        </p:nvSpPr>
        <p:spPr bwMode="auto">
          <a:xfrm>
            <a:off x="914400" y="4314600"/>
            <a:ext cx="7622280" cy="61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00" b="0" u="none" strike="noStrike">
                <a:solidFill>
                  <a:srgbClr val="4A4A4A"/>
                </a:solidFill>
                <a:latin typeface="Open Sans"/>
                <a:ea typeface="Open Sans"/>
              </a:rPr>
              <a:t>Electricity runs the AI data center and the EV charging network — the demand we are building for. </a:t>
            </a:r>
            <a:r>
              <a:rPr lang="zh-CN" sz="1600" b="0" u="none" strike="noStrike">
                <a:solidFill>
                  <a:srgbClr val="4A4A4A"/>
                </a:solidFill>
                <a:latin typeface="Open Sans"/>
                <a:ea typeface="Open Sans"/>
              </a:rPr>
              <a:t>電力をデータセンターと</a:t>
            </a:r>
            <a:r>
              <a:rPr lang="en-US" sz="1600" b="0" u="none" strike="noStrike">
                <a:solidFill>
                  <a:srgbClr val="4A4A4A"/>
                </a:solidFill>
                <a:latin typeface="Open Sans"/>
                <a:ea typeface="Open Sans"/>
              </a:rPr>
              <a:t>EV</a:t>
            </a:r>
            <a:r>
              <a:rPr lang="zh-CN" sz="1600" b="0" u="none" strike="noStrike">
                <a:solidFill>
                  <a:srgbClr val="4A4A4A"/>
                </a:solidFill>
                <a:latin typeface="Open Sans"/>
                <a:ea typeface="Open Sans"/>
              </a:rPr>
              <a:t>充電へ。</a:t>
            </a:r>
            <a:endParaRPr lang="en-US" sz="1600" b="0" u="none" strike="noStrike">
              <a:solidFill>
                <a:srgbClr val="000000"/>
              </a:solidFill>
              <a:latin typeface="Arial"/>
            </a:endParaRPr>
          </a:p>
        </p:txBody>
      </p:sp>
      <p:sp>
        <p:nvSpPr>
          <p:cNvPr id="794875129" name="Shape 9"/>
          <p:cNvSpPr/>
          <p:nvPr/>
        </p:nvSpPr>
        <p:spPr bwMode="auto">
          <a:xfrm>
            <a:off x="609480" y="6266880"/>
            <a:ext cx="8009640" cy="333360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766478532" name="Shape 10"/>
          <p:cNvSpPr/>
          <p:nvPr/>
        </p:nvSpPr>
        <p:spPr bwMode="auto">
          <a:xfrm>
            <a:off x="609480" y="6266880"/>
            <a:ext cx="8009640" cy="46800"/>
          </a:xfrm>
          <a:prstGeom prst="rect">
            <a:avLst/>
          </a:prstGeom>
          <a:solidFill>
            <a:srgbClr val="6E7174"/>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17654843" name="Text 11"/>
          <p:cNvSpPr/>
          <p:nvPr/>
        </p:nvSpPr>
        <p:spPr bwMode="auto">
          <a:xfrm>
            <a:off x="914400" y="7458120"/>
            <a:ext cx="8140320" cy="36108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2050" b="1" u="none" strike="noStrike">
                <a:solidFill>
                  <a:srgbClr val="2E2E2E"/>
                </a:solidFill>
                <a:latin typeface="Sora"/>
                <a:ea typeface="Sora"/>
              </a:rPr>
              <a:t>2 · Heat, captured second</a:t>
            </a:r>
            <a:endParaRPr lang="en-US" sz="2050" b="0" u="none" strike="noStrike">
              <a:solidFill>
                <a:srgbClr val="000000"/>
              </a:solidFill>
              <a:latin typeface="Arial"/>
            </a:endParaRPr>
          </a:p>
        </p:txBody>
      </p:sp>
      <p:sp>
        <p:nvSpPr>
          <p:cNvPr id="40906" name="Text 12"/>
          <p:cNvSpPr/>
          <p:nvPr/>
        </p:nvSpPr>
        <p:spPr bwMode="auto">
          <a:xfrm>
            <a:off x="914400" y="7877160"/>
            <a:ext cx="7622280" cy="6174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600" b="0" u="none" strike="noStrike">
                <a:solidFill>
                  <a:srgbClr val="4A4A4A"/>
                </a:solidFill>
                <a:latin typeface="Open Sans"/>
                <a:ea typeface="Open Sans"/>
              </a:rPr>
              <a:t>Recovered heat is a by-product we will use as demand emerges — no committed off-taker yet. </a:t>
            </a:r>
            <a:r>
              <a:rPr lang="zh-CN" sz="1600" b="0" u="none" strike="noStrike">
                <a:solidFill>
                  <a:srgbClr val="4A4A4A"/>
                </a:solidFill>
                <a:latin typeface="Open Sans"/>
                <a:ea typeface="Open Sans"/>
              </a:rPr>
              <a:t>排熱は需要が定まり次第活用。</a:t>
            </a:r>
            <a:endParaRPr lang="en-US" sz="1600" b="0" u="none" strike="noStrike">
              <a:solidFill>
                <a:srgbClr val="000000"/>
              </a:solidFill>
              <a:latin typeface="Arial"/>
            </a:endParaRPr>
          </a:p>
        </p:txBody>
      </p:sp>
      <p:sp>
        <p:nvSpPr>
          <p:cNvPr id="2084043520" name="Shape 13"/>
          <p:cNvSpPr/>
          <p:nvPr/>
        </p:nvSpPr>
        <p:spPr bwMode="auto">
          <a:xfrm>
            <a:off x="8906040" y="2704320"/>
            <a:ext cx="8771760" cy="689616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307800876" name="Text 14"/>
          <p:cNvSpPr/>
          <p:nvPr/>
        </p:nvSpPr>
        <p:spPr bwMode="auto">
          <a:xfrm>
            <a:off x="9286920" y="4523760"/>
            <a:ext cx="881100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spc="210">
                <a:solidFill>
                  <a:srgbClr val="9B9DA0"/>
                </a:solidFill>
                <a:latin typeface="Open Sans"/>
                <a:ea typeface="Open Sans"/>
              </a:rPr>
              <a:t>THE REALISTIC MIX · </a:t>
            </a:r>
            <a:r>
              <a:rPr lang="zh-CN" sz="1500" b="1" u="none" strike="noStrike" spc="210">
                <a:solidFill>
                  <a:srgbClr val="9B9DA0"/>
                </a:solidFill>
                <a:latin typeface="Open Sans"/>
                <a:ea typeface="Open Sans"/>
              </a:rPr>
              <a:t>現実的な電源構成</a:t>
            </a:r>
            <a:endParaRPr lang="en-US" sz="1500" b="0" u="none" strike="noStrike">
              <a:solidFill>
                <a:srgbClr val="000000"/>
              </a:solidFill>
              <a:latin typeface="Arial"/>
            </a:endParaRPr>
          </a:p>
        </p:txBody>
      </p:sp>
      <p:sp>
        <p:nvSpPr>
          <p:cNvPr id="2033714077" name="Shape 15"/>
          <p:cNvSpPr/>
          <p:nvPr/>
        </p:nvSpPr>
        <p:spPr bwMode="auto">
          <a:xfrm>
            <a:off x="9286920" y="5166720"/>
            <a:ext cx="132480" cy="399240"/>
          </a:xfrm>
          <a:prstGeom prst="rect">
            <a:avLst/>
          </a:prstGeom>
          <a:solidFill>
            <a:srgbClr val="E58520"/>
          </a:solidFill>
          <a:ln w="0">
            <a:noFill/>
          </a:ln>
        </p:spPr>
        <p:style>
          <a:lnRef idx="0"/>
          <a:fillRef idx="0"/>
          <a:effectRef idx="0"/>
          <a:fontRef idx="minor"/>
        </p:style>
        <p:txBody>
          <a:bodyPr lIns="66240" tIns="45000" rIns="66240" bIns="45000" anchor="t">
            <a:noAutofit/>
          </a:bodyPr>
          <a:p>
            <a:pPr>
              <a:defRPr/>
            </a:pPr>
            <a:endParaRPr lang="en-US" sz="1800" b="0" u="none" strike="noStrike">
              <a:solidFill>
                <a:srgbClr val="FFFFFF"/>
              </a:solidFill>
              <a:latin typeface="Arial"/>
            </a:endParaRPr>
          </a:p>
        </p:txBody>
      </p:sp>
      <p:sp>
        <p:nvSpPr>
          <p:cNvPr id="1000452420" name="Text 16"/>
          <p:cNvSpPr/>
          <p:nvPr/>
        </p:nvSpPr>
        <p:spPr bwMode="auto">
          <a:xfrm>
            <a:off x="9591840" y="5076360"/>
            <a:ext cx="30664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FFFFF"/>
                </a:solidFill>
                <a:latin typeface="Open Sans"/>
                <a:ea typeface="Open Sans"/>
              </a:rPr>
              <a:t>Biomass</a:t>
            </a:r>
            <a:endParaRPr lang="en-US" sz="1900" b="0" u="none" strike="noStrike">
              <a:solidFill>
                <a:srgbClr val="000000"/>
              </a:solidFill>
              <a:latin typeface="Arial"/>
            </a:endParaRPr>
          </a:p>
        </p:txBody>
      </p:sp>
      <p:sp>
        <p:nvSpPr>
          <p:cNvPr id="1223430404" name="Text 17"/>
          <p:cNvSpPr/>
          <p:nvPr/>
        </p:nvSpPr>
        <p:spPr bwMode="auto">
          <a:xfrm>
            <a:off x="9591840" y="5400360"/>
            <a:ext cx="306648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u="none" strike="noStrike">
                <a:solidFill>
                  <a:srgbClr val="C7C9CB"/>
                </a:solidFill>
                <a:latin typeface="Open Sans"/>
                <a:ea typeface="Open Sans"/>
              </a:rPr>
              <a:t>Baseload power · </a:t>
            </a:r>
            <a:r>
              <a:rPr lang="zh-CN" sz="1350" b="0" u="none" strike="noStrike">
                <a:solidFill>
                  <a:srgbClr val="C7C9CB"/>
                </a:solidFill>
                <a:latin typeface="Open Sans"/>
                <a:ea typeface="Open Sans"/>
              </a:rPr>
              <a:t>ベースロード電源</a:t>
            </a:r>
            <a:endParaRPr lang="en-US" sz="1350" b="0" u="none" strike="noStrike">
              <a:solidFill>
                <a:srgbClr val="000000"/>
              </a:solidFill>
              <a:latin typeface="Arial"/>
            </a:endParaRPr>
          </a:p>
        </p:txBody>
      </p:sp>
      <p:sp>
        <p:nvSpPr>
          <p:cNvPr id="325116650" name="Shape 18"/>
          <p:cNvSpPr/>
          <p:nvPr/>
        </p:nvSpPr>
        <p:spPr bwMode="auto">
          <a:xfrm>
            <a:off x="9286920" y="5957280"/>
            <a:ext cx="132480" cy="399240"/>
          </a:xfrm>
          <a:prstGeom prst="rect">
            <a:avLst/>
          </a:prstGeom>
          <a:solidFill>
            <a:srgbClr val="F4B872"/>
          </a:solidFill>
          <a:ln w="0">
            <a:noFill/>
          </a:ln>
        </p:spPr>
        <p:style>
          <a:lnRef idx="0"/>
          <a:fillRef idx="0"/>
          <a:effectRef idx="0"/>
          <a:fontRef idx="minor"/>
        </p:style>
        <p:txBody>
          <a:bodyPr lIns="66240" tIns="45000" rIns="66240" bIns="45000" anchor="t">
            <a:noAutofit/>
          </a:bodyPr>
          <a:p>
            <a:pPr>
              <a:defRPr/>
            </a:pPr>
            <a:endParaRPr lang="en-US" sz="1800" b="0" u="none" strike="noStrike">
              <a:solidFill>
                <a:srgbClr val="000000"/>
              </a:solidFill>
              <a:latin typeface="Arial"/>
            </a:endParaRPr>
          </a:p>
        </p:txBody>
      </p:sp>
      <p:sp>
        <p:nvSpPr>
          <p:cNvPr id="1538858166" name="Text 19"/>
          <p:cNvSpPr/>
          <p:nvPr/>
        </p:nvSpPr>
        <p:spPr bwMode="auto">
          <a:xfrm>
            <a:off x="9591840" y="5866920"/>
            <a:ext cx="30146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FFFFF"/>
                </a:solidFill>
                <a:latin typeface="Open Sans"/>
                <a:ea typeface="Open Sans"/>
              </a:rPr>
              <a:t>Existing solar</a:t>
            </a:r>
            <a:endParaRPr lang="en-US" sz="1900" b="0" u="none" strike="noStrike">
              <a:solidFill>
                <a:srgbClr val="000000"/>
              </a:solidFill>
              <a:latin typeface="Arial"/>
            </a:endParaRPr>
          </a:p>
        </p:txBody>
      </p:sp>
      <p:sp>
        <p:nvSpPr>
          <p:cNvPr id="187537070" name="Text 20"/>
          <p:cNvSpPr/>
          <p:nvPr/>
        </p:nvSpPr>
        <p:spPr bwMode="auto">
          <a:xfrm>
            <a:off x="9591840" y="6190920"/>
            <a:ext cx="301464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u="none" strike="noStrike">
                <a:solidFill>
                  <a:srgbClr val="C7C9CB"/>
                </a:solidFill>
                <a:latin typeface="Open Sans"/>
                <a:ea typeface="Open Sans"/>
              </a:rPr>
              <a:t>Daytime generation · </a:t>
            </a:r>
            <a:r>
              <a:rPr lang="zh-CN" sz="1350" b="0" u="none" strike="noStrike">
                <a:solidFill>
                  <a:srgbClr val="C7C9CB"/>
                </a:solidFill>
                <a:latin typeface="Open Sans"/>
                <a:ea typeface="Open Sans"/>
              </a:rPr>
              <a:t>日中の太陽光</a:t>
            </a:r>
            <a:endParaRPr lang="en-US" sz="1350" b="0" u="none" strike="noStrike">
              <a:solidFill>
                <a:srgbClr val="000000"/>
              </a:solidFill>
              <a:latin typeface="Arial"/>
            </a:endParaRPr>
          </a:p>
        </p:txBody>
      </p:sp>
      <p:sp>
        <p:nvSpPr>
          <p:cNvPr id="1673439265" name="Shape 21"/>
          <p:cNvSpPr/>
          <p:nvPr/>
        </p:nvSpPr>
        <p:spPr bwMode="auto">
          <a:xfrm>
            <a:off x="9286920" y="6747840"/>
            <a:ext cx="132480" cy="399240"/>
          </a:xfrm>
          <a:prstGeom prst="rect">
            <a:avLst/>
          </a:prstGeom>
          <a:solidFill>
            <a:srgbClr val="6E7174"/>
          </a:solidFill>
          <a:ln w="0">
            <a:noFill/>
          </a:ln>
        </p:spPr>
        <p:style>
          <a:lnRef idx="0"/>
          <a:fillRef idx="0"/>
          <a:effectRef idx="0"/>
          <a:fontRef idx="minor"/>
        </p:style>
        <p:txBody>
          <a:bodyPr lIns="66240" tIns="45000" rIns="66240" bIns="45000" anchor="t">
            <a:noAutofit/>
          </a:bodyPr>
          <a:p>
            <a:pPr>
              <a:defRPr/>
            </a:pPr>
            <a:endParaRPr lang="en-US" sz="1800" b="0" u="none" strike="noStrike">
              <a:solidFill>
                <a:srgbClr val="FFFFFF"/>
              </a:solidFill>
              <a:latin typeface="Arial"/>
            </a:endParaRPr>
          </a:p>
        </p:txBody>
      </p:sp>
      <p:sp>
        <p:nvSpPr>
          <p:cNvPr id="353913284" name="Text 22"/>
          <p:cNvSpPr/>
          <p:nvPr/>
        </p:nvSpPr>
        <p:spPr bwMode="auto">
          <a:xfrm>
            <a:off x="9591840" y="6657480"/>
            <a:ext cx="34304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FFFFF"/>
                </a:solidFill>
                <a:latin typeface="Open Sans"/>
                <a:ea typeface="Open Sans"/>
              </a:rPr>
              <a:t>Grid</a:t>
            </a:r>
            <a:endParaRPr lang="en-US" sz="1900" b="0" u="none" strike="noStrike">
              <a:solidFill>
                <a:srgbClr val="000000"/>
              </a:solidFill>
              <a:latin typeface="Arial"/>
            </a:endParaRPr>
          </a:p>
        </p:txBody>
      </p:sp>
      <p:sp>
        <p:nvSpPr>
          <p:cNvPr id="957250477" name="Text 23"/>
          <p:cNvSpPr/>
          <p:nvPr/>
        </p:nvSpPr>
        <p:spPr bwMode="auto">
          <a:xfrm>
            <a:off x="9591840" y="6981480"/>
            <a:ext cx="343044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0" u="none" strike="noStrike">
                <a:solidFill>
                  <a:srgbClr val="C7C9CB"/>
                </a:solidFill>
                <a:latin typeface="Open Sans"/>
                <a:ea typeface="Open Sans"/>
              </a:rPr>
              <a:t>Backup &amp; peaks · </a:t>
            </a:r>
            <a:r>
              <a:rPr lang="zh-CN" sz="1350" b="0" u="none" strike="noStrike">
                <a:solidFill>
                  <a:srgbClr val="C7C9CB"/>
                </a:solidFill>
                <a:latin typeface="Open Sans"/>
                <a:ea typeface="Open Sans"/>
              </a:rPr>
              <a:t>系統（バックアップ）</a:t>
            </a:r>
            <a:endParaRPr lang="en-US" sz="1350" b="0" u="none" strike="noStrike">
              <a:solidFill>
                <a:srgbClr val="000000"/>
              </a:solidFill>
              <a:latin typeface="Arial"/>
            </a:endParaRPr>
          </a:p>
        </p:txBody>
      </p:sp>
      <p:sp>
        <p:nvSpPr>
          <p:cNvPr id="1322133299" name="Text 24"/>
          <p:cNvSpPr/>
          <p:nvPr/>
        </p:nvSpPr>
        <p:spPr bwMode="auto">
          <a:xfrm>
            <a:off x="9286920" y="7524360"/>
            <a:ext cx="8811000" cy="2944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350" b="0" u="none" strike="noStrike">
                <a:solidFill>
                  <a:srgbClr val="9B9DA0"/>
                </a:solidFill>
                <a:latin typeface="Open Sans"/>
                <a:ea typeface="Open Sans"/>
              </a:rPr>
              <a:t>Not biomass alone, and not a replacement for the village's solar — a resilient blend.</a:t>
            </a:r>
            <a:endParaRPr lang="en-US" sz="13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107764" name="Rectangle 1"/>
          <p:cNvSpPr/>
          <p:nvPr/>
        </p:nvSpPr>
        <p:spPr bwMode="auto">
          <a:xfrm>
            <a:off x="0" y="0"/>
            <a:ext cx="18287280" cy="75240"/>
          </a:xfrm>
          <a:prstGeom prst="rect">
            <a:avLst/>
          </a:prstGeom>
          <a:solidFill>
            <a:srgbClr val="9B9DA0"/>
          </a:solidFill>
          <a:ln>
            <a:noFill/>
          </a:ln>
        </p:spPr>
        <p:style>
          <a:lnRef idx="1">
            <a:schemeClr val="accent1"/>
          </a:lnRef>
          <a:fillRef idx="3">
            <a:schemeClr val="accent1"/>
          </a:fillRef>
          <a:effectRef idx="2">
            <a:schemeClr val="accent1"/>
          </a:effectRef>
          <a:fontRef idx="minor"/>
        </p:style>
        <p:txBody>
          <a:bodyPr lIns="90000" tIns="30960" rIns="90000" bIns="30960" anchor="ctr">
            <a:noAutofit/>
          </a:bodyPr>
          <a:p>
            <a:pPr>
              <a:defRPr/>
            </a:pPr>
            <a:endParaRPr lang="en-US" sz="1800" b="0" u="none" strike="noStrike">
              <a:solidFill>
                <a:schemeClr val="lt1"/>
              </a:solidFill>
              <a:latin typeface="Calibri"/>
            </a:endParaRPr>
          </a:p>
        </p:txBody>
      </p:sp>
      <p:sp>
        <p:nvSpPr>
          <p:cNvPr id="1134378640" name="Rectangle 2"/>
          <p:cNvSpPr/>
          <p:nvPr/>
        </p:nvSpPr>
        <p:spPr bwMode="auto">
          <a:xfrm>
            <a:off x="612720" y="896040"/>
            <a:ext cx="438120" cy="46800"/>
          </a:xfrm>
          <a:prstGeom prst="rect">
            <a:avLst/>
          </a:prstGeom>
          <a:solidFill>
            <a:srgbClr val="E58520"/>
          </a:solidFill>
          <a:ln>
            <a:noFill/>
          </a:ln>
        </p:spPr>
        <p:style>
          <a:lnRef idx="1">
            <a:schemeClr val="accent1"/>
          </a:lnRef>
          <a:fillRef idx="3">
            <a:schemeClr val="accent1"/>
          </a:fillRef>
          <a:effectRef idx="2">
            <a:schemeClr val="accent1"/>
          </a:effectRef>
          <a:fontRef idx="minor"/>
        </p:style>
        <p:txBody>
          <a:bodyPr lIns="90000" tIns="2520" rIns="90000" bIns="2520" anchor="ctr">
            <a:noAutofit/>
          </a:bodyPr>
          <a:p>
            <a:pPr>
              <a:defRPr/>
            </a:pPr>
            <a:endParaRPr lang="en-US" sz="1800" b="0" u="none" strike="noStrike">
              <a:solidFill>
                <a:schemeClr val="lt1"/>
              </a:solidFill>
              <a:latin typeface="Calibri"/>
            </a:endParaRPr>
          </a:p>
        </p:txBody>
      </p:sp>
      <p:sp>
        <p:nvSpPr>
          <p:cNvPr id="1485117494" name="TextBox 3"/>
          <p:cNvSpPr/>
          <p:nvPr/>
        </p:nvSpPr>
        <p:spPr bwMode="auto">
          <a:xfrm>
            <a:off x="1179720" y="800280"/>
            <a:ext cx="7314480" cy="300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300" b="1" u="none" strike="noStrike">
                <a:solidFill>
                  <a:srgbClr val="9B9DA0"/>
                </a:solidFill>
                <a:latin typeface="Open Sans"/>
                <a:ea typeface="Arial"/>
              </a:rPr>
              <a:t>BIOMASS OPPORTUNITY · </a:t>
            </a:r>
            <a:r>
              <a:rPr lang="zh-CN" sz="1300" b="1" u="none" strike="noStrike">
                <a:solidFill>
                  <a:srgbClr val="9B9DA0"/>
                </a:solidFill>
                <a:latin typeface="Open Sans"/>
                <a:ea typeface="Arial"/>
              </a:rPr>
              <a:t>バイオマスの可能性 </a:t>
            </a:r>
            <a:r>
              <a:rPr lang="en-US" sz="1300" b="1" u="none" strike="noStrike">
                <a:solidFill>
                  <a:srgbClr val="9B9DA0"/>
                </a:solidFill>
                <a:latin typeface="Open Sans"/>
                <a:ea typeface="Arial"/>
              </a:rPr>
              <a:t>· 08</a:t>
            </a:r>
            <a:endParaRPr lang="en-US" sz="1300" b="0" u="none" strike="noStrike">
              <a:solidFill>
                <a:srgbClr val="000000"/>
              </a:solidFill>
              <a:latin typeface="Arial"/>
            </a:endParaRPr>
          </a:p>
        </p:txBody>
      </p:sp>
      <p:sp>
        <p:nvSpPr>
          <p:cNvPr id="27148413" name="TextBox 4"/>
          <p:cNvSpPr/>
          <p:nvPr/>
        </p:nvSpPr>
        <p:spPr bwMode="auto">
          <a:xfrm>
            <a:off x="612720" y="1243440"/>
            <a:ext cx="16915680" cy="666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4800" b="1" u="none" strike="noStrike">
                <a:solidFill>
                  <a:srgbClr val="2E2E2E"/>
                </a:solidFill>
                <a:latin typeface="Sora"/>
                <a:ea typeface="Arial"/>
              </a:rPr>
              <a:t>Untapped — but not for long</a:t>
            </a:r>
            <a:endParaRPr lang="en-US" sz="4800" b="0" u="none" strike="noStrike">
              <a:solidFill>
                <a:srgbClr val="000000"/>
              </a:solidFill>
              <a:latin typeface="Arial"/>
            </a:endParaRPr>
          </a:p>
        </p:txBody>
      </p:sp>
      <p:sp>
        <p:nvSpPr>
          <p:cNvPr id="592270884" name="TextBox 5"/>
          <p:cNvSpPr/>
          <p:nvPr/>
        </p:nvSpPr>
        <p:spPr bwMode="auto">
          <a:xfrm>
            <a:off x="612720" y="1974960"/>
            <a:ext cx="16915680" cy="4107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zh-CN" sz="1800" b="0" u="none" strike="noStrike">
                <a:solidFill>
                  <a:srgbClr val="5A5A5A"/>
                </a:solidFill>
                <a:latin typeface="Open Sans"/>
                <a:ea typeface="Arial"/>
              </a:rPr>
              <a:t>地域再生可能エネルギーポテンシャル </a:t>
            </a:r>
            <a:r>
              <a:rPr lang="en-US" sz="1800" b="0" u="none" strike="noStrike">
                <a:solidFill>
                  <a:srgbClr val="5A5A5A"/>
                </a:solidFill>
                <a:latin typeface="Open Sans"/>
                <a:ea typeface="Arial"/>
              </a:rPr>
              <a:t>1,967 TJ — </a:t>
            </a:r>
            <a:r>
              <a:rPr lang="zh-CN" sz="1800" b="0" u="none" strike="noStrike">
                <a:solidFill>
                  <a:srgbClr val="5A5A5A"/>
                </a:solidFill>
                <a:latin typeface="Open Sans"/>
                <a:ea typeface="Arial"/>
              </a:rPr>
              <a:t>木質バイオマスが最大の柱</a:t>
            </a:r>
            <a:endParaRPr lang="en-US" sz="1800" b="0" u="none" strike="noStrike">
              <a:solidFill>
                <a:srgbClr val="000000"/>
              </a:solidFill>
              <a:latin typeface="Arial"/>
            </a:endParaRPr>
          </a:p>
        </p:txBody>
      </p:sp>
      <p:pic>
        <p:nvPicPr>
          <p:cNvPr id="1477357047" name="Picture 6" descr="Mitsue energy 2032.png"/>
          <p:cNvPicPr/>
          <p:nvPr/>
        </p:nvPicPr>
        <p:blipFill rotWithShape="1">
          <a:blip r:embed="rId3"/>
          <a:stretch/>
        </p:blipFill>
        <p:spPr bwMode="auto">
          <a:xfrm>
            <a:off x="9162360" y="2514600"/>
            <a:ext cx="8594640" cy="4068360"/>
          </a:xfrm>
          <a:prstGeom prst="rect">
            <a:avLst/>
          </a:prstGeom>
          <a:noFill/>
          <a:ln w="0">
            <a:noFill/>
          </a:ln>
        </p:spPr>
      </p:pic>
      <p:pic>
        <p:nvPicPr>
          <p:cNvPr id="273072503" name="Picture 7" descr="Mitsue energy 2022.png"/>
          <p:cNvPicPr/>
          <p:nvPr/>
        </p:nvPicPr>
        <p:blipFill rotWithShape="1">
          <a:blip r:embed="rId4"/>
          <a:stretch/>
        </p:blipFill>
        <p:spPr bwMode="auto">
          <a:xfrm>
            <a:off x="475560" y="2514600"/>
            <a:ext cx="8594640" cy="4068360"/>
          </a:xfrm>
          <a:prstGeom prst="rect">
            <a:avLst/>
          </a:prstGeom>
          <a:noFill/>
          <a:ln w="0">
            <a:noFill/>
          </a:ln>
        </p:spPr>
      </p:pic>
      <p:sp>
        <p:nvSpPr>
          <p:cNvPr id="1752680467" name="TextBox 8"/>
          <p:cNvSpPr/>
          <p:nvPr/>
        </p:nvSpPr>
        <p:spPr bwMode="auto">
          <a:xfrm>
            <a:off x="9144000" y="6647760"/>
            <a:ext cx="859464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100" b="1" u="none" strike="noStrike">
                <a:solidFill>
                  <a:srgbClr val="3A7A5A"/>
                </a:solidFill>
                <a:latin typeface="Open Sans"/>
                <a:ea typeface="Arial"/>
              </a:rPr>
              <a:t>2032 TARGET  ·  Fossil fuels: 97 TJ  ·  Local renewables introduced</a:t>
            </a:r>
            <a:endParaRPr lang="en-US" sz="1100" b="0" u="none" strike="noStrike">
              <a:solidFill>
                <a:srgbClr val="000000"/>
              </a:solidFill>
              <a:latin typeface="Arial"/>
            </a:endParaRPr>
          </a:p>
        </p:txBody>
      </p:sp>
      <p:sp>
        <p:nvSpPr>
          <p:cNvPr id="1609993350" name="TextBox 9"/>
          <p:cNvSpPr/>
          <p:nvPr/>
        </p:nvSpPr>
        <p:spPr bwMode="auto">
          <a:xfrm>
            <a:off x="475560" y="6647760"/>
            <a:ext cx="859464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100" b="1" u="none" strike="noStrike">
                <a:solidFill>
                  <a:srgbClr val="C0392B"/>
                </a:solidFill>
                <a:latin typeface="Open Sans"/>
                <a:ea typeface="Arial"/>
              </a:rPr>
              <a:t>2022 BASELINE  ·  Fossil fuels: 119 TJ  ·  Minimal renewables in use</a:t>
            </a:r>
            <a:endParaRPr lang="en-US" sz="1100" b="0" u="none" strike="noStrike">
              <a:solidFill>
                <a:srgbClr val="000000"/>
              </a:solidFill>
              <a:latin typeface="Arial"/>
            </a:endParaRPr>
          </a:p>
        </p:txBody>
      </p:sp>
      <p:sp>
        <p:nvSpPr>
          <p:cNvPr id="1232496561" name="Rectangle 10"/>
          <p:cNvSpPr/>
          <p:nvPr/>
        </p:nvSpPr>
        <p:spPr bwMode="auto">
          <a:xfrm>
            <a:off x="457200" y="7113960"/>
            <a:ext cx="17372880" cy="1941120"/>
          </a:xfrm>
          <a:prstGeom prst="rect">
            <a:avLst/>
          </a:prstGeom>
          <a:solidFill>
            <a:srgbClr val="FFF8EE"/>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defRPr/>
            </a:pPr>
            <a:endParaRPr lang="en-US" sz="1800" b="0" u="none" strike="noStrike">
              <a:solidFill>
                <a:schemeClr val="lt1"/>
              </a:solidFill>
              <a:latin typeface="Calibri"/>
            </a:endParaRPr>
          </a:p>
        </p:txBody>
      </p:sp>
      <p:sp>
        <p:nvSpPr>
          <p:cNvPr id="2033532789" name="TextBox 11"/>
          <p:cNvSpPr/>
          <p:nvPr/>
        </p:nvSpPr>
        <p:spPr bwMode="auto">
          <a:xfrm>
            <a:off x="685800" y="7269480"/>
            <a:ext cx="4571280" cy="346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300" b="1" u="none" strike="noStrike">
                <a:solidFill>
                  <a:srgbClr val="E58520"/>
                </a:solidFill>
                <a:latin typeface="Open Sans"/>
                <a:ea typeface="Arial"/>
              </a:rPr>
              <a:t>THE BIOMASS CASE</a:t>
            </a:r>
            <a:endParaRPr lang="en-US" sz="1300" b="0" u="none" strike="noStrike">
              <a:solidFill>
                <a:srgbClr val="000000"/>
              </a:solidFill>
              <a:latin typeface="Arial"/>
            </a:endParaRPr>
          </a:p>
        </p:txBody>
      </p:sp>
      <p:sp>
        <p:nvSpPr>
          <p:cNvPr id="27822489" name="TextBox 12"/>
          <p:cNvSpPr/>
          <p:nvPr/>
        </p:nvSpPr>
        <p:spPr bwMode="auto">
          <a:xfrm>
            <a:off x="685800" y="7699320"/>
            <a:ext cx="16918920" cy="731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defRPr/>
            </a:pPr>
            <a:r>
              <a:rPr lang="en-US" sz="1400" b="0" u="none" strike="noStrike">
                <a:solidFill>
                  <a:srgbClr val="2E2E2E"/>
                </a:solidFill>
                <a:latin typeface="Open Sans"/>
                <a:ea typeface="Arial"/>
              </a:rPr>
              <a:t>The right bar in both diagrams shows 1,967 TJ of local renewable energy potential — woody biomass (dark green) is the dominant resource by far. Today, almost none is captured. The Mitsue Project changes that: sugi thinnings feed a CHP unit, generating baseload electricity and heat year-round. Every cubic metre of timber harvested for forest restoration becomes fuel — closing the loop between reforestation and energy self-sufficiency.</a:t>
            </a:r>
            <a:endParaRPr lang="en-US" sz="1400" b="0" u="none" strike="noStrike">
              <a:solidFill>
                <a:srgbClr val="000000"/>
              </a:solidFill>
              <a:latin typeface="Arial"/>
            </a:endParaRPr>
          </a:p>
        </p:txBody>
      </p:sp>
      <p:sp>
        <p:nvSpPr>
          <p:cNvPr id="1863593365" name="Text 52"/>
          <p:cNvSpPr/>
          <p:nvPr/>
        </p:nvSpPr>
        <p:spPr bwMode="auto">
          <a:xfrm>
            <a:off x="609480" y="956304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Indicators: Japan Energy Database (Tohoku University, CC BY-NC). Mitsue values illustrative — confirm via Future Energy Simulator. </a:t>
            </a:r>
            <a:r>
              <a:rPr lang="zh-CN" sz="1000" b="1" u="none" strike="noStrike" spc="20">
                <a:solidFill>
                  <a:srgbClr val="A9ABAE"/>
                </a:solidFill>
                <a:latin typeface="Open Sans"/>
                <a:ea typeface="Open Sans"/>
              </a:rPr>
              <a:t>出典：地域エネルギー需給データベース／数値は試算</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34836328"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835378650" name="Shape 1"/>
          <p:cNvSpPr/>
          <p:nvPr/>
        </p:nvSpPr>
        <p:spPr bwMode="auto">
          <a:xfrm>
            <a:off x="609480" y="2354760"/>
            <a:ext cx="17067960" cy="18360"/>
          </a:xfrm>
          <a:prstGeom prst="rect">
            <a:avLst/>
          </a:prstGeom>
          <a:solidFill>
            <a:srgbClr val="2E2E2E"/>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1396184989" name="Shape 2"/>
          <p:cNvSpPr/>
          <p:nvPr/>
        </p:nvSpPr>
        <p:spPr bwMode="auto">
          <a:xfrm>
            <a:off x="609480" y="80028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2112767249" name="Text 3"/>
          <p:cNvSpPr/>
          <p:nvPr/>
        </p:nvSpPr>
        <p:spPr bwMode="auto">
          <a:xfrm>
            <a:off x="1181160" y="704879"/>
            <a:ext cx="41551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PROFILE IN NUMBERS · </a:t>
            </a:r>
            <a:r>
              <a:rPr lang="zh-CN" sz="1300" b="1" u="none" strike="noStrike" spc="204">
                <a:solidFill>
                  <a:srgbClr val="9B9DA0"/>
                </a:solidFill>
                <a:latin typeface="Open Sans"/>
                <a:ea typeface="Open Sans"/>
              </a:rPr>
              <a:t>現状と将来 </a:t>
            </a:r>
            <a:r>
              <a:rPr lang="en-US" sz="1300" b="1" u="none" strike="noStrike" spc="204">
                <a:solidFill>
                  <a:srgbClr val="9B9DA0"/>
                </a:solidFill>
                <a:latin typeface="Open Sans"/>
                <a:ea typeface="Open Sans"/>
              </a:rPr>
              <a:t>· 08</a:t>
            </a:r>
            <a:endParaRPr lang="en-US" sz="1300" b="0" u="none" strike="noStrike">
              <a:solidFill>
                <a:srgbClr val="000000"/>
              </a:solidFill>
              <a:latin typeface="Arial"/>
            </a:endParaRPr>
          </a:p>
        </p:txBody>
      </p:sp>
      <p:sp>
        <p:nvSpPr>
          <p:cNvPr id="1915732404" name="Text 4"/>
          <p:cNvSpPr/>
          <p:nvPr/>
        </p:nvSpPr>
        <p:spPr bwMode="auto">
          <a:xfrm>
            <a:off x="609480" y="1076400"/>
            <a:ext cx="9488160" cy="6397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1000"/>
              </a:lnSpc>
              <a:tabLst>
                <a:tab pos="0" algn="l"/>
              </a:tabLst>
              <a:defRPr/>
            </a:pPr>
            <a:r>
              <a:rPr lang="en-US" sz="4650" b="1" u="none" strike="noStrike" spc="-23">
                <a:solidFill>
                  <a:srgbClr val="2E2E2E"/>
                </a:solidFill>
                <a:latin typeface="Sora"/>
                <a:ea typeface="Sora"/>
              </a:rPr>
              <a:t>From dependence to surplus</a:t>
            </a:r>
            <a:endParaRPr lang="en-US" sz="4650" b="0" u="none" strike="noStrike">
              <a:solidFill>
                <a:srgbClr val="000000"/>
              </a:solidFill>
              <a:latin typeface="Arial"/>
            </a:endParaRPr>
          </a:p>
        </p:txBody>
      </p:sp>
      <p:sp>
        <p:nvSpPr>
          <p:cNvPr id="460567853" name="Text 5"/>
          <p:cNvSpPr/>
          <p:nvPr/>
        </p:nvSpPr>
        <p:spPr bwMode="auto">
          <a:xfrm>
            <a:off x="609480" y="1773720"/>
            <a:ext cx="948816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依存から余剰へ — エネルギー自立への転換</a:t>
            </a:r>
            <a:endParaRPr lang="en-US" sz="1900" b="0" u="none" strike="noStrike">
              <a:solidFill>
                <a:srgbClr val="000000"/>
              </a:solidFill>
              <a:latin typeface="Arial"/>
            </a:endParaRPr>
          </a:p>
        </p:txBody>
      </p:sp>
      <p:sp>
        <p:nvSpPr>
          <p:cNvPr id="986745660" name="Shape 6"/>
          <p:cNvSpPr/>
          <p:nvPr/>
        </p:nvSpPr>
        <p:spPr bwMode="auto">
          <a:xfrm>
            <a:off x="15017400" y="1883520"/>
            <a:ext cx="24696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603066221" name="Text 7"/>
          <p:cNvSpPr/>
          <p:nvPr/>
        </p:nvSpPr>
        <p:spPr bwMode="auto">
          <a:xfrm>
            <a:off x="15350760" y="1830960"/>
            <a:ext cx="999720" cy="275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300" b="1" u="none" strike="noStrike">
                <a:solidFill>
                  <a:srgbClr val="6E7174"/>
                </a:solidFill>
                <a:latin typeface="Open Sans"/>
                <a:ea typeface="Open Sans"/>
              </a:rPr>
              <a:t>Today · </a:t>
            </a:r>
            <a:r>
              <a:rPr lang="zh-CN" sz="1300" b="1" u="none" strike="noStrike">
                <a:solidFill>
                  <a:srgbClr val="6E7174"/>
                </a:solidFill>
                <a:latin typeface="Open Sans"/>
                <a:ea typeface="Open Sans"/>
              </a:rPr>
              <a:t>現状</a:t>
            </a:r>
            <a:endParaRPr lang="en-US" sz="1300" b="0" u="none" strike="noStrike">
              <a:solidFill>
                <a:srgbClr val="000000"/>
              </a:solidFill>
              <a:latin typeface="Arial"/>
            </a:endParaRPr>
          </a:p>
        </p:txBody>
      </p:sp>
      <p:sp>
        <p:nvSpPr>
          <p:cNvPr id="1981686142" name="Shape 8"/>
          <p:cNvSpPr/>
          <p:nvPr/>
        </p:nvSpPr>
        <p:spPr bwMode="auto">
          <a:xfrm>
            <a:off x="16522560" y="1883520"/>
            <a:ext cx="246960" cy="1324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676986230" name="Text 9"/>
          <p:cNvSpPr/>
          <p:nvPr/>
        </p:nvSpPr>
        <p:spPr bwMode="auto">
          <a:xfrm>
            <a:off x="16855920" y="1830960"/>
            <a:ext cx="897840" cy="2754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300" b="1" u="none" strike="noStrike">
                <a:solidFill>
                  <a:srgbClr val="6E7174"/>
                </a:solidFill>
                <a:latin typeface="Open Sans"/>
                <a:ea typeface="Open Sans"/>
              </a:rPr>
              <a:t>2050 · </a:t>
            </a:r>
            <a:r>
              <a:rPr lang="zh-CN" sz="1300" b="1" u="none" strike="noStrike">
                <a:solidFill>
                  <a:srgbClr val="6E7174"/>
                </a:solidFill>
                <a:latin typeface="Open Sans"/>
                <a:ea typeface="Open Sans"/>
              </a:rPr>
              <a:t>想定</a:t>
            </a:r>
            <a:endParaRPr lang="en-US" sz="1300" b="0" u="none" strike="noStrike">
              <a:solidFill>
                <a:srgbClr val="000000"/>
              </a:solidFill>
              <a:latin typeface="Arial"/>
            </a:endParaRPr>
          </a:p>
        </p:txBody>
      </p:sp>
      <p:sp>
        <p:nvSpPr>
          <p:cNvPr id="551327798" name="Text 10"/>
          <p:cNvSpPr/>
          <p:nvPr/>
        </p:nvSpPr>
        <p:spPr bwMode="auto">
          <a:xfrm>
            <a:off x="609480" y="3732840"/>
            <a:ext cx="35200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Energy self-sufficiency </a:t>
            </a:r>
            <a:r>
              <a:rPr lang="zh-CN" sz="1300" b="0" u="none" strike="noStrike">
                <a:solidFill>
                  <a:srgbClr val="9B9DA0"/>
                </a:solidFill>
                <a:latin typeface="Noto Sans JP"/>
                <a:ea typeface="Noto Sans JP"/>
              </a:rPr>
              <a:t>自給率</a:t>
            </a:r>
            <a:endParaRPr lang="en-US" sz="1300" b="0" u="none" strike="noStrike">
              <a:solidFill>
                <a:srgbClr val="000000"/>
              </a:solidFill>
              <a:latin typeface="Arial"/>
            </a:endParaRPr>
          </a:p>
        </p:txBody>
      </p:sp>
      <p:sp>
        <p:nvSpPr>
          <p:cNvPr id="272723749" name="Text 11"/>
          <p:cNvSpPr/>
          <p:nvPr/>
        </p:nvSpPr>
        <p:spPr bwMode="auto">
          <a:xfrm>
            <a:off x="7944120" y="3776040"/>
            <a:ext cx="9705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 +107pt</a:t>
            </a:r>
            <a:endParaRPr lang="en-US" sz="1600" b="0" u="none" strike="noStrike">
              <a:solidFill>
                <a:srgbClr val="000000"/>
              </a:solidFill>
              <a:latin typeface="Arial"/>
            </a:endParaRPr>
          </a:p>
        </p:txBody>
      </p:sp>
      <p:sp>
        <p:nvSpPr>
          <p:cNvPr id="699620016" name="Text 12"/>
          <p:cNvSpPr/>
          <p:nvPr/>
        </p:nvSpPr>
        <p:spPr bwMode="auto">
          <a:xfrm>
            <a:off x="533520" y="42426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263934258" name="Shape 13"/>
          <p:cNvSpPr/>
          <p:nvPr/>
        </p:nvSpPr>
        <p:spPr bwMode="auto">
          <a:xfrm>
            <a:off x="1504800" y="42141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17350161" name="Shape 14"/>
          <p:cNvSpPr/>
          <p:nvPr/>
        </p:nvSpPr>
        <p:spPr bwMode="auto">
          <a:xfrm>
            <a:off x="1504800" y="4214160"/>
            <a:ext cx="44604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717968823" name="Text 15"/>
          <p:cNvSpPr/>
          <p:nvPr/>
        </p:nvSpPr>
        <p:spPr bwMode="auto">
          <a:xfrm>
            <a:off x="8039160" y="42091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a:solidFill>
                  <a:srgbClr val="6E7174"/>
                </a:solidFill>
                <a:latin typeface="Open Sans"/>
                <a:ea typeface="Open Sans"/>
              </a:rPr>
              <a:t>8%</a:t>
            </a:r>
            <a:endParaRPr lang="en-US" sz="1500" b="0" u="none" strike="noStrike">
              <a:solidFill>
                <a:srgbClr val="000000"/>
              </a:solidFill>
              <a:latin typeface="Arial"/>
            </a:endParaRPr>
          </a:p>
        </p:txBody>
      </p:sp>
      <p:sp>
        <p:nvSpPr>
          <p:cNvPr id="1477324059" name="Text 16"/>
          <p:cNvSpPr/>
          <p:nvPr/>
        </p:nvSpPr>
        <p:spPr bwMode="auto">
          <a:xfrm>
            <a:off x="533520" y="46285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780799272" name="Shape 17"/>
          <p:cNvSpPr/>
          <p:nvPr/>
        </p:nvSpPr>
        <p:spPr bwMode="auto">
          <a:xfrm>
            <a:off x="1504800" y="45997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075115453" name="Shape 18"/>
          <p:cNvSpPr/>
          <p:nvPr/>
        </p:nvSpPr>
        <p:spPr bwMode="auto">
          <a:xfrm>
            <a:off x="1504800" y="4599720"/>
            <a:ext cx="612576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811327226" name="Text 19"/>
          <p:cNvSpPr/>
          <p:nvPr/>
        </p:nvSpPr>
        <p:spPr bwMode="auto">
          <a:xfrm>
            <a:off x="8039160" y="45522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2E2E2E"/>
                </a:solidFill>
                <a:latin typeface="Open Sans"/>
                <a:ea typeface="Open Sans"/>
              </a:rPr>
              <a:t>115%</a:t>
            </a:r>
            <a:endParaRPr lang="en-US" sz="1950" b="0" u="none" strike="noStrike">
              <a:solidFill>
                <a:srgbClr val="000000"/>
              </a:solidFill>
              <a:latin typeface="Arial"/>
            </a:endParaRPr>
          </a:p>
        </p:txBody>
      </p:sp>
      <p:sp>
        <p:nvSpPr>
          <p:cNvPr id="2040522544" name="Text 20"/>
          <p:cNvSpPr/>
          <p:nvPr/>
        </p:nvSpPr>
        <p:spPr bwMode="auto">
          <a:xfrm>
            <a:off x="9448920" y="3732840"/>
            <a:ext cx="351972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Import dependency </a:t>
            </a:r>
            <a:r>
              <a:rPr lang="zh-CN" sz="1300" b="0" u="none" strike="noStrike">
                <a:solidFill>
                  <a:srgbClr val="9B9DA0"/>
                </a:solidFill>
                <a:latin typeface="Noto Sans JP"/>
                <a:ea typeface="Noto Sans JP"/>
              </a:rPr>
              <a:t>域外依存率</a:t>
            </a:r>
            <a:endParaRPr lang="en-US" sz="1300" b="0" u="none" strike="noStrike">
              <a:solidFill>
                <a:srgbClr val="000000"/>
              </a:solidFill>
              <a:latin typeface="Arial"/>
            </a:endParaRPr>
          </a:p>
        </p:txBody>
      </p:sp>
      <p:sp>
        <p:nvSpPr>
          <p:cNvPr id="773204931" name="Text 21"/>
          <p:cNvSpPr/>
          <p:nvPr/>
        </p:nvSpPr>
        <p:spPr bwMode="auto">
          <a:xfrm>
            <a:off x="16904520" y="3776040"/>
            <a:ext cx="84924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 −67pt</a:t>
            </a:r>
            <a:endParaRPr lang="en-US" sz="1600" b="0" u="none" strike="noStrike">
              <a:solidFill>
                <a:srgbClr val="000000"/>
              </a:solidFill>
              <a:latin typeface="Arial"/>
            </a:endParaRPr>
          </a:p>
        </p:txBody>
      </p:sp>
      <p:sp>
        <p:nvSpPr>
          <p:cNvPr id="1844616149" name="Text 22"/>
          <p:cNvSpPr/>
          <p:nvPr/>
        </p:nvSpPr>
        <p:spPr bwMode="auto">
          <a:xfrm>
            <a:off x="9372600" y="42426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1498904118" name="Shape 23"/>
          <p:cNvSpPr/>
          <p:nvPr/>
        </p:nvSpPr>
        <p:spPr bwMode="auto">
          <a:xfrm>
            <a:off x="10344240" y="42141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718312521" name="Shape 24"/>
          <p:cNvSpPr/>
          <p:nvPr/>
        </p:nvSpPr>
        <p:spPr bwMode="auto">
          <a:xfrm>
            <a:off x="10344240" y="4214160"/>
            <a:ext cx="587052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551332297" name="Text 25"/>
          <p:cNvSpPr/>
          <p:nvPr/>
        </p:nvSpPr>
        <p:spPr bwMode="auto">
          <a:xfrm>
            <a:off x="16878240" y="42091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a:solidFill>
                  <a:srgbClr val="6E7174"/>
                </a:solidFill>
                <a:latin typeface="Open Sans"/>
                <a:ea typeface="Open Sans"/>
              </a:rPr>
              <a:t>92%</a:t>
            </a:r>
            <a:endParaRPr lang="en-US" sz="1500" b="0" u="none" strike="noStrike">
              <a:solidFill>
                <a:srgbClr val="000000"/>
              </a:solidFill>
              <a:latin typeface="Arial"/>
            </a:endParaRPr>
          </a:p>
        </p:txBody>
      </p:sp>
      <p:sp>
        <p:nvSpPr>
          <p:cNvPr id="894902643" name="Text 26"/>
          <p:cNvSpPr/>
          <p:nvPr/>
        </p:nvSpPr>
        <p:spPr bwMode="auto">
          <a:xfrm>
            <a:off x="9372600" y="46285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359222668" name="Shape 27"/>
          <p:cNvSpPr/>
          <p:nvPr/>
        </p:nvSpPr>
        <p:spPr bwMode="auto">
          <a:xfrm>
            <a:off x="10344240" y="45997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690200115" name="Shape 28"/>
          <p:cNvSpPr/>
          <p:nvPr/>
        </p:nvSpPr>
        <p:spPr bwMode="auto">
          <a:xfrm>
            <a:off x="10344240" y="4599720"/>
            <a:ext cx="159480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507901309" name="Text 29"/>
          <p:cNvSpPr/>
          <p:nvPr/>
        </p:nvSpPr>
        <p:spPr bwMode="auto">
          <a:xfrm>
            <a:off x="16878240" y="45522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2E2E2E"/>
                </a:solidFill>
                <a:latin typeface="Open Sans"/>
                <a:ea typeface="Open Sans"/>
              </a:rPr>
              <a:t>25%</a:t>
            </a:r>
            <a:endParaRPr lang="en-US" sz="1950" b="0" u="none" strike="noStrike">
              <a:solidFill>
                <a:srgbClr val="000000"/>
              </a:solidFill>
              <a:latin typeface="Arial"/>
            </a:endParaRPr>
          </a:p>
        </p:txBody>
      </p:sp>
      <p:sp>
        <p:nvSpPr>
          <p:cNvPr id="775434092" name="Text 30"/>
          <p:cNvSpPr/>
          <p:nvPr/>
        </p:nvSpPr>
        <p:spPr bwMode="auto">
          <a:xfrm>
            <a:off x="609480" y="7175160"/>
            <a:ext cx="354024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Energy trade balance </a:t>
            </a:r>
            <a:r>
              <a:rPr lang="zh-CN" sz="1300" b="0" u="none" strike="noStrike">
                <a:solidFill>
                  <a:srgbClr val="9B9DA0"/>
                </a:solidFill>
                <a:latin typeface="Noto Sans JP"/>
                <a:ea typeface="Noto Sans JP"/>
              </a:rPr>
              <a:t>経済収支</a:t>
            </a:r>
            <a:endParaRPr lang="en-US" sz="1300" b="0" u="none" strike="noStrike">
              <a:solidFill>
                <a:srgbClr val="000000"/>
              </a:solidFill>
              <a:latin typeface="Arial"/>
            </a:endParaRPr>
          </a:p>
        </p:txBody>
      </p:sp>
      <p:sp>
        <p:nvSpPr>
          <p:cNvPr id="579324916" name="Text 31"/>
          <p:cNvSpPr/>
          <p:nvPr/>
        </p:nvSpPr>
        <p:spPr bwMode="auto">
          <a:xfrm>
            <a:off x="8225640" y="7218000"/>
            <a:ext cx="68904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flips +</a:t>
            </a:r>
            <a:endParaRPr lang="en-US" sz="1600" b="0" u="none" strike="noStrike">
              <a:solidFill>
                <a:srgbClr val="000000"/>
              </a:solidFill>
              <a:latin typeface="Arial"/>
            </a:endParaRPr>
          </a:p>
        </p:txBody>
      </p:sp>
      <p:sp>
        <p:nvSpPr>
          <p:cNvPr id="1645537969" name="Text 32"/>
          <p:cNvSpPr/>
          <p:nvPr/>
        </p:nvSpPr>
        <p:spPr bwMode="auto">
          <a:xfrm>
            <a:off x="533520" y="768492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1975394002" name="Shape 33"/>
          <p:cNvSpPr/>
          <p:nvPr/>
        </p:nvSpPr>
        <p:spPr bwMode="auto">
          <a:xfrm>
            <a:off x="1504800" y="76561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103042594" name="Shape 34"/>
          <p:cNvSpPr/>
          <p:nvPr/>
        </p:nvSpPr>
        <p:spPr bwMode="auto">
          <a:xfrm>
            <a:off x="4695840" y="7656120"/>
            <a:ext cx="18360" cy="246960"/>
          </a:xfrm>
          <a:prstGeom prst="rect">
            <a:avLst/>
          </a:prstGeom>
          <a:solidFill>
            <a:srgbClr val="2E2E2E"/>
          </a:solidFill>
          <a:ln w="0">
            <a:noFill/>
          </a:ln>
        </p:spPr>
        <p:style>
          <a:lnRef idx="0"/>
          <a:fillRef idx="0"/>
          <a:effectRef idx="0"/>
          <a:fontRef idx="minor"/>
        </p:style>
        <p:txBody>
          <a:bodyPr lIns="9360" tIns="45000" rIns="9360" bIns="45000" anchor="t">
            <a:noAutofit/>
          </a:bodyPr>
          <a:p>
            <a:pPr>
              <a:defRPr/>
            </a:pPr>
            <a:endParaRPr lang="en-US" sz="1800" b="0" u="none" strike="noStrike">
              <a:solidFill>
                <a:srgbClr val="FFFFFF"/>
              </a:solidFill>
              <a:latin typeface="Arial"/>
            </a:endParaRPr>
          </a:p>
        </p:txBody>
      </p:sp>
      <p:sp>
        <p:nvSpPr>
          <p:cNvPr id="528166788" name="Shape 35"/>
          <p:cNvSpPr/>
          <p:nvPr/>
        </p:nvSpPr>
        <p:spPr bwMode="auto">
          <a:xfrm>
            <a:off x="2589840" y="7656120"/>
            <a:ext cx="210528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627992836" name="Text 36"/>
          <p:cNvSpPr/>
          <p:nvPr/>
        </p:nvSpPr>
        <p:spPr bwMode="auto">
          <a:xfrm>
            <a:off x="8039160" y="765144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6E7174"/>
                </a:solidFill>
                <a:latin typeface="Open Sans"/>
                <a:ea typeface="Open Sans"/>
              </a:rPr>
              <a:t>−¥2.0</a:t>
            </a:r>
            <a:r>
              <a:rPr lang="zh-CN" sz="1350" b="1" u="none" strike="noStrike">
                <a:solidFill>
                  <a:srgbClr val="6E7174"/>
                </a:solidFill>
                <a:latin typeface="Open Sans"/>
                <a:ea typeface="Open Sans"/>
              </a:rPr>
              <a:t>億</a:t>
            </a:r>
            <a:endParaRPr lang="en-US" sz="1350" b="0" u="none" strike="noStrike">
              <a:solidFill>
                <a:srgbClr val="000000"/>
              </a:solidFill>
              <a:latin typeface="Arial"/>
            </a:endParaRPr>
          </a:p>
        </p:txBody>
      </p:sp>
      <p:sp>
        <p:nvSpPr>
          <p:cNvPr id="1108429716" name="Text 37"/>
          <p:cNvSpPr/>
          <p:nvPr/>
        </p:nvSpPr>
        <p:spPr bwMode="auto">
          <a:xfrm>
            <a:off x="533520" y="822276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129309359" name="Shape 38"/>
          <p:cNvSpPr/>
          <p:nvPr/>
        </p:nvSpPr>
        <p:spPr bwMode="auto">
          <a:xfrm>
            <a:off x="1504800" y="81943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86844658" name="Shape 39"/>
          <p:cNvSpPr/>
          <p:nvPr/>
        </p:nvSpPr>
        <p:spPr bwMode="auto">
          <a:xfrm>
            <a:off x="4695840" y="8194320"/>
            <a:ext cx="18360" cy="246960"/>
          </a:xfrm>
          <a:prstGeom prst="rect">
            <a:avLst/>
          </a:prstGeom>
          <a:solidFill>
            <a:srgbClr val="2E2E2E"/>
          </a:solidFill>
          <a:ln w="0">
            <a:noFill/>
          </a:ln>
        </p:spPr>
        <p:style>
          <a:lnRef idx="0"/>
          <a:fillRef idx="0"/>
          <a:effectRef idx="0"/>
          <a:fontRef idx="minor"/>
        </p:style>
        <p:txBody>
          <a:bodyPr lIns="9360" tIns="45000" rIns="9360" bIns="45000" anchor="t">
            <a:noAutofit/>
          </a:bodyPr>
          <a:p>
            <a:pPr>
              <a:defRPr/>
            </a:pPr>
            <a:endParaRPr lang="en-US" sz="1800" b="0" u="none" strike="noStrike">
              <a:solidFill>
                <a:srgbClr val="FFFFFF"/>
              </a:solidFill>
              <a:latin typeface="Arial"/>
            </a:endParaRPr>
          </a:p>
        </p:txBody>
      </p:sp>
      <p:sp>
        <p:nvSpPr>
          <p:cNvPr id="1131902865" name="Shape 40"/>
          <p:cNvSpPr/>
          <p:nvPr/>
        </p:nvSpPr>
        <p:spPr bwMode="auto">
          <a:xfrm>
            <a:off x="4695840" y="8194320"/>
            <a:ext cx="82908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72478365" name="Text 41"/>
          <p:cNvSpPr/>
          <p:nvPr/>
        </p:nvSpPr>
        <p:spPr bwMode="auto">
          <a:xfrm>
            <a:off x="8039160" y="7994160"/>
            <a:ext cx="875520" cy="685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800" b="1" u="none" strike="noStrike">
                <a:solidFill>
                  <a:srgbClr val="2E2E2E"/>
                </a:solidFill>
                <a:latin typeface="Open Sans"/>
                <a:ea typeface="Open Sans"/>
              </a:rPr>
              <a:t>+¥0.8</a:t>
            </a:r>
            <a:r>
              <a:rPr lang="zh-CN" sz="1800" b="1" u="none" strike="noStrike">
                <a:solidFill>
                  <a:srgbClr val="2E2E2E"/>
                </a:solidFill>
                <a:latin typeface="Open Sans"/>
                <a:ea typeface="Open Sans"/>
              </a:rPr>
              <a:t>億</a:t>
            </a:r>
            <a:endParaRPr lang="en-US" sz="1800" b="0" u="none" strike="noStrike">
              <a:solidFill>
                <a:srgbClr val="000000"/>
              </a:solidFill>
              <a:latin typeface="Arial"/>
            </a:endParaRPr>
          </a:p>
        </p:txBody>
      </p:sp>
      <p:sp>
        <p:nvSpPr>
          <p:cNvPr id="699758290" name="Text 42"/>
          <p:cNvSpPr/>
          <p:nvPr/>
        </p:nvSpPr>
        <p:spPr bwMode="auto">
          <a:xfrm>
            <a:off x="9448920" y="7327440"/>
            <a:ext cx="3368880" cy="3610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Open Sans"/>
                <a:ea typeface="Open Sans"/>
              </a:rPr>
              <a:t>Energy-related CO₂ </a:t>
            </a:r>
            <a:r>
              <a:rPr lang="en-US" sz="1300" b="0" u="none" strike="noStrike">
                <a:solidFill>
                  <a:srgbClr val="9B9DA0"/>
                </a:solidFill>
                <a:latin typeface="Noto Sans JP"/>
                <a:ea typeface="Noto Sans JP"/>
              </a:rPr>
              <a:t>CO₂</a:t>
            </a:r>
            <a:r>
              <a:rPr lang="zh-CN" sz="1300" b="0" u="none" strike="noStrike">
                <a:solidFill>
                  <a:srgbClr val="9B9DA0"/>
                </a:solidFill>
                <a:latin typeface="Noto Sans JP"/>
                <a:ea typeface="Noto Sans JP"/>
              </a:rPr>
              <a:t>排出量</a:t>
            </a:r>
            <a:endParaRPr lang="en-US" sz="1300" b="0" u="none" strike="noStrike">
              <a:solidFill>
                <a:srgbClr val="000000"/>
              </a:solidFill>
              <a:latin typeface="Arial"/>
            </a:endParaRPr>
          </a:p>
        </p:txBody>
      </p:sp>
      <p:sp>
        <p:nvSpPr>
          <p:cNvPr id="838845060" name="Text 43"/>
          <p:cNvSpPr/>
          <p:nvPr/>
        </p:nvSpPr>
        <p:spPr bwMode="auto">
          <a:xfrm>
            <a:off x="16935480" y="7370280"/>
            <a:ext cx="8182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E58520"/>
                </a:solidFill>
                <a:latin typeface="Open Sans"/>
                <a:ea typeface="Open Sans"/>
              </a:rPr>
              <a:t>▼ −73%</a:t>
            </a:r>
            <a:endParaRPr lang="en-US" sz="1600" b="0" u="none" strike="noStrike">
              <a:solidFill>
                <a:srgbClr val="000000"/>
              </a:solidFill>
              <a:latin typeface="Arial"/>
            </a:endParaRPr>
          </a:p>
        </p:txBody>
      </p:sp>
      <p:sp>
        <p:nvSpPr>
          <p:cNvPr id="1139326318" name="Text 44"/>
          <p:cNvSpPr/>
          <p:nvPr/>
        </p:nvSpPr>
        <p:spPr bwMode="auto">
          <a:xfrm>
            <a:off x="9372600" y="783720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A9ABAE"/>
                </a:solidFill>
                <a:latin typeface="Open Sans"/>
                <a:ea typeface="Open Sans"/>
              </a:rPr>
              <a:t>TODAY</a:t>
            </a:r>
            <a:endParaRPr lang="en-US" sz="1150" b="0" u="none" strike="noStrike">
              <a:solidFill>
                <a:srgbClr val="000000"/>
              </a:solidFill>
              <a:latin typeface="Arial"/>
            </a:endParaRPr>
          </a:p>
        </p:txBody>
      </p:sp>
      <p:sp>
        <p:nvSpPr>
          <p:cNvPr id="1729209077" name="Shape 45"/>
          <p:cNvSpPr/>
          <p:nvPr/>
        </p:nvSpPr>
        <p:spPr bwMode="auto">
          <a:xfrm>
            <a:off x="10344240" y="780876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30779581" name="Shape 46"/>
          <p:cNvSpPr/>
          <p:nvPr/>
        </p:nvSpPr>
        <p:spPr bwMode="auto">
          <a:xfrm>
            <a:off x="10344240" y="7808760"/>
            <a:ext cx="5870520" cy="24696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22399211" name="Text 47"/>
          <p:cNvSpPr/>
          <p:nvPr/>
        </p:nvSpPr>
        <p:spPr bwMode="auto">
          <a:xfrm>
            <a:off x="16878240" y="7803720"/>
            <a:ext cx="875520" cy="294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a:solidFill>
                  <a:srgbClr val="6E7174"/>
                </a:solidFill>
                <a:latin typeface="Open Sans"/>
                <a:ea typeface="Open Sans"/>
              </a:rPr>
              <a:t>11 kt</a:t>
            </a:r>
            <a:endParaRPr lang="en-US" sz="1500" b="0" u="none" strike="noStrike">
              <a:solidFill>
                <a:srgbClr val="000000"/>
              </a:solidFill>
              <a:latin typeface="Arial"/>
            </a:endParaRPr>
          </a:p>
        </p:txBody>
      </p:sp>
      <p:sp>
        <p:nvSpPr>
          <p:cNvPr id="1113765597" name="Text 48"/>
          <p:cNvSpPr/>
          <p:nvPr/>
        </p:nvSpPr>
        <p:spPr bwMode="auto">
          <a:xfrm>
            <a:off x="9372600" y="8222760"/>
            <a:ext cx="81828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a:solidFill>
                  <a:srgbClr val="E58520"/>
                </a:solidFill>
                <a:latin typeface="Open Sans"/>
                <a:ea typeface="Open Sans"/>
              </a:rPr>
              <a:t>2050</a:t>
            </a:r>
            <a:endParaRPr lang="en-US" sz="1150" b="0" u="none" strike="noStrike">
              <a:solidFill>
                <a:srgbClr val="000000"/>
              </a:solidFill>
              <a:latin typeface="Arial"/>
            </a:endParaRPr>
          </a:p>
        </p:txBody>
      </p:sp>
      <p:sp>
        <p:nvSpPr>
          <p:cNvPr id="89620841" name="Shape 49"/>
          <p:cNvSpPr/>
          <p:nvPr/>
        </p:nvSpPr>
        <p:spPr bwMode="auto">
          <a:xfrm>
            <a:off x="10344240" y="8194320"/>
            <a:ext cx="6381000" cy="24696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737564986" name="Shape 50"/>
          <p:cNvSpPr/>
          <p:nvPr/>
        </p:nvSpPr>
        <p:spPr bwMode="auto">
          <a:xfrm>
            <a:off x="10344240" y="8194320"/>
            <a:ext cx="1594800" cy="246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337290696" name="Text 51"/>
          <p:cNvSpPr/>
          <p:nvPr/>
        </p:nvSpPr>
        <p:spPr bwMode="auto">
          <a:xfrm>
            <a:off x="16878240" y="8146800"/>
            <a:ext cx="875520" cy="3801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50" b="1" u="none" strike="noStrike">
                <a:solidFill>
                  <a:srgbClr val="2E2E2E"/>
                </a:solidFill>
                <a:latin typeface="Open Sans"/>
                <a:ea typeface="Open Sans"/>
              </a:rPr>
              <a:t>3 kt</a:t>
            </a:r>
            <a:endParaRPr lang="en-US" sz="1950" b="0" u="none" strike="noStrike">
              <a:solidFill>
                <a:srgbClr val="000000"/>
              </a:solidFill>
              <a:latin typeface="Arial"/>
            </a:endParaRPr>
          </a:p>
        </p:txBody>
      </p:sp>
      <p:sp>
        <p:nvSpPr>
          <p:cNvPr id="268521811" name="Text 52"/>
          <p:cNvSpPr/>
          <p:nvPr/>
        </p:nvSpPr>
        <p:spPr bwMode="auto">
          <a:xfrm>
            <a:off x="609480" y="956304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Indicators: Japan Energy Database (Tohoku University, CC BY-NC). Mitsue values illustrative — confirm via Future Energy Simulator. </a:t>
            </a:r>
            <a:r>
              <a:rPr lang="zh-CN" sz="1000" b="1" u="none" strike="noStrike" spc="20">
                <a:solidFill>
                  <a:srgbClr val="A9ABAE"/>
                </a:solidFill>
                <a:latin typeface="Open Sans"/>
                <a:ea typeface="Open Sans"/>
              </a:rPr>
              <a:t>出典：地域エネルギー需給データベース／数値は試算</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2073206880"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88710755"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852841471" name="Text 2"/>
          <p:cNvSpPr/>
          <p:nvPr/>
        </p:nvSpPr>
        <p:spPr bwMode="auto">
          <a:xfrm>
            <a:off x="1181160" y="800280"/>
            <a:ext cx="37245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FIVE RETURNS · </a:t>
            </a:r>
            <a:r>
              <a:rPr lang="zh-CN" sz="1300" b="1" u="none" strike="noStrike" spc="204">
                <a:solidFill>
                  <a:srgbClr val="9B9DA0"/>
                </a:solidFill>
                <a:latin typeface="Open Sans"/>
                <a:ea typeface="Open Sans"/>
              </a:rPr>
              <a:t>五つのリターン </a:t>
            </a:r>
            <a:r>
              <a:rPr lang="en-US" sz="1300" b="1" u="none" strike="noStrike" spc="204">
                <a:solidFill>
                  <a:srgbClr val="9B9DA0"/>
                </a:solidFill>
                <a:latin typeface="Open Sans"/>
                <a:ea typeface="Open Sans"/>
              </a:rPr>
              <a:t>· 09</a:t>
            </a:r>
            <a:endParaRPr lang="en-US" sz="1300" b="0" u="none" strike="noStrike">
              <a:solidFill>
                <a:srgbClr val="000000"/>
              </a:solidFill>
              <a:latin typeface="Arial"/>
            </a:endParaRPr>
          </a:p>
        </p:txBody>
      </p:sp>
      <p:sp>
        <p:nvSpPr>
          <p:cNvPr id="272152488"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One investment, five returns</a:t>
            </a:r>
            <a:endParaRPr lang="en-US" sz="4800" b="0" u="none" strike="noStrike">
              <a:solidFill>
                <a:srgbClr val="000000"/>
              </a:solidFill>
              <a:latin typeface="Arial"/>
            </a:endParaRPr>
          </a:p>
        </p:txBody>
      </p:sp>
      <p:sp>
        <p:nvSpPr>
          <p:cNvPr id="999140524"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一つの投資が、五つのリターンを生む。</a:t>
            </a:r>
            <a:endParaRPr lang="en-US" sz="1950" b="0" u="none" strike="noStrike">
              <a:solidFill>
                <a:srgbClr val="000000"/>
              </a:solidFill>
              <a:latin typeface="Arial"/>
            </a:endParaRPr>
          </a:p>
        </p:txBody>
      </p:sp>
      <p:sp>
        <p:nvSpPr>
          <p:cNvPr id="794132400" name="Shape 5"/>
          <p:cNvSpPr/>
          <p:nvPr/>
        </p:nvSpPr>
        <p:spPr bwMode="auto">
          <a:xfrm>
            <a:off x="609480" y="276624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761909560" name="Shape 6"/>
          <p:cNvSpPr/>
          <p:nvPr/>
        </p:nvSpPr>
        <p:spPr bwMode="auto">
          <a:xfrm>
            <a:off x="6094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299417573" name="Shape 7"/>
          <p:cNvSpPr/>
          <p:nvPr/>
        </p:nvSpPr>
        <p:spPr bwMode="auto">
          <a:xfrm>
            <a:off x="609480" y="2742480"/>
            <a:ext cx="3249360" cy="46800"/>
          </a:xfrm>
          <a:prstGeom prst="rect">
            <a:avLst/>
          </a:prstGeom>
          <a:solidFill>
            <a:srgbClr val="3C4A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465534594" name="Shape 8"/>
          <p:cNvSpPr/>
          <p:nvPr/>
        </p:nvSpPr>
        <p:spPr bwMode="auto">
          <a:xfrm>
            <a:off x="6094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562741081" name="Shape 9"/>
          <p:cNvSpPr/>
          <p:nvPr/>
        </p:nvSpPr>
        <p:spPr bwMode="auto">
          <a:xfrm>
            <a:off x="38498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643791823" name="Text 10"/>
          <p:cNvSpPr/>
          <p:nvPr/>
        </p:nvSpPr>
        <p:spPr bwMode="auto">
          <a:xfrm>
            <a:off x="866879"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Ecological</a:t>
            </a:r>
            <a:endParaRPr lang="en-US" sz="1900" b="0" u="none" strike="noStrike">
              <a:solidFill>
                <a:srgbClr val="000000"/>
              </a:solidFill>
              <a:latin typeface="Arial"/>
            </a:endParaRPr>
          </a:p>
        </p:txBody>
      </p:sp>
      <p:sp>
        <p:nvSpPr>
          <p:cNvPr id="563969657" name="Text 11"/>
          <p:cNvSpPr/>
          <p:nvPr/>
        </p:nvSpPr>
        <p:spPr bwMode="auto">
          <a:xfrm>
            <a:off x="866879"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生態系</a:t>
            </a:r>
            <a:endParaRPr lang="en-US" sz="1300" b="0" u="none" strike="noStrike">
              <a:solidFill>
                <a:srgbClr val="000000"/>
              </a:solidFill>
              <a:latin typeface="Arial"/>
            </a:endParaRPr>
          </a:p>
        </p:txBody>
      </p:sp>
      <p:sp>
        <p:nvSpPr>
          <p:cNvPr id="1731451374" name="Text 12"/>
          <p:cNvSpPr/>
          <p:nvPr/>
        </p:nvSpPr>
        <p:spPr bwMode="auto">
          <a:xfrm>
            <a:off x="866879" y="8458200"/>
            <a:ext cx="2817000" cy="86616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en-US" sz="1500" b="0" u="none" strike="noStrike">
                <a:solidFill>
                  <a:srgbClr val="4A4A4A"/>
                </a:solidFill>
                <a:latin typeface="Open Sans"/>
                <a:ea typeface="Open Sans"/>
              </a:rPr>
              <a:t>Restored watershed, biodiversity, carbon drawdown.</a:t>
            </a:r>
            <a:endParaRPr lang="en-US" sz="1500" b="0" u="none" strike="noStrike">
              <a:solidFill>
                <a:srgbClr val="000000"/>
              </a:solidFill>
              <a:latin typeface="Arial"/>
            </a:endParaRPr>
          </a:p>
        </p:txBody>
      </p:sp>
      <p:sp>
        <p:nvSpPr>
          <p:cNvPr id="1024435541" name="Shape 13"/>
          <p:cNvSpPr/>
          <p:nvPr/>
        </p:nvSpPr>
        <p:spPr bwMode="auto">
          <a:xfrm>
            <a:off x="40690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121084579" name="Shape 14"/>
          <p:cNvSpPr/>
          <p:nvPr/>
        </p:nvSpPr>
        <p:spPr bwMode="auto">
          <a:xfrm>
            <a:off x="40690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327431974" name="Shape 15"/>
          <p:cNvSpPr/>
          <p:nvPr/>
        </p:nvSpPr>
        <p:spPr bwMode="auto">
          <a:xfrm>
            <a:off x="4069080" y="2742480"/>
            <a:ext cx="3249360" cy="46800"/>
          </a:xfrm>
          <a:prstGeom prst="rect">
            <a:avLst/>
          </a:prstGeom>
          <a:solidFill>
            <a:srgbClr val="6E7174"/>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2074229875" name="Shape 16"/>
          <p:cNvSpPr/>
          <p:nvPr/>
        </p:nvSpPr>
        <p:spPr bwMode="auto">
          <a:xfrm>
            <a:off x="40690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916620474" name="Shape 17"/>
          <p:cNvSpPr/>
          <p:nvPr/>
        </p:nvSpPr>
        <p:spPr bwMode="auto">
          <a:xfrm>
            <a:off x="73094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2029973947" name="Text 18"/>
          <p:cNvSpPr/>
          <p:nvPr/>
        </p:nvSpPr>
        <p:spPr bwMode="auto">
          <a:xfrm>
            <a:off x="432612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Energy</a:t>
            </a:r>
            <a:endParaRPr lang="en-US" sz="1900" b="0" u="none" strike="noStrike">
              <a:solidFill>
                <a:srgbClr val="000000"/>
              </a:solidFill>
              <a:latin typeface="Arial"/>
            </a:endParaRPr>
          </a:p>
        </p:txBody>
      </p:sp>
      <p:sp>
        <p:nvSpPr>
          <p:cNvPr id="1889710692" name="Text 19"/>
          <p:cNvSpPr/>
          <p:nvPr/>
        </p:nvSpPr>
        <p:spPr bwMode="auto">
          <a:xfrm>
            <a:off x="432612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エネルギー</a:t>
            </a:r>
            <a:endParaRPr lang="en-US" sz="1300" b="0" u="none" strike="noStrike">
              <a:solidFill>
                <a:srgbClr val="000000"/>
              </a:solidFill>
              <a:latin typeface="Arial"/>
            </a:endParaRPr>
          </a:p>
        </p:txBody>
      </p:sp>
      <p:sp>
        <p:nvSpPr>
          <p:cNvPr id="1629185651" name="Text 20"/>
          <p:cNvSpPr/>
          <p:nvPr/>
        </p:nvSpPr>
        <p:spPr bwMode="auto">
          <a:xfrm>
            <a:off x="43261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4A4A4A"/>
                </a:solidFill>
                <a:latin typeface="Open Sans"/>
                <a:ea typeface="Open Sans"/>
              </a:rPr>
              <a:t>Self-supply and an end to exported cash.</a:t>
            </a:r>
            <a:endParaRPr lang="en-US" sz="1500" b="0" u="none" strike="noStrike">
              <a:solidFill>
                <a:srgbClr val="000000"/>
              </a:solidFill>
              <a:latin typeface="Arial"/>
            </a:endParaRPr>
          </a:p>
        </p:txBody>
      </p:sp>
      <p:sp>
        <p:nvSpPr>
          <p:cNvPr id="462755459" name="Shape 21"/>
          <p:cNvSpPr/>
          <p:nvPr/>
        </p:nvSpPr>
        <p:spPr bwMode="auto">
          <a:xfrm>
            <a:off x="75448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68872266" name="Shape 22"/>
          <p:cNvSpPr/>
          <p:nvPr/>
        </p:nvSpPr>
        <p:spPr bwMode="auto">
          <a:xfrm>
            <a:off x="752868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327309428" name="Shape 23"/>
          <p:cNvSpPr/>
          <p:nvPr/>
        </p:nvSpPr>
        <p:spPr bwMode="auto">
          <a:xfrm>
            <a:off x="7528680" y="2742480"/>
            <a:ext cx="3249360" cy="46800"/>
          </a:xfrm>
          <a:prstGeom prst="rect">
            <a:avLst/>
          </a:prstGeom>
          <a:solidFill>
            <a:srgbClr val="2E2E2E"/>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755801108" name="Shape 24"/>
          <p:cNvSpPr/>
          <p:nvPr/>
        </p:nvSpPr>
        <p:spPr bwMode="auto">
          <a:xfrm>
            <a:off x="75286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663092796" name="Shape 25"/>
          <p:cNvSpPr/>
          <p:nvPr/>
        </p:nvSpPr>
        <p:spPr bwMode="auto">
          <a:xfrm>
            <a:off x="1076904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311707149" name="Text 26"/>
          <p:cNvSpPr/>
          <p:nvPr/>
        </p:nvSpPr>
        <p:spPr bwMode="auto">
          <a:xfrm>
            <a:off x="778572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Econo</a:t>
            </a:r>
            <a:r>
              <a:rPr lang="en-US" sz="1900" b="1" u="none" strike="noStrike">
                <a:solidFill>
                  <a:srgbClr val="2E2E2E"/>
                </a:solidFill>
                <a:latin typeface="Sora"/>
                <a:ea typeface="Sora"/>
              </a:rPr>
              <a:t>mic</a:t>
            </a:r>
            <a:endParaRPr lang="en-US" sz="1900" b="0" u="none" strike="noStrike">
              <a:solidFill>
                <a:srgbClr val="000000"/>
              </a:solidFill>
              <a:latin typeface="Arial"/>
            </a:endParaRPr>
          </a:p>
        </p:txBody>
      </p:sp>
      <p:sp>
        <p:nvSpPr>
          <p:cNvPr id="358002781" name="Text 27"/>
          <p:cNvSpPr/>
          <p:nvPr/>
        </p:nvSpPr>
        <p:spPr bwMode="auto">
          <a:xfrm>
            <a:off x="778572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経済</a:t>
            </a:r>
            <a:endParaRPr lang="en-US" sz="1300" b="0" u="none" strike="noStrike">
              <a:solidFill>
                <a:srgbClr val="000000"/>
              </a:solidFill>
              <a:latin typeface="Arial"/>
            </a:endParaRPr>
          </a:p>
        </p:txBody>
      </p:sp>
      <p:sp>
        <p:nvSpPr>
          <p:cNvPr id="730895209" name="Text 28"/>
          <p:cNvSpPr/>
          <p:nvPr/>
        </p:nvSpPr>
        <p:spPr bwMode="auto">
          <a:xfrm>
            <a:off x="77857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4A4A4A"/>
                </a:solidFill>
                <a:latin typeface="Open Sans"/>
                <a:ea typeface="Open Sans"/>
              </a:rPr>
              <a:t>Jobs in forestry, operations and hosting.</a:t>
            </a:r>
            <a:endParaRPr lang="en-US" sz="1500" b="0" u="none" strike="noStrike">
              <a:solidFill>
                <a:srgbClr val="000000"/>
              </a:solidFill>
              <a:latin typeface="Arial"/>
            </a:endParaRPr>
          </a:p>
        </p:txBody>
      </p:sp>
      <p:sp>
        <p:nvSpPr>
          <p:cNvPr id="706766043" name="Shape 29"/>
          <p:cNvSpPr/>
          <p:nvPr/>
        </p:nvSpPr>
        <p:spPr bwMode="auto">
          <a:xfrm>
            <a:off x="11004480" y="2742480"/>
            <a:ext cx="3249360" cy="6858000"/>
          </a:xfrm>
          <a:prstGeom prst="rect">
            <a:avLst/>
          </a:prstGeom>
          <a:solidFill>
            <a:srgbClr val="FFFFF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935837780" name="Shape 30"/>
          <p:cNvSpPr/>
          <p:nvPr/>
        </p:nvSpPr>
        <p:spPr bwMode="auto">
          <a:xfrm>
            <a:off x="10987920" y="9591840"/>
            <a:ext cx="32493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224864122" name="Shape 31"/>
          <p:cNvSpPr/>
          <p:nvPr/>
        </p:nvSpPr>
        <p:spPr bwMode="auto">
          <a:xfrm>
            <a:off x="10987920" y="2742480"/>
            <a:ext cx="3249360" cy="46800"/>
          </a:xfrm>
          <a:prstGeom prst="rect">
            <a:avLst/>
          </a:prstGeom>
          <a:solidFill>
            <a:srgbClr val="6E7174"/>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700554311" name="Shape 32"/>
          <p:cNvSpPr/>
          <p:nvPr/>
        </p:nvSpPr>
        <p:spPr bwMode="auto">
          <a:xfrm>
            <a:off x="1098792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799489551" name="Shape 33"/>
          <p:cNvSpPr/>
          <p:nvPr/>
        </p:nvSpPr>
        <p:spPr bwMode="auto">
          <a:xfrm>
            <a:off x="14228280" y="2742480"/>
            <a:ext cx="8640" cy="6858000"/>
          </a:xfrm>
          <a:prstGeom prst="rect">
            <a:avLst/>
          </a:prstGeom>
          <a:solidFill>
            <a:srgbClr val="E6E6E2"/>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494952497" name="Text 34"/>
          <p:cNvSpPr/>
          <p:nvPr/>
        </p:nvSpPr>
        <p:spPr bwMode="auto">
          <a:xfrm>
            <a:off x="1124532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2E2E2E"/>
                </a:solidFill>
                <a:latin typeface="Sora"/>
                <a:ea typeface="Sora"/>
              </a:rPr>
              <a:t>Digital</a:t>
            </a:r>
            <a:endParaRPr lang="en-US" sz="1900" b="0" u="none" strike="noStrike">
              <a:solidFill>
                <a:srgbClr val="000000"/>
              </a:solidFill>
              <a:latin typeface="Arial"/>
            </a:endParaRPr>
          </a:p>
        </p:txBody>
      </p:sp>
      <p:sp>
        <p:nvSpPr>
          <p:cNvPr id="549820929" name="Text 35"/>
          <p:cNvSpPr/>
          <p:nvPr/>
        </p:nvSpPr>
        <p:spPr bwMode="auto">
          <a:xfrm>
            <a:off x="1124532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9B9DA0"/>
                </a:solidFill>
                <a:latin typeface="Noto Sans JP"/>
                <a:ea typeface="Noto Sans JP"/>
              </a:rPr>
              <a:t>デジタル</a:t>
            </a:r>
            <a:endParaRPr lang="en-US" sz="1300" b="0" u="none" strike="noStrike">
              <a:solidFill>
                <a:srgbClr val="000000"/>
              </a:solidFill>
              <a:latin typeface="Arial"/>
            </a:endParaRPr>
          </a:p>
        </p:txBody>
      </p:sp>
      <p:sp>
        <p:nvSpPr>
          <p:cNvPr id="1331006028" name="Text 36"/>
          <p:cNvSpPr/>
          <p:nvPr/>
        </p:nvSpPr>
        <p:spPr bwMode="auto">
          <a:xfrm>
            <a:off x="11245320" y="873432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4A4A4A"/>
                </a:solidFill>
                <a:latin typeface="Open Sans"/>
                <a:ea typeface="Open Sans"/>
              </a:rPr>
              <a:t>Edge compute &amp; connectivity for rural Japan.</a:t>
            </a:r>
            <a:endParaRPr lang="en-US" sz="1500" b="0" u="none" strike="noStrike">
              <a:solidFill>
                <a:srgbClr val="000000"/>
              </a:solidFill>
              <a:latin typeface="Arial"/>
            </a:endParaRPr>
          </a:p>
        </p:txBody>
      </p:sp>
      <p:sp>
        <p:nvSpPr>
          <p:cNvPr id="1023595138" name="Shape 37"/>
          <p:cNvSpPr/>
          <p:nvPr/>
        </p:nvSpPr>
        <p:spPr bwMode="auto">
          <a:xfrm>
            <a:off x="14447520" y="2732760"/>
            <a:ext cx="3230280" cy="685800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61516946" name="Shape 38"/>
          <p:cNvSpPr/>
          <p:nvPr/>
        </p:nvSpPr>
        <p:spPr bwMode="auto">
          <a:xfrm>
            <a:off x="14447520" y="2742480"/>
            <a:ext cx="323028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317289498" name="Text 39"/>
          <p:cNvSpPr/>
          <p:nvPr/>
        </p:nvSpPr>
        <p:spPr bwMode="auto">
          <a:xfrm>
            <a:off x="14695200" y="3094920"/>
            <a:ext cx="3008519"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900" b="1" u="none" strike="noStrike">
                <a:solidFill>
                  <a:srgbClr val="F4B872"/>
                </a:solidFill>
                <a:latin typeface="Sora"/>
                <a:ea typeface="Sora"/>
              </a:rPr>
              <a:t>Knowledge</a:t>
            </a:r>
            <a:endParaRPr lang="en-US" sz="1900" b="0" u="none" strike="noStrike">
              <a:solidFill>
                <a:srgbClr val="000000"/>
              </a:solidFill>
              <a:latin typeface="Arial"/>
            </a:endParaRPr>
          </a:p>
        </p:txBody>
      </p:sp>
      <p:sp>
        <p:nvSpPr>
          <p:cNvPr id="284599198" name="Text 40"/>
          <p:cNvSpPr/>
          <p:nvPr/>
        </p:nvSpPr>
        <p:spPr bwMode="auto">
          <a:xfrm>
            <a:off x="14695200" y="3437640"/>
            <a:ext cx="3008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300" b="1" u="none" strike="noStrike">
                <a:solidFill>
                  <a:srgbClr val="E58520"/>
                </a:solidFill>
                <a:latin typeface="Noto Sans JP"/>
                <a:ea typeface="Noto Sans JP"/>
              </a:rPr>
              <a:t>知識（公開）</a:t>
            </a:r>
            <a:endParaRPr lang="en-US" sz="1300" b="0" u="none" strike="noStrike">
              <a:solidFill>
                <a:srgbClr val="000000"/>
              </a:solidFill>
              <a:latin typeface="Arial"/>
            </a:endParaRPr>
          </a:p>
        </p:txBody>
      </p:sp>
      <p:sp>
        <p:nvSpPr>
          <p:cNvPr id="1408229215" name="Text 41"/>
          <p:cNvSpPr/>
          <p:nvPr/>
        </p:nvSpPr>
        <p:spPr bwMode="auto">
          <a:xfrm>
            <a:off x="14695200" y="8744040"/>
            <a:ext cx="2817000" cy="5896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5000"/>
              </a:lnSpc>
              <a:tabLst>
                <a:tab pos="0" algn="l"/>
              </a:tabLst>
              <a:defRPr/>
            </a:pPr>
            <a:r>
              <a:rPr lang="en-US" sz="1500" b="0" u="none" strike="noStrike">
                <a:solidFill>
                  <a:srgbClr val="E3E4E2"/>
                </a:solidFill>
                <a:latin typeface="Open Sans"/>
                <a:ea typeface="Open Sans"/>
              </a:rPr>
              <a:t>Open-licensed — the multiplier other villages copy.</a:t>
            </a:r>
            <a:endParaRPr lang="en-US" sz="1500" b="0" u="none" strike="noStrike">
              <a:solidFill>
                <a:srgbClr val="000000"/>
              </a:solidFill>
              <a:latin typeface="Arial"/>
            </a:endParaRPr>
          </a:p>
        </p:txBody>
      </p:sp>
      <p:pic>
        <p:nvPicPr>
          <p:cNvPr id="537771343" name=""/>
          <p:cNvPicPr/>
          <p:nvPr/>
        </p:nvPicPr>
        <p:blipFill rotWithShape="1">
          <a:blip r:embed="rId3"/>
          <a:srcRect l="0" t="0" r="38482" b="0"/>
          <a:stretch/>
        </p:blipFill>
        <p:spPr bwMode="auto">
          <a:xfrm flipH="0" flipV="0">
            <a:off x="4326120" y="3881160"/>
            <a:ext cx="2641680" cy="3107160"/>
          </a:xfrm>
          <a:prstGeom prst="rect">
            <a:avLst/>
          </a:prstGeom>
          <a:noFill/>
          <a:ln w="0">
            <a:noFill/>
          </a:ln>
        </p:spPr>
      </p:pic>
      <p:pic>
        <p:nvPicPr>
          <p:cNvPr id="306267134" name=""/>
          <p:cNvPicPr/>
          <p:nvPr/>
        </p:nvPicPr>
        <p:blipFill rotWithShape="1">
          <a:blip r:embed="rId4"/>
          <a:srcRect l="37531" t="0" r="-13704" b="0"/>
          <a:stretch/>
        </p:blipFill>
        <p:spPr bwMode="auto">
          <a:xfrm flipH="0" flipV="0">
            <a:off x="866878" y="3881160"/>
            <a:ext cx="3459240" cy="3107160"/>
          </a:xfrm>
          <a:prstGeom prst="rect">
            <a:avLst/>
          </a:prstGeom>
          <a:noFill/>
          <a:ln w="0">
            <a:noFill/>
          </a:ln>
        </p:spPr>
      </p:pic>
      <p:pic>
        <p:nvPicPr>
          <p:cNvPr id="1261059311" name=""/>
          <p:cNvPicPr/>
          <p:nvPr/>
        </p:nvPicPr>
        <p:blipFill rotWithShape="1">
          <a:blip r:embed="rId5"/>
          <a:srcRect l="24646" t="0" r="18730" b="0"/>
          <a:stretch/>
        </p:blipFill>
        <p:spPr bwMode="auto">
          <a:xfrm>
            <a:off x="7715160" y="3881160"/>
            <a:ext cx="2856600" cy="3107160"/>
          </a:xfrm>
          <a:prstGeom prst="rect">
            <a:avLst/>
          </a:prstGeom>
          <a:noFill/>
          <a:ln w="0">
            <a:noFill/>
          </a:ln>
        </p:spPr>
      </p:pic>
      <p:pic>
        <p:nvPicPr>
          <p:cNvPr id="1471136385" name=""/>
          <p:cNvPicPr/>
          <p:nvPr/>
        </p:nvPicPr>
        <p:blipFill rotWithShape="1">
          <a:blip r:embed="rId6"/>
          <a:stretch/>
        </p:blipFill>
        <p:spPr bwMode="auto">
          <a:xfrm flipH="0" flipV="0">
            <a:off x="11185199" y="3859920"/>
            <a:ext cx="2877120" cy="3128400"/>
          </a:xfrm>
          <a:prstGeom prst="rect">
            <a:avLst/>
          </a:prstGeom>
          <a:noFill/>
          <a:ln w="0">
            <a:noFill/>
          </a:ln>
        </p:spPr>
      </p:pic>
      <p:pic>
        <p:nvPicPr>
          <p:cNvPr id="1409935089" name=""/>
          <p:cNvPicPr/>
          <p:nvPr/>
        </p:nvPicPr>
        <p:blipFill rotWithShape="1">
          <a:blip r:embed="rId7"/>
          <a:stretch/>
        </p:blipFill>
        <p:spPr bwMode="auto">
          <a:xfrm flipH="0" flipV="0">
            <a:off x="14513051" y="3859920"/>
            <a:ext cx="3077268" cy="3128400"/>
          </a:xfrm>
          <a:prstGeom prst="rect">
            <a:avLst/>
          </a:prstGeom>
          <a:noFill/>
          <a:ln w="0">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76805875"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351200818"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005115203" name="Text 2"/>
          <p:cNvSpPr/>
          <p:nvPr/>
        </p:nvSpPr>
        <p:spPr bwMode="auto">
          <a:xfrm>
            <a:off x="1181160" y="800280"/>
            <a:ext cx="395316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PHASED EXECUTION · </a:t>
            </a:r>
            <a:r>
              <a:rPr lang="zh-CN" sz="1300" b="1" u="none" strike="noStrike" spc="204">
                <a:solidFill>
                  <a:srgbClr val="9B9DA0"/>
                </a:solidFill>
                <a:latin typeface="Open Sans"/>
                <a:ea typeface="Open Sans"/>
              </a:rPr>
              <a:t>段階的実行 </a:t>
            </a:r>
            <a:r>
              <a:rPr lang="en-US" sz="1300" b="1" u="none" strike="noStrike" spc="204">
                <a:solidFill>
                  <a:srgbClr val="9B9DA0"/>
                </a:solidFill>
                <a:latin typeface="Open Sans"/>
                <a:ea typeface="Open Sans"/>
              </a:rPr>
              <a:t>· 10</a:t>
            </a:r>
            <a:endParaRPr lang="en-US" sz="1300" b="0" u="none" strike="noStrike">
              <a:solidFill>
                <a:srgbClr val="000000"/>
              </a:solidFill>
              <a:latin typeface="Arial"/>
            </a:endParaRPr>
          </a:p>
        </p:txBody>
      </p:sp>
      <p:sp>
        <p:nvSpPr>
          <p:cNvPr id="415203603" name="Text 3"/>
          <p:cNvSpPr/>
          <p:nvPr/>
        </p:nvSpPr>
        <p:spPr bwMode="auto">
          <a:xfrm>
            <a:off x="609480" y="1228680"/>
            <a:ext cx="18775080" cy="626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defRPr/>
            </a:pPr>
            <a:r>
              <a:rPr lang="en-US" sz="4500" b="1" u="none" strike="noStrike" spc="-45">
                <a:solidFill>
                  <a:srgbClr val="2E2E2E"/>
                </a:solidFill>
                <a:latin typeface="Sora"/>
                <a:ea typeface="Sora"/>
              </a:rPr>
              <a:t>Five phases, gated by funding</a:t>
            </a:r>
            <a:endParaRPr lang="en-US" sz="4500" b="0" u="none" strike="noStrike">
              <a:solidFill>
                <a:srgbClr val="000000"/>
              </a:solidFill>
              <a:latin typeface="Arial"/>
            </a:endParaRPr>
          </a:p>
        </p:txBody>
      </p:sp>
      <p:sp>
        <p:nvSpPr>
          <p:cNvPr id="1410120534" name="Text 4"/>
          <p:cNvSpPr/>
          <p:nvPr/>
        </p:nvSpPr>
        <p:spPr bwMode="auto">
          <a:xfrm>
            <a:off x="609480" y="18936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資金ゲートで区切られた五段階 — 早すぎる拡大はしない。</a:t>
            </a:r>
            <a:endParaRPr lang="en-US" sz="1900" b="0" u="none" strike="noStrike">
              <a:solidFill>
                <a:srgbClr val="000000"/>
              </a:solidFill>
              <a:latin typeface="Arial"/>
            </a:endParaRPr>
          </a:p>
        </p:txBody>
      </p:sp>
      <p:sp>
        <p:nvSpPr>
          <p:cNvPr id="1358313132" name="Shape 5"/>
          <p:cNvSpPr/>
          <p:nvPr/>
        </p:nvSpPr>
        <p:spPr bwMode="auto">
          <a:xfrm>
            <a:off x="609480" y="4680720"/>
            <a:ext cx="2818800" cy="216396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646200988" name="Text 6"/>
          <p:cNvSpPr/>
          <p:nvPr/>
        </p:nvSpPr>
        <p:spPr bwMode="auto">
          <a:xfrm>
            <a:off x="81900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FFFFFF"/>
                </a:solidFill>
                <a:latin typeface="Sora"/>
                <a:ea typeface="Sora"/>
              </a:rPr>
              <a:t>Phase 0</a:t>
            </a:r>
            <a:endParaRPr lang="en-US" sz="1600" b="0" u="none" strike="noStrike">
              <a:solidFill>
                <a:srgbClr val="000000"/>
              </a:solidFill>
              <a:latin typeface="Arial"/>
            </a:endParaRPr>
          </a:p>
        </p:txBody>
      </p:sp>
      <p:sp>
        <p:nvSpPr>
          <p:cNvPr id="2026846263" name="Text 7"/>
          <p:cNvSpPr/>
          <p:nvPr/>
        </p:nvSpPr>
        <p:spPr bwMode="auto">
          <a:xfrm>
            <a:off x="81900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FCE6CC"/>
                </a:solidFill>
                <a:latin typeface="Open Sans"/>
                <a:ea typeface="Open Sans"/>
              </a:rPr>
              <a:t>Pre-foundation</a:t>
            </a:r>
            <a:endParaRPr lang="en-US" sz="1200" b="0" u="none" strike="noStrike">
              <a:solidFill>
                <a:srgbClr val="000000"/>
              </a:solidFill>
              <a:latin typeface="Arial"/>
            </a:endParaRPr>
          </a:p>
        </p:txBody>
      </p:sp>
      <p:sp>
        <p:nvSpPr>
          <p:cNvPr id="243415596" name="Text 8"/>
          <p:cNvSpPr/>
          <p:nvPr/>
        </p:nvSpPr>
        <p:spPr bwMode="auto">
          <a:xfrm>
            <a:off x="81900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FBE6CC"/>
                </a:solidFill>
                <a:latin typeface="Open Sans"/>
                <a:ea typeface="Open Sans"/>
              </a:rPr>
              <a:t>Months 1–3</a:t>
            </a:r>
            <a:endParaRPr lang="en-US" sz="1150" b="0" u="none" strike="noStrike">
              <a:solidFill>
                <a:srgbClr val="000000"/>
              </a:solidFill>
              <a:latin typeface="Arial"/>
            </a:endParaRPr>
          </a:p>
        </p:txBody>
      </p:sp>
      <p:sp>
        <p:nvSpPr>
          <p:cNvPr id="873030498" name="Text 9"/>
          <p:cNvSpPr/>
          <p:nvPr/>
        </p:nvSpPr>
        <p:spPr bwMode="auto">
          <a:xfrm>
            <a:off x="81900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FFFFFF"/>
                </a:solidFill>
                <a:latin typeface="Open Sans"/>
                <a:ea typeface="Open Sans"/>
              </a:rPr>
              <a:t>¥0–0.5M</a:t>
            </a:r>
            <a:endParaRPr lang="en-US" sz="1350" b="0" u="none" strike="noStrike">
              <a:solidFill>
                <a:srgbClr val="000000"/>
              </a:solidFill>
              <a:latin typeface="Arial"/>
            </a:endParaRPr>
          </a:p>
        </p:txBody>
      </p:sp>
      <p:sp>
        <p:nvSpPr>
          <p:cNvPr id="903229543" name="Text 10"/>
          <p:cNvSpPr/>
          <p:nvPr/>
        </p:nvSpPr>
        <p:spPr bwMode="auto">
          <a:xfrm>
            <a:off x="81900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FBE6CC"/>
                </a:solidFill>
                <a:latin typeface="Open Sans"/>
                <a:ea typeface="Open Sans"/>
              </a:rPr>
              <a:t>Trust, founding team, charter</a:t>
            </a:r>
            <a:endParaRPr lang="en-US" sz="1150" b="0" u="none" strike="noStrike">
              <a:solidFill>
                <a:srgbClr val="000000"/>
              </a:solidFill>
              <a:latin typeface="Arial"/>
            </a:endParaRPr>
          </a:p>
        </p:txBody>
      </p:sp>
      <p:sp>
        <p:nvSpPr>
          <p:cNvPr id="919125419" name="Shape 11"/>
          <p:cNvSpPr/>
          <p:nvPr/>
        </p:nvSpPr>
        <p:spPr bwMode="auto">
          <a:xfrm>
            <a:off x="819000" y="6330960"/>
            <a:ext cx="1332000" cy="266040"/>
          </a:xfrm>
          <a:prstGeom prst="rect">
            <a:avLst/>
          </a:prstGeom>
          <a:solidFill>
            <a:srgbClr val="FFFFFF">
              <a:alpha val="18000"/>
            </a:srgbClr>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59776959" name="Text 12"/>
          <p:cNvSpPr/>
          <p:nvPr/>
        </p:nvSpPr>
        <p:spPr bwMode="auto">
          <a:xfrm>
            <a:off x="895320" y="6378480"/>
            <a:ext cx="1256040" cy="20880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00000"/>
              </a:lnSpc>
              <a:tabLst>
                <a:tab pos="0" algn="l"/>
              </a:tabLst>
              <a:defRPr/>
            </a:pPr>
            <a:r>
              <a:rPr lang="en-US" sz="1000" b="1" u="none" strike="noStrike" spc="99">
                <a:solidFill>
                  <a:srgbClr val="FFFFFF"/>
                </a:solidFill>
                <a:latin typeface="Open Sans"/>
                <a:ea typeface="Open Sans"/>
              </a:rPr>
              <a:t>◀ YOU ARE HERE</a:t>
            </a:r>
            <a:endParaRPr lang="en-US" sz="1000" b="0" u="none" strike="noStrike">
              <a:solidFill>
                <a:srgbClr val="000000"/>
              </a:solidFill>
              <a:latin typeface="Arial"/>
            </a:endParaRPr>
          </a:p>
        </p:txBody>
      </p:sp>
      <p:sp>
        <p:nvSpPr>
          <p:cNvPr id="1885295054" name="Shape 13"/>
          <p:cNvSpPr/>
          <p:nvPr/>
        </p:nvSpPr>
        <p:spPr bwMode="auto">
          <a:xfrm>
            <a:off x="342900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651498758" name="Shape 14"/>
          <p:cNvSpPr/>
          <p:nvPr/>
        </p:nvSpPr>
        <p:spPr bwMode="auto">
          <a:xfrm>
            <a:off x="342900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548801161" name="Shape 15"/>
          <p:cNvSpPr/>
          <p:nvPr/>
        </p:nvSpPr>
        <p:spPr bwMode="auto">
          <a:xfrm>
            <a:off x="416232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125694850" name="Text 16"/>
          <p:cNvSpPr/>
          <p:nvPr/>
        </p:nvSpPr>
        <p:spPr bwMode="auto">
          <a:xfrm>
            <a:off x="3698280" y="5411880"/>
            <a:ext cx="27972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G1</a:t>
            </a:r>
            <a:endParaRPr lang="en-US" sz="1300" b="0" u="none" strike="noStrike">
              <a:solidFill>
                <a:srgbClr val="000000"/>
              </a:solidFill>
              <a:latin typeface="Arial"/>
            </a:endParaRPr>
          </a:p>
        </p:txBody>
      </p:sp>
      <p:sp>
        <p:nvSpPr>
          <p:cNvPr id="1225547984" name="Text 17"/>
          <p:cNvSpPr/>
          <p:nvPr/>
        </p:nvSpPr>
        <p:spPr bwMode="auto">
          <a:xfrm>
            <a:off x="3709800" y="5668920"/>
            <a:ext cx="256680" cy="48276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50" b="0" u="none" strike="noStrike" spc="51">
                <a:solidFill>
                  <a:srgbClr val="6E7174"/>
                </a:solidFill>
                <a:latin typeface="Open Sans"/>
                <a:ea typeface="Open Sans"/>
              </a:rPr>
              <a:t>¥3–8M</a:t>
            </a:r>
            <a:endParaRPr lang="en-US" sz="1050" b="0" u="none" strike="noStrike">
              <a:solidFill>
                <a:srgbClr val="000000"/>
              </a:solidFill>
              <a:latin typeface="Arial"/>
            </a:endParaRPr>
          </a:p>
        </p:txBody>
      </p:sp>
      <p:sp>
        <p:nvSpPr>
          <p:cNvPr id="669290428" name="Shape 18"/>
          <p:cNvSpPr/>
          <p:nvPr/>
        </p:nvSpPr>
        <p:spPr bwMode="auto">
          <a:xfrm>
            <a:off x="417204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746803327" name="Text 19"/>
          <p:cNvSpPr/>
          <p:nvPr/>
        </p:nvSpPr>
        <p:spPr bwMode="auto">
          <a:xfrm>
            <a:off x="438156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2E2E2E"/>
                </a:solidFill>
                <a:latin typeface="Sora"/>
                <a:ea typeface="Sora"/>
              </a:rPr>
              <a:t>Phase 1</a:t>
            </a:r>
            <a:endParaRPr lang="en-US" sz="1600" b="0" u="none" strike="noStrike">
              <a:solidFill>
                <a:srgbClr val="000000"/>
              </a:solidFill>
              <a:latin typeface="Arial"/>
            </a:endParaRPr>
          </a:p>
        </p:txBody>
      </p:sp>
      <p:sp>
        <p:nvSpPr>
          <p:cNvPr id="1480116970" name="Text 20"/>
          <p:cNvSpPr/>
          <p:nvPr/>
        </p:nvSpPr>
        <p:spPr bwMode="auto">
          <a:xfrm>
            <a:off x="438156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Foundation</a:t>
            </a:r>
            <a:endParaRPr lang="en-US" sz="1200" b="0" u="none" strike="noStrike">
              <a:solidFill>
                <a:srgbClr val="000000"/>
              </a:solidFill>
              <a:latin typeface="Arial"/>
            </a:endParaRPr>
          </a:p>
        </p:txBody>
      </p:sp>
      <p:sp>
        <p:nvSpPr>
          <p:cNvPr id="1226794383" name="Text 21"/>
          <p:cNvSpPr/>
          <p:nvPr/>
        </p:nvSpPr>
        <p:spPr bwMode="auto">
          <a:xfrm>
            <a:off x="438156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9B9DA0"/>
                </a:solidFill>
                <a:latin typeface="Open Sans"/>
                <a:ea typeface="Open Sans"/>
              </a:rPr>
              <a:t>Months 4–9</a:t>
            </a:r>
            <a:endParaRPr lang="en-US" sz="1150" b="0" u="none" strike="noStrike">
              <a:solidFill>
                <a:srgbClr val="000000"/>
              </a:solidFill>
              <a:latin typeface="Arial"/>
            </a:endParaRPr>
          </a:p>
        </p:txBody>
      </p:sp>
      <p:sp>
        <p:nvSpPr>
          <p:cNvPr id="2138519013" name="Text 22"/>
          <p:cNvSpPr/>
          <p:nvPr/>
        </p:nvSpPr>
        <p:spPr bwMode="auto">
          <a:xfrm>
            <a:off x="438156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2E2E2E"/>
                </a:solidFill>
                <a:latin typeface="Open Sans"/>
                <a:ea typeface="Open Sans"/>
              </a:rPr>
              <a:t>¥3–8M</a:t>
            </a:r>
            <a:endParaRPr lang="en-US" sz="1350" b="0" u="none" strike="noStrike">
              <a:solidFill>
                <a:srgbClr val="000000"/>
              </a:solidFill>
              <a:latin typeface="Arial"/>
            </a:endParaRPr>
          </a:p>
        </p:txBody>
      </p:sp>
      <p:sp>
        <p:nvSpPr>
          <p:cNvPr id="1187622235" name="Text 23"/>
          <p:cNvSpPr/>
          <p:nvPr/>
        </p:nvSpPr>
        <p:spPr bwMode="auto">
          <a:xfrm>
            <a:off x="438156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6E7174"/>
                </a:solidFill>
                <a:latin typeface="Open Sans"/>
                <a:ea typeface="Open Sans"/>
              </a:rPr>
              <a:t>Legal entity, feasibility, advisors</a:t>
            </a:r>
            <a:endParaRPr lang="en-US" sz="1150" b="0" u="none" strike="noStrike">
              <a:solidFill>
                <a:srgbClr val="000000"/>
              </a:solidFill>
              <a:latin typeface="Arial"/>
            </a:endParaRPr>
          </a:p>
        </p:txBody>
      </p:sp>
      <p:sp>
        <p:nvSpPr>
          <p:cNvPr id="1724286016" name="Shape 24"/>
          <p:cNvSpPr/>
          <p:nvPr/>
        </p:nvSpPr>
        <p:spPr bwMode="auto">
          <a:xfrm>
            <a:off x="699120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83744136" name="Shape 25"/>
          <p:cNvSpPr/>
          <p:nvPr/>
        </p:nvSpPr>
        <p:spPr bwMode="auto">
          <a:xfrm>
            <a:off x="699120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040589699" name="Shape 26"/>
          <p:cNvSpPr/>
          <p:nvPr/>
        </p:nvSpPr>
        <p:spPr bwMode="auto">
          <a:xfrm>
            <a:off x="772488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877146678" name="Text 27"/>
          <p:cNvSpPr/>
          <p:nvPr/>
        </p:nvSpPr>
        <p:spPr bwMode="auto">
          <a:xfrm>
            <a:off x="7243920" y="5329080"/>
            <a:ext cx="31284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G2</a:t>
            </a:r>
            <a:endParaRPr lang="en-US" sz="1300" b="0" u="none" strike="noStrike">
              <a:solidFill>
                <a:srgbClr val="000000"/>
              </a:solidFill>
              <a:latin typeface="Arial"/>
            </a:endParaRPr>
          </a:p>
        </p:txBody>
      </p:sp>
      <p:sp>
        <p:nvSpPr>
          <p:cNvPr id="1290794778" name="Text 28"/>
          <p:cNvSpPr/>
          <p:nvPr/>
        </p:nvSpPr>
        <p:spPr bwMode="auto">
          <a:xfrm>
            <a:off x="7272000" y="5586120"/>
            <a:ext cx="256680" cy="64836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50" b="0" u="none" strike="noStrike" spc="51">
                <a:solidFill>
                  <a:srgbClr val="6E7174"/>
                </a:solidFill>
                <a:latin typeface="Open Sans"/>
                <a:ea typeface="Open Sans"/>
              </a:rPr>
              <a:t>¥30–50M</a:t>
            </a:r>
            <a:endParaRPr lang="en-US" sz="1050" b="0" u="none" strike="noStrike">
              <a:solidFill>
                <a:srgbClr val="000000"/>
              </a:solidFill>
              <a:latin typeface="Arial"/>
            </a:endParaRPr>
          </a:p>
        </p:txBody>
      </p:sp>
      <p:sp>
        <p:nvSpPr>
          <p:cNvPr id="23147059" name="Shape 29"/>
          <p:cNvSpPr/>
          <p:nvPr/>
        </p:nvSpPr>
        <p:spPr bwMode="auto">
          <a:xfrm>
            <a:off x="773424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158074243" name="Text 30"/>
          <p:cNvSpPr/>
          <p:nvPr/>
        </p:nvSpPr>
        <p:spPr bwMode="auto">
          <a:xfrm>
            <a:off x="794376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2E2E2E"/>
                </a:solidFill>
                <a:latin typeface="Sora"/>
                <a:ea typeface="Sora"/>
              </a:rPr>
              <a:t>Phase 2</a:t>
            </a:r>
            <a:endParaRPr lang="en-US" sz="1600" b="0" u="none" strike="noStrike">
              <a:solidFill>
                <a:srgbClr val="000000"/>
              </a:solidFill>
              <a:latin typeface="Arial"/>
            </a:endParaRPr>
          </a:p>
        </p:txBody>
      </p:sp>
      <p:sp>
        <p:nvSpPr>
          <p:cNvPr id="384793306" name="Text 31"/>
          <p:cNvSpPr/>
          <p:nvPr/>
        </p:nvSpPr>
        <p:spPr bwMode="auto">
          <a:xfrm>
            <a:off x="794376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Pilot design</a:t>
            </a:r>
            <a:endParaRPr lang="en-US" sz="1200" b="0" u="none" strike="noStrike">
              <a:solidFill>
                <a:srgbClr val="000000"/>
              </a:solidFill>
              <a:latin typeface="Arial"/>
            </a:endParaRPr>
          </a:p>
        </p:txBody>
      </p:sp>
      <p:sp>
        <p:nvSpPr>
          <p:cNvPr id="537108936" name="Text 32"/>
          <p:cNvSpPr/>
          <p:nvPr/>
        </p:nvSpPr>
        <p:spPr bwMode="auto">
          <a:xfrm>
            <a:off x="794376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9B9DA0"/>
                </a:solidFill>
                <a:latin typeface="Open Sans"/>
                <a:ea typeface="Open Sans"/>
              </a:rPr>
              <a:t>Months 10–18</a:t>
            </a:r>
            <a:endParaRPr lang="en-US" sz="1150" b="0" u="none" strike="noStrike">
              <a:solidFill>
                <a:srgbClr val="000000"/>
              </a:solidFill>
              <a:latin typeface="Arial"/>
            </a:endParaRPr>
          </a:p>
        </p:txBody>
      </p:sp>
      <p:sp>
        <p:nvSpPr>
          <p:cNvPr id="1192766845" name="Text 33"/>
          <p:cNvSpPr/>
          <p:nvPr/>
        </p:nvSpPr>
        <p:spPr bwMode="auto">
          <a:xfrm>
            <a:off x="794376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2E2E2E"/>
                </a:solidFill>
                <a:latin typeface="Open Sans"/>
                <a:ea typeface="Open Sans"/>
              </a:rPr>
              <a:t>¥15–30M</a:t>
            </a:r>
            <a:endParaRPr lang="en-US" sz="1350" b="0" u="none" strike="noStrike">
              <a:solidFill>
                <a:srgbClr val="000000"/>
              </a:solidFill>
              <a:latin typeface="Arial"/>
            </a:endParaRPr>
          </a:p>
        </p:txBody>
      </p:sp>
      <p:sp>
        <p:nvSpPr>
          <p:cNvPr id="1088344904" name="Text 34"/>
          <p:cNvSpPr/>
          <p:nvPr/>
        </p:nvSpPr>
        <p:spPr bwMode="auto">
          <a:xfrm>
            <a:off x="794376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6E7174"/>
                </a:solidFill>
                <a:latin typeface="Open Sans"/>
                <a:ea typeface="Open Sans"/>
              </a:rPr>
              <a:t>Engineering, partners, permits</a:t>
            </a:r>
            <a:endParaRPr lang="en-US" sz="1150" b="0" u="none" strike="noStrike">
              <a:solidFill>
                <a:srgbClr val="000000"/>
              </a:solidFill>
              <a:latin typeface="Arial"/>
            </a:endParaRPr>
          </a:p>
        </p:txBody>
      </p:sp>
      <p:sp>
        <p:nvSpPr>
          <p:cNvPr id="1086424306" name="Shape 35"/>
          <p:cNvSpPr/>
          <p:nvPr/>
        </p:nvSpPr>
        <p:spPr bwMode="auto">
          <a:xfrm>
            <a:off x="1055376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626860812" name="Shape 36"/>
          <p:cNvSpPr/>
          <p:nvPr/>
        </p:nvSpPr>
        <p:spPr bwMode="auto">
          <a:xfrm>
            <a:off x="1055376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299676612" name="Shape 37"/>
          <p:cNvSpPr/>
          <p:nvPr/>
        </p:nvSpPr>
        <p:spPr bwMode="auto">
          <a:xfrm>
            <a:off x="11287079"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1663747960" name="Text 38"/>
          <p:cNvSpPr/>
          <p:nvPr/>
        </p:nvSpPr>
        <p:spPr bwMode="auto">
          <a:xfrm>
            <a:off x="10806480" y="5287320"/>
            <a:ext cx="31284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G3</a:t>
            </a:r>
            <a:endParaRPr lang="en-US" sz="1300" b="0" u="none" strike="noStrike">
              <a:solidFill>
                <a:srgbClr val="000000"/>
              </a:solidFill>
              <a:latin typeface="Arial"/>
            </a:endParaRPr>
          </a:p>
        </p:txBody>
      </p:sp>
      <p:sp>
        <p:nvSpPr>
          <p:cNvPr id="1644475586" name="Text 39"/>
          <p:cNvSpPr/>
          <p:nvPr/>
        </p:nvSpPr>
        <p:spPr bwMode="auto">
          <a:xfrm>
            <a:off x="10834560" y="5544720"/>
            <a:ext cx="256680" cy="73116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50" b="0" u="none" strike="noStrike" spc="51">
                <a:solidFill>
                  <a:srgbClr val="6E7174"/>
                </a:solidFill>
                <a:latin typeface="Open Sans"/>
                <a:ea typeface="Open Sans"/>
              </a:rPr>
              <a:t>¥80–200M</a:t>
            </a:r>
            <a:endParaRPr lang="en-US" sz="1050" b="0" u="none" strike="noStrike">
              <a:solidFill>
                <a:srgbClr val="000000"/>
              </a:solidFill>
              <a:latin typeface="Arial"/>
            </a:endParaRPr>
          </a:p>
        </p:txBody>
      </p:sp>
      <p:sp>
        <p:nvSpPr>
          <p:cNvPr id="561731608" name="Shape 40"/>
          <p:cNvSpPr/>
          <p:nvPr/>
        </p:nvSpPr>
        <p:spPr bwMode="auto">
          <a:xfrm>
            <a:off x="11296800" y="4680720"/>
            <a:ext cx="281880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568808742" name="Text 41"/>
          <p:cNvSpPr/>
          <p:nvPr/>
        </p:nvSpPr>
        <p:spPr bwMode="auto">
          <a:xfrm>
            <a:off x="1150632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2E2E2E"/>
                </a:solidFill>
                <a:latin typeface="Sora"/>
                <a:ea typeface="Sora"/>
              </a:rPr>
              <a:t>Phase 3</a:t>
            </a:r>
            <a:endParaRPr lang="en-US" sz="1600" b="0" u="none" strike="noStrike">
              <a:solidFill>
                <a:srgbClr val="000000"/>
              </a:solidFill>
              <a:latin typeface="Arial"/>
            </a:endParaRPr>
          </a:p>
        </p:txBody>
      </p:sp>
      <p:sp>
        <p:nvSpPr>
          <p:cNvPr id="140605421" name="Text 42"/>
          <p:cNvSpPr/>
          <p:nvPr/>
        </p:nvSpPr>
        <p:spPr bwMode="auto">
          <a:xfrm>
            <a:off x="1150632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Pilot build</a:t>
            </a:r>
            <a:endParaRPr lang="en-US" sz="1200" b="0" u="none" strike="noStrike">
              <a:solidFill>
                <a:srgbClr val="000000"/>
              </a:solidFill>
              <a:latin typeface="Arial"/>
            </a:endParaRPr>
          </a:p>
        </p:txBody>
      </p:sp>
      <p:sp>
        <p:nvSpPr>
          <p:cNvPr id="1299539828" name="Text 43"/>
          <p:cNvSpPr/>
          <p:nvPr/>
        </p:nvSpPr>
        <p:spPr bwMode="auto">
          <a:xfrm>
            <a:off x="1150632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9B9DA0"/>
                </a:solidFill>
                <a:latin typeface="Open Sans"/>
                <a:ea typeface="Open Sans"/>
              </a:rPr>
              <a:t>Months 19–30</a:t>
            </a:r>
            <a:endParaRPr lang="en-US" sz="1150" b="0" u="none" strike="noStrike">
              <a:solidFill>
                <a:srgbClr val="000000"/>
              </a:solidFill>
              <a:latin typeface="Arial"/>
            </a:endParaRPr>
          </a:p>
        </p:txBody>
      </p:sp>
      <p:sp>
        <p:nvSpPr>
          <p:cNvPr id="938071363" name="Text 44"/>
          <p:cNvSpPr/>
          <p:nvPr/>
        </p:nvSpPr>
        <p:spPr bwMode="auto">
          <a:xfrm>
            <a:off x="1150632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2E2E2E"/>
                </a:solidFill>
                <a:latin typeface="Open Sans"/>
                <a:ea typeface="Open Sans"/>
              </a:rPr>
              <a:t>¥80–200M</a:t>
            </a:r>
            <a:endParaRPr lang="en-US" sz="1350" b="0" u="none" strike="noStrike">
              <a:solidFill>
                <a:srgbClr val="000000"/>
              </a:solidFill>
              <a:latin typeface="Arial"/>
            </a:endParaRPr>
          </a:p>
        </p:txBody>
      </p:sp>
      <p:sp>
        <p:nvSpPr>
          <p:cNvPr id="718489372" name="Text 45"/>
          <p:cNvSpPr/>
          <p:nvPr/>
        </p:nvSpPr>
        <p:spPr bwMode="auto">
          <a:xfrm>
            <a:off x="1150632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6E7174"/>
                </a:solidFill>
                <a:latin typeface="Open Sans"/>
                <a:ea typeface="Open Sans"/>
              </a:rPr>
              <a:t>First-stage build, commissioning</a:t>
            </a:r>
            <a:endParaRPr lang="en-US" sz="1150" b="0" u="none" strike="noStrike">
              <a:solidFill>
                <a:srgbClr val="000000"/>
              </a:solidFill>
              <a:latin typeface="Arial"/>
            </a:endParaRPr>
          </a:p>
        </p:txBody>
      </p:sp>
      <p:sp>
        <p:nvSpPr>
          <p:cNvPr id="2003864385" name="Shape 46"/>
          <p:cNvSpPr/>
          <p:nvPr/>
        </p:nvSpPr>
        <p:spPr bwMode="auto">
          <a:xfrm>
            <a:off x="14115960" y="4680720"/>
            <a:ext cx="742320" cy="216396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2050665400" name="Shape 47"/>
          <p:cNvSpPr/>
          <p:nvPr/>
        </p:nvSpPr>
        <p:spPr bwMode="auto">
          <a:xfrm>
            <a:off x="1411596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2083015358" name="Shape 48"/>
          <p:cNvSpPr/>
          <p:nvPr/>
        </p:nvSpPr>
        <p:spPr bwMode="auto">
          <a:xfrm>
            <a:off x="14849640" y="4680720"/>
            <a:ext cx="8640" cy="2163960"/>
          </a:xfrm>
          <a:prstGeom prst="rect">
            <a:avLst/>
          </a:prstGeom>
          <a:solidFill>
            <a:srgbClr val="C9CBCD"/>
          </a:solidFill>
          <a:ln w="0">
            <a:noFill/>
          </a:ln>
        </p:spPr>
        <p:style>
          <a:lnRef idx="0"/>
          <a:fillRef idx="0"/>
          <a:effectRef idx="0"/>
          <a:fontRef idx="minor"/>
        </p:style>
        <p:txBody>
          <a:bodyPr lIns="4320" tIns="45000" rIns="4320" bIns="45000" anchor="t">
            <a:noAutofit/>
          </a:bodyPr>
          <a:p>
            <a:pPr>
              <a:defRPr/>
            </a:pPr>
            <a:endParaRPr lang="en-US" sz="1800" b="0" u="none" strike="noStrike">
              <a:solidFill>
                <a:srgbClr val="000000"/>
              </a:solidFill>
              <a:latin typeface="Arial"/>
            </a:endParaRPr>
          </a:p>
        </p:txBody>
      </p:sp>
      <p:sp>
        <p:nvSpPr>
          <p:cNvPr id="2058054675" name="Text 49"/>
          <p:cNvSpPr/>
          <p:nvPr/>
        </p:nvSpPr>
        <p:spPr bwMode="auto">
          <a:xfrm>
            <a:off x="14365440" y="5365080"/>
            <a:ext cx="319320" cy="2372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300" b="1" u="none" strike="noStrike">
                <a:solidFill>
                  <a:srgbClr val="2E2E2E"/>
                </a:solidFill>
                <a:latin typeface="Sora"/>
                <a:ea typeface="Sora"/>
              </a:rPr>
              <a:t>G4</a:t>
            </a:r>
            <a:endParaRPr lang="en-US" sz="1300" b="0" u="none" strike="noStrike">
              <a:solidFill>
                <a:srgbClr val="000000"/>
              </a:solidFill>
              <a:latin typeface="Arial"/>
            </a:endParaRPr>
          </a:p>
        </p:txBody>
      </p:sp>
      <p:sp>
        <p:nvSpPr>
          <p:cNvPr id="1963837409" name="Text 50"/>
          <p:cNvSpPr/>
          <p:nvPr/>
        </p:nvSpPr>
        <p:spPr bwMode="auto">
          <a:xfrm>
            <a:off x="14401800" y="5622120"/>
            <a:ext cx="246960" cy="576000"/>
          </a:xfrm>
          <a:prstGeom prst="rect">
            <a:avLst/>
          </a:prstGeom>
          <a:noFill/>
          <a:ln w="0">
            <a:noFill/>
          </a:ln>
        </p:spPr>
        <p:style>
          <a:lnRef idx="0"/>
          <a:fillRef idx="0"/>
          <a:effectRef idx="0"/>
          <a:fontRef idx="minor"/>
        </p:style>
        <p:txBody>
          <a:bodyPr vert="eaVert" lIns="25560" tIns="25560" rIns="25560" bIns="25560" anchor="t">
            <a:normAutofit/>
          </a:bodyPr>
          <a:p>
            <a:pPr defTabSz="914400">
              <a:lnSpc>
                <a:spcPct val="100000"/>
              </a:lnSpc>
              <a:tabLst>
                <a:tab pos="0" algn="l"/>
              </a:tabLst>
              <a:defRPr/>
            </a:pPr>
            <a:r>
              <a:rPr lang="en-US" sz="1000" b="0" u="none" strike="noStrike" spc="47">
                <a:solidFill>
                  <a:srgbClr val="6E7174"/>
                </a:solidFill>
                <a:latin typeface="Open Sans"/>
                <a:ea typeface="Open Sans"/>
              </a:rPr>
              <a:t>Revenue</a:t>
            </a:r>
            <a:endParaRPr lang="en-US" sz="1000" b="0" u="none" strike="noStrike">
              <a:solidFill>
                <a:srgbClr val="000000"/>
              </a:solidFill>
              <a:latin typeface="Arial"/>
            </a:endParaRPr>
          </a:p>
        </p:txBody>
      </p:sp>
      <p:sp>
        <p:nvSpPr>
          <p:cNvPr id="1272508304" name="Shape 51"/>
          <p:cNvSpPr/>
          <p:nvPr/>
        </p:nvSpPr>
        <p:spPr bwMode="auto">
          <a:xfrm>
            <a:off x="14859000" y="4680720"/>
            <a:ext cx="2818800" cy="2163960"/>
          </a:xfrm>
          <a:prstGeom prst="rect">
            <a:avLst/>
          </a:prstGeom>
          <a:solidFill>
            <a:srgbClr val="2E2E2E"/>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62018307" name="Text 52"/>
          <p:cNvSpPr/>
          <p:nvPr/>
        </p:nvSpPr>
        <p:spPr bwMode="auto">
          <a:xfrm>
            <a:off x="15068520" y="4928400"/>
            <a:ext cx="2639519" cy="28512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600" b="1" u="none" strike="noStrike">
                <a:solidFill>
                  <a:srgbClr val="FFFFFF"/>
                </a:solidFill>
                <a:latin typeface="Sora"/>
                <a:ea typeface="Sora"/>
              </a:rPr>
              <a:t>Phase 4</a:t>
            </a:r>
            <a:endParaRPr lang="en-US" sz="1600" b="0" u="none" strike="noStrike">
              <a:solidFill>
                <a:srgbClr val="000000"/>
              </a:solidFill>
              <a:latin typeface="Arial"/>
            </a:endParaRPr>
          </a:p>
        </p:txBody>
      </p:sp>
      <p:sp>
        <p:nvSpPr>
          <p:cNvPr id="407022391" name="Text 53"/>
          <p:cNvSpPr/>
          <p:nvPr/>
        </p:nvSpPr>
        <p:spPr bwMode="auto">
          <a:xfrm>
            <a:off x="15068520" y="5195160"/>
            <a:ext cx="263951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C7C9CB"/>
                </a:solidFill>
                <a:latin typeface="Open Sans"/>
                <a:ea typeface="Open Sans"/>
              </a:rPr>
              <a:t>Operate &amp; scale</a:t>
            </a:r>
            <a:endParaRPr lang="en-US" sz="1200" b="0" u="none" strike="noStrike">
              <a:solidFill>
                <a:srgbClr val="000000"/>
              </a:solidFill>
              <a:latin typeface="Arial"/>
            </a:endParaRPr>
          </a:p>
        </p:txBody>
      </p:sp>
      <p:sp>
        <p:nvSpPr>
          <p:cNvPr id="79533439" name="Text 54"/>
          <p:cNvSpPr/>
          <p:nvPr/>
        </p:nvSpPr>
        <p:spPr bwMode="auto">
          <a:xfrm>
            <a:off x="15068520" y="5537880"/>
            <a:ext cx="2639519"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C7C9CB"/>
                </a:solidFill>
                <a:latin typeface="Open Sans"/>
                <a:ea typeface="Open Sans"/>
              </a:rPr>
              <a:t>Months 31+</a:t>
            </a:r>
            <a:endParaRPr lang="en-US" sz="1150" b="0" u="none" strike="noStrike">
              <a:solidFill>
                <a:srgbClr val="000000"/>
              </a:solidFill>
              <a:latin typeface="Arial"/>
            </a:endParaRPr>
          </a:p>
        </p:txBody>
      </p:sp>
      <p:sp>
        <p:nvSpPr>
          <p:cNvPr id="622469940" name="Text 55"/>
          <p:cNvSpPr/>
          <p:nvPr/>
        </p:nvSpPr>
        <p:spPr bwMode="auto">
          <a:xfrm>
            <a:off x="15068520" y="5785560"/>
            <a:ext cx="2639519"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FFFFFF"/>
                </a:solidFill>
                <a:latin typeface="Open Sans"/>
                <a:ea typeface="Open Sans"/>
              </a:rPr>
              <a:t>Variable</a:t>
            </a:r>
            <a:endParaRPr lang="en-US" sz="1350" b="0" u="none" strike="noStrike">
              <a:solidFill>
                <a:srgbClr val="000000"/>
              </a:solidFill>
              <a:latin typeface="Arial"/>
            </a:endParaRPr>
          </a:p>
        </p:txBody>
      </p:sp>
      <p:sp>
        <p:nvSpPr>
          <p:cNvPr id="994827257" name="Text 56"/>
          <p:cNvSpPr/>
          <p:nvPr/>
        </p:nvSpPr>
        <p:spPr bwMode="auto">
          <a:xfrm>
            <a:off x="15068520" y="6138000"/>
            <a:ext cx="2639519" cy="23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35000"/>
              </a:lnSpc>
              <a:tabLst>
                <a:tab pos="0" algn="l"/>
              </a:tabLst>
              <a:defRPr/>
            </a:pPr>
            <a:r>
              <a:rPr lang="en-US" sz="1150" b="0" u="none" strike="noStrike">
                <a:solidFill>
                  <a:srgbClr val="C7C9CB"/>
                </a:solidFill>
                <a:latin typeface="Open Sans"/>
                <a:ea typeface="Open Sans"/>
              </a:rPr>
              <a:t>Operations, monitoring, replication</a:t>
            </a:r>
            <a:endParaRPr lang="en-US" sz="1150" b="0" u="none" strike="noStrike">
              <a:solidFill>
                <a:srgbClr val="000000"/>
              </a:solidFill>
              <a:latin typeface="Arial"/>
            </a:endParaRPr>
          </a:p>
        </p:txBody>
      </p:sp>
      <p:sp>
        <p:nvSpPr>
          <p:cNvPr id="1450798263" name="Shape 57"/>
          <p:cNvSpPr/>
          <p:nvPr/>
        </p:nvSpPr>
        <p:spPr bwMode="auto">
          <a:xfrm>
            <a:off x="609480" y="9051480"/>
            <a:ext cx="17067960" cy="549000"/>
          </a:xfrm>
          <a:prstGeom prst="rect">
            <a:avLst/>
          </a:prstGeom>
          <a:solidFill>
            <a:srgbClr val="FBEFE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342297092" name="Shape 58"/>
          <p:cNvSpPr/>
          <p:nvPr/>
        </p:nvSpPr>
        <p:spPr bwMode="auto">
          <a:xfrm>
            <a:off x="609480" y="9051480"/>
            <a:ext cx="37440" cy="549000"/>
          </a:xfrm>
          <a:prstGeom prst="rect">
            <a:avLst/>
          </a:prstGeom>
          <a:solidFill>
            <a:srgbClr val="E58520"/>
          </a:solidFill>
          <a:ln w="0">
            <a:noFill/>
          </a:ln>
        </p:spPr>
        <p:style>
          <a:lnRef idx="0"/>
          <a:fillRef idx="0"/>
          <a:effectRef idx="0"/>
          <a:fontRef idx="minor"/>
        </p:style>
        <p:txBody>
          <a:bodyPr lIns="18720" tIns="45000" rIns="18720" bIns="45000" anchor="t">
            <a:noAutofit/>
          </a:bodyPr>
          <a:p>
            <a:pPr>
              <a:defRPr/>
            </a:pPr>
            <a:endParaRPr lang="en-US" sz="1800" b="0" u="none" strike="noStrike">
              <a:solidFill>
                <a:srgbClr val="FFFFFF"/>
              </a:solidFill>
              <a:latin typeface="Arial"/>
            </a:endParaRPr>
          </a:p>
        </p:txBody>
      </p:sp>
      <p:sp>
        <p:nvSpPr>
          <p:cNvPr id="1366776938" name="Text 59"/>
          <p:cNvSpPr/>
          <p:nvPr/>
        </p:nvSpPr>
        <p:spPr bwMode="auto">
          <a:xfrm>
            <a:off x="857160" y="9204120"/>
            <a:ext cx="17123040" cy="28224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0000"/>
              </a:lnSpc>
              <a:tabLst>
                <a:tab pos="0" algn="l"/>
              </a:tabLst>
              <a:defRPr/>
            </a:pPr>
            <a:r>
              <a:rPr lang="en-US" sz="1350" b="0" u="none" strike="noStrike">
                <a:solidFill>
                  <a:srgbClr val="6E7174"/>
                </a:solidFill>
                <a:highlight>
                  <a:srgbClr val="FBEFE0"/>
                </a:highlight>
                <a:latin typeface="Open Sans"/>
                <a:ea typeface="Open Sans"/>
              </a:rPr>
              <a:t>Miss a gate → </a:t>
            </a:r>
            <a:r>
              <a:rPr lang="en-US" sz="1350" b="1" u="none" strike="noStrike">
                <a:solidFill>
                  <a:srgbClr val="6E7174"/>
                </a:solidFill>
                <a:latin typeface="Open Sans"/>
                <a:ea typeface="Open Sans"/>
              </a:rPr>
              <a:t>hold &amp; re-pitch </a:t>
            </a:r>
            <a:r>
              <a:rPr lang="en-US" sz="1350" b="0" u="none" strike="noStrike">
                <a:solidFill>
                  <a:srgbClr val="6E7174"/>
                </a:solidFill>
                <a:highlight>
                  <a:srgbClr val="FBEFE0"/>
                </a:highlight>
                <a:latin typeface="Open Sans"/>
                <a:ea typeface="Open Sans"/>
              </a:rPr>
              <a:t>or descope. Never accelerate into an under-resourced phase. </a:t>
            </a:r>
            <a:r>
              <a:rPr lang="zh-CN" sz="1350" b="0" u="none" strike="noStrike">
                <a:solidFill>
                  <a:srgbClr val="9B9DA0"/>
                </a:solidFill>
                <a:latin typeface="Noto Sans JP"/>
                <a:ea typeface="Noto Sans JP"/>
              </a:rPr>
              <a:t>ゲート未達なら保留・縮小。</a:t>
            </a:r>
            <a:endParaRPr lang="en-US" sz="13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88442666"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03563271"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2022540784" name="Text 2"/>
          <p:cNvSpPr/>
          <p:nvPr/>
        </p:nvSpPr>
        <p:spPr bwMode="auto">
          <a:xfrm>
            <a:off x="1181160" y="800280"/>
            <a:ext cx="33436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FUNDING STACK · </a:t>
            </a:r>
            <a:r>
              <a:rPr lang="zh-CN" sz="1300" b="1" u="none" strike="noStrike" spc="204">
                <a:solidFill>
                  <a:srgbClr val="9B9DA0"/>
                </a:solidFill>
                <a:latin typeface="Open Sans"/>
                <a:ea typeface="Open Sans"/>
              </a:rPr>
              <a:t>資金構成 </a:t>
            </a:r>
            <a:r>
              <a:rPr lang="en-US" sz="1300" b="1" u="none" strike="noStrike" spc="204">
                <a:solidFill>
                  <a:srgbClr val="9B9DA0"/>
                </a:solidFill>
                <a:latin typeface="Open Sans"/>
                <a:ea typeface="Open Sans"/>
              </a:rPr>
              <a:t>· 11</a:t>
            </a:r>
            <a:endParaRPr lang="en-US" sz="1300" b="0" u="none" strike="noStrike">
              <a:solidFill>
                <a:srgbClr val="000000"/>
              </a:solidFill>
              <a:latin typeface="Arial"/>
            </a:endParaRPr>
          </a:p>
        </p:txBody>
      </p:sp>
      <p:sp>
        <p:nvSpPr>
          <p:cNvPr id="1345151893" name="Text 3"/>
          <p:cNvSpPr/>
          <p:nvPr/>
        </p:nvSpPr>
        <p:spPr bwMode="auto">
          <a:xfrm>
            <a:off x="609480" y="1228680"/>
            <a:ext cx="11005560" cy="620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500" b="1" u="none" strike="noStrike" spc="-45">
                <a:solidFill>
                  <a:srgbClr val="2E2E2E"/>
                </a:solidFill>
                <a:latin typeface="Sora"/>
                <a:ea typeface="Sora"/>
              </a:rPr>
              <a:t>Five layers, staged over three years</a:t>
            </a:r>
            <a:endParaRPr lang="en-US" sz="4500" b="0" u="none" strike="noStrike">
              <a:solidFill>
                <a:srgbClr val="000000"/>
              </a:solidFill>
              <a:latin typeface="Arial"/>
            </a:endParaRPr>
          </a:p>
        </p:txBody>
      </p:sp>
      <p:sp>
        <p:nvSpPr>
          <p:cNvPr id="936768645" name="Text 4"/>
          <p:cNvSpPr/>
          <p:nvPr/>
        </p:nvSpPr>
        <p:spPr bwMode="auto">
          <a:xfrm>
            <a:off x="609480" y="1887840"/>
            <a:ext cx="1100556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五層の資金 — 単一財源に依存しない。</a:t>
            </a:r>
            <a:endParaRPr lang="en-US" sz="1900" b="0" u="none" strike="noStrike">
              <a:solidFill>
                <a:srgbClr val="000000"/>
              </a:solidFill>
              <a:latin typeface="Arial"/>
            </a:endParaRPr>
          </a:p>
        </p:txBody>
      </p:sp>
      <p:sp>
        <p:nvSpPr>
          <p:cNvPr id="1273492380" name="Text 5"/>
          <p:cNvSpPr/>
          <p:nvPr/>
        </p:nvSpPr>
        <p:spPr bwMode="auto">
          <a:xfrm>
            <a:off x="14694840" y="1468800"/>
            <a:ext cx="298296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spc="136">
                <a:solidFill>
                  <a:srgbClr val="A9ABAE"/>
                </a:solidFill>
                <a:latin typeface="Open Sans"/>
                <a:ea typeface="Open Sans"/>
              </a:rPr>
              <a:t>YEAR 1 → YEAR 3</a:t>
            </a:r>
            <a:endParaRPr lang="en-US" sz="1150" b="0" u="none" strike="noStrike">
              <a:solidFill>
                <a:srgbClr val="000000"/>
              </a:solidFill>
              <a:latin typeface="Arial"/>
            </a:endParaRPr>
          </a:p>
        </p:txBody>
      </p:sp>
      <p:sp>
        <p:nvSpPr>
          <p:cNvPr id="1394723776" name="Text 6"/>
          <p:cNvSpPr/>
          <p:nvPr/>
        </p:nvSpPr>
        <p:spPr bwMode="auto">
          <a:xfrm>
            <a:off x="14694840" y="1697400"/>
            <a:ext cx="2982960" cy="5230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3000" b="1" u="none" strike="noStrike">
                <a:solidFill>
                  <a:srgbClr val="2E2E2E"/>
                </a:solidFill>
                <a:latin typeface="Sora"/>
                <a:ea typeface="Sora"/>
              </a:rPr>
              <a:t>¥11M </a:t>
            </a:r>
            <a:r>
              <a:rPr lang="en-US" sz="3000" b="1" u="none" strike="noStrike">
                <a:solidFill>
                  <a:srgbClr val="E58520"/>
                </a:solidFill>
                <a:latin typeface="Sora"/>
                <a:ea typeface="Sora"/>
              </a:rPr>
              <a:t>→ </a:t>
            </a:r>
            <a:r>
              <a:rPr lang="en-US" sz="3000" b="1" u="none" strike="noStrike">
                <a:solidFill>
                  <a:srgbClr val="2E2E2E"/>
                </a:solidFill>
                <a:latin typeface="Sora"/>
                <a:ea typeface="Sora"/>
              </a:rPr>
              <a:t>¥134M</a:t>
            </a:r>
            <a:endParaRPr lang="en-US" sz="3000" b="0" u="none" strike="noStrike">
              <a:solidFill>
                <a:srgbClr val="000000"/>
              </a:solidFill>
              <a:latin typeface="Arial"/>
            </a:endParaRPr>
          </a:p>
        </p:txBody>
      </p:sp>
      <p:sp>
        <p:nvSpPr>
          <p:cNvPr id="1195994712" name="Shape 7"/>
          <p:cNvSpPr/>
          <p:nvPr/>
        </p:nvSpPr>
        <p:spPr bwMode="auto">
          <a:xfrm>
            <a:off x="609480" y="4558680"/>
            <a:ext cx="17067960" cy="18360"/>
          </a:xfrm>
          <a:prstGeom prst="rect">
            <a:avLst/>
          </a:prstGeom>
          <a:solidFill>
            <a:srgbClr val="2E2E2E"/>
          </a:solidFill>
          <a:ln w="0">
            <a:noFill/>
          </a:ln>
        </p:spPr>
        <p:style>
          <a:lnRef idx="0"/>
          <a:fillRef idx="0"/>
          <a:effectRef idx="0"/>
          <a:fontRef idx="minor"/>
        </p:style>
        <p:txBody>
          <a:bodyPr lIns="90000" tIns="-25920" rIns="90000" bIns="-25920" anchor="t">
            <a:noAutofit/>
          </a:bodyPr>
          <a:p>
            <a:pPr>
              <a:defRPr/>
            </a:pPr>
            <a:endParaRPr lang="en-US" sz="1800" b="0" u="none" strike="noStrike">
              <a:solidFill>
                <a:srgbClr val="FFFFFF"/>
              </a:solidFill>
              <a:latin typeface="Arial"/>
            </a:endParaRPr>
          </a:p>
        </p:txBody>
      </p:sp>
      <p:sp>
        <p:nvSpPr>
          <p:cNvPr id="740712161" name="Text 8"/>
          <p:cNvSpPr/>
          <p:nvPr/>
        </p:nvSpPr>
        <p:spPr bwMode="auto">
          <a:xfrm>
            <a:off x="1390680" y="4206240"/>
            <a:ext cx="11775960" cy="2563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1" u="none" strike="noStrike" spc="113">
                <a:solidFill>
                  <a:srgbClr val="A9ABAE"/>
                </a:solidFill>
                <a:latin typeface="Open Sans"/>
                <a:ea typeface="Open Sans"/>
              </a:rPr>
              <a:t>SOURCE · </a:t>
            </a:r>
            <a:r>
              <a:rPr lang="zh-CN" sz="1150" b="1" u="none" strike="noStrike" spc="113">
                <a:solidFill>
                  <a:srgbClr val="A9ABAE"/>
                </a:solidFill>
                <a:latin typeface="Open Sans"/>
                <a:ea typeface="Open Sans"/>
              </a:rPr>
              <a:t>財源</a:t>
            </a:r>
            <a:endParaRPr lang="en-US" sz="1150" b="0" u="none" strike="noStrike">
              <a:solidFill>
                <a:srgbClr val="000000"/>
              </a:solidFill>
              <a:latin typeface="Arial"/>
            </a:endParaRPr>
          </a:p>
        </p:txBody>
      </p:sp>
      <p:sp>
        <p:nvSpPr>
          <p:cNvPr id="1208667492" name="Text 9"/>
          <p:cNvSpPr/>
          <p:nvPr/>
        </p:nvSpPr>
        <p:spPr bwMode="auto">
          <a:xfrm>
            <a:off x="14468400" y="4220640"/>
            <a:ext cx="157104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spc="113">
                <a:solidFill>
                  <a:srgbClr val="A9ABAE"/>
                </a:solidFill>
                <a:latin typeface="Open Sans"/>
                <a:ea typeface="Open Sans"/>
              </a:rPr>
              <a:t>YEAR 1</a:t>
            </a:r>
            <a:endParaRPr lang="en-US" sz="1150" b="0" u="none" strike="noStrike">
              <a:solidFill>
                <a:srgbClr val="000000"/>
              </a:solidFill>
              <a:latin typeface="Arial"/>
            </a:endParaRPr>
          </a:p>
        </p:txBody>
      </p:sp>
      <p:sp>
        <p:nvSpPr>
          <p:cNvPr id="1233073878" name="Text 10"/>
          <p:cNvSpPr/>
          <p:nvPr/>
        </p:nvSpPr>
        <p:spPr bwMode="auto">
          <a:xfrm>
            <a:off x="16106760" y="4220640"/>
            <a:ext cx="1571040" cy="2278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150" b="1" u="none" strike="noStrike" spc="113">
                <a:solidFill>
                  <a:srgbClr val="A9ABAE"/>
                </a:solidFill>
                <a:latin typeface="Open Sans"/>
                <a:ea typeface="Open Sans"/>
              </a:rPr>
              <a:t>YEAR 3</a:t>
            </a:r>
            <a:endParaRPr lang="en-US" sz="1150" b="0" u="none" strike="noStrike">
              <a:solidFill>
                <a:srgbClr val="000000"/>
              </a:solidFill>
              <a:latin typeface="Arial"/>
            </a:endParaRPr>
          </a:p>
        </p:txBody>
      </p:sp>
      <p:sp>
        <p:nvSpPr>
          <p:cNvPr id="1263614452" name="Shape 11"/>
          <p:cNvSpPr/>
          <p:nvPr/>
        </p:nvSpPr>
        <p:spPr bwMode="auto">
          <a:xfrm>
            <a:off x="609480" y="51872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852518718" name="Text 12"/>
          <p:cNvSpPr/>
          <p:nvPr/>
        </p:nvSpPr>
        <p:spPr bwMode="auto">
          <a:xfrm>
            <a:off x="609480" y="478260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L1</a:t>
            </a:r>
            <a:endParaRPr lang="en-US" sz="1200" b="0" u="none" strike="noStrike">
              <a:solidFill>
                <a:srgbClr val="000000"/>
              </a:solidFill>
              <a:latin typeface="Arial"/>
            </a:endParaRPr>
          </a:p>
        </p:txBody>
      </p:sp>
      <p:sp>
        <p:nvSpPr>
          <p:cNvPr id="410399062" name="Text 13"/>
          <p:cNvSpPr/>
          <p:nvPr/>
        </p:nvSpPr>
        <p:spPr bwMode="auto">
          <a:xfrm>
            <a:off x="1390680" y="473976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Founder / private capital </a:t>
            </a:r>
            <a:r>
              <a:rPr lang="zh-CN" sz="1200" b="1" u="none" strike="noStrike">
                <a:solidFill>
                  <a:srgbClr val="9B9DA0"/>
                </a:solidFill>
                <a:latin typeface="Noto Sans JP"/>
                <a:ea typeface="Noto Sans JP"/>
              </a:rPr>
              <a:t>自己資金</a:t>
            </a:r>
            <a:endParaRPr lang="en-US" sz="1200" b="0" u="none" strike="noStrike">
              <a:solidFill>
                <a:srgbClr val="000000"/>
              </a:solidFill>
              <a:latin typeface="Arial"/>
            </a:endParaRPr>
          </a:p>
        </p:txBody>
      </p:sp>
      <p:sp>
        <p:nvSpPr>
          <p:cNvPr id="544836493" name="Shape 14"/>
          <p:cNvSpPr/>
          <p:nvPr/>
        </p:nvSpPr>
        <p:spPr bwMode="auto">
          <a:xfrm>
            <a:off x="12306240" y="48157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725065132" name="Shape 15"/>
          <p:cNvSpPr/>
          <p:nvPr/>
        </p:nvSpPr>
        <p:spPr bwMode="auto">
          <a:xfrm>
            <a:off x="12306240" y="4815720"/>
            <a:ext cx="167040" cy="132480"/>
          </a:xfrm>
          <a:prstGeom prst="rect">
            <a:avLst/>
          </a:prstGeom>
          <a:solidFill>
            <a:srgbClr val="C7C9CB"/>
          </a:solidFill>
          <a:ln w="0">
            <a:noFill/>
          </a:ln>
        </p:spPr>
        <p:style>
          <a:lnRef idx="0"/>
          <a:fillRef idx="0"/>
          <a:effectRef idx="0"/>
          <a:fontRef idx="minor"/>
        </p:style>
        <p:txBody>
          <a:bodyPr lIns="83520" tIns="45000" rIns="83520" bIns="45000" anchor="t">
            <a:noAutofit/>
          </a:bodyPr>
          <a:p>
            <a:pPr>
              <a:defRPr/>
            </a:pPr>
            <a:endParaRPr lang="en-US" sz="1800" b="0" u="none" strike="noStrike">
              <a:solidFill>
                <a:srgbClr val="000000"/>
              </a:solidFill>
              <a:latin typeface="Arial"/>
            </a:endParaRPr>
          </a:p>
        </p:txBody>
      </p:sp>
      <p:sp>
        <p:nvSpPr>
          <p:cNvPr id="1895722044" name="Text 16"/>
          <p:cNvSpPr/>
          <p:nvPr/>
        </p:nvSpPr>
        <p:spPr bwMode="auto">
          <a:xfrm>
            <a:off x="14468400" y="47538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¥3M</a:t>
            </a:r>
            <a:endParaRPr lang="en-US" sz="1500" b="0" u="none" strike="noStrike">
              <a:solidFill>
                <a:srgbClr val="000000"/>
              </a:solidFill>
              <a:latin typeface="Arial"/>
            </a:endParaRPr>
          </a:p>
        </p:txBody>
      </p:sp>
      <p:sp>
        <p:nvSpPr>
          <p:cNvPr id="1545442398" name="Text 17"/>
          <p:cNvSpPr/>
          <p:nvPr/>
        </p:nvSpPr>
        <p:spPr bwMode="auto">
          <a:xfrm>
            <a:off x="16106760" y="473976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¥1M</a:t>
            </a:r>
            <a:endParaRPr lang="en-US" sz="1650" b="0" u="none" strike="noStrike">
              <a:solidFill>
                <a:srgbClr val="000000"/>
              </a:solidFill>
              <a:latin typeface="Arial"/>
            </a:endParaRPr>
          </a:p>
        </p:txBody>
      </p:sp>
      <p:sp>
        <p:nvSpPr>
          <p:cNvPr id="1041625655" name="Shape 18"/>
          <p:cNvSpPr/>
          <p:nvPr/>
        </p:nvSpPr>
        <p:spPr bwMode="auto">
          <a:xfrm>
            <a:off x="609480" y="58064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503666197" name="Text 19"/>
          <p:cNvSpPr/>
          <p:nvPr/>
        </p:nvSpPr>
        <p:spPr bwMode="auto">
          <a:xfrm>
            <a:off x="609480" y="540180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L2</a:t>
            </a:r>
            <a:endParaRPr lang="en-US" sz="1200" b="0" u="none" strike="noStrike">
              <a:solidFill>
                <a:srgbClr val="000000"/>
              </a:solidFill>
              <a:latin typeface="Arial"/>
            </a:endParaRPr>
          </a:p>
        </p:txBody>
      </p:sp>
      <p:sp>
        <p:nvSpPr>
          <p:cNvPr id="1314763900" name="Text 20"/>
          <p:cNvSpPr/>
          <p:nvPr/>
        </p:nvSpPr>
        <p:spPr bwMode="auto">
          <a:xfrm>
            <a:off x="1390680" y="53586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Government grants </a:t>
            </a:r>
            <a:r>
              <a:rPr lang="zh-CN" sz="1200" b="1" u="none" strike="noStrike">
                <a:solidFill>
                  <a:srgbClr val="9B9DA0"/>
                </a:solidFill>
                <a:latin typeface="Noto Sans JP"/>
                <a:ea typeface="Noto Sans JP"/>
              </a:rPr>
              <a:t>補助金（</a:t>
            </a:r>
            <a:r>
              <a:rPr lang="en-US" sz="1200" b="1" u="none" strike="noStrike">
                <a:solidFill>
                  <a:srgbClr val="9B9DA0"/>
                </a:solidFill>
                <a:latin typeface="Noto Sans JP"/>
                <a:ea typeface="Noto Sans JP"/>
              </a:rPr>
              <a:t>NEDO</a:t>
            </a:r>
            <a:r>
              <a:rPr lang="zh-CN" sz="1200" b="1" u="none" strike="noStrike">
                <a:solidFill>
                  <a:srgbClr val="9B9DA0"/>
                </a:solidFill>
                <a:latin typeface="Noto Sans JP"/>
                <a:ea typeface="Noto Sans JP"/>
              </a:rPr>
              <a:t>・</a:t>
            </a:r>
            <a:r>
              <a:rPr lang="en-US" sz="1200" b="1" u="none" strike="noStrike">
                <a:solidFill>
                  <a:srgbClr val="9B9DA0"/>
                </a:solidFill>
                <a:latin typeface="Noto Sans JP"/>
                <a:ea typeface="Noto Sans JP"/>
              </a:rPr>
              <a:t>METI</a:t>
            </a:r>
            <a:r>
              <a:rPr lang="zh-CN" sz="1200" b="1" u="none" strike="noStrike">
                <a:solidFill>
                  <a:srgbClr val="9B9DA0"/>
                </a:solidFill>
                <a:latin typeface="Noto Sans JP"/>
                <a:ea typeface="Noto Sans JP"/>
              </a:rPr>
              <a:t>・奈良県・村）</a:t>
            </a:r>
            <a:endParaRPr lang="en-US" sz="1200" b="0" u="none" strike="noStrike">
              <a:solidFill>
                <a:srgbClr val="000000"/>
              </a:solidFill>
              <a:latin typeface="Arial"/>
            </a:endParaRPr>
          </a:p>
        </p:txBody>
      </p:sp>
      <p:sp>
        <p:nvSpPr>
          <p:cNvPr id="293715358" name="Shape 21"/>
          <p:cNvSpPr/>
          <p:nvPr/>
        </p:nvSpPr>
        <p:spPr bwMode="auto">
          <a:xfrm>
            <a:off x="12306240" y="54349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365863986" name="Shape 22"/>
          <p:cNvSpPr/>
          <p:nvPr/>
        </p:nvSpPr>
        <p:spPr bwMode="auto">
          <a:xfrm>
            <a:off x="12306240" y="5434920"/>
            <a:ext cx="1256759" cy="1324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814071621" name="Text 23"/>
          <p:cNvSpPr/>
          <p:nvPr/>
        </p:nvSpPr>
        <p:spPr bwMode="auto">
          <a:xfrm>
            <a:off x="14468400" y="53730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¥5M</a:t>
            </a:r>
            <a:endParaRPr lang="en-US" sz="1500" b="0" u="none" strike="noStrike">
              <a:solidFill>
                <a:srgbClr val="000000"/>
              </a:solidFill>
              <a:latin typeface="Arial"/>
            </a:endParaRPr>
          </a:p>
        </p:txBody>
      </p:sp>
      <p:sp>
        <p:nvSpPr>
          <p:cNvPr id="1672615603" name="Text 24"/>
          <p:cNvSpPr/>
          <p:nvPr/>
        </p:nvSpPr>
        <p:spPr bwMode="auto">
          <a:xfrm>
            <a:off x="16106760" y="53586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C26A12"/>
                </a:solidFill>
                <a:latin typeface="Open Sans"/>
                <a:ea typeface="Open Sans"/>
              </a:rPr>
              <a:t>¥80M</a:t>
            </a:r>
            <a:endParaRPr lang="en-US" sz="1650" b="0" u="none" strike="noStrike">
              <a:solidFill>
                <a:srgbClr val="000000"/>
              </a:solidFill>
              <a:latin typeface="Arial"/>
            </a:endParaRPr>
          </a:p>
        </p:txBody>
      </p:sp>
      <p:sp>
        <p:nvSpPr>
          <p:cNvPr id="765221141" name="Shape 25"/>
          <p:cNvSpPr/>
          <p:nvPr/>
        </p:nvSpPr>
        <p:spPr bwMode="auto">
          <a:xfrm>
            <a:off x="609480" y="64256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944562932" name="Text 26"/>
          <p:cNvSpPr/>
          <p:nvPr/>
        </p:nvSpPr>
        <p:spPr bwMode="auto">
          <a:xfrm>
            <a:off x="609480" y="60206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L3</a:t>
            </a:r>
            <a:endParaRPr lang="en-US" sz="1200" b="0" u="none" strike="noStrike">
              <a:solidFill>
                <a:srgbClr val="000000"/>
              </a:solidFill>
              <a:latin typeface="Arial"/>
            </a:endParaRPr>
          </a:p>
        </p:txBody>
      </p:sp>
      <p:sp>
        <p:nvSpPr>
          <p:cNvPr id="145486192" name="Text 27"/>
          <p:cNvSpPr/>
          <p:nvPr/>
        </p:nvSpPr>
        <p:spPr bwMode="auto">
          <a:xfrm>
            <a:off x="1390680" y="59778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Foundations </a:t>
            </a:r>
            <a:r>
              <a:rPr lang="zh-CN" sz="1200" b="1" u="none" strike="noStrike">
                <a:solidFill>
                  <a:srgbClr val="9B9DA0"/>
                </a:solidFill>
                <a:latin typeface="Noto Sans JP"/>
                <a:ea typeface="Noto Sans JP"/>
              </a:rPr>
              <a:t>財団（日本財団 ほか）</a:t>
            </a:r>
            <a:endParaRPr lang="en-US" sz="1200" b="0" u="none" strike="noStrike">
              <a:solidFill>
                <a:srgbClr val="000000"/>
              </a:solidFill>
              <a:latin typeface="Arial"/>
            </a:endParaRPr>
          </a:p>
        </p:txBody>
      </p:sp>
      <p:sp>
        <p:nvSpPr>
          <p:cNvPr id="647895057" name="Shape 28"/>
          <p:cNvSpPr/>
          <p:nvPr/>
        </p:nvSpPr>
        <p:spPr bwMode="auto">
          <a:xfrm>
            <a:off x="12306240" y="60541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33786156" name="Shape 29"/>
          <p:cNvSpPr/>
          <p:nvPr/>
        </p:nvSpPr>
        <p:spPr bwMode="auto">
          <a:xfrm>
            <a:off x="12306240" y="6054120"/>
            <a:ext cx="313560" cy="13248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580854602" name="Text 30"/>
          <p:cNvSpPr/>
          <p:nvPr/>
        </p:nvSpPr>
        <p:spPr bwMode="auto">
          <a:xfrm>
            <a:off x="14468400" y="59922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¥3M</a:t>
            </a:r>
            <a:endParaRPr lang="en-US" sz="1500" b="0" u="none" strike="noStrike">
              <a:solidFill>
                <a:srgbClr val="000000"/>
              </a:solidFill>
              <a:latin typeface="Arial"/>
            </a:endParaRPr>
          </a:p>
        </p:txBody>
      </p:sp>
      <p:sp>
        <p:nvSpPr>
          <p:cNvPr id="1092202514" name="Text 31"/>
          <p:cNvSpPr/>
          <p:nvPr/>
        </p:nvSpPr>
        <p:spPr bwMode="auto">
          <a:xfrm>
            <a:off x="16106760" y="59778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¥20M</a:t>
            </a:r>
            <a:endParaRPr lang="en-US" sz="1650" b="0" u="none" strike="noStrike">
              <a:solidFill>
                <a:srgbClr val="000000"/>
              </a:solidFill>
              <a:latin typeface="Arial"/>
            </a:endParaRPr>
          </a:p>
        </p:txBody>
      </p:sp>
      <p:sp>
        <p:nvSpPr>
          <p:cNvPr id="1569863042" name="Shape 32"/>
          <p:cNvSpPr/>
          <p:nvPr/>
        </p:nvSpPr>
        <p:spPr bwMode="auto">
          <a:xfrm>
            <a:off x="609480" y="704484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993456487" name="Text 33"/>
          <p:cNvSpPr/>
          <p:nvPr/>
        </p:nvSpPr>
        <p:spPr bwMode="auto">
          <a:xfrm>
            <a:off x="609480" y="6639840"/>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9B9DA0"/>
                </a:solidFill>
                <a:latin typeface="Sora"/>
                <a:ea typeface="Sora"/>
              </a:rPr>
              <a:t>L4</a:t>
            </a:r>
            <a:endParaRPr lang="en-US" sz="1200" b="0" u="none" strike="noStrike">
              <a:solidFill>
                <a:srgbClr val="000000"/>
              </a:solidFill>
              <a:latin typeface="Arial"/>
            </a:endParaRPr>
          </a:p>
        </p:txBody>
      </p:sp>
      <p:sp>
        <p:nvSpPr>
          <p:cNvPr id="939148480" name="Text 34"/>
          <p:cNvSpPr/>
          <p:nvPr/>
        </p:nvSpPr>
        <p:spPr bwMode="auto">
          <a:xfrm>
            <a:off x="1390680" y="65970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Corporate partnerships </a:t>
            </a:r>
            <a:r>
              <a:rPr lang="zh-CN" sz="1200" b="1" u="none" strike="noStrike">
                <a:solidFill>
                  <a:srgbClr val="9B9DA0"/>
                </a:solidFill>
                <a:latin typeface="Noto Sans JP"/>
                <a:ea typeface="Noto Sans JP"/>
              </a:rPr>
              <a:t>企業連携（</a:t>
            </a:r>
            <a:r>
              <a:rPr lang="en-US" sz="1200" b="1" u="none" strike="noStrike">
                <a:solidFill>
                  <a:srgbClr val="9B9DA0"/>
                </a:solidFill>
                <a:latin typeface="Noto Sans JP"/>
                <a:ea typeface="Noto Sans JP"/>
              </a:rPr>
              <a:t>CSR</a:t>
            </a:r>
            <a:r>
              <a:rPr lang="zh-CN" sz="1200" b="1" u="none" strike="noStrike">
                <a:solidFill>
                  <a:srgbClr val="9B9DA0"/>
                </a:solidFill>
                <a:latin typeface="Noto Sans JP"/>
                <a:ea typeface="Noto Sans JP"/>
              </a:rPr>
              <a:t>・蘭日）</a:t>
            </a:r>
            <a:endParaRPr lang="en-US" sz="1200" b="0" u="none" strike="noStrike">
              <a:solidFill>
                <a:srgbClr val="000000"/>
              </a:solidFill>
              <a:latin typeface="Arial"/>
            </a:endParaRPr>
          </a:p>
        </p:txBody>
      </p:sp>
      <p:sp>
        <p:nvSpPr>
          <p:cNvPr id="1184402351" name="Shape 35"/>
          <p:cNvSpPr/>
          <p:nvPr/>
        </p:nvSpPr>
        <p:spPr bwMode="auto">
          <a:xfrm>
            <a:off x="12306240" y="66733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37908427" name="Shape 36"/>
          <p:cNvSpPr/>
          <p:nvPr/>
        </p:nvSpPr>
        <p:spPr bwMode="auto">
          <a:xfrm>
            <a:off x="12306240" y="6673320"/>
            <a:ext cx="460439" cy="132480"/>
          </a:xfrm>
          <a:prstGeom prst="rect">
            <a:avLst/>
          </a:prstGeom>
          <a:solidFill>
            <a:srgbClr val="C7C9CB"/>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908896715" name="Text 37"/>
          <p:cNvSpPr/>
          <p:nvPr/>
        </p:nvSpPr>
        <p:spPr bwMode="auto">
          <a:xfrm>
            <a:off x="14468400" y="66114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a:t>
            </a:r>
            <a:endParaRPr lang="en-US" sz="1500" b="0" u="none" strike="noStrike">
              <a:solidFill>
                <a:srgbClr val="000000"/>
              </a:solidFill>
              <a:latin typeface="Arial"/>
            </a:endParaRPr>
          </a:p>
        </p:txBody>
      </p:sp>
      <p:sp>
        <p:nvSpPr>
          <p:cNvPr id="390470883" name="Text 38"/>
          <p:cNvSpPr/>
          <p:nvPr/>
        </p:nvSpPr>
        <p:spPr bwMode="auto">
          <a:xfrm>
            <a:off x="16106760" y="65970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¥30M</a:t>
            </a:r>
            <a:endParaRPr lang="en-US" sz="1650" b="0" u="none" strike="noStrike">
              <a:solidFill>
                <a:srgbClr val="000000"/>
              </a:solidFill>
              <a:latin typeface="Arial"/>
            </a:endParaRPr>
          </a:p>
        </p:txBody>
      </p:sp>
      <p:sp>
        <p:nvSpPr>
          <p:cNvPr id="1979291977" name="Shape 39"/>
          <p:cNvSpPr/>
          <p:nvPr/>
        </p:nvSpPr>
        <p:spPr bwMode="auto">
          <a:xfrm>
            <a:off x="609480" y="7663680"/>
            <a:ext cx="17067960" cy="8640"/>
          </a:xfrm>
          <a:prstGeom prst="rect">
            <a:avLst/>
          </a:prstGeom>
          <a:solidFill>
            <a:srgbClr val="E6E6E2"/>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000000"/>
              </a:solidFill>
              <a:latin typeface="Arial"/>
            </a:endParaRPr>
          </a:p>
        </p:txBody>
      </p:sp>
      <p:sp>
        <p:nvSpPr>
          <p:cNvPr id="1359037898" name="Text 40"/>
          <p:cNvSpPr/>
          <p:nvPr/>
        </p:nvSpPr>
        <p:spPr bwMode="auto">
          <a:xfrm>
            <a:off x="609480" y="7259039"/>
            <a:ext cx="646920" cy="2372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a:solidFill>
                  <a:srgbClr val="E58520"/>
                </a:solidFill>
                <a:latin typeface="Sora"/>
                <a:ea typeface="Sora"/>
              </a:rPr>
              <a:t>L5</a:t>
            </a:r>
            <a:endParaRPr lang="en-US" sz="1200" b="0" u="none" strike="noStrike">
              <a:solidFill>
                <a:srgbClr val="000000"/>
              </a:solidFill>
              <a:latin typeface="Arial"/>
            </a:endParaRPr>
          </a:p>
        </p:txBody>
      </p:sp>
      <p:sp>
        <p:nvSpPr>
          <p:cNvPr id="585211550" name="Text 41"/>
          <p:cNvSpPr/>
          <p:nvPr/>
        </p:nvSpPr>
        <p:spPr bwMode="auto">
          <a:xfrm>
            <a:off x="1390680" y="7216200"/>
            <a:ext cx="1177596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50" b="1" u="none" strike="noStrike">
                <a:solidFill>
                  <a:srgbClr val="2E2E2E"/>
                </a:solidFill>
                <a:latin typeface="Open Sans"/>
                <a:ea typeface="Open Sans"/>
              </a:rPr>
              <a:t>Operating revenue </a:t>
            </a:r>
            <a:r>
              <a:rPr lang="zh-CN" sz="1200" b="1" u="none" strike="noStrike">
                <a:solidFill>
                  <a:srgbClr val="9B9DA0"/>
                </a:solidFill>
                <a:latin typeface="Noto Sans JP"/>
                <a:ea typeface="Noto Sans JP"/>
              </a:rPr>
              <a:t>事業収益（ホスティング・</a:t>
            </a:r>
            <a:r>
              <a:rPr lang="en-US" sz="1200" b="1" u="none" strike="noStrike">
                <a:solidFill>
                  <a:srgbClr val="9B9DA0"/>
                </a:solidFill>
                <a:latin typeface="Noto Sans JP"/>
                <a:ea typeface="Noto Sans JP"/>
              </a:rPr>
              <a:t>FIT</a:t>
            </a:r>
            <a:r>
              <a:rPr lang="zh-CN" sz="1200" b="1" u="none" strike="noStrike">
                <a:solidFill>
                  <a:srgbClr val="9B9DA0"/>
                </a:solidFill>
                <a:latin typeface="Noto Sans JP"/>
                <a:ea typeface="Noto Sans JP"/>
              </a:rPr>
              <a:t>・</a:t>
            </a:r>
            <a:r>
              <a:rPr lang="en-US" sz="1200" b="1" u="none" strike="noStrike">
                <a:solidFill>
                  <a:srgbClr val="9B9DA0"/>
                </a:solidFill>
                <a:latin typeface="Noto Sans JP"/>
                <a:ea typeface="Noto Sans JP"/>
              </a:rPr>
              <a:t>EV</a:t>
            </a:r>
            <a:r>
              <a:rPr lang="zh-CN" sz="1200" b="1" u="none" strike="noStrike">
                <a:solidFill>
                  <a:srgbClr val="9B9DA0"/>
                </a:solidFill>
                <a:latin typeface="Noto Sans JP"/>
                <a:ea typeface="Noto Sans JP"/>
              </a:rPr>
              <a:t>・</a:t>
            </a:r>
            <a:r>
              <a:rPr lang="en-US" sz="1200" b="1" u="none" strike="noStrike">
                <a:solidFill>
                  <a:srgbClr val="9B9DA0"/>
                </a:solidFill>
                <a:latin typeface="Noto Sans JP"/>
                <a:ea typeface="Noto Sans JP"/>
              </a:rPr>
              <a:t>J</a:t>
            </a:r>
            <a:r>
              <a:rPr lang="zh-CN" sz="1200" b="1" u="none" strike="noStrike">
                <a:solidFill>
                  <a:srgbClr val="9B9DA0"/>
                </a:solidFill>
                <a:latin typeface="Noto Sans JP"/>
                <a:ea typeface="Noto Sans JP"/>
              </a:rPr>
              <a:t>クレジット）</a:t>
            </a:r>
            <a:endParaRPr lang="en-US" sz="1200" b="0" u="none" strike="noStrike">
              <a:solidFill>
                <a:srgbClr val="000000"/>
              </a:solidFill>
              <a:latin typeface="Arial"/>
            </a:endParaRPr>
          </a:p>
        </p:txBody>
      </p:sp>
      <p:sp>
        <p:nvSpPr>
          <p:cNvPr id="227164407" name="Shape 42"/>
          <p:cNvSpPr/>
          <p:nvPr/>
        </p:nvSpPr>
        <p:spPr bwMode="auto">
          <a:xfrm>
            <a:off x="12306240" y="7292520"/>
            <a:ext cx="2094840" cy="132480"/>
          </a:xfrm>
          <a:prstGeom prst="rect">
            <a:avLst/>
          </a:prstGeom>
          <a:solidFill>
            <a:srgbClr val="F1F1EF"/>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476890325" name="Shape 43"/>
          <p:cNvSpPr/>
          <p:nvPr/>
        </p:nvSpPr>
        <p:spPr bwMode="auto">
          <a:xfrm>
            <a:off x="12306240" y="7292520"/>
            <a:ext cx="62280" cy="132480"/>
          </a:xfrm>
          <a:prstGeom prst="rect">
            <a:avLst/>
          </a:prstGeom>
          <a:solidFill>
            <a:srgbClr val="C7C9CB"/>
          </a:solidFill>
          <a:ln w="0">
            <a:noFill/>
          </a:ln>
        </p:spPr>
        <p:style>
          <a:lnRef idx="0"/>
          <a:fillRef idx="0"/>
          <a:effectRef idx="0"/>
          <a:fontRef idx="minor"/>
        </p:style>
        <p:txBody>
          <a:bodyPr lIns="31320" tIns="45000" rIns="31320" bIns="45000" anchor="t">
            <a:noAutofit/>
          </a:bodyPr>
          <a:p>
            <a:pPr>
              <a:defRPr/>
            </a:pPr>
            <a:endParaRPr lang="en-US" sz="1800" b="0" u="none" strike="noStrike">
              <a:solidFill>
                <a:srgbClr val="000000"/>
              </a:solidFill>
              <a:latin typeface="Arial"/>
            </a:endParaRPr>
          </a:p>
        </p:txBody>
      </p:sp>
      <p:sp>
        <p:nvSpPr>
          <p:cNvPr id="389793594" name="Text 44"/>
          <p:cNvSpPr/>
          <p:nvPr/>
        </p:nvSpPr>
        <p:spPr bwMode="auto">
          <a:xfrm>
            <a:off x="14468400" y="7230600"/>
            <a:ext cx="1571040" cy="2944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500" b="1" u="none" strike="noStrike">
                <a:solidFill>
                  <a:srgbClr val="6E7174"/>
                </a:solidFill>
                <a:latin typeface="Open Sans"/>
                <a:ea typeface="Open Sans"/>
              </a:rPr>
              <a:t>—</a:t>
            </a:r>
            <a:endParaRPr lang="en-US" sz="1500" b="0" u="none" strike="noStrike">
              <a:solidFill>
                <a:srgbClr val="000000"/>
              </a:solidFill>
              <a:latin typeface="Arial"/>
            </a:endParaRPr>
          </a:p>
        </p:txBody>
      </p:sp>
      <p:sp>
        <p:nvSpPr>
          <p:cNvPr id="986422522" name="Text 45"/>
          <p:cNvSpPr/>
          <p:nvPr/>
        </p:nvSpPr>
        <p:spPr bwMode="auto">
          <a:xfrm>
            <a:off x="16106760" y="7216200"/>
            <a:ext cx="1571040" cy="323280"/>
          </a:xfrm>
          <a:prstGeom prst="rect">
            <a:avLst/>
          </a:prstGeom>
          <a:noFill/>
          <a:ln w="0">
            <a:noFill/>
          </a:ln>
        </p:spPr>
        <p:style>
          <a:lnRef idx="0"/>
          <a:fillRef idx="0"/>
          <a:effectRef idx="0"/>
          <a:fontRef idx="minor"/>
        </p:style>
        <p:txBody>
          <a:bodyPr lIns="25560" tIns="25560" rIns="25560" bIns="25560" anchor="t">
            <a:normAutofit/>
          </a:bodyPr>
          <a:p>
            <a:pPr algn="r" defTabSz="914400">
              <a:lnSpc>
                <a:spcPct val="100000"/>
              </a:lnSpc>
              <a:tabLst>
                <a:tab pos="0" algn="l"/>
              </a:tabLst>
              <a:defRPr/>
            </a:pPr>
            <a:r>
              <a:rPr lang="en-US" sz="1650" b="1" u="none" strike="noStrike">
                <a:solidFill>
                  <a:srgbClr val="2E2E2E"/>
                </a:solidFill>
                <a:latin typeface="Open Sans"/>
                <a:ea typeface="Open Sans"/>
              </a:rPr>
              <a:t>¥3M</a:t>
            </a:r>
            <a:endParaRPr lang="en-US" sz="1650" b="0" u="none" strike="noStrike">
              <a:solidFill>
                <a:srgbClr val="000000"/>
              </a:solidFill>
              <a:latin typeface="Arial"/>
            </a:endParaRPr>
          </a:p>
        </p:txBody>
      </p:sp>
      <p:sp>
        <p:nvSpPr>
          <p:cNvPr id="551102364" name="Text 46"/>
          <p:cNvSpPr/>
          <p:nvPr/>
        </p:nvSpPr>
        <p:spPr bwMode="auto">
          <a:xfrm>
            <a:off x="609480" y="9410760"/>
            <a:ext cx="18775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20">
                <a:solidFill>
                  <a:srgbClr val="A9ABAE"/>
                </a:solidFill>
                <a:latin typeface="Open Sans"/>
                <a:ea typeface="Open Sans"/>
              </a:rPr>
              <a:t>Illustrative planning targets, not commitments. Actual mix depends on grant outcomes &amp; partnerships in Phases 1–2. </a:t>
            </a:r>
            <a:r>
              <a:rPr lang="zh-CN" sz="1000" b="1" u="none" strike="noStrike" spc="20">
                <a:solidFill>
                  <a:srgbClr val="A9ABAE"/>
                </a:solidFill>
                <a:latin typeface="Open Sans"/>
                <a:ea typeface="Open Sans"/>
              </a:rPr>
              <a:t>計画上の目標値（確約ではない）。</a:t>
            </a:r>
            <a:endParaRPr lang="en-US" sz="10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E2E2E"/>
        </a:solidFill>
      </p:bgPr>
    </p:bg>
    <p:spTree>
      <p:nvGrpSpPr>
        <p:cNvPr id="1" name=""/>
        <p:cNvGrpSpPr/>
        <p:nvPr/>
      </p:nvGrpSpPr>
      <p:grpSpPr bwMode="auto">
        <a:xfrm>
          <a:off x="0" y="0"/>
          <a:ext cx="0" cy="0"/>
          <a:chOff x="0" y="0"/>
          <a:chExt cx="0" cy="0"/>
        </a:xfrm>
      </p:grpSpPr>
      <p:sp>
        <p:nvSpPr>
          <p:cNvPr id="1429105434" name="Shape 0"/>
          <p:cNvSpPr/>
          <p:nvPr/>
        </p:nvSpPr>
        <p:spPr bwMode="auto">
          <a:xfrm>
            <a:off x="0" y="0"/>
            <a:ext cx="18287280" cy="75600"/>
          </a:xfrm>
          <a:prstGeom prst="rect">
            <a:avLst/>
          </a:prstGeom>
          <a:solidFill>
            <a:srgbClr val="E5852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37712342"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230359050" name="Text 2"/>
          <p:cNvSpPr/>
          <p:nvPr/>
        </p:nvSpPr>
        <p:spPr bwMode="auto">
          <a:xfrm>
            <a:off x="1181160" y="800280"/>
            <a:ext cx="422352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LONG-TERM RETURN · </a:t>
            </a:r>
            <a:r>
              <a:rPr lang="zh-CN" sz="1300" b="1" u="none" strike="noStrike" spc="204">
                <a:solidFill>
                  <a:srgbClr val="9B9DA0"/>
                </a:solidFill>
                <a:latin typeface="Open Sans"/>
                <a:ea typeface="Open Sans"/>
              </a:rPr>
              <a:t>長期リターン </a:t>
            </a:r>
            <a:r>
              <a:rPr lang="en-US" sz="1300" b="1" u="none" strike="noStrike" spc="204">
                <a:solidFill>
                  <a:srgbClr val="9B9DA0"/>
                </a:solidFill>
                <a:latin typeface="Open Sans"/>
                <a:ea typeface="Open Sans"/>
              </a:rPr>
              <a:t>· 12</a:t>
            </a:r>
            <a:endParaRPr lang="en-US" sz="1300" b="0" u="none" strike="noStrike">
              <a:solidFill>
                <a:srgbClr val="FFFFFF"/>
              </a:solidFill>
              <a:latin typeface="Arial"/>
            </a:endParaRPr>
          </a:p>
        </p:txBody>
      </p:sp>
      <p:sp>
        <p:nvSpPr>
          <p:cNvPr id="1516454035" name="Text 3"/>
          <p:cNvSpPr/>
          <p:nvPr/>
        </p:nvSpPr>
        <p:spPr bwMode="auto">
          <a:xfrm>
            <a:off x="609480" y="1228680"/>
            <a:ext cx="18775080" cy="6458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defRPr/>
            </a:pPr>
            <a:r>
              <a:rPr lang="en-US" sz="4650" b="1" u="none" strike="noStrike" spc="-45">
                <a:solidFill>
                  <a:srgbClr val="F4F1EC"/>
                </a:solidFill>
                <a:latin typeface="Sora"/>
                <a:ea typeface="Sora"/>
              </a:rPr>
              <a:t>An asset, not an expense</a:t>
            </a:r>
            <a:endParaRPr lang="en-US" sz="4650" b="0" u="none" strike="noStrike">
              <a:solidFill>
                <a:srgbClr val="FFFFFF"/>
              </a:solidFill>
              <a:latin typeface="Arial"/>
            </a:endParaRPr>
          </a:p>
        </p:txBody>
      </p:sp>
      <p:sp>
        <p:nvSpPr>
          <p:cNvPr id="94132968" name="Text 4"/>
          <p:cNvSpPr/>
          <p:nvPr/>
        </p:nvSpPr>
        <p:spPr bwMode="auto">
          <a:xfrm>
            <a:off x="609480" y="19134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B9BBBD"/>
                </a:solidFill>
                <a:latin typeface="Noto Sans JP"/>
                <a:ea typeface="Noto Sans JP"/>
              </a:rPr>
              <a:t>一度きりの支出ではなく、</a:t>
            </a:r>
            <a:r>
              <a:rPr lang="en-US" sz="1900" b="0" u="none" strike="noStrike">
                <a:solidFill>
                  <a:srgbClr val="B9BBBD"/>
                </a:solidFill>
                <a:latin typeface="Noto Sans JP"/>
                <a:ea typeface="Noto Sans JP"/>
              </a:rPr>
              <a:t>25</a:t>
            </a:r>
            <a:r>
              <a:rPr lang="zh-CN" sz="1900" b="0" u="none" strike="noStrike">
                <a:solidFill>
                  <a:srgbClr val="B9BBBD"/>
                </a:solidFill>
                <a:latin typeface="Noto Sans JP"/>
                <a:ea typeface="Noto Sans JP"/>
              </a:rPr>
              <a:t>年生み続ける資産。</a:t>
            </a:r>
            <a:endParaRPr lang="en-US" sz="1900" b="0" u="none" strike="noStrike">
              <a:solidFill>
                <a:srgbClr val="FFFFFF"/>
              </a:solidFill>
              <a:latin typeface="Arial"/>
            </a:endParaRPr>
          </a:p>
        </p:txBody>
      </p:sp>
      <p:sp>
        <p:nvSpPr>
          <p:cNvPr id="1118339279" name="Text 5"/>
          <p:cNvSpPr/>
          <p:nvPr/>
        </p:nvSpPr>
        <p:spPr bwMode="auto">
          <a:xfrm>
            <a:off x="609480" y="4342680"/>
            <a:ext cx="1368288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spc="181">
                <a:solidFill>
                  <a:srgbClr val="9B9DA0"/>
                </a:solidFill>
                <a:latin typeface="Open Sans"/>
                <a:ea typeface="Open Sans"/>
              </a:rPr>
              <a:t>THE FUNDING MIX INVERTS · </a:t>
            </a:r>
            <a:r>
              <a:rPr lang="zh-CN" sz="1500" b="1" u="none" strike="noStrike" spc="181">
                <a:solidFill>
                  <a:srgbClr val="9B9DA0"/>
                </a:solidFill>
                <a:latin typeface="Open Sans"/>
                <a:ea typeface="Open Sans"/>
              </a:rPr>
              <a:t>財源は反転する</a:t>
            </a:r>
            <a:endParaRPr lang="en-US" sz="1500" b="0" u="none" strike="noStrike">
              <a:solidFill>
                <a:srgbClr val="FFFFFF"/>
              </a:solidFill>
              <a:latin typeface="Arial"/>
            </a:endParaRPr>
          </a:p>
        </p:txBody>
      </p:sp>
      <p:sp>
        <p:nvSpPr>
          <p:cNvPr id="2009654191" name="Text 6"/>
          <p:cNvSpPr/>
          <p:nvPr/>
        </p:nvSpPr>
        <p:spPr bwMode="auto">
          <a:xfrm>
            <a:off x="60948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B9BBBD"/>
                </a:solidFill>
                <a:latin typeface="Open Sans"/>
                <a:ea typeface="Open Sans"/>
              </a:rPr>
              <a:t>Year 1</a:t>
            </a:r>
            <a:endParaRPr lang="en-US" sz="1450" b="0" u="none" strike="noStrike">
              <a:solidFill>
                <a:srgbClr val="FFFFFF"/>
              </a:solidFill>
              <a:latin typeface="Arial"/>
            </a:endParaRPr>
          </a:p>
        </p:txBody>
      </p:sp>
      <p:sp>
        <p:nvSpPr>
          <p:cNvPr id="837516718" name="Shape 7"/>
          <p:cNvSpPr/>
          <p:nvPr/>
        </p:nvSpPr>
        <p:spPr bwMode="auto">
          <a:xfrm>
            <a:off x="60948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130891347" name="Shape 8"/>
          <p:cNvSpPr/>
          <p:nvPr/>
        </p:nvSpPr>
        <p:spPr bwMode="auto">
          <a:xfrm>
            <a:off x="609480" y="5482080"/>
            <a:ext cx="3955320" cy="1927080"/>
          </a:xfrm>
          <a:prstGeom prst="rect">
            <a:avLst/>
          </a:prstGeom>
          <a:solidFill>
            <a:srgbClr val="6E717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700522403" name="Text 9"/>
          <p:cNvSpPr/>
          <p:nvPr/>
        </p:nvSpPr>
        <p:spPr bwMode="auto">
          <a:xfrm>
            <a:off x="550080" y="5577120"/>
            <a:ext cx="4074120" cy="186984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defRPr/>
            </a:pPr>
            <a:r>
              <a:rPr lang="en-US" sz="1200" b="1" u="none" strike="noStrike">
                <a:solidFill>
                  <a:srgbClr val="FFFFFF"/>
                </a:solidFill>
                <a:latin typeface="Open Sans"/>
                <a:ea typeface="Open Sans"/>
              </a:rPr>
              <a:t>Grants</a:t>
            </a:r>
            <a:endParaRPr lang="en-US" sz="1200" b="0" u="none" strike="noStrike">
              <a:solidFill>
                <a:srgbClr val="FFFFFF"/>
              </a:solidFill>
              <a:latin typeface="Arial"/>
            </a:endParaRPr>
          </a:p>
        </p:txBody>
      </p:sp>
      <p:sp>
        <p:nvSpPr>
          <p:cNvPr id="487443360" name="Text 10"/>
          <p:cNvSpPr/>
          <p:nvPr/>
        </p:nvSpPr>
        <p:spPr bwMode="auto">
          <a:xfrm>
            <a:off x="60948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~Grant-dependent</a:t>
            </a:r>
            <a:endParaRPr lang="en-US" sz="1200" b="0" u="none" strike="noStrike">
              <a:solidFill>
                <a:srgbClr val="FFFFFF"/>
              </a:solidFill>
              <a:latin typeface="Arial"/>
            </a:endParaRPr>
          </a:p>
        </p:txBody>
      </p:sp>
      <p:sp>
        <p:nvSpPr>
          <p:cNvPr id="73194102" name="Text 11"/>
          <p:cNvSpPr/>
          <p:nvPr/>
        </p:nvSpPr>
        <p:spPr bwMode="auto">
          <a:xfrm>
            <a:off x="485136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B9BBBD"/>
                </a:solidFill>
                <a:latin typeface="Open Sans"/>
                <a:ea typeface="Open Sans"/>
              </a:rPr>
              <a:t>Year 3</a:t>
            </a:r>
            <a:endParaRPr lang="en-US" sz="1450" b="0" u="none" strike="noStrike">
              <a:solidFill>
                <a:srgbClr val="FFFFFF"/>
              </a:solidFill>
              <a:latin typeface="Arial"/>
            </a:endParaRPr>
          </a:p>
        </p:txBody>
      </p:sp>
      <p:sp>
        <p:nvSpPr>
          <p:cNvPr id="282206603" name="Shape 12"/>
          <p:cNvSpPr/>
          <p:nvPr/>
        </p:nvSpPr>
        <p:spPr bwMode="auto">
          <a:xfrm>
            <a:off x="485136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530368529" name="Shape 13"/>
          <p:cNvSpPr/>
          <p:nvPr/>
        </p:nvSpPr>
        <p:spPr bwMode="auto">
          <a:xfrm>
            <a:off x="4851360" y="5218920"/>
            <a:ext cx="3955320" cy="1357560"/>
          </a:xfrm>
          <a:prstGeom prst="rect">
            <a:avLst/>
          </a:prstGeom>
          <a:solidFill>
            <a:srgbClr val="6E717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393614324" name="Text 14"/>
          <p:cNvSpPr/>
          <p:nvPr/>
        </p:nvSpPr>
        <p:spPr bwMode="auto">
          <a:xfrm>
            <a:off x="4791960" y="5314320"/>
            <a:ext cx="4074120" cy="1300320"/>
          </a:xfrm>
          <a:prstGeom prst="rect">
            <a:avLst/>
          </a:prstGeom>
          <a:noFill/>
          <a:ln w="0">
            <a:noFill/>
          </a:ln>
        </p:spPr>
        <p:style>
          <a:lnRef idx="0"/>
          <a:fillRef idx="0"/>
          <a:effectRef idx="0"/>
          <a:fontRef idx="minor"/>
        </p:style>
        <p:txBody>
          <a:bodyPr lIns="25560" tIns="25560" rIns="25560" bIns="25560" anchor="t">
            <a:normAutofit/>
          </a:bodyPr>
          <a:p>
            <a:pPr algn="ctr" defTabSz="914400">
              <a:lnSpc>
                <a:spcPct val="100000"/>
              </a:lnSpc>
              <a:tabLst>
                <a:tab pos="0" algn="l"/>
              </a:tabLst>
              <a:defRPr/>
            </a:pPr>
            <a:r>
              <a:rPr lang="en-US" sz="1200" b="1" u="none" strike="noStrike">
                <a:solidFill>
                  <a:srgbClr val="FFFFFF"/>
                </a:solidFill>
                <a:latin typeface="Open Sans"/>
                <a:ea typeface="Open Sans"/>
              </a:rPr>
              <a:t>Grants</a:t>
            </a:r>
            <a:endParaRPr lang="en-US" sz="1200" b="0" u="none" strike="noStrike">
              <a:solidFill>
                <a:srgbClr val="FFFFFF"/>
              </a:solidFill>
              <a:latin typeface="Arial"/>
            </a:endParaRPr>
          </a:p>
        </p:txBody>
      </p:sp>
      <p:sp>
        <p:nvSpPr>
          <p:cNvPr id="1212167253" name="Shape 15"/>
          <p:cNvSpPr/>
          <p:nvPr/>
        </p:nvSpPr>
        <p:spPr bwMode="auto">
          <a:xfrm>
            <a:off x="4851360" y="6577200"/>
            <a:ext cx="3955320" cy="83160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717686697" name="Text 16"/>
          <p:cNvSpPr/>
          <p:nvPr/>
        </p:nvSpPr>
        <p:spPr bwMode="auto">
          <a:xfrm>
            <a:off x="4791960" y="6577200"/>
            <a:ext cx="4074120" cy="86976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00000"/>
              </a:lnSpc>
              <a:tabLst>
                <a:tab pos="0" algn="l"/>
              </a:tabLst>
              <a:defRPr/>
            </a:pPr>
            <a:r>
              <a:rPr lang="en-US" sz="1200" b="1" u="none" strike="noStrike">
                <a:solidFill>
                  <a:srgbClr val="FFFFFF"/>
                </a:solidFill>
                <a:latin typeface="Open Sans"/>
                <a:ea typeface="Open Sans"/>
              </a:rPr>
              <a:t>Revenue + partners</a:t>
            </a:r>
            <a:endParaRPr lang="en-US" sz="1200" b="0" u="none" strike="noStrike">
              <a:solidFill>
                <a:srgbClr val="FFFFFF"/>
              </a:solidFill>
              <a:latin typeface="Arial"/>
            </a:endParaRPr>
          </a:p>
        </p:txBody>
      </p:sp>
      <p:sp>
        <p:nvSpPr>
          <p:cNvPr id="1841185521" name="Text 17"/>
          <p:cNvSpPr/>
          <p:nvPr/>
        </p:nvSpPr>
        <p:spPr bwMode="auto">
          <a:xfrm>
            <a:off x="485136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Revenue begins to carry it</a:t>
            </a:r>
            <a:endParaRPr lang="en-US" sz="1200" b="0" u="none" strike="noStrike">
              <a:solidFill>
                <a:srgbClr val="FFFFFF"/>
              </a:solidFill>
              <a:latin typeface="Arial"/>
            </a:endParaRPr>
          </a:p>
        </p:txBody>
      </p:sp>
      <p:sp>
        <p:nvSpPr>
          <p:cNvPr id="72224226" name="Text 18"/>
          <p:cNvSpPr/>
          <p:nvPr/>
        </p:nvSpPr>
        <p:spPr bwMode="auto">
          <a:xfrm>
            <a:off x="9093240" y="4876200"/>
            <a:ext cx="43509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1" u="none" strike="noStrike">
                <a:solidFill>
                  <a:srgbClr val="F4B872"/>
                </a:solidFill>
                <a:latin typeface="Open Sans"/>
                <a:ea typeface="Open Sans"/>
              </a:rPr>
              <a:t>Year 25</a:t>
            </a:r>
            <a:endParaRPr lang="en-US" sz="1450" b="0" u="none" strike="noStrike">
              <a:solidFill>
                <a:srgbClr val="FFFFFF"/>
              </a:solidFill>
              <a:latin typeface="Arial"/>
            </a:endParaRPr>
          </a:p>
        </p:txBody>
      </p:sp>
      <p:sp>
        <p:nvSpPr>
          <p:cNvPr id="1110345427" name="Shape 19"/>
          <p:cNvSpPr/>
          <p:nvPr/>
        </p:nvSpPr>
        <p:spPr bwMode="auto">
          <a:xfrm>
            <a:off x="9093240" y="5218920"/>
            <a:ext cx="3955320" cy="2189880"/>
          </a:xfrm>
          <a:prstGeom prst="rect">
            <a:avLst/>
          </a:prstGeom>
          <a:solidFill>
            <a:srgbClr val="3A3A3A"/>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10028569" name="Shape 20"/>
          <p:cNvSpPr/>
          <p:nvPr/>
        </p:nvSpPr>
        <p:spPr bwMode="auto">
          <a:xfrm>
            <a:off x="9093240" y="5218920"/>
            <a:ext cx="3955320" cy="393480"/>
          </a:xfrm>
          <a:prstGeom prst="rect">
            <a:avLst/>
          </a:prstGeom>
          <a:solidFill>
            <a:srgbClr val="6E717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1292361514" name="Shape 21"/>
          <p:cNvSpPr/>
          <p:nvPr/>
        </p:nvSpPr>
        <p:spPr bwMode="auto">
          <a:xfrm>
            <a:off x="9093240" y="5613480"/>
            <a:ext cx="3955320" cy="17956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2038892728" name="Text 22"/>
          <p:cNvSpPr/>
          <p:nvPr/>
        </p:nvSpPr>
        <p:spPr bwMode="auto">
          <a:xfrm>
            <a:off x="9033840" y="5613480"/>
            <a:ext cx="4074120" cy="1833840"/>
          </a:xfrm>
          <a:prstGeom prst="rect">
            <a:avLst/>
          </a:prstGeom>
          <a:noFill/>
          <a:ln w="0">
            <a:noFill/>
          </a:ln>
        </p:spPr>
        <p:style>
          <a:lnRef idx="0"/>
          <a:fillRef idx="0"/>
          <a:effectRef idx="0"/>
          <a:fontRef idx="minor"/>
        </p:style>
        <p:txBody>
          <a:bodyPr lIns="25560" tIns="25560" rIns="25560" bIns="25560" anchor="ctr">
            <a:normAutofit/>
          </a:bodyPr>
          <a:p>
            <a:pPr algn="ctr" defTabSz="914400">
              <a:lnSpc>
                <a:spcPct val="130000"/>
              </a:lnSpc>
              <a:tabLst>
                <a:tab pos="0" algn="l"/>
              </a:tabLst>
              <a:defRPr/>
            </a:pPr>
            <a:r>
              <a:rPr lang="en-US" sz="1200" b="1" u="none" strike="noStrike">
                <a:solidFill>
                  <a:srgbClr val="FFFFFF"/>
                </a:solidFill>
                <a:latin typeface="Open Sans"/>
                <a:ea typeface="Open Sans"/>
              </a:rPr>
              <a:t>Self- sustaining</a:t>
            </a:r>
            <a:endParaRPr lang="en-US" sz="1200" b="0" u="none" strike="noStrike">
              <a:solidFill>
                <a:srgbClr val="FFFFFF"/>
              </a:solidFill>
              <a:latin typeface="Arial"/>
            </a:endParaRPr>
          </a:p>
        </p:txBody>
      </p:sp>
      <p:sp>
        <p:nvSpPr>
          <p:cNvPr id="1934104993" name="Text 23"/>
          <p:cNvSpPr/>
          <p:nvPr/>
        </p:nvSpPr>
        <p:spPr bwMode="auto">
          <a:xfrm>
            <a:off x="9093240" y="7485840"/>
            <a:ext cx="435096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rgbClr val="9B9DA0"/>
                </a:solidFill>
                <a:latin typeface="Open Sans"/>
                <a:ea typeface="Open Sans"/>
              </a:rPr>
              <a:t>Operating revenue carries it</a:t>
            </a:r>
            <a:endParaRPr lang="en-US" sz="1200" b="0" u="none" strike="noStrike">
              <a:solidFill>
                <a:srgbClr val="FFFFFF"/>
              </a:solidFill>
              <a:latin typeface="Arial"/>
            </a:endParaRPr>
          </a:p>
        </p:txBody>
      </p:sp>
      <p:sp>
        <p:nvSpPr>
          <p:cNvPr id="1327376740" name="Text 24"/>
          <p:cNvSpPr/>
          <p:nvPr/>
        </p:nvSpPr>
        <p:spPr bwMode="auto">
          <a:xfrm>
            <a:off x="13582800" y="4352400"/>
            <a:ext cx="4504680" cy="3232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500" b="1" u="none" strike="noStrike" spc="181">
                <a:solidFill>
                  <a:srgbClr val="9B9DA0"/>
                </a:solidFill>
                <a:latin typeface="Open Sans"/>
                <a:ea typeface="Open Sans"/>
              </a:rPr>
              <a:t>FOUR RECURRING STREAMS · </a:t>
            </a:r>
            <a:r>
              <a:rPr lang="zh-CN" sz="1500" b="1" u="none" strike="noStrike" spc="181">
                <a:solidFill>
                  <a:srgbClr val="9B9DA0"/>
                </a:solidFill>
                <a:latin typeface="Open Sans"/>
                <a:ea typeface="Open Sans"/>
              </a:rPr>
              <a:t>収益源</a:t>
            </a:r>
            <a:endParaRPr lang="en-US" sz="1500" b="0" u="none" strike="noStrike">
              <a:solidFill>
                <a:srgbClr val="FFFFFF"/>
              </a:solidFill>
              <a:latin typeface="Arial"/>
            </a:endParaRPr>
          </a:p>
        </p:txBody>
      </p:sp>
      <p:sp>
        <p:nvSpPr>
          <p:cNvPr id="1946631690" name="Shape 25"/>
          <p:cNvSpPr/>
          <p:nvPr/>
        </p:nvSpPr>
        <p:spPr bwMode="auto">
          <a:xfrm>
            <a:off x="13582800" y="519984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294675550" name="Shape 26"/>
          <p:cNvSpPr/>
          <p:nvPr/>
        </p:nvSpPr>
        <p:spPr bwMode="auto">
          <a:xfrm>
            <a:off x="13582800" y="487152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1313217981" name="Text 27"/>
          <p:cNvSpPr/>
          <p:nvPr/>
        </p:nvSpPr>
        <p:spPr bwMode="auto">
          <a:xfrm>
            <a:off x="13830480" y="4790520"/>
            <a:ext cx="29469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Compute hosting </a:t>
            </a:r>
            <a:r>
              <a:rPr lang="zh-CN" sz="1300" b="1" u="none" strike="noStrike">
                <a:solidFill>
                  <a:srgbClr val="9B9DA0"/>
                </a:solidFill>
                <a:latin typeface="Open Sans"/>
                <a:ea typeface="Open Sans"/>
              </a:rPr>
              <a:t>ホスティング</a:t>
            </a:r>
            <a:endParaRPr lang="en-US" sz="1300" b="0" u="none" strike="noStrike">
              <a:solidFill>
                <a:srgbClr val="FFFFFF"/>
              </a:solidFill>
              <a:latin typeface="Arial"/>
            </a:endParaRPr>
          </a:p>
        </p:txBody>
      </p:sp>
      <p:sp>
        <p:nvSpPr>
          <p:cNvPr id="1935512988" name="Shape 28"/>
          <p:cNvSpPr/>
          <p:nvPr/>
        </p:nvSpPr>
        <p:spPr bwMode="auto">
          <a:xfrm>
            <a:off x="13582800" y="577152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205127983" name="Shape 29"/>
          <p:cNvSpPr/>
          <p:nvPr/>
        </p:nvSpPr>
        <p:spPr bwMode="auto">
          <a:xfrm>
            <a:off x="13582800" y="544284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427129625" name="Text 30"/>
          <p:cNvSpPr/>
          <p:nvPr/>
        </p:nvSpPr>
        <p:spPr bwMode="auto">
          <a:xfrm>
            <a:off x="13830480" y="5361840"/>
            <a:ext cx="28461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Energy feed-in (FIT/FIP) </a:t>
            </a:r>
            <a:r>
              <a:rPr lang="zh-CN" sz="1300" b="1" u="none" strike="noStrike">
                <a:solidFill>
                  <a:srgbClr val="9B9DA0"/>
                </a:solidFill>
                <a:latin typeface="Open Sans"/>
                <a:ea typeface="Open Sans"/>
              </a:rPr>
              <a:t>売電</a:t>
            </a:r>
            <a:endParaRPr lang="en-US" sz="1300" b="0" u="none" strike="noStrike">
              <a:solidFill>
                <a:srgbClr val="FFFFFF"/>
              </a:solidFill>
              <a:latin typeface="Arial"/>
            </a:endParaRPr>
          </a:p>
        </p:txBody>
      </p:sp>
      <p:sp>
        <p:nvSpPr>
          <p:cNvPr id="840786378" name="Shape 31"/>
          <p:cNvSpPr/>
          <p:nvPr/>
        </p:nvSpPr>
        <p:spPr bwMode="auto">
          <a:xfrm>
            <a:off x="13582800" y="634284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8212998" name="Shape 32"/>
          <p:cNvSpPr/>
          <p:nvPr/>
        </p:nvSpPr>
        <p:spPr bwMode="auto">
          <a:xfrm>
            <a:off x="13582800" y="601452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143601404" name="Text 33"/>
          <p:cNvSpPr/>
          <p:nvPr/>
        </p:nvSpPr>
        <p:spPr bwMode="auto">
          <a:xfrm>
            <a:off x="13830480" y="5933520"/>
            <a:ext cx="185652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EV charging </a:t>
            </a:r>
            <a:r>
              <a:rPr lang="en-US" sz="1300" b="1" u="none" strike="noStrike">
                <a:solidFill>
                  <a:srgbClr val="9B9DA0"/>
                </a:solidFill>
                <a:latin typeface="Open Sans"/>
                <a:ea typeface="Open Sans"/>
              </a:rPr>
              <a:t>EV</a:t>
            </a:r>
            <a:r>
              <a:rPr lang="zh-CN" sz="1300" b="1" u="none" strike="noStrike">
                <a:solidFill>
                  <a:srgbClr val="9B9DA0"/>
                </a:solidFill>
                <a:latin typeface="Open Sans"/>
                <a:ea typeface="Open Sans"/>
              </a:rPr>
              <a:t>充電</a:t>
            </a:r>
            <a:endParaRPr lang="en-US" sz="1300" b="0" u="none" strike="noStrike">
              <a:solidFill>
                <a:srgbClr val="FFFFFF"/>
              </a:solidFill>
              <a:latin typeface="Arial"/>
            </a:endParaRPr>
          </a:p>
        </p:txBody>
      </p:sp>
      <p:sp>
        <p:nvSpPr>
          <p:cNvPr id="1870389108" name="Shape 34"/>
          <p:cNvSpPr/>
          <p:nvPr/>
        </p:nvSpPr>
        <p:spPr bwMode="auto">
          <a:xfrm>
            <a:off x="13582800" y="6585840"/>
            <a:ext cx="113760" cy="113760"/>
          </a:xfrm>
          <a:prstGeom prst="rect">
            <a:avLst/>
          </a:prstGeom>
          <a:solidFill>
            <a:srgbClr val="E58520"/>
          </a:solidFill>
          <a:ln w="0">
            <a:noFill/>
          </a:ln>
        </p:spPr>
        <p:style>
          <a:lnRef idx="0"/>
          <a:fillRef idx="0"/>
          <a:effectRef idx="0"/>
          <a:fontRef idx="minor"/>
        </p:style>
        <p:txBody>
          <a:bodyPr lIns="56880" tIns="45000" rIns="56880" bIns="45000" anchor="t">
            <a:noAutofit/>
          </a:bodyPr>
          <a:p>
            <a:pPr>
              <a:defRPr/>
            </a:pPr>
            <a:endParaRPr lang="en-US" sz="1800" b="0" u="none" strike="noStrike">
              <a:solidFill>
                <a:srgbClr val="FFFFFF"/>
              </a:solidFill>
              <a:latin typeface="Arial"/>
            </a:endParaRPr>
          </a:p>
        </p:txBody>
      </p:sp>
      <p:sp>
        <p:nvSpPr>
          <p:cNvPr id="344388066" name="Text 35"/>
          <p:cNvSpPr/>
          <p:nvPr/>
        </p:nvSpPr>
        <p:spPr bwMode="auto">
          <a:xfrm>
            <a:off x="13830480" y="6504840"/>
            <a:ext cx="364068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Carbon credits (J-Credits) </a:t>
            </a:r>
            <a:r>
              <a:rPr lang="en-US" sz="1300" b="1" u="none" strike="noStrike">
                <a:solidFill>
                  <a:srgbClr val="9B9DA0"/>
                </a:solidFill>
                <a:latin typeface="Open Sans"/>
                <a:ea typeface="Open Sans"/>
              </a:rPr>
              <a:t>J</a:t>
            </a:r>
            <a:r>
              <a:rPr lang="zh-CN" sz="1300" b="1" u="none" strike="noStrike">
                <a:solidFill>
                  <a:srgbClr val="9B9DA0"/>
                </a:solidFill>
                <a:latin typeface="Open Sans"/>
                <a:ea typeface="Open Sans"/>
              </a:rPr>
              <a:t>クレジット</a:t>
            </a:r>
            <a:endParaRPr lang="en-US" sz="1300" b="0" u="none" strike="noStrike">
              <a:solidFill>
                <a:srgbClr val="FFFFFF"/>
              </a:solidFill>
              <a:latin typeface="Arial"/>
            </a:endParaRPr>
          </a:p>
        </p:txBody>
      </p:sp>
      <p:sp>
        <p:nvSpPr>
          <p:cNvPr id="201815767" name="Shape 36"/>
          <p:cNvSpPr/>
          <p:nvPr/>
        </p:nvSpPr>
        <p:spPr bwMode="auto">
          <a:xfrm>
            <a:off x="13582800" y="7009920"/>
            <a:ext cx="409500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1363633195" name="Text 37"/>
          <p:cNvSpPr/>
          <p:nvPr/>
        </p:nvSpPr>
        <p:spPr bwMode="auto">
          <a:xfrm>
            <a:off x="13582800" y="7171560"/>
            <a:ext cx="4217760" cy="55188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50000"/>
              </a:lnSpc>
              <a:tabLst>
                <a:tab pos="0" algn="l"/>
              </a:tabLst>
              <a:defRPr/>
            </a:pPr>
            <a:r>
              <a:rPr lang="en-US" sz="1350" b="0" u="none" strike="noStrike">
                <a:solidFill>
                  <a:srgbClr val="B9BBBD"/>
                </a:solidFill>
                <a:latin typeface="Open Sans"/>
                <a:ea typeface="Open Sans"/>
              </a:rPr>
              <a:t>A 25-year horizon — the bridge to localized small-scale power generation.</a:t>
            </a:r>
            <a:endParaRPr lang="en-US" sz="135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35650195"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54345732"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1138607523" name="Text 2"/>
          <p:cNvSpPr/>
          <p:nvPr/>
        </p:nvSpPr>
        <p:spPr bwMode="auto">
          <a:xfrm>
            <a:off x="1181160" y="800280"/>
            <a:ext cx="46746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GOVERNANCE &amp; ADVISORS · </a:t>
            </a:r>
            <a:r>
              <a:rPr lang="zh-CN" sz="1300" b="1" u="none" strike="noStrike" spc="204">
                <a:solidFill>
                  <a:srgbClr val="9B9DA0"/>
                </a:solidFill>
                <a:latin typeface="Open Sans"/>
                <a:ea typeface="Open Sans"/>
              </a:rPr>
              <a:t>体制と顧問 </a:t>
            </a:r>
            <a:r>
              <a:rPr lang="en-US" sz="1300" b="1" u="none" strike="noStrike" spc="204">
                <a:solidFill>
                  <a:srgbClr val="9B9DA0"/>
                </a:solidFill>
                <a:latin typeface="Open Sans"/>
                <a:ea typeface="Open Sans"/>
              </a:rPr>
              <a:t>· 13</a:t>
            </a:r>
            <a:endParaRPr lang="en-US" sz="1300" b="0" u="none" strike="noStrike">
              <a:solidFill>
                <a:srgbClr val="000000"/>
              </a:solidFill>
              <a:latin typeface="Arial"/>
            </a:endParaRPr>
          </a:p>
        </p:txBody>
      </p:sp>
      <p:sp>
        <p:nvSpPr>
          <p:cNvPr id="349071984" name="Text 3"/>
          <p:cNvSpPr/>
          <p:nvPr/>
        </p:nvSpPr>
        <p:spPr bwMode="auto">
          <a:xfrm>
            <a:off x="609480" y="1228680"/>
            <a:ext cx="18775080" cy="6260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3000"/>
              </a:lnSpc>
              <a:tabLst>
                <a:tab pos="0" algn="l"/>
              </a:tabLst>
              <a:defRPr/>
            </a:pPr>
            <a:r>
              <a:rPr lang="en-US" sz="4500" b="1" u="none" strike="noStrike" spc="-45">
                <a:solidFill>
                  <a:srgbClr val="2E2E2E"/>
                </a:solidFill>
                <a:latin typeface="Sora"/>
                <a:ea typeface="Sora"/>
              </a:rPr>
              <a:t>Small team, serious people, open books</a:t>
            </a:r>
            <a:endParaRPr lang="en-US" sz="4500" b="0" u="none" strike="noStrike">
              <a:solidFill>
                <a:srgbClr val="000000"/>
              </a:solidFill>
              <a:latin typeface="Arial"/>
            </a:endParaRPr>
          </a:p>
        </p:txBody>
      </p:sp>
      <p:sp>
        <p:nvSpPr>
          <p:cNvPr id="173835699" name="Text 4"/>
          <p:cNvSpPr/>
          <p:nvPr/>
        </p:nvSpPr>
        <p:spPr bwMode="auto">
          <a:xfrm>
            <a:off x="609480" y="1893600"/>
            <a:ext cx="18775080" cy="389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00" b="0" u="none" strike="noStrike">
                <a:solidFill>
                  <a:srgbClr val="6E7174"/>
                </a:solidFill>
                <a:latin typeface="Noto Sans JP"/>
                <a:ea typeface="Noto Sans JP"/>
              </a:rPr>
              <a:t>少人数・確かな顔ぶれ・公開された会計。</a:t>
            </a:r>
            <a:endParaRPr lang="en-US" sz="1900" b="0" u="none" strike="noStrike">
              <a:solidFill>
                <a:srgbClr val="000000"/>
              </a:solidFill>
              <a:latin typeface="Arial"/>
            </a:endParaRPr>
          </a:p>
        </p:txBody>
      </p:sp>
      <p:pic>
        <p:nvPicPr>
          <p:cNvPr id="9204961" name="Image 0" descr="preencoded.png"/>
          <p:cNvPicPr/>
          <p:nvPr/>
        </p:nvPicPr>
        <p:blipFill rotWithShape="1">
          <a:blip r:embed="rId3"/>
          <a:stretch/>
        </p:blipFill>
        <p:spPr bwMode="auto">
          <a:xfrm>
            <a:off x="609480" y="2588760"/>
            <a:ext cx="4437000" cy="4795200"/>
          </a:xfrm>
          <a:prstGeom prst="rect">
            <a:avLst/>
          </a:prstGeom>
          <a:noFill/>
          <a:ln w="0">
            <a:noFill/>
          </a:ln>
        </p:spPr>
      </p:pic>
      <p:sp>
        <p:nvSpPr>
          <p:cNvPr id="1697188468" name="Text 6"/>
          <p:cNvSpPr/>
          <p:nvPr/>
        </p:nvSpPr>
        <p:spPr bwMode="auto">
          <a:xfrm>
            <a:off x="609480" y="7467840"/>
            <a:ext cx="4420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36">
                <a:solidFill>
                  <a:srgbClr val="F4B872"/>
                </a:solidFill>
                <a:latin typeface="Open Sans"/>
                <a:ea typeface="Open Sans"/>
              </a:rPr>
              <a:t>PROJECT LEAD · </a:t>
            </a:r>
            <a:r>
              <a:rPr lang="zh-CN" sz="1000" b="1" u="none" strike="noStrike" spc="136">
                <a:solidFill>
                  <a:srgbClr val="F4B872"/>
                </a:solidFill>
                <a:latin typeface="Open Sans"/>
                <a:ea typeface="Open Sans"/>
              </a:rPr>
              <a:t>代表</a:t>
            </a:r>
            <a:endParaRPr lang="en-US" sz="1000" b="0" u="none" strike="noStrike">
              <a:solidFill>
                <a:srgbClr val="000000"/>
              </a:solidFill>
              <a:latin typeface="Arial"/>
            </a:endParaRPr>
          </a:p>
        </p:txBody>
      </p:sp>
      <p:sp>
        <p:nvSpPr>
          <p:cNvPr id="1310290979" name="Text 7"/>
          <p:cNvSpPr/>
          <p:nvPr/>
        </p:nvSpPr>
        <p:spPr bwMode="auto">
          <a:xfrm>
            <a:off x="609480" y="7734600"/>
            <a:ext cx="4420080" cy="32040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10000"/>
              </a:lnSpc>
              <a:tabLst>
                <a:tab pos="0" algn="l"/>
              </a:tabLst>
              <a:defRPr/>
            </a:pPr>
            <a:r>
              <a:rPr lang="en-US" sz="2050" b="1" u="none" strike="noStrike">
                <a:solidFill>
                  <a:schemeClr val="dk1"/>
                </a:solidFill>
                <a:latin typeface="Sora"/>
                <a:ea typeface="Sora"/>
              </a:rPr>
              <a:t>Rob Oudendijk</a:t>
            </a:r>
            <a:endParaRPr lang="en-US" sz="2050" b="0" u="none" strike="noStrike">
              <a:solidFill>
                <a:srgbClr val="000000"/>
              </a:solidFill>
              <a:latin typeface="Arial"/>
            </a:endParaRPr>
          </a:p>
        </p:txBody>
      </p:sp>
      <p:sp>
        <p:nvSpPr>
          <p:cNvPr id="129657935" name="Text 8"/>
          <p:cNvSpPr/>
          <p:nvPr/>
        </p:nvSpPr>
        <p:spPr bwMode="auto">
          <a:xfrm>
            <a:off x="609480" y="8065080"/>
            <a:ext cx="4420080"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0" u="none" strike="noStrike">
                <a:solidFill>
                  <a:schemeClr val="dk1">
                    <a:lumMod val="65000"/>
                    <a:lumOff val="35000"/>
                  </a:schemeClr>
                </a:solidFill>
                <a:latin typeface="Open Sans"/>
                <a:ea typeface="Open Sans"/>
              </a:rPr>
              <a:t>YR-Design · Safecast</a:t>
            </a:r>
            <a:endParaRPr lang="en-US" sz="1200" b="0" u="none" strike="noStrike">
              <a:solidFill>
                <a:srgbClr val="000000"/>
              </a:solidFill>
              <a:latin typeface="Arial"/>
            </a:endParaRPr>
          </a:p>
        </p:txBody>
      </p:sp>
      <p:sp>
        <p:nvSpPr>
          <p:cNvPr id="1019912189" name="Shape 9"/>
          <p:cNvSpPr/>
          <p:nvPr/>
        </p:nvSpPr>
        <p:spPr bwMode="auto">
          <a:xfrm>
            <a:off x="609480" y="8587800"/>
            <a:ext cx="4437000" cy="1012680"/>
          </a:xfrm>
          <a:prstGeom prst="rect">
            <a:avLst/>
          </a:prstGeom>
          <a:solidFill>
            <a:srgbClr val="F6F6F4"/>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348877458" name="Text 10"/>
          <p:cNvSpPr/>
          <p:nvPr/>
        </p:nvSpPr>
        <p:spPr bwMode="auto">
          <a:xfrm>
            <a:off x="819000" y="8740080"/>
            <a:ext cx="44200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00" b="1" u="none" strike="noStrike" spc="108">
                <a:solidFill>
                  <a:srgbClr val="9B9DA0"/>
                </a:solidFill>
                <a:latin typeface="Open Sans"/>
                <a:ea typeface="Open Sans"/>
              </a:rPr>
              <a:t>LEGAL PATH · </a:t>
            </a:r>
            <a:r>
              <a:rPr lang="zh-CN" sz="1000" b="1" u="none" strike="noStrike" spc="108">
                <a:solidFill>
                  <a:srgbClr val="9B9DA0"/>
                </a:solidFill>
                <a:latin typeface="Open Sans"/>
                <a:ea typeface="Open Sans"/>
              </a:rPr>
              <a:t>法人形態</a:t>
            </a:r>
            <a:endParaRPr lang="en-US" sz="1000" b="0" u="none" strike="noStrike">
              <a:solidFill>
                <a:srgbClr val="000000"/>
              </a:solidFill>
              <a:latin typeface="Arial"/>
            </a:endParaRPr>
          </a:p>
        </p:txBody>
      </p:sp>
      <p:sp>
        <p:nvSpPr>
          <p:cNvPr id="1859090454" name="Text 11"/>
          <p:cNvSpPr/>
          <p:nvPr/>
        </p:nvSpPr>
        <p:spPr bwMode="auto">
          <a:xfrm>
            <a:off x="819000" y="9006840"/>
            <a:ext cx="4138560" cy="479520"/>
          </a:xfrm>
          <a:prstGeom prst="rect">
            <a:avLst/>
          </a:prstGeom>
          <a:noFill/>
          <a:ln w="0">
            <a:noFill/>
          </a:ln>
        </p:spPr>
        <p:style>
          <a:lnRef idx="0"/>
          <a:fillRef idx="0"/>
          <a:effectRef idx="0"/>
          <a:fontRef idx="minor"/>
        </p:style>
        <p:txBody>
          <a:bodyPr lIns="25560" tIns="25560" rIns="25560" bIns="25560" anchor="t">
            <a:normAutofit fontScale="92500" lnSpcReduction="9999"/>
          </a:bodyPr>
          <a:p>
            <a:pPr defTabSz="914400">
              <a:lnSpc>
                <a:spcPct val="145000"/>
              </a:lnSpc>
              <a:tabLst>
                <a:tab pos="0" algn="l"/>
              </a:tabLst>
              <a:defRPr/>
            </a:pPr>
            <a:r>
              <a:rPr lang="zh-CN" sz="1200" b="0" u="none" strike="noStrike">
                <a:solidFill>
                  <a:srgbClr val="4A4A4A"/>
                </a:solidFill>
                <a:latin typeface="Open Sans"/>
                <a:ea typeface="Open Sans"/>
              </a:rPr>
              <a:t>一般社団法人 → </a:t>
            </a:r>
            <a:r>
              <a:rPr lang="en-US" sz="1200" b="0" u="none" strike="noStrike">
                <a:solidFill>
                  <a:srgbClr val="4A4A4A"/>
                </a:solidFill>
                <a:latin typeface="Open Sans"/>
                <a:ea typeface="Open Sans"/>
              </a:rPr>
              <a:t>NPO → </a:t>
            </a:r>
            <a:r>
              <a:rPr lang="zh-CN" sz="1200" b="0" u="none" strike="noStrike">
                <a:solidFill>
                  <a:srgbClr val="4A4A4A"/>
                </a:solidFill>
                <a:latin typeface="Open Sans"/>
                <a:ea typeface="Open Sans"/>
              </a:rPr>
              <a:t>認定</a:t>
            </a:r>
            <a:r>
              <a:rPr lang="en-US" sz="1200" b="0" u="none" strike="noStrike">
                <a:solidFill>
                  <a:srgbClr val="4A4A4A"/>
                </a:solidFill>
                <a:latin typeface="Open Sans"/>
                <a:ea typeface="Open Sans"/>
              </a:rPr>
              <a:t>NPO — tax-deductible status.</a:t>
            </a:r>
            <a:endParaRPr lang="en-US" sz="1200" b="0" u="none" strike="noStrike">
              <a:solidFill>
                <a:srgbClr val="000000"/>
              </a:solidFill>
              <a:latin typeface="Arial"/>
            </a:endParaRPr>
          </a:p>
        </p:txBody>
      </p:sp>
      <p:sp>
        <p:nvSpPr>
          <p:cNvPr id="36535092" name="Text 12"/>
          <p:cNvSpPr/>
          <p:nvPr/>
        </p:nvSpPr>
        <p:spPr bwMode="auto">
          <a:xfrm>
            <a:off x="5371200" y="2588760"/>
            <a:ext cx="13537079" cy="246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47">
                <a:solidFill>
                  <a:srgbClr val="9B9DA0"/>
                </a:solidFill>
                <a:latin typeface="Open Sans"/>
                <a:ea typeface="Open Sans"/>
              </a:rPr>
              <a:t>ADVISORY BOARD · </a:t>
            </a:r>
            <a:r>
              <a:rPr lang="zh-CN" sz="1050" b="1" u="none" strike="noStrike" spc="147">
                <a:solidFill>
                  <a:srgbClr val="9B9DA0"/>
                </a:solidFill>
                <a:latin typeface="Open Sans"/>
                <a:ea typeface="Open Sans"/>
              </a:rPr>
              <a:t>顧問</a:t>
            </a:r>
            <a:endParaRPr lang="en-US" sz="1050" b="0" u="none" strike="noStrike">
              <a:solidFill>
                <a:srgbClr val="000000"/>
              </a:solidFill>
              <a:latin typeface="Arial"/>
            </a:endParaRPr>
          </a:p>
        </p:txBody>
      </p:sp>
      <p:pic>
        <p:nvPicPr>
          <p:cNvPr id="2137002681" name="Image 1" descr="preencoded.png"/>
          <p:cNvPicPr/>
          <p:nvPr/>
        </p:nvPicPr>
        <p:blipFill rotWithShape="1">
          <a:blip r:embed="rId4"/>
          <a:stretch/>
        </p:blipFill>
        <p:spPr bwMode="auto">
          <a:xfrm>
            <a:off x="5371200" y="2931840"/>
            <a:ext cx="2354040" cy="2423880"/>
          </a:xfrm>
          <a:prstGeom prst="rect">
            <a:avLst/>
          </a:prstGeom>
          <a:noFill/>
          <a:ln w="0">
            <a:noFill/>
          </a:ln>
        </p:spPr>
      </p:pic>
      <p:sp>
        <p:nvSpPr>
          <p:cNvPr id="208691736" name="Shape 13"/>
          <p:cNvSpPr/>
          <p:nvPr/>
        </p:nvSpPr>
        <p:spPr bwMode="auto">
          <a:xfrm>
            <a:off x="5428440" y="5512680"/>
            <a:ext cx="2354040" cy="27720"/>
          </a:xfrm>
          <a:prstGeom prst="rect">
            <a:avLst/>
          </a:prstGeom>
          <a:solidFill>
            <a:srgbClr val="E58520"/>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FFFFFF"/>
              </a:solidFill>
              <a:latin typeface="Arial"/>
            </a:endParaRPr>
          </a:p>
        </p:txBody>
      </p:sp>
      <p:sp>
        <p:nvSpPr>
          <p:cNvPr id="699359620" name="Text 14"/>
          <p:cNvSpPr/>
          <p:nvPr/>
        </p:nvSpPr>
        <p:spPr bwMode="auto">
          <a:xfrm>
            <a:off x="5428440" y="565560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Ray Ozzie</a:t>
            </a:r>
            <a:endParaRPr lang="en-US" sz="1450" b="0" u="none" strike="noStrike">
              <a:solidFill>
                <a:srgbClr val="000000"/>
              </a:solidFill>
              <a:latin typeface="Arial"/>
            </a:endParaRPr>
          </a:p>
        </p:txBody>
      </p:sp>
      <p:sp>
        <p:nvSpPr>
          <p:cNvPr id="679690629" name="Text 15"/>
          <p:cNvSpPr/>
          <p:nvPr/>
        </p:nvSpPr>
        <p:spPr bwMode="auto">
          <a:xfrm>
            <a:off x="5428440" y="5912640"/>
            <a:ext cx="25894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6E7174"/>
                </a:solidFill>
                <a:latin typeface="Open Sans"/>
                <a:ea typeface="Open Sans"/>
              </a:rPr>
              <a:t>Executive Chair, Blues</a:t>
            </a:r>
            <a:endParaRPr lang="en-US" sz="1150" b="0" u="none" strike="noStrike">
              <a:solidFill>
                <a:srgbClr val="000000"/>
              </a:solidFill>
              <a:latin typeface="Arial"/>
            </a:endParaRPr>
          </a:p>
        </p:txBody>
      </p:sp>
      <p:pic>
        <p:nvPicPr>
          <p:cNvPr id="1722791357" name="Image 2" descr="preencoded.png"/>
          <p:cNvPicPr/>
          <p:nvPr/>
        </p:nvPicPr>
        <p:blipFill rotWithShape="1">
          <a:blip r:embed="rId5"/>
          <a:stretch/>
        </p:blipFill>
        <p:spPr bwMode="auto">
          <a:xfrm>
            <a:off x="7859520" y="2931840"/>
            <a:ext cx="2354040" cy="2423880"/>
          </a:xfrm>
          <a:prstGeom prst="rect">
            <a:avLst/>
          </a:prstGeom>
          <a:noFill/>
          <a:ln w="0">
            <a:noFill/>
          </a:ln>
        </p:spPr>
      </p:pic>
      <p:sp>
        <p:nvSpPr>
          <p:cNvPr id="914028907" name="Shape 16"/>
          <p:cNvSpPr/>
          <p:nvPr/>
        </p:nvSpPr>
        <p:spPr bwMode="auto">
          <a:xfrm>
            <a:off x="7916400" y="551268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1002372461" name="Text 17"/>
          <p:cNvSpPr/>
          <p:nvPr/>
        </p:nvSpPr>
        <p:spPr bwMode="auto">
          <a:xfrm>
            <a:off x="7905960" y="57038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San Poisson</a:t>
            </a:r>
            <a:endParaRPr lang="en-US" sz="1450" b="0" u="none" strike="noStrike">
              <a:solidFill>
                <a:srgbClr val="000000"/>
              </a:solidFill>
              <a:latin typeface="Arial"/>
            </a:endParaRPr>
          </a:p>
        </p:txBody>
      </p:sp>
      <p:sp>
        <p:nvSpPr>
          <p:cNvPr id="756370085" name="Text 18"/>
          <p:cNvSpPr/>
          <p:nvPr/>
        </p:nvSpPr>
        <p:spPr bwMode="auto">
          <a:xfrm>
            <a:off x="7905960" y="5961240"/>
            <a:ext cx="2589480" cy="2278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150" b="0" u="none" strike="noStrike">
                <a:solidFill>
                  <a:srgbClr val="6E7174"/>
                </a:solidFill>
                <a:latin typeface="Open Sans"/>
                <a:ea typeface="Open Sans"/>
              </a:rPr>
              <a:t>Project Manager</a:t>
            </a:r>
            <a:endParaRPr lang="en-US" sz="1150" b="0" u="none" strike="noStrike">
              <a:solidFill>
                <a:srgbClr val="000000"/>
              </a:solidFill>
              <a:latin typeface="Arial"/>
            </a:endParaRPr>
          </a:p>
        </p:txBody>
      </p:sp>
      <p:pic>
        <p:nvPicPr>
          <p:cNvPr id="1764088715" name="Image 3" descr="preencoded.png"/>
          <p:cNvPicPr/>
          <p:nvPr/>
        </p:nvPicPr>
        <p:blipFill rotWithShape="1">
          <a:blip r:embed="rId6"/>
          <a:stretch/>
        </p:blipFill>
        <p:spPr bwMode="auto">
          <a:xfrm>
            <a:off x="10347480" y="2946240"/>
            <a:ext cx="2354040" cy="2409480"/>
          </a:xfrm>
          <a:prstGeom prst="rect">
            <a:avLst/>
          </a:prstGeom>
          <a:noFill/>
          <a:ln w="0">
            <a:noFill/>
          </a:ln>
        </p:spPr>
      </p:pic>
      <p:sp>
        <p:nvSpPr>
          <p:cNvPr id="723377559" name="Shape 19"/>
          <p:cNvSpPr/>
          <p:nvPr/>
        </p:nvSpPr>
        <p:spPr bwMode="auto">
          <a:xfrm>
            <a:off x="1040472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901489596" name="Text 20"/>
          <p:cNvSpPr/>
          <p:nvPr/>
        </p:nvSpPr>
        <p:spPr bwMode="auto">
          <a:xfrm>
            <a:off x="1040472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Takuo Dome</a:t>
            </a:r>
            <a:endParaRPr lang="en-US" sz="1450" b="0" u="none" strike="noStrike">
              <a:solidFill>
                <a:srgbClr val="000000"/>
              </a:solidFill>
              <a:latin typeface="Arial"/>
            </a:endParaRPr>
          </a:p>
        </p:txBody>
      </p:sp>
      <p:sp>
        <p:nvSpPr>
          <p:cNvPr id="1030044362" name="Text 21"/>
          <p:cNvSpPr/>
          <p:nvPr/>
        </p:nvSpPr>
        <p:spPr bwMode="auto">
          <a:xfrm>
            <a:off x="10404720" y="5927039"/>
            <a:ext cx="2430360" cy="40896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30000"/>
              </a:lnSpc>
              <a:tabLst>
                <a:tab pos="0" algn="l"/>
              </a:tabLst>
              <a:defRPr/>
            </a:pPr>
            <a:r>
              <a:rPr lang="en-US" sz="1150" b="0" u="none" strike="noStrike">
                <a:solidFill>
                  <a:srgbClr val="6E7174"/>
                </a:solidFill>
                <a:latin typeface="Open Sans"/>
                <a:ea typeface="Open Sans"/>
              </a:rPr>
              <a:t>Prof. Emeritus, Osaka Univ. Director, Inochi Forum</a:t>
            </a:r>
            <a:endParaRPr lang="en-US" sz="1150" b="0" u="none" strike="noStrike">
              <a:solidFill>
                <a:srgbClr val="000000"/>
              </a:solidFill>
              <a:latin typeface="Arial"/>
            </a:endParaRPr>
          </a:p>
        </p:txBody>
      </p:sp>
      <p:pic>
        <p:nvPicPr>
          <p:cNvPr id="871316286" name="Image 4" descr="preencoded.png"/>
          <p:cNvPicPr/>
          <p:nvPr/>
        </p:nvPicPr>
        <p:blipFill rotWithShape="1">
          <a:blip r:embed="rId7"/>
          <a:stretch/>
        </p:blipFill>
        <p:spPr bwMode="auto">
          <a:xfrm>
            <a:off x="12835440" y="2931840"/>
            <a:ext cx="2354040" cy="2423880"/>
          </a:xfrm>
          <a:prstGeom prst="rect">
            <a:avLst/>
          </a:prstGeom>
          <a:noFill/>
          <a:ln w="0">
            <a:noFill/>
          </a:ln>
        </p:spPr>
      </p:pic>
      <p:sp>
        <p:nvSpPr>
          <p:cNvPr id="384331869" name="Shape 22"/>
          <p:cNvSpPr/>
          <p:nvPr/>
        </p:nvSpPr>
        <p:spPr bwMode="auto">
          <a:xfrm>
            <a:off x="1289268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480402019" name="Text 23"/>
          <p:cNvSpPr/>
          <p:nvPr/>
        </p:nvSpPr>
        <p:spPr bwMode="auto">
          <a:xfrm>
            <a:off x="1289268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Evin Zoet</a:t>
            </a:r>
            <a:endParaRPr lang="en-US" sz="1450" b="0" u="none" strike="noStrike">
              <a:solidFill>
                <a:srgbClr val="000000"/>
              </a:solidFill>
              <a:latin typeface="Arial"/>
            </a:endParaRPr>
          </a:p>
        </p:txBody>
      </p:sp>
      <p:sp>
        <p:nvSpPr>
          <p:cNvPr id="297873139" name="Text 24"/>
          <p:cNvSpPr/>
          <p:nvPr/>
        </p:nvSpPr>
        <p:spPr bwMode="auto">
          <a:xfrm>
            <a:off x="12892680" y="5927039"/>
            <a:ext cx="2430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defRPr/>
            </a:pPr>
            <a:r>
              <a:rPr lang="en-US" sz="1150" b="0" u="none" strike="noStrike">
                <a:solidFill>
                  <a:srgbClr val="6E7174"/>
                </a:solidFill>
                <a:latin typeface="Open Sans"/>
                <a:ea typeface="Open Sans"/>
              </a:rPr>
              <a:t>Co-Rep. Director, Transom</a:t>
            </a:r>
            <a:endParaRPr lang="en-US" sz="1150" b="0" u="none" strike="noStrike">
              <a:solidFill>
                <a:srgbClr val="000000"/>
              </a:solidFill>
              <a:latin typeface="Arial"/>
            </a:endParaRPr>
          </a:p>
        </p:txBody>
      </p:sp>
      <p:pic>
        <p:nvPicPr>
          <p:cNvPr id="670462193" name="Image 5" descr="preencoded.png"/>
          <p:cNvPicPr/>
          <p:nvPr/>
        </p:nvPicPr>
        <p:blipFill rotWithShape="1">
          <a:blip r:embed="rId8"/>
          <a:stretch/>
        </p:blipFill>
        <p:spPr bwMode="auto">
          <a:xfrm>
            <a:off x="15323760" y="2931840"/>
            <a:ext cx="2354040" cy="2423880"/>
          </a:xfrm>
          <a:prstGeom prst="rect">
            <a:avLst/>
          </a:prstGeom>
          <a:noFill/>
          <a:ln w="0">
            <a:noFill/>
          </a:ln>
        </p:spPr>
      </p:pic>
      <p:sp>
        <p:nvSpPr>
          <p:cNvPr id="1560609153" name="Shape 25"/>
          <p:cNvSpPr/>
          <p:nvPr/>
        </p:nvSpPr>
        <p:spPr bwMode="auto">
          <a:xfrm>
            <a:off x="15380640" y="5526720"/>
            <a:ext cx="2354040" cy="27720"/>
          </a:xfrm>
          <a:prstGeom prst="rect">
            <a:avLst/>
          </a:prstGeom>
          <a:solidFill>
            <a:srgbClr val="E6E6E2"/>
          </a:solidFill>
          <a:ln w="0">
            <a:noFill/>
          </a:ln>
        </p:spPr>
        <p:style>
          <a:lnRef idx="0"/>
          <a:fillRef idx="0"/>
          <a:effectRef idx="0"/>
          <a:fontRef idx="minor"/>
        </p:style>
        <p:txBody>
          <a:bodyPr lIns="90000" tIns="-16560" rIns="90000" bIns="-16560" anchor="t">
            <a:noAutofit/>
          </a:bodyPr>
          <a:p>
            <a:pPr>
              <a:defRPr/>
            </a:pPr>
            <a:endParaRPr lang="en-US" sz="1800" b="0" u="none" strike="noStrike">
              <a:solidFill>
                <a:srgbClr val="000000"/>
              </a:solidFill>
              <a:latin typeface="Arial"/>
            </a:endParaRPr>
          </a:p>
        </p:txBody>
      </p:sp>
      <p:sp>
        <p:nvSpPr>
          <p:cNvPr id="296072630" name="Text 26"/>
          <p:cNvSpPr/>
          <p:nvPr/>
        </p:nvSpPr>
        <p:spPr bwMode="auto">
          <a:xfrm>
            <a:off x="15380640" y="5669640"/>
            <a:ext cx="2589480" cy="266040"/>
          </a:xfrm>
          <a:prstGeom prst="rect">
            <a:avLst/>
          </a:prstGeom>
          <a:noFill/>
          <a:ln w="0">
            <a:noFill/>
          </a:ln>
        </p:spPr>
        <p:style>
          <a:lnRef idx="0"/>
          <a:fillRef idx="0"/>
          <a:effectRef idx="0"/>
          <a:fontRef idx="minor"/>
        </p:style>
        <p:txBody>
          <a:bodyPr lIns="25560" tIns="25560" rIns="25560" bIns="25560" anchor="t">
            <a:normAutofit lnSpcReduction="9999"/>
          </a:bodyPr>
          <a:p>
            <a:pPr defTabSz="914400">
              <a:lnSpc>
                <a:spcPct val="100000"/>
              </a:lnSpc>
              <a:tabLst>
                <a:tab pos="0" algn="l"/>
              </a:tabLst>
              <a:defRPr/>
            </a:pPr>
            <a:r>
              <a:rPr lang="en-US" sz="1450" b="1" u="none" strike="noStrike">
                <a:solidFill>
                  <a:srgbClr val="2E2E2E"/>
                </a:solidFill>
                <a:latin typeface="Sora"/>
                <a:ea typeface="Sora"/>
              </a:rPr>
              <a:t>Yoshiko Zoet-Suzuki</a:t>
            </a:r>
            <a:endParaRPr lang="en-US" sz="1450" b="0" u="none" strike="noStrike">
              <a:solidFill>
                <a:srgbClr val="000000"/>
              </a:solidFill>
              <a:latin typeface="Arial"/>
            </a:endParaRPr>
          </a:p>
        </p:txBody>
      </p:sp>
      <p:sp>
        <p:nvSpPr>
          <p:cNvPr id="1877347652" name="Text 27"/>
          <p:cNvSpPr/>
          <p:nvPr/>
        </p:nvSpPr>
        <p:spPr bwMode="auto">
          <a:xfrm>
            <a:off x="15380640" y="5927039"/>
            <a:ext cx="243036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30000"/>
              </a:lnSpc>
              <a:tabLst>
                <a:tab pos="0" algn="l"/>
              </a:tabLst>
              <a:defRPr/>
            </a:pPr>
            <a:r>
              <a:rPr lang="en-US" sz="1150" b="0" u="none" strike="noStrike">
                <a:solidFill>
                  <a:srgbClr val="6E7174"/>
                </a:solidFill>
                <a:latin typeface="Open Sans"/>
                <a:ea typeface="Open Sans"/>
              </a:rPr>
              <a:t>Co-Rep. Director, Transom</a:t>
            </a:r>
            <a:endParaRPr lang="en-US" sz="11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AFAF9"/>
        </a:solidFill>
      </p:bgPr>
    </p:bg>
    <p:spTree>
      <p:nvGrpSpPr>
        <p:cNvPr id="1" name=""/>
        <p:cNvGrpSpPr/>
        <p:nvPr/>
      </p:nvGrpSpPr>
      <p:grpSpPr bwMode="auto">
        <a:xfrm>
          <a:off x="0" y="0"/>
          <a:ext cx="0" cy="0"/>
          <a:chOff x="0" y="0"/>
          <a:chExt cx="0" cy="0"/>
        </a:xfrm>
      </p:grpSpPr>
      <p:sp>
        <p:nvSpPr>
          <p:cNvPr id="748665166" name="Shape 0"/>
          <p:cNvSpPr/>
          <p:nvPr/>
        </p:nvSpPr>
        <p:spPr bwMode="auto">
          <a:xfrm>
            <a:off x="0" y="0"/>
            <a:ext cx="18287280" cy="75600"/>
          </a:xfrm>
          <a:prstGeom prst="rect">
            <a:avLst/>
          </a:prstGeom>
          <a:solidFill>
            <a:srgbClr val="9B9DA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2042245157" name="Shape 1"/>
          <p:cNvSpPr/>
          <p:nvPr/>
        </p:nvSpPr>
        <p:spPr bwMode="auto">
          <a:xfrm>
            <a:off x="609480" y="89532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880241189" name="Text 2"/>
          <p:cNvSpPr/>
          <p:nvPr/>
        </p:nvSpPr>
        <p:spPr bwMode="auto">
          <a:xfrm>
            <a:off x="1181160" y="800280"/>
            <a:ext cx="280980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REPLICATION · </a:t>
            </a:r>
            <a:r>
              <a:rPr lang="zh-CN" sz="1300" b="1" u="none" strike="noStrike" spc="204">
                <a:solidFill>
                  <a:srgbClr val="9B9DA0"/>
                </a:solidFill>
                <a:latin typeface="Open Sans"/>
                <a:ea typeface="Open Sans"/>
              </a:rPr>
              <a:t>横展開 </a:t>
            </a:r>
            <a:r>
              <a:rPr lang="en-US" sz="1300" b="1" u="none" strike="noStrike" spc="204">
                <a:solidFill>
                  <a:srgbClr val="9B9DA0"/>
                </a:solidFill>
                <a:latin typeface="Open Sans"/>
                <a:ea typeface="Open Sans"/>
              </a:rPr>
              <a:t>· 14</a:t>
            </a:r>
            <a:endParaRPr lang="en-US" sz="1300" b="0" u="none" strike="noStrike">
              <a:solidFill>
                <a:srgbClr val="000000"/>
              </a:solidFill>
              <a:latin typeface="Arial"/>
            </a:endParaRPr>
          </a:p>
        </p:txBody>
      </p:sp>
      <p:sp>
        <p:nvSpPr>
          <p:cNvPr id="928339739" name="Text 3"/>
          <p:cNvSpPr/>
          <p:nvPr/>
        </p:nvSpPr>
        <p:spPr bwMode="auto">
          <a:xfrm>
            <a:off x="609480" y="1247759"/>
            <a:ext cx="18775080" cy="66528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4800" b="1" u="none" strike="noStrike" spc="-47">
                <a:solidFill>
                  <a:srgbClr val="2E2E2E"/>
                </a:solidFill>
                <a:latin typeface="Sora"/>
                <a:ea typeface="Sora"/>
              </a:rPr>
              <a:t>One village, an open blueprint</a:t>
            </a:r>
            <a:endParaRPr lang="en-US" sz="4800" b="0" u="none" strike="noStrike">
              <a:solidFill>
                <a:srgbClr val="000000"/>
              </a:solidFill>
              <a:latin typeface="Arial"/>
            </a:endParaRPr>
          </a:p>
        </p:txBody>
      </p:sp>
      <p:sp>
        <p:nvSpPr>
          <p:cNvPr id="1273238464" name="Text 4"/>
          <p:cNvSpPr/>
          <p:nvPr/>
        </p:nvSpPr>
        <p:spPr bwMode="auto">
          <a:xfrm>
            <a:off x="609480" y="1971000"/>
            <a:ext cx="18775080" cy="40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1950" b="0" u="none" strike="noStrike">
                <a:solidFill>
                  <a:srgbClr val="6E7174"/>
                </a:solidFill>
                <a:latin typeface="Noto Sans JP"/>
                <a:ea typeface="Noto Sans JP"/>
              </a:rPr>
              <a:t>御杖は終着点ではなく、原型。公開された設計図。</a:t>
            </a:r>
            <a:endParaRPr lang="en-US" sz="1950" b="0" u="none" strike="noStrike">
              <a:solidFill>
                <a:srgbClr val="000000"/>
              </a:solidFill>
              <a:latin typeface="Arial"/>
            </a:endParaRPr>
          </a:p>
        </p:txBody>
      </p:sp>
      <p:sp>
        <p:nvSpPr>
          <p:cNvPr id="1065653153" name="Text 5"/>
          <p:cNvSpPr/>
          <p:nvPr/>
        </p:nvSpPr>
        <p:spPr bwMode="auto">
          <a:xfrm>
            <a:off x="487080" y="4843080"/>
            <a:ext cx="1682640" cy="6469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4800" b="1" u="none" strike="noStrike">
                <a:solidFill>
                  <a:srgbClr val="E58520"/>
                </a:solidFill>
                <a:latin typeface="Sora"/>
                <a:ea typeface="Sora"/>
              </a:rPr>
              <a:t>100s</a:t>
            </a:r>
            <a:endParaRPr lang="en-US" sz="4800" b="0" u="none" strike="noStrike">
              <a:solidFill>
                <a:srgbClr val="000000"/>
              </a:solidFill>
              <a:latin typeface="Arial"/>
            </a:endParaRPr>
          </a:p>
        </p:txBody>
      </p:sp>
      <p:sp>
        <p:nvSpPr>
          <p:cNvPr id="563746808" name="Text 6"/>
          <p:cNvSpPr/>
          <p:nvPr/>
        </p:nvSpPr>
        <p:spPr bwMode="auto">
          <a:xfrm>
            <a:off x="2207880" y="5113800"/>
            <a:ext cx="6021720" cy="650879"/>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40000"/>
              </a:lnSpc>
              <a:tabLst>
                <a:tab pos="0" algn="l"/>
              </a:tabLst>
              <a:defRPr/>
            </a:pPr>
            <a:r>
              <a:rPr lang="en-US" sz="1750" b="0" u="none" strike="noStrike">
                <a:solidFill>
                  <a:srgbClr val="4A4A4A"/>
                </a:solidFill>
                <a:latin typeface="Open Sans"/>
                <a:ea typeface="Open Sans"/>
              </a:rPr>
              <a:t>of depopulating municipalities share the same four raw materials. </a:t>
            </a:r>
            <a:r>
              <a:rPr lang="zh-CN" sz="1750" b="0" u="none" strike="noStrike">
                <a:solidFill>
                  <a:srgbClr val="4A4A4A"/>
                </a:solidFill>
                <a:latin typeface="Open Sans"/>
                <a:ea typeface="Open Sans"/>
              </a:rPr>
              <a:t>同じ条件を持つ自治体は数百。</a:t>
            </a:r>
            <a:endParaRPr lang="en-US" sz="1750" b="0" u="none" strike="noStrike">
              <a:solidFill>
                <a:srgbClr val="000000"/>
              </a:solidFill>
              <a:latin typeface="Arial"/>
            </a:endParaRPr>
          </a:p>
        </p:txBody>
      </p:sp>
      <p:sp>
        <p:nvSpPr>
          <p:cNvPr id="1755253115" name="Text 8"/>
          <p:cNvSpPr/>
          <p:nvPr/>
        </p:nvSpPr>
        <p:spPr bwMode="auto">
          <a:xfrm>
            <a:off x="487080" y="6155640"/>
            <a:ext cx="7056720" cy="7232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800" b="0" u="none" strike="noStrike">
                <a:solidFill>
                  <a:srgbClr val="3A3A3A"/>
                </a:solidFill>
                <a:latin typeface="Open Sans"/>
                <a:ea typeface="Open Sans"/>
              </a:rPr>
              <a:t>Every method, dataset and financial record is released under </a:t>
            </a:r>
            <a:r>
              <a:rPr lang="en-US" sz="1800" b="1" u="none" strike="noStrike">
                <a:solidFill>
                  <a:srgbClr val="3A3A3A"/>
                </a:solidFill>
                <a:latin typeface="Open Sans"/>
                <a:ea typeface="Open Sans"/>
              </a:rPr>
              <a:t>open licences </a:t>
            </a:r>
            <a:r>
              <a:rPr lang="en-US" sz="1800" b="0" u="none" strike="noStrike">
                <a:solidFill>
                  <a:srgbClr val="3A3A3A"/>
                </a:solidFill>
                <a:latin typeface="Open Sans"/>
                <a:ea typeface="Open Sans"/>
              </a:rPr>
              <a:t>. The deliverable isn't the data center — it's the </a:t>
            </a:r>
            <a:r>
              <a:rPr lang="en-US" sz="1800" b="1" u="none" strike="noStrike">
                <a:solidFill>
                  <a:srgbClr val="3A3A3A"/>
                </a:solidFill>
                <a:latin typeface="Open Sans"/>
                <a:ea typeface="Open Sans"/>
              </a:rPr>
              <a:t>repeatable playbook</a:t>
            </a:r>
            <a:r>
              <a:rPr lang="en-US" sz="1800" b="0" u="none" strike="noStrike">
                <a:solidFill>
                  <a:srgbClr val="3A3A3A"/>
                </a:solidFill>
                <a:latin typeface="Open Sans"/>
                <a:ea typeface="Open Sans"/>
              </a:rPr>
              <a:t>.</a:t>
            </a:r>
            <a:endParaRPr lang="en-US" sz="1800" b="0" u="none" strike="noStrike">
              <a:solidFill>
                <a:srgbClr val="000000"/>
              </a:solidFill>
              <a:latin typeface="Arial"/>
            </a:endParaRPr>
          </a:p>
        </p:txBody>
      </p:sp>
      <p:sp>
        <p:nvSpPr>
          <p:cNvPr id="1723249215" name="Text 9"/>
          <p:cNvSpPr/>
          <p:nvPr/>
        </p:nvSpPr>
        <p:spPr bwMode="auto">
          <a:xfrm>
            <a:off x="487080" y="7014960"/>
            <a:ext cx="9373680" cy="344880"/>
          </a:xfrm>
          <a:prstGeom prst="rect">
            <a:avLst/>
          </a:prstGeom>
          <a:noFill/>
          <a:ln w="0">
            <a:noFill/>
          </a:ln>
        </p:spPr>
        <p:style>
          <a:lnRef idx="0"/>
          <a:fillRef idx="0"/>
          <a:effectRef idx="0"/>
          <a:fontRef idx="minor"/>
        </p:style>
        <p:txBody>
          <a:bodyPr lIns="25560" tIns="25560" rIns="25560" bIns="25560" anchor="t">
            <a:normAutofit fontScale="85000" lnSpcReduction="19999"/>
          </a:bodyPr>
          <a:p>
            <a:pPr defTabSz="914400">
              <a:lnSpc>
                <a:spcPct val="170000"/>
              </a:lnSpc>
              <a:tabLst>
                <a:tab pos="0" algn="l"/>
              </a:tabLst>
              <a:defRPr/>
            </a:pPr>
            <a:r>
              <a:rPr lang="zh-CN" sz="1450" b="0" u="none" strike="noStrike">
                <a:solidFill>
                  <a:srgbClr val="85888C"/>
                </a:solidFill>
                <a:latin typeface="Noto Sans JP"/>
                <a:ea typeface="Noto Sans JP"/>
              </a:rPr>
              <a:t>手法・データ・会計をすべて公開。成果物はデータセンターではなく、再現可能な「型」。</a:t>
            </a:r>
            <a:endParaRPr lang="en-US" sz="1450" b="0" u="none" strike="noStrike">
              <a:solidFill>
                <a:srgbClr val="000000"/>
              </a:solidFill>
              <a:latin typeface="Arial"/>
            </a:endParaRPr>
          </a:p>
        </p:txBody>
      </p:sp>
      <p:pic>
        <p:nvPicPr>
          <p:cNvPr id="1494051600" name="Image 6" descr="preencoded.png"/>
          <p:cNvPicPr/>
          <p:nvPr/>
        </p:nvPicPr>
        <p:blipFill rotWithShape="1">
          <a:blip r:embed="rId3"/>
          <a:stretch/>
        </p:blipFill>
        <p:spPr bwMode="auto">
          <a:xfrm>
            <a:off x="8339400" y="2743200"/>
            <a:ext cx="9343079" cy="5257800"/>
          </a:xfrm>
          <a:prstGeom prst="rect">
            <a:avLst/>
          </a:prstGeom>
          <a:noFill/>
          <a:ln w="0">
            <a:noFill/>
          </a:ln>
        </p:spPr>
      </p:pic>
      <p:sp>
        <p:nvSpPr>
          <p:cNvPr id="1318726317" name="Shape 3"/>
          <p:cNvSpPr/>
          <p:nvPr/>
        </p:nvSpPr>
        <p:spPr bwMode="auto">
          <a:xfrm>
            <a:off x="8339400" y="5230440"/>
            <a:ext cx="4550400" cy="2559600"/>
          </a:xfrm>
          <a:prstGeom prst="rect">
            <a:avLst/>
          </a:prstGeom>
          <a:gradFill rotWithShape="0">
            <a:gsLst>
              <a:gs pos="0">
                <a:srgbClr val="141414">
                  <a:alpha val="94000"/>
                </a:srgbClr>
              </a:gs>
              <a:gs pos="50000">
                <a:srgbClr val="141414">
                  <a:alpha val="50000"/>
                </a:srgbClr>
              </a:gs>
              <a:gs pos="100000">
                <a:srgbClr val="141414">
                  <a:alpha val="10000"/>
                </a:srgbClr>
              </a:gs>
            </a:gsLst>
            <a:lin ang="16200000" scaled="1"/>
          </a:gra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000000"/>
              </a:solidFill>
              <a:latin typeface="Arial"/>
            </a:endParaRPr>
          </a:p>
        </p:txBody>
      </p:sp>
      <p:sp>
        <p:nvSpPr>
          <p:cNvPr id="1836865052" name="Text 1"/>
          <p:cNvSpPr/>
          <p:nvPr/>
        </p:nvSpPr>
        <p:spPr bwMode="auto">
          <a:xfrm>
            <a:off x="8718840" y="600516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01</a:t>
            </a:r>
            <a:endParaRPr lang="en-US" sz="1350" b="0" u="none" strike="noStrike">
              <a:solidFill>
                <a:srgbClr val="000000"/>
              </a:solidFill>
              <a:latin typeface="Arial"/>
            </a:endParaRPr>
          </a:p>
        </p:txBody>
      </p:sp>
      <p:sp>
        <p:nvSpPr>
          <p:cNvPr id="1191571745" name="Text 57"/>
          <p:cNvSpPr/>
          <p:nvPr/>
        </p:nvSpPr>
        <p:spPr bwMode="auto">
          <a:xfrm>
            <a:off x="9240120" y="5987160"/>
            <a:ext cx="3526560" cy="35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Restoration &amp; energy methods</a:t>
            </a:r>
            <a:endParaRPr lang="en-US" sz="1450" b="0" u="none" strike="noStrike">
              <a:solidFill>
                <a:srgbClr val="000000"/>
              </a:solidFill>
              <a:latin typeface="Arial"/>
            </a:endParaRPr>
          </a:p>
        </p:txBody>
      </p:sp>
      <p:sp>
        <p:nvSpPr>
          <p:cNvPr id="473905682" name="Text 58"/>
          <p:cNvSpPr/>
          <p:nvPr/>
        </p:nvSpPr>
        <p:spPr bwMode="auto">
          <a:xfrm>
            <a:off x="8718840" y="645516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02</a:t>
            </a:r>
            <a:endParaRPr lang="en-US" sz="1350" b="0" u="none" strike="noStrike">
              <a:solidFill>
                <a:srgbClr val="000000"/>
              </a:solidFill>
              <a:latin typeface="Arial"/>
            </a:endParaRPr>
          </a:p>
        </p:txBody>
      </p:sp>
      <p:sp>
        <p:nvSpPr>
          <p:cNvPr id="1245671950" name="Text 60"/>
          <p:cNvSpPr/>
          <p:nvPr/>
        </p:nvSpPr>
        <p:spPr bwMode="auto">
          <a:xfrm>
            <a:off x="9240120" y="6437520"/>
            <a:ext cx="380628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Financial model &amp; open accounts</a:t>
            </a:r>
            <a:endParaRPr lang="en-US" sz="1450" b="0" u="none" strike="noStrike">
              <a:solidFill>
                <a:srgbClr val="000000"/>
              </a:solidFill>
              <a:latin typeface="Arial"/>
            </a:endParaRPr>
          </a:p>
        </p:txBody>
      </p:sp>
      <p:sp>
        <p:nvSpPr>
          <p:cNvPr id="1008820185" name="Text 61"/>
          <p:cNvSpPr/>
          <p:nvPr/>
        </p:nvSpPr>
        <p:spPr bwMode="auto">
          <a:xfrm>
            <a:off x="8718840" y="690552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03</a:t>
            </a:r>
            <a:endParaRPr lang="en-US" sz="1350" b="0" u="none" strike="noStrike">
              <a:solidFill>
                <a:srgbClr val="000000"/>
              </a:solidFill>
              <a:latin typeface="Arial"/>
            </a:endParaRPr>
          </a:p>
        </p:txBody>
      </p:sp>
      <p:sp>
        <p:nvSpPr>
          <p:cNvPr id="99726033" name="Text 62"/>
          <p:cNvSpPr/>
          <p:nvPr/>
        </p:nvSpPr>
        <p:spPr bwMode="auto">
          <a:xfrm>
            <a:off x="9240120" y="6887880"/>
            <a:ext cx="3454200" cy="354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Governance &amp; legal templates</a:t>
            </a:r>
            <a:endParaRPr lang="en-US" sz="1450" b="0" u="none" strike="noStrike">
              <a:solidFill>
                <a:srgbClr val="000000"/>
              </a:solidFill>
              <a:latin typeface="Arial"/>
            </a:endParaRPr>
          </a:p>
        </p:txBody>
      </p:sp>
      <p:sp>
        <p:nvSpPr>
          <p:cNvPr id="1073997653" name="Text 63"/>
          <p:cNvSpPr/>
          <p:nvPr/>
        </p:nvSpPr>
        <p:spPr bwMode="auto">
          <a:xfrm>
            <a:off x="8718840" y="7355880"/>
            <a:ext cx="449280" cy="3189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50" b="1" u="none" strike="noStrike">
                <a:solidFill>
                  <a:srgbClr val="E58520"/>
                </a:solidFill>
                <a:latin typeface="Sora"/>
                <a:ea typeface="Sora"/>
              </a:rPr>
              <a:t>04</a:t>
            </a:r>
            <a:endParaRPr lang="en-US" sz="1350" b="0" u="none" strike="noStrike">
              <a:solidFill>
                <a:srgbClr val="000000"/>
              </a:solidFill>
              <a:latin typeface="Arial"/>
            </a:endParaRPr>
          </a:p>
        </p:txBody>
      </p:sp>
      <p:sp>
        <p:nvSpPr>
          <p:cNvPr id="252924470" name="Text 64"/>
          <p:cNvSpPr/>
          <p:nvPr/>
        </p:nvSpPr>
        <p:spPr bwMode="auto">
          <a:xfrm>
            <a:off x="9240120" y="7338240"/>
            <a:ext cx="3363120" cy="3546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FFFFF"/>
                </a:solidFill>
                <a:latin typeface="Open Sans"/>
                <a:ea typeface="Open Sans"/>
              </a:rPr>
              <a:t>Environmental &amp; energy data</a:t>
            </a:r>
            <a:endParaRPr lang="en-US" sz="1450" b="0" u="none" strike="noStrike">
              <a:solidFill>
                <a:srgbClr val="000000"/>
              </a:solidFill>
              <a:latin typeface="Arial"/>
            </a:endParaRPr>
          </a:p>
        </p:txBody>
      </p:sp>
      <p:sp>
        <p:nvSpPr>
          <p:cNvPr id="1287147114" name="Text 65"/>
          <p:cNvSpPr/>
          <p:nvPr/>
        </p:nvSpPr>
        <p:spPr bwMode="auto">
          <a:xfrm>
            <a:off x="8560080" y="5514840"/>
            <a:ext cx="9312840" cy="3308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spc="167">
                <a:solidFill>
                  <a:srgbClr val="9B9DA0"/>
                </a:solidFill>
                <a:latin typeface="Open Sans"/>
                <a:ea typeface="Open Sans"/>
              </a:rPr>
              <a:t>THE OPEN PLAYBOOK · </a:t>
            </a:r>
            <a:r>
              <a:rPr lang="zh-CN" sz="1200" b="1" u="none" strike="noStrike" spc="167">
                <a:solidFill>
                  <a:srgbClr val="9B9DA0"/>
                </a:solidFill>
                <a:latin typeface="Open Sans"/>
                <a:ea typeface="Open Sans"/>
              </a:rPr>
              <a:t>公開設計図</a:t>
            </a:r>
            <a:endParaRPr lang="en-US" sz="120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2E2E2E"/>
        </a:solidFill>
      </p:bgPr>
    </p:bg>
    <p:spTree>
      <p:nvGrpSpPr>
        <p:cNvPr id="1" name=""/>
        <p:cNvGrpSpPr/>
        <p:nvPr/>
      </p:nvGrpSpPr>
      <p:grpSpPr bwMode="auto">
        <a:xfrm>
          <a:off x="0" y="0"/>
          <a:ext cx="0" cy="0"/>
          <a:chOff x="0" y="0"/>
          <a:chExt cx="0" cy="0"/>
        </a:xfrm>
      </p:grpSpPr>
      <p:sp>
        <p:nvSpPr>
          <p:cNvPr id="426450558" name="Shape 0"/>
          <p:cNvSpPr/>
          <p:nvPr/>
        </p:nvSpPr>
        <p:spPr bwMode="auto">
          <a:xfrm>
            <a:off x="0" y="0"/>
            <a:ext cx="18287280" cy="75600"/>
          </a:xfrm>
          <a:prstGeom prst="rect">
            <a:avLst/>
          </a:prstGeom>
          <a:solidFill>
            <a:srgbClr val="E58520"/>
          </a:solidFill>
          <a:ln w="0">
            <a:noFill/>
          </a:ln>
        </p:spPr>
        <p:style>
          <a:lnRef idx="0"/>
          <a:fillRef idx="0"/>
          <a:effectRef idx="0"/>
          <a:fontRef idx="minor"/>
        </p:style>
        <p:txBody>
          <a:bodyPr lIns="90000" tIns="31320" rIns="90000" bIns="31320" anchor="t">
            <a:noAutofit/>
          </a:bodyPr>
          <a:p>
            <a:pPr>
              <a:defRPr/>
            </a:pPr>
            <a:endParaRPr lang="en-US" sz="1800" b="0" u="none" strike="noStrike">
              <a:solidFill>
                <a:srgbClr val="FFFFFF"/>
              </a:solidFill>
              <a:latin typeface="Arial"/>
            </a:endParaRPr>
          </a:p>
        </p:txBody>
      </p:sp>
      <p:sp>
        <p:nvSpPr>
          <p:cNvPr id="1186812048" name="Shape 1"/>
          <p:cNvSpPr/>
          <p:nvPr/>
        </p:nvSpPr>
        <p:spPr bwMode="auto">
          <a:xfrm>
            <a:off x="609480" y="933480"/>
            <a:ext cx="437400" cy="46800"/>
          </a:xfrm>
          <a:prstGeom prst="rect">
            <a:avLst/>
          </a:prstGeom>
          <a:solidFill>
            <a:srgbClr val="E58520"/>
          </a:solidFill>
          <a:ln w="0">
            <a:noFill/>
          </a:ln>
        </p:spPr>
        <p:style>
          <a:lnRef idx="0"/>
          <a:fillRef idx="0"/>
          <a:effectRef idx="0"/>
          <a:fontRef idx="minor"/>
        </p:style>
        <p:txBody>
          <a:bodyPr lIns="90000" tIns="2520" rIns="90000" bIns="2520" anchor="t">
            <a:noAutofit/>
          </a:bodyPr>
          <a:p>
            <a:pPr>
              <a:defRPr/>
            </a:pPr>
            <a:endParaRPr lang="en-US" sz="1800" b="0" u="none" strike="noStrike">
              <a:solidFill>
                <a:srgbClr val="FFFFFF"/>
              </a:solidFill>
              <a:latin typeface="Arial"/>
            </a:endParaRPr>
          </a:p>
        </p:txBody>
      </p:sp>
      <p:sp>
        <p:nvSpPr>
          <p:cNvPr id="996092514" name="Text 2"/>
          <p:cNvSpPr/>
          <p:nvPr/>
        </p:nvSpPr>
        <p:spPr bwMode="auto">
          <a:xfrm>
            <a:off x="1181160" y="838080"/>
            <a:ext cx="3160080" cy="27540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300" b="1" u="none" strike="noStrike" spc="204">
                <a:solidFill>
                  <a:srgbClr val="9B9DA0"/>
                </a:solidFill>
                <a:latin typeface="Open Sans"/>
                <a:ea typeface="Open Sans"/>
              </a:rPr>
              <a:t>THE INVITATION · </a:t>
            </a:r>
            <a:r>
              <a:rPr lang="zh-CN" sz="1300" b="1" u="none" strike="noStrike" spc="204">
                <a:solidFill>
                  <a:srgbClr val="9B9DA0"/>
                </a:solidFill>
                <a:latin typeface="Open Sans"/>
                <a:ea typeface="Open Sans"/>
              </a:rPr>
              <a:t>ご提案 </a:t>
            </a:r>
            <a:r>
              <a:rPr lang="en-US" sz="1300" b="1" u="none" strike="noStrike" spc="204">
                <a:solidFill>
                  <a:srgbClr val="9B9DA0"/>
                </a:solidFill>
                <a:latin typeface="Open Sans"/>
                <a:ea typeface="Open Sans"/>
              </a:rPr>
              <a:t>· 15</a:t>
            </a:r>
            <a:endParaRPr lang="en-US" sz="1300" b="0" u="none" strike="noStrike">
              <a:solidFill>
                <a:srgbClr val="FFFFFF"/>
              </a:solidFill>
              <a:latin typeface="Arial"/>
            </a:endParaRPr>
          </a:p>
        </p:txBody>
      </p:sp>
      <p:sp>
        <p:nvSpPr>
          <p:cNvPr id="1715628959" name="Text 3"/>
          <p:cNvSpPr/>
          <p:nvPr/>
        </p:nvSpPr>
        <p:spPr bwMode="auto">
          <a:xfrm>
            <a:off x="609480" y="3321720"/>
            <a:ext cx="14715360" cy="174744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2000"/>
              </a:lnSpc>
              <a:tabLst>
                <a:tab pos="0" algn="l"/>
              </a:tabLst>
              <a:defRPr/>
            </a:pPr>
            <a:r>
              <a:rPr lang="en-US" sz="6600" b="1" u="none" strike="noStrike" spc="-99">
                <a:solidFill>
                  <a:srgbClr val="F4F1EC"/>
                </a:solidFill>
                <a:latin typeface="Sora"/>
                <a:ea typeface="Sora"/>
              </a:rPr>
              <a:t>Help write the blueprint, not just fund a village.</a:t>
            </a:r>
            <a:endParaRPr lang="en-US" sz="6600" b="0" u="none" strike="noStrike">
              <a:solidFill>
                <a:srgbClr val="FFFFFF"/>
              </a:solidFill>
              <a:latin typeface="Arial"/>
            </a:endParaRPr>
          </a:p>
        </p:txBody>
      </p:sp>
      <p:sp>
        <p:nvSpPr>
          <p:cNvPr id="1584902892" name="Text 4"/>
          <p:cNvSpPr/>
          <p:nvPr/>
        </p:nvSpPr>
        <p:spPr bwMode="auto">
          <a:xfrm>
            <a:off x="609480" y="5241240"/>
            <a:ext cx="18775080" cy="45648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zh-CN" sz="2250" b="0" u="none" strike="noStrike">
                <a:solidFill>
                  <a:srgbClr val="B9BBBD"/>
                </a:solidFill>
                <a:latin typeface="Noto Sans JP"/>
                <a:ea typeface="Noto Sans JP"/>
              </a:rPr>
              <a:t>一つの村への出資ではなく、地方再生の設計図づくりに参加を。</a:t>
            </a:r>
            <a:endParaRPr lang="en-US" sz="2250" b="0" u="none" strike="noStrike">
              <a:solidFill>
                <a:srgbClr val="FFFFFF"/>
              </a:solidFill>
              <a:latin typeface="Arial"/>
            </a:endParaRPr>
          </a:p>
        </p:txBody>
      </p:sp>
      <p:sp>
        <p:nvSpPr>
          <p:cNvPr id="1901584615" name="Shape 5"/>
          <p:cNvSpPr/>
          <p:nvPr/>
        </p:nvSpPr>
        <p:spPr bwMode="auto">
          <a:xfrm>
            <a:off x="609480" y="7905600"/>
            <a:ext cx="3903840" cy="1694880"/>
          </a:xfrm>
          <a:prstGeom prst="rect">
            <a:avLst/>
          </a:prstGeom>
          <a:solidFill>
            <a:srgbClr val="E58520"/>
          </a:solidFill>
          <a:ln w="0">
            <a:noFill/>
          </a:ln>
        </p:spPr>
        <p:style>
          <a:lnRef idx="0"/>
          <a:fillRef idx="0"/>
          <a:effectRef idx="0"/>
          <a:fontRef idx="minor"/>
        </p:style>
        <p:txBody>
          <a:bodyPr lIns="90000" tIns="45000" rIns="90000" bIns="45000" anchor="t">
            <a:noAutofit/>
          </a:bodyPr>
          <a:p>
            <a:pPr>
              <a:defRPr/>
            </a:pPr>
            <a:endParaRPr lang="en-US" sz="1800" b="0" u="none" strike="noStrike">
              <a:solidFill>
                <a:srgbClr val="FFFFFF"/>
              </a:solidFill>
              <a:latin typeface="Arial"/>
            </a:endParaRPr>
          </a:p>
        </p:txBody>
      </p:sp>
      <p:sp>
        <p:nvSpPr>
          <p:cNvPr id="440235808" name="Text 6"/>
          <p:cNvSpPr/>
          <p:nvPr/>
        </p:nvSpPr>
        <p:spPr bwMode="auto">
          <a:xfrm>
            <a:off x="971640" y="8191440"/>
            <a:ext cx="3497760" cy="26604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200" b="1" u="none" strike="noStrike" spc="167">
                <a:solidFill>
                  <a:srgbClr val="FCE6CC"/>
                </a:solidFill>
                <a:latin typeface="Open Sans"/>
                <a:ea typeface="Open Sans"/>
              </a:rPr>
              <a:t>NOW SEEKING · GATE 1 · </a:t>
            </a:r>
            <a:r>
              <a:rPr lang="zh-CN" sz="1200" b="1" u="none" strike="noStrike" spc="167">
                <a:solidFill>
                  <a:srgbClr val="FCE6CC"/>
                </a:solidFill>
                <a:latin typeface="Open Sans"/>
                <a:ea typeface="Open Sans"/>
              </a:rPr>
              <a:t>現在募集中</a:t>
            </a:r>
            <a:endParaRPr lang="en-US" sz="1200" b="0" u="none" strike="noStrike">
              <a:solidFill>
                <a:srgbClr val="FFFFFF"/>
              </a:solidFill>
              <a:latin typeface="Arial"/>
            </a:endParaRPr>
          </a:p>
        </p:txBody>
      </p:sp>
      <p:sp>
        <p:nvSpPr>
          <p:cNvPr id="349962117" name="Text 7"/>
          <p:cNvSpPr/>
          <p:nvPr/>
        </p:nvSpPr>
        <p:spPr bwMode="auto">
          <a:xfrm>
            <a:off x="971640" y="8496360"/>
            <a:ext cx="3497760" cy="53280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00000"/>
              </a:lnSpc>
              <a:tabLst>
                <a:tab pos="0" algn="l"/>
              </a:tabLst>
              <a:defRPr/>
            </a:pPr>
            <a:r>
              <a:rPr lang="en-US" sz="3900" b="1" u="none" strike="noStrike">
                <a:solidFill>
                  <a:srgbClr val="FFFFFF"/>
                </a:solidFill>
                <a:latin typeface="Sora"/>
                <a:ea typeface="Sora"/>
              </a:rPr>
              <a:t>¥3–8M</a:t>
            </a:r>
            <a:endParaRPr lang="en-US" sz="3900" b="0" u="none" strike="noStrike">
              <a:solidFill>
                <a:srgbClr val="FFFFFF"/>
              </a:solidFill>
              <a:latin typeface="Arial"/>
            </a:endParaRPr>
          </a:p>
        </p:txBody>
      </p:sp>
      <p:sp>
        <p:nvSpPr>
          <p:cNvPr id="22753013" name="Text 8"/>
          <p:cNvSpPr/>
          <p:nvPr/>
        </p:nvSpPr>
        <p:spPr bwMode="auto">
          <a:xfrm>
            <a:off x="971640" y="9067680"/>
            <a:ext cx="3497760" cy="2851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450" b="0" u="none" strike="noStrike">
                <a:solidFill>
                  <a:srgbClr val="FBE6CC"/>
                </a:solidFill>
                <a:latin typeface="Open Sans"/>
                <a:ea typeface="Open Sans"/>
              </a:rPr>
              <a:t>Phase 1: entity · feasibility · advisors</a:t>
            </a:r>
            <a:endParaRPr lang="en-US" sz="1450" b="0" u="none" strike="noStrike">
              <a:solidFill>
                <a:srgbClr val="FFFFFF"/>
              </a:solidFill>
              <a:latin typeface="Arial"/>
            </a:endParaRPr>
          </a:p>
        </p:txBody>
      </p:sp>
      <p:sp>
        <p:nvSpPr>
          <p:cNvPr id="694660945" name="Text 9"/>
          <p:cNvSpPr/>
          <p:nvPr/>
        </p:nvSpPr>
        <p:spPr bwMode="auto">
          <a:xfrm>
            <a:off x="4894920" y="8282160"/>
            <a:ext cx="14060880" cy="366120"/>
          </a:xfrm>
          <a:prstGeom prst="rect">
            <a:avLst/>
          </a:prstGeom>
          <a:noFill/>
          <a:ln w="0">
            <a:noFill/>
          </a:ln>
        </p:spPr>
        <p:style>
          <a:lnRef idx="0"/>
          <a:fillRef idx="0"/>
          <a:effectRef idx="0"/>
          <a:fontRef idx="minor"/>
        </p:style>
        <p:txBody>
          <a:bodyPr lIns="25560" tIns="25560" rIns="25560" bIns="25560" anchor="t">
            <a:normAutofit fontScale="85000" lnSpcReduction="9999"/>
          </a:bodyPr>
          <a:p>
            <a:pPr defTabSz="914400">
              <a:lnSpc>
                <a:spcPct val="150000"/>
              </a:lnSpc>
              <a:tabLst>
                <a:tab pos="0" algn="l"/>
              </a:tabLst>
              <a:defRPr/>
            </a:pPr>
            <a:r>
              <a:rPr lang="en-US" sz="1750" b="0" u="none" strike="noStrike">
                <a:solidFill>
                  <a:srgbClr val="E3E4E2"/>
                </a:solidFill>
                <a:latin typeface="Open Sans"/>
                <a:ea typeface="Open Sans"/>
              </a:rPr>
              <a:t>Founding partners welcome — government, foundation, corporate, and impact investors. Open books from day one.</a:t>
            </a:r>
            <a:endParaRPr lang="en-US" sz="1750" b="0" u="none" strike="noStrike">
              <a:solidFill>
                <a:srgbClr val="FFFFFF"/>
              </a:solidFill>
              <a:latin typeface="Arial"/>
            </a:endParaRPr>
          </a:p>
        </p:txBody>
      </p:sp>
      <p:sp>
        <p:nvSpPr>
          <p:cNvPr id="1132708441" name="Shape 10"/>
          <p:cNvSpPr/>
          <p:nvPr/>
        </p:nvSpPr>
        <p:spPr bwMode="auto">
          <a:xfrm>
            <a:off x="4894920" y="8858160"/>
            <a:ext cx="12782520" cy="8640"/>
          </a:xfrm>
          <a:prstGeom prst="rect">
            <a:avLst/>
          </a:prstGeom>
          <a:solidFill>
            <a:srgbClr val="4A4A4A"/>
          </a:solidFill>
          <a:ln w="0">
            <a:noFill/>
          </a:ln>
        </p:spPr>
        <p:style>
          <a:lnRef idx="0"/>
          <a:fillRef idx="0"/>
          <a:effectRef idx="0"/>
          <a:fontRef idx="minor"/>
        </p:style>
        <p:txBody>
          <a:bodyPr lIns="90000" tIns="-35640" rIns="90000" bIns="-35640" anchor="t">
            <a:noAutofit/>
          </a:bodyPr>
          <a:p>
            <a:pPr>
              <a:defRPr/>
            </a:pPr>
            <a:endParaRPr lang="en-US" sz="1800" b="0" u="none" strike="noStrike">
              <a:solidFill>
                <a:srgbClr val="FFFFFF"/>
              </a:solidFill>
              <a:latin typeface="Arial"/>
            </a:endParaRPr>
          </a:p>
        </p:txBody>
      </p:sp>
      <p:sp>
        <p:nvSpPr>
          <p:cNvPr id="613362925" name="Text 11"/>
          <p:cNvSpPr/>
          <p:nvPr/>
        </p:nvSpPr>
        <p:spPr bwMode="auto">
          <a:xfrm>
            <a:off x="4894920" y="9077400"/>
            <a:ext cx="156996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25">
                <a:solidFill>
                  <a:srgbClr val="9B9DA0"/>
                </a:solidFill>
                <a:latin typeface="Open Sans"/>
                <a:ea typeface="Open Sans"/>
              </a:rPr>
              <a:t>LEAD</a:t>
            </a:r>
            <a:endParaRPr lang="en-US" sz="1050" b="0" u="none" strike="noStrike">
              <a:solidFill>
                <a:srgbClr val="FFFFFF"/>
              </a:solidFill>
              <a:latin typeface="Arial"/>
            </a:endParaRPr>
          </a:p>
        </p:txBody>
      </p:sp>
      <p:sp>
        <p:nvSpPr>
          <p:cNvPr id="516590080" name="Text 12"/>
          <p:cNvSpPr/>
          <p:nvPr/>
        </p:nvSpPr>
        <p:spPr bwMode="auto">
          <a:xfrm>
            <a:off x="4894920" y="9296280"/>
            <a:ext cx="156996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Rob Oudendijk</a:t>
            </a:r>
            <a:endParaRPr lang="en-US" sz="1600" b="0" u="none" strike="noStrike">
              <a:solidFill>
                <a:srgbClr val="FFFFFF"/>
              </a:solidFill>
              <a:latin typeface="Arial"/>
            </a:endParaRPr>
          </a:p>
        </p:txBody>
      </p:sp>
      <p:sp>
        <p:nvSpPr>
          <p:cNvPr id="604618504" name="Text 13"/>
          <p:cNvSpPr/>
          <p:nvPr/>
        </p:nvSpPr>
        <p:spPr bwMode="auto">
          <a:xfrm>
            <a:off x="6780240" y="9077400"/>
            <a:ext cx="211932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25">
                <a:solidFill>
                  <a:srgbClr val="9B9DA0"/>
                </a:solidFill>
                <a:latin typeface="Open Sans"/>
                <a:ea typeface="Open Sans"/>
              </a:rPr>
              <a:t>ORG</a:t>
            </a:r>
            <a:endParaRPr lang="en-US" sz="1050" b="0" u="none" strike="noStrike">
              <a:solidFill>
                <a:srgbClr val="FFFFFF"/>
              </a:solidFill>
              <a:latin typeface="Arial"/>
            </a:endParaRPr>
          </a:p>
        </p:txBody>
      </p:sp>
      <p:sp>
        <p:nvSpPr>
          <p:cNvPr id="1474657052" name="Text 14"/>
          <p:cNvSpPr/>
          <p:nvPr/>
        </p:nvSpPr>
        <p:spPr bwMode="auto">
          <a:xfrm>
            <a:off x="6780240" y="9296280"/>
            <a:ext cx="2119320" cy="3135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YR-Design · Safecast</a:t>
            </a:r>
            <a:endParaRPr lang="en-US" sz="1600" b="0" u="none" strike="noStrike">
              <a:solidFill>
                <a:srgbClr val="FFFFFF"/>
              </a:solidFill>
              <a:latin typeface="Arial"/>
            </a:endParaRPr>
          </a:p>
        </p:txBody>
      </p:sp>
      <p:sp>
        <p:nvSpPr>
          <p:cNvPr id="1005471902" name="Text 15"/>
          <p:cNvSpPr/>
          <p:nvPr/>
        </p:nvSpPr>
        <p:spPr bwMode="auto">
          <a:xfrm>
            <a:off x="9164520" y="9077400"/>
            <a:ext cx="2198160" cy="21852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050" b="1" u="none" strike="noStrike" spc="125">
                <a:solidFill>
                  <a:srgbClr val="9B9DA0"/>
                </a:solidFill>
                <a:latin typeface="Open Sans"/>
                <a:ea typeface="Open Sans"/>
              </a:rPr>
              <a:t>LOCATION</a:t>
            </a:r>
            <a:endParaRPr lang="en-US" sz="1050" b="0" u="none" strike="noStrike">
              <a:solidFill>
                <a:srgbClr val="FFFFFF"/>
              </a:solidFill>
              <a:latin typeface="Arial"/>
            </a:endParaRPr>
          </a:p>
        </p:txBody>
      </p:sp>
      <p:sp>
        <p:nvSpPr>
          <p:cNvPr id="1541053006" name="Text 16"/>
          <p:cNvSpPr/>
          <p:nvPr/>
        </p:nvSpPr>
        <p:spPr bwMode="auto">
          <a:xfrm>
            <a:off x="9164520" y="9296280"/>
            <a:ext cx="2198160" cy="342360"/>
          </a:xfrm>
          <a:prstGeom prst="rect">
            <a:avLst/>
          </a:prstGeom>
          <a:noFill/>
          <a:ln w="0">
            <a:noFill/>
          </a:ln>
        </p:spPr>
        <p:style>
          <a:lnRef idx="0"/>
          <a:fillRef idx="0"/>
          <a:effectRef idx="0"/>
          <a:fontRef idx="minor"/>
        </p:style>
        <p:txBody>
          <a:bodyPr lIns="25560" tIns="25560" rIns="25560" bIns="25560" anchor="t">
            <a:normAutofit/>
          </a:bodyPr>
          <a:p>
            <a:pPr defTabSz="914400">
              <a:lnSpc>
                <a:spcPct val="100000"/>
              </a:lnSpc>
              <a:tabLst>
                <a:tab pos="0" algn="l"/>
              </a:tabLst>
              <a:defRPr/>
            </a:pPr>
            <a:r>
              <a:rPr lang="en-US" sz="1600" b="1" u="none" strike="noStrike">
                <a:solidFill>
                  <a:srgbClr val="F4F1EC"/>
                </a:solidFill>
                <a:latin typeface="Open Sans"/>
                <a:ea typeface="Open Sans"/>
              </a:rPr>
              <a:t>Mitsue, Nara · </a:t>
            </a:r>
            <a:r>
              <a:rPr lang="zh-CN" sz="1600" b="1" u="none" strike="noStrike">
                <a:solidFill>
                  <a:srgbClr val="F4F1EC"/>
                </a:solidFill>
                <a:latin typeface="Open Sans"/>
                <a:ea typeface="Open Sans"/>
              </a:rPr>
              <a:t>御杖村</a:t>
            </a:r>
            <a:endParaRPr lang="en-US" sz="160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ONLYOFFICE/9.3.1.8</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dc:language>en-US</dc:language>
  <cp:lastModifiedBy/>
  <cp:revision>9</cp:revision>
  <dcterms:created xsi:type="dcterms:W3CDTF">2026-06-18T06:55:34Z</dcterms:created>
  <dcterms:modified xsi:type="dcterms:W3CDTF">2026-06-21T01:52:31Z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16</vt:i4>
  </property>
  <property fmtid="{D5CDD505-2E9C-101B-9397-08002B2CF9AE}" pid="4" name="PresentationFormat">
    <vt:lpwstr>On-screen Show (4:3)</vt:lpwstr>
  </property>
  <property fmtid="{D5CDD505-2E9C-101B-9397-08002B2CF9AE}" pid="5" name="Slides">
    <vt:i4>16</vt:i4>
  </property>
</Properties>
</file>