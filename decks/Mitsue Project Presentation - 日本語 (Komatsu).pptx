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0"/>
              <a:t>Planned thinning volume, m³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Cut and left in forest (伐捨)</c:v>
                </c:pt>
              </c:strCache>
            </c:strRef>
          </c:tx>
          <c:spPr>
            <a:solidFill>
              <a:srgbClr val="2F4A37"/>
            </a:solidFill>
          </c:spPr>
          <c:cat>
            <c:strRef>
              <c:f>Sheet1!$A$2:$A$4</c:f>
              <c:strCache>
                <c:ptCount val="3"/>
                <c:pt idx="0">
                  <c:v>FY2024 (R6)</c:v>
                </c:pt>
                <c:pt idx="1">
                  <c:v>FY2025 (R7)</c:v>
                </c:pt>
                <c:pt idx="2">
                  <c:v>FY2026 (R8)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6933</c:v>
                </c:pt>
                <c:pt idx="1">
                  <c:v>5431</c:v>
                </c:pt>
                <c:pt idx="2">
                  <c:v>5776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Extracted (搬出)</c:v>
                </c:pt>
              </c:strCache>
            </c:strRef>
          </c:tx>
          <c:spPr>
            <a:solidFill>
              <a:srgbClr val="C4663A"/>
            </a:solidFill>
          </c:spPr>
          <c:cat>
            <c:strRef>
              <c:f>Sheet1!$A$2:$A$4</c:f>
              <c:strCache>
                <c:ptCount val="3"/>
                <c:pt idx="0">
                  <c:v>FY2024 (R6)</c:v>
                </c:pt>
                <c:pt idx="1">
                  <c:v>FY2025 (R7)</c:v>
                </c:pt>
                <c:pt idx="2">
                  <c:v>FY2026 (R8)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519</c:v>
                </c:pt>
                <c:pt idx="1">
                  <c:v>233</c:v>
                </c:pt>
                <c:pt idx="2">
                  <c:v>1822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solidFill>
                    <a:srgbClr val="F3ECE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F3ECE0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プロジェクト概要 · 御杖村 · 奈良県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932688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山村の森林をエネルギーに ― CTL機械の試験導入の可能性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91440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コマツ様向けプロジェクト概要</a:t>
            </a:r>
            <a:br/>
            <a:r>
              <a:rPr sz="26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グリーン事業推進部 事業企画部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7223760"/>
            <a:ext cx="91440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Teams会議 · 2026年10月27日(火) 14:00〜14:45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ロブ・アウデンダイク · Mitsue-it(独立した取り組み)</a:t>
            </a:r>
          </a:p>
        </p:txBody>
      </p:sp>
      <p:pic>
        <p:nvPicPr>
          <p:cNvPr id="11" name="Picture 10" descr="s1_Imag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828800"/>
            <a:ext cx="6949440" cy="617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01 ·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手入れを必要とする森をもつ山村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5349240" cy="265176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8463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4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約1,400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48463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人(住民)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657600"/>
            <a:ext cx="5349240" cy="265176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931920"/>
            <a:ext cx="48463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4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約93%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349240"/>
            <a:ext cx="48463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森林率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80" y="3657600"/>
            <a:ext cx="5349240" cy="265176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3931920"/>
            <a:ext cx="48463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52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50〜75年生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5349240"/>
            <a:ext cx="48463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手入れされていない杉人工林の多く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766560"/>
            <a:ext cx="1664208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御杖村は奈良県宇陀郡の村です。杉の多くは戦後に植えられ、数十年にわたり手入れされていません。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400" b="1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ボトルネックは土地や需要ではなく、林業の担い手です。組合は小規模で若手が少なく、機械と新たなオペレーターが必要です。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村、地元の林業組合、NGOのモア・トゥリーズと協力する独立した取り組みです。現時点で契約はありません。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02 · 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伐りたくても、人が足りません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03 /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3566160"/>
          <a:ext cx="8778240" cy="5669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10058400" y="3566160"/>
            <a:ext cx="740664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3749039"/>
            <a:ext cx="6858000" cy="5486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0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約20,700 m³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間伐計画(令和6〜8年度):4地区・113筆・約222 ha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約88%は伐り捨て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搬出予定は約2,600 m³のみです。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1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組合の作業班は少人数で若手が少なく、人手と急傾斜・アクセスの制約が木材を林内に留めています。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計画に基づく当方の解釈です。組合に確認予定です。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出典:村役場の間伐計画(R6〜R8)。計画値であり、実績ではありません。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03 · 構想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木材を燃料に使い、在来広葉樹を植え戻す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3840480" cy="283464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1  間伐・搬出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33832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急傾斜の杉林にCTL(短幹材)機械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572000"/>
            <a:ext cx="502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C4663A"/>
                </a:solidFill>
                <a:latin typeface="Georgia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657600"/>
            <a:ext cx="3840480" cy="283464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86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2  チップ化・乾燥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92040"/>
            <a:ext cx="33832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地元でチップ化、CHPの熱で乾燥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572000"/>
            <a:ext cx="502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C4663A"/>
                </a:solidFill>
                <a:latin typeface="Georgia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657600"/>
            <a:ext cx="3840480" cy="283464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886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3  50 kWe CHP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4892040"/>
            <a:ext cx="33832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小型ガス化装置、24時間運転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21640" y="4572000"/>
            <a:ext cx="502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C4663A"/>
                </a:solidFill>
                <a:latin typeface="Georgia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78840" y="3657600"/>
            <a:ext cx="3840480" cy="283464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07440" y="3886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4  電力と熱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0" y="4892040"/>
            <a:ext cx="33832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地域で利用。将来は小規模な計算負荷も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858000"/>
            <a:ext cx="16642080" cy="73152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7132320"/>
            <a:ext cx="813816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植え戻し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伐採跡地は、モア・トゥリーズと選ぶ在来広葉樹(ナラ、クリ、コナラ等)に戻します。村の基本方針は、再び単一樹種にするのではなく在来広葉樹です。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7132320"/>
            <a:ext cx="813816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燃料需要(第1号機)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50 kWe機を24時間運転すると、乾燥材で1日あたり約1.3〜1.8 t、年間約450〜600 tが必要です。3通りの試算がこの範囲で一致しました。機種は未選定です。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04 · 第一歩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地元の林業拠点に50 kWeのプロトタイプ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8595360" cy="5852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3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想定地:地元林業組合の土場に20フィートコンテナを設置。組合はCHPに前向きです。未確定です。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3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理由:木材がもともと集まる場所で、燃料の取り扱いと乾燥が簡単です。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3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最初にやること:燃料の分析、機種の選定、組合・村役場との間で設置場所と木材の流れの合意。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CTLにとっての意味:プロトタイプが安定した需要を生み、搬出する意味をつくります。</a:t>
            </a:r>
          </a:p>
        </p:txBody>
      </p:sp>
      <p:pic>
        <p:nvPicPr>
          <p:cNvPr id="10" name="Picture 9" descr="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566160"/>
            <a:ext cx="7589520" cy="520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0" y="8845710"/>
            <a:ext cx="75895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C554F"/>
                </a:solidFill>
                <a:latin typeface="Yu Gothic"/>
              </a:rPr>
              <a:t>想定地の航空写真(未確定)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05 · 長期の姿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その先:約1.2 MWeのCHPと本格的なAIデータセンター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1828800" cy="91440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2926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プロトタイプ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50 kWe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657600"/>
            <a:ext cx="4754880" cy="91440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4754880"/>
            <a:ext cx="4754880" cy="91440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760720"/>
            <a:ext cx="4937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本格規模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2 × 0.6 MWe ≈ 1.2 MWe、プロトタイプの約23倍(図は縮尺どおりではありません)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94760"/>
            <a:ext cx="43891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0.6 MWe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92040"/>
            <a:ext cx="43891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0.6 MWe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7406640"/>
            <a:ext cx="80467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1基ではなく2基にすることで、保守中も運転を続けられ、出力も段階的に増やせます。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年間の発電量は約8,000 MWh。燃料乾燥に使える同程度の熱も得られます。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657600"/>
            <a:ext cx="7955279" cy="557784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3657600"/>
            <a:ext cx="109728" cy="557784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3840480"/>
            <a:ext cx="74066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必要なこと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709160"/>
            <a:ext cx="7406640" cy="4389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3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本格的なAIデータセンターをアンカー需要家に:出力調整が可能なバイオマスによる、24時間安定の電力と熱。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3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乾燥材で年間約13,000 tが必要で、林業の作業班を倍増し、間伐・搬出を機械化することが前提です。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長期の構想で、時期は未定です。まずプロトタイプから始めます。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06 · 最初の一例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御杖村は最初の一例。同じ課題をもつ森は全国に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6949440" cy="56692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64008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約1,000万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640080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日本の人工林面積。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その多くは戦後に植えられ、いま収穫期を迎えていますが、御杖村と同じく林業の担い手が不足しています。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出典:林野庁、2022年3月31日時点(10,093,422 ha)。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566160"/>
            <a:ext cx="9235440" cy="17830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566160"/>
            <a:ext cx="109728" cy="178308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703320"/>
            <a:ext cx="7315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C4663A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675887"/>
            <a:ext cx="795527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御杖村:実証する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297680"/>
            <a:ext cx="7955279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収穫し、在来広葉樹を植え戻し、小型CHPを運転し、地元のオペレーターを育てます。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5532120"/>
            <a:ext cx="9235440" cy="17830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5532120"/>
            <a:ext cx="109728" cy="17830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5669280"/>
            <a:ext cx="7315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F4A37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641848"/>
            <a:ext cx="795527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近隣の村:横展開する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6263640"/>
            <a:ext cx="7955279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同じ機械、同じ方法、公開した同じ資料で進めます。他の林業の村とも初期的な対話をしています。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7498079"/>
            <a:ext cx="9235440" cy="17830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7498079"/>
            <a:ext cx="109728" cy="178308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7635240"/>
            <a:ext cx="7315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3A7A5A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7607807"/>
            <a:ext cx="795527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3A7A5A"/>
                </a:solidFill>
                <a:latin typeface="Yu Mincho"/>
                <a:ea typeface="Yu Mincho"/>
                <a:cs typeface="Yu Mincho"/>
              </a:rPr>
              <a:t>さらに多くの森へ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8229600"/>
            <a:ext cx="7955279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CTL機械と育成したオペレーターを中心に、人口減少が進む全国の山村に使えるひな形にします。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07 · CTLの活用余地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コマツ様の試験導入で確かめたいこと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109728" cy="56692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当方の状況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急傾斜地で、50〜75年生の杉の間伐。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人手不足:組合は若手が少ない。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主に小径木の間伐。長年未整備の林分には大径木も混じる。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566160"/>
            <a:ext cx="109728" cy="566928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検討してきたこと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当方の規模には、901XC(C93ヘッド)が合いそうです。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931XCと855フォワーダも検討しました。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動画での印象のみで、現場で実機は見ていません。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3566160"/>
            <a:ext cx="109728" cy="56692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9012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コマツ様へのご質問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9012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当地での試験導入は可能でしょうか。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傾斜の限界と作業道の間隔は?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常設の道が必要か、軽いフォワーダ用の作業道で足りるか?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当地の林分にはどの機種・ヘッドが適しているか?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地元の研修生はどのような訓練を受けられるか?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08 · 人の面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機械は、動かす人がいてこそ役に立つ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09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109728" cy="56692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ギャップ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組合の作業班は少人数で、若手が少ない。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森に必要な規模の間伐・搬出は、現在の体制では不可能です。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CTL機械があれば、少人数でもはるかに多くをこなせます。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566160"/>
            <a:ext cx="109728" cy="566928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地元の後継者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組合で働く若い女性。聡明で意志が強く、オペレーターになることが夢で、931XCのような機械での訓練に胸を躍らせています。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1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時期はまだ確定しておらず、先に別の仕事に就く可能性もあります。試験導入が実現し、本人の都合が合えば、訓練の機会をいただければ幸いです。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3566160"/>
            <a:ext cx="109728" cy="566928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9012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3A7A5A"/>
                </a:solidFill>
                <a:latin typeface="Yu Mincho"/>
                <a:ea typeface="Yu Mincho"/>
                <a:cs typeface="Yu Mincho"/>
              </a:rPr>
              <a:t>コマツ様にとっての意義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9012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人口減少の村で、国産機械を使う若者の地元でのキャリアの道をつくる。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3A7A5A"/>
                </a:solidFill>
                <a:latin typeface="Yu Gothic"/>
                <a:ea typeface="Yu Gothic"/>
                <a:cs typeface="Yu Gothic"/>
              </a:rPr>
              <a:t>林業機械の仕事に女性をより多く迎え、担い手の裾野を広げる機会になる。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1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語りやすい物語:試験導入が、次のオペレーターを生む。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研修生には、どのような訓練・資格取得・機械利用が可能でしょうか。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09 · 時期と現状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計画初期段階。試験導入の現実的な時期は2028年初め頃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983480"/>
            <a:ext cx="15910559" cy="73152"/>
          </a:xfrm>
          <a:prstGeom prst="rect">
            <a:avLst/>
          </a:prstGeom>
          <a:solidFill>
            <a:srgbClr val="4C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4754880"/>
            <a:ext cx="502920" cy="502920"/>
          </a:xfrm>
          <a:prstGeom prst="ellipse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F4A37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フェーズ0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地域の信頼づくり、設置場所・燃料の協議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4754880"/>
            <a:ext cx="502920" cy="502920"/>
          </a:xfrm>
          <a:prstGeom prst="ellipse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657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F4A37"/>
                </a:solidFill>
                <a:latin typeface="Yu Gothic"/>
                <a:ea typeface="Yu Gothic"/>
                <a:cs typeface="Yu Gothic"/>
              </a:rPr>
              <a:t>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4864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プロトタイプ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62636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地元の林業拠点に50 kWe CHP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4754880"/>
            <a:ext cx="502920" cy="502920"/>
          </a:xfrm>
          <a:prstGeom prst="ellipse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657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F4A37"/>
                </a:solidFill>
                <a:latin typeface="Yu Gothic"/>
                <a:ea typeface="Yu Gothic"/>
                <a:cs typeface="Yu Gothic"/>
              </a:rPr>
              <a:t>約1年後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4864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次の一歩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62636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約50 kWの小規模計算負荷。設置場所は未定</a:t>
            </a:r>
          </a:p>
        </p:txBody>
      </p:sp>
      <p:sp>
        <p:nvSpPr>
          <p:cNvPr id="22" name="Oval 21"/>
          <p:cNvSpPr/>
          <p:nvPr/>
        </p:nvSpPr>
        <p:spPr>
          <a:xfrm>
            <a:off x="11201400" y="4754880"/>
            <a:ext cx="502920" cy="502920"/>
          </a:xfrm>
          <a:prstGeom prst="ellipse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3657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2028年初め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54864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CTL試験導入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2636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2027年度末が現実的な時期</a:t>
            </a:r>
          </a:p>
        </p:txBody>
      </p:sp>
      <p:sp>
        <p:nvSpPr>
          <p:cNvPr id="26" name="Oval 25"/>
          <p:cNvSpPr/>
          <p:nvPr/>
        </p:nvSpPr>
        <p:spPr>
          <a:xfrm>
            <a:off x="14584680" y="4754880"/>
            <a:ext cx="502920" cy="502920"/>
          </a:xfrm>
          <a:prstGeom prst="ellipse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6080" y="3657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F4A37"/>
                </a:solidFill>
                <a:latin typeface="Yu Gothic"/>
                <a:ea typeface="Yu Gothic"/>
                <a:cs typeface="Yu Gothic"/>
              </a:rPr>
              <a:t>その後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0" y="54864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本格規模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0" y="62636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約1.2 MWeのCHPと本格的なAIデータセンター。時期は未定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7818120"/>
            <a:ext cx="16642080" cy="141732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7955279"/>
            <a:ext cx="1609344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現状:契約・購入・資金の確約はありません。時期は目標であり約束ではなく、本格施設の時期は未定です。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2F4A37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4663A"/>
                </a:solidFill>
                <a:latin typeface="Yu Gothic"/>
                <a:ea typeface="Yu Gothic"/>
                <a:cs typeface="Yu Gothic"/>
              </a:rPr>
              <a:t>§ 10 · 連携のかたち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2A24"/>
                </a:solidFill>
                <a:latin typeface="Yu Mincho"/>
                <a:ea typeface="Yu Mincho"/>
                <a:cs typeface="Yu Mincho"/>
              </a:rPr>
              <a:t>コマツ様との連携の3つのかたち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109728" cy="566928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1  まず試験導入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御杖村をCTLプログラムの追加の試験・訓練の場として。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傾斜・アクセス・搬出に関する所見を共有し、地元オペレーターの育成にも協力します。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566160"/>
            <a:ext cx="109728" cy="566928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3A7A5A"/>
                </a:solidFill>
                <a:latin typeface="Yu Mincho"/>
                <a:ea typeface="Yu Mincho"/>
                <a:cs typeface="Yu Mincho"/>
              </a:rPr>
              <a:t>2  購入・リースは後で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試験で適合が確認でき、資金の手当てがついた場合に限ります。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現時点ではいずれも確約していません。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3566160"/>
            <a:ext cx="5440680" cy="5669280"/>
          </a:xfrm>
          <a:prstGeom prst="rect">
            <a:avLst/>
          </a:prstGeom>
          <a:solidFill>
            <a:srgbClr val="E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3566160"/>
            <a:ext cx="109728" cy="5669280"/>
          </a:xfrm>
          <a:prstGeom prst="rect">
            <a:avLst/>
          </a:prstGeom>
          <a:solidFill>
            <a:srgbClr val="C46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90120" y="3749039"/>
            <a:ext cx="4892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3  共有できる物語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90120" y="4617720"/>
            <a:ext cx="48920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国産林業機械が、広葉樹の植林、地域のバイオマスエネルギー、村の活性化を支える具体的な事例。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事例紹介、共同広報、視察の受け入れなど、コマツ様のご都合に合わせた範囲で。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そして、他の多くの村へのひな形にもなります。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F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0">
                <a:solidFill>
                  <a:srgbClr val="F3ECE0"/>
                </a:solidFill>
                <a:latin typeface="Noto Serif JP"/>
              </a:rPr>
              <a:t>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MITSUE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§ 11 · 次のステップ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6420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3ECE0"/>
                </a:solidFill>
                <a:latin typeface="Yu Mincho"/>
                <a:ea typeface="Yu Mincho"/>
                <a:cs typeface="Yu Mincho"/>
              </a:rPr>
              <a:t>本日お願いしたいこと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46920"/>
            <a:ext cx="1280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コマツ様向け · Teams会議 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0" y="9646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3B486"/>
                </a:solidFill>
                <a:latin typeface="Yu Gothic"/>
                <a:ea typeface="Yu Gothic"/>
                <a:cs typeface="Yu Gothic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9326880" cy="5120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1  ご意見:試験導入は可能か、当方から何をお示しすればよいか。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2  現場でお見せできるものが整った段階で、地元の林業事業者とともに村の森林をご視察いただくこと。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3  機種選定、傾斜・作業道の指針について、適切なコマツのご担当者のご紹介。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400" b="0">
                <a:solidFill>
                  <a:srgbClr val="F3ECE0"/>
                </a:solidFill>
                <a:latin typeface="Yu Gothic"/>
                <a:ea typeface="Yu Gothic"/>
                <a:cs typeface="Yu Gothic"/>
              </a:rPr>
              <a:t>4  オペレーターを夢見る若い女性のための、本人の時期に合わせた訓練の選択肢と、林業に女性をより多く迎える方法。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0" y="3566160"/>
            <a:ext cx="6766560" cy="448056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3794760"/>
            <a:ext cx="6309360" cy="4754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2F4A37"/>
                </a:solidFill>
                <a:latin typeface="Yu Mincho"/>
                <a:ea typeface="Yu Mincho"/>
                <a:cs typeface="Yu Mincho"/>
              </a:rPr>
              <a:t>ロブ・アウデンダイク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0">
                <a:solidFill>
                  <a:srgbClr val="4C554F"/>
                </a:solidFill>
                <a:latin typeface="Yu Gothic"/>
                <a:ea typeface="Yu Gothic"/>
                <a:cs typeface="Yu Gothic"/>
              </a:rPr>
              <a:t>Mitsue-it · 御杖村 森林エネルギープロジェクト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rob@mitsue.it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+81 80-2260-5966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mitsue.it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0">
                <a:solidFill>
                  <a:srgbClr val="1F2A24"/>
                </a:solidFill>
                <a:latin typeface="Yu Gothic"/>
                <a:ea typeface="Yu Gothic"/>
                <a:cs typeface="Yu Gothic"/>
              </a:rPr>
              <a:t>tinyurl.com/2xv524fz(プロジェクトのリポジトリ)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C4663A"/>
                </a:solidFill>
                <a:latin typeface="Yu Mincho"/>
                <a:ea typeface="Yu Mincho"/>
                <a:cs typeface="Yu Mincho"/>
              </a:rPr>
              <a:t>ありがとうございます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