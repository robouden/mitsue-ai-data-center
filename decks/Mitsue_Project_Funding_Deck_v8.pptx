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2.png" ContentType="image/png"/>
  <Override PartName="/ppt/media/image13.png" ContentType="image/png"/>
  <Override PartName="/ppt/media/image11.jpeg" ContentType="image/jpeg"/>
  <Override PartName="/ppt/media/image8.jpeg" ContentType="image/jpeg"/>
  <Override PartName="/ppt/media/image9.jpeg" ContentType="image/jpeg"/>
  <Override PartName="/ppt/media/image7.png" ContentType="image/png"/>
  <Override PartName="/ppt/media/image16.png" ContentType="image/png"/>
  <Override PartName="/ppt/media/image20.png" ContentType="image/png"/>
  <Override PartName="/ppt/media/image18.png" ContentType="image/png"/>
  <Override PartName="/ppt/media/image17.png" ContentType="image/png"/>
  <Override PartName="/ppt/media/image4.jpeg" ContentType="image/jpeg"/>
  <Override PartName="/ppt/media/image14.jpeg" ContentType="image/jpeg"/>
  <Override PartName="/ppt/media/image2.png" ContentType="image/png"/>
  <Override PartName="/ppt/media/image19.jpeg" ContentType="image/jpeg"/>
  <Override PartName="/ppt/media/image3.svg" ContentType="image/svg"/>
  <Override PartName="/ppt/media/image1.png" ContentType="image/png"/>
  <Override PartName="/ppt/media/image10.png" ContentType="image/png"/>
  <Override PartName="/ppt/media/image6.png" ContentType="image/png"/>
  <Override PartName="/ppt/media/image15.png" ContentType="image/png"/>
  <Override PartName="/ppt/media/image5.png" ContentType="image/png"/>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8288000" cy="10287000"/>
  <p:notesSz cx="10287000" cy="18288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8ED11720-7102-4C08-A53C-831377CF43CB}"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ldImg"/>
          </p:nvPr>
        </p:nvSpPr>
        <p:spPr>
          <a:xfrm>
            <a:off x="216000" y="812520"/>
            <a:ext cx="7126920" cy="4008600"/>
          </a:xfrm>
          <a:prstGeom prst="rect">
            <a:avLst/>
          </a:prstGeom>
          <a:ln w="0">
            <a:noFill/>
          </a:ln>
        </p:spPr>
      </p:sp>
      <p:sp>
        <p:nvSpPr>
          <p:cNvPr id="48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en-US" sz="2000" spc="-1" strike="noStrike">
                <a:solidFill>
                  <a:srgbClr val="000000"/>
                </a:solidFill>
                <a:latin typeface="Arial"/>
                <a:ea typeface="Arial"/>
              </a:rPr>
              <a:t>Good [morning/afternoon], everyone, thanks for having me.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ea typeface="Arial"/>
              </a:rPr>
              <a:t>I'm Rob Oudendijk — an engineer who's called Japan home for 35+ years: 13 in Tokyo, 2 in Fukushima, and the last 15 tucked away in Mitsue, Nara.</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ea typeface="Arial"/>
              </a:rPr>
              <a:t>Living out here, I've seen two things happening at once: rural villages quietly running out of people, and the rest of the world running out of energy — thanks to AI, data centers, and EVs all showing up to the party at the same time.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ea typeface="Arial"/>
              </a:rPr>
              <a:t>So I thought: what if these two problems just... solved each other?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ea typeface="Arial"/>
              </a:rPr>
              <a:t>That's the Mitsue-kun Project.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ea typeface="Arial"/>
              </a:rPr>
              <a:t>Rural Japan's problem:</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ea typeface="Arial"/>
              </a:rPr>
              <a:t>Forests nobody's tending — planted with cedar, no food for wildlife, so the boars and deer come raid the fields instead</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ea typeface="Arial"/>
              </a:rPr>
              <a:t>Fewer people, more grey hair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ea typeface="Arial"/>
              </a:rPr>
              <a:t>Infrastructure creaking at the joints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ea typeface="Arial"/>
              </a:rPr>
              <a:t>The tech world's problem:</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ea typeface="Arial"/>
              </a:rPr>
              <a:t>AI and data centers are power-hungry monsters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ea typeface="Arial"/>
              </a:rPr>
              <a:t>Nowhere to charge an EV out here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ea typeface="Arial"/>
              </a:rPr>
              <a:t>Everyone wants "carbon-neutral," nobody wants to pay more for it</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ea typeface="Arial"/>
              </a:rPr>
              <a:t>Our fix: take the overgrown cedar nobody wants, burn it smartly in a biomass CHP unit (combined heat + power — think one engine, two useful outputs), and replant the cleared areas with native forest instead. That gives the animals food and cover again — so they stay in the hills and leave the village fields alone.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ea typeface="Arial"/>
              </a:rPr>
              <a:t>Forest gets restored, animals get fed, village gets jobs and power, tech gets its clean electrons. Everybody wins — including the boars.</a:t>
            </a:r>
            <a:endParaRPr b="0" lang="en-US" sz="2000" spc="-1" strike="noStrike">
              <a:solidFill>
                <a:srgbClr val="000000"/>
              </a:solidFill>
              <a:latin typeface="Arial"/>
            </a:endParaRPr>
          </a:p>
        </p:txBody>
      </p:sp>
      <p:sp>
        <p:nvSpPr>
          <p:cNvPr id="485" name="PlaceHolder 3"/>
          <p:cNvSpPr>
            <a:spLocks noGrp="1"/>
          </p:cNvSpPr>
          <p:nvPr>
            <p:ph type="sldNum" idx="4"/>
          </p:nvPr>
        </p:nvSpPr>
        <p:spPr>
          <a:xfrm>
            <a:off x="4278960" y="10157400"/>
            <a:ext cx="3280320" cy="533880"/>
          </a:xfrm>
          <a:prstGeom prst="rect">
            <a:avLst/>
          </a:prstGeom>
          <a:noFill/>
          <a:ln w="0">
            <a:noFill/>
          </a:ln>
        </p:spPr>
        <p:txBody>
          <a:bodyPr lIns="0" rIns="0" tIns="0" bIns="0" anchor="b">
            <a:noAutofit/>
          </a:bodyPr>
          <a:p>
            <a:pPr indent="0">
              <a:buNone/>
            </a:pPr>
            <a:endParaRPr b="0" lang="en-US" sz="14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sldImg"/>
          </p:nvPr>
        </p:nvSpPr>
        <p:spPr>
          <a:xfrm>
            <a:off x="685800" y="1143000"/>
            <a:ext cx="5485320" cy="3085200"/>
          </a:xfrm>
          <a:prstGeom prst="rect">
            <a:avLst/>
          </a:prstGeom>
          <a:ln w="0">
            <a:noFill/>
          </a:ln>
        </p:spPr>
      </p:sp>
      <p:sp>
        <p:nvSpPr>
          <p:cNvPr id="48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Morning, everyone — welcome to Mitsue: ninety-three percent forest, under fifteen hundred people, and doing its best impression of a village slowly vanishing into the trees. Over the next ten minutes, I want to convince you this is exactly the place to prove something bigger: that rural decline isn't a one-way street — it can be reversed by a model that pays its own bills, and copy-pasted anywhere else fighting the same slow fade. Consider this your invitation to help fund the proof.</a:t>
            </a:r>
            <a:endParaRPr b="0" lang="en-US" sz="2000" spc="-1" strike="noStrike">
              <a:solidFill>
                <a:srgbClr val="000000"/>
              </a:solidFill>
              <a:latin typeface="Arial"/>
            </a:endParaRPr>
          </a:p>
        </p:txBody>
      </p:sp>
      <p:sp>
        <p:nvSpPr>
          <p:cNvPr id="488" name="PlaceHolder 3"/>
          <p:cNvSpPr>
            <a:spLocks noGrp="1"/>
          </p:cNvSpPr>
          <p:nvPr>
            <p:ph type="sldNum" idx="5"/>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ED1C140-6662-4562-BB7E-C2DBFF3EC9EB}" type="slidenum">
              <a:rPr b="0" lang="en-US" sz="1200" spc="-1" strike="noStrike">
                <a:solidFill>
                  <a:schemeClr val="dk1"/>
                </a:solidFill>
                <a:latin typeface="+mn-lt"/>
                <a:ea typeface="+mn-ea"/>
              </a:rPr>
              <a:t>17</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Img"/>
          </p:nvPr>
        </p:nvSpPr>
        <p:spPr>
          <a:xfrm>
            <a:off x="685800" y="1143000"/>
            <a:ext cx="5485320" cy="3085200"/>
          </a:xfrm>
          <a:prstGeom prst="rect">
            <a:avLst/>
          </a:prstGeom>
          <a:ln w="0">
            <a:noFill/>
          </a:ln>
        </p:spPr>
      </p:sp>
      <p:sp>
        <p:nvSpPr>
          <p:cNvPr id="49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Here's the whole idea, and it's refreshingly simple. Most rural revival plans fail because they run on subsidy forever — like a houseplant that dies the moment you stop watering it. Ours is wired the opposite way: restore the forest, make clean energy, run a small community-owned data center — each one feeding the next, until the loop pays for itself. And here's the twist I really want you to remember: the data center isn't the point. It's the engine. The forest, the jobs, and the village's future — that's the actual return.</a:t>
            </a:r>
            <a:endParaRPr b="0" lang="en-US" sz="2000" spc="-1" strike="noStrike">
              <a:solidFill>
                <a:srgbClr val="000000"/>
              </a:solidFill>
              <a:latin typeface="Arial"/>
            </a:endParaRPr>
          </a:p>
        </p:txBody>
      </p:sp>
      <p:sp>
        <p:nvSpPr>
          <p:cNvPr id="491" name="PlaceHolder 3"/>
          <p:cNvSpPr>
            <a:spLocks noGrp="1"/>
          </p:cNvSpPr>
          <p:nvPr>
            <p:ph type="sldNum" idx="6"/>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5317A31-48C8-4517-9DF0-142E0FDD40A9}" type="slidenum">
              <a:rPr b="0" lang="en-US" sz="1200" spc="-1" strike="noStrike">
                <a:solidFill>
                  <a:schemeClr val="dk1"/>
                </a:solidFill>
                <a:latin typeface="+mn-lt"/>
                <a:ea typeface="+mn-ea"/>
              </a:rPr>
              <a:t>17</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Img"/>
          </p:nvPr>
        </p:nvSpPr>
        <p:spPr>
          <a:xfrm>
            <a:off x="685800" y="1143000"/>
            <a:ext cx="5485320" cy="3085200"/>
          </a:xfrm>
          <a:prstGeom prst="rect">
            <a:avLst/>
          </a:prstGeom>
          <a:ln w="0">
            <a:noFill/>
          </a:ln>
        </p:spPr>
      </p:sp>
      <p:sp>
        <p:nvSpPr>
          <p:cNvPr id="49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Let's be honest about the hand we're dealt. Population: under fifteen hundred, heading toward half that, and more than half of who's left qualifies for the senior discount. The mountains are ninety-three percent forest — but it's mostly aging cedar nobody's managing, which is less "majestic woodland" and more "pollen bomb waiting to landslide." The old elementary school shut down and now just costs the village money to sit there empty. And almost every yen we spend on energy leaves town. Four problems — or, if you squint, four raw materials waiting for a use.</a:t>
            </a:r>
            <a:endParaRPr b="0" lang="en-US" sz="2000" spc="-1" strike="noStrike">
              <a:solidFill>
                <a:srgbClr val="000000"/>
              </a:solidFill>
              <a:latin typeface="Arial"/>
            </a:endParaRPr>
          </a:p>
        </p:txBody>
      </p:sp>
      <p:sp>
        <p:nvSpPr>
          <p:cNvPr id="494" name="PlaceHolder 3"/>
          <p:cNvSpPr>
            <a:spLocks noGrp="1"/>
          </p:cNvSpPr>
          <p:nvPr>
            <p:ph type="sldNum" idx="7"/>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2B8AEDC-1C5D-455F-A4FC-93420120635F}" type="slidenum">
              <a:rPr b="0" lang="en-US" sz="1200" spc="-1" strike="noStrike">
                <a:solidFill>
                  <a:schemeClr val="dk1"/>
                </a:solidFill>
                <a:latin typeface="+mn-lt"/>
                <a:ea typeface="+mn-ea"/>
              </a:rPr>
              <a:t>17</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685800" y="1143000"/>
            <a:ext cx="5485320" cy="3085200"/>
          </a:xfrm>
          <a:prstGeom prst="rect">
            <a:avLst/>
          </a:prstGeom>
          <a:ln w="0">
            <a:noFill/>
          </a:ln>
        </p:spPr>
      </p:sp>
      <p:sp>
        <p:nvSpPr>
          <p:cNvPr id="49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Picture a loop, not a line. The village manages the forest. The forest gives up timber and fuel. That fuel makes heat and power. That energy runs a small data center. The data center earns money. And that money flows back into the forest, the jobs, and the village. Subsidy might give it the first push, but after that the wheel keeps turning on its own — no hamster required.</a:t>
            </a:r>
            <a:endParaRPr b="0" lang="en-US" sz="2000" spc="-1" strike="noStrike">
              <a:solidFill>
                <a:srgbClr val="000000"/>
              </a:solidFill>
              <a:latin typeface="Arial"/>
            </a:endParaRPr>
          </a:p>
        </p:txBody>
      </p:sp>
      <p:sp>
        <p:nvSpPr>
          <p:cNvPr id="497" name="PlaceHolder 3"/>
          <p:cNvSpPr>
            <a:spLocks noGrp="1"/>
          </p:cNvSpPr>
          <p:nvPr>
            <p:ph type="sldNum" idx="8"/>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D6A2504-AB4F-4636-98C5-20147CDD1BE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Img"/>
          </p:nvPr>
        </p:nvSpPr>
        <p:spPr>
          <a:xfrm>
            <a:off x="685800" y="1143000"/>
            <a:ext cx="5485320" cy="3085200"/>
          </a:xfrm>
          <a:prstGeom prst="rect">
            <a:avLst/>
          </a:prstGeom>
          <a:ln w="0">
            <a:noFill/>
          </a:ln>
        </p:spPr>
      </p:sp>
      <p:sp>
        <p:nvSpPr>
          <p:cNvPr id="49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Now, the engine — the bit that makes this an investment, not a donation. We take the shuttered elementary school and turn it into a small, energy-efficient data center: edge and AI compute, running entirely on local renewable power. It's deliberately small — sized for accountability and community ownership, not some hyperscale monster. But it does something the forest and village can't do alone: it earns recurring revenue, year after year, to fund everything else.</a:t>
            </a:r>
            <a:endParaRPr b="0" lang="en-US" sz="2000" spc="-1" strike="noStrike">
              <a:solidFill>
                <a:srgbClr val="000000"/>
              </a:solidFill>
              <a:latin typeface="Arial"/>
            </a:endParaRPr>
          </a:p>
        </p:txBody>
      </p:sp>
      <p:sp>
        <p:nvSpPr>
          <p:cNvPr id="500" name="PlaceHolder 3"/>
          <p:cNvSpPr>
            <a:spLocks noGrp="1"/>
          </p:cNvSpPr>
          <p:nvPr>
            <p:ph type="sldNum" idx="9"/>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194D96C-B177-45CE-A009-0FAB144FB04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685800" y="1143000"/>
            <a:ext cx="5485320" cy="3085200"/>
          </a:xfrm>
          <a:prstGeom prst="rect">
            <a:avLst/>
          </a:prstGeom>
          <a:ln w="0">
            <a:noFill/>
          </a:ln>
        </p:spPr>
      </p:sp>
      <p:sp>
        <p:nvSpPr>
          <p:cNvPr id="50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forest is where the environmental payoff lives, and it's a proper twenty-five-year project. Postwar Japan planted huge cedar monocultures and then just... walked away. We're swapping them out in phases for native broadleaf trees, working with landowners, the village forestry co-op, and the Forestry Agency. That does three things at once: the old cedar becomes fuel, biodiversity and water retention come back, and we pick up carbon credits along the way. Liability, meet feedstock.</a:t>
            </a:r>
            <a:endParaRPr b="0" lang="en-US" sz="2000" spc="-1" strike="noStrike">
              <a:solidFill>
                <a:srgbClr val="000000"/>
              </a:solidFill>
              <a:latin typeface="Arial"/>
            </a:endParaRPr>
          </a:p>
        </p:txBody>
      </p:sp>
      <p:sp>
        <p:nvSpPr>
          <p:cNvPr id="503" name="PlaceHolder 3"/>
          <p:cNvSpPr>
            <a:spLocks noGrp="1"/>
          </p:cNvSpPr>
          <p:nvPr>
            <p:ph type="sldNum" idx="10"/>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4708AF2-E32F-44D1-AC85-38FE973D263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Img"/>
          </p:nvPr>
        </p:nvSpPr>
        <p:spPr>
          <a:xfrm>
            <a:off x="685800" y="1143000"/>
            <a:ext cx="5485320" cy="3085200"/>
          </a:xfrm>
          <a:prstGeom prst="rect">
            <a:avLst/>
          </a:prstGeom>
          <a:ln w="0">
            <a:noFill/>
          </a:ln>
        </p:spPr>
      </p:sp>
      <p:sp>
        <p:nvSpPr>
          <p:cNvPr id="50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Priority check, because it drives everything else: power comes first. The whole point is electricity — running the data center and building out EV charging. That's the demand we're chasing. Heat is real, and we'll capture it, but nobody's promised to buy it yet, so we treat it as a bonus, not a foundation. The mix stays simple: biomass for baseload, the village's existing solar by day, grid as backup — biomass isn't a solo act, it's part of a band.</a:t>
            </a:r>
            <a:endParaRPr b="0" lang="en-US" sz="2000" spc="-1" strike="noStrike">
              <a:solidFill>
                <a:srgbClr val="000000"/>
              </a:solidFill>
              <a:latin typeface="Arial"/>
            </a:endParaRPr>
          </a:p>
        </p:txBody>
      </p:sp>
      <p:sp>
        <p:nvSpPr>
          <p:cNvPr id="506" name="PlaceHolder 3"/>
          <p:cNvSpPr>
            <a:spLocks noGrp="1"/>
          </p:cNvSpPr>
          <p:nvPr>
            <p:ph type="sldNum" idx="11"/>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49F393C-5573-46C2-9494-105076381A6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685800" y="1143000"/>
            <a:ext cx="5485320" cy="3085200"/>
          </a:xfrm>
          <a:prstGeom prst="rect">
            <a:avLst/>
          </a:prstGeom>
          <a:ln w="0">
            <a:noFill/>
          </a:ln>
        </p:spPr>
      </p:sp>
      <p:sp>
        <p:nvSpPr>
          <p:cNvPr id="50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Here's the number that should raise eyebrows: 1,967 terajoules of local renewable potential sitting mostly untouched, and wood biomass is by far the biggest slice of that pie. Right now we're basically ignoring it. The Mitsue-kun Project changes that — sugi thinnings feed straight into a CHP unit, making baseload power and heat all year round. Every log we cut to restore the forest becomes fuel. Reforestation and energy independence, solving each other's problem.</a:t>
            </a:r>
            <a:endParaRPr b="0" lang="en-US" sz="2000" spc="-1" strike="noStrike">
              <a:solidFill>
                <a:srgbClr val="000000"/>
              </a:solidFill>
              <a:latin typeface="Arial"/>
            </a:endParaRPr>
          </a:p>
        </p:txBody>
      </p:sp>
      <p:sp>
        <p:nvSpPr>
          <p:cNvPr id="509" name="PlaceHolder 3"/>
          <p:cNvSpPr>
            <a:spLocks noGrp="1"/>
          </p:cNvSpPr>
          <p:nvPr>
            <p:ph type="sldNum" idx="12"/>
          </p:nvPr>
        </p:nvSpPr>
        <p:spPr>
          <a:xfrm>
            <a:off x="388476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685800" y="1143000"/>
            <a:ext cx="5485320" cy="3085200"/>
          </a:xfrm>
          <a:prstGeom prst="rect">
            <a:avLst/>
          </a:prstGeom>
          <a:ln w="0">
            <a:noFill/>
          </a:ln>
        </p:spPr>
      </p:sp>
      <p:sp>
        <p:nvSpPr>
          <p:cNvPr id="51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Now the numbers investors actually care about. Today, Mitsue imports about ninety percent of its energy and self-sufficiency sits in the single digits — basically, we're buying electricity like takeout every night. By twenty-fifty, the model flips that: energy self-sufficiency over a hundred percent, import dependency down to a quarter, the trade balance flipped from red to black, and emissions cut by about three-quarters. Illustrative numbers pending the full simulator run — but the direction isn't really in question.</a:t>
            </a:r>
            <a:endParaRPr b="0" lang="en-US" sz="2000" spc="-1" strike="noStrike">
              <a:solidFill>
                <a:srgbClr val="000000"/>
              </a:solidFill>
              <a:latin typeface="Arial"/>
            </a:endParaRPr>
          </a:p>
        </p:txBody>
      </p:sp>
      <p:sp>
        <p:nvSpPr>
          <p:cNvPr id="512" name="PlaceHolder 3"/>
          <p:cNvSpPr>
            <a:spLocks noGrp="1"/>
          </p:cNvSpPr>
          <p:nvPr>
            <p:ph type="sldNum" idx="13"/>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294D228-62FE-4778-9EA6-2D64AFCD07C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685800" y="1143000"/>
            <a:ext cx="5485320" cy="3085200"/>
          </a:xfrm>
          <a:prstGeom prst="rect">
            <a:avLst/>
          </a:prstGeom>
          <a:ln w="0">
            <a:noFill/>
          </a:ln>
        </p:spPr>
      </p:sp>
      <p:sp>
        <p:nvSpPr>
          <p:cNvPr id="51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So what does an investor actually walk away with? Not one return — five, and they stack. Ecological: a restored watershed and carbon pulled down. Energy: a village that stops shipping cash out the door. Economic: real jobs in forestry, operations, hosting. Digital: edge compute rural Japan is starving for. And knowledge: because we publish everything openly, every lesson becomes a template someone else can copy — legally, and on purpose. That last one is the real multiplier.</a:t>
            </a:r>
            <a:endParaRPr b="0" lang="en-US" sz="2000" spc="-1" strike="noStrike">
              <a:solidFill>
                <a:srgbClr val="000000"/>
              </a:solidFill>
              <a:latin typeface="Arial"/>
            </a:endParaRPr>
          </a:p>
        </p:txBody>
      </p:sp>
      <p:sp>
        <p:nvSpPr>
          <p:cNvPr id="515" name="PlaceHolder 3"/>
          <p:cNvSpPr>
            <a:spLocks noGrp="1"/>
          </p:cNvSpPr>
          <p:nvPr>
            <p:ph type="sldNum" idx="14"/>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76C15D0-D74D-4976-ABAF-4723DCEF990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685800" y="1143000"/>
            <a:ext cx="5485320" cy="3085200"/>
          </a:xfrm>
          <a:prstGeom prst="rect">
            <a:avLst/>
          </a:prstGeom>
          <a:ln w="0">
            <a:noFill/>
          </a:ln>
        </p:spPr>
      </p:sp>
      <p:sp>
        <p:nvSpPr>
          <p:cNvPr id="51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part that should make a cautious funder relax a little. We're not asking for one giant cheque up front. The first three years break into five phases, each behind its own funding gate — miss a gate, and the plan is honest: we pause and re-pitch, or we scale back, never barrel ahead unfunded. Right now we're in Phase Zero: pre-foundation, self-funded, no press, no flashy website — exactly where a sensible project should be before asking anyone for money.</a:t>
            </a:r>
            <a:endParaRPr b="0" lang="en-US" sz="2000" spc="-1" strike="noStrike">
              <a:solidFill>
                <a:srgbClr val="000000"/>
              </a:solidFill>
              <a:latin typeface="Arial"/>
            </a:endParaRPr>
          </a:p>
        </p:txBody>
      </p:sp>
      <p:sp>
        <p:nvSpPr>
          <p:cNvPr id="518" name="PlaceHolder 3"/>
          <p:cNvSpPr>
            <a:spLocks noGrp="1"/>
          </p:cNvSpPr>
          <p:nvPr>
            <p:ph type="sldNum" idx="15"/>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344FA70-6138-453C-948E-5643849F220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685800" y="1143000"/>
            <a:ext cx="5485320" cy="3085200"/>
          </a:xfrm>
          <a:prstGeom prst="rect">
            <a:avLst/>
          </a:prstGeom>
          <a:ln w="0">
            <a:noFill/>
          </a:ln>
        </p:spPr>
      </p:sp>
      <p:sp>
        <p:nvSpPr>
          <p:cNvPr id="52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money is layered just like the phases. Five sources, each unlocked by what came before, so we're never betting everything on a single donor. Founder capital gets it moving. Government grants — NEDO, METI, the prefecture, the village — do the heavy lifting. Foundations and corporate partners add more. And by year three, actual operating revenue starts pulling its own weight. We go from about eleven million yen in year one to roughly one hundred thirty-four million by year three — planning targets, not promises, and we say so out loud.</a:t>
            </a:r>
            <a:endParaRPr b="0" lang="en-US" sz="2000" spc="-1" strike="noStrike">
              <a:solidFill>
                <a:srgbClr val="000000"/>
              </a:solidFill>
              <a:latin typeface="Arial"/>
            </a:endParaRPr>
          </a:p>
        </p:txBody>
      </p:sp>
      <p:sp>
        <p:nvSpPr>
          <p:cNvPr id="521" name="PlaceHolder 3"/>
          <p:cNvSpPr>
            <a:spLocks noGrp="1"/>
          </p:cNvSpPr>
          <p:nvPr>
            <p:ph type="sldNum" idx="16"/>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19A91B9-E95A-4E84-8C8D-524479FCD03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685800" y="1143000"/>
            <a:ext cx="5485320" cy="3085200"/>
          </a:xfrm>
          <a:prstGeom prst="rect">
            <a:avLst/>
          </a:prstGeom>
          <a:ln w="0">
            <a:noFill/>
          </a:ln>
        </p:spPr>
      </p:sp>
      <p:sp>
        <p:nvSpPr>
          <p:cNvPr id="52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Here's the case for patience. A grant gets spent once and then it's gone, like a firework. What we're building keeps producing for twenty-five years and beyond. As the phases mature, the funding mix flips — it starts almost entirely grant-dependent and ends up carried by four recurring revenue streams: compute hosting, energy feed-in, EV charging, carbon credits. Twenty-five years is the bridge between today's rural deficit and the smaller, local power generation we expect down that road. You're not funding an expense — you're seeding something closer to an endowment, just made of forest, energy, and servers instead of stocks and bonds.</a:t>
            </a:r>
            <a:endParaRPr b="0" lang="en-US" sz="2000" spc="-1" strike="noStrike">
              <a:solidFill>
                <a:srgbClr val="000000"/>
              </a:solidFill>
              <a:latin typeface="Arial"/>
            </a:endParaRPr>
          </a:p>
        </p:txBody>
      </p:sp>
      <p:sp>
        <p:nvSpPr>
          <p:cNvPr id="524" name="PlaceHolder 3"/>
          <p:cNvSpPr>
            <a:spLocks noGrp="1"/>
          </p:cNvSpPr>
          <p:nvPr>
            <p:ph type="sldNum" idx="17"/>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0EA3ABF-19F7-4229-8FAF-B3D151EDE18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685800" y="1143000"/>
            <a:ext cx="5485320" cy="3085200"/>
          </a:xfrm>
          <a:prstGeom prst="rect">
            <a:avLst/>
          </a:prstGeom>
          <a:ln w="0">
            <a:noFill/>
          </a:ln>
        </p:spPr>
      </p:sp>
      <p:sp>
        <p:nvSpPr>
          <p:cNvPr id="52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Quick who's-who. I'm Rob Oudendijk, of YR-Design and Safecast — Safecast being the open environmental-data network that came out of Fukushima, which should tell you how seriously we take transparency. Legally, we're moving from a general incorporated association today toward certified non-profit status, so donations become tax-deductible. And we've got some genuinely heavyweight advisors: Ray Ozzie, San Poisson, Professor Emeritus Takuo Dome, and Evin Zoet and Yoshiko Zoet-Suzuki of Transom. Small team, serious people, and the books are open.</a:t>
            </a:r>
            <a:endParaRPr b="0" lang="en-US" sz="2000" spc="-1" strike="noStrike">
              <a:solidFill>
                <a:srgbClr val="000000"/>
              </a:solidFill>
              <a:latin typeface="Arial"/>
            </a:endParaRPr>
          </a:p>
        </p:txBody>
      </p:sp>
      <p:sp>
        <p:nvSpPr>
          <p:cNvPr id="527" name="PlaceHolder 3"/>
          <p:cNvSpPr>
            <a:spLocks noGrp="1"/>
          </p:cNvSpPr>
          <p:nvPr>
            <p:ph type="sldNum" idx="18"/>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72729F8-EB06-4921-8626-ABBEA537B80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685800" y="1143000"/>
            <a:ext cx="5485320" cy="3085200"/>
          </a:xfrm>
          <a:prstGeom prst="rect">
            <a:avLst/>
          </a:prstGeom>
          <a:ln w="0">
            <a:noFill/>
          </a:ln>
        </p:spPr>
      </p:sp>
      <p:sp>
        <p:nvSpPr>
          <p:cNvPr id="52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Here's why this is worth more than just one village. Mitsue isn't the destination — it's the prototype. Hundreds of depopulating towns across Japan sit on the exact same raw materials: empty forest, a shuttered school, a fat energy bill, and a shrinking population. Everything we learn — methods, finances, governance — gets published openly. So the real product here isn't the data center. It's the playbook. Fund Mitsue once, and you're quietly funding the template for a few hundred more.</a:t>
            </a:r>
            <a:endParaRPr b="0" lang="en-US" sz="2000" spc="-1" strike="noStrike">
              <a:solidFill>
                <a:srgbClr val="000000"/>
              </a:solidFill>
              <a:latin typeface="Arial"/>
            </a:endParaRPr>
          </a:p>
        </p:txBody>
      </p:sp>
      <p:sp>
        <p:nvSpPr>
          <p:cNvPr id="530" name="PlaceHolder 3"/>
          <p:cNvSpPr>
            <a:spLocks noGrp="1"/>
          </p:cNvSpPr>
          <p:nvPr>
            <p:ph type="sldNum" idx="19"/>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10CDEC8-5556-40A0-810F-A9B12B0988F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Img"/>
          </p:nvPr>
        </p:nvSpPr>
        <p:spPr>
          <a:xfrm>
            <a:off x="685800" y="1143000"/>
            <a:ext cx="5485320" cy="3085200"/>
          </a:xfrm>
          <a:prstGeom prst="rect">
            <a:avLst/>
          </a:prstGeom>
          <a:ln w="0">
            <a:noFill/>
          </a:ln>
        </p:spPr>
      </p:sp>
      <p:sp>
        <p:nvSpPr>
          <p:cNvPr id="53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So here's the ask. We're in Phase Zero, looking for partners to help us clear Gate One — three to eight million yen to stand up the legal entity, the feasibility work, and proper advisors for the next phase. Come in as a founding partner — government, foundation, corporate, impact investor, doesn't matter which. What you get isn't a logo on a wall. You get a stake in the first fully documented model for reviving rural Japan — and bragging rights for having helped write the blueprint everyone else copies. Thank you. Let's talk.</a:t>
            </a:r>
            <a:endParaRPr b="0" lang="en-US" sz="2000" spc="-1" strike="noStrike">
              <a:solidFill>
                <a:srgbClr val="000000"/>
              </a:solidFill>
              <a:latin typeface="Arial"/>
            </a:endParaRPr>
          </a:p>
        </p:txBody>
      </p:sp>
      <p:sp>
        <p:nvSpPr>
          <p:cNvPr id="533" name="PlaceHolder 3"/>
          <p:cNvSpPr>
            <a:spLocks noGrp="1"/>
          </p:cNvSpPr>
          <p:nvPr>
            <p:ph type="sldNum" idx="20"/>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C638ECE-FBD5-47AD-B710-F10DFBB1C6E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image" Target="../media/image10.png"/><Relationship Id="rId4" Type="http://schemas.openxmlformats.org/officeDocument/2006/relationships/image" Target="../media/image11.jpeg"/><Relationship Id="rId5"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jpe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jpeg"/><Relationship Id="rId8" Type="http://schemas.openxmlformats.org/officeDocument/2006/relationships/slideLayout" Target="../slideLayouts/slideLayout1.xml"/><Relationship Id="rId9"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TextBox 1"/>
          <p:cNvSpPr/>
          <p:nvPr/>
        </p:nvSpPr>
        <p:spPr>
          <a:xfrm>
            <a:off x="0" y="8987040"/>
            <a:ext cx="18287640" cy="455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i="1" lang="en-US" sz="1300" spc="-1" strike="noStrike">
                <a:solidFill>
                  <a:srgbClr val="3a7a5a"/>
                </a:solidFill>
                <a:latin typeface="Arial"/>
              </a:rPr>
              <a:t>"The forest our ancestors planted — powering the village they built."</a:t>
            </a:r>
            <a:endParaRPr b="0" lang="en-US" sz="1300" spc="-1" strike="noStrike">
              <a:solidFill>
                <a:srgbClr val="000000"/>
              </a:solidFill>
              <a:latin typeface="Arial"/>
            </a:endParaRPr>
          </a:p>
          <a:p>
            <a:pPr algn="ctr">
              <a:lnSpc>
                <a:spcPct val="100000"/>
              </a:lnSpc>
            </a:pPr>
            <a:r>
              <a:rPr b="0" i="1" lang="ja-JP" sz="1100" spc="-1" strike="noStrike">
                <a:solidFill>
                  <a:srgbClr val="3a7a5a"/>
                </a:solidFill>
                <a:latin typeface="Arial"/>
              </a:rPr>
              <a:t>先人が植えた森が、今、村に豊かさをもたらす。</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Shape 0"/>
          <p:cNvSpPr/>
          <p:nvPr/>
        </p:nvSpPr>
        <p:spPr>
          <a:xfrm>
            <a:off x="0" y="0"/>
            <a:ext cx="18286920" cy="75240"/>
          </a:xfrm>
          <a:prstGeom prst="rect">
            <a:avLst/>
          </a:prstGeom>
          <a:solidFill>
            <a:srgbClr val="9b9da0"/>
          </a:solidFill>
          <a:ln w="0">
            <a:noFill/>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ffffff"/>
              </a:solidFill>
              <a:latin typeface="Arial"/>
              <a:ea typeface="Arial"/>
            </a:endParaRPr>
          </a:p>
        </p:txBody>
      </p:sp>
      <p:sp>
        <p:nvSpPr>
          <p:cNvPr id="10" name="Shape 1"/>
          <p:cNvSpPr/>
          <p:nvPr/>
        </p:nvSpPr>
        <p:spPr>
          <a:xfrm>
            <a:off x="0" y="600120"/>
            <a:ext cx="18286920" cy="8280"/>
          </a:xfrm>
          <a:prstGeom prst="rect">
            <a:avLst/>
          </a:prstGeom>
          <a:solidFill>
            <a:srgbClr val="e6e6e2"/>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000000"/>
              </a:solidFill>
              <a:latin typeface="Arial"/>
              <a:ea typeface="Arial"/>
            </a:endParaRPr>
          </a:p>
        </p:txBody>
      </p:sp>
      <p:sp>
        <p:nvSpPr>
          <p:cNvPr id="11" name="Text 2"/>
          <p:cNvSpPr/>
          <p:nvPr/>
        </p:nvSpPr>
        <p:spPr>
          <a:xfrm>
            <a:off x="609480" y="243000"/>
            <a:ext cx="239220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150" spc="245" strike="noStrike">
                <a:solidFill>
                  <a:srgbClr val="6e7174"/>
                </a:solidFill>
                <a:latin typeface="Open Sans"/>
                <a:ea typeface="Open Sans"/>
              </a:rPr>
              <a:t>YR-DESIGN · SAFECAST</a:t>
            </a:r>
            <a:endParaRPr b="0" lang="en-US" sz="1150" spc="-1" strike="noStrike">
              <a:solidFill>
                <a:srgbClr val="000000"/>
              </a:solidFill>
              <a:latin typeface="Arial"/>
            </a:endParaRPr>
          </a:p>
        </p:txBody>
      </p:sp>
      <p:sp>
        <p:nvSpPr>
          <p:cNvPr id="12" name="Text 3"/>
          <p:cNvSpPr/>
          <p:nvPr/>
        </p:nvSpPr>
        <p:spPr>
          <a:xfrm>
            <a:off x="6929640" y="228600"/>
            <a:ext cx="5142600" cy="2559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150" spc="245" strike="noStrike">
                <a:solidFill>
                  <a:srgbClr val="9b9da0"/>
                </a:solidFill>
                <a:latin typeface="Open Sans"/>
                <a:ea typeface="Open Sans"/>
              </a:rPr>
              <a:t>IMPACT INVESTMENT PROSPECTUS · </a:t>
            </a:r>
            <a:r>
              <a:rPr b="1" lang="zh-CN" sz="1150" spc="245" strike="noStrike">
                <a:solidFill>
                  <a:srgbClr val="9b9da0"/>
                </a:solidFill>
                <a:latin typeface="Open Sans"/>
                <a:ea typeface="Open Sans"/>
              </a:rPr>
              <a:t>インパクト投資</a:t>
            </a:r>
            <a:endParaRPr b="0" lang="en-US" sz="1150" spc="-1" strike="noStrike">
              <a:solidFill>
                <a:srgbClr val="000000"/>
              </a:solidFill>
              <a:latin typeface="Arial"/>
            </a:endParaRPr>
          </a:p>
        </p:txBody>
      </p:sp>
      <p:sp>
        <p:nvSpPr>
          <p:cNvPr id="13" name="Text 4"/>
          <p:cNvSpPr/>
          <p:nvPr/>
        </p:nvSpPr>
        <p:spPr>
          <a:xfrm>
            <a:off x="15750360" y="243000"/>
            <a:ext cx="212004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150" spc="245" strike="noStrike">
                <a:solidFill>
                  <a:srgbClr val="e58520"/>
                </a:solidFill>
                <a:latin typeface="Open Sans"/>
                <a:ea typeface="Open Sans"/>
              </a:rPr>
              <a:t>NARA, JAPAN · 2026</a:t>
            </a:r>
            <a:endParaRPr b="0" lang="en-US" sz="1150" spc="-1" strike="noStrike">
              <a:solidFill>
                <a:srgbClr val="000000"/>
              </a:solidFill>
              <a:latin typeface="Arial"/>
            </a:endParaRPr>
          </a:p>
        </p:txBody>
      </p:sp>
      <p:sp>
        <p:nvSpPr>
          <p:cNvPr id="14" name="Shape 5"/>
          <p:cNvSpPr/>
          <p:nvPr/>
        </p:nvSpPr>
        <p:spPr>
          <a:xfrm>
            <a:off x="609480" y="1509840"/>
            <a:ext cx="43704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15" name="Text 6"/>
          <p:cNvSpPr/>
          <p:nvPr/>
        </p:nvSpPr>
        <p:spPr>
          <a:xfrm>
            <a:off x="1200240" y="1409760"/>
            <a:ext cx="5259600" cy="2847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450" spc="140" strike="noStrike">
                <a:solidFill>
                  <a:srgbClr val="9b9da0"/>
                </a:solidFill>
                <a:latin typeface="Open Sans"/>
                <a:ea typeface="Open Sans"/>
              </a:rPr>
              <a:t>A 25-YEAR MODEL FOR RURAL REGENERATION</a:t>
            </a:r>
            <a:endParaRPr b="0" lang="en-US" sz="1450" spc="-1" strike="noStrike">
              <a:solidFill>
                <a:srgbClr val="000000"/>
              </a:solidFill>
              <a:latin typeface="Arial"/>
            </a:endParaRPr>
          </a:p>
        </p:txBody>
      </p:sp>
      <p:sp>
        <p:nvSpPr>
          <p:cNvPr id="16" name="Text 7"/>
          <p:cNvSpPr/>
          <p:nvPr/>
        </p:nvSpPr>
        <p:spPr>
          <a:xfrm>
            <a:off x="609480" y="1943280"/>
            <a:ext cx="8915040" cy="2361240"/>
          </a:xfrm>
          <a:prstGeom prst="rect">
            <a:avLst/>
          </a:prstGeom>
          <a:noFill/>
          <a:ln w="0">
            <a:noFill/>
          </a:ln>
        </p:spPr>
        <p:style>
          <a:lnRef idx="0"/>
          <a:fillRef idx="0"/>
          <a:effectRef idx="0"/>
          <a:fontRef idx="minor"/>
        </p:style>
        <p:txBody>
          <a:bodyPr lIns="25560" rIns="25560" tIns="25560" bIns="25560" anchor="t">
            <a:normAutofit fontScale="94444"/>
          </a:bodyPr>
          <a:p>
            <a:pPr defTabSz="914400">
              <a:lnSpc>
                <a:spcPct val="100000"/>
              </a:lnSpc>
              <a:tabLst>
                <a:tab algn="l" pos="0"/>
              </a:tabLst>
            </a:pPr>
            <a:r>
              <a:rPr b="1" lang="en-US" sz="8000" spc="-46" strike="noStrike">
                <a:solidFill>
                  <a:srgbClr val="2e2e2e"/>
                </a:solidFill>
                <a:latin typeface="Arial"/>
                <a:ea typeface="Arial"/>
              </a:rPr>
              <a:t>Mitsue AI Data Center Project</a:t>
            </a:r>
            <a:endParaRPr b="0" lang="en-US" sz="8000" spc="-1" strike="noStrike">
              <a:solidFill>
                <a:srgbClr val="000000"/>
              </a:solidFill>
              <a:latin typeface="Arial"/>
            </a:endParaRPr>
          </a:p>
        </p:txBody>
      </p:sp>
      <p:sp>
        <p:nvSpPr>
          <p:cNvPr id="17" name="Text 8"/>
          <p:cNvSpPr/>
          <p:nvPr/>
        </p:nvSpPr>
        <p:spPr>
          <a:xfrm>
            <a:off x="609480" y="4476600"/>
            <a:ext cx="9520920" cy="6562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zh-CN" sz="3300" spc="63" strike="noStrike">
                <a:solidFill>
                  <a:srgbClr val="6e7174"/>
                </a:solidFill>
                <a:latin typeface="Noto Sans JP"/>
                <a:ea typeface="Noto Sans JP"/>
              </a:rPr>
              <a:t>御杖</a:t>
            </a:r>
            <a:r>
              <a:rPr b="1" lang="en-US" sz="3300" spc="63" strike="noStrike">
                <a:solidFill>
                  <a:srgbClr val="6e7174"/>
                </a:solidFill>
                <a:latin typeface="Noto Sans JP"/>
                <a:ea typeface="Noto Sans JP"/>
              </a:rPr>
              <a:t>AI</a:t>
            </a:r>
            <a:r>
              <a:rPr b="1" lang="zh-CN" sz="3300" spc="63" strike="noStrike">
                <a:solidFill>
                  <a:srgbClr val="6e7174"/>
                </a:solidFill>
                <a:latin typeface="Noto Sans JP"/>
                <a:ea typeface="Noto Sans JP"/>
              </a:rPr>
              <a:t>データセンタープロジェクト</a:t>
            </a:r>
            <a:endParaRPr b="0" lang="en-US" sz="3300" spc="-1" strike="noStrike">
              <a:solidFill>
                <a:srgbClr val="000000"/>
              </a:solidFill>
              <a:latin typeface="Arial"/>
            </a:endParaRPr>
          </a:p>
        </p:txBody>
      </p:sp>
      <p:sp>
        <p:nvSpPr>
          <p:cNvPr id="18" name="Text 9"/>
          <p:cNvSpPr/>
          <p:nvPr/>
        </p:nvSpPr>
        <p:spPr>
          <a:xfrm>
            <a:off x="609480" y="5754960"/>
            <a:ext cx="6277680" cy="169056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0000"/>
              </a:lnSpc>
              <a:tabLst>
                <a:tab algn="l" pos="0"/>
              </a:tabLst>
            </a:pPr>
            <a:r>
              <a:rPr b="0" lang="en-US" sz="2350" spc="-1" strike="noStrike">
                <a:solidFill>
                  <a:srgbClr val="3a3a3a"/>
                </a:solidFill>
                <a:latin typeface="Open Sans"/>
                <a:ea typeface="Open Sans"/>
              </a:rPr>
              <a:t>Restored forest, local clean energy, and a community-owned data center — one integrated system, openly documented for any village to follow.</a:t>
            </a:r>
            <a:endParaRPr b="0" lang="en-US" sz="2350" spc="-1" strike="noStrike">
              <a:solidFill>
                <a:srgbClr val="000000"/>
              </a:solidFill>
              <a:latin typeface="Arial"/>
            </a:endParaRPr>
          </a:p>
        </p:txBody>
      </p:sp>
      <p:sp>
        <p:nvSpPr>
          <p:cNvPr id="19" name="Text 10"/>
          <p:cNvSpPr/>
          <p:nvPr/>
        </p:nvSpPr>
        <p:spPr>
          <a:xfrm>
            <a:off x="609480" y="7542000"/>
            <a:ext cx="6277680" cy="7038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75000"/>
              </a:lnSpc>
              <a:tabLst>
                <a:tab algn="l" pos="0"/>
              </a:tabLst>
            </a:pPr>
            <a:r>
              <a:rPr b="0" lang="zh-CN" sz="1500" spc="-1" strike="noStrike">
                <a:solidFill>
                  <a:srgbClr val="85888c"/>
                </a:solidFill>
                <a:latin typeface="Noto Sans JP"/>
                <a:ea typeface="Noto Sans JP"/>
              </a:rPr>
              <a:t>森林再生・地域エネルギー・コミュニティ所有のデータセンター。どの集落も辿れる、公開された統合モデル。</a:t>
            </a:r>
            <a:endParaRPr b="0" lang="en-US" sz="1500" spc="-1" strike="noStrike">
              <a:solidFill>
                <a:srgbClr val="000000"/>
              </a:solidFill>
              <a:latin typeface="Arial"/>
            </a:endParaRPr>
          </a:p>
        </p:txBody>
      </p:sp>
      <p:sp>
        <p:nvSpPr>
          <p:cNvPr id="20" name="Shape 11"/>
          <p:cNvSpPr/>
          <p:nvPr/>
        </p:nvSpPr>
        <p:spPr>
          <a:xfrm>
            <a:off x="609480" y="8867880"/>
            <a:ext cx="8655120" cy="8280"/>
          </a:xfrm>
          <a:prstGeom prst="rect">
            <a:avLst/>
          </a:prstGeom>
          <a:solidFill>
            <a:srgbClr val="e6e6e2"/>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000000"/>
              </a:solidFill>
              <a:latin typeface="Arial"/>
              <a:ea typeface="Arial"/>
            </a:endParaRPr>
          </a:p>
        </p:txBody>
      </p:sp>
      <p:sp>
        <p:nvSpPr>
          <p:cNvPr id="21" name="Text 12"/>
          <p:cNvSpPr/>
          <p:nvPr/>
        </p:nvSpPr>
        <p:spPr>
          <a:xfrm>
            <a:off x="609480" y="9105840"/>
            <a:ext cx="317304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000" spc="134" strike="noStrike">
                <a:solidFill>
                  <a:srgbClr val="a9abae"/>
                </a:solidFill>
                <a:latin typeface="Open Sans"/>
                <a:ea typeface="Open Sans"/>
              </a:rPr>
              <a:t>HORIZON · </a:t>
            </a:r>
            <a:r>
              <a:rPr b="1" lang="zh-CN" sz="1000" spc="134" strike="noStrike">
                <a:solidFill>
                  <a:srgbClr val="a9abae"/>
                </a:solidFill>
                <a:latin typeface="Open Sans"/>
                <a:ea typeface="Open Sans"/>
              </a:rPr>
              <a:t>期間</a:t>
            </a:r>
            <a:endParaRPr b="0" lang="en-US" sz="1000" spc="-1" strike="noStrike">
              <a:solidFill>
                <a:srgbClr val="000000"/>
              </a:solidFill>
              <a:latin typeface="Arial"/>
            </a:endParaRPr>
          </a:p>
        </p:txBody>
      </p:sp>
      <p:sp>
        <p:nvSpPr>
          <p:cNvPr id="22" name="Text 13"/>
          <p:cNvSpPr/>
          <p:nvPr/>
        </p:nvSpPr>
        <p:spPr>
          <a:xfrm>
            <a:off x="609480" y="9353520"/>
            <a:ext cx="3173040" cy="3607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00" spc="-1" strike="noStrike">
                <a:solidFill>
                  <a:srgbClr val="2e2e2e"/>
                </a:solidFill>
                <a:latin typeface="Open Sans"/>
                <a:ea typeface="Open Sans"/>
              </a:rPr>
              <a:t>25 years</a:t>
            </a:r>
            <a:endParaRPr b="0" lang="en-US" sz="1900" spc="-1" strike="noStrike">
              <a:solidFill>
                <a:srgbClr val="000000"/>
              </a:solidFill>
              <a:latin typeface="Arial"/>
            </a:endParaRPr>
          </a:p>
        </p:txBody>
      </p:sp>
      <p:sp>
        <p:nvSpPr>
          <p:cNvPr id="23" name="Text 14"/>
          <p:cNvSpPr/>
          <p:nvPr/>
        </p:nvSpPr>
        <p:spPr>
          <a:xfrm>
            <a:off x="3494880" y="9105840"/>
            <a:ext cx="317304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000" spc="134" strike="noStrike">
                <a:solidFill>
                  <a:srgbClr val="a9abae"/>
                </a:solidFill>
                <a:latin typeface="Open Sans"/>
                <a:ea typeface="Open Sans"/>
              </a:rPr>
              <a:t>PHASE · </a:t>
            </a:r>
            <a:r>
              <a:rPr b="1" lang="zh-CN" sz="1000" spc="134" strike="noStrike">
                <a:solidFill>
                  <a:srgbClr val="a9abae"/>
                </a:solidFill>
                <a:latin typeface="Open Sans"/>
                <a:ea typeface="Open Sans"/>
              </a:rPr>
              <a:t>段階</a:t>
            </a:r>
            <a:endParaRPr b="0" lang="en-US" sz="1000" spc="-1" strike="noStrike">
              <a:solidFill>
                <a:srgbClr val="000000"/>
              </a:solidFill>
              <a:latin typeface="Arial"/>
            </a:endParaRPr>
          </a:p>
        </p:txBody>
      </p:sp>
      <p:sp>
        <p:nvSpPr>
          <p:cNvPr id="24" name="Text 15"/>
          <p:cNvSpPr/>
          <p:nvPr/>
        </p:nvSpPr>
        <p:spPr>
          <a:xfrm>
            <a:off x="3494880" y="9353520"/>
            <a:ext cx="3173040" cy="3607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00" spc="-1" strike="noStrike">
                <a:solidFill>
                  <a:srgbClr val="2e2e2e"/>
                </a:solidFill>
                <a:latin typeface="Open Sans"/>
                <a:ea typeface="Open Sans"/>
              </a:rPr>
              <a:t>0 · Pre-foundation</a:t>
            </a:r>
            <a:endParaRPr b="0" lang="en-US" sz="1900" spc="-1" strike="noStrike">
              <a:solidFill>
                <a:srgbClr val="000000"/>
              </a:solidFill>
              <a:latin typeface="Arial"/>
            </a:endParaRPr>
          </a:p>
        </p:txBody>
      </p:sp>
      <p:sp>
        <p:nvSpPr>
          <p:cNvPr id="25" name="Text 16"/>
          <p:cNvSpPr/>
          <p:nvPr/>
        </p:nvSpPr>
        <p:spPr>
          <a:xfrm>
            <a:off x="6380640" y="9105840"/>
            <a:ext cx="317304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000" spc="134" strike="noStrike">
                <a:solidFill>
                  <a:srgbClr val="a9abae"/>
                </a:solidFill>
                <a:latin typeface="Open Sans"/>
                <a:ea typeface="Open Sans"/>
              </a:rPr>
              <a:t>ADVISORS · </a:t>
            </a:r>
            <a:r>
              <a:rPr b="1" lang="zh-CN" sz="1000" spc="134" strike="noStrike">
                <a:solidFill>
                  <a:srgbClr val="a9abae"/>
                </a:solidFill>
                <a:latin typeface="Open Sans"/>
                <a:ea typeface="Open Sans"/>
              </a:rPr>
              <a:t>顧問</a:t>
            </a:r>
            <a:endParaRPr b="0" lang="en-US" sz="1000" spc="-1" strike="noStrike">
              <a:solidFill>
                <a:srgbClr val="000000"/>
              </a:solidFill>
              <a:latin typeface="Arial"/>
            </a:endParaRPr>
          </a:p>
        </p:txBody>
      </p:sp>
      <p:sp>
        <p:nvSpPr>
          <p:cNvPr id="26" name="Text 17"/>
          <p:cNvSpPr/>
          <p:nvPr/>
        </p:nvSpPr>
        <p:spPr>
          <a:xfrm>
            <a:off x="6380640" y="9353520"/>
            <a:ext cx="3173040" cy="3607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00" spc="-1" strike="noStrike">
                <a:solidFill>
                  <a:srgbClr val="2e2e2e"/>
                </a:solidFill>
                <a:latin typeface="Open Sans"/>
                <a:ea typeface="Open Sans"/>
              </a:rPr>
              <a:t>Ozzie · Dome · Takata</a:t>
            </a:r>
            <a:endParaRPr b="0" lang="en-US" sz="1900" spc="-1" strike="noStrike">
              <a:solidFill>
                <a:srgbClr val="000000"/>
              </a:solidFill>
              <a:latin typeface="Arial"/>
            </a:endParaRPr>
          </a:p>
        </p:txBody>
      </p:sp>
      <p:pic>
        <p:nvPicPr>
          <p:cNvPr id="27" name="Image 0" descr="preencoded.png"/>
          <p:cNvPicPr/>
          <p:nvPr/>
        </p:nvPicPr>
        <p:blipFill>
          <a:blip r:embed="rId1"/>
          <a:srcRect l="29183" t="0" r="29183" b="0"/>
          <a:stretch/>
        </p:blipFill>
        <p:spPr>
          <a:xfrm>
            <a:off x="9837360" y="2225880"/>
            <a:ext cx="7801920" cy="6836040"/>
          </a:xfrm>
          <a:prstGeom prst="rect">
            <a:avLst/>
          </a:prstGeom>
          <a:ln w="0">
            <a:noFill/>
          </a:ln>
        </p:spPr>
      </p:pic>
      <p:sp>
        <p:nvSpPr>
          <p:cNvPr id="28" name="Shape 18"/>
          <p:cNvSpPr/>
          <p:nvPr/>
        </p:nvSpPr>
        <p:spPr>
          <a:xfrm>
            <a:off x="9875520" y="8634240"/>
            <a:ext cx="2679480" cy="427680"/>
          </a:xfrm>
          <a:prstGeom prst="rect">
            <a:avLst/>
          </a:prstGeom>
          <a:solidFill>
            <a:srgbClr val="e5852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29" name="Text 19"/>
          <p:cNvSpPr/>
          <p:nvPr/>
        </p:nvSpPr>
        <p:spPr>
          <a:xfrm>
            <a:off x="10046880" y="8739360"/>
            <a:ext cx="2458440" cy="2559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150" spc="43" strike="noStrike">
                <a:solidFill>
                  <a:srgbClr val="ffffff"/>
                </a:solidFill>
                <a:latin typeface="Open Sans"/>
                <a:ea typeface="Open Sans"/>
              </a:rPr>
              <a:t>Mitsue Village · </a:t>
            </a:r>
            <a:r>
              <a:rPr b="1" lang="zh-CN" sz="1150" spc="43" strike="noStrike">
                <a:solidFill>
                  <a:srgbClr val="ffffff"/>
                </a:solidFill>
                <a:latin typeface="Open Sans"/>
                <a:ea typeface="Open Sans"/>
              </a:rPr>
              <a:t>御杖村</a:t>
            </a:r>
            <a:r>
              <a:rPr b="1" lang="en-US" sz="1150" spc="43" strike="noStrike">
                <a:solidFill>
                  <a:srgbClr val="ffffff"/>
                </a:solidFill>
                <a:latin typeface="Open Sans"/>
                <a:ea typeface="Open Sans"/>
              </a:rPr>
              <a:t>, Nara</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Shape 0"/>
          <p:cNvSpPr/>
          <p:nvPr/>
        </p:nvSpPr>
        <p:spPr>
          <a:xfrm>
            <a:off x="0" y="0"/>
            <a:ext cx="18286920" cy="75240"/>
          </a:xfrm>
          <a:prstGeom prst="rect">
            <a:avLst/>
          </a:prstGeom>
          <a:solidFill>
            <a:srgbClr val="9b9da0"/>
          </a:solidFill>
          <a:ln w="0">
            <a:noFill/>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ffffff"/>
              </a:solidFill>
              <a:latin typeface="Arial"/>
              <a:ea typeface="Arial"/>
            </a:endParaRPr>
          </a:p>
        </p:txBody>
      </p:sp>
      <p:sp>
        <p:nvSpPr>
          <p:cNvPr id="31" name="Shape 1"/>
          <p:cNvSpPr/>
          <p:nvPr/>
        </p:nvSpPr>
        <p:spPr>
          <a:xfrm>
            <a:off x="609480" y="895320"/>
            <a:ext cx="43704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32" name="Text 2"/>
          <p:cNvSpPr/>
          <p:nvPr/>
        </p:nvSpPr>
        <p:spPr>
          <a:xfrm>
            <a:off x="1181160" y="800280"/>
            <a:ext cx="238032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202" strike="noStrike">
                <a:solidFill>
                  <a:srgbClr val="9b9da0"/>
                </a:solidFill>
                <a:latin typeface="Open Sans"/>
                <a:ea typeface="Open Sans"/>
              </a:rPr>
              <a:t>THE THESIS · </a:t>
            </a:r>
            <a:r>
              <a:rPr b="1" lang="zh-CN" sz="1300" spc="202" strike="noStrike">
                <a:solidFill>
                  <a:srgbClr val="9b9da0"/>
                </a:solidFill>
                <a:latin typeface="Open Sans"/>
                <a:ea typeface="Open Sans"/>
              </a:rPr>
              <a:t>命題 </a:t>
            </a:r>
            <a:r>
              <a:rPr b="1" lang="en-US" sz="1300" spc="202" strike="noStrike">
                <a:solidFill>
                  <a:srgbClr val="9b9da0"/>
                </a:solidFill>
                <a:latin typeface="Open Sans"/>
                <a:ea typeface="Open Sans"/>
              </a:rPr>
              <a:t>· 02</a:t>
            </a:r>
            <a:endParaRPr b="0" lang="en-US" sz="1300" spc="-1" strike="noStrike">
              <a:solidFill>
                <a:srgbClr val="000000"/>
              </a:solidFill>
              <a:latin typeface="Arial"/>
            </a:endParaRPr>
          </a:p>
        </p:txBody>
      </p:sp>
      <p:sp>
        <p:nvSpPr>
          <p:cNvPr id="33" name="Text 3"/>
          <p:cNvSpPr/>
          <p:nvPr/>
        </p:nvSpPr>
        <p:spPr>
          <a:xfrm>
            <a:off x="609480" y="1285920"/>
            <a:ext cx="14715000" cy="14770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5000"/>
              </a:lnSpc>
              <a:tabLst>
                <a:tab algn="l" pos="0"/>
              </a:tabLst>
            </a:pPr>
            <a:r>
              <a:rPr b="1" lang="en-US" sz="5400" spc="-55" strike="noStrike">
                <a:solidFill>
                  <a:srgbClr val="2e2e2e"/>
                </a:solidFill>
                <a:latin typeface="Sora"/>
                <a:ea typeface="Sora"/>
              </a:rPr>
              <a:t>A replicable model for rural regeneration.</a:t>
            </a:r>
            <a:endParaRPr b="0" lang="en-US" sz="5400" spc="-1" strike="noStrike">
              <a:solidFill>
                <a:srgbClr val="000000"/>
              </a:solidFill>
              <a:latin typeface="Arial"/>
            </a:endParaRPr>
          </a:p>
        </p:txBody>
      </p:sp>
      <p:sp>
        <p:nvSpPr>
          <p:cNvPr id="34" name="Text 4"/>
          <p:cNvSpPr/>
          <p:nvPr/>
        </p:nvSpPr>
        <p:spPr>
          <a:xfrm>
            <a:off x="609480" y="2859480"/>
            <a:ext cx="18774720" cy="437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zh-CN" sz="2100" spc="-1" strike="noStrike">
                <a:solidFill>
                  <a:srgbClr val="6e7174"/>
                </a:solidFill>
                <a:latin typeface="Noto Sans JP"/>
                <a:ea typeface="Noto Sans JP"/>
              </a:rPr>
              <a:t>地方再生の、再現可能なモデル。</a:t>
            </a:r>
            <a:endParaRPr b="0" lang="en-US" sz="2100" spc="-1" strike="noStrike">
              <a:solidFill>
                <a:srgbClr val="000000"/>
              </a:solidFill>
              <a:latin typeface="Arial"/>
            </a:endParaRPr>
          </a:p>
        </p:txBody>
      </p:sp>
      <p:sp>
        <p:nvSpPr>
          <p:cNvPr id="35" name="Shape 5"/>
          <p:cNvSpPr/>
          <p:nvPr/>
        </p:nvSpPr>
        <p:spPr>
          <a:xfrm>
            <a:off x="609480" y="4640760"/>
            <a:ext cx="5485320" cy="2856600"/>
          </a:xfrm>
          <a:prstGeom prst="rect">
            <a:avLst/>
          </a:prstGeom>
          <a:solidFill>
            <a:srgbClr val="f6f6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36" name="Shape 6"/>
          <p:cNvSpPr/>
          <p:nvPr/>
        </p:nvSpPr>
        <p:spPr>
          <a:xfrm>
            <a:off x="609480" y="4640760"/>
            <a:ext cx="5485320" cy="46440"/>
          </a:xfrm>
          <a:prstGeom prst="rect">
            <a:avLst/>
          </a:prstGeom>
          <a:solidFill>
            <a:srgbClr val="2e2e2e"/>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37" name="Text 7"/>
          <p:cNvSpPr/>
          <p:nvPr/>
        </p:nvSpPr>
        <p:spPr>
          <a:xfrm>
            <a:off x="933480" y="5050440"/>
            <a:ext cx="5321520" cy="3988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2250" spc="-1" strike="noStrike">
                <a:solidFill>
                  <a:srgbClr val="2e2e2e"/>
                </a:solidFill>
                <a:latin typeface="Sora"/>
                <a:ea typeface="Sora"/>
              </a:rPr>
              <a:t>Forest</a:t>
            </a:r>
            <a:endParaRPr b="0" lang="en-US" sz="2250" spc="-1" strike="noStrike">
              <a:solidFill>
                <a:srgbClr val="000000"/>
              </a:solidFill>
              <a:latin typeface="Arial"/>
            </a:endParaRPr>
          </a:p>
        </p:txBody>
      </p:sp>
      <p:sp>
        <p:nvSpPr>
          <p:cNvPr id="38" name="Text 8"/>
          <p:cNvSpPr/>
          <p:nvPr/>
        </p:nvSpPr>
        <p:spPr>
          <a:xfrm>
            <a:off x="933480" y="6176160"/>
            <a:ext cx="5321520" cy="3132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zh-CN" sz="1450" spc="-1" strike="noStrike">
                <a:solidFill>
                  <a:srgbClr val="9b9da0"/>
                </a:solidFill>
                <a:latin typeface="Noto Sans JP"/>
                <a:ea typeface="Noto Sans JP"/>
              </a:rPr>
              <a:t>森林再生</a:t>
            </a:r>
            <a:endParaRPr b="0" lang="en-US" sz="1450" spc="-1" strike="noStrike">
              <a:solidFill>
                <a:srgbClr val="000000"/>
              </a:solidFill>
              <a:latin typeface="Arial"/>
            </a:endParaRPr>
          </a:p>
        </p:txBody>
      </p:sp>
      <p:sp>
        <p:nvSpPr>
          <p:cNvPr id="39" name="Text 9"/>
          <p:cNvSpPr/>
          <p:nvPr/>
        </p:nvSpPr>
        <p:spPr>
          <a:xfrm>
            <a:off x="933480" y="6528600"/>
            <a:ext cx="4982760" cy="644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5000"/>
              </a:lnSpc>
              <a:tabLst>
                <a:tab algn="l" pos="0"/>
              </a:tabLst>
            </a:pPr>
            <a:r>
              <a:rPr b="0" lang="en-US" sz="1650" spc="-1" strike="noStrike">
                <a:solidFill>
                  <a:srgbClr val="4a4a4a"/>
                </a:solidFill>
                <a:latin typeface="Open Sans"/>
                <a:ea typeface="Open Sans"/>
              </a:rPr>
              <a:t>Aged cedar restored to native broadleaf — turning a liability into feedstock and habitat.</a:t>
            </a:r>
            <a:endParaRPr b="0" lang="en-US" sz="1650" spc="-1" strike="noStrike">
              <a:solidFill>
                <a:srgbClr val="000000"/>
              </a:solidFill>
              <a:latin typeface="Arial"/>
            </a:endParaRPr>
          </a:p>
        </p:txBody>
      </p:sp>
      <p:sp>
        <p:nvSpPr>
          <p:cNvPr id="40" name="Shape 10"/>
          <p:cNvSpPr/>
          <p:nvPr/>
        </p:nvSpPr>
        <p:spPr>
          <a:xfrm>
            <a:off x="6400800" y="4640760"/>
            <a:ext cx="5485320" cy="2856600"/>
          </a:xfrm>
          <a:prstGeom prst="rect">
            <a:avLst/>
          </a:prstGeom>
          <a:solidFill>
            <a:srgbClr val="f6f6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41" name="Shape 11"/>
          <p:cNvSpPr/>
          <p:nvPr/>
        </p:nvSpPr>
        <p:spPr>
          <a:xfrm>
            <a:off x="6400800" y="4640760"/>
            <a:ext cx="5485320" cy="46440"/>
          </a:xfrm>
          <a:prstGeom prst="rect">
            <a:avLst/>
          </a:prstGeom>
          <a:solidFill>
            <a:srgbClr val="2e2e2e"/>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42" name="Text 12"/>
          <p:cNvSpPr/>
          <p:nvPr/>
        </p:nvSpPr>
        <p:spPr>
          <a:xfrm>
            <a:off x="6724800" y="5050440"/>
            <a:ext cx="5321520" cy="3988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2250" spc="-1" strike="noStrike">
                <a:solidFill>
                  <a:srgbClr val="2e2e2e"/>
                </a:solidFill>
                <a:latin typeface="Sora"/>
                <a:ea typeface="Sora"/>
              </a:rPr>
              <a:t>Energy</a:t>
            </a:r>
            <a:endParaRPr b="0" lang="en-US" sz="2250" spc="-1" strike="noStrike">
              <a:solidFill>
                <a:srgbClr val="000000"/>
              </a:solidFill>
              <a:latin typeface="Arial"/>
            </a:endParaRPr>
          </a:p>
        </p:txBody>
      </p:sp>
      <p:sp>
        <p:nvSpPr>
          <p:cNvPr id="43" name="Text 13"/>
          <p:cNvSpPr/>
          <p:nvPr/>
        </p:nvSpPr>
        <p:spPr>
          <a:xfrm>
            <a:off x="6724800" y="6176160"/>
            <a:ext cx="5321520" cy="3132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zh-CN" sz="1450" spc="-1" strike="noStrike">
                <a:solidFill>
                  <a:srgbClr val="9b9da0"/>
                </a:solidFill>
                <a:latin typeface="Noto Sans JP"/>
                <a:ea typeface="Noto Sans JP"/>
              </a:rPr>
              <a:t>地域エネルギー</a:t>
            </a:r>
            <a:endParaRPr b="0" lang="en-US" sz="1450" spc="-1" strike="noStrike">
              <a:solidFill>
                <a:srgbClr val="000000"/>
              </a:solidFill>
              <a:latin typeface="Arial"/>
            </a:endParaRPr>
          </a:p>
        </p:txBody>
      </p:sp>
      <p:sp>
        <p:nvSpPr>
          <p:cNvPr id="44" name="Text 14"/>
          <p:cNvSpPr/>
          <p:nvPr/>
        </p:nvSpPr>
        <p:spPr>
          <a:xfrm>
            <a:off x="6724800" y="6528600"/>
            <a:ext cx="4982760" cy="644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5000"/>
              </a:lnSpc>
              <a:tabLst>
                <a:tab algn="l" pos="0"/>
              </a:tabLst>
            </a:pPr>
            <a:r>
              <a:rPr b="0" lang="en-US" sz="1650" spc="-1" strike="noStrike">
                <a:solidFill>
                  <a:srgbClr val="4a4a4a"/>
                </a:solidFill>
                <a:latin typeface="Open Sans"/>
                <a:ea typeface="Open Sans"/>
              </a:rPr>
              <a:t>Biomass heat and existing solar — local power, kept local, with the grid as backup.</a:t>
            </a:r>
            <a:endParaRPr b="0" lang="en-US" sz="1650" spc="-1" strike="noStrike">
              <a:solidFill>
                <a:srgbClr val="000000"/>
              </a:solidFill>
              <a:latin typeface="Arial"/>
            </a:endParaRPr>
          </a:p>
        </p:txBody>
      </p:sp>
      <p:sp>
        <p:nvSpPr>
          <p:cNvPr id="45" name="Shape 15"/>
          <p:cNvSpPr/>
          <p:nvPr/>
        </p:nvSpPr>
        <p:spPr>
          <a:xfrm>
            <a:off x="12192120" y="4640760"/>
            <a:ext cx="5485320" cy="2856600"/>
          </a:xfrm>
          <a:prstGeom prst="rect">
            <a:avLst/>
          </a:prstGeom>
          <a:solidFill>
            <a:srgbClr val="f6f6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46" name="Shape 16"/>
          <p:cNvSpPr/>
          <p:nvPr/>
        </p:nvSpPr>
        <p:spPr>
          <a:xfrm>
            <a:off x="12192120" y="4640760"/>
            <a:ext cx="548532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47" name="Text 17"/>
          <p:cNvSpPr/>
          <p:nvPr/>
        </p:nvSpPr>
        <p:spPr>
          <a:xfrm>
            <a:off x="12515760" y="5050440"/>
            <a:ext cx="5321520" cy="3988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2250" spc="-1" strike="noStrike">
                <a:solidFill>
                  <a:srgbClr val="c26a12"/>
                </a:solidFill>
                <a:latin typeface="Sora"/>
                <a:ea typeface="Sora"/>
              </a:rPr>
              <a:t>Compute</a:t>
            </a:r>
            <a:endParaRPr b="0" lang="en-US" sz="2250" spc="-1" strike="noStrike">
              <a:solidFill>
                <a:srgbClr val="000000"/>
              </a:solidFill>
              <a:latin typeface="Arial"/>
            </a:endParaRPr>
          </a:p>
        </p:txBody>
      </p:sp>
      <p:sp>
        <p:nvSpPr>
          <p:cNvPr id="48" name="Text 18"/>
          <p:cNvSpPr/>
          <p:nvPr/>
        </p:nvSpPr>
        <p:spPr>
          <a:xfrm>
            <a:off x="12515760" y="6176160"/>
            <a:ext cx="5321520" cy="3132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zh-CN" sz="1450" spc="-1" strike="noStrike">
                <a:solidFill>
                  <a:srgbClr val="e58520"/>
                </a:solidFill>
                <a:latin typeface="Noto Sans JP"/>
                <a:ea typeface="Noto Sans JP"/>
              </a:rPr>
              <a:t>演算 — エンジン</a:t>
            </a:r>
            <a:endParaRPr b="0" lang="en-US" sz="1450" spc="-1" strike="noStrike">
              <a:solidFill>
                <a:srgbClr val="000000"/>
              </a:solidFill>
              <a:latin typeface="Arial"/>
            </a:endParaRPr>
          </a:p>
        </p:txBody>
      </p:sp>
      <p:sp>
        <p:nvSpPr>
          <p:cNvPr id="49" name="Text 19"/>
          <p:cNvSpPr/>
          <p:nvPr/>
        </p:nvSpPr>
        <p:spPr>
          <a:xfrm>
            <a:off x="12515760" y="6528600"/>
            <a:ext cx="4982760" cy="6447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5000"/>
              </a:lnSpc>
              <a:tabLst>
                <a:tab algn="l" pos="0"/>
              </a:tabLst>
            </a:pPr>
            <a:r>
              <a:rPr b="0" lang="en-US" sz="1650" spc="-1" strike="noStrike">
                <a:solidFill>
                  <a:srgbClr val="4a4a4a"/>
                </a:solidFill>
                <a:latin typeface="Open Sans"/>
                <a:ea typeface="Open Sans"/>
              </a:rPr>
              <a:t>A community-owned data center — the revenue engine that finances everything else.</a:t>
            </a:r>
            <a:endParaRPr b="0" lang="en-US" sz="1650" spc="-1" strike="noStrike">
              <a:solidFill>
                <a:srgbClr val="000000"/>
              </a:solidFill>
              <a:latin typeface="Arial"/>
            </a:endParaRPr>
          </a:p>
        </p:txBody>
      </p:sp>
      <p:sp>
        <p:nvSpPr>
          <p:cNvPr id="50" name="Shape 20"/>
          <p:cNvSpPr/>
          <p:nvPr/>
        </p:nvSpPr>
        <p:spPr>
          <a:xfrm>
            <a:off x="609480" y="8784360"/>
            <a:ext cx="17067600" cy="815760"/>
          </a:xfrm>
          <a:prstGeom prst="rect">
            <a:avLst/>
          </a:prstGeom>
          <a:solidFill>
            <a:srgbClr val="2e2e2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51" name="Text 21"/>
          <p:cNvSpPr/>
          <p:nvPr/>
        </p:nvSpPr>
        <p:spPr>
          <a:xfrm>
            <a:off x="933480" y="9035640"/>
            <a:ext cx="1149120" cy="3513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50" spc="-1" strike="noStrike">
                <a:solidFill>
                  <a:srgbClr val="f4b872"/>
                </a:solidFill>
                <a:latin typeface="Sora"/>
                <a:ea typeface="Sora"/>
              </a:rPr>
              <a:t>Key idea</a:t>
            </a:r>
            <a:endParaRPr b="0" lang="en-US" sz="1950" spc="-1" strike="noStrike">
              <a:solidFill>
                <a:srgbClr val="000000"/>
              </a:solidFill>
              <a:latin typeface="Arial"/>
            </a:endParaRPr>
          </a:p>
        </p:txBody>
      </p:sp>
      <p:sp>
        <p:nvSpPr>
          <p:cNvPr id="52" name="Text 22"/>
          <p:cNvSpPr/>
          <p:nvPr/>
        </p:nvSpPr>
        <p:spPr>
          <a:xfrm>
            <a:off x="2216880" y="9032040"/>
            <a:ext cx="13813920" cy="35856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35000"/>
              </a:lnSpc>
              <a:tabLst>
                <a:tab algn="l" pos="0"/>
              </a:tabLst>
            </a:pPr>
            <a:r>
              <a:rPr b="1" lang="en-US" sz="1900" spc="-1" strike="noStrike">
                <a:solidFill>
                  <a:srgbClr val="ffffff"/>
                </a:solidFill>
                <a:latin typeface="Open Sans"/>
                <a:ea typeface="Open Sans"/>
              </a:rPr>
              <a:t>The data center is the engine. The forest and the village are the return. </a:t>
            </a:r>
            <a:r>
              <a:rPr b="0" lang="zh-CN" sz="1500" spc="-1" strike="noStrike">
                <a:solidFill>
                  <a:srgbClr val="c7c9cb"/>
                </a:solidFill>
                <a:latin typeface="Noto Sans JP"/>
                <a:ea typeface="Noto Sans JP"/>
              </a:rPr>
              <a:t>データセンターはエンジン、森と集落がリターン。</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Shape 0"/>
          <p:cNvSpPr/>
          <p:nvPr/>
        </p:nvSpPr>
        <p:spPr>
          <a:xfrm>
            <a:off x="0" y="0"/>
            <a:ext cx="18286920" cy="75240"/>
          </a:xfrm>
          <a:prstGeom prst="rect">
            <a:avLst/>
          </a:prstGeom>
          <a:solidFill>
            <a:srgbClr val="9b9da0"/>
          </a:solidFill>
          <a:ln w="0">
            <a:noFill/>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ffffff"/>
              </a:solidFill>
              <a:latin typeface="Arial"/>
              <a:ea typeface="Arial"/>
            </a:endParaRPr>
          </a:p>
        </p:txBody>
      </p:sp>
      <p:sp>
        <p:nvSpPr>
          <p:cNvPr id="54" name="Shape 1"/>
          <p:cNvSpPr/>
          <p:nvPr/>
        </p:nvSpPr>
        <p:spPr>
          <a:xfrm>
            <a:off x="609480" y="895320"/>
            <a:ext cx="43704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55" name="Text 2"/>
          <p:cNvSpPr/>
          <p:nvPr/>
        </p:nvSpPr>
        <p:spPr>
          <a:xfrm>
            <a:off x="1181160" y="800280"/>
            <a:ext cx="353808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202" strike="noStrike">
                <a:solidFill>
                  <a:srgbClr val="9b9da0"/>
                </a:solidFill>
                <a:latin typeface="Open Sans"/>
                <a:ea typeface="Open Sans"/>
              </a:rPr>
              <a:t>THE CHALLENGE · </a:t>
            </a:r>
            <a:r>
              <a:rPr b="1" lang="zh-CN" sz="1300" spc="202" strike="noStrike">
                <a:solidFill>
                  <a:srgbClr val="9b9da0"/>
                </a:solidFill>
                <a:latin typeface="Open Sans"/>
                <a:ea typeface="Open Sans"/>
              </a:rPr>
              <a:t>現状の課題 </a:t>
            </a:r>
            <a:r>
              <a:rPr b="1" lang="en-US" sz="1300" spc="202" strike="noStrike">
                <a:solidFill>
                  <a:srgbClr val="9b9da0"/>
                </a:solidFill>
                <a:latin typeface="Open Sans"/>
                <a:ea typeface="Open Sans"/>
              </a:rPr>
              <a:t>· 03</a:t>
            </a:r>
            <a:endParaRPr b="0" lang="en-US" sz="1300" spc="-1" strike="noStrike">
              <a:solidFill>
                <a:srgbClr val="000000"/>
              </a:solidFill>
              <a:latin typeface="Arial"/>
            </a:endParaRPr>
          </a:p>
        </p:txBody>
      </p:sp>
      <p:sp>
        <p:nvSpPr>
          <p:cNvPr id="56" name="Text 3"/>
          <p:cNvSpPr/>
          <p:nvPr/>
        </p:nvSpPr>
        <p:spPr>
          <a:xfrm>
            <a:off x="609480" y="1266840"/>
            <a:ext cx="18774720" cy="67104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4000"/>
              </a:lnSpc>
              <a:tabLst>
                <a:tab algn="l" pos="0"/>
              </a:tabLst>
            </a:pPr>
            <a:r>
              <a:rPr b="1" lang="en-US" sz="4800" spc="-49" strike="noStrike">
                <a:solidFill>
                  <a:srgbClr val="2e2e2e"/>
                </a:solidFill>
                <a:latin typeface="Sora"/>
                <a:ea typeface="Sora"/>
              </a:rPr>
              <a:t>Four problems — or four raw materials</a:t>
            </a:r>
            <a:endParaRPr b="0" lang="en-US" sz="4800" spc="-1" strike="noStrike">
              <a:solidFill>
                <a:srgbClr val="000000"/>
              </a:solidFill>
              <a:latin typeface="Arial"/>
            </a:endParaRPr>
          </a:p>
        </p:txBody>
      </p:sp>
      <p:sp>
        <p:nvSpPr>
          <p:cNvPr id="57" name="Text 4"/>
          <p:cNvSpPr/>
          <p:nvPr/>
        </p:nvSpPr>
        <p:spPr>
          <a:xfrm>
            <a:off x="609480" y="2015280"/>
            <a:ext cx="18774720" cy="408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zh-CN" sz="1950" spc="-1" strike="noStrike">
                <a:solidFill>
                  <a:srgbClr val="6e7174"/>
                </a:solidFill>
                <a:latin typeface="Noto Sans JP"/>
                <a:ea typeface="Noto Sans JP"/>
              </a:rPr>
              <a:t>四つの課題は、見方を変えれば四つの資源。</a:t>
            </a:r>
            <a:endParaRPr b="0" lang="en-US" sz="1950" spc="-1" strike="noStrike">
              <a:solidFill>
                <a:srgbClr val="000000"/>
              </a:solidFill>
              <a:latin typeface="Arial"/>
            </a:endParaRPr>
          </a:p>
        </p:txBody>
      </p:sp>
      <p:sp>
        <p:nvSpPr>
          <p:cNvPr id="58" name="Shape 5"/>
          <p:cNvSpPr/>
          <p:nvPr/>
        </p:nvSpPr>
        <p:spPr>
          <a:xfrm>
            <a:off x="609480" y="2767680"/>
            <a:ext cx="4080240" cy="18000"/>
          </a:xfrm>
          <a:prstGeom prst="rect">
            <a:avLst/>
          </a:prstGeom>
          <a:solidFill>
            <a:srgbClr val="e6e6e2"/>
          </a:solidFill>
          <a:ln w="0">
            <a:noFill/>
          </a:ln>
        </p:spPr>
        <p:style>
          <a:lnRef idx="0"/>
          <a:fillRef idx="0"/>
          <a:effectRef idx="0"/>
          <a:fontRef idx="minor"/>
        </p:style>
        <p:txBody>
          <a:bodyPr lIns="90000" rIns="90000" tIns="-25920" bIns="-25920" anchor="t">
            <a:noAutofit/>
          </a:bodyPr>
          <a:p>
            <a:pPr>
              <a:lnSpc>
                <a:spcPct val="100000"/>
              </a:lnSpc>
            </a:pPr>
            <a:endParaRPr b="0" lang="en-US" sz="1800" spc="-1" strike="noStrike">
              <a:solidFill>
                <a:srgbClr val="000000"/>
              </a:solidFill>
              <a:latin typeface="Arial"/>
              <a:ea typeface="Arial"/>
            </a:endParaRPr>
          </a:p>
        </p:txBody>
      </p:sp>
      <p:sp>
        <p:nvSpPr>
          <p:cNvPr id="59" name="Text 6"/>
          <p:cNvSpPr/>
          <p:nvPr/>
        </p:nvSpPr>
        <p:spPr>
          <a:xfrm>
            <a:off x="609480" y="3015360"/>
            <a:ext cx="4488480" cy="6084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1" lang="en-US" sz="4500" spc="-1" strike="noStrike">
                <a:solidFill>
                  <a:srgbClr val="2e2e2e"/>
                </a:solidFill>
                <a:latin typeface="Sora"/>
                <a:ea typeface="Sora"/>
              </a:rPr>
              <a:t>&lt;1,500</a:t>
            </a:r>
            <a:endParaRPr b="0" lang="en-US" sz="4500" spc="-1" strike="noStrike">
              <a:solidFill>
                <a:srgbClr val="000000"/>
              </a:solidFill>
              <a:latin typeface="Arial"/>
            </a:endParaRPr>
          </a:p>
        </p:txBody>
      </p:sp>
      <p:sp>
        <p:nvSpPr>
          <p:cNvPr id="60" name="Text 7"/>
          <p:cNvSpPr/>
          <p:nvPr/>
        </p:nvSpPr>
        <p:spPr>
          <a:xfrm>
            <a:off x="609480" y="3720240"/>
            <a:ext cx="4488480" cy="3420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750" spc="-1" strike="noStrike">
                <a:solidFill>
                  <a:srgbClr val="2e2e2e"/>
                </a:solidFill>
                <a:latin typeface="Open Sans"/>
                <a:ea typeface="Open Sans"/>
              </a:rPr>
              <a:t>Residents, and falling</a:t>
            </a:r>
            <a:endParaRPr b="0" lang="en-US" sz="1750" spc="-1" strike="noStrike">
              <a:solidFill>
                <a:srgbClr val="000000"/>
              </a:solidFill>
              <a:latin typeface="Arial"/>
            </a:endParaRPr>
          </a:p>
        </p:txBody>
      </p:sp>
      <p:sp>
        <p:nvSpPr>
          <p:cNvPr id="61" name="Text 8"/>
          <p:cNvSpPr/>
          <p:nvPr/>
        </p:nvSpPr>
        <p:spPr>
          <a:xfrm>
            <a:off x="609480" y="4082040"/>
            <a:ext cx="4488480" cy="29412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0000"/>
              </a:lnSpc>
              <a:tabLst>
                <a:tab algn="l" pos="0"/>
              </a:tabLst>
            </a:pPr>
            <a:r>
              <a:rPr b="0" lang="zh-CN" sz="1350" spc="-1" strike="noStrike">
                <a:solidFill>
                  <a:srgbClr val="9b9da0"/>
                </a:solidFill>
                <a:latin typeface="Noto Sans JP"/>
                <a:ea typeface="Noto Sans JP"/>
              </a:rPr>
              <a:t>人口減少・高齢化（</a:t>
            </a:r>
            <a:r>
              <a:rPr b="0" lang="en-US" sz="1350" spc="-1" strike="noStrike">
                <a:solidFill>
                  <a:srgbClr val="9b9da0"/>
                </a:solidFill>
                <a:latin typeface="Noto Sans JP"/>
                <a:ea typeface="Noto Sans JP"/>
              </a:rPr>
              <a:t>65</a:t>
            </a:r>
            <a:r>
              <a:rPr b="0" lang="zh-CN" sz="1350" spc="-1" strike="noStrike">
                <a:solidFill>
                  <a:srgbClr val="9b9da0"/>
                </a:solidFill>
                <a:latin typeface="Noto Sans JP"/>
                <a:ea typeface="Noto Sans JP"/>
              </a:rPr>
              <a:t>歳以上が過半）</a:t>
            </a:r>
            <a:endParaRPr b="0" lang="en-US" sz="1350" spc="-1" strike="noStrike">
              <a:solidFill>
                <a:srgbClr val="000000"/>
              </a:solidFill>
              <a:latin typeface="Arial"/>
            </a:endParaRPr>
          </a:p>
        </p:txBody>
      </p:sp>
      <p:sp>
        <p:nvSpPr>
          <p:cNvPr id="62" name="Text 9"/>
          <p:cNvSpPr/>
          <p:nvPr/>
        </p:nvSpPr>
        <p:spPr>
          <a:xfrm>
            <a:off x="609480" y="8638200"/>
            <a:ext cx="4203000" cy="56196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5000"/>
              </a:lnSpc>
              <a:tabLst>
                <a:tab algn="l" pos="0"/>
              </a:tabLst>
            </a:pPr>
            <a:r>
              <a:rPr b="0" lang="en-US" sz="1450" spc="-1" strike="noStrike">
                <a:solidFill>
                  <a:srgbClr val="6e7174"/>
                </a:solidFill>
                <a:latin typeface="Open Sans"/>
                <a:ea typeface="Open Sans"/>
              </a:rPr>
              <a:t>An aging community that needs new work and reasons to stay.</a:t>
            </a:r>
            <a:endParaRPr b="0" lang="en-US" sz="1450" spc="-1" strike="noStrike">
              <a:solidFill>
                <a:srgbClr val="000000"/>
              </a:solidFill>
              <a:latin typeface="Arial"/>
            </a:endParaRPr>
          </a:p>
        </p:txBody>
      </p:sp>
      <p:sp>
        <p:nvSpPr>
          <p:cNvPr id="63" name="Shape 10"/>
          <p:cNvSpPr/>
          <p:nvPr/>
        </p:nvSpPr>
        <p:spPr>
          <a:xfrm>
            <a:off x="4938840" y="2767680"/>
            <a:ext cx="4080240" cy="18000"/>
          </a:xfrm>
          <a:prstGeom prst="rect">
            <a:avLst/>
          </a:prstGeom>
          <a:solidFill>
            <a:srgbClr val="e6e6e2"/>
          </a:solidFill>
          <a:ln w="0">
            <a:noFill/>
          </a:ln>
        </p:spPr>
        <p:style>
          <a:lnRef idx="0"/>
          <a:fillRef idx="0"/>
          <a:effectRef idx="0"/>
          <a:fontRef idx="minor"/>
        </p:style>
        <p:txBody>
          <a:bodyPr lIns="90000" rIns="90000" tIns="-25920" bIns="-25920" anchor="t">
            <a:noAutofit/>
          </a:bodyPr>
          <a:p>
            <a:pPr>
              <a:lnSpc>
                <a:spcPct val="100000"/>
              </a:lnSpc>
            </a:pPr>
            <a:endParaRPr b="0" lang="en-US" sz="1800" spc="-1" strike="noStrike">
              <a:solidFill>
                <a:srgbClr val="000000"/>
              </a:solidFill>
              <a:latin typeface="Arial"/>
              <a:ea typeface="Arial"/>
            </a:endParaRPr>
          </a:p>
        </p:txBody>
      </p:sp>
      <p:sp>
        <p:nvSpPr>
          <p:cNvPr id="64" name="Text 11"/>
          <p:cNvSpPr/>
          <p:nvPr/>
        </p:nvSpPr>
        <p:spPr>
          <a:xfrm>
            <a:off x="4938840" y="3015360"/>
            <a:ext cx="4488480" cy="6084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1" lang="en-US" sz="4500" spc="-1" strike="noStrike">
                <a:solidFill>
                  <a:srgbClr val="2e2e2e"/>
                </a:solidFill>
                <a:latin typeface="Sora"/>
                <a:ea typeface="Sora"/>
              </a:rPr>
              <a:t>93%</a:t>
            </a:r>
            <a:endParaRPr b="0" lang="en-US" sz="4500" spc="-1" strike="noStrike">
              <a:solidFill>
                <a:srgbClr val="000000"/>
              </a:solidFill>
              <a:latin typeface="Arial"/>
            </a:endParaRPr>
          </a:p>
        </p:txBody>
      </p:sp>
      <p:sp>
        <p:nvSpPr>
          <p:cNvPr id="65" name="Text 12"/>
          <p:cNvSpPr/>
          <p:nvPr/>
        </p:nvSpPr>
        <p:spPr>
          <a:xfrm>
            <a:off x="4938840" y="3720240"/>
            <a:ext cx="4488480" cy="3420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750" spc="-1" strike="noStrike">
                <a:solidFill>
                  <a:srgbClr val="2e2e2e"/>
                </a:solidFill>
                <a:latin typeface="Open Sans"/>
                <a:ea typeface="Open Sans"/>
              </a:rPr>
              <a:t>Forest, much unmanaged</a:t>
            </a:r>
            <a:endParaRPr b="0" lang="en-US" sz="1750" spc="-1" strike="noStrike">
              <a:solidFill>
                <a:srgbClr val="000000"/>
              </a:solidFill>
              <a:latin typeface="Arial"/>
            </a:endParaRPr>
          </a:p>
        </p:txBody>
      </p:sp>
      <p:sp>
        <p:nvSpPr>
          <p:cNvPr id="66" name="Text 13"/>
          <p:cNvSpPr/>
          <p:nvPr/>
        </p:nvSpPr>
        <p:spPr>
          <a:xfrm>
            <a:off x="4938840" y="4082040"/>
            <a:ext cx="4488480" cy="29412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0000"/>
              </a:lnSpc>
              <a:tabLst>
                <a:tab algn="l" pos="0"/>
              </a:tabLst>
            </a:pPr>
            <a:r>
              <a:rPr b="0" lang="zh-CN" sz="1350" spc="-1" strike="noStrike">
                <a:solidFill>
                  <a:srgbClr val="9b9da0"/>
                </a:solidFill>
                <a:latin typeface="Noto Sans JP"/>
                <a:ea typeface="Noto Sans JP"/>
              </a:rPr>
              <a:t>森林率</a:t>
            </a:r>
            <a:r>
              <a:rPr b="0" lang="en-US" sz="1350" spc="-1" strike="noStrike">
                <a:solidFill>
                  <a:srgbClr val="9b9da0"/>
                </a:solidFill>
                <a:latin typeface="Noto Sans JP"/>
                <a:ea typeface="Noto Sans JP"/>
              </a:rPr>
              <a:t>93%</a:t>
            </a:r>
            <a:r>
              <a:rPr b="0" lang="zh-CN" sz="1350" spc="-1" strike="noStrike">
                <a:solidFill>
                  <a:srgbClr val="9b9da0"/>
                </a:solidFill>
                <a:latin typeface="Noto Sans JP"/>
                <a:ea typeface="Noto Sans JP"/>
              </a:rPr>
              <a:t>・放置された人工林</a:t>
            </a:r>
            <a:endParaRPr b="0" lang="en-US" sz="1350" spc="-1" strike="noStrike">
              <a:solidFill>
                <a:srgbClr val="000000"/>
              </a:solidFill>
              <a:latin typeface="Arial"/>
            </a:endParaRPr>
          </a:p>
        </p:txBody>
      </p:sp>
      <p:sp>
        <p:nvSpPr>
          <p:cNvPr id="67" name="Text 14"/>
          <p:cNvSpPr/>
          <p:nvPr/>
        </p:nvSpPr>
        <p:spPr>
          <a:xfrm>
            <a:off x="4938840" y="8638200"/>
            <a:ext cx="4203000" cy="56196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5000"/>
              </a:lnSpc>
              <a:tabLst>
                <a:tab algn="l" pos="0"/>
              </a:tabLst>
            </a:pPr>
            <a:r>
              <a:rPr b="0" lang="en-US" sz="1450" spc="-1" strike="noStrike">
                <a:solidFill>
                  <a:srgbClr val="6e7174"/>
                </a:solidFill>
                <a:latin typeface="Open Sans"/>
                <a:ea typeface="Open Sans"/>
              </a:rPr>
              <a:t>Aged cedar: a pollen, fire and landslide liability — and a fuel.</a:t>
            </a:r>
            <a:endParaRPr b="0" lang="en-US" sz="1450" spc="-1" strike="noStrike">
              <a:solidFill>
                <a:srgbClr val="000000"/>
              </a:solidFill>
              <a:latin typeface="Arial"/>
            </a:endParaRPr>
          </a:p>
        </p:txBody>
      </p:sp>
      <p:sp>
        <p:nvSpPr>
          <p:cNvPr id="68" name="Shape 15"/>
          <p:cNvSpPr/>
          <p:nvPr/>
        </p:nvSpPr>
        <p:spPr>
          <a:xfrm>
            <a:off x="9267840" y="2767680"/>
            <a:ext cx="4080240" cy="18000"/>
          </a:xfrm>
          <a:prstGeom prst="rect">
            <a:avLst/>
          </a:prstGeom>
          <a:solidFill>
            <a:srgbClr val="e6e6e2"/>
          </a:solidFill>
          <a:ln w="0">
            <a:noFill/>
          </a:ln>
        </p:spPr>
        <p:style>
          <a:lnRef idx="0"/>
          <a:fillRef idx="0"/>
          <a:effectRef idx="0"/>
          <a:fontRef idx="minor"/>
        </p:style>
        <p:txBody>
          <a:bodyPr lIns="90000" rIns="90000" tIns="-25920" bIns="-25920" anchor="t">
            <a:noAutofit/>
          </a:bodyPr>
          <a:p>
            <a:pPr>
              <a:lnSpc>
                <a:spcPct val="100000"/>
              </a:lnSpc>
            </a:pPr>
            <a:endParaRPr b="0" lang="en-US" sz="1800" spc="-1" strike="noStrike">
              <a:solidFill>
                <a:srgbClr val="000000"/>
              </a:solidFill>
              <a:latin typeface="Arial"/>
              <a:ea typeface="Arial"/>
            </a:endParaRPr>
          </a:p>
        </p:txBody>
      </p:sp>
      <p:sp>
        <p:nvSpPr>
          <p:cNvPr id="69" name="Text 16"/>
          <p:cNvSpPr/>
          <p:nvPr/>
        </p:nvSpPr>
        <p:spPr>
          <a:xfrm>
            <a:off x="9267840" y="3015360"/>
            <a:ext cx="4488480" cy="6084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1" lang="en-US" sz="4500" spc="-1" strike="noStrike">
                <a:solidFill>
                  <a:srgbClr val="2e2e2e"/>
                </a:solidFill>
                <a:latin typeface="Sora"/>
                <a:ea typeface="Sora"/>
              </a:rPr>
              <a:t>2</a:t>
            </a:r>
            <a:endParaRPr b="0" lang="en-US" sz="4500" spc="-1" strike="noStrike">
              <a:solidFill>
                <a:srgbClr val="000000"/>
              </a:solidFill>
              <a:latin typeface="Arial"/>
            </a:endParaRPr>
          </a:p>
        </p:txBody>
      </p:sp>
      <p:sp>
        <p:nvSpPr>
          <p:cNvPr id="70" name="Text 17"/>
          <p:cNvSpPr/>
          <p:nvPr/>
        </p:nvSpPr>
        <p:spPr>
          <a:xfrm>
            <a:off x="9267840" y="3720240"/>
            <a:ext cx="4488480" cy="3420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750" spc="-1" strike="noStrike">
                <a:solidFill>
                  <a:srgbClr val="2e2e2e"/>
                </a:solidFill>
                <a:latin typeface="Open Sans"/>
                <a:ea typeface="Open Sans"/>
              </a:rPr>
              <a:t>Closed school /</a:t>
            </a:r>
            <a:r>
              <a:rPr b="0" lang="en-US" sz="1750" spc="-1" strike="noStrike">
                <a:solidFill>
                  <a:srgbClr val="000000"/>
                </a:solidFill>
                <a:latin typeface="Arial"/>
                <a:ea typeface="Arial"/>
              </a:rPr>
              <a:t> unused factories</a:t>
            </a:r>
            <a:endParaRPr b="0" lang="en-US" sz="1750" spc="-1" strike="noStrike">
              <a:solidFill>
                <a:srgbClr val="000000"/>
              </a:solidFill>
              <a:latin typeface="Arial"/>
            </a:endParaRPr>
          </a:p>
        </p:txBody>
      </p:sp>
      <p:sp>
        <p:nvSpPr>
          <p:cNvPr id="71" name="Text 18"/>
          <p:cNvSpPr/>
          <p:nvPr/>
        </p:nvSpPr>
        <p:spPr>
          <a:xfrm>
            <a:off x="9267840" y="4082040"/>
            <a:ext cx="4488480" cy="29412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0000"/>
              </a:lnSpc>
              <a:tabLst>
                <a:tab algn="l" pos="0"/>
              </a:tabLst>
            </a:pPr>
            <a:r>
              <a:rPr b="0" lang="zh-CN" sz="1350" spc="-1" strike="noStrike">
                <a:solidFill>
                  <a:srgbClr val="9b9da0"/>
                </a:solidFill>
                <a:latin typeface="Noto Sans JP"/>
                <a:ea typeface="Noto Sans JP"/>
              </a:rPr>
              <a:t>旧御杖小学校・遊休工場 — 維持費のかかる遊休資産</a:t>
            </a:r>
            <a:endParaRPr b="0" lang="en-US" sz="1350" spc="-1" strike="noStrike">
              <a:solidFill>
                <a:srgbClr val="000000"/>
              </a:solidFill>
              <a:latin typeface="Arial"/>
            </a:endParaRPr>
          </a:p>
        </p:txBody>
      </p:sp>
      <p:sp>
        <p:nvSpPr>
          <p:cNvPr id="72" name="Text 19"/>
          <p:cNvSpPr/>
          <p:nvPr/>
        </p:nvSpPr>
        <p:spPr>
          <a:xfrm>
            <a:off x="9267840" y="8638200"/>
            <a:ext cx="4203000" cy="56196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5000"/>
              </a:lnSpc>
              <a:tabLst>
                <a:tab algn="l" pos="0"/>
              </a:tabLst>
            </a:pPr>
            <a:r>
              <a:rPr b="0" lang="en-US" sz="1450" spc="-1" strike="noStrike">
                <a:solidFill>
                  <a:srgbClr val="6e7174"/>
                </a:solidFill>
                <a:latin typeface="Open Sans"/>
                <a:ea typeface="Open Sans"/>
              </a:rPr>
              <a:t>A maintained building earning nothing — ready to be repurposed.</a:t>
            </a:r>
            <a:endParaRPr b="0" lang="en-US" sz="1450" spc="-1" strike="noStrike">
              <a:solidFill>
                <a:srgbClr val="000000"/>
              </a:solidFill>
              <a:latin typeface="Arial"/>
            </a:endParaRPr>
          </a:p>
        </p:txBody>
      </p:sp>
      <p:sp>
        <p:nvSpPr>
          <p:cNvPr id="73" name="Shape 20"/>
          <p:cNvSpPr/>
          <p:nvPr/>
        </p:nvSpPr>
        <p:spPr>
          <a:xfrm>
            <a:off x="13596840" y="2767680"/>
            <a:ext cx="4080240" cy="18000"/>
          </a:xfrm>
          <a:prstGeom prst="rect">
            <a:avLst/>
          </a:prstGeom>
          <a:solidFill>
            <a:srgbClr val="e58520"/>
          </a:solidFill>
          <a:ln w="0">
            <a:noFill/>
          </a:ln>
        </p:spPr>
        <p:style>
          <a:lnRef idx="0"/>
          <a:fillRef idx="0"/>
          <a:effectRef idx="0"/>
          <a:fontRef idx="minor"/>
        </p:style>
        <p:txBody>
          <a:bodyPr lIns="90000" rIns="90000" tIns="-25920" bIns="-25920" anchor="t">
            <a:noAutofit/>
          </a:bodyPr>
          <a:p>
            <a:pPr>
              <a:lnSpc>
                <a:spcPct val="100000"/>
              </a:lnSpc>
            </a:pPr>
            <a:endParaRPr b="0" lang="en-US" sz="1800" spc="-1" strike="noStrike">
              <a:solidFill>
                <a:srgbClr val="ffffff"/>
              </a:solidFill>
              <a:latin typeface="Arial"/>
              <a:ea typeface="Arial"/>
            </a:endParaRPr>
          </a:p>
        </p:txBody>
      </p:sp>
      <p:sp>
        <p:nvSpPr>
          <p:cNvPr id="74" name="Text 21"/>
          <p:cNvSpPr/>
          <p:nvPr/>
        </p:nvSpPr>
        <p:spPr>
          <a:xfrm>
            <a:off x="13596840" y="3015360"/>
            <a:ext cx="4488480" cy="60840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1" lang="en-US" sz="4500" spc="-1" strike="noStrike">
                <a:solidFill>
                  <a:srgbClr val="c26a12"/>
                </a:solidFill>
                <a:latin typeface="Sora"/>
                <a:ea typeface="Sora"/>
              </a:rPr>
              <a:t>~92%</a:t>
            </a:r>
            <a:endParaRPr b="0" lang="en-US" sz="4500" spc="-1" strike="noStrike">
              <a:solidFill>
                <a:srgbClr val="000000"/>
              </a:solidFill>
              <a:latin typeface="Arial"/>
            </a:endParaRPr>
          </a:p>
        </p:txBody>
      </p:sp>
      <p:sp>
        <p:nvSpPr>
          <p:cNvPr id="75" name="Text 22"/>
          <p:cNvSpPr/>
          <p:nvPr/>
        </p:nvSpPr>
        <p:spPr>
          <a:xfrm>
            <a:off x="13596840" y="3720240"/>
            <a:ext cx="4488480" cy="3420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750" spc="-1" strike="noStrike">
                <a:solidFill>
                  <a:srgbClr val="2e2e2e"/>
                </a:solidFill>
                <a:latin typeface="Open Sans"/>
                <a:ea typeface="Open Sans"/>
              </a:rPr>
              <a:t>Energy imported</a:t>
            </a:r>
            <a:endParaRPr b="0" lang="en-US" sz="1750" spc="-1" strike="noStrike">
              <a:solidFill>
                <a:srgbClr val="000000"/>
              </a:solidFill>
              <a:latin typeface="Arial"/>
            </a:endParaRPr>
          </a:p>
        </p:txBody>
      </p:sp>
      <p:sp>
        <p:nvSpPr>
          <p:cNvPr id="76" name="Text 23"/>
          <p:cNvSpPr/>
          <p:nvPr/>
        </p:nvSpPr>
        <p:spPr>
          <a:xfrm>
            <a:off x="13596840" y="4082040"/>
            <a:ext cx="4488480" cy="29412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0000"/>
              </a:lnSpc>
              <a:tabLst>
                <a:tab algn="l" pos="0"/>
              </a:tabLst>
            </a:pPr>
            <a:r>
              <a:rPr b="0" lang="zh-CN" sz="1350" spc="-1" strike="noStrike">
                <a:solidFill>
                  <a:srgbClr val="e58520"/>
                </a:solidFill>
                <a:latin typeface="Noto Sans JP"/>
                <a:ea typeface="Noto Sans JP"/>
              </a:rPr>
              <a:t>エネルギーの大半を域外に依存</a:t>
            </a:r>
            <a:endParaRPr b="0" lang="en-US" sz="1350" spc="-1" strike="noStrike">
              <a:solidFill>
                <a:srgbClr val="000000"/>
              </a:solidFill>
              <a:latin typeface="Arial"/>
            </a:endParaRPr>
          </a:p>
        </p:txBody>
      </p:sp>
      <p:sp>
        <p:nvSpPr>
          <p:cNvPr id="77" name="Text 24"/>
          <p:cNvSpPr/>
          <p:nvPr/>
        </p:nvSpPr>
        <p:spPr>
          <a:xfrm>
            <a:off x="13596840" y="8638200"/>
            <a:ext cx="4203000" cy="56196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5000"/>
              </a:lnSpc>
              <a:tabLst>
                <a:tab algn="l" pos="0"/>
              </a:tabLst>
            </a:pPr>
            <a:r>
              <a:rPr b="0" lang="en-US" sz="1450" spc="-1" strike="noStrike">
                <a:solidFill>
                  <a:srgbClr val="6e7174"/>
                </a:solidFill>
                <a:latin typeface="Open Sans"/>
                <a:ea typeface="Open Sans"/>
              </a:rPr>
              <a:t>Money leaves the village every month to buy power and fuel.</a:t>
            </a:r>
            <a:endParaRPr b="0" lang="en-US" sz="1450" spc="-1" strike="noStrike">
              <a:solidFill>
                <a:srgbClr val="000000"/>
              </a:solidFill>
              <a:latin typeface="Arial"/>
            </a:endParaRPr>
          </a:p>
        </p:txBody>
      </p:sp>
      <p:sp>
        <p:nvSpPr>
          <p:cNvPr id="78" name="Text 25"/>
          <p:cNvSpPr/>
          <p:nvPr/>
        </p:nvSpPr>
        <p:spPr>
          <a:xfrm>
            <a:off x="609480" y="9410760"/>
            <a:ext cx="1877472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000" spc="18" strike="noStrike">
                <a:solidFill>
                  <a:srgbClr val="a9abae"/>
                </a:solidFill>
                <a:latin typeface="Open Sans"/>
                <a:ea typeface="Open Sans"/>
              </a:rPr>
              <a:t>Population &amp; forest: Mitsue Village statistics / Census. Energy import share illustrative — Japan Energy Database indicators. </a:t>
            </a:r>
            <a:r>
              <a:rPr b="1" lang="zh-CN" sz="1000" spc="18" strike="noStrike">
                <a:solidFill>
                  <a:srgbClr val="a9abae"/>
                </a:solidFill>
                <a:latin typeface="Open Sans"/>
                <a:ea typeface="Open Sans"/>
              </a:rPr>
              <a:t>出典：御杖村統計・国勢調査／エネルギーは試算</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9"/>
        </a:solidFill>
      </p:bgPr>
    </p:bg>
    <p:spTree>
      <p:nvGrpSpPr>
        <p:cNvPr id="1" name=""/>
        <p:cNvGrpSpPr/>
        <p:nvPr/>
      </p:nvGrpSpPr>
      <p:grpSpPr>
        <a:xfrm>
          <a:off x="0" y="0"/>
          <a:ext cx="0" cy="0"/>
          <a:chOff x="0" y="0"/>
          <a:chExt cx="0" cy="0"/>
        </a:xfrm>
      </p:grpSpPr>
      <p:sp>
        <p:nvSpPr>
          <p:cNvPr id="79" name="Shape 0"/>
          <p:cNvSpPr/>
          <p:nvPr/>
        </p:nvSpPr>
        <p:spPr>
          <a:xfrm>
            <a:off x="0" y="0"/>
            <a:ext cx="18286920" cy="75240"/>
          </a:xfrm>
          <a:prstGeom prst="rect">
            <a:avLst/>
          </a:prstGeom>
          <a:solidFill>
            <a:srgbClr val="9b9da0"/>
          </a:solidFill>
          <a:ln w="0">
            <a:noFill/>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ffffff"/>
              </a:solidFill>
              <a:latin typeface="Arial"/>
              <a:ea typeface="Arial"/>
            </a:endParaRPr>
          </a:p>
        </p:txBody>
      </p:sp>
      <p:sp>
        <p:nvSpPr>
          <p:cNvPr id="80" name="Shape 1"/>
          <p:cNvSpPr/>
          <p:nvPr/>
        </p:nvSpPr>
        <p:spPr>
          <a:xfrm>
            <a:off x="609480" y="895320"/>
            <a:ext cx="43704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81" name="Text 2"/>
          <p:cNvSpPr/>
          <p:nvPr/>
        </p:nvSpPr>
        <p:spPr>
          <a:xfrm>
            <a:off x="1181160" y="800280"/>
            <a:ext cx="420084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202" strike="noStrike">
                <a:solidFill>
                  <a:srgbClr val="9b9da0"/>
                </a:solidFill>
                <a:latin typeface="Open Sans"/>
                <a:ea typeface="Open Sans"/>
              </a:rPr>
              <a:t>THE CIRCULAR MODEL · </a:t>
            </a:r>
            <a:r>
              <a:rPr b="1" lang="zh-CN" sz="1300" spc="202" strike="noStrike">
                <a:solidFill>
                  <a:srgbClr val="9b9da0"/>
                </a:solidFill>
                <a:latin typeface="Open Sans"/>
                <a:ea typeface="Open Sans"/>
              </a:rPr>
              <a:t>循環モデル </a:t>
            </a:r>
            <a:r>
              <a:rPr b="1" lang="en-US" sz="1300" spc="202" strike="noStrike">
                <a:solidFill>
                  <a:srgbClr val="9b9da0"/>
                </a:solidFill>
                <a:latin typeface="Open Sans"/>
                <a:ea typeface="Open Sans"/>
              </a:rPr>
              <a:t>· 04</a:t>
            </a:r>
            <a:endParaRPr b="0" lang="en-US" sz="1300" spc="-1" strike="noStrike">
              <a:solidFill>
                <a:srgbClr val="000000"/>
              </a:solidFill>
              <a:latin typeface="Arial"/>
            </a:endParaRPr>
          </a:p>
        </p:txBody>
      </p:sp>
      <p:sp>
        <p:nvSpPr>
          <p:cNvPr id="82" name="Text 3"/>
          <p:cNvSpPr/>
          <p:nvPr/>
        </p:nvSpPr>
        <p:spPr>
          <a:xfrm>
            <a:off x="609480" y="1247760"/>
            <a:ext cx="5616000" cy="65880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2000"/>
              </a:lnSpc>
              <a:tabLst>
                <a:tab algn="l" pos="0"/>
              </a:tabLst>
            </a:pPr>
            <a:r>
              <a:rPr b="1" lang="en-US" sz="4800" spc="-49" strike="noStrike">
                <a:solidFill>
                  <a:srgbClr val="2e2e2e"/>
                </a:solidFill>
                <a:latin typeface="Sora"/>
                <a:ea typeface="Sora"/>
              </a:rPr>
              <a:t>A loop, not a line</a:t>
            </a:r>
            <a:endParaRPr b="0" lang="en-US" sz="4800" spc="-1" strike="noStrike">
              <a:solidFill>
                <a:srgbClr val="000000"/>
              </a:solidFill>
              <a:latin typeface="Arial"/>
            </a:endParaRPr>
          </a:p>
        </p:txBody>
      </p:sp>
      <p:sp>
        <p:nvSpPr>
          <p:cNvPr id="83" name="Text 4"/>
          <p:cNvSpPr/>
          <p:nvPr/>
        </p:nvSpPr>
        <p:spPr>
          <a:xfrm>
            <a:off x="609480" y="1964880"/>
            <a:ext cx="5616000" cy="408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zh-CN" sz="1950" spc="-1" strike="noStrike">
                <a:solidFill>
                  <a:srgbClr val="6e7174"/>
                </a:solidFill>
                <a:latin typeface="Noto Sans JP"/>
                <a:ea typeface="Noto Sans JP"/>
              </a:rPr>
              <a:t>直線ではなく、循環。各段階が次を支える。</a:t>
            </a:r>
            <a:endParaRPr b="0" lang="en-US" sz="1950" spc="-1" strike="noStrike">
              <a:solidFill>
                <a:srgbClr val="000000"/>
              </a:solidFill>
              <a:latin typeface="Arial"/>
            </a:endParaRPr>
          </a:p>
        </p:txBody>
      </p:sp>
      <p:sp>
        <p:nvSpPr>
          <p:cNvPr id="84" name="Text 5"/>
          <p:cNvSpPr/>
          <p:nvPr/>
        </p:nvSpPr>
        <p:spPr>
          <a:xfrm>
            <a:off x="13912200" y="1369440"/>
            <a:ext cx="3877920" cy="626760"/>
          </a:xfrm>
          <a:prstGeom prst="rect">
            <a:avLst/>
          </a:prstGeom>
          <a:noFill/>
          <a:ln w="0">
            <a:noFill/>
          </a:ln>
        </p:spPr>
        <p:style>
          <a:lnRef idx="0"/>
          <a:fillRef idx="0"/>
          <a:effectRef idx="0"/>
          <a:fontRef idx="minor"/>
        </p:style>
        <p:txBody>
          <a:bodyPr lIns="0" rIns="0" tIns="0" bIns="0" anchor="t">
            <a:normAutofit fontScale="87222"/>
          </a:bodyPr>
          <a:p>
            <a:pPr algn="r" defTabSz="914400">
              <a:lnSpc>
                <a:spcPct val="145000"/>
              </a:lnSpc>
              <a:tabLst>
                <a:tab algn="l" pos="0"/>
              </a:tabLst>
            </a:pPr>
            <a:r>
              <a:rPr b="0" lang="en-US" sz="1650" spc="-1" strike="noStrike">
                <a:solidFill>
                  <a:srgbClr val="4a4a4a"/>
                </a:solidFill>
                <a:latin typeface="Open Sans"/>
                <a:ea typeface="Open Sans"/>
              </a:rPr>
              <a:t>Each output is the next input. Revenue returns to the forest and the village.</a:t>
            </a:r>
            <a:endParaRPr b="0" lang="en-US" sz="1650" spc="-1" strike="noStrike">
              <a:solidFill>
                <a:srgbClr val="000000"/>
              </a:solidFill>
              <a:latin typeface="Arial"/>
            </a:endParaRPr>
          </a:p>
        </p:txBody>
      </p:sp>
      <p:sp>
        <p:nvSpPr>
          <p:cNvPr id="85" name="Text 6"/>
          <p:cNvSpPr/>
          <p:nvPr/>
        </p:nvSpPr>
        <p:spPr>
          <a:xfrm>
            <a:off x="13173120" y="2044440"/>
            <a:ext cx="4504320" cy="271800"/>
          </a:xfrm>
          <a:prstGeom prst="rect">
            <a:avLst/>
          </a:prstGeom>
          <a:noFill/>
          <a:ln w="0">
            <a:noFill/>
          </a:ln>
        </p:spPr>
        <p:style>
          <a:lnRef idx="0"/>
          <a:fillRef idx="0"/>
          <a:effectRef idx="0"/>
          <a:fontRef idx="minor"/>
        </p:style>
        <p:txBody>
          <a:bodyPr lIns="25560" rIns="25560" tIns="25560" bIns="25560" anchor="t">
            <a:normAutofit fontScale="75000"/>
          </a:bodyPr>
          <a:p>
            <a:pPr algn="r" defTabSz="914400">
              <a:lnSpc>
                <a:spcPct val="145000"/>
              </a:lnSpc>
              <a:tabLst>
                <a:tab algn="l" pos="0"/>
              </a:tabLst>
            </a:pPr>
            <a:r>
              <a:rPr b="0" lang="zh-CN" sz="1300" spc="-1" strike="noStrike">
                <a:solidFill>
                  <a:srgbClr val="9b9da0"/>
                </a:solidFill>
                <a:latin typeface="Noto Sans JP"/>
                <a:ea typeface="Noto Sans JP"/>
              </a:rPr>
              <a:t>収益は森と集落へ還る。</a:t>
            </a:r>
            <a:endParaRPr b="0" lang="en-US" sz="1300" spc="-1" strike="noStrike">
              <a:solidFill>
                <a:srgbClr val="000000"/>
              </a:solidFill>
              <a:latin typeface="Arial"/>
            </a:endParaRPr>
          </a:p>
        </p:txBody>
      </p:sp>
      <p:pic>
        <p:nvPicPr>
          <p:cNvPr id="86" name="Image 0" descr="preencoded.png"/>
          <p:cNvPicPr/>
          <p:nvPr/>
        </p:nvPicPr>
        <p:blipFill>
          <a:blip r:embed="rId1">
            <a:extLst>
              <a:ext uri="{96DAC541-7B7A-43D3-8B79-37D633B846F1}">
                <asvg:svgBlip xmlns:asvg="http://schemas.microsoft.com/office/drawing/2016/SVG/main" r:embed="rId2"/>
              </a:ext>
            </a:extLst>
          </a:blip>
          <a:stretch/>
        </p:blipFill>
        <p:spPr>
          <a:xfrm>
            <a:off x="609480" y="1000440"/>
            <a:ext cx="17067600" cy="75207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7" name="" descr=""/>
          <p:cNvPicPr/>
          <p:nvPr/>
        </p:nvPicPr>
        <p:blipFill>
          <a:blip r:embed="rId1"/>
          <a:srcRect l="23550" t="0" r="19768" b="0"/>
          <a:stretch/>
        </p:blipFill>
        <p:spPr>
          <a:xfrm>
            <a:off x="8438760" y="1332360"/>
            <a:ext cx="8785440" cy="7462080"/>
          </a:xfrm>
          <a:prstGeom prst="rect">
            <a:avLst/>
          </a:prstGeom>
          <a:ln w="0">
            <a:noFill/>
          </a:ln>
        </p:spPr>
      </p:pic>
      <p:sp>
        <p:nvSpPr>
          <p:cNvPr id="88" name="Shape 0"/>
          <p:cNvSpPr/>
          <p:nvPr/>
        </p:nvSpPr>
        <p:spPr>
          <a:xfrm>
            <a:off x="0" y="0"/>
            <a:ext cx="18286920" cy="75240"/>
          </a:xfrm>
          <a:prstGeom prst="rect">
            <a:avLst/>
          </a:prstGeom>
          <a:solidFill>
            <a:srgbClr val="9b9da0"/>
          </a:solidFill>
          <a:ln w="0">
            <a:noFill/>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ffffff"/>
              </a:solidFill>
              <a:latin typeface="Arial"/>
              <a:ea typeface="Arial"/>
            </a:endParaRPr>
          </a:p>
        </p:txBody>
      </p:sp>
      <p:sp>
        <p:nvSpPr>
          <p:cNvPr id="89" name="Shape 1"/>
          <p:cNvSpPr/>
          <p:nvPr/>
        </p:nvSpPr>
        <p:spPr>
          <a:xfrm>
            <a:off x="533520" y="895320"/>
            <a:ext cx="43704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90" name="Text 2"/>
          <p:cNvSpPr/>
          <p:nvPr/>
        </p:nvSpPr>
        <p:spPr>
          <a:xfrm>
            <a:off x="1104840" y="800280"/>
            <a:ext cx="287604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202" strike="noStrike">
                <a:solidFill>
                  <a:srgbClr val="9b9da0"/>
                </a:solidFill>
                <a:latin typeface="Open Sans"/>
                <a:ea typeface="Open Sans"/>
              </a:rPr>
              <a:t>THE ENGINE · </a:t>
            </a:r>
            <a:r>
              <a:rPr b="1" lang="zh-CN" sz="1300" spc="202" strike="noStrike">
                <a:solidFill>
                  <a:srgbClr val="9b9da0"/>
                </a:solidFill>
                <a:latin typeface="Open Sans"/>
                <a:ea typeface="Open Sans"/>
              </a:rPr>
              <a:t>エンジン </a:t>
            </a:r>
            <a:r>
              <a:rPr b="1" lang="en-US" sz="1300" spc="202" strike="noStrike">
                <a:solidFill>
                  <a:srgbClr val="9b9da0"/>
                </a:solidFill>
                <a:latin typeface="Open Sans"/>
                <a:ea typeface="Open Sans"/>
              </a:rPr>
              <a:t>· 05</a:t>
            </a:r>
            <a:endParaRPr b="0" lang="en-US" sz="1300" spc="-1" strike="noStrike">
              <a:solidFill>
                <a:srgbClr val="000000"/>
              </a:solidFill>
              <a:latin typeface="Arial"/>
            </a:endParaRPr>
          </a:p>
        </p:txBody>
      </p:sp>
      <p:sp>
        <p:nvSpPr>
          <p:cNvPr id="91" name="Text 3"/>
          <p:cNvSpPr/>
          <p:nvPr/>
        </p:nvSpPr>
        <p:spPr>
          <a:xfrm>
            <a:off x="533520" y="1247760"/>
            <a:ext cx="8318520" cy="1225800"/>
          </a:xfrm>
          <a:prstGeom prst="rect">
            <a:avLst/>
          </a:prstGeom>
          <a:noFill/>
          <a:ln w="0">
            <a:noFill/>
          </a:ln>
        </p:spPr>
        <p:style>
          <a:lnRef idx="0"/>
          <a:fillRef idx="0"/>
          <a:effectRef idx="0"/>
          <a:fontRef idx="minor"/>
        </p:style>
        <p:txBody>
          <a:bodyPr lIns="25560" rIns="25560" tIns="25560" bIns="25560" anchor="t">
            <a:normAutofit fontScale="91111" lnSpcReduction="10000"/>
          </a:bodyPr>
          <a:p>
            <a:pPr defTabSz="914400">
              <a:lnSpc>
                <a:spcPct val="104000"/>
              </a:lnSpc>
              <a:tabLst>
                <a:tab algn="l" pos="0"/>
              </a:tabLst>
            </a:pPr>
            <a:r>
              <a:rPr b="1" lang="en-US" sz="4500" spc="-46" strike="noStrike">
                <a:solidFill>
                  <a:srgbClr val="2e2e2e"/>
                </a:solidFill>
                <a:latin typeface="Sora"/>
                <a:ea typeface="Sora"/>
              </a:rPr>
              <a:t>A community-owned data center</a:t>
            </a:r>
            <a:endParaRPr b="0" lang="en-US" sz="4500" spc="-1" strike="noStrike">
              <a:solidFill>
                <a:srgbClr val="000000"/>
              </a:solidFill>
              <a:latin typeface="Arial"/>
            </a:endParaRPr>
          </a:p>
        </p:txBody>
      </p:sp>
      <p:sp>
        <p:nvSpPr>
          <p:cNvPr id="92" name="Text 4"/>
          <p:cNvSpPr/>
          <p:nvPr/>
        </p:nvSpPr>
        <p:spPr>
          <a:xfrm>
            <a:off x="533520" y="2531880"/>
            <a:ext cx="8883720" cy="389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zh-CN" sz="1900" spc="-1" strike="noStrike">
                <a:solidFill>
                  <a:srgbClr val="6e7174"/>
                </a:solidFill>
                <a:latin typeface="Noto Sans JP"/>
                <a:ea typeface="Noto Sans JP"/>
              </a:rPr>
              <a:t>コミュニティ所有の小規模データセンター</a:t>
            </a:r>
            <a:endParaRPr b="0" lang="en-US" sz="1900" spc="-1" strike="noStrike">
              <a:solidFill>
                <a:srgbClr val="000000"/>
              </a:solidFill>
              <a:latin typeface="Arial"/>
            </a:endParaRPr>
          </a:p>
        </p:txBody>
      </p:sp>
      <p:sp>
        <p:nvSpPr>
          <p:cNvPr id="93" name="Text 5"/>
          <p:cNvSpPr/>
          <p:nvPr/>
        </p:nvSpPr>
        <p:spPr>
          <a:xfrm>
            <a:off x="533520" y="3169800"/>
            <a:ext cx="6277680" cy="1408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0" lang="en-US" sz="1800" spc="-1" strike="noStrike">
                <a:solidFill>
                  <a:srgbClr val="3a3a3a"/>
                </a:solidFill>
                <a:latin typeface="Open Sans"/>
                <a:ea typeface="Open Sans"/>
              </a:rPr>
              <a:t>The closed Mitsue Elementary School — or an unused factory site — repurposed as a small, energy-efficient edge &amp; AI compute facility — powered entirely by local renewable energy, owned by the community it serves.</a:t>
            </a:r>
            <a:endParaRPr b="0" lang="en-US" sz="1800" spc="-1" strike="noStrike">
              <a:solidFill>
                <a:srgbClr val="000000"/>
              </a:solidFill>
              <a:latin typeface="Arial"/>
            </a:endParaRPr>
          </a:p>
        </p:txBody>
      </p:sp>
      <p:sp>
        <p:nvSpPr>
          <p:cNvPr id="94" name="Shape 6"/>
          <p:cNvSpPr/>
          <p:nvPr/>
        </p:nvSpPr>
        <p:spPr>
          <a:xfrm>
            <a:off x="533520" y="7897320"/>
            <a:ext cx="6681240" cy="45360"/>
          </a:xfrm>
          <a:prstGeom prst="rect">
            <a:avLst/>
          </a:prstGeom>
          <a:solidFill>
            <a:srgbClr val="e6e6e2"/>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000000"/>
              </a:solidFill>
              <a:latin typeface="Arial"/>
              <a:ea typeface="Arial"/>
            </a:endParaRPr>
          </a:p>
        </p:txBody>
      </p:sp>
      <p:sp>
        <p:nvSpPr>
          <p:cNvPr id="95" name="Text 7"/>
          <p:cNvSpPr/>
          <p:nvPr/>
        </p:nvSpPr>
        <p:spPr>
          <a:xfrm>
            <a:off x="533520" y="8115480"/>
            <a:ext cx="532440" cy="3229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800" spc="-1" strike="noStrike">
                <a:solidFill>
                  <a:srgbClr val="e58520"/>
                </a:solidFill>
                <a:latin typeface="Sora"/>
                <a:ea typeface="Sora"/>
              </a:rPr>
              <a:t>01</a:t>
            </a:r>
            <a:endParaRPr b="0" lang="en-US" sz="1800" spc="-1" strike="noStrike">
              <a:solidFill>
                <a:srgbClr val="000000"/>
              </a:solidFill>
              <a:latin typeface="Arial"/>
            </a:endParaRPr>
          </a:p>
        </p:txBody>
      </p:sp>
      <p:sp>
        <p:nvSpPr>
          <p:cNvPr id="96" name="Text 8"/>
          <p:cNvSpPr/>
          <p:nvPr/>
        </p:nvSpPr>
        <p:spPr>
          <a:xfrm>
            <a:off x="1162080" y="8118000"/>
            <a:ext cx="6795360" cy="3171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0000"/>
              </a:lnSpc>
              <a:tabLst>
                <a:tab algn="l" pos="0"/>
              </a:tabLst>
            </a:pPr>
            <a:r>
              <a:rPr b="0" lang="en-US" sz="1600" spc="-1" strike="noStrike">
                <a:solidFill>
                  <a:srgbClr val="4a4a4a"/>
                </a:solidFill>
                <a:latin typeface="Open Sans"/>
                <a:ea typeface="Open Sans"/>
              </a:rPr>
              <a:t>Sized for </a:t>
            </a:r>
            <a:r>
              <a:rPr b="1" lang="en-US" sz="1600" spc="-1" strike="noStrike">
                <a:solidFill>
                  <a:srgbClr val="4a4a4a"/>
                </a:solidFill>
                <a:latin typeface="Open Sans"/>
                <a:ea typeface="Open Sans"/>
              </a:rPr>
              <a:t>accountability &amp; ownership</a:t>
            </a:r>
            <a:r>
              <a:rPr b="0" lang="en-US" sz="1600" spc="-1" strike="noStrike">
                <a:solidFill>
                  <a:srgbClr val="4a4a4a"/>
                </a:solidFill>
                <a:latin typeface="Open Sans"/>
                <a:ea typeface="Open Sans"/>
              </a:rPr>
              <a:t>, not hyperscale economics.</a:t>
            </a:r>
            <a:endParaRPr b="0" lang="en-US" sz="1600" spc="-1" strike="noStrike">
              <a:solidFill>
                <a:srgbClr val="000000"/>
              </a:solidFill>
              <a:latin typeface="Arial"/>
            </a:endParaRPr>
          </a:p>
        </p:txBody>
      </p:sp>
      <p:sp>
        <p:nvSpPr>
          <p:cNvPr id="97" name="Shape 9"/>
          <p:cNvSpPr/>
          <p:nvPr/>
        </p:nvSpPr>
        <p:spPr>
          <a:xfrm>
            <a:off x="533520" y="8535600"/>
            <a:ext cx="6765480" cy="45360"/>
          </a:xfrm>
          <a:prstGeom prst="rect">
            <a:avLst/>
          </a:prstGeom>
          <a:solidFill>
            <a:srgbClr val="e6e6e2"/>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000000"/>
              </a:solidFill>
              <a:latin typeface="Arial"/>
              <a:ea typeface="Arial"/>
            </a:endParaRPr>
          </a:p>
        </p:txBody>
      </p:sp>
      <p:sp>
        <p:nvSpPr>
          <p:cNvPr id="98" name="Text 10"/>
          <p:cNvSpPr/>
          <p:nvPr/>
        </p:nvSpPr>
        <p:spPr>
          <a:xfrm>
            <a:off x="533520" y="8753400"/>
            <a:ext cx="532440" cy="3229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800" spc="-1" strike="noStrike">
                <a:solidFill>
                  <a:srgbClr val="e58520"/>
                </a:solidFill>
                <a:latin typeface="Sora"/>
                <a:ea typeface="Sora"/>
              </a:rPr>
              <a:t>02</a:t>
            </a:r>
            <a:endParaRPr b="0" lang="en-US" sz="1800" spc="-1" strike="noStrike">
              <a:solidFill>
                <a:srgbClr val="000000"/>
              </a:solidFill>
              <a:latin typeface="Arial"/>
            </a:endParaRPr>
          </a:p>
        </p:txBody>
      </p:sp>
      <p:sp>
        <p:nvSpPr>
          <p:cNvPr id="99" name="Text 11"/>
          <p:cNvSpPr/>
          <p:nvPr/>
        </p:nvSpPr>
        <p:spPr>
          <a:xfrm>
            <a:off x="1162080" y="8756280"/>
            <a:ext cx="5816520" cy="3171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0000"/>
              </a:lnSpc>
              <a:tabLst>
                <a:tab algn="l" pos="0"/>
              </a:tabLst>
            </a:pPr>
            <a:r>
              <a:rPr b="0" lang="en-US" sz="1600" spc="-1" strike="noStrike">
                <a:solidFill>
                  <a:srgbClr val="4a4a4a"/>
                </a:solidFill>
                <a:latin typeface="Open Sans"/>
                <a:ea typeface="Open Sans"/>
              </a:rPr>
              <a:t>Reuses a </a:t>
            </a:r>
            <a:r>
              <a:rPr b="1" lang="en-US" sz="1600" spc="-1" strike="noStrike">
                <a:solidFill>
                  <a:srgbClr val="4a4a4a"/>
                </a:solidFill>
                <a:latin typeface="Open Sans"/>
                <a:ea typeface="Open Sans"/>
              </a:rPr>
              <a:t>stranded public asset </a:t>
            </a:r>
            <a:r>
              <a:rPr b="0" lang="en-US" sz="1600" spc="-1" strike="noStrike">
                <a:solidFill>
                  <a:srgbClr val="4a4a4a"/>
                </a:solidFill>
                <a:latin typeface="Open Sans"/>
                <a:ea typeface="Open Sans"/>
              </a:rPr>
              <a:t>instead of building new.</a:t>
            </a:r>
            <a:endParaRPr b="0" lang="en-US" sz="1600" spc="-1" strike="noStrike">
              <a:solidFill>
                <a:srgbClr val="000000"/>
              </a:solidFill>
              <a:latin typeface="Arial"/>
            </a:endParaRPr>
          </a:p>
        </p:txBody>
      </p:sp>
      <p:sp>
        <p:nvSpPr>
          <p:cNvPr id="100" name="Shape 12"/>
          <p:cNvSpPr/>
          <p:nvPr/>
        </p:nvSpPr>
        <p:spPr>
          <a:xfrm>
            <a:off x="533520" y="9173520"/>
            <a:ext cx="6765480" cy="45360"/>
          </a:xfrm>
          <a:prstGeom prst="rect">
            <a:avLst/>
          </a:prstGeom>
          <a:solidFill>
            <a:srgbClr val="e6e6e2"/>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000000"/>
              </a:solidFill>
              <a:latin typeface="Arial"/>
              <a:ea typeface="Arial"/>
            </a:endParaRPr>
          </a:p>
        </p:txBody>
      </p:sp>
      <p:sp>
        <p:nvSpPr>
          <p:cNvPr id="101" name="Text 13"/>
          <p:cNvSpPr/>
          <p:nvPr/>
        </p:nvSpPr>
        <p:spPr>
          <a:xfrm>
            <a:off x="533520" y="9391680"/>
            <a:ext cx="532440" cy="3229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800" spc="-1" strike="noStrike">
                <a:solidFill>
                  <a:srgbClr val="e58520"/>
                </a:solidFill>
                <a:latin typeface="Sora"/>
                <a:ea typeface="Sora"/>
              </a:rPr>
              <a:t>03</a:t>
            </a:r>
            <a:endParaRPr b="0" lang="en-US" sz="1800" spc="-1" strike="noStrike">
              <a:solidFill>
                <a:srgbClr val="000000"/>
              </a:solidFill>
              <a:latin typeface="Arial"/>
            </a:endParaRPr>
          </a:p>
        </p:txBody>
      </p:sp>
      <p:sp>
        <p:nvSpPr>
          <p:cNvPr id="102" name="Text 14"/>
          <p:cNvSpPr/>
          <p:nvPr/>
        </p:nvSpPr>
        <p:spPr>
          <a:xfrm>
            <a:off x="1162080" y="9394560"/>
            <a:ext cx="5571720" cy="31716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0000"/>
              </a:lnSpc>
              <a:tabLst>
                <a:tab algn="l" pos="0"/>
              </a:tabLst>
            </a:pPr>
            <a:r>
              <a:rPr b="0" lang="en-US" sz="1600" spc="-1" strike="noStrike">
                <a:solidFill>
                  <a:srgbClr val="4a4a4a"/>
                </a:solidFill>
                <a:latin typeface="Open Sans"/>
                <a:ea typeface="Open Sans"/>
              </a:rPr>
              <a:t>Generates the </a:t>
            </a:r>
            <a:r>
              <a:rPr b="1" lang="en-US" sz="1600" spc="-1" strike="noStrike">
                <a:solidFill>
                  <a:srgbClr val="4a4a4a"/>
                </a:solidFill>
                <a:latin typeface="Open Sans"/>
                <a:ea typeface="Open Sans"/>
              </a:rPr>
              <a:t>recurring revenue </a:t>
            </a:r>
            <a:r>
              <a:rPr b="0" lang="en-US" sz="1600" spc="-1" strike="noStrike">
                <a:solidFill>
                  <a:srgbClr val="4a4a4a"/>
                </a:solidFill>
                <a:latin typeface="Open Sans"/>
                <a:ea typeface="Open Sans"/>
              </a:rPr>
              <a:t>that funds the loop.</a:t>
            </a:r>
            <a:endParaRPr b="0" lang="en-US" sz="1600" spc="-1" strike="noStrike">
              <a:solidFill>
                <a:srgbClr val="000000"/>
              </a:solidFill>
              <a:latin typeface="Arial"/>
            </a:endParaRPr>
          </a:p>
        </p:txBody>
      </p:sp>
      <p:sp>
        <p:nvSpPr>
          <p:cNvPr id="103" name="Shape 15"/>
          <p:cNvSpPr/>
          <p:nvPr/>
        </p:nvSpPr>
        <p:spPr>
          <a:xfrm>
            <a:off x="8438760" y="8367120"/>
            <a:ext cx="3360600" cy="427680"/>
          </a:xfrm>
          <a:prstGeom prst="rect">
            <a:avLst/>
          </a:prstGeom>
          <a:solidFill>
            <a:srgbClr val="2e2e2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104" name="Text 16"/>
          <p:cNvSpPr/>
          <p:nvPr/>
        </p:nvSpPr>
        <p:spPr>
          <a:xfrm>
            <a:off x="8610120" y="8471880"/>
            <a:ext cx="3118680" cy="255960"/>
          </a:xfrm>
          <a:prstGeom prst="rect">
            <a:avLst/>
          </a:prstGeom>
          <a:noFill/>
          <a:ln w="0">
            <a:noFill/>
          </a:ln>
        </p:spPr>
        <p:style>
          <a:lnRef idx="0"/>
          <a:fillRef idx="0"/>
          <a:effectRef idx="0"/>
          <a:fontRef idx="minor"/>
        </p:style>
        <p:txBody>
          <a:bodyPr lIns="25560" rIns="25560" tIns="25560" bIns="25560" anchor="t">
            <a:normAutofit fontScale="75000" lnSpcReduction="20000"/>
          </a:bodyPr>
          <a:p>
            <a:pPr defTabSz="914400">
              <a:lnSpc>
                <a:spcPct val="100000"/>
              </a:lnSpc>
              <a:tabLst>
                <a:tab algn="l" pos="0"/>
              </a:tabLst>
            </a:pPr>
            <a:r>
              <a:rPr b="1" lang="en-US" sz="1150" spc="32" strike="noStrike">
                <a:solidFill>
                  <a:srgbClr val="ffffff"/>
                </a:solidFill>
                <a:latin typeface="Open Sans"/>
                <a:ea typeface="Open Sans"/>
              </a:rPr>
              <a:t>Former Mitsue Elementary / Unused Factory · </a:t>
            </a:r>
            <a:r>
              <a:rPr b="1" lang="zh-CN" sz="1150" spc="32" strike="noStrike">
                <a:solidFill>
                  <a:srgbClr val="ffffff"/>
                </a:solidFill>
                <a:latin typeface="Open Sans"/>
                <a:ea typeface="Open Sans"/>
              </a:rPr>
              <a:t>旧御杖小学校・遊休工場</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5" name="" descr=""/>
          <p:cNvPicPr/>
          <p:nvPr/>
        </p:nvPicPr>
        <p:blipFill>
          <a:blip r:embed="rId1"/>
          <a:stretch/>
        </p:blipFill>
        <p:spPr>
          <a:xfrm>
            <a:off x="7819200" y="1334880"/>
            <a:ext cx="10108080" cy="7191000"/>
          </a:xfrm>
          <a:prstGeom prst="rect">
            <a:avLst/>
          </a:prstGeom>
          <a:ln w="0">
            <a:noFill/>
          </a:ln>
        </p:spPr>
      </p:pic>
      <p:sp>
        <p:nvSpPr>
          <p:cNvPr id="106" name="Shape 0"/>
          <p:cNvSpPr/>
          <p:nvPr/>
        </p:nvSpPr>
        <p:spPr>
          <a:xfrm>
            <a:off x="0" y="0"/>
            <a:ext cx="18286920" cy="75240"/>
          </a:xfrm>
          <a:prstGeom prst="rect">
            <a:avLst/>
          </a:prstGeom>
          <a:solidFill>
            <a:srgbClr val="9b9da0"/>
          </a:solidFill>
          <a:ln w="0">
            <a:noFill/>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ffffff"/>
              </a:solidFill>
              <a:latin typeface="Arial"/>
              <a:ea typeface="Arial"/>
            </a:endParaRPr>
          </a:p>
        </p:txBody>
      </p:sp>
      <p:sp>
        <p:nvSpPr>
          <p:cNvPr id="107" name="Shape 1"/>
          <p:cNvSpPr/>
          <p:nvPr/>
        </p:nvSpPr>
        <p:spPr>
          <a:xfrm>
            <a:off x="609480" y="895320"/>
            <a:ext cx="43704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108" name="Text 2"/>
          <p:cNvSpPr/>
          <p:nvPr/>
        </p:nvSpPr>
        <p:spPr>
          <a:xfrm>
            <a:off x="1181160" y="800280"/>
            <a:ext cx="399528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202" strike="noStrike">
                <a:solidFill>
                  <a:srgbClr val="9b9da0"/>
                </a:solidFill>
                <a:latin typeface="Open Sans"/>
                <a:ea typeface="Open Sans"/>
              </a:rPr>
              <a:t>FOREST RESTORATION · </a:t>
            </a:r>
            <a:r>
              <a:rPr b="1" lang="zh-CN" sz="1300" spc="202" strike="noStrike">
                <a:solidFill>
                  <a:srgbClr val="9b9da0"/>
                </a:solidFill>
                <a:latin typeface="Open Sans"/>
                <a:ea typeface="Open Sans"/>
              </a:rPr>
              <a:t>森林再生 </a:t>
            </a:r>
            <a:r>
              <a:rPr b="1" lang="en-US" sz="1300" spc="202" strike="noStrike">
                <a:solidFill>
                  <a:srgbClr val="9b9da0"/>
                </a:solidFill>
                <a:latin typeface="Open Sans"/>
                <a:ea typeface="Open Sans"/>
              </a:rPr>
              <a:t>· 06</a:t>
            </a:r>
            <a:endParaRPr b="0" lang="en-US" sz="1300" spc="-1" strike="noStrike">
              <a:solidFill>
                <a:srgbClr val="000000"/>
              </a:solidFill>
              <a:latin typeface="Arial"/>
            </a:endParaRPr>
          </a:p>
        </p:txBody>
      </p:sp>
      <p:sp>
        <p:nvSpPr>
          <p:cNvPr id="109" name="Text 3"/>
          <p:cNvSpPr/>
          <p:nvPr/>
        </p:nvSpPr>
        <p:spPr>
          <a:xfrm>
            <a:off x="609480" y="1247760"/>
            <a:ext cx="18774720" cy="6649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2000"/>
              </a:lnSpc>
              <a:tabLst>
                <a:tab algn="l" pos="0"/>
              </a:tabLst>
            </a:pPr>
            <a:r>
              <a:rPr b="1" lang="en-US" sz="4800" spc="-49" strike="noStrike">
                <a:solidFill>
                  <a:srgbClr val="2e2e2e"/>
                </a:solidFill>
                <a:latin typeface="Sora"/>
                <a:ea typeface="Sora"/>
              </a:rPr>
              <a:t>From liability to asset</a:t>
            </a:r>
            <a:endParaRPr b="0" lang="en-US" sz="4800" spc="-1" strike="noStrike">
              <a:solidFill>
                <a:srgbClr val="000000"/>
              </a:solidFill>
              <a:latin typeface="Arial"/>
            </a:endParaRPr>
          </a:p>
        </p:txBody>
      </p:sp>
      <p:sp>
        <p:nvSpPr>
          <p:cNvPr id="110" name="Text 4"/>
          <p:cNvSpPr/>
          <p:nvPr/>
        </p:nvSpPr>
        <p:spPr>
          <a:xfrm>
            <a:off x="609480" y="1971000"/>
            <a:ext cx="18774720" cy="408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zh-CN" sz="1950" spc="-1" strike="noStrike">
                <a:solidFill>
                  <a:srgbClr val="6e7174"/>
                </a:solidFill>
                <a:latin typeface="Noto Sans JP"/>
                <a:ea typeface="Noto Sans JP"/>
              </a:rPr>
              <a:t>負債から資産へ — </a:t>
            </a:r>
            <a:r>
              <a:rPr b="0" lang="en-US" sz="1950" spc="-1" strike="noStrike">
                <a:solidFill>
                  <a:srgbClr val="6e7174"/>
                </a:solidFill>
                <a:latin typeface="Noto Sans JP"/>
                <a:ea typeface="Noto Sans JP"/>
              </a:rPr>
              <a:t>25</a:t>
            </a:r>
            <a:r>
              <a:rPr b="0" lang="zh-CN" sz="1950" spc="-1" strike="noStrike">
                <a:solidFill>
                  <a:srgbClr val="6e7174"/>
                </a:solidFill>
                <a:latin typeface="Noto Sans JP"/>
                <a:ea typeface="Noto Sans JP"/>
              </a:rPr>
              <a:t>年の生態系再生。</a:t>
            </a:r>
            <a:endParaRPr b="0" lang="en-US" sz="1950" spc="-1" strike="noStrike">
              <a:solidFill>
                <a:srgbClr val="000000"/>
              </a:solidFill>
              <a:latin typeface="Arial"/>
            </a:endParaRPr>
          </a:p>
        </p:txBody>
      </p:sp>
      <p:sp>
        <p:nvSpPr>
          <p:cNvPr id="111" name="Shape 5"/>
          <p:cNvSpPr/>
          <p:nvPr/>
        </p:nvSpPr>
        <p:spPr>
          <a:xfrm>
            <a:off x="630720" y="5568840"/>
            <a:ext cx="6359400" cy="95760"/>
          </a:xfrm>
          <a:prstGeom prst="rect">
            <a:avLst/>
          </a:prstGeom>
          <a:solidFill>
            <a:srgbClr val="e6e6e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12" name="Text 6"/>
          <p:cNvSpPr/>
          <p:nvPr/>
        </p:nvSpPr>
        <p:spPr>
          <a:xfrm>
            <a:off x="609480" y="4905000"/>
            <a:ext cx="1570680" cy="3513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50" spc="-1" strike="noStrike">
                <a:solidFill>
                  <a:srgbClr val="9b9da0"/>
                </a:solidFill>
                <a:latin typeface="Open Sans"/>
                <a:ea typeface="Open Sans"/>
              </a:rPr>
              <a:t>Today · </a:t>
            </a:r>
            <a:r>
              <a:rPr b="1" lang="zh-CN" sz="1650" spc="-1" strike="noStrike">
                <a:solidFill>
                  <a:srgbClr val="9b9da0"/>
                </a:solidFill>
                <a:latin typeface="Open Sans"/>
                <a:ea typeface="Open Sans"/>
              </a:rPr>
              <a:t>現状</a:t>
            </a:r>
            <a:endParaRPr b="0" lang="en-US" sz="1650" spc="-1" strike="noStrike">
              <a:solidFill>
                <a:srgbClr val="000000"/>
              </a:solidFill>
              <a:latin typeface="Arial"/>
            </a:endParaRPr>
          </a:p>
        </p:txBody>
      </p:sp>
      <p:sp>
        <p:nvSpPr>
          <p:cNvPr id="113" name="Text 7"/>
          <p:cNvSpPr/>
          <p:nvPr/>
        </p:nvSpPr>
        <p:spPr>
          <a:xfrm>
            <a:off x="2266920" y="4728600"/>
            <a:ext cx="4907880" cy="703800"/>
          </a:xfrm>
          <a:prstGeom prst="rect">
            <a:avLst/>
          </a:prstGeom>
          <a:noFill/>
          <a:ln w="0">
            <a:noFill/>
          </a:ln>
        </p:spPr>
        <p:style>
          <a:lnRef idx="0"/>
          <a:fillRef idx="0"/>
          <a:effectRef idx="0"/>
          <a:fontRef idx="minor"/>
        </p:style>
        <p:txBody>
          <a:bodyPr numCol="1" spcCol="0" horzOverflow="overflow" lIns="25560" rIns="25560" tIns="25560" bIns="25560" anchor="t">
            <a:normAutofit fontScale="87222" lnSpcReduction="10000"/>
          </a:bodyPr>
          <a:p>
            <a:pPr defTabSz="914400">
              <a:lnSpc>
                <a:spcPct val="140000"/>
              </a:lnSpc>
              <a:tabLst>
                <a:tab algn="l" pos="0"/>
              </a:tabLst>
            </a:pPr>
            <a:r>
              <a:rPr b="0" lang="en-US" sz="1900" spc="-1" strike="noStrike">
                <a:solidFill>
                  <a:srgbClr val="4a4a4a"/>
                </a:solidFill>
                <a:latin typeface="Open Sans"/>
                <a:ea typeface="Open Sans"/>
              </a:rPr>
              <a:t>Aged </a:t>
            </a:r>
            <a:r>
              <a:rPr b="1" lang="en-US" sz="1900" spc="-1" strike="noStrike">
                <a:solidFill>
                  <a:srgbClr val="4a4a4a"/>
                </a:solidFill>
                <a:latin typeface="Open Sans"/>
                <a:ea typeface="Open Sans"/>
              </a:rPr>
              <a:t>sugi cedar </a:t>
            </a:r>
            <a:r>
              <a:rPr b="0" lang="en-US" sz="1900" spc="-1" strike="noStrike">
                <a:solidFill>
                  <a:srgbClr val="4a4a4a"/>
                </a:solidFill>
                <a:latin typeface="Open Sans"/>
                <a:ea typeface="Open Sans"/>
              </a:rPr>
              <a:t>monoculture — pollen, landslide and fire risk, little habitat.</a:t>
            </a:r>
            <a:endParaRPr b="0" lang="en-US" sz="1900" spc="-1" strike="noStrike">
              <a:solidFill>
                <a:srgbClr val="000000"/>
              </a:solidFill>
              <a:latin typeface="Arial"/>
            </a:endParaRPr>
          </a:p>
        </p:txBody>
      </p:sp>
      <p:sp>
        <p:nvSpPr>
          <p:cNvPr id="114" name="Text 8"/>
          <p:cNvSpPr/>
          <p:nvPr/>
        </p:nvSpPr>
        <p:spPr>
          <a:xfrm>
            <a:off x="1822320" y="5765040"/>
            <a:ext cx="4808880" cy="3988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2250" spc="-1" strike="noStrike">
                <a:solidFill>
                  <a:srgbClr val="e58520"/>
                </a:solidFill>
                <a:latin typeface="Sora"/>
                <a:ea typeface="Sora"/>
              </a:rPr>
              <a:t>↓ </a:t>
            </a:r>
            <a:r>
              <a:rPr b="1" lang="en-US" sz="2250" spc="-1" strike="noStrike">
                <a:solidFill>
                  <a:srgbClr val="e58520"/>
                </a:solidFill>
                <a:latin typeface="Sora"/>
                <a:ea typeface="Sora"/>
              </a:rPr>
              <a:t>25-year phased restoration</a:t>
            </a:r>
            <a:endParaRPr b="0" lang="en-US" sz="2250" spc="-1" strike="noStrike">
              <a:solidFill>
                <a:srgbClr val="000000"/>
              </a:solidFill>
              <a:latin typeface="Arial"/>
            </a:endParaRPr>
          </a:p>
        </p:txBody>
      </p:sp>
      <p:sp>
        <p:nvSpPr>
          <p:cNvPr id="115" name="Shape 9"/>
          <p:cNvSpPr/>
          <p:nvPr/>
        </p:nvSpPr>
        <p:spPr>
          <a:xfrm flipV="1">
            <a:off x="609480" y="6337800"/>
            <a:ext cx="6380640" cy="44640"/>
          </a:xfrm>
          <a:prstGeom prst="rect">
            <a:avLst/>
          </a:prstGeom>
          <a:solidFill>
            <a:srgbClr val="2e2e2e"/>
          </a:solidFill>
          <a:ln w="0">
            <a:noFill/>
          </a:ln>
        </p:spPr>
        <p:style>
          <a:lnRef idx="0"/>
          <a:fillRef idx="0"/>
          <a:effectRef idx="0"/>
          <a:fontRef idx="minor"/>
        </p:style>
        <p:txBody>
          <a:bodyPr lIns="90000" rIns="90000" tIns="720" bIns="720" anchor="t">
            <a:noAutofit/>
          </a:bodyPr>
          <a:p>
            <a:pPr>
              <a:lnSpc>
                <a:spcPct val="100000"/>
              </a:lnSpc>
            </a:pPr>
            <a:endParaRPr b="0" lang="en-US" sz="1800" spc="-1" strike="noStrike">
              <a:solidFill>
                <a:srgbClr val="ffffff"/>
              </a:solidFill>
              <a:latin typeface="Arial"/>
              <a:ea typeface="Arial"/>
            </a:endParaRPr>
          </a:p>
        </p:txBody>
      </p:sp>
      <p:sp>
        <p:nvSpPr>
          <p:cNvPr id="116" name="Text 10"/>
          <p:cNvSpPr/>
          <p:nvPr/>
        </p:nvSpPr>
        <p:spPr>
          <a:xfrm>
            <a:off x="609480" y="6724080"/>
            <a:ext cx="1570680" cy="3513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50" spc="-1" strike="noStrike">
                <a:solidFill>
                  <a:srgbClr val="2e2e2e"/>
                </a:solidFill>
                <a:latin typeface="Open Sans"/>
                <a:ea typeface="Open Sans"/>
              </a:rPr>
              <a:t>2050 · </a:t>
            </a:r>
            <a:r>
              <a:rPr b="1" lang="zh-CN" sz="1650" spc="-1" strike="noStrike">
                <a:solidFill>
                  <a:srgbClr val="2e2e2e"/>
                </a:solidFill>
                <a:latin typeface="Open Sans"/>
                <a:ea typeface="Open Sans"/>
              </a:rPr>
              <a:t>想定</a:t>
            </a:r>
            <a:endParaRPr b="0" lang="en-US" sz="1650" spc="-1" strike="noStrike">
              <a:solidFill>
                <a:srgbClr val="000000"/>
              </a:solidFill>
              <a:latin typeface="Arial"/>
            </a:endParaRPr>
          </a:p>
        </p:txBody>
      </p:sp>
      <p:sp>
        <p:nvSpPr>
          <p:cNvPr id="117" name="Text 11"/>
          <p:cNvSpPr/>
          <p:nvPr/>
        </p:nvSpPr>
        <p:spPr>
          <a:xfrm>
            <a:off x="2266920" y="6548040"/>
            <a:ext cx="4723200" cy="703800"/>
          </a:xfrm>
          <a:prstGeom prst="rect">
            <a:avLst/>
          </a:prstGeom>
          <a:noFill/>
          <a:ln w="0">
            <a:noFill/>
          </a:ln>
        </p:spPr>
        <p:style>
          <a:lnRef idx="0"/>
          <a:fillRef idx="0"/>
          <a:effectRef idx="0"/>
          <a:fontRef idx="minor"/>
        </p:style>
        <p:txBody>
          <a:bodyPr numCol="1" spcCol="0" horzOverflow="overflow" lIns="25560" rIns="25560" tIns="25560" bIns="25560" anchor="t">
            <a:normAutofit fontScale="87222" lnSpcReduction="10000"/>
          </a:bodyPr>
          <a:p>
            <a:pPr defTabSz="914400">
              <a:lnSpc>
                <a:spcPct val="140000"/>
              </a:lnSpc>
              <a:tabLst>
                <a:tab algn="l" pos="0"/>
              </a:tabLst>
            </a:pPr>
            <a:r>
              <a:rPr b="1" lang="en-US" sz="1900" spc="-1" strike="noStrike">
                <a:solidFill>
                  <a:srgbClr val="2e2e2e"/>
                </a:solidFill>
                <a:latin typeface="Open Sans"/>
                <a:ea typeface="Open Sans"/>
              </a:rPr>
              <a:t>Native broadleaf forest </a:t>
            </a:r>
            <a:r>
              <a:rPr b="0" lang="en-US" sz="1900" spc="-1" strike="noStrike">
                <a:solidFill>
                  <a:srgbClr val="2e2e2e"/>
                </a:solidFill>
                <a:latin typeface="Open Sans"/>
                <a:ea typeface="Open Sans"/>
              </a:rPr>
              <a:t>— biodiversity, water retention, timber &amp; biomass.</a:t>
            </a:r>
            <a:endParaRPr b="0" lang="en-US" sz="1900" spc="-1" strike="noStrike">
              <a:solidFill>
                <a:srgbClr val="000000"/>
              </a:solidFill>
              <a:latin typeface="Arial"/>
            </a:endParaRPr>
          </a:p>
        </p:txBody>
      </p:sp>
      <p:sp>
        <p:nvSpPr>
          <p:cNvPr id="118" name="Shape 12"/>
          <p:cNvSpPr/>
          <p:nvPr/>
        </p:nvSpPr>
        <p:spPr>
          <a:xfrm>
            <a:off x="7805520" y="6413400"/>
            <a:ext cx="8817840" cy="2121120"/>
          </a:xfrm>
          <a:prstGeom prst="rect">
            <a:avLst/>
          </a:prstGeom>
          <a:gradFill rotWithShape="0">
            <a:gsLst>
              <a:gs pos="0">
                <a:srgbClr val="0e1a0e">
                  <a:alpha val="92000"/>
                </a:srgbClr>
              </a:gs>
              <a:gs pos="100000">
                <a:srgbClr val="0e1a0e">
                  <a:alpha val="0"/>
                </a:srgbClr>
              </a:gs>
            </a:gsLst>
            <a:lin ang="162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19" name="Shape 13"/>
          <p:cNvSpPr/>
          <p:nvPr/>
        </p:nvSpPr>
        <p:spPr>
          <a:xfrm>
            <a:off x="7898760" y="6713280"/>
            <a:ext cx="97560" cy="133920"/>
          </a:xfrm>
          <a:prstGeom prst="rect">
            <a:avLst/>
          </a:prstGeom>
          <a:solidFill>
            <a:srgbClr val="e58520"/>
          </a:solidFill>
          <a:ln w="0">
            <a:noFill/>
          </a:ln>
        </p:spPr>
        <p:style>
          <a:lnRef idx="0"/>
          <a:fillRef idx="0"/>
          <a:effectRef idx="0"/>
          <a:fontRef idx="minor"/>
        </p:style>
        <p:txBody>
          <a:bodyPr lIns="48960" rIns="48960" tIns="45000" bIns="45000" anchor="t">
            <a:noAutofit/>
          </a:bodyPr>
          <a:p>
            <a:pPr>
              <a:lnSpc>
                <a:spcPct val="100000"/>
              </a:lnSpc>
            </a:pPr>
            <a:endParaRPr b="0" lang="en-US" sz="1800" spc="-1" strike="noStrike">
              <a:solidFill>
                <a:srgbClr val="ffffff"/>
              </a:solidFill>
              <a:latin typeface="Arial"/>
              <a:ea typeface="Arial"/>
            </a:endParaRPr>
          </a:p>
        </p:txBody>
      </p:sp>
      <p:sp>
        <p:nvSpPr>
          <p:cNvPr id="120" name="Text 14"/>
          <p:cNvSpPr/>
          <p:nvPr/>
        </p:nvSpPr>
        <p:spPr>
          <a:xfrm>
            <a:off x="8200080" y="6622920"/>
            <a:ext cx="4442400" cy="4449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450" spc="-1" strike="noStrike">
                <a:solidFill>
                  <a:srgbClr val="ffffff"/>
                </a:solidFill>
                <a:latin typeface="Open Sans"/>
                <a:ea typeface="Open Sans"/>
              </a:rPr>
              <a:t>Thinnings → energy feedstock </a:t>
            </a:r>
            <a:r>
              <a:rPr b="0" lang="zh-CN" sz="1450" spc="-1" strike="noStrike">
                <a:solidFill>
                  <a:srgbClr val="c7c9cb"/>
                </a:solidFill>
                <a:latin typeface="Open Sans"/>
                <a:ea typeface="Open Sans"/>
              </a:rPr>
              <a:t>間伐材を燃料に</a:t>
            </a:r>
            <a:endParaRPr b="0" lang="en-US" sz="1450" spc="-1" strike="noStrike">
              <a:solidFill>
                <a:srgbClr val="000000"/>
              </a:solidFill>
              <a:latin typeface="Arial"/>
            </a:endParaRPr>
          </a:p>
        </p:txBody>
      </p:sp>
      <p:sp>
        <p:nvSpPr>
          <p:cNvPr id="121" name="Shape 15"/>
          <p:cNvSpPr/>
          <p:nvPr/>
        </p:nvSpPr>
        <p:spPr>
          <a:xfrm>
            <a:off x="7898760" y="7113600"/>
            <a:ext cx="97560" cy="133920"/>
          </a:xfrm>
          <a:prstGeom prst="rect">
            <a:avLst/>
          </a:prstGeom>
          <a:solidFill>
            <a:srgbClr val="e58520"/>
          </a:solidFill>
          <a:ln w="0">
            <a:noFill/>
          </a:ln>
        </p:spPr>
        <p:style>
          <a:lnRef idx="0"/>
          <a:fillRef idx="0"/>
          <a:effectRef idx="0"/>
          <a:fontRef idx="minor"/>
        </p:style>
        <p:txBody>
          <a:bodyPr lIns="48960" rIns="48960" tIns="45000" bIns="45000" anchor="t">
            <a:noAutofit/>
          </a:bodyPr>
          <a:p>
            <a:pPr>
              <a:lnSpc>
                <a:spcPct val="100000"/>
              </a:lnSpc>
            </a:pPr>
            <a:endParaRPr b="0" lang="en-US" sz="1800" spc="-1" strike="noStrike">
              <a:solidFill>
                <a:srgbClr val="ffffff"/>
              </a:solidFill>
              <a:latin typeface="Arial"/>
              <a:ea typeface="Arial"/>
            </a:endParaRPr>
          </a:p>
        </p:txBody>
      </p:sp>
      <p:sp>
        <p:nvSpPr>
          <p:cNvPr id="122" name="Text 16"/>
          <p:cNvSpPr/>
          <p:nvPr/>
        </p:nvSpPr>
        <p:spPr>
          <a:xfrm>
            <a:off x="8194680" y="7022880"/>
            <a:ext cx="4182840" cy="4449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450" spc="-1" strike="noStrike">
                <a:solidFill>
                  <a:srgbClr val="ffffff"/>
                </a:solidFill>
                <a:latin typeface="Open Sans"/>
                <a:ea typeface="Open Sans"/>
              </a:rPr>
              <a:t>Biodiversity &amp; watershed </a:t>
            </a:r>
            <a:r>
              <a:rPr b="0" lang="zh-CN" sz="1450" spc="-1" strike="noStrike">
                <a:solidFill>
                  <a:srgbClr val="c7c9cb"/>
                </a:solidFill>
                <a:latin typeface="Open Sans"/>
                <a:ea typeface="Open Sans"/>
              </a:rPr>
              <a:t>生物多様性と水源</a:t>
            </a:r>
            <a:endParaRPr b="0" lang="en-US" sz="1450" spc="-1" strike="noStrike">
              <a:solidFill>
                <a:srgbClr val="000000"/>
              </a:solidFill>
              <a:latin typeface="Arial"/>
            </a:endParaRPr>
          </a:p>
        </p:txBody>
      </p:sp>
      <p:sp>
        <p:nvSpPr>
          <p:cNvPr id="123" name="Shape 17"/>
          <p:cNvSpPr/>
          <p:nvPr/>
        </p:nvSpPr>
        <p:spPr>
          <a:xfrm>
            <a:off x="7898760" y="7513560"/>
            <a:ext cx="97560" cy="133920"/>
          </a:xfrm>
          <a:prstGeom prst="rect">
            <a:avLst/>
          </a:prstGeom>
          <a:solidFill>
            <a:srgbClr val="e58520"/>
          </a:solidFill>
          <a:ln w="0">
            <a:noFill/>
          </a:ln>
        </p:spPr>
        <p:style>
          <a:lnRef idx="0"/>
          <a:fillRef idx="0"/>
          <a:effectRef idx="0"/>
          <a:fontRef idx="minor"/>
        </p:style>
        <p:txBody>
          <a:bodyPr lIns="48960" rIns="48960" tIns="45000" bIns="45000" anchor="t">
            <a:noAutofit/>
          </a:bodyPr>
          <a:p>
            <a:pPr>
              <a:lnSpc>
                <a:spcPct val="100000"/>
              </a:lnSpc>
            </a:pPr>
            <a:endParaRPr b="0" lang="en-US" sz="1800" spc="-1" strike="noStrike">
              <a:solidFill>
                <a:srgbClr val="ffffff"/>
              </a:solidFill>
              <a:latin typeface="Arial"/>
              <a:ea typeface="Arial"/>
            </a:endParaRPr>
          </a:p>
        </p:txBody>
      </p:sp>
      <p:sp>
        <p:nvSpPr>
          <p:cNvPr id="124" name="Text 18"/>
          <p:cNvSpPr/>
          <p:nvPr/>
        </p:nvSpPr>
        <p:spPr>
          <a:xfrm>
            <a:off x="8186400" y="7423200"/>
            <a:ext cx="3798720" cy="4449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450" spc="-1" strike="noStrike">
                <a:solidFill>
                  <a:srgbClr val="ffffff"/>
                </a:solidFill>
                <a:latin typeface="Open Sans"/>
                <a:ea typeface="Open Sans"/>
              </a:rPr>
              <a:t>J-Credits revenue layer </a:t>
            </a:r>
            <a:r>
              <a:rPr b="0" lang="en-US" sz="1450" spc="-1" strike="noStrike">
                <a:solidFill>
                  <a:srgbClr val="c7c9cb"/>
                </a:solidFill>
                <a:latin typeface="Open Sans"/>
                <a:ea typeface="Open Sans"/>
              </a:rPr>
              <a:t>J</a:t>
            </a:r>
            <a:r>
              <a:rPr b="0" lang="zh-CN" sz="1450" spc="-1" strike="noStrike">
                <a:solidFill>
                  <a:srgbClr val="c7c9cb"/>
                </a:solidFill>
                <a:latin typeface="Open Sans"/>
                <a:ea typeface="Open Sans"/>
              </a:rPr>
              <a:t>クレジット収益</a:t>
            </a:r>
            <a:endParaRPr b="0" lang="en-US" sz="1450" spc="-1" strike="noStrike">
              <a:solidFill>
                <a:srgbClr val="000000"/>
              </a:solidFill>
              <a:latin typeface="Arial"/>
            </a:endParaRPr>
          </a:p>
        </p:txBody>
      </p:sp>
      <p:sp>
        <p:nvSpPr>
          <p:cNvPr id="125" name="Text 19"/>
          <p:cNvSpPr/>
          <p:nvPr/>
        </p:nvSpPr>
        <p:spPr>
          <a:xfrm>
            <a:off x="609480" y="9410760"/>
            <a:ext cx="1877472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000" spc="18" strike="noStrike">
                <a:solidFill>
                  <a:srgbClr val="a9abae"/>
                </a:solidFill>
                <a:latin typeface="Open Sans"/>
                <a:ea typeface="Open Sans"/>
              </a:rPr>
              <a:t>In cooperation with private landowners, the Mitsue Forestry Cooperative, and the Forestry Agency (</a:t>
            </a:r>
            <a:r>
              <a:rPr b="1" lang="zh-CN" sz="1000" spc="18" strike="noStrike">
                <a:solidFill>
                  <a:srgbClr val="a9abae"/>
                </a:solidFill>
                <a:latin typeface="Open Sans"/>
                <a:ea typeface="Open Sans"/>
              </a:rPr>
              <a:t>林野庁</a:t>
            </a:r>
            <a:r>
              <a:rPr b="1" lang="en-US" sz="1000" spc="18" strike="noStrike">
                <a:solidFill>
                  <a:srgbClr val="a9abae"/>
                </a:solidFill>
                <a:latin typeface="Open Sans"/>
                <a:ea typeface="Open Sans"/>
              </a:rPr>
              <a:t>).</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6" name="Shape 0"/>
          <p:cNvSpPr/>
          <p:nvPr/>
        </p:nvSpPr>
        <p:spPr>
          <a:xfrm>
            <a:off x="0" y="0"/>
            <a:ext cx="18286920" cy="75240"/>
          </a:xfrm>
          <a:prstGeom prst="rect">
            <a:avLst/>
          </a:prstGeom>
          <a:solidFill>
            <a:srgbClr val="9b9da0"/>
          </a:solidFill>
          <a:ln w="0">
            <a:noFill/>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ffffff"/>
              </a:solidFill>
              <a:latin typeface="Arial"/>
              <a:ea typeface="Arial"/>
            </a:endParaRPr>
          </a:p>
        </p:txBody>
      </p:sp>
      <p:sp>
        <p:nvSpPr>
          <p:cNvPr id="127" name="Shape 1"/>
          <p:cNvSpPr/>
          <p:nvPr/>
        </p:nvSpPr>
        <p:spPr>
          <a:xfrm>
            <a:off x="609480" y="895320"/>
            <a:ext cx="43704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128" name="Text 2"/>
          <p:cNvSpPr/>
          <p:nvPr/>
        </p:nvSpPr>
        <p:spPr>
          <a:xfrm>
            <a:off x="1181160" y="800280"/>
            <a:ext cx="394560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202" strike="noStrike">
                <a:solidFill>
                  <a:srgbClr val="9b9da0"/>
                </a:solidFill>
                <a:latin typeface="Open Sans"/>
                <a:ea typeface="Open Sans"/>
              </a:rPr>
              <a:t>ENERGY SYSTEM · </a:t>
            </a:r>
            <a:r>
              <a:rPr b="1" lang="zh-CN" sz="1300" spc="202" strike="noStrike">
                <a:solidFill>
                  <a:srgbClr val="9b9da0"/>
                </a:solidFill>
                <a:latin typeface="Open Sans"/>
                <a:ea typeface="Open Sans"/>
              </a:rPr>
              <a:t>エネルギー設計 </a:t>
            </a:r>
            <a:r>
              <a:rPr b="1" lang="en-US" sz="1300" spc="202" strike="noStrike">
                <a:solidFill>
                  <a:srgbClr val="9b9da0"/>
                </a:solidFill>
                <a:latin typeface="Open Sans"/>
                <a:ea typeface="Open Sans"/>
              </a:rPr>
              <a:t>· 07</a:t>
            </a:r>
            <a:endParaRPr b="0" lang="en-US" sz="1300" spc="-1" strike="noStrike">
              <a:solidFill>
                <a:srgbClr val="000000"/>
              </a:solidFill>
              <a:latin typeface="Arial"/>
            </a:endParaRPr>
          </a:p>
        </p:txBody>
      </p:sp>
      <p:sp>
        <p:nvSpPr>
          <p:cNvPr id="129" name="Text 3"/>
          <p:cNvSpPr/>
          <p:nvPr/>
        </p:nvSpPr>
        <p:spPr>
          <a:xfrm>
            <a:off x="609480" y="1247760"/>
            <a:ext cx="18774720" cy="6649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2000"/>
              </a:lnSpc>
              <a:tabLst>
                <a:tab algn="l" pos="0"/>
              </a:tabLst>
            </a:pPr>
            <a:r>
              <a:rPr b="1" lang="en-US" sz="4800" spc="-49" strike="noStrike">
                <a:solidFill>
                  <a:srgbClr val="2e2e2e"/>
                </a:solidFill>
                <a:latin typeface="Sora"/>
                <a:ea typeface="Sora"/>
              </a:rPr>
              <a:t>Power first — for compute &amp; charging</a:t>
            </a:r>
            <a:endParaRPr b="0" lang="en-US" sz="4800" spc="-1" strike="noStrike">
              <a:solidFill>
                <a:srgbClr val="000000"/>
              </a:solidFill>
              <a:latin typeface="Arial"/>
            </a:endParaRPr>
          </a:p>
        </p:txBody>
      </p:sp>
      <p:sp>
        <p:nvSpPr>
          <p:cNvPr id="130" name="Text 4"/>
          <p:cNvSpPr/>
          <p:nvPr/>
        </p:nvSpPr>
        <p:spPr>
          <a:xfrm>
            <a:off x="609480" y="1971000"/>
            <a:ext cx="18774720" cy="408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zh-CN" sz="1950" spc="-1" strike="noStrike">
                <a:solidFill>
                  <a:srgbClr val="6e7174"/>
                </a:solidFill>
                <a:latin typeface="Noto Sans JP"/>
                <a:ea typeface="Noto Sans JP"/>
              </a:rPr>
              <a:t>電力優先 — データセンターと</a:t>
            </a:r>
            <a:r>
              <a:rPr b="0" lang="en-US" sz="1950" spc="-1" strike="noStrike">
                <a:solidFill>
                  <a:srgbClr val="6e7174"/>
                </a:solidFill>
                <a:latin typeface="Noto Sans JP"/>
                <a:ea typeface="Noto Sans JP"/>
              </a:rPr>
              <a:t>EV</a:t>
            </a:r>
            <a:r>
              <a:rPr b="0" lang="zh-CN" sz="1950" spc="-1" strike="noStrike">
                <a:solidFill>
                  <a:srgbClr val="6e7174"/>
                </a:solidFill>
                <a:latin typeface="Noto Sans JP"/>
                <a:ea typeface="Noto Sans JP"/>
              </a:rPr>
              <a:t>充電へ。</a:t>
            </a:r>
            <a:endParaRPr b="0" lang="en-US" sz="1950" spc="-1" strike="noStrike">
              <a:solidFill>
                <a:srgbClr val="000000"/>
              </a:solidFill>
              <a:latin typeface="Arial"/>
            </a:endParaRPr>
          </a:p>
        </p:txBody>
      </p:sp>
      <p:sp>
        <p:nvSpPr>
          <p:cNvPr id="131" name="Shape 5"/>
          <p:cNvSpPr/>
          <p:nvPr/>
        </p:nvSpPr>
        <p:spPr>
          <a:xfrm>
            <a:off x="609480" y="2704320"/>
            <a:ext cx="8009280" cy="3332880"/>
          </a:xfrm>
          <a:prstGeom prst="rect">
            <a:avLst/>
          </a:prstGeom>
          <a:solidFill>
            <a:srgbClr val="fbefe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32" name="Shape 6"/>
          <p:cNvSpPr/>
          <p:nvPr/>
        </p:nvSpPr>
        <p:spPr>
          <a:xfrm>
            <a:off x="609480" y="2704320"/>
            <a:ext cx="800928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133" name="Text 7"/>
          <p:cNvSpPr/>
          <p:nvPr/>
        </p:nvSpPr>
        <p:spPr>
          <a:xfrm>
            <a:off x="914400" y="3895560"/>
            <a:ext cx="8139960" cy="3607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2050" spc="-1" strike="noStrike">
                <a:solidFill>
                  <a:srgbClr val="c26a12"/>
                </a:solidFill>
                <a:latin typeface="Sora"/>
                <a:ea typeface="Sora"/>
              </a:rPr>
              <a:t>1 · Power first</a:t>
            </a:r>
            <a:endParaRPr b="0" lang="en-US" sz="2050" spc="-1" strike="noStrike">
              <a:solidFill>
                <a:srgbClr val="000000"/>
              </a:solidFill>
              <a:latin typeface="Arial"/>
            </a:endParaRPr>
          </a:p>
        </p:txBody>
      </p:sp>
      <p:sp>
        <p:nvSpPr>
          <p:cNvPr id="134" name="Text 8"/>
          <p:cNvSpPr/>
          <p:nvPr/>
        </p:nvSpPr>
        <p:spPr>
          <a:xfrm>
            <a:off x="914400" y="4314600"/>
            <a:ext cx="7621920" cy="61704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5000"/>
              </a:lnSpc>
              <a:tabLst>
                <a:tab algn="l" pos="0"/>
              </a:tabLst>
            </a:pPr>
            <a:r>
              <a:rPr b="0" lang="en-US" sz="1600" spc="-1" strike="noStrike">
                <a:solidFill>
                  <a:srgbClr val="4a4a4a"/>
                </a:solidFill>
                <a:latin typeface="Open Sans"/>
                <a:ea typeface="Open Sans"/>
              </a:rPr>
              <a:t>Electricity runs the AI data center and the EV charging network — the demand we are building for. </a:t>
            </a:r>
            <a:r>
              <a:rPr b="0" lang="zh-CN" sz="1600" spc="-1" strike="noStrike">
                <a:solidFill>
                  <a:srgbClr val="4a4a4a"/>
                </a:solidFill>
                <a:latin typeface="Open Sans"/>
                <a:ea typeface="Open Sans"/>
              </a:rPr>
              <a:t>電力をデータセンターと</a:t>
            </a:r>
            <a:r>
              <a:rPr b="0" lang="en-US" sz="1600" spc="-1" strike="noStrike">
                <a:solidFill>
                  <a:srgbClr val="4a4a4a"/>
                </a:solidFill>
                <a:latin typeface="Open Sans"/>
                <a:ea typeface="Open Sans"/>
              </a:rPr>
              <a:t>EV</a:t>
            </a:r>
            <a:r>
              <a:rPr b="0" lang="zh-CN" sz="1600" spc="-1" strike="noStrike">
                <a:solidFill>
                  <a:srgbClr val="4a4a4a"/>
                </a:solidFill>
                <a:latin typeface="Open Sans"/>
                <a:ea typeface="Open Sans"/>
              </a:rPr>
              <a:t>充電へ。</a:t>
            </a:r>
            <a:endParaRPr b="0" lang="en-US" sz="1600" spc="-1" strike="noStrike">
              <a:solidFill>
                <a:srgbClr val="000000"/>
              </a:solidFill>
              <a:latin typeface="Arial"/>
            </a:endParaRPr>
          </a:p>
        </p:txBody>
      </p:sp>
      <p:sp>
        <p:nvSpPr>
          <p:cNvPr id="135" name="Shape 9"/>
          <p:cNvSpPr/>
          <p:nvPr/>
        </p:nvSpPr>
        <p:spPr>
          <a:xfrm>
            <a:off x="609480" y="6266880"/>
            <a:ext cx="8009280" cy="3333240"/>
          </a:xfrm>
          <a:prstGeom prst="rect">
            <a:avLst/>
          </a:prstGeom>
          <a:solidFill>
            <a:srgbClr val="f6f6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36" name="Shape 10"/>
          <p:cNvSpPr/>
          <p:nvPr/>
        </p:nvSpPr>
        <p:spPr>
          <a:xfrm>
            <a:off x="609480" y="6266880"/>
            <a:ext cx="8009280" cy="46440"/>
          </a:xfrm>
          <a:prstGeom prst="rect">
            <a:avLst/>
          </a:prstGeom>
          <a:solidFill>
            <a:srgbClr val="6e7174"/>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137" name="Text 11"/>
          <p:cNvSpPr/>
          <p:nvPr/>
        </p:nvSpPr>
        <p:spPr>
          <a:xfrm>
            <a:off x="914400" y="7458120"/>
            <a:ext cx="8139960" cy="3607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2050" spc="-1" strike="noStrike">
                <a:solidFill>
                  <a:srgbClr val="2e2e2e"/>
                </a:solidFill>
                <a:latin typeface="Sora"/>
                <a:ea typeface="Sora"/>
              </a:rPr>
              <a:t>2 · Heat, captured second</a:t>
            </a:r>
            <a:endParaRPr b="0" lang="en-US" sz="2050" spc="-1" strike="noStrike">
              <a:solidFill>
                <a:srgbClr val="000000"/>
              </a:solidFill>
              <a:latin typeface="Arial"/>
            </a:endParaRPr>
          </a:p>
        </p:txBody>
      </p:sp>
      <p:sp>
        <p:nvSpPr>
          <p:cNvPr id="138" name="Text 12"/>
          <p:cNvSpPr/>
          <p:nvPr/>
        </p:nvSpPr>
        <p:spPr>
          <a:xfrm>
            <a:off x="914400" y="7877160"/>
            <a:ext cx="7621920" cy="61704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5000"/>
              </a:lnSpc>
              <a:tabLst>
                <a:tab algn="l" pos="0"/>
              </a:tabLst>
            </a:pPr>
            <a:r>
              <a:rPr b="0" lang="en-US" sz="1600" spc="-1" strike="noStrike">
                <a:solidFill>
                  <a:srgbClr val="4a4a4a"/>
                </a:solidFill>
                <a:latin typeface="Open Sans"/>
                <a:ea typeface="Open Sans"/>
              </a:rPr>
              <a:t>Recovered heat is a by-product we will use as demand emerges — no committed off-taker yet. </a:t>
            </a:r>
            <a:r>
              <a:rPr b="0" lang="zh-CN" sz="1600" spc="-1" strike="noStrike">
                <a:solidFill>
                  <a:srgbClr val="4a4a4a"/>
                </a:solidFill>
                <a:latin typeface="Open Sans"/>
                <a:ea typeface="Open Sans"/>
              </a:rPr>
              <a:t>排熱は需要が定まり次第活用。</a:t>
            </a:r>
            <a:endParaRPr b="0" lang="en-US" sz="1600" spc="-1" strike="noStrike">
              <a:solidFill>
                <a:srgbClr val="000000"/>
              </a:solidFill>
              <a:latin typeface="Arial"/>
            </a:endParaRPr>
          </a:p>
        </p:txBody>
      </p:sp>
      <p:sp>
        <p:nvSpPr>
          <p:cNvPr id="139" name="Shape 13"/>
          <p:cNvSpPr/>
          <p:nvPr/>
        </p:nvSpPr>
        <p:spPr>
          <a:xfrm>
            <a:off x="8906040" y="2704320"/>
            <a:ext cx="8771400" cy="6895800"/>
          </a:xfrm>
          <a:prstGeom prst="rect">
            <a:avLst/>
          </a:prstGeom>
          <a:solidFill>
            <a:srgbClr val="2e2e2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140" name="Text 14"/>
          <p:cNvSpPr/>
          <p:nvPr/>
        </p:nvSpPr>
        <p:spPr>
          <a:xfrm>
            <a:off x="9286920" y="4523760"/>
            <a:ext cx="8810640" cy="3229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500" spc="208" strike="noStrike">
                <a:solidFill>
                  <a:srgbClr val="9b9da0"/>
                </a:solidFill>
                <a:latin typeface="Open Sans"/>
                <a:ea typeface="Open Sans"/>
              </a:rPr>
              <a:t>THE REALISTIC MIX · </a:t>
            </a:r>
            <a:r>
              <a:rPr b="1" lang="zh-CN" sz="1500" spc="208" strike="noStrike">
                <a:solidFill>
                  <a:srgbClr val="9b9da0"/>
                </a:solidFill>
                <a:latin typeface="Open Sans"/>
                <a:ea typeface="Open Sans"/>
              </a:rPr>
              <a:t>現実的な電源構成</a:t>
            </a:r>
            <a:endParaRPr b="0" lang="en-US" sz="1500" spc="-1" strike="noStrike">
              <a:solidFill>
                <a:srgbClr val="000000"/>
              </a:solidFill>
              <a:latin typeface="Arial"/>
            </a:endParaRPr>
          </a:p>
        </p:txBody>
      </p:sp>
      <p:sp>
        <p:nvSpPr>
          <p:cNvPr id="141" name="Shape 15"/>
          <p:cNvSpPr/>
          <p:nvPr/>
        </p:nvSpPr>
        <p:spPr>
          <a:xfrm>
            <a:off x="9286920" y="5166720"/>
            <a:ext cx="132120" cy="398880"/>
          </a:xfrm>
          <a:prstGeom prst="rect">
            <a:avLst/>
          </a:prstGeom>
          <a:solidFill>
            <a:srgbClr val="e58520"/>
          </a:solidFill>
          <a:ln w="0">
            <a:noFill/>
          </a:ln>
        </p:spPr>
        <p:style>
          <a:lnRef idx="0"/>
          <a:fillRef idx="0"/>
          <a:effectRef idx="0"/>
          <a:fontRef idx="minor"/>
        </p:style>
        <p:txBody>
          <a:bodyPr lIns="66240" rIns="66240" tIns="45000" bIns="45000" anchor="t">
            <a:noAutofit/>
          </a:bodyPr>
          <a:p>
            <a:pPr>
              <a:lnSpc>
                <a:spcPct val="100000"/>
              </a:lnSpc>
            </a:pPr>
            <a:endParaRPr b="0" lang="en-US" sz="1800" spc="-1" strike="noStrike">
              <a:solidFill>
                <a:srgbClr val="ffffff"/>
              </a:solidFill>
              <a:latin typeface="Arial"/>
              <a:ea typeface="Arial"/>
            </a:endParaRPr>
          </a:p>
        </p:txBody>
      </p:sp>
      <p:sp>
        <p:nvSpPr>
          <p:cNvPr id="142" name="Text 16"/>
          <p:cNvSpPr/>
          <p:nvPr/>
        </p:nvSpPr>
        <p:spPr>
          <a:xfrm>
            <a:off x="9591840" y="5076360"/>
            <a:ext cx="3066120" cy="3607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00" spc="-1" strike="noStrike">
                <a:solidFill>
                  <a:srgbClr val="ffffff"/>
                </a:solidFill>
                <a:latin typeface="Open Sans"/>
                <a:ea typeface="Open Sans"/>
              </a:rPr>
              <a:t>Biomass</a:t>
            </a:r>
            <a:endParaRPr b="0" lang="en-US" sz="1900" spc="-1" strike="noStrike">
              <a:solidFill>
                <a:srgbClr val="000000"/>
              </a:solidFill>
              <a:latin typeface="Arial"/>
            </a:endParaRPr>
          </a:p>
        </p:txBody>
      </p:sp>
      <p:sp>
        <p:nvSpPr>
          <p:cNvPr id="143" name="Text 17"/>
          <p:cNvSpPr/>
          <p:nvPr/>
        </p:nvSpPr>
        <p:spPr>
          <a:xfrm>
            <a:off x="9591840" y="5400360"/>
            <a:ext cx="3066120" cy="2941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350" spc="-1" strike="noStrike">
                <a:solidFill>
                  <a:srgbClr val="c7c9cb"/>
                </a:solidFill>
                <a:latin typeface="Open Sans"/>
                <a:ea typeface="Open Sans"/>
              </a:rPr>
              <a:t>Baseload power · </a:t>
            </a:r>
            <a:r>
              <a:rPr b="0" lang="zh-CN" sz="1350" spc="-1" strike="noStrike">
                <a:solidFill>
                  <a:srgbClr val="c7c9cb"/>
                </a:solidFill>
                <a:latin typeface="Open Sans"/>
                <a:ea typeface="Open Sans"/>
              </a:rPr>
              <a:t>ベースロード電源</a:t>
            </a:r>
            <a:endParaRPr b="0" lang="en-US" sz="1350" spc="-1" strike="noStrike">
              <a:solidFill>
                <a:srgbClr val="000000"/>
              </a:solidFill>
              <a:latin typeface="Arial"/>
            </a:endParaRPr>
          </a:p>
        </p:txBody>
      </p:sp>
      <p:sp>
        <p:nvSpPr>
          <p:cNvPr id="144" name="Shape 18"/>
          <p:cNvSpPr/>
          <p:nvPr/>
        </p:nvSpPr>
        <p:spPr>
          <a:xfrm>
            <a:off x="9286920" y="5957280"/>
            <a:ext cx="132120" cy="398880"/>
          </a:xfrm>
          <a:prstGeom prst="rect">
            <a:avLst/>
          </a:prstGeom>
          <a:solidFill>
            <a:srgbClr val="f4b872"/>
          </a:solidFill>
          <a:ln w="0">
            <a:noFill/>
          </a:ln>
        </p:spPr>
        <p:style>
          <a:lnRef idx="0"/>
          <a:fillRef idx="0"/>
          <a:effectRef idx="0"/>
          <a:fontRef idx="minor"/>
        </p:style>
        <p:txBody>
          <a:bodyPr lIns="66240" rIns="66240" tIns="45000" bIns="45000" anchor="t">
            <a:noAutofit/>
          </a:bodyPr>
          <a:p>
            <a:pPr>
              <a:lnSpc>
                <a:spcPct val="100000"/>
              </a:lnSpc>
            </a:pPr>
            <a:endParaRPr b="0" lang="en-US" sz="1800" spc="-1" strike="noStrike">
              <a:solidFill>
                <a:srgbClr val="000000"/>
              </a:solidFill>
              <a:latin typeface="Arial"/>
              <a:ea typeface="Arial"/>
            </a:endParaRPr>
          </a:p>
        </p:txBody>
      </p:sp>
      <p:sp>
        <p:nvSpPr>
          <p:cNvPr id="145" name="Text 19"/>
          <p:cNvSpPr/>
          <p:nvPr/>
        </p:nvSpPr>
        <p:spPr>
          <a:xfrm>
            <a:off x="9591840" y="5866920"/>
            <a:ext cx="3014280" cy="3607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00" spc="-1" strike="noStrike">
                <a:solidFill>
                  <a:srgbClr val="ffffff"/>
                </a:solidFill>
                <a:latin typeface="Open Sans"/>
                <a:ea typeface="Open Sans"/>
              </a:rPr>
              <a:t>Existing solar</a:t>
            </a:r>
            <a:endParaRPr b="0" lang="en-US" sz="1900" spc="-1" strike="noStrike">
              <a:solidFill>
                <a:srgbClr val="000000"/>
              </a:solidFill>
              <a:latin typeface="Arial"/>
            </a:endParaRPr>
          </a:p>
        </p:txBody>
      </p:sp>
      <p:sp>
        <p:nvSpPr>
          <p:cNvPr id="146" name="Text 20"/>
          <p:cNvSpPr/>
          <p:nvPr/>
        </p:nvSpPr>
        <p:spPr>
          <a:xfrm>
            <a:off x="9591840" y="6190920"/>
            <a:ext cx="3014280" cy="2941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350" spc="-1" strike="noStrike">
                <a:solidFill>
                  <a:srgbClr val="c7c9cb"/>
                </a:solidFill>
                <a:latin typeface="Open Sans"/>
                <a:ea typeface="Open Sans"/>
              </a:rPr>
              <a:t>Daytime generation · </a:t>
            </a:r>
            <a:r>
              <a:rPr b="0" lang="zh-CN" sz="1350" spc="-1" strike="noStrike">
                <a:solidFill>
                  <a:srgbClr val="c7c9cb"/>
                </a:solidFill>
                <a:latin typeface="Open Sans"/>
                <a:ea typeface="Open Sans"/>
              </a:rPr>
              <a:t>日中の太陽光</a:t>
            </a:r>
            <a:endParaRPr b="0" lang="en-US" sz="1350" spc="-1" strike="noStrike">
              <a:solidFill>
                <a:srgbClr val="000000"/>
              </a:solidFill>
              <a:latin typeface="Arial"/>
            </a:endParaRPr>
          </a:p>
        </p:txBody>
      </p:sp>
      <p:sp>
        <p:nvSpPr>
          <p:cNvPr id="147" name="Shape 21"/>
          <p:cNvSpPr/>
          <p:nvPr/>
        </p:nvSpPr>
        <p:spPr>
          <a:xfrm>
            <a:off x="9286920" y="6747840"/>
            <a:ext cx="132120" cy="398880"/>
          </a:xfrm>
          <a:prstGeom prst="rect">
            <a:avLst/>
          </a:prstGeom>
          <a:solidFill>
            <a:srgbClr val="6e7174"/>
          </a:solidFill>
          <a:ln w="0">
            <a:noFill/>
          </a:ln>
        </p:spPr>
        <p:style>
          <a:lnRef idx="0"/>
          <a:fillRef idx="0"/>
          <a:effectRef idx="0"/>
          <a:fontRef idx="minor"/>
        </p:style>
        <p:txBody>
          <a:bodyPr lIns="66240" rIns="66240" tIns="45000" bIns="45000" anchor="t">
            <a:noAutofit/>
          </a:bodyPr>
          <a:p>
            <a:pPr>
              <a:lnSpc>
                <a:spcPct val="100000"/>
              </a:lnSpc>
            </a:pPr>
            <a:endParaRPr b="0" lang="en-US" sz="1800" spc="-1" strike="noStrike">
              <a:solidFill>
                <a:srgbClr val="ffffff"/>
              </a:solidFill>
              <a:latin typeface="Arial"/>
              <a:ea typeface="Arial"/>
            </a:endParaRPr>
          </a:p>
        </p:txBody>
      </p:sp>
      <p:sp>
        <p:nvSpPr>
          <p:cNvPr id="148" name="Text 22"/>
          <p:cNvSpPr/>
          <p:nvPr/>
        </p:nvSpPr>
        <p:spPr>
          <a:xfrm>
            <a:off x="9591840" y="6657480"/>
            <a:ext cx="3430080" cy="3607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00" spc="-1" strike="noStrike">
                <a:solidFill>
                  <a:srgbClr val="ffffff"/>
                </a:solidFill>
                <a:latin typeface="Open Sans"/>
                <a:ea typeface="Open Sans"/>
              </a:rPr>
              <a:t>Grid</a:t>
            </a:r>
            <a:endParaRPr b="0" lang="en-US" sz="1900" spc="-1" strike="noStrike">
              <a:solidFill>
                <a:srgbClr val="000000"/>
              </a:solidFill>
              <a:latin typeface="Arial"/>
            </a:endParaRPr>
          </a:p>
        </p:txBody>
      </p:sp>
      <p:sp>
        <p:nvSpPr>
          <p:cNvPr id="149" name="Text 23"/>
          <p:cNvSpPr/>
          <p:nvPr/>
        </p:nvSpPr>
        <p:spPr>
          <a:xfrm>
            <a:off x="9591840" y="6981480"/>
            <a:ext cx="3430080" cy="2941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350" spc="-1" strike="noStrike">
                <a:solidFill>
                  <a:srgbClr val="c7c9cb"/>
                </a:solidFill>
                <a:latin typeface="Open Sans"/>
                <a:ea typeface="Open Sans"/>
              </a:rPr>
              <a:t>Backup &amp; peaks · </a:t>
            </a:r>
            <a:r>
              <a:rPr b="0" lang="zh-CN" sz="1350" spc="-1" strike="noStrike">
                <a:solidFill>
                  <a:srgbClr val="c7c9cb"/>
                </a:solidFill>
                <a:latin typeface="Open Sans"/>
                <a:ea typeface="Open Sans"/>
              </a:rPr>
              <a:t>系統（バックアップ）</a:t>
            </a:r>
            <a:endParaRPr b="0" lang="en-US" sz="1350" spc="-1" strike="noStrike">
              <a:solidFill>
                <a:srgbClr val="000000"/>
              </a:solidFill>
              <a:latin typeface="Arial"/>
            </a:endParaRPr>
          </a:p>
        </p:txBody>
      </p:sp>
      <p:sp>
        <p:nvSpPr>
          <p:cNvPr id="150" name="Text 24"/>
          <p:cNvSpPr/>
          <p:nvPr/>
        </p:nvSpPr>
        <p:spPr>
          <a:xfrm>
            <a:off x="9286920" y="7524360"/>
            <a:ext cx="8810640" cy="29412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0000"/>
              </a:lnSpc>
              <a:tabLst>
                <a:tab algn="l" pos="0"/>
              </a:tabLst>
            </a:pPr>
            <a:r>
              <a:rPr b="0" lang="en-US" sz="1350" spc="-1" strike="noStrike">
                <a:solidFill>
                  <a:srgbClr val="9b9da0"/>
                </a:solidFill>
                <a:latin typeface="Open Sans"/>
                <a:ea typeface="Open Sans"/>
              </a:rPr>
              <a:t>Not biomass alone, and not a replacement for the village's solar — a resilient blend.</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Rectangle 1"/>
          <p:cNvSpPr/>
          <p:nvPr/>
        </p:nvSpPr>
        <p:spPr>
          <a:xfrm>
            <a:off x="0" y="0"/>
            <a:ext cx="18286920" cy="74880"/>
          </a:xfrm>
          <a:prstGeom prst="rect">
            <a:avLst/>
          </a:prstGeom>
          <a:solidFill>
            <a:srgbClr val="9b9da0"/>
          </a:solidFill>
          <a:ln>
            <a:noFill/>
          </a:ln>
        </p:spPr>
        <p:style>
          <a:lnRef idx="1">
            <a:schemeClr val="accent1"/>
          </a:lnRef>
          <a:fillRef idx="3">
            <a:schemeClr val="accent1"/>
          </a:fillRef>
          <a:effectRef idx="2">
            <a:schemeClr val="accent1"/>
          </a:effectRef>
          <a:fontRef idx="minor"/>
        </p:style>
        <p:txBody>
          <a:bodyPr lIns="90000" rIns="90000" tIns="30960" bIns="30960" anchor="ctr">
            <a:noAutofit/>
          </a:bodyPr>
          <a:p>
            <a:pPr>
              <a:lnSpc>
                <a:spcPct val="100000"/>
              </a:lnSpc>
            </a:pPr>
            <a:endParaRPr b="0" lang="en-US" sz="1800" spc="-1" strike="noStrike">
              <a:solidFill>
                <a:schemeClr val="lt1"/>
              </a:solidFill>
              <a:latin typeface="Calibri"/>
              <a:ea typeface="Arial"/>
            </a:endParaRPr>
          </a:p>
        </p:txBody>
      </p:sp>
      <p:sp>
        <p:nvSpPr>
          <p:cNvPr id="152" name="Rectangle 2"/>
          <p:cNvSpPr/>
          <p:nvPr/>
        </p:nvSpPr>
        <p:spPr>
          <a:xfrm>
            <a:off x="612720" y="896040"/>
            <a:ext cx="437760" cy="46440"/>
          </a:xfrm>
          <a:prstGeom prst="rect">
            <a:avLst/>
          </a:prstGeom>
          <a:solidFill>
            <a:srgbClr val="e58520"/>
          </a:solidFill>
          <a:ln>
            <a:noFill/>
          </a:ln>
        </p:spPr>
        <p:style>
          <a:lnRef idx="1">
            <a:schemeClr val="accent1"/>
          </a:lnRef>
          <a:fillRef idx="3">
            <a:schemeClr val="accent1"/>
          </a:fillRef>
          <a:effectRef idx="2">
            <a:schemeClr val="accent1"/>
          </a:effectRef>
          <a:fontRef idx="minor"/>
        </p:style>
        <p:txBody>
          <a:bodyPr lIns="90000" rIns="90000" tIns="2520" bIns="2520" anchor="ctr">
            <a:noAutofit/>
          </a:bodyPr>
          <a:p>
            <a:pPr>
              <a:lnSpc>
                <a:spcPct val="100000"/>
              </a:lnSpc>
            </a:pPr>
            <a:endParaRPr b="0" lang="en-US" sz="1800" spc="-1" strike="noStrike">
              <a:solidFill>
                <a:schemeClr val="lt1"/>
              </a:solidFill>
              <a:latin typeface="Calibri"/>
              <a:ea typeface="Arial"/>
            </a:endParaRPr>
          </a:p>
        </p:txBody>
      </p:sp>
      <p:sp>
        <p:nvSpPr>
          <p:cNvPr id="153" name="TextBox 3"/>
          <p:cNvSpPr/>
          <p:nvPr/>
        </p:nvSpPr>
        <p:spPr>
          <a:xfrm>
            <a:off x="1179720" y="800280"/>
            <a:ext cx="7314120" cy="288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300" spc="-1" strike="noStrike">
                <a:solidFill>
                  <a:srgbClr val="9b9da0"/>
                </a:solidFill>
                <a:latin typeface="Open Sans"/>
                <a:ea typeface="Arial"/>
              </a:rPr>
              <a:t>BIOMASS OPPORTUNITY · </a:t>
            </a:r>
            <a:r>
              <a:rPr b="1" lang="zh-CN" sz="1300" spc="-1" strike="noStrike">
                <a:solidFill>
                  <a:srgbClr val="9b9da0"/>
                </a:solidFill>
                <a:latin typeface="Open Sans"/>
                <a:ea typeface="Arial"/>
              </a:rPr>
              <a:t>バイオマスの可能性 </a:t>
            </a:r>
            <a:r>
              <a:rPr b="1" lang="en-US" sz="1300" spc="-1" strike="noStrike">
                <a:solidFill>
                  <a:srgbClr val="9b9da0"/>
                </a:solidFill>
                <a:latin typeface="Open Sans"/>
                <a:ea typeface="Arial"/>
              </a:rPr>
              <a:t>· 08</a:t>
            </a:r>
            <a:endParaRPr b="0" lang="en-US" sz="1300" spc="-1" strike="noStrike">
              <a:solidFill>
                <a:srgbClr val="000000"/>
              </a:solidFill>
              <a:latin typeface="Arial"/>
            </a:endParaRPr>
          </a:p>
        </p:txBody>
      </p:sp>
      <p:sp>
        <p:nvSpPr>
          <p:cNvPr id="154" name="TextBox 4"/>
          <p:cNvSpPr/>
          <p:nvPr/>
        </p:nvSpPr>
        <p:spPr>
          <a:xfrm>
            <a:off x="612720" y="1243440"/>
            <a:ext cx="16915320" cy="821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4800" spc="-1" strike="noStrike">
                <a:solidFill>
                  <a:srgbClr val="2e2e2e"/>
                </a:solidFill>
                <a:latin typeface="Sora"/>
                <a:ea typeface="Arial"/>
              </a:rPr>
              <a:t>Untapped — but not for long</a:t>
            </a:r>
            <a:endParaRPr b="0" lang="en-US" sz="4800" spc="-1" strike="noStrike">
              <a:solidFill>
                <a:srgbClr val="000000"/>
              </a:solidFill>
              <a:latin typeface="Arial"/>
            </a:endParaRPr>
          </a:p>
        </p:txBody>
      </p:sp>
      <p:sp>
        <p:nvSpPr>
          <p:cNvPr id="155" name="TextBox 5"/>
          <p:cNvSpPr/>
          <p:nvPr/>
        </p:nvSpPr>
        <p:spPr>
          <a:xfrm>
            <a:off x="612720" y="1974960"/>
            <a:ext cx="1691532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zh-CN" sz="1800" spc="-1" strike="noStrike">
                <a:solidFill>
                  <a:srgbClr val="5a5a5a"/>
                </a:solidFill>
                <a:latin typeface="Open Sans"/>
                <a:ea typeface="Arial"/>
              </a:rPr>
              <a:t>地域再生可能エネルギーポテンシャル </a:t>
            </a:r>
            <a:r>
              <a:rPr b="0" lang="en-US" sz="1800" spc="-1" strike="noStrike">
                <a:solidFill>
                  <a:srgbClr val="5a5a5a"/>
                </a:solidFill>
                <a:latin typeface="Open Sans"/>
                <a:ea typeface="Arial"/>
              </a:rPr>
              <a:t>1,967 TJ — </a:t>
            </a:r>
            <a:r>
              <a:rPr b="0" lang="zh-CN" sz="1800" spc="-1" strike="noStrike">
                <a:solidFill>
                  <a:srgbClr val="5a5a5a"/>
                </a:solidFill>
                <a:latin typeface="Open Sans"/>
                <a:ea typeface="Arial"/>
              </a:rPr>
              <a:t>木質バイオマスが最大の柱</a:t>
            </a:r>
            <a:endParaRPr b="0" lang="en-US" sz="1800" spc="-1" strike="noStrike">
              <a:solidFill>
                <a:srgbClr val="000000"/>
              </a:solidFill>
              <a:latin typeface="Arial"/>
            </a:endParaRPr>
          </a:p>
        </p:txBody>
      </p:sp>
      <p:pic>
        <p:nvPicPr>
          <p:cNvPr id="156" name="Picture 6" descr="Mitsue energy 2032.png"/>
          <p:cNvPicPr/>
          <p:nvPr/>
        </p:nvPicPr>
        <p:blipFill>
          <a:blip r:embed="rId1"/>
          <a:stretch/>
        </p:blipFill>
        <p:spPr>
          <a:xfrm>
            <a:off x="9162360" y="2514600"/>
            <a:ext cx="8594280" cy="4068000"/>
          </a:xfrm>
          <a:prstGeom prst="rect">
            <a:avLst/>
          </a:prstGeom>
          <a:ln w="0">
            <a:noFill/>
          </a:ln>
        </p:spPr>
      </p:pic>
      <p:pic>
        <p:nvPicPr>
          <p:cNvPr id="157" name="Picture 7" descr="Mitsue energy 2022.png"/>
          <p:cNvPicPr/>
          <p:nvPr/>
        </p:nvPicPr>
        <p:blipFill>
          <a:blip r:embed="rId2"/>
          <a:stretch/>
        </p:blipFill>
        <p:spPr>
          <a:xfrm>
            <a:off x="475560" y="2514600"/>
            <a:ext cx="8594280" cy="4068000"/>
          </a:xfrm>
          <a:prstGeom prst="rect">
            <a:avLst/>
          </a:prstGeom>
          <a:ln w="0">
            <a:noFill/>
          </a:ln>
        </p:spPr>
      </p:pic>
      <p:sp>
        <p:nvSpPr>
          <p:cNvPr id="158" name="TextBox 8"/>
          <p:cNvSpPr/>
          <p:nvPr/>
        </p:nvSpPr>
        <p:spPr>
          <a:xfrm>
            <a:off x="9144000" y="6647760"/>
            <a:ext cx="8594280" cy="257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100" spc="-1" strike="noStrike">
                <a:solidFill>
                  <a:srgbClr val="3a7a5a"/>
                </a:solidFill>
                <a:latin typeface="Open Sans"/>
                <a:ea typeface="Arial"/>
              </a:rPr>
              <a:t>2032 TARGET  ·  Fossil fuels: 97 TJ  ·  Local renewables introduced</a:t>
            </a:r>
            <a:endParaRPr b="0" lang="en-US" sz="1100" spc="-1" strike="noStrike">
              <a:solidFill>
                <a:srgbClr val="000000"/>
              </a:solidFill>
              <a:latin typeface="Arial"/>
            </a:endParaRPr>
          </a:p>
        </p:txBody>
      </p:sp>
      <p:sp>
        <p:nvSpPr>
          <p:cNvPr id="159" name="TextBox 9"/>
          <p:cNvSpPr/>
          <p:nvPr/>
        </p:nvSpPr>
        <p:spPr>
          <a:xfrm>
            <a:off x="475560" y="6647760"/>
            <a:ext cx="8594280" cy="257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100" spc="-1" strike="noStrike">
                <a:solidFill>
                  <a:srgbClr val="c0392b"/>
                </a:solidFill>
                <a:latin typeface="Open Sans"/>
                <a:ea typeface="Arial"/>
              </a:rPr>
              <a:t>2022 BASELINE  ·  Fossil fuels: 119 TJ  ·  Minimal renewables in use</a:t>
            </a:r>
            <a:endParaRPr b="0" lang="en-US" sz="1100" spc="-1" strike="noStrike">
              <a:solidFill>
                <a:srgbClr val="000000"/>
              </a:solidFill>
              <a:latin typeface="Arial"/>
            </a:endParaRPr>
          </a:p>
        </p:txBody>
      </p:sp>
      <p:sp>
        <p:nvSpPr>
          <p:cNvPr id="160" name="Rectangle 10"/>
          <p:cNvSpPr/>
          <p:nvPr/>
        </p:nvSpPr>
        <p:spPr>
          <a:xfrm>
            <a:off x="457200" y="7113960"/>
            <a:ext cx="17372520" cy="1940760"/>
          </a:xfrm>
          <a:prstGeom prst="rect">
            <a:avLst/>
          </a:prstGeom>
          <a:solidFill>
            <a:srgbClr val="fff8e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Arial"/>
            </a:endParaRPr>
          </a:p>
        </p:txBody>
      </p:sp>
      <p:sp>
        <p:nvSpPr>
          <p:cNvPr id="161" name="TextBox 11"/>
          <p:cNvSpPr/>
          <p:nvPr/>
        </p:nvSpPr>
        <p:spPr>
          <a:xfrm>
            <a:off x="685800" y="7269480"/>
            <a:ext cx="4570920" cy="288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300" spc="-1" strike="noStrike">
                <a:solidFill>
                  <a:srgbClr val="e58520"/>
                </a:solidFill>
                <a:latin typeface="Open Sans"/>
                <a:ea typeface="Arial"/>
              </a:rPr>
              <a:t>THE BIOMASS CASE</a:t>
            </a:r>
            <a:endParaRPr b="0" lang="en-US" sz="1300" spc="-1" strike="noStrike">
              <a:solidFill>
                <a:srgbClr val="000000"/>
              </a:solidFill>
              <a:latin typeface="Arial"/>
            </a:endParaRPr>
          </a:p>
        </p:txBody>
      </p:sp>
      <p:sp>
        <p:nvSpPr>
          <p:cNvPr id="162" name="TextBox 12"/>
          <p:cNvSpPr/>
          <p:nvPr/>
        </p:nvSpPr>
        <p:spPr>
          <a:xfrm>
            <a:off x="685800" y="7699320"/>
            <a:ext cx="16918560" cy="730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400" spc="-1" strike="noStrike">
                <a:solidFill>
                  <a:srgbClr val="2e2e2e"/>
                </a:solidFill>
                <a:latin typeface="Open Sans"/>
                <a:ea typeface="Arial"/>
              </a:rPr>
              <a:t>The right bar in both diagrams shows 1,967 TJ of local renewable energy potential — woody biomass (dark green) is the dominant resource by far. Today, almost none is captured. The Mitsue AI Data Center Project changes that: sugi thinnings feed a CHP unit, generating baseload electricity and heat year-round. Every cubic metre of timber harvested for forest restoration becomes fuel — closing the loop between reforestation and energy self-sufficiency.</a:t>
            </a:r>
            <a:endParaRPr b="0" lang="en-US" sz="1400" spc="-1" strike="noStrike">
              <a:solidFill>
                <a:srgbClr val="000000"/>
              </a:solidFill>
              <a:latin typeface="Arial"/>
            </a:endParaRPr>
          </a:p>
        </p:txBody>
      </p:sp>
      <p:sp>
        <p:nvSpPr>
          <p:cNvPr id="163" name="Text 52"/>
          <p:cNvSpPr/>
          <p:nvPr/>
        </p:nvSpPr>
        <p:spPr>
          <a:xfrm>
            <a:off x="609480" y="9563040"/>
            <a:ext cx="1877472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000" spc="18" strike="noStrike">
                <a:solidFill>
                  <a:srgbClr val="a9abae"/>
                </a:solidFill>
                <a:latin typeface="Open Sans"/>
                <a:ea typeface="Open Sans"/>
              </a:rPr>
              <a:t>Indicators: Japan Energy Database (Tohoku University, CC BY-NC). Mitsue values illustrative — confirm via Future Energy Simulator. </a:t>
            </a:r>
            <a:r>
              <a:rPr b="1" lang="zh-CN" sz="1000" spc="18" strike="noStrike">
                <a:solidFill>
                  <a:srgbClr val="a9abae"/>
                </a:solidFill>
                <a:latin typeface="Open Sans"/>
                <a:ea typeface="Open Sans"/>
              </a:rPr>
              <a:t>出典：地域エネルギー需給データベース／数値は試算</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4" name="Shape 0"/>
          <p:cNvSpPr/>
          <p:nvPr/>
        </p:nvSpPr>
        <p:spPr>
          <a:xfrm>
            <a:off x="0" y="0"/>
            <a:ext cx="18286920" cy="75240"/>
          </a:xfrm>
          <a:prstGeom prst="rect">
            <a:avLst/>
          </a:prstGeom>
          <a:solidFill>
            <a:srgbClr val="9b9da0"/>
          </a:solidFill>
          <a:ln w="0">
            <a:noFill/>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ffffff"/>
              </a:solidFill>
              <a:latin typeface="Arial"/>
              <a:ea typeface="Arial"/>
            </a:endParaRPr>
          </a:p>
        </p:txBody>
      </p:sp>
      <p:sp>
        <p:nvSpPr>
          <p:cNvPr id="165" name="Shape 1"/>
          <p:cNvSpPr/>
          <p:nvPr/>
        </p:nvSpPr>
        <p:spPr>
          <a:xfrm>
            <a:off x="609480" y="2354760"/>
            <a:ext cx="17067600" cy="18000"/>
          </a:xfrm>
          <a:prstGeom prst="rect">
            <a:avLst/>
          </a:prstGeom>
          <a:solidFill>
            <a:srgbClr val="2e2e2e"/>
          </a:solidFill>
          <a:ln w="0">
            <a:noFill/>
          </a:ln>
        </p:spPr>
        <p:style>
          <a:lnRef idx="0"/>
          <a:fillRef idx="0"/>
          <a:effectRef idx="0"/>
          <a:fontRef idx="minor"/>
        </p:style>
        <p:txBody>
          <a:bodyPr lIns="90000" rIns="90000" tIns="-25920" bIns="-25920" anchor="t">
            <a:noAutofit/>
          </a:bodyPr>
          <a:p>
            <a:pPr>
              <a:lnSpc>
                <a:spcPct val="100000"/>
              </a:lnSpc>
            </a:pPr>
            <a:endParaRPr b="0" lang="en-US" sz="1800" spc="-1" strike="noStrike">
              <a:solidFill>
                <a:srgbClr val="ffffff"/>
              </a:solidFill>
              <a:latin typeface="Arial"/>
              <a:ea typeface="Arial"/>
            </a:endParaRPr>
          </a:p>
        </p:txBody>
      </p:sp>
      <p:sp>
        <p:nvSpPr>
          <p:cNvPr id="166" name="Shape 2"/>
          <p:cNvSpPr/>
          <p:nvPr/>
        </p:nvSpPr>
        <p:spPr>
          <a:xfrm>
            <a:off x="609480" y="800280"/>
            <a:ext cx="43704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167" name="Text 3"/>
          <p:cNvSpPr/>
          <p:nvPr/>
        </p:nvSpPr>
        <p:spPr>
          <a:xfrm>
            <a:off x="1181160" y="704880"/>
            <a:ext cx="415476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202" strike="noStrike">
                <a:solidFill>
                  <a:srgbClr val="9b9da0"/>
                </a:solidFill>
                <a:latin typeface="Open Sans"/>
                <a:ea typeface="Open Sans"/>
              </a:rPr>
              <a:t>PROFILE IN NUMBERS · </a:t>
            </a:r>
            <a:r>
              <a:rPr b="1" lang="zh-CN" sz="1300" spc="202" strike="noStrike">
                <a:solidFill>
                  <a:srgbClr val="9b9da0"/>
                </a:solidFill>
                <a:latin typeface="Open Sans"/>
                <a:ea typeface="Open Sans"/>
              </a:rPr>
              <a:t>現状と将来 </a:t>
            </a:r>
            <a:r>
              <a:rPr b="1" lang="en-US" sz="1300" spc="202" strike="noStrike">
                <a:solidFill>
                  <a:srgbClr val="9b9da0"/>
                </a:solidFill>
                <a:latin typeface="Open Sans"/>
                <a:ea typeface="Open Sans"/>
              </a:rPr>
              <a:t>· 08</a:t>
            </a:r>
            <a:endParaRPr b="0" lang="en-US" sz="1300" spc="-1" strike="noStrike">
              <a:solidFill>
                <a:srgbClr val="000000"/>
              </a:solidFill>
              <a:latin typeface="Arial"/>
            </a:endParaRPr>
          </a:p>
        </p:txBody>
      </p:sp>
      <p:sp>
        <p:nvSpPr>
          <p:cNvPr id="168" name="Text 4"/>
          <p:cNvSpPr/>
          <p:nvPr/>
        </p:nvSpPr>
        <p:spPr>
          <a:xfrm>
            <a:off x="609480" y="1076400"/>
            <a:ext cx="9487800" cy="63936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1000"/>
              </a:lnSpc>
              <a:tabLst>
                <a:tab algn="l" pos="0"/>
              </a:tabLst>
            </a:pPr>
            <a:r>
              <a:rPr b="1" lang="en-US" sz="4650" spc="-24" strike="noStrike">
                <a:solidFill>
                  <a:srgbClr val="2e2e2e"/>
                </a:solidFill>
                <a:latin typeface="Sora"/>
                <a:ea typeface="Sora"/>
              </a:rPr>
              <a:t>From dependence to surplus</a:t>
            </a:r>
            <a:endParaRPr b="0" lang="en-US" sz="4650" spc="-1" strike="noStrike">
              <a:solidFill>
                <a:srgbClr val="000000"/>
              </a:solidFill>
              <a:latin typeface="Arial"/>
            </a:endParaRPr>
          </a:p>
        </p:txBody>
      </p:sp>
      <p:sp>
        <p:nvSpPr>
          <p:cNvPr id="169" name="Text 5"/>
          <p:cNvSpPr/>
          <p:nvPr/>
        </p:nvSpPr>
        <p:spPr>
          <a:xfrm>
            <a:off x="609480" y="1773720"/>
            <a:ext cx="9487800" cy="389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zh-CN" sz="1900" spc="-1" strike="noStrike">
                <a:solidFill>
                  <a:srgbClr val="6e7174"/>
                </a:solidFill>
                <a:latin typeface="Noto Sans JP"/>
                <a:ea typeface="Noto Sans JP"/>
              </a:rPr>
              <a:t>依存から余剰へ — エネルギー自立への転換</a:t>
            </a:r>
            <a:endParaRPr b="0" lang="en-US" sz="1900" spc="-1" strike="noStrike">
              <a:solidFill>
                <a:srgbClr val="000000"/>
              </a:solidFill>
              <a:latin typeface="Arial"/>
            </a:endParaRPr>
          </a:p>
        </p:txBody>
      </p:sp>
      <p:sp>
        <p:nvSpPr>
          <p:cNvPr id="170" name="Shape 6"/>
          <p:cNvSpPr/>
          <p:nvPr/>
        </p:nvSpPr>
        <p:spPr>
          <a:xfrm>
            <a:off x="15017400" y="1883520"/>
            <a:ext cx="246600" cy="132120"/>
          </a:xfrm>
          <a:prstGeom prst="rect">
            <a:avLst/>
          </a:prstGeom>
          <a:solidFill>
            <a:srgbClr val="c7c9c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71" name="Text 7"/>
          <p:cNvSpPr/>
          <p:nvPr/>
        </p:nvSpPr>
        <p:spPr>
          <a:xfrm>
            <a:off x="15350760" y="1830960"/>
            <a:ext cx="999360" cy="275040"/>
          </a:xfrm>
          <a:prstGeom prst="rect">
            <a:avLst/>
          </a:prstGeom>
          <a:noFill/>
          <a:ln w="0">
            <a:noFill/>
          </a:ln>
        </p:spPr>
        <p:style>
          <a:lnRef idx="0"/>
          <a:fillRef idx="0"/>
          <a:effectRef idx="0"/>
          <a:fontRef idx="minor"/>
        </p:style>
        <p:txBody>
          <a:bodyPr lIns="25560" rIns="25560" tIns="25560" bIns="25560" anchor="t">
            <a:normAutofit fontScale="93333"/>
          </a:bodyPr>
          <a:p>
            <a:pPr defTabSz="914400">
              <a:lnSpc>
                <a:spcPct val="100000"/>
              </a:lnSpc>
              <a:tabLst>
                <a:tab algn="l" pos="0"/>
              </a:tabLst>
            </a:pPr>
            <a:r>
              <a:rPr b="1" lang="en-US" sz="1300" spc="-1" strike="noStrike">
                <a:solidFill>
                  <a:srgbClr val="6e7174"/>
                </a:solidFill>
                <a:latin typeface="Open Sans"/>
                <a:ea typeface="Open Sans"/>
              </a:rPr>
              <a:t>Today · </a:t>
            </a:r>
            <a:r>
              <a:rPr b="1" lang="zh-CN" sz="1300" spc="-1" strike="noStrike">
                <a:solidFill>
                  <a:srgbClr val="6e7174"/>
                </a:solidFill>
                <a:latin typeface="Open Sans"/>
                <a:ea typeface="Open Sans"/>
              </a:rPr>
              <a:t>現状</a:t>
            </a:r>
            <a:endParaRPr b="0" lang="en-US" sz="1300" spc="-1" strike="noStrike">
              <a:solidFill>
                <a:srgbClr val="000000"/>
              </a:solidFill>
              <a:latin typeface="Arial"/>
            </a:endParaRPr>
          </a:p>
        </p:txBody>
      </p:sp>
      <p:sp>
        <p:nvSpPr>
          <p:cNvPr id="172" name="Shape 8"/>
          <p:cNvSpPr/>
          <p:nvPr/>
        </p:nvSpPr>
        <p:spPr>
          <a:xfrm>
            <a:off x="16522560" y="1883520"/>
            <a:ext cx="246600" cy="132120"/>
          </a:xfrm>
          <a:prstGeom prst="rect">
            <a:avLst/>
          </a:prstGeom>
          <a:solidFill>
            <a:srgbClr val="e5852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173" name="Text 9"/>
          <p:cNvSpPr/>
          <p:nvPr/>
        </p:nvSpPr>
        <p:spPr>
          <a:xfrm>
            <a:off x="16855920" y="1830960"/>
            <a:ext cx="897480" cy="275040"/>
          </a:xfrm>
          <a:prstGeom prst="rect">
            <a:avLst/>
          </a:prstGeom>
          <a:noFill/>
          <a:ln w="0">
            <a:noFill/>
          </a:ln>
        </p:spPr>
        <p:style>
          <a:lnRef idx="0"/>
          <a:fillRef idx="0"/>
          <a:effectRef idx="0"/>
          <a:fontRef idx="minor"/>
        </p:style>
        <p:txBody>
          <a:bodyPr lIns="25560" rIns="25560" tIns="25560" bIns="25560" anchor="t">
            <a:normAutofit fontScale="93333"/>
          </a:bodyPr>
          <a:p>
            <a:pPr defTabSz="914400">
              <a:lnSpc>
                <a:spcPct val="100000"/>
              </a:lnSpc>
              <a:tabLst>
                <a:tab algn="l" pos="0"/>
              </a:tabLst>
            </a:pPr>
            <a:r>
              <a:rPr b="1" lang="en-US" sz="1300" spc="-1" strike="noStrike">
                <a:solidFill>
                  <a:srgbClr val="6e7174"/>
                </a:solidFill>
                <a:latin typeface="Open Sans"/>
                <a:ea typeface="Open Sans"/>
              </a:rPr>
              <a:t>2050 · </a:t>
            </a:r>
            <a:r>
              <a:rPr b="1" lang="zh-CN" sz="1300" spc="-1" strike="noStrike">
                <a:solidFill>
                  <a:srgbClr val="6e7174"/>
                </a:solidFill>
                <a:latin typeface="Open Sans"/>
                <a:ea typeface="Open Sans"/>
              </a:rPr>
              <a:t>想定</a:t>
            </a:r>
            <a:endParaRPr b="0" lang="en-US" sz="1300" spc="-1" strike="noStrike">
              <a:solidFill>
                <a:srgbClr val="000000"/>
              </a:solidFill>
              <a:latin typeface="Arial"/>
            </a:endParaRPr>
          </a:p>
        </p:txBody>
      </p:sp>
      <p:sp>
        <p:nvSpPr>
          <p:cNvPr id="174" name="Text 10"/>
          <p:cNvSpPr/>
          <p:nvPr/>
        </p:nvSpPr>
        <p:spPr>
          <a:xfrm>
            <a:off x="609480" y="3732840"/>
            <a:ext cx="3519720" cy="3607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00" spc="-1" strike="noStrike">
                <a:solidFill>
                  <a:srgbClr val="2e2e2e"/>
                </a:solidFill>
                <a:latin typeface="Open Sans"/>
                <a:ea typeface="Open Sans"/>
              </a:rPr>
              <a:t>Energy self-sufficiency </a:t>
            </a:r>
            <a:r>
              <a:rPr b="0" lang="zh-CN" sz="1300" spc="-1" strike="noStrike">
                <a:solidFill>
                  <a:srgbClr val="9b9da0"/>
                </a:solidFill>
                <a:latin typeface="Noto Sans JP"/>
                <a:ea typeface="Noto Sans JP"/>
              </a:rPr>
              <a:t>自給率</a:t>
            </a:r>
            <a:endParaRPr b="0" lang="en-US" sz="1300" spc="-1" strike="noStrike">
              <a:solidFill>
                <a:srgbClr val="000000"/>
              </a:solidFill>
              <a:latin typeface="Arial"/>
            </a:endParaRPr>
          </a:p>
        </p:txBody>
      </p:sp>
      <p:sp>
        <p:nvSpPr>
          <p:cNvPr id="175" name="Text 11"/>
          <p:cNvSpPr/>
          <p:nvPr/>
        </p:nvSpPr>
        <p:spPr>
          <a:xfrm>
            <a:off x="7944120" y="3776040"/>
            <a:ext cx="970200" cy="3132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e58520"/>
                </a:solidFill>
                <a:latin typeface="Open Sans"/>
                <a:ea typeface="Open Sans"/>
              </a:rPr>
              <a:t>▲ </a:t>
            </a:r>
            <a:r>
              <a:rPr b="1" lang="en-US" sz="1600" spc="-1" strike="noStrike">
                <a:solidFill>
                  <a:srgbClr val="e58520"/>
                </a:solidFill>
                <a:latin typeface="Open Sans"/>
                <a:ea typeface="Open Sans"/>
              </a:rPr>
              <a:t>+107pt</a:t>
            </a:r>
            <a:endParaRPr b="0" lang="en-US" sz="1600" spc="-1" strike="noStrike">
              <a:solidFill>
                <a:srgbClr val="000000"/>
              </a:solidFill>
              <a:latin typeface="Arial"/>
            </a:endParaRPr>
          </a:p>
        </p:txBody>
      </p:sp>
      <p:sp>
        <p:nvSpPr>
          <p:cNvPr id="176" name="Text 12"/>
          <p:cNvSpPr/>
          <p:nvPr/>
        </p:nvSpPr>
        <p:spPr>
          <a:xfrm>
            <a:off x="533520" y="4242600"/>
            <a:ext cx="817920" cy="2275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150" spc="-1" strike="noStrike">
                <a:solidFill>
                  <a:srgbClr val="a9abae"/>
                </a:solidFill>
                <a:latin typeface="Open Sans"/>
                <a:ea typeface="Open Sans"/>
              </a:rPr>
              <a:t>TODAY</a:t>
            </a:r>
            <a:endParaRPr b="0" lang="en-US" sz="1150" spc="-1" strike="noStrike">
              <a:solidFill>
                <a:srgbClr val="000000"/>
              </a:solidFill>
              <a:latin typeface="Arial"/>
            </a:endParaRPr>
          </a:p>
        </p:txBody>
      </p:sp>
      <p:sp>
        <p:nvSpPr>
          <p:cNvPr id="177" name="Shape 13"/>
          <p:cNvSpPr/>
          <p:nvPr/>
        </p:nvSpPr>
        <p:spPr>
          <a:xfrm>
            <a:off x="1504800" y="4214160"/>
            <a:ext cx="6380640" cy="246600"/>
          </a:xfrm>
          <a:prstGeom prst="rect">
            <a:avLst/>
          </a:prstGeom>
          <a:solidFill>
            <a:srgbClr val="f1f1e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78" name="Shape 14"/>
          <p:cNvSpPr/>
          <p:nvPr/>
        </p:nvSpPr>
        <p:spPr>
          <a:xfrm>
            <a:off x="1504800" y="4214160"/>
            <a:ext cx="445680" cy="246600"/>
          </a:xfrm>
          <a:prstGeom prst="rect">
            <a:avLst/>
          </a:prstGeom>
          <a:solidFill>
            <a:srgbClr val="c7c9c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79" name="Text 15"/>
          <p:cNvSpPr/>
          <p:nvPr/>
        </p:nvSpPr>
        <p:spPr>
          <a:xfrm>
            <a:off x="8039160" y="4209120"/>
            <a:ext cx="875160" cy="2941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500" spc="-1" strike="noStrike">
                <a:solidFill>
                  <a:srgbClr val="6e7174"/>
                </a:solidFill>
                <a:latin typeface="Open Sans"/>
                <a:ea typeface="Open Sans"/>
              </a:rPr>
              <a:t>8%</a:t>
            </a:r>
            <a:endParaRPr b="0" lang="en-US" sz="1500" spc="-1" strike="noStrike">
              <a:solidFill>
                <a:srgbClr val="000000"/>
              </a:solidFill>
              <a:latin typeface="Arial"/>
            </a:endParaRPr>
          </a:p>
        </p:txBody>
      </p:sp>
      <p:sp>
        <p:nvSpPr>
          <p:cNvPr id="180" name="Text 16"/>
          <p:cNvSpPr/>
          <p:nvPr/>
        </p:nvSpPr>
        <p:spPr>
          <a:xfrm>
            <a:off x="533520" y="4628520"/>
            <a:ext cx="817920" cy="2275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150" spc="-1" strike="noStrike">
                <a:solidFill>
                  <a:srgbClr val="e58520"/>
                </a:solidFill>
                <a:latin typeface="Open Sans"/>
                <a:ea typeface="Open Sans"/>
              </a:rPr>
              <a:t>2050</a:t>
            </a:r>
            <a:endParaRPr b="0" lang="en-US" sz="1150" spc="-1" strike="noStrike">
              <a:solidFill>
                <a:srgbClr val="000000"/>
              </a:solidFill>
              <a:latin typeface="Arial"/>
            </a:endParaRPr>
          </a:p>
        </p:txBody>
      </p:sp>
      <p:sp>
        <p:nvSpPr>
          <p:cNvPr id="181" name="Shape 17"/>
          <p:cNvSpPr/>
          <p:nvPr/>
        </p:nvSpPr>
        <p:spPr>
          <a:xfrm>
            <a:off x="1504800" y="4599720"/>
            <a:ext cx="6380640" cy="246600"/>
          </a:xfrm>
          <a:prstGeom prst="rect">
            <a:avLst/>
          </a:prstGeom>
          <a:solidFill>
            <a:srgbClr val="f1f1e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82" name="Shape 18"/>
          <p:cNvSpPr/>
          <p:nvPr/>
        </p:nvSpPr>
        <p:spPr>
          <a:xfrm>
            <a:off x="1504800" y="4599720"/>
            <a:ext cx="6125400" cy="246600"/>
          </a:xfrm>
          <a:prstGeom prst="rect">
            <a:avLst/>
          </a:prstGeom>
          <a:solidFill>
            <a:srgbClr val="e5852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183" name="Text 19"/>
          <p:cNvSpPr/>
          <p:nvPr/>
        </p:nvSpPr>
        <p:spPr>
          <a:xfrm>
            <a:off x="8039160" y="4552200"/>
            <a:ext cx="875160" cy="3798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50" spc="-1" strike="noStrike">
                <a:solidFill>
                  <a:srgbClr val="2e2e2e"/>
                </a:solidFill>
                <a:latin typeface="Open Sans"/>
                <a:ea typeface="Open Sans"/>
              </a:rPr>
              <a:t>115%</a:t>
            </a:r>
            <a:endParaRPr b="0" lang="en-US" sz="1950" spc="-1" strike="noStrike">
              <a:solidFill>
                <a:srgbClr val="000000"/>
              </a:solidFill>
              <a:latin typeface="Arial"/>
            </a:endParaRPr>
          </a:p>
        </p:txBody>
      </p:sp>
      <p:sp>
        <p:nvSpPr>
          <p:cNvPr id="184" name="Text 20"/>
          <p:cNvSpPr/>
          <p:nvPr/>
        </p:nvSpPr>
        <p:spPr>
          <a:xfrm>
            <a:off x="9448920" y="3732840"/>
            <a:ext cx="3519360" cy="3607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00" spc="-1" strike="noStrike">
                <a:solidFill>
                  <a:srgbClr val="2e2e2e"/>
                </a:solidFill>
                <a:latin typeface="Open Sans"/>
                <a:ea typeface="Open Sans"/>
              </a:rPr>
              <a:t>Import dependency </a:t>
            </a:r>
            <a:r>
              <a:rPr b="0" lang="zh-CN" sz="1300" spc="-1" strike="noStrike">
                <a:solidFill>
                  <a:srgbClr val="9b9da0"/>
                </a:solidFill>
                <a:latin typeface="Noto Sans JP"/>
                <a:ea typeface="Noto Sans JP"/>
              </a:rPr>
              <a:t>域外依存率</a:t>
            </a:r>
            <a:endParaRPr b="0" lang="en-US" sz="1300" spc="-1" strike="noStrike">
              <a:solidFill>
                <a:srgbClr val="000000"/>
              </a:solidFill>
              <a:latin typeface="Arial"/>
            </a:endParaRPr>
          </a:p>
        </p:txBody>
      </p:sp>
      <p:sp>
        <p:nvSpPr>
          <p:cNvPr id="185" name="Text 21"/>
          <p:cNvSpPr/>
          <p:nvPr/>
        </p:nvSpPr>
        <p:spPr>
          <a:xfrm>
            <a:off x="16904520" y="3776040"/>
            <a:ext cx="848880" cy="3132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e58520"/>
                </a:solidFill>
                <a:latin typeface="Open Sans"/>
                <a:ea typeface="Open Sans"/>
              </a:rPr>
              <a:t>▼ −</a:t>
            </a:r>
            <a:r>
              <a:rPr b="1" lang="en-US" sz="1600" spc="-1" strike="noStrike">
                <a:solidFill>
                  <a:srgbClr val="e58520"/>
                </a:solidFill>
                <a:latin typeface="Open Sans"/>
                <a:ea typeface="Open Sans"/>
              </a:rPr>
              <a:t>67pt</a:t>
            </a:r>
            <a:endParaRPr b="0" lang="en-US" sz="1600" spc="-1" strike="noStrike">
              <a:solidFill>
                <a:srgbClr val="000000"/>
              </a:solidFill>
              <a:latin typeface="Arial"/>
            </a:endParaRPr>
          </a:p>
        </p:txBody>
      </p:sp>
      <p:sp>
        <p:nvSpPr>
          <p:cNvPr id="186" name="Text 22"/>
          <p:cNvSpPr/>
          <p:nvPr/>
        </p:nvSpPr>
        <p:spPr>
          <a:xfrm>
            <a:off x="9372600" y="4242600"/>
            <a:ext cx="817920" cy="2275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150" spc="-1" strike="noStrike">
                <a:solidFill>
                  <a:srgbClr val="a9abae"/>
                </a:solidFill>
                <a:latin typeface="Open Sans"/>
                <a:ea typeface="Open Sans"/>
              </a:rPr>
              <a:t>TODAY</a:t>
            </a:r>
            <a:endParaRPr b="0" lang="en-US" sz="1150" spc="-1" strike="noStrike">
              <a:solidFill>
                <a:srgbClr val="000000"/>
              </a:solidFill>
              <a:latin typeface="Arial"/>
            </a:endParaRPr>
          </a:p>
        </p:txBody>
      </p:sp>
      <p:sp>
        <p:nvSpPr>
          <p:cNvPr id="187" name="Shape 23"/>
          <p:cNvSpPr/>
          <p:nvPr/>
        </p:nvSpPr>
        <p:spPr>
          <a:xfrm>
            <a:off x="10344240" y="4214160"/>
            <a:ext cx="6380640" cy="246600"/>
          </a:xfrm>
          <a:prstGeom prst="rect">
            <a:avLst/>
          </a:prstGeom>
          <a:solidFill>
            <a:srgbClr val="f1f1e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88" name="Shape 24"/>
          <p:cNvSpPr/>
          <p:nvPr/>
        </p:nvSpPr>
        <p:spPr>
          <a:xfrm>
            <a:off x="10344240" y="4214160"/>
            <a:ext cx="5870160" cy="246600"/>
          </a:xfrm>
          <a:prstGeom prst="rect">
            <a:avLst/>
          </a:prstGeom>
          <a:solidFill>
            <a:srgbClr val="c7c9c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89" name="Text 25"/>
          <p:cNvSpPr/>
          <p:nvPr/>
        </p:nvSpPr>
        <p:spPr>
          <a:xfrm>
            <a:off x="16878240" y="4209120"/>
            <a:ext cx="875160" cy="2941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500" spc="-1" strike="noStrike">
                <a:solidFill>
                  <a:srgbClr val="6e7174"/>
                </a:solidFill>
                <a:latin typeface="Open Sans"/>
                <a:ea typeface="Open Sans"/>
              </a:rPr>
              <a:t>92%</a:t>
            </a:r>
            <a:endParaRPr b="0" lang="en-US" sz="1500" spc="-1" strike="noStrike">
              <a:solidFill>
                <a:srgbClr val="000000"/>
              </a:solidFill>
              <a:latin typeface="Arial"/>
            </a:endParaRPr>
          </a:p>
        </p:txBody>
      </p:sp>
      <p:sp>
        <p:nvSpPr>
          <p:cNvPr id="190" name="Text 26"/>
          <p:cNvSpPr/>
          <p:nvPr/>
        </p:nvSpPr>
        <p:spPr>
          <a:xfrm>
            <a:off x="9372600" y="4628520"/>
            <a:ext cx="817920" cy="2275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150" spc="-1" strike="noStrike">
                <a:solidFill>
                  <a:srgbClr val="e58520"/>
                </a:solidFill>
                <a:latin typeface="Open Sans"/>
                <a:ea typeface="Open Sans"/>
              </a:rPr>
              <a:t>2050</a:t>
            </a:r>
            <a:endParaRPr b="0" lang="en-US" sz="1150" spc="-1" strike="noStrike">
              <a:solidFill>
                <a:srgbClr val="000000"/>
              </a:solidFill>
              <a:latin typeface="Arial"/>
            </a:endParaRPr>
          </a:p>
        </p:txBody>
      </p:sp>
      <p:sp>
        <p:nvSpPr>
          <p:cNvPr id="191" name="Shape 27"/>
          <p:cNvSpPr/>
          <p:nvPr/>
        </p:nvSpPr>
        <p:spPr>
          <a:xfrm>
            <a:off x="10344240" y="4599720"/>
            <a:ext cx="6380640" cy="246600"/>
          </a:xfrm>
          <a:prstGeom prst="rect">
            <a:avLst/>
          </a:prstGeom>
          <a:solidFill>
            <a:srgbClr val="f1f1e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92" name="Shape 28"/>
          <p:cNvSpPr/>
          <p:nvPr/>
        </p:nvSpPr>
        <p:spPr>
          <a:xfrm>
            <a:off x="10344240" y="4599720"/>
            <a:ext cx="1594440" cy="246600"/>
          </a:xfrm>
          <a:prstGeom prst="rect">
            <a:avLst/>
          </a:prstGeom>
          <a:solidFill>
            <a:srgbClr val="e5852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193" name="Text 29"/>
          <p:cNvSpPr/>
          <p:nvPr/>
        </p:nvSpPr>
        <p:spPr>
          <a:xfrm>
            <a:off x="16878240" y="4552200"/>
            <a:ext cx="875160" cy="3798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50" spc="-1" strike="noStrike">
                <a:solidFill>
                  <a:srgbClr val="2e2e2e"/>
                </a:solidFill>
                <a:latin typeface="Open Sans"/>
                <a:ea typeface="Open Sans"/>
              </a:rPr>
              <a:t>25%</a:t>
            </a:r>
            <a:endParaRPr b="0" lang="en-US" sz="1950" spc="-1" strike="noStrike">
              <a:solidFill>
                <a:srgbClr val="000000"/>
              </a:solidFill>
              <a:latin typeface="Arial"/>
            </a:endParaRPr>
          </a:p>
        </p:txBody>
      </p:sp>
      <p:sp>
        <p:nvSpPr>
          <p:cNvPr id="194" name="Text 30"/>
          <p:cNvSpPr/>
          <p:nvPr/>
        </p:nvSpPr>
        <p:spPr>
          <a:xfrm>
            <a:off x="609480" y="7175160"/>
            <a:ext cx="3539880" cy="3607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00" spc="-1" strike="noStrike">
                <a:solidFill>
                  <a:srgbClr val="2e2e2e"/>
                </a:solidFill>
                <a:latin typeface="Open Sans"/>
                <a:ea typeface="Open Sans"/>
              </a:rPr>
              <a:t>Energy trade balance </a:t>
            </a:r>
            <a:r>
              <a:rPr b="0" lang="zh-CN" sz="1300" spc="-1" strike="noStrike">
                <a:solidFill>
                  <a:srgbClr val="9b9da0"/>
                </a:solidFill>
                <a:latin typeface="Noto Sans JP"/>
                <a:ea typeface="Noto Sans JP"/>
              </a:rPr>
              <a:t>経済収支</a:t>
            </a:r>
            <a:endParaRPr b="0" lang="en-US" sz="1300" spc="-1" strike="noStrike">
              <a:solidFill>
                <a:srgbClr val="000000"/>
              </a:solidFill>
              <a:latin typeface="Arial"/>
            </a:endParaRPr>
          </a:p>
        </p:txBody>
      </p:sp>
      <p:sp>
        <p:nvSpPr>
          <p:cNvPr id="195" name="Text 31"/>
          <p:cNvSpPr/>
          <p:nvPr/>
        </p:nvSpPr>
        <p:spPr>
          <a:xfrm>
            <a:off x="8225640" y="7218000"/>
            <a:ext cx="688680" cy="3132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e58520"/>
                </a:solidFill>
                <a:latin typeface="Open Sans"/>
                <a:ea typeface="Open Sans"/>
              </a:rPr>
              <a:t>flips +</a:t>
            </a:r>
            <a:endParaRPr b="0" lang="en-US" sz="1600" spc="-1" strike="noStrike">
              <a:solidFill>
                <a:srgbClr val="000000"/>
              </a:solidFill>
              <a:latin typeface="Arial"/>
            </a:endParaRPr>
          </a:p>
        </p:txBody>
      </p:sp>
      <p:sp>
        <p:nvSpPr>
          <p:cNvPr id="196" name="Text 32"/>
          <p:cNvSpPr/>
          <p:nvPr/>
        </p:nvSpPr>
        <p:spPr>
          <a:xfrm>
            <a:off x="533520" y="7684920"/>
            <a:ext cx="817920" cy="2275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150" spc="-1" strike="noStrike">
                <a:solidFill>
                  <a:srgbClr val="a9abae"/>
                </a:solidFill>
                <a:latin typeface="Open Sans"/>
                <a:ea typeface="Open Sans"/>
              </a:rPr>
              <a:t>TODAY</a:t>
            </a:r>
            <a:endParaRPr b="0" lang="en-US" sz="1150" spc="-1" strike="noStrike">
              <a:solidFill>
                <a:srgbClr val="000000"/>
              </a:solidFill>
              <a:latin typeface="Arial"/>
            </a:endParaRPr>
          </a:p>
        </p:txBody>
      </p:sp>
      <p:sp>
        <p:nvSpPr>
          <p:cNvPr id="197" name="Shape 33"/>
          <p:cNvSpPr/>
          <p:nvPr/>
        </p:nvSpPr>
        <p:spPr>
          <a:xfrm>
            <a:off x="1504800" y="7656120"/>
            <a:ext cx="6380640" cy="246600"/>
          </a:xfrm>
          <a:prstGeom prst="rect">
            <a:avLst/>
          </a:prstGeom>
          <a:solidFill>
            <a:srgbClr val="f1f1e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98" name="Shape 34"/>
          <p:cNvSpPr/>
          <p:nvPr/>
        </p:nvSpPr>
        <p:spPr>
          <a:xfrm>
            <a:off x="4695840" y="7656120"/>
            <a:ext cx="18000" cy="246600"/>
          </a:xfrm>
          <a:prstGeom prst="rect">
            <a:avLst/>
          </a:prstGeom>
          <a:solidFill>
            <a:srgbClr val="2e2e2e"/>
          </a:solidFill>
          <a:ln w="0">
            <a:noFill/>
          </a:ln>
        </p:spPr>
        <p:style>
          <a:lnRef idx="0"/>
          <a:fillRef idx="0"/>
          <a:effectRef idx="0"/>
          <a:fontRef idx="minor"/>
        </p:style>
        <p:txBody>
          <a:bodyPr lIns="9360" rIns="9360" tIns="45000" bIns="45000" anchor="t">
            <a:noAutofit/>
          </a:bodyPr>
          <a:p>
            <a:pPr>
              <a:lnSpc>
                <a:spcPct val="100000"/>
              </a:lnSpc>
            </a:pPr>
            <a:endParaRPr b="0" lang="en-US" sz="1800" spc="-1" strike="noStrike">
              <a:solidFill>
                <a:srgbClr val="ffffff"/>
              </a:solidFill>
              <a:latin typeface="Arial"/>
              <a:ea typeface="Arial"/>
            </a:endParaRPr>
          </a:p>
        </p:txBody>
      </p:sp>
      <p:sp>
        <p:nvSpPr>
          <p:cNvPr id="199" name="Shape 35"/>
          <p:cNvSpPr/>
          <p:nvPr/>
        </p:nvSpPr>
        <p:spPr>
          <a:xfrm>
            <a:off x="2589840" y="7656120"/>
            <a:ext cx="2104920" cy="246600"/>
          </a:xfrm>
          <a:prstGeom prst="rect">
            <a:avLst/>
          </a:prstGeom>
          <a:solidFill>
            <a:srgbClr val="c7c9c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200" name="Text 36"/>
          <p:cNvSpPr/>
          <p:nvPr/>
        </p:nvSpPr>
        <p:spPr>
          <a:xfrm>
            <a:off x="8039160" y="7651440"/>
            <a:ext cx="875160" cy="2941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50" spc="-1" strike="noStrike">
                <a:solidFill>
                  <a:srgbClr val="6e7174"/>
                </a:solidFill>
                <a:latin typeface="Open Sans"/>
                <a:ea typeface="Open Sans"/>
              </a:rPr>
              <a:t>−</a:t>
            </a:r>
            <a:r>
              <a:rPr b="1" lang="en-US" sz="1350" spc="-1" strike="noStrike">
                <a:solidFill>
                  <a:srgbClr val="6e7174"/>
                </a:solidFill>
                <a:latin typeface="Open Sans"/>
                <a:ea typeface="Open Sans"/>
              </a:rPr>
              <a:t>¥2.0</a:t>
            </a:r>
            <a:r>
              <a:rPr b="1" lang="zh-CN" sz="1350" spc="-1" strike="noStrike">
                <a:solidFill>
                  <a:srgbClr val="6e7174"/>
                </a:solidFill>
                <a:latin typeface="Open Sans"/>
                <a:ea typeface="Open Sans"/>
              </a:rPr>
              <a:t>億</a:t>
            </a:r>
            <a:endParaRPr b="0" lang="en-US" sz="1350" spc="-1" strike="noStrike">
              <a:solidFill>
                <a:srgbClr val="000000"/>
              </a:solidFill>
              <a:latin typeface="Arial"/>
            </a:endParaRPr>
          </a:p>
        </p:txBody>
      </p:sp>
      <p:sp>
        <p:nvSpPr>
          <p:cNvPr id="201" name="Text 37"/>
          <p:cNvSpPr/>
          <p:nvPr/>
        </p:nvSpPr>
        <p:spPr>
          <a:xfrm>
            <a:off x="533520" y="8222760"/>
            <a:ext cx="817920" cy="2275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150" spc="-1" strike="noStrike">
                <a:solidFill>
                  <a:srgbClr val="e58520"/>
                </a:solidFill>
                <a:latin typeface="Open Sans"/>
                <a:ea typeface="Open Sans"/>
              </a:rPr>
              <a:t>2050</a:t>
            </a:r>
            <a:endParaRPr b="0" lang="en-US" sz="1150" spc="-1" strike="noStrike">
              <a:solidFill>
                <a:srgbClr val="000000"/>
              </a:solidFill>
              <a:latin typeface="Arial"/>
            </a:endParaRPr>
          </a:p>
        </p:txBody>
      </p:sp>
      <p:sp>
        <p:nvSpPr>
          <p:cNvPr id="202" name="Shape 38"/>
          <p:cNvSpPr/>
          <p:nvPr/>
        </p:nvSpPr>
        <p:spPr>
          <a:xfrm>
            <a:off x="1504800" y="8194320"/>
            <a:ext cx="6380640" cy="246600"/>
          </a:xfrm>
          <a:prstGeom prst="rect">
            <a:avLst/>
          </a:prstGeom>
          <a:solidFill>
            <a:srgbClr val="f1f1e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203" name="Shape 39"/>
          <p:cNvSpPr/>
          <p:nvPr/>
        </p:nvSpPr>
        <p:spPr>
          <a:xfrm>
            <a:off x="4695840" y="8194320"/>
            <a:ext cx="18000" cy="246600"/>
          </a:xfrm>
          <a:prstGeom prst="rect">
            <a:avLst/>
          </a:prstGeom>
          <a:solidFill>
            <a:srgbClr val="2e2e2e"/>
          </a:solidFill>
          <a:ln w="0">
            <a:noFill/>
          </a:ln>
        </p:spPr>
        <p:style>
          <a:lnRef idx="0"/>
          <a:fillRef idx="0"/>
          <a:effectRef idx="0"/>
          <a:fontRef idx="minor"/>
        </p:style>
        <p:txBody>
          <a:bodyPr lIns="9360" rIns="9360" tIns="45000" bIns="45000" anchor="t">
            <a:noAutofit/>
          </a:bodyPr>
          <a:p>
            <a:pPr>
              <a:lnSpc>
                <a:spcPct val="100000"/>
              </a:lnSpc>
            </a:pPr>
            <a:endParaRPr b="0" lang="en-US" sz="1800" spc="-1" strike="noStrike">
              <a:solidFill>
                <a:srgbClr val="ffffff"/>
              </a:solidFill>
              <a:latin typeface="Arial"/>
              <a:ea typeface="Arial"/>
            </a:endParaRPr>
          </a:p>
        </p:txBody>
      </p:sp>
      <p:sp>
        <p:nvSpPr>
          <p:cNvPr id="204" name="Shape 40"/>
          <p:cNvSpPr/>
          <p:nvPr/>
        </p:nvSpPr>
        <p:spPr>
          <a:xfrm>
            <a:off x="4695840" y="8194320"/>
            <a:ext cx="828720" cy="246600"/>
          </a:xfrm>
          <a:prstGeom prst="rect">
            <a:avLst/>
          </a:prstGeom>
          <a:solidFill>
            <a:srgbClr val="e5852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205" name="Text 41"/>
          <p:cNvSpPr/>
          <p:nvPr/>
        </p:nvSpPr>
        <p:spPr>
          <a:xfrm>
            <a:off x="8039160" y="7994160"/>
            <a:ext cx="875160" cy="6847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800" spc="-1" strike="noStrike">
                <a:solidFill>
                  <a:srgbClr val="2e2e2e"/>
                </a:solidFill>
                <a:latin typeface="Open Sans"/>
                <a:ea typeface="Open Sans"/>
              </a:rPr>
              <a:t>+¥0.8</a:t>
            </a:r>
            <a:r>
              <a:rPr b="1" lang="zh-CN" sz="1800" spc="-1" strike="noStrike">
                <a:solidFill>
                  <a:srgbClr val="2e2e2e"/>
                </a:solidFill>
                <a:latin typeface="Open Sans"/>
                <a:ea typeface="Open Sans"/>
              </a:rPr>
              <a:t>億</a:t>
            </a:r>
            <a:endParaRPr b="0" lang="en-US" sz="1800" spc="-1" strike="noStrike">
              <a:solidFill>
                <a:srgbClr val="000000"/>
              </a:solidFill>
              <a:latin typeface="Arial"/>
            </a:endParaRPr>
          </a:p>
        </p:txBody>
      </p:sp>
      <p:sp>
        <p:nvSpPr>
          <p:cNvPr id="206" name="Text 42"/>
          <p:cNvSpPr/>
          <p:nvPr/>
        </p:nvSpPr>
        <p:spPr>
          <a:xfrm>
            <a:off x="9448920" y="7327440"/>
            <a:ext cx="3368520" cy="3607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00" spc="-1" strike="noStrike">
                <a:solidFill>
                  <a:srgbClr val="2e2e2e"/>
                </a:solidFill>
                <a:latin typeface="Open Sans"/>
                <a:ea typeface="Open Sans"/>
              </a:rPr>
              <a:t>Energy-related CO₂ </a:t>
            </a:r>
            <a:r>
              <a:rPr b="0" lang="en-US" sz="1300" spc="-1" strike="noStrike">
                <a:solidFill>
                  <a:srgbClr val="9b9da0"/>
                </a:solidFill>
                <a:latin typeface="Noto Sans JP"/>
                <a:ea typeface="Noto Sans JP"/>
              </a:rPr>
              <a:t>CO₂</a:t>
            </a:r>
            <a:r>
              <a:rPr b="0" lang="zh-CN" sz="1300" spc="-1" strike="noStrike">
                <a:solidFill>
                  <a:srgbClr val="9b9da0"/>
                </a:solidFill>
                <a:latin typeface="Noto Sans JP"/>
                <a:ea typeface="Noto Sans JP"/>
              </a:rPr>
              <a:t>排出量</a:t>
            </a:r>
            <a:endParaRPr b="0" lang="en-US" sz="1300" spc="-1" strike="noStrike">
              <a:solidFill>
                <a:srgbClr val="000000"/>
              </a:solidFill>
              <a:latin typeface="Arial"/>
            </a:endParaRPr>
          </a:p>
        </p:txBody>
      </p:sp>
      <p:sp>
        <p:nvSpPr>
          <p:cNvPr id="207" name="Text 43"/>
          <p:cNvSpPr/>
          <p:nvPr/>
        </p:nvSpPr>
        <p:spPr>
          <a:xfrm>
            <a:off x="16935480" y="7370280"/>
            <a:ext cx="817920" cy="3132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e58520"/>
                </a:solidFill>
                <a:latin typeface="Open Sans"/>
                <a:ea typeface="Open Sans"/>
              </a:rPr>
              <a:t>▼ −</a:t>
            </a:r>
            <a:r>
              <a:rPr b="1" lang="en-US" sz="1600" spc="-1" strike="noStrike">
                <a:solidFill>
                  <a:srgbClr val="e58520"/>
                </a:solidFill>
                <a:latin typeface="Open Sans"/>
                <a:ea typeface="Open Sans"/>
              </a:rPr>
              <a:t>73%</a:t>
            </a:r>
            <a:endParaRPr b="0" lang="en-US" sz="1600" spc="-1" strike="noStrike">
              <a:solidFill>
                <a:srgbClr val="000000"/>
              </a:solidFill>
              <a:latin typeface="Arial"/>
            </a:endParaRPr>
          </a:p>
        </p:txBody>
      </p:sp>
      <p:sp>
        <p:nvSpPr>
          <p:cNvPr id="208" name="Text 44"/>
          <p:cNvSpPr/>
          <p:nvPr/>
        </p:nvSpPr>
        <p:spPr>
          <a:xfrm>
            <a:off x="9372600" y="7837200"/>
            <a:ext cx="817920" cy="2275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150" spc="-1" strike="noStrike">
                <a:solidFill>
                  <a:srgbClr val="a9abae"/>
                </a:solidFill>
                <a:latin typeface="Open Sans"/>
                <a:ea typeface="Open Sans"/>
              </a:rPr>
              <a:t>TODAY</a:t>
            </a:r>
            <a:endParaRPr b="0" lang="en-US" sz="1150" spc="-1" strike="noStrike">
              <a:solidFill>
                <a:srgbClr val="000000"/>
              </a:solidFill>
              <a:latin typeface="Arial"/>
            </a:endParaRPr>
          </a:p>
        </p:txBody>
      </p:sp>
      <p:sp>
        <p:nvSpPr>
          <p:cNvPr id="209" name="Shape 45"/>
          <p:cNvSpPr/>
          <p:nvPr/>
        </p:nvSpPr>
        <p:spPr>
          <a:xfrm>
            <a:off x="10344240" y="7808760"/>
            <a:ext cx="6380640" cy="246600"/>
          </a:xfrm>
          <a:prstGeom prst="rect">
            <a:avLst/>
          </a:prstGeom>
          <a:solidFill>
            <a:srgbClr val="f1f1e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210" name="Shape 46"/>
          <p:cNvSpPr/>
          <p:nvPr/>
        </p:nvSpPr>
        <p:spPr>
          <a:xfrm>
            <a:off x="10344240" y="7808760"/>
            <a:ext cx="5870160" cy="246600"/>
          </a:xfrm>
          <a:prstGeom prst="rect">
            <a:avLst/>
          </a:prstGeom>
          <a:solidFill>
            <a:srgbClr val="c7c9c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211" name="Text 47"/>
          <p:cNvSpPr/>
          <p:nvPr/>
        </p:nvSpPr>
        <p:spPr>
          <a:xfrm>
            <a:off x="16878240" y="7803720"/>
            <a:ext cx="875160" cy="2941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500" spc="-1" strike="noStrike">
                <a:solidFill>
                  <a:srgbClr val="6e7174"/>
                </a:solidFill>
                <a:latin typeface="Open Sans"/>
                <a:ea typeface="Open Sans"/>
              </a:rPr>
              <a:t>11 kt</a:t>
            </a:r>
            <a:endParaRPr b="0" lang="en-US" sz="1500" spc="-1" strike="noStrike">
              <a:solidFill>
                <a:srgbClr val="000000"/>
              </a:solidFill>
              <a:latin typeface="Arial"/>
            </a:endParaRPr>
          </a:p>
        </p:txBody>
      </p:sp>
      <p:sp>
        <p:nvSpPr>
          <p:cNvPr id="212" name="Text 48"/>
          <p:cNvSpPr/>
          <p:nvPr/>
        </p:nvSpPr>
        <p:spPr>
          <a:xfrm>
            <a:off x="9372600" y="8222760"/>
            <a:ext cx="817920" cy="2275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150" spc="-1" strike="noStrike">
                <a:solidFill>
                  <a:srgbClr val="e58520"/>
                </a:solidFill>
                <a:latin typeface="Open Sans"/>
                <a:ea typeface="Open Sans"/>
              </a:rPr>
              <a:t>2050</a:t>
            </a:r>
            <a:endParaRPr b="0" lang="en-US" sz="1150" spc="-1" strike="noStrike">
              <a:solidFill>
                <a:srgbClr val="000000"/>
              </a:solidFill>
              <a:latin typeface="Arial"/>
            </a:endParaRPr>
          </a:p>
        </p:txBody>
      </p:sp>
      <p:sp>
        <p:nvSpPr>
          <p:cNvPr id="213" name="Shape 49"/>
          <p:cNvSpPr/>
          <p:nvPr/>
        </p:nvSpPr>
        <p:spPr>
          <a:xfrm>
            <a:off x="10344240" y="8194320"/>
            <a:ext cx="6380640" cy="246600"/>
          </a:xfrm>
          <a:prstGeom prst="rect">
            <a:avLst/>
          </a:prstGeom>
          <a:solidFill>
            <a:srgbClr val="f1f1e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214" name="Shape 50"/>
          <p:cNvSpPr/>
          <p:nvPr/>
        </p:nvSpPr>
        <p:spPr>
          <a:xfrm>
            <a:off x="10344240" y="8194320"/>
            <a:ext cx="1594440" cy="246600"/>
          </a:xfrm>
          <a:prstGeom prst="rect">
            <a:avLst/>
          </a:prstGeom>
          <a:solidFill>
            <a:srgbClr val="e5852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215" name="Text 51"/>
          <p:cNvSpPr/>
          <p:nvPr/>
        </p:nvSpPr>
        <p:spPr>
          <a:xfrm>
            <a:off x="16878240" y="8146800"/>
            <a:ext cx="875160" cy="3798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50" spc="-1" strike="noStrike">
                <a:solidFill>
                  <a:srgbClr val="2e2e2e"/>
                </a:solidFill>
                <a:latin typeface="Open Sans"/>
                <a:ea typeface="Open Sans"/>
              </a:rPr>
              <a:t>3 kt</a:t>
            </a:r>
            <a:endParaRPr b="0" lang="en-US" sz="1950" spc="-1" strike="noStrike">
              <a:solidFill>
                <a:srgbClr val="000000"/>
              </a:solidFill>
              <a:latin typeface="Arial"/>
            </a:endParaRPr>
          </a:p>
        </p:txBody>
      </p:sp>
      <p:sp>
        <p:nvSpPr>
          <p:cNvPr id="216" name="Text 52"/>
          <p:cNvSpPr/>
          <p:nvPr/>
        </p:nvSpPr>
        <p:spPr>
          <a:xfrm>
            <a:off x="609480" y="9563040"/>
            <a:ext cx="1877472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000" spc="18" strike="noStrike">
                <a:solidFill>
                  <a:srgbClr val="a9abae"/>
                </a:solidFill>
                <a:latin typeface="Open Sans"/>
                <a:ea typeface="Open Sans"/>
              </a:rPr>
              <a:t>Indicators: Japan Energy Database (Tohoku University, CC BY-NC). Mitsue values illustrative — confirm via Future Energy Simulator. </a:t>
            </a:r>
            <a:r>
              <a:rPr b="1" lang="zh-CN" sz="1000" spc="18" strike="noStrike">
                <a:solidFill>
                  <a:srgbClr val="a9abae"/>
                </a:solidFill>
                <a:latin typeface="Open Sans"/>
                <a:ea typeface="Open Sans"/>
              </a:rPr>
              <a:t>出典：地域エネルギー需給データベース／数値は試算</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9"/>
        </a:solidFill>
      </p:bgPr>
    </p:bg>
    <p:spTree>
      <p:nvGrpSpPr>
        <p:cNvPr id="1" name=""/>
        <p:cNvGrpSpPr/>
        <p:nvPr/>
      </p:nvGrpSpPr>
      <p:grpSpPr>
        <a:xfrm>
          <a:off x="0" y="0"/>
          <a:ext cx="0" cy="0"/>
          <a:chOff x="0" y="0"/>
          <a:chExt cx="0" cy="0"/>
        </a:xfrm>
      </p:grpSpPr>
      <p:sp>
        <p:nvSpPr>
          <p:cNvPr id="217" name="Shape 0"/>
          <p:cNvSpPr/>
          <p:nvPr/>
        </p:nvSpPr>
        <p:spPr>
          <a:xfrm>
            <a:off x="0" y="0"/>
            <a:ext cx="18286920" cy="75240"/>
          </a:xfrm>
          <a:prstGeom prst="rect">
            <a:avLst/>
          </a:prstGeom>
          <a:solidFill>
            <a:srgbClr val="9b9da0"/>
          </a:solidFill>
          <a:ln w="0">
            <a:noFill/>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ffffff"/>
              </a:solidFill>
              <a:latin typeface="Arial"/>
              <a:ea typeface="Arial"/>
            </a:endParaRPr>
          </a:p>
        </p:txBody>
      </p:sp>
      <p:sp>
        <p:nvSpPr>
          <p:cNvPr id="218" name="Shape 1"/>
          <p:cNvSpPr/>
          <p:nvPr/>
        </p:nvSpPr>
        <p:spPr>
          <a:xfrm>
            <a:off x="609480" y="895320"/>
            <a:ext cx="43704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219" name="Text 2"/>
          <p:cNvSpPr/>
          <p:nvPr/>
        </p:nvSpPr>
        <p:spPr>
          <a:xfrm>
            <a:off x="1181160" y="800280"/>
            <a:ext cx="372420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202" strike="noStrike">
                <a:solidFill>
                  <a:srgbClr val="9b9da0"/>
                </a:solidFill>
                <a:latin typeface="Open Sans"/>
                <a:ea typeface="Open Sans"/>
              </a:rPr>
              <a:t>FIVE RETURNS · </a:t>
            </a:r>
            <a:r>
              <a:rPr b="1" lang="zh-CN" sz="1300" spc="202" strike="noStrike">
                <a:solidFill>
                  <a:srgbClr val="9b9da0"/>
                </a:solidFill>
                <a:latin typeface="Open Sans"/>
                <a:ea typeface="Open Sans"/>
              </a:rPr>
              <a:t>五つのリターン </a:t>
            </a:r>
            <a:r>
              <a:rPr b="1" lang="en-US" sz="1300" spc="202" strike="noStrike">
                <a:solidFill>
                  <a:srgbClr val="9b9da0"/>
                </a:solidFill>
                <a:latin typeface="Open Sans"/>
                <a:ea typeface="Open Sans"/>
              </a:rPr>
              <a:t>· 09</a:t>
            </a:r>
            <a:endParaRPr b="0" lang="en-US" sz="1300" spc="-1" strike="noStrike">
              <a:solidFill>
                <a:srgbClr val="000000"/>
              </a:solidFill>
              <a:latin typeface="Arial"/>
            </a:endParaRPr>
          </a:p>
        </p:txBody>
      </p:sp>
      <p:sp>
        <p:nvSpPr>
          <p:cNvPr id="220" name="Text 3"/>
          <p:cNvSpPr/>
          <p:nvPr/>
        </p:nvSpPr>
        <p:spPr>
          <a:xfrm>
            <a:off x="609480" y="1247760"/>
            <a:ext cx="18774720" cy="6649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2000"/>
              </a:lnSpc>
              <a:tabLst>
                <a:tab algn="l" pos="0"/>
              </a:tabLst>
            </a:pPr>
            <a:r>
              <a:rPr b="1" lang="en-US" sz="4800" spc="-49" strike="noStrike">
                <a:solidFill>
                  <a:srgbClr val="2e2e2e"/>
                </a:solidFill>
                <a:latin typeface="Sora"/>
                <a:ea typeface="Sora"/>
              </a:rPr>
              <a:t>One investment, five returns</a:t>
            </a:r>
            <a:endParaRPr b="0" lang="en-US" sz="4800" spc="-1" strike="noStrike">
              <a:solidFill>
                <a:srgbClr val="000000"/>
              </a:solidFill>
              <a:latin typeface="Arial"/>
            </a:endParaRPr>
          </a:p>
        </p:txBody>
      </p:sp>
      <p:sp>
        <p:nvSpPr>
          <p:cNvPr id="221" name="Text 4"/>
          <p:cNvSpPr/>
          <p:nvPr/>
        </p:nvSpPr>
        <p:spPr>
          <a:xfrm>
            <a:off x="609480" y="1971000"/>
            <a:ext cx="18774720" cy="408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zh-CN" sz="1950" spc="-1" strike="noStrike">
                <a:solidFill>
                  <a:srgbClr val="6e7174"/>
                </a:solidFill>
                <a:latin typeface="Noto Sans JP"/>
                <a:ea typeface="Noto Sans JP"/>
              </a:rPr>
              <a:t>一つの投資が、五つのリターンを生む。</a:t>
            </a:r>
            <a:endParaRPr b="0" lang="en-US" sz="1950" spc="-1" strike="noStrike">
              <a:solidFill>
                <a:srgbClr val="000000"/>
              </a:solidFill>
              <a:latin typeface="Arial"/>
            </a:endParaRPr>
          </a:p>
        </p:txBody>
      </p:sp>
      <p:sp>
        <p:nvSpPr>
          <p:cNvPr id="222" name="Shape 5"/>
          <p:cNvSpPr/>
          <p:nvPr/>
        </p:nvSpPr>
        <p:spPr>
          <a:xfrm>
            <a:off x="609480" y="2766240"/>
            <a:ext cx="3249000" cy="68576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223" name="Shape 6"/>
          <p:cNvSpPr/>
          <p:nvPr/>
        </p:nvSpPr>
        <p:spPr>
          <a:xfrm>
            <a:off x="609480" y="9591840"/>
            <a:ext cx="3249000" cy="8280"/>
          </a:xfrm>
          <a:prstGeom prst="rect">
            <a:avLst/>
          </a:prstGeom>
          <a:solidFill>
            <a:srgbClr val="e6e6e2"/>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000000"/>
              </a:solidFill>
              <a:latin typeface="Arial"/>
              <a:ea typeface="Arial"/>
            </a:endParaRPr>
          </a:p>
        </p:txBody>
      </p:sp>
      <p:sp>
        <p:nvSpPr>
          <p:cNvPr id="224" name="Shape 7"/>
          <p:cNvSpPr/>
          <p:nvPr/>
        </p:nvSpPr>
        <p:spPr>
          <a:xfrm>
            <a:off x="609480" y="2742480"/>
            <a:ext cx="3249000" cy="46440"/>
          </a:xfrm>
          <a:prstGeom prst="rect">
            <a:avLst/>
          </a:prstGeom>
          <a:solidFill>
            <a:srgbClr val="3c4a2e"/>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225" name="Shape 8"/>
          <p:cNvSpPr/>
          <p:nvPr/>
        </p:nvSpPr>
        <p:spPr>
          <a:xfrm>
            <a:off x="609480" y="2742480"/>
            <a:ext cx="8280" cy="6857640"/>
          </a:xfrm>
          <a:prstGeom prst="rect">
            <a:avLst/>
          </a:prstGeom>
          <a:solidFill>
            <a:srgbClr val="e6e6e2"/>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226" name="Shape 9"/>
          <p:cNvSpPr/>
          <p:nvPr/>
        </p:nvSpPr>
        <p:spPr>
          <a:xfrm>
            <a:off x="3849840" y="2742480"/>
            <a:ext cx="8280" cy="6857640"/>
          </a:xfrm>
          <a:prstGeom prst="rect">
            <a:avLst/>
          </a:prstGeom>
          <a:solidFill>
            <a:srgbClr val="e6e6e2"/>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227" name="Text 10"/>
          <p:cNvSpPr/>
          <p:nvPr/>
        </p:nvSpPr>
        <p:spPr>
          <a:xfrm>
            <a:off x="866880" y="3094920"/>
            <a:ext cx="3008160" cy="3420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00" spc="-1" strike="noStrike">
                <a:solidFill>
                  <a:srgbClr val="2e2e2e"/>
                </a:solidFill>
                <a:latin typeface="Sora"/>
                <a:ea typeface="Sora"/>
              </a:rPr>
              <a:t>Ecological</a:t>
            </a:r>
            <a:endParaRPr b="0" lang="en-US" sz="1900" spc="-1" strike="noStrike">
              <a:solidFill>
                <a:srgbClr val="000000"/>
              </a:solidFill>
              <a:latin typeface="Arial"/>
            </a:endParaRPr>
          </a:p>
        </p:txBody>
      </p:sp>
      <p:sp>
        <p:nvSpPr>
          <p:cNvPr id="228" name="Text 11"/>
          <p:cNvSpPr/>
          <p:nvPr/>
        </p:nvSpPr>
        <p:spPr>
          <a:xfrm>
            <a:off x="866880" y="3437640"/>
            <a:ext cx="300816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zh-CN" sz="1300" spc="-1" strike="noStrike">
                <a:solidFill>
                  <a:srgbClr val="9b9da0"/>
                </a:solidFill>
                <a:latin typeface="Noto Sans JP"/>
                <a:ea typeface="Noto Sans JP"/>
              </a:rPr>
              <a:t>生態系</a:t>
            </a:r>
            <a:endParaRPr b="0" lang="en-US" sz="1300" spc="-1" strike="noStrike">
              <a:solidFill>
                <a:srgbClr val="000000"/>
              </a:solidFill>
              <a:latin typeface="Arial"/>
            </a:endParaRPr>
          </a:p>
        </p:txBody>
      </p:sp>
      <p:sp>
        <p:nvSpPr>
          <p:cNvPr id="229" name="Text 12"/>
          <p:cNvSpPr/>
          <p:nvPr/>
        </p:nvSpPr>
        <p:spPr>
          <a:xfrm>
            <a:off x="866880" y="8458200"/>
            <a:ext cx="2816640" cy="865800"/>
          </a:xfrm>
          <a:prstGeom prst="rect">
            <a:avLst/>
          </a:prstGeom>
          <a:noFill/>
          <a:ln w="0">
            <a:noFill/>
          </a:ln>
        </p:spPr>
        <p:style>
          <a:lnRef idx="0"/>
          <a:fillRef idx="0"/>
          <a:effectRef idx="0"/>
          <a:fontRef idx="minor"/>
        </p:style>
        <p:txBody>
          <a:bodyPr lIns="25560" rIns="25560" tIns="25560" bIns="25560" anchor="t">
            <a:normAutofit fontScale="98333" lnSpcReduction="20000"/>
          </a:bodyPr>
          <a:p>
            <a:pPr defTabSz="914400">
              <a:lnSpc>
                <a:spcPct val="145000"/>
              </a:lnSpc>
              <a:tabLst>
                <a:tab algn="l" pos="0"/>
              </a:tabLst>
            </a:pPr>
            <a:r>
              <a:rPr b="0" lang="en-US" sz="1500" spc="-1" strike="noStrike">
                <a:solidFill>
                  <a:srgbClr val="4a4a4a"/>
                </a:solidFill>
                <a:latin typeface="Open Sans"/>
                <a:ea typeface="Open Sans"/>
              </a:rPr>
              <a:t>Restored watershed, biodiversity, carbon drawdown.</a:t>
            </a:r>
            <a:endParaRPr b="0" lang="en-US" sz="1500" spc="-1" strike="noStrike">
              <a:solidFill>
                <a:srgbClr val="000000"/>
              </a:solidFill>
              <a:latin typeface="Arial"/>
            </a:endParaRPr>
          </a:p>
        </p:txBody>
      </p:sp>
      <p:sp>
        <p:nvSpPr>
          <p:cNvPr id="230" name="Shape 13"/>
          <p:cNvSpPr/>
          <p:nvPr/>
        </p:nvSpPr>
        <p:spPr>
          <a:xfrm>
            <a:off x="4069080" y="2742480"/>
            <a:ext cx="3249000" cy="68576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231" name="Shape 14"/>
          <p:cNvSpPr/>
          <p:nvPr/>
        </p:nvSpPr>
        <p:spPr>
          <a:xfrm>
            <a:off x="4069080" y="9591840"/>
            <a:ext cx="3249000" cy="8280"/>
          </a:xfrm>
          <a:prstGeom prst="rect">
            <a:avLst/>
          </a:prstGeom>
          <a:solidFill>
            <a:srgbClr val="e6e6e2"/>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000000"/>
              </a:solidFill>
              <a:latin typeface="Arial"/>
              <a:ea typeface="Arial"/>
            </a:endParaRPr>
          </a:p>
        </p:txBody>
      </p:sp>
      <p:sp>
        <p:nvSpPr>
          <p:cNvPr id="232" name="Shape 15"/>
          <p:cNvSpPr/>
          <p:nvPr/>
        </p:nvSpPr>
        <p:spPr>
          <a:xfrm>
            <a:off x="4069080" y="2742480"/>
            <a:ext cx="3249000" cy="46440"/>
          </a:xfrm>
          <a:prstGeom prst="rect">
            <a:avLst/>
          </a:prstGeom>
          <a:solidFill>
            <a:srgbClr val="6e7174"/>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233" name="Shape 16"/>
          <p:cNvSpPr/>
          <p:nvPr/>
        </p:nvSpPr>
        <p:spPr>
          <a:xfrm>
            <a:off x="4069080" y="2742480"/>
            <a:ext cx="8280" cy="6857640"/>
          </a:xfrm>
          <a:prstGeom prst="rect">
            <a:avLst/>
          </a:prstGeom>
          <a:solidFill>
            <a:srgbClr val="e6e6e2"/>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234" name="Shape 17"/>
          <p:cNvSpPr/>
          <p:nvPr/>
        </p:nvSpPr>
        <p:spPr>
          <a:xfrm>
            <a:off x="7309440" y="2742480"/>
            <a:ext cx="8280" cy="6857640"/>
          </a:xfrm>
          <a:prstGeom prst="rect">
            <a:avLst/>
          </a:prstGeom>
          <a:solidFill>
            <a:srgbClr val="e6e6e2"/>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235" name="Text 18"/>
          <p:cNvSpPr/>
          <p:nvPr/>
        </p:nvSpPr>
        <p:spPr>
          <a:xfrm>
            <a:off x="4326120" y="3094920"/>
            <a:ext cx="3008160" cy="3420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00" spc="-1" strike="noStrike">
                <a:solidFill>
                  <a:srgbClr val="2e2e2e"/>
                </a:solidFill>
                <a:latin typeface="Sora"/>
                <a:ea typeface="Sora"/>
              </a:rPr>
              <a:t>Energy</a:t>
            </a:r>
            <a:endParaRPr b="0" lang="en-US" sz="1900" spc="-1" strike="noStrike">
              <a:solidFill>
                <a:srgbClr val="000000"/>
              </a:solidFill>
              <a:latin typeface="Arial"/>
            </a:endParaRPr>
          </a:p>
        </p:txBody>
      </p:sp>
      <p:sp>
        <p:nvSpPr>
          <p:cNvPr id="236" name="Text 19"/>
          <p:cNvSpPr/>
          <p:nvPr/>
        </p:nvSpPr>
        <p:spPr>
          <a:xfrm>
            <a:off x="4326120" y="3437640"/>
            <a:ext cx="300816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zh-CN" sz="1300" spc="-1" strike="noStrike">
                <a:solidFill>
                  <a:srgbClr val="9b9da0"/>
                </a:solidFill>
                <a:latin typeface="Noto Sans JP"/>
                <a:ea typeface="Noto Sans JP"/>
              </a:rPr>
              <a:t>エネルギー</a:t>
            </a:r>
            <a:endParaRPr b="0" lang="en-US" sz="1300" spc="-1" strike="noStrike">
              <a:solidFill>
                <a:srgbClr val="000000"/>
              </a:solidFill>
              <a:latin typeface="Arial"/>
            </a:endParaRPr>
          </a:p>
        </p:txBody>
      </p:sp>
      <p:sp>
        <p:nvSpPr>
          <p:cNvPr id="237" name="Text 20"/>
          <p:cNvSpPr/>
          <p:nvPr/>
        </p:nvSpPr>
        <p:spPr>
          <a:xfrm>
            <a:off x="4326120" y="8734320"/>
            <a:ext cx="2816640" cy="5893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5000"/>
              </a:lnSpc>
              <a:tabLst>
                <a:tab algn="l" pos="0"/>
              </a:tabLst>
            </a:pPr>
            <a:r>
              <a:rPr b="0" lang="en-US" sz="1500" spc="-1" strike="noStrike">
                <a:solidFill>
                  <a:srgbClr val="4a4a4a"/>
                </a:solidFill>
                <a:latin typeface="Open Sans"/>
                <a:ea typeface="Open Sans"/>
              </a:rPr>
              <a:t>Self-supply and an end to exported cash.</a:t>
            </a:r>
            <a:endParaRPr b="0" lang="en-US" sz="1500" spc="-1" strike="noStrike">
              <a:solidFill>
                <a:srgbClr val="000000"/>
              </a:solidFill>
              <a:latin typeface="Arial"/>
            </a:endParaRPr>
          </a:p>
        </p:txBody>
      </p:sp>
      <p:sp>
        <p:nvSpPr>
          <p:cNvPr id="238" name="Shape 21"/>
          <p:cNvSpPr/>
          <p:nvPr/>
        </p:nvSpPr>
        <p:spPr>
          <a:xfrm>
            <a:off x="7544880" y="2742480"/>
            <a:ext cx="3249000" cy="68576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239" name="Shape 22"/>
          <p:cNvSpPr/>
          <p:nvPr/>
        </p:nvSpPr>
        <p:spPr>
          <a:xfrm>
            <a:off x="7528680" y="9591840"/>
            <a:ext cx="3249000" cy="8280"/>
          </a:xfrm>
          <a:prstGeom prst="rect">
            <a:avLst/>
          </a:prstGeom>
          <a:solidFill>
            <a:srgbClr val="e6e6e2"/>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000000"/>
              </a:solidFill>
              <a:latin typeface="Arial"/>
              <a:ea typeface="Arial"/>
            </a:endParaRPr>
          </a:p>
        </p:txBody>
      </p:sp>
      <p:sp>
        <p:nvSpPr>
          <p:cNvPr id="240" name="Shape 23"/>
          <p:cNvSpPr/>
          <p:nvPr/>
        </p:nvSpPr>
        <p:spPr>
          <a:xfrm>
            <a:off x="7528680" y="2742480"/>
            <a:ext cx="3249000" cy="46440"/>
          </a:xfrm>
          <a:prstGeom prst="rect">
            <a:avLst/>
          </a:prstGeom>
          <a:solidFill>
            <a:srgbClr val="2e2e2e"/>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241" name="Shape 24"/>
          <p:cNvSpPr/>
          <p:nvPr/>
        </p:nvSpPr>
        <p:spPr>
          <a:xfrm>
            <a:off x="7528680" y="2742480"/>
            <a:ext cx="8280" cy="6857640"/>
          </a:xfrm>
          <a:prstGeom prst="rect">
            <a:avLst/>
          </a:prstGeom>
          <a:solidFill>
            <a:srgbClr val="e6e6e2"/>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242" name="Shape 25"/>
          <p:cNvSpPr/>
          <p:nvPr/>
        </p:nvSpPr>
        <p:spPr>
          <a:xfrm>
            <a:off x="10769040" y="2742480"/>
            <a:ext cx="8280" cy="6857640"/>
          </a:xfrm>
          <a:prstGeom prst="rect">
            <a:avLst/>
          </a:prstGeom>
          <a:solidFill>
            <a:srgbClr val="e6e6e2"/>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243" name="Text 26"/>
          <p:cNvSpPr/>
          <p:nvPr/>
        </p:nvSpPr>
        <p:spPr>
          <a:xfrm>
            <a:off x="7785720" y="3094920"/>
            <a:ext cx="3008160" cy="3420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00" spc="-1" strike="noStrike">
                <a:solidFill>
                  <a:srgbClr val="2e2e2e"/>
                </a:solidFill>
                <a:latin typeface="Sora"/>
                <a:ea typeface="Sora"/>
              </a:rPr>
              <a:t>Economic</a:t>
            </a:r>
            <a:endParaRPr b="0" lang="en-US" sz="1900" spc="-1" strike="noStrike">
              <a:solidFill>
                <a:srgbClr val="000000"/>
              </a:solidFill>
              <a:latin typeface="Arial"/>
            </a:endParaRPr>
          </a:p>
        </p:txBody>
      </p:sp>
      <p:sp>
        <p:nvSpPr>
          <p:cNvPr id="244" name="Text 27"/>
          <p:cNvSpPr/>
          <p:nvPr/>
        </p:nvSpPr>
        <p:spPr>
          <a:xfrm>
            <a:off x="7785720" y="3437640"/>
            <a:ext cx="300816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zh-CN" sz="1300" spc="-1" strike="noStrike">
                <a:solidFill>
                  <a:srgbClr val="9b9da0"/>
                </a:solidFill>
                <a:latin typeface="Noto Sans JP"/>
                <a:ea typeface="Noto Sans JP"/>
              </a:rPr>
              <a:t>経済</a:t>
            </a:r>
            <a:endParaRPr b="0" lang="en-US" sz="1300" spc="-1" strike="noStrike">
              <a:solidFill>
                <a:srgbClr val="000000"/>
              </a:solidFill>
              <a:latin typeface="Arial"/>
            </a:endParaRPr>
          </a:p>
        </p:txBody>
      </p:sp>
      <p:sp>
        <p:nvSpPr>
          <p:cNvPr id="245" name="Text 28"/>
          <p:cNvSpPr/>
          <p:nvPr/>
        </p:nvSpPr>
        <p:spPr>
          <a:xfrm>
            <a:off x="7785720" y="8734320"/>
            <a:ext cx="2816640" cy="5893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5000"/>
              </a:lnSpc>
              <a:tabLst>
                <a:tab algn="l" pos="0"/>
              </a:tabLst>
            </a:pPr>
            <a:r>
              <a:rPr b="0" lang="en-US" sz="1500" spc="-1" strike="noStrike">
                <a:solidFill>
                  <a:srgbClr val="4a4a4a"/>
                </a:solidFill>
                <a:latin typeface="Open Sans"/>
                <a:ea typeface="Open Sans"/>
              </a:rPr>
              <a:t>Jobs in forestry, operations and hosting.</a:t>
            </a:r>
            <a:endParaRPr b="0" lang="en-US" sz="1500" spc="-1" strike="noStrike">
              <a:solidFill>
                <a:srgbClr val="000000"/>
              </a:solidFill>
              <a:latin typeface="Arial"/>
            </a:endParaRPr>
          </a:p>
        </p:txBody>
      </p:sp>
      <p:sp>
        <p:nvSpPr>
          <p:cNvPr id="246" name="Shape 29"/>
          <p:cNvSpPr/>
          <p:nvPr/>
        </p:nvSpPr>
        <p:spPr>
          <a:xfrm>
            <a:off x="11004480" y="2742480"/>
            <a:ext cx="3249000" cy="685764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247" name="Shape 30"/>
          <p:cNvSpPr/>
          <p:nvPr/>
        </p:nvSpPr>
        <p:spPr>
          <a:xfrm>
            <a:off x="10987920" y="9591840"/>
            <a:ext cx="3249000" cy="8280"/>
          </a:xfrm>
          <a:prstGeom prst="rect">
            <a:avLst/>
          </a:prstGeom>
          <a:solidFill>
            <a:srgbClr val="e6e6e2"/>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000000"/>
              </a:solidFill>
              <a:latin typeface="Arial"/>
              <a:ea typeface="Arial"/>
            </a:endParaRPr>
          </a:p>
        </p:txBody>
      </p:sp>
      <p:sp>
        <p:nvSpPr>
          <p:cNvPr id="248" name="Shape 31"/>
          <p:cNvSpPr/>
          <p:nvPr/>
        </p:nvSpPr>
        <p:spPr>
          <a:xfrm>
            <a:off x="10987920" y="2742480"/>
            <a:ext cx="3249000" cy="46440"/>
          </a:xfrm>
          <a:prstGeom prst="rect">
            <a:avLst/>
          </a:prstGeom>
          <a:solidFill>
            <a:srgbClr val="6e7174"/>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249" name="Shape 32"/>
          <p:cNvSpPr/>
          <p:nvPr/>
        </p:nvSpPr>
        <p:spPr>
          <a:xfrm>
            <a:off x="10987920" y="2742480"/>
            <a:ext cx="8280" cy="6857640"/>
          </a:xfrm>
          <a:prstGeom prst="rect">
            <a:avLst/>
          </a:prstGeom>
          <a:solidFill>
            <a:srgbClr val="e6e6e2"/>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250" name="Shape 33"/>
          <p:cNvSpPr/>
          <p:nvPr/>
        </p:nvSpPr>
        <p:spPr>
          <a:xfrm>
            <a:off x="14228280" y="2742480"/>
            <a:ext cx="8280" cy="6857640"/>
          </a:xfrm>
          <a:prstGeom prst="rect">
            <a:avLst/>
          </a:prstGeom>
          <a:solidFill>
            <a:srgbClr val="e6e6e2"/>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251" name="Text 34"/>
          <p:cNvSpPr/>
          <p:nvPr/>
        </p:nvSpPr>
        <p:spPr>
          <a:xfrm>
            <a:off x="11245320" y="3094920"/>
            <a:ext cx="3008160" cy="3420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00" spc="-1" strike="noStrike">
                <a:solidFill>
                  <a:srgbClr val="2e2e2e"/>
                </a:solidFill>
                <a:latin typeface="Sora"/>
                <a:ea typeface="Sora"/>
              </a:rPr>
              <a:t>Digital</a:t>
            </a:r>
            <a:endParaRPr b="0" lang="en-US" sz="1900" spc="-1" strike="noStrike">
              <a:solidFill>
                <a:srgbClr val="000000"/>
              </a:solidFill>
              <a:latin typeface="Arial"/>
            </a:endParaRPr>
          </a:p>
        </p:txBody>
      </p:sp>
      <p:sp>
        <p:nvSpPr>
          <p:cNvPr id="252" name="Text 35"/>
          <p:cNvSpPr/>
          <p:nvPr/>
        </p:nvSpPr>
        <p:spPr>
          <a:xfrm>
            <a:off x="11245320" y="3437640"/>
            <a:ext cx="300816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zh-CN" sz="1300" spc="-1" strike="noStrike">
                <a:solidFill>
                  <a:srgbClr val="9b9da0"/>
                </a:solidFill>
                <a:latin typeface="Noto Sans JP"/>
                <a:ea typeface="Noto Sans JP"/>
              </a:rPr>
              <a:t>デジタル</a:t>
            </a:r>
            <a:endParaRPr b="0" lang="en-US" sz="1300" spc="-1" strike="noStrike">
              <a:solidFill>
                <a:srgbClr val="000000"/>
              </a:solidFill>
              <a:latin typeface="Arial"/>
            </a:endParaRPr>
          </a:p>
        </p:txBody>
      </p:sp>
      <p:sp>
        <p:nvSpPr>
          <p:cNvPr id="253" name="Text 36"/>
          <p:cNvSpPr/>
          <p:nvPr/>
        </p:nvSpPr>
        <p:spPr>
          <a:xfrm>
            <a:off x="11245320" y="8734320"/>
            <a:ext cx="2816640" cy="5893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5000"/>
              </a:lnSpc>
              <a:tabLst>
                <a:tab algn="l" pos="0"/>
              </a:tabLst>
            </a:pPr>
            <a:r>
              <a:rPr b="0" lang="en-US" sz="1500" spc="-1" strike="noStrike">
                <a:solidFill>
                  <a:srgbClr val="4a4a4a"/>
                </a:solidFill>
                <a:latin typeface="Open Sans"/>
                <a:ea typeface="Open Sans"/>
              </a:rPr>
              <a:t>Edge compute &amp; connectivity for rural Japan.</a:t>
            </a:r>
            <a:endParaRPr b="0" lang="en-US" sz="1500" spc="-1" strike="noStrike">
              <a:solidFill>
                <a:srgbClr val="000000"/>
              </a:solidFill>
              <a:latin typeface="Arial"/>
            </a:endParaRPr>
          </a:p>
        </p:txBody>
      </p:sp>
      <p:sp>
        <p:nvSpPr>
          <p:cNvPr id="254" name="Shape 37"/>
          <p:cNvSpPr/>
          <p:nvPr/>
        </p:nvSpPr>
        <p:spPr>
          <a:xfrm>
            <a:off x="14447520" y="2732760"/>
            <a:ext cx="3229920" cy="6857640"/>
          </a:xfrm>
          <a:prstGeom prst="rect">
            <a:avLst/>
          </a:prstGeom>
          <a:solidFill>
            <a:srgbClr val="2e2e2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255" name="Shape 38"/>
          <p:cNvSpPr/>
          <p:nvPr/>
        </p:nvSpPr>
        <p:spPr>
          <a:xfrm>
            <a:off x="14447520" y="2742480"/>
            <a:ext cx="322992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256" name="Text 39"/>
          <p:cNvSpPr/>
          <p:nvPr/>
        </p:nvSpPr>
        <p:spPr>
          <a:xfrm>
            <a:off x="14695200" y="3094920"/>
            <a:ext cx="3008160" cy="3420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900" spc="-1" strike="noStrike">
                <a:solidFill>
                  <a:srgbClr val="f4b872"/>
                </a:solidFill>
                <a:latin typeface="Sora"/>
                <a:ea typeface="Sora"/>
              </a:rPr>
              <a:t>Knowledge</a:t>
            </a:r>
            <a:endParaRPr b="0" lang="en-US" sz="1900" spc="-1" strike="noStrike">
              <a:solidFill>
                <a:srgbClr val="000000"/>
              </a:solidFill>
              <a:latin typeface="Arial"/>
            </a:endParaRPr>
          </a:p>
        </p:txBody>
      </p:sp>
      <p:sp>
        <p:nvSpPr>
          <p:cNvPr id="257" name="Text 40"/>
          <p:cNvSpPr/>
          <p:nvPr/>
        </p:nvSpPr>
        <p:spPr>
          <a:xfrm>
            <a:off x="14695200" y="3437640"/>
            <a:ext cx="300816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zh-CN" sz="1300" spc="-1" strike="noStrike">
                <a:solidFill>
                  <a:srgbClr val="e58520"/>
                </a:solidFill>
                <a:latin typeface="Noto Sans JP"/>
                <a:ea typeface="Noto Sans JP"/>
              </a:rPr>
              <a:t>知識（公開）</a:t>
            </a:r>
            <a:endParaRPr b="0" lang="en-US" sz="1300" spc="-1" strike="noStrike">
              <a:solidFill>
                <a:srgbClr val="000000"/>
              </a:solidFill>
              <a:latin typeface="Arial"/>
            </a:endParaRPr>
          </a:p>
        </p:txBody>
      </p:sp>
      <p:sp>
        <p:nvSpPr>
          <p:cNvPr id="258" name="Text 41"/>
          <p:cNvSpPr/>
          <p:nvPr/>
        </p:nvSpPr>
        <p:spPr>
          <a:xfrm>
            <a:off x="14695200" y="8744040"/>
            <a:ext cx="2816640" cy="5893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45000"/>
              </a:lnSpc>
              <a:tabLst>
                <a:tab algn="l" pos="0"/>
              </a:tabLst>
            </a:pPr>
            <a:r>
              <a:rPr b="0" lang="en-US" sz="1500" spc="-1" strike="noStrike">
                <a:solidFill>
                  <a:srgbClr val="e3e4e2"/>
                </a:solidFill>
                <a:latin typeface="Open Sans"/>
                <a:ea typeface="Open Sans"/>
              </a:rPr>
              <a:t>Open-licensed — the multiplier other villages copy.</a:t>
            </a:r>
            <a:endParaRPr b="0" lang="en-US" sz="1500" spc="-1" strike="noStrike">
              <a:solidFill>
                <a:srgbClr val="000000"/>
              </a:solidFill>
              <a:latin typeface="Arial"/>
            </a:endParaRPr>
          </a:p>
        </p:txBody>
      </p:sp>
      <p:pic>
        <p:nvPicPr>
          <p:cNvPr id="259" name="" descr=""/>
          <p:cNvPicPr/>
          <p:nvPr/>
        </p:nvPicPr>
        <p:blipFill>
          <a:blip r:embed="rId1"/>
          <a:srcRect l="0" t="0" r="38482" b="0"/>
          <a:stretch/>
        </p:blipFill>
        <p:spPr>
          <a:xfrm>
            <a:off x="4326120" y="3881160"/>
            <a:ext cx="2641320" cy="3106800"/>
          </a:xfrm>
          <a:prstGeom prst="rect">
            <a:avLst/>
          </a:prstGeom>
          <a:ln w="0">
            <a:noFill/>
          </a:ln>
        </p:spPr>
      </p:pic>
      <p:pic>
        <p:nvPicPr>
          <p:cNvPr id="260" name="" descr=""/>
          <p:cNvPicPr/>
          <p:nvPr/>
        </p:nvPicPr>
        <p:blipFill>
          <a:blip r:embed="rId2"/>
          <a:srcRect l="37531" t="0" r="-13704" b="0"/>
          <a:stretch/>
        </p:blipFill>
        <p:spPr>
          <a:xfrm>
            <a:off x="866880" y="3881160"/>
            <a:ext cx="3458880" cy="3106800"/>
          </a:xfrm>
          <a:prstGeom prst="rect">
            <a:avLst/>
          </a:prstGeom>
          <a:ln w="0">
            <a:noFill/>
          </a:ln>
        </p:spPr>
      </p:pic>
      <p:pic>
        <p:nvPicPr>
          <p:cNvPr id="261" name="" descr=""/>
          <p:cNvPicPr/>
          <p:nvPr/>
        </p:nvPicPr>
        <p:blipFill>
          <a:blip r:embed="rId3"/>
          <a:srcRect l="24642" t="0" r="18727" b="0"/>
          <a:stretch/>
        </p:blipFill>
        <p:spPr>
          <a:xfrm>
            <a:off x="7715160" y="3881160"/>
            <a:ext cx="2856240" cy="3106800"/>
          </a:xfrm>
          <a:prstGeom prst="rect">
            <a:avLst/>
          </a:prstGeom>
          <a:ln w="0">
            <a:noFill/>
          </a:ln>
        </p:spPr>
      </p:pic>
      <p:pic>
        <p:nvPicPr>
          <p:cNvPr id="262" name="" descr=""/>
          <p:cNvPicPr/>
          <p:nvPr/>
        </p:nvPicPr>
        <p:blipFill>
          <a:blip r:embed="rId4"/>
          <a:stretch/>
        </p:blipFill>
        <p:spPr>
          <a:xfrm>
            <a:off x="11185200" y="3859920"/>
            <a:ext cx="2876760" cy="3128040"/>
          </a:xfrm>
          <a:prstGeom prst="rect">
            <a:avLst/>
          </a:prstGeom>
          <a:ln w="0">
            <a:noFill/>
          </a:ln>
        </p:spPr>
      </p:pic>
      <p:pic>
        <p:nvPicPr>
          <p:cNvPr id="263" name="" descr=""/>
          <p:cNvPicPr/>
          <p:nvPr/>
        </p:nvPicPr>
        <p:blipFill>
          <a:blip r:embed="rId5"/>
          <a:stretch/>
        </p:blipFill>
        <p:spPr>
          <a:xfrm>
            <a:off x="14513040" y="3859920"/>
            <a:ext cx="3076920" cy="312804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4" name="Shape 0"/>
          <p:cNvSpPr/>
          <p:nvPr/>
        </p:nvSpPr>
        <p:spPr>
          <a:xfrm>
            <a:off x="0" y="0"/>
            <a:ext cx="18286920" cy="75240"/>
          </a:xfrm>
          <a:prstGeom prst="rect">
            <a:avLst/>
          </a:prstGeom>
          <a:solidFill>
            <a:srgbClr val="9b9da0"/>
          </a:solidFill>
          <a:ln w="0">
            <a:noFill/>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ffffff"/>
              </a:solidFill>
              <a:latin typeface="Arial"/>
              <a:ea typeface="Arial"/>
            </a:endParaRPr>
          </a:p>
        </p:txBody>
      </p:sp>
      <p:sp>
        <p:nvSpPr>
          <p:cNvPr id="265" name="Shape 1"/>
          <p:cNvSpPr/>
          <p:nvPr/>
        </p:nvSpPr>
        <p:spPr>
          <a:xfrm>
            <a:off x="609480" y="895320"/>
            <a:ext cx="43704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266" name="Text 2"/>
          <p:cNvSpPr/>
          <p:nvPr/>
        </p:nvSpPr>
        <p:spPr>
          <a:xfrm>
            <a:off x="1181160" y="800280"/>
            <a:ext cx="395280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202" strike="noStrike">
                <a:solidFill>
                  <a:srgbClr val="9b9da0"/>
                </a:solidFill>
                <a:latin typeface="Open Sans"/>
                <a:ea typeface="Open Sans"/>
              </a:rPr>
              <a:t>PHASED EXECUTION · </a:t>
            </a:r>
            <a:r>
              <a:rPr b="1" lang="zh-CN" sz="1300" spc="202" strike="noStrike">
                <a:solidFill>
                  <a:srgbClr val="9b9da0"/>
                </a:solidFill>
                <a:latin typeface="Open Sans"/>
                <a:ea typeface="Open Sans"/>
              </a:rPr>
              <a:t>段階的実行 </a:t>
            </a:r>
            <a:r>
              <a:rPr b="1" lang="en-US" sz="1300" spc="202" strike="noStrike">
                <a:solidFill>
                  <a:srgbClr val="9b9da0"/>
                </a:solidFill>
                <a:latin typeface="Open Sans"/>
                <a:ea typeface="Open Sans"/>
              </a:rPr>
              <a:t>· 10</a:t>
            </a:r>
            <a:endParaRPr b="0" lang="en-US" sz="1300" spc="-1" strike="noStrike">
              <a:solidFill>
                <a:srgbClr val="000000"/>
              </a:solidFill>
              <a:latin typeface="Arial"/>
            </a:endParaRPr>
          </a:p>
        </p:txBody>
      </p:sp>
      <p:sp>
        <p:nvSpPr>
          <p:cNvPr id="267" name="Text 3"/>
          <p:cNvSpPr/>
          <p:nvPr/>
        </p:nvSpPr>
        <p:spPr>
          <a:xfrm>
            <a:off x="609480" y="1228680"/>
            <a:ext cx="18774720" cy="625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3000"/>
              </a:lnSpc>
              <a:tabLst>
                <a:tab algn="l" pos="0"/>
              </a:tabLst>
            </a:pPr>
            <a:r>
              <a:rPr b="1" lang="en-US" sz="4500" spc="-46" strike="noStrike">
                <a:solidFill>
                  <a:srgbClr val="2e2e2e"/>
                </a:solidFill>
                <a:latin typeface="Sora"/>
                <a:ea typeface="Sora"/>
              </a:rPr>
              <a:t>Five phases, gated by funding</a:t>
            </a:r>
            <a:endParaRPr b="0" lang="en-US" sz="4500" spc="-1" strike="noStrike">
              <a:solidFill>
                <a:srgbClr val="000000"/>
              </a:solidFill>
              <a:latin typeface="Arial"/>
            </a:endParaRPr>
          </a:p>
        </p:txBody>
      </p:sp>
      <p:sp>
        <p:nvSpPr>
          <p:cNvPr id="268" name="Text 4"/>
          <p:cNvSpPr/>
          <p:nvPr/>
        </p:nvSpPr>
        <p:spPr>
          <a:xfrm>
            <a:off x="609480" y="1893600"/>
            <a:ext cx="18774720" cy="389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zh-CN" sz="1900" spc="-1" strike="noStrike">
                <a:solidFill>
                  <a:srgbClr val="6e7174"/>
                </a:solidFill>
                <a:latin typeface="Noto Sans JP"/>
                <a:ea typeface="Noto Sans JP"/>
              </a:rPr>
              <a:t>資金ゲートで区切られた五段階 — 早すぎる拡大はしない。</a:t>
            </a:r>
            <a:endParaRPr b="0" lang="en-US" sz="1900" spc="-1" strike="noStrike">
              <a:solidFill>
                <a:srgbClr val="000000"/>
              </a:solidFill>
              <a:latin typeface="Arial"/>
            </a:endParaRPr>
          </a:p>
        </p:txBody>
      </p:sp>
      <p:sp>
        <p:nvSpPr>
          <p:cNvPr id="269" name="Shape 5"/>
          <p:cNvSpPr/>
          <p:nvPr/>
        </p:nvSpPr>
        <p:spPr>
          <a:xfrm>
            <a:off x="609480" y="4680720"/>
            <a:ext cx="2818440" cy="2163600"/>
          </a:xfrm>
          <a:prstGeom prst="rect">
            <a:avLst/>
          </a:prstGeom>
          <a:solidFill>
            <a:srgbClr val="e5852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270" name="Text 6"/>
          <p:cNvSpPr/>
          <p:nvPr/>
        </p:nvSpPr>
        <p:spPr>
          <a:xfrm>
            <a:off x="819000" y="4928400"/>
            <a:ext cx="2639160" cy="2847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ffffff"/>
                </a:solidFill>
                <a:latin typeface="Sora"/>
                <a:ea typeface="Sora"/>
              </a:rPr>
              <a:t>Phase 0</a:t>
            </a:r>
            <a:endParaRPr b="0" lang="en-US" sz="1600" spc="-1" strike="noStrike">
              <a:solidFill>
                <a:srgbClr val="000000"/>
              </a:solidFill>
              <a:latin typeface="Arial"/>
            </a:endParaRPr>
          </a:p>
        </p:txBody>
      </p:sp>
      <p:sp>
        <p:nvSpPr>
          <p:cNvPr id="271" name="Text 7"/>
          <p:cNvSpPr/>
          <p:nvPr/>
        </p:nvSpPr>
        <p:spPr>
          <a:xfrm>
            <a:off x="819000" y="5195160"/>
            <a:ext cx="2639160" cy="246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200" spc="-1" strike="noStrike">
                <a:solidFill>
                  <a:srgbClr val="fce6cc"/>
                </a:solidFill>
                <a:latin typeface="Open Sans"/>
                <a:ea typeface="Open Sans"/>
              </a:rPr>
              <a:t>Pre-foundation</a:t>
            </a:r>
            <a:endParaRPr b="0" lang="en-US" sz="1200" spc="-1" strike="noStrike">
              <a:solidFill>
                <a:srgbClr val="000000"/>
              </a:solidFill>
              <a:latin typeface="Arial"/>
            </a:endParaRPr>
          </a:p>
        </p:txBody>
      </p:sp>
      <p:sp>
        <p:nvSpPr>
          <p:cNvPr id="272" name="Text 8"/>
          <p:cNvSpPr/>
          <p:nvPr/>
        </p:nvSpPr>
        <p:spPr>
          <a:xfrm>
            <a:off x="819000" y="5537880"/>
            <a:ext cx="263916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150" spc="-1" strike="noStrike">
                <a:solidFill>
                  <a:srgbClr val="fbe6cc"/>
                </a:solidFill>
                <a:latin typeface="Open Sans"/>
                <a:ea typeface="Open Sans"/>
              </a:rPr>
              <a:t>Months 1–3</a:t>
            </a:r>
            <a:endParaRPr b="0" lang="en-US" sz="1150" spc="-1" strike="noStrike">
              <a:solidFill>
                <a:srgbClr val="000000"/>
              </a:solidFill>
              <a:latin typeface="Arial"/>
            </a:endParaRPr>
          </a:p>
        </p:txBody>
      </p:sp>
      <p:sp>
        <p:nvSpPr>
          <p:cNvPr id="273" name="Text 9"/>
          <p:cNvSpPr/>
          <p:nvPr/>
        </p:nvSpPr>
        <p:spPr>
          <a:xfrm>
            <a:off x="819000" y="5785560"/>
            <a:ext cx="263916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50" spc="-1" strike="noStrike">
                <a:solidFill>
                  <a:srgbClr val="ffffff"/>
                </a:solidFill>
                <a:latin typeface="Open Sans"/>
                <a:ea typeface="Open Sans"/>
              </a:rPr>
              <a:t>¥0–0.5M</a:t>
            </a:r>
            <a:endParaRPr b="0" lang="en-US" sz="1350" spc="-1" strike="noStrike">
              <a:solidFill>
                <a:srgbClr val="000000"/>
              </a:solidFill>
              <a:latin typeface="Arial"/>
            </a:endParaRPr>
          </a:p>
        </p:txBody>
      </p:sp>
      <p:sp>
        <p:nvSpPr>
          <p:cNvPr id="274" name="Text 10"/>
          <p:cNvSpPr/>
          <p:nvPr/>
        </p:nvSpPr>
        <p:spPr>
          <a:xfrm>
            <a:off x="819000" y="6138000"/>
            <a:ext cx="2639160" cy="23004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35000"/>
              </a:lnSpc>
              <a:tabLst>
                <a:tab algn="l" pos="0"/>
              </a:tabLst>
            </a:pPr>
            <a:r>
              <a:rPr b="0" lang="en-US" sz="1150" spc="-1" strike="noStrike">
                <a:solidFill>
                  <a:srgbClr val="fbe6cc"/>
                </a:solidFill>
                <a:latin typeface="Open Sans"/>
                <a:ea typeface="Open Sans"/>
              </a:rPr>
              <a:t>Trust, founding team, charter</a:t>
            </a:r>
            <a:endParaRPr b="0" lang="en-US" sz="1150" spc="-1" strike="noStrike">
              <a:solidFill>
                <a:srgbClr val="000000"/>
              </a:solidFill>
              <a:latin typeface="Arial"/>
            </a:endParaRPr>
          </a:p>
        </p:txBody>
      </p:sp>
      <p:sp>
        <p:nvSpPr>
          <p:cNvPr id="275" name="Shape 11"/>
          <p:cNvSpPr/>
          <p:nvPr/>
        </p:nvSpPr>
        <p:spPr>
          <a:xfrm>
            <a:off x="819000" y="6330960"/>
            <a:ext cx="1331640" cy="265680"/>
          </a:xfrm>
          <a:prstGeom prst="rect">
            <a:avLst/>
          </a:prstGeom>
          <a:solidFill>
            <a:srgbClr val="ffffff">
              <a:alpha val="18000"/>
            </a:srgbClr>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276" name="Text 12"/>
          <p:cNvSpPr/>
          <p:nvPr/>
        </p:nvSpPr>
        <p:spPr>
          <a:xfrm>
            <a:off x="895320" y="6378480"/>
            <a:ext cx="1255680" cy="20844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00000"/>
              </a:lnSpc>
              <a:tabLst>
                <a:tab algn="l" pos="0"/>
              </a:tabLst>
            </a:pPr>
            <a:r>
              <a:rPr b="1" lang="en-US" sz="1000" spc="97" strike="noStrike">
                <a:solidFill>
                  <a:srgbClr val="ffffff"/>
                </a:solidFill>
                <a:latin typeface="Open Sans"/>
                <a:ea typeface="Open Sans"/>
              </a:rPr>
              <a:t>◀ </a:t>
            </a:r>
            <a:r>
              <a:rPr b="1" lang="en-US" sz="1000" spc="97" strike="noStrike">
                <a:solidFill>
                  <a:srgbClr val="ffffff"/>
                </a:solidFill>
                <a:latin typeface="Open Sans"/>
                <a:ea typeface="Open Sans"/>
              </a:rPr>
              <a:t>YOU ARE HERE</a:t>
            </a:r>
            <a:endParaRPr b="0" lang="en-US" sz="1000" spc="-1" strike="noStrike">
              <a:solidFill>
                <a:srgbClr val="000000"/>
              </a:solidFill>
              <a:latin typeface="Arial"/>
            </a:endParaRPr>
          </a:p>
        </p:txBody>
      </p:sp>
      <p:sp>
        <p:nvSpPr>
          <p:cNvPr id="277" name="Shape 13"/>
          <p:cNvSpPr/>
          <p:nvPr/>
        </p:nvSpPr>
        <p:spPr>
          <a:xfrm>
            <a:off x="3429000" y="4680720"/>
            <a:ext cx="741960" cy="2163600"/>
          </a:xfrm>
          <a:prstGeom prst="rect">
            <a:avLst/>
          </a:prstGeom>
          <a:solidFill>
            <a:srgbClr val="f6f6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278" name="Shape 14"/>
          <p:cNvSpPr/>
          <p:nvPr/>
        </p:nvSpPr>
        <p:spPr>
          <a:xfrm>
            <a:off x="3429000" y="4680720"/>
            <a:ext cx="8280" cy="2163600"/>
          </a:xfrm>
          <a:prstGeom prst="rect">
            <a:avLst/>
          </a:prstGeom>
          <a:solidFill>
            <a:srgbClr val="c9cbcd"/>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279" name="Shape 15"/>
          <p:cNvSpPr/>
          <p:nvPr/>
        </p:nvSpPr>
        <p:spPr>
          <a:xfrm>
            <a:off x="4162320" y="4680720"/>
            <a:ext cx="8280" cy="2163600"/>
          </a:xfrm>
          <a:prstGeom prst="rect">
            <a:avLst/>
          </a:prstGeom>
          <a:solidFill>
            <a:srgbClr val="c9cbcd"/>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280" name="Text 16"/>
          <p:cNvSpPr/>
          <p:nvPr/>
        </p:nvSpPr>
        <p:spPr>
          <a:xfrm>
            <a:off x="3698280" y="5411880"/>
            <a:ext cx="279360" cy="2368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1" strike="noStrike">
                <a:solidFill>
                  <a:srgbClr val="2e2e2e"/>
                </a:solidFill>
                <a:latin typeface="Sora"/>
                <a:ea typeface="Sora"/>
              </a:rPr>
              <a:t>G1</a:t>
            </a:r>
            <a:endParaRPr b="0" lang="en-US" sz="1300" spc="-1" strike="noStrike">
              <a:solidFill>
                <a:srgbClr val="000000"/>
              </a:solidFill>
              <a:latin typeface="Arial"/>
            </a:endParaRPr>
          </a:p>
        </p:txBody>
      </p:sp>
      <p:sp>
        <p:nvSpPr>
          <p:cNvPr id="281" name="Text 17"/>
          <p:cNvSpPr/>
          <p:nvPr/>
        </p:nvSpPr>
        <p:spPr>
          <a:xfrm>
            <a:off x="3709800" y="5668920"/>
            <a:ext cx="256320" cy="482400"/>
          </a:xfrm>
          <a:prstGeom prst="rect">
            <a:avLst/>
          </a:prstGeom>
          <a:noFill/>
          <a:ln w="0">
            <a:noFill/>
          </a:ln>
        </p:spPr>
        <p:style>
          <a:lnRef idx="0"/>
          <a:fillRef idx="0"/>
          <a:effectRef idx="0"/>
          <a:fontRef idx="minor"/>
        </p:style>
        <p:txBody>
          <a:bodyPr lIns="25560" rIns="25560" tIns="25560" bIns="25560" anchor="t" vert="eaVert">
            <a:normAutofit fontScale="96666"/>
          </a:bodyPr>
          <a:p>
            <a:pPr defTabSz="914400">
              <a:lnSpc>
                <a:spcPct val="100000"/>
              </a:lnSpc>
              <a:tabLst>
                <a:tab algn="l" pos="0"/>
              </a:tabLst>
            </a:pPr>
            <a:r>
              <a:rPr b="0" lang="en-US" sz="1050" spc="49" strike="noStrike">
                <a:solidFill>
                  <a:srgbClr val="6e7174"/>
                </a:solidFill>
                <a:latin typeface="Open Sans"/>
                <a:ea typeface="Open Sans"/>
              </a:rPr>
              <a:t>¥3–8M</a:t>
            </a:r>
            <a:endParaRPr b="0" lang="en-US" sz="1050" spc="-1" strike="noStrike">
              <a:solidFill>
                <a:srgbClr val="000000"/>
              </a:solidFill>
              <a:latin typeface="Arial"/>
            </a:endParaRPr>
          </a:p>
        </p:txBody>
      </p:sp>
      <p:sp>
        <p:nvSpPr>
          <p:cNvPr id="282" name="Shape 18"/>
          <p:cNvSpPr/>
          <p:nvPr/>
        </p:nvSpPr>
        <p:spPr>
          <a:xfrm>
            <a:off x="4172040" y="4680720"/>
            <a:ext cx="2818440" cy="2163600"/>
          </a:xfrm>
          <a:prstGeom prst="rect">
            <a:avLst/>
          </a:prstGeom>
          <a:solidFill>
            <a:srgbClr val="f6f6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283" name="Text 19"/>
          <p:cNvSpPr/>
          <p:nvPr/>
        </p:nvSpPr>
        <p:spPr>
          <a:xfrm>
            <a:off x="4381560" y="4928400"/>
            <a:ext cx="2639160" cy="2847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2e2e2e"/>
                </a:solidFill>
                <a:latin typeface="Sora"/>
                <a:ea typeface="Sora"/>
              </a:rPr>
              <a:t>Phase 1</a:t>
            </a:r>
            <a:endParaRPr b="0" lang="en-US" sz="1600" spc="-1" strike="noStrike">
              <a:solidFill>
                <a:srgbClr val="000000"/>
              </a:solidFill>
              <a:latin typeface="Arial"/>
            </a:endParaRPr>
          </a:p>
        </p:txBody>
      </p:sp>
      <p:sp>
        <p:nvSpPr>
          <p:cNvPr id="284" name="Text 20"/>
          <p:cNvSpPr/>
          <p:nvPr/>
        </p:nvSpPr>
        <p:spPr>
          <a:xfrm>
            <a:off x="4381560" y="5195160"/>
            <a:ext cx="2639160" cy="246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200" spc="-1" strike="noStrike">
                <a:solidFill>
                  <a:srgbClr val="9b9da0"/>
                </a:solidFill>
                <a:latin typeface="Open Sans"/>
                <a:ea typeface="Open Sans"/>
              </a:rPr>
              <a:t>Foundation</a:t>
            </a:r>
            <a:endParaRPr b="0" lang="en-US" sz="1200" spc="-1" strike="noStrike">
              <a:solidFill>
                <a:srgbClr val="000000"/>
              </a:solidFill>
              <a:latin typeface="Arial"/>
            </a:endParaRPr>
          </a:p>
        </p:txBody>
      </p:sp>
      <p:sp>
        <p:nvSpPr>
          <p:cNvPr id="285" name="Text 21"/>
          <p:cNvSpPr/>
          <p:nvPr/>
        </p:nvSpPr>
        <p:spPr>
          <a:xfrm>
            <a:off x="4381560" y="5537880"/>
            <a:ext cx="263916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150" spc="-1" strike="noStrike">
                <a:solidFill>
                  <a:srgbClr val="9b9da0"/>
                </a:solidFill>
                <a:latin typeface="Open Sans"/>
                <a:ea typeface="Open Sans"/>
              </a:rPr>
              <a:t>Months 4–9</a:t>
            </a:r>
            <a:endParaRPr b="0" lang="en-US" sz="1150" spc="-1" strike="noStrike">
              <a:solidFill>
                <a:srgbClr val="000000"/>
              </a:solidFill>
              <a:latin typeface="Arial"/>
            </a:endParaRPr>
          </a:p>
        </p:txBody>
      </p:sp>
      <p:sp>
        <p:nvSpPr>
          <p:cNvPr id="286" name="Text 22"/>
          <p:cNvSpPr/>
          <p:nvPr/>
        </p:nvSpPr>
        <p:spPr>
          <a:xfrm>
            <a:off x="4381560" y="5785560"/>
            <a:ext cx="263916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50" spc="-1" strike="noStrike">
                <a:solidFill>
                  <a:srgbClr val="2e2e2e"/>
                </a:solidFill>
                <a:latin typeface="Open Sans"/>
                <a:ea typeface="Open Sans"/>
              </a:rPr>
              <a:t>¥3–8M</a:t>
            </a:r>
            <a:endParaRPr b="0" lang="en-US" sz="1350" spc="-1" strike="noStrike">
              <a:solidFill>
                <a:srgbClr val="000000"/>
              </a:solidFill>
              <a:latin typeface="Arial"/>
            </a:endParaRPr>
          </a:p>
        </p:txBody>
      </p:sp>
      <p:sp>
        <p:nvSpPr>
          <p:cNvPr id="287" name="Text 23"/>
          <p:cNvSpPr/>
          <p:nvPr/>
        </p:nvSpPr>
        <p:spPr>
          <a:xfrm>
            <a:off x="4381560" y="6138000"/>
            <a:ext cx="2639160" cy="23004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35000"/>
              </a:lnSpc>
              <a:tabLst>
                <a:tab algn="l" pos="0"/>
              </a:tabLst>
            </a:pPr>
            <a:r>
              <a:rPr b="0" lang="en-US" sz="1150" spc="-1" strike="noStrike">
                <a:solidFill>
                  <a:srgbClr val="6e7174"/>
                </a:solidFill>
                <a:latin typeface="Open Sans"/>
                <a:ea typeface="Open Sans"/>
              </a:rPr>
              <a:t>Legal entity, feasibility, advisors</a:t>
            </a:r>
            <a:endParaRPr b="0" lang="en-US" sz="1150" spc="-1" strike="noStrike">
              <a:solidFill>
                <a:srgbClr val="000000"/>
              </a:solidFill>
              <a:latin typeface="Arial"/>
            </a:endParaRPr>
          </a:p>
        </p:txBody>
      </p:sp>
      <p:sp>
        <p:nvSpPr>
          <p:cNvPr id="288" name="Shape 24"/>
          <p:cNvSpPr/>
          <p:nvPr/>
        </p:nvSpPr>
        <p:spPr>
          <a:xfrm>
            <a:off x="6991200" y="4680720"/>
            <a:ext cx="741960" cy="2163600"/>
          </a:xfrm>
          <a:prstGeom prst="rect">
            <a:avLst/>
          </a:prstGeom>
          <a:solidFill>
            <a:srgbClr val="f6f6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289" name="Shape 25"/>
          <p:cNvSpPr/>
          <p:nvPr/>
        </p:nvSpPr>
        <p:spPr>
          <a:xfrm>
            <a:off x="6991200" y="4680720"/>
            <a:ext cx="8280" cy="2163600"/>
          </a:xfrm>
          <a:prstGeom prst="rect">
            <a:avLst/>
          </a:prstGeom>
          <a:solidFill>
            <a:srgbClr val="c9cbcd"/>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290" name="Shape 26"/>
          <p:cNvSpPr/>
          <p:nvPr/>
        </p:nvSpPr>
        <p:spPr>
          <a:xfrm>
            <a:off x="7724880" y="4680720"/>
            <a:ext cx="8280" cy="2163600"/>
          </a:xfrm>
          <a:prstGeom prst="rect">
            <a:avLst/>
          </a:prstGeom>
          <a:solidFill>
            <a:srgbClr val="c9cbcd"/>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291" name="Text 27"/>
          <p:cNvSpPr/>
          <p:nvPr/>
        </p:nvSpPr>
        <p:spPr>
          <a:xfrm>
            <a:off x="7243920" y="5329080"/>
            <a:ext cx="312480" cy="2368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1" strike="noStrike">
                <a:solidFill>
                  <a:srgbClr val="2e2e2e"/>
                </a:solidFill>
                <a:latin typeface="Sora"/>
                <a:ea typeface="Sora"/>
              </a:rPr>
              <a:t>G2</a:t>
            </a:r>
            <a:endParaRPr b="0" lang="en-US" sz="1300" spc="-1" strike="noStrike">
              <a:solidFill>
                <a:srgbClr val="000000"/>
              </a:solidFill>
              <a:latin typeface="Arial"/>
            </a:endParaRPr>
          </a:p>
        </p:txBody>
      </p:sp>
      <p:sp>
        <p:nvSpPr>
          <p:cNvPr id="292" name="Text 28"/>
          <p:cNvSpPr/>
          <p:nvPr/>
        </p:nvSpPr>
        <p:spPr>
          <a:xfrm>
            <a:off x="7272000" y="5586120"/>
            <a:ext cx="256320" cy="648000"/>
          </a:xfrm>
          <a:prstGeom prst="rect">
            <a:avLst/>
          </a:prstGeom>
          <a:noFill/>
          <a:ln w="0">
            <a:noFill/>
          </a:ln>
        </p:spPr>
        <p:style>
          <a:lnRef idx="0"/>
          <a:fillRef idx="0"/>
          <a:effectRef idx="0"/>
          <a:fontRef idx="minor"/>
        </p:style>
        <p:txBody>
          <a:bodyPr lIns="25560" rIns="25560" tIns="25560" bIns="25560" anchor="t" vert="eaVert">
            <a:normAutofit fontScale="96666"/>
          </a:bodyPr>
          <a:p>
            <a:pPr defTabSz="914400">
              <a:lnSpc>
                <a:spcPct val="100000"/>
              </a:lnSpc>
              <a:tabLst>
                <a:tab algn="l" pos="0"/>
              </a:tabLst>
            </a:pPr>
            <a:r>
              <a:rPr b="0" lang="en-US" sz="1050" spc="49" strike="noStrike">
                <a:solidFill>
                  <a:srgbClr val="6e7174"/>
                </a:solidFill>
                <a:latin typeface="Open Sans"/>
                <a:ea typeface="Open Sans"/>
              </a:rPr>
              <a:t>¥30–50M</a:t>
            </a:r>
            <a:endParaRPr b="0" lang="en-US" sz="1050" spc="-1" strike="noStrike">
              <a:solidFill>
                <a:srgbClr val="000000"/>
              </a:solidFill>
              <a:latin typeface="Arial"/>
            </a:endParaRPr>
          </a:p>
        </p:txBody>
      </p:sp>
      <p:sp>
        <p:nvSpPr>
          <p:cNvPr id="293" name="Shape 29"/>
          <p:cNvSpPr/>
          <p:nvPr/>
        </p:nvSpPr>
        <p:spPr>
          <a:xfrm>
            <a:off x="7734240" y="4680720"/>
            <a:ext cx="2818440" cy="2163600"/>
          </a:xfrm>
          <a:prstGeom prst="rect">
            <a:avLst/>
          </a:prstGeom>
          <a:solidFill>
            <a:srgbClr val="f6f6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294" name="Text 30"/>
          <p:cNvSpPr/>
          <p:nvPr/>
        </p:nvSpPr>
        <p:spPr>
          <a:xfrm>
            <a:off x="7943760" y="4928400"/>
            <a:ext cx="2639160" cy="2847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2e2e2e"/>
                </a:solidFill>
                <a:latin typeface="Sora"/>
                <a:ea typeface="Sora"/>
              </a:rPr>
              <a:t>Phase 2</a:t>
            </a:r>
            <a:endParaRPr b="0" lang="en-US" sz="1600" spc="-1" strike="noStrike">
              <a:solidFill>
                <a:srgbClr val="000000"/>
              </a:solidFill>
              <a:latin typeface="Arial"/>
            </a:endParaRPr>
          </a:p>
        </p:txBody>
      </p:sp>
      <p:sp>
        <p:nvSpPr>
          <p:cNvPr id="295" name="Text 31"/>
          <p:cNvSpPr/>
          <p:nvPr/>
        </p:nvSpPr>
        <p:spPr>
          <a:xfrm>
            <a:off x="7943760" y="5195160"/>
            <a:ext cx="2639160" cy="246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200" spc="-1" strike="noStrike">
                <a:solidFill>
                  <a:srgbClr val="9b9da0"/>
                </a:solidFill>
                <a:latin typeface="Open Sans"/>
                <a:ea typeface="Open Sans"/>
              </a:rPr>
              <a:t>Pilot design</a:t>
            </a:r>
            <a:endParaRPr b="0" lang="en-US" sz="1200" spc="-1" strike="noStrike">
              <a:solidFill>
                <a:srgbClr val="000000"/>
              </a:solidFill>
              <a:latin typeface="Arial"/>
            </a:endParaRPr>
          </a:p>
        </p:txBody>
      </p:sp>
      <p:sp>
        <p:nvSpPr>
          <p:cNvPr id="296" name="Text 32"/>
          <p:cNvSpPr/>
          <p:nvPr/>
        </p:nvSpPr>
        <p:spPr>
          <a:xfrm>
            <a:off x="7943760" y="5537880"/>
            <a:ext cx="263916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150" spc="-1" strike="noStrike">
                <a:solidFill>
                  <a:srgbClr val="9b9da0"/>
                </a:solidFill>
                <a:latin typeface="Open Sans"/>
                <a:ea typeface="Open Sans"/>
              </a:rPr>
              <a:t>Months 10–18</a:t>
            </a:r>
            <a:endParaRPr b="0" lang="en-US" sz="1150" spc="-1" strike="noStrike">
              <a:solidFill>
                <a:srgbClr val="000000"/>
              </a:solidFill>
              <a:latin typeface="Arial"/>
            </a:endParaRPr>
          </a:p>
        </p:txBody>
      </p:sp>
      <p:sp>
        <p:nvSpPr>
          <p:cNvPr id="297" name="Text 33"/>
          <p:cNvSpPr/>
          <p:nvPr/>
        </p:nvSpPr>
        <p:spPr>
          <a:xfrm>
            <a:off x="7943760" y="5785560"/>
            <a:ext cx="263916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50" spc="-1" strike="noStrike">
                <a:solidFill>
                  <a:srgbClr val="2e2e2e"/>
                </a:solidFill>
                <a:latin typeface="Open Sans"/>
                <a:ea typeface="Open Sans"/>
              </a:rPr>
              <a:t>¥15–30M</a:t>
            </a:r>
            <a:endParaRPr b="0" lang="en-US" sz="1350" spc="-1" strike="noStrike">
              <a:solidFill>
                <a:srgbClr val="000000"/>
              </a:solidFill>
              <a:latin typeface="Arial"/>
            </a:endParaRPr>
          </a:p>
        </p:txBody>
      </p:sp>
      <p:sp>
        <p:nvSpPr>
          <p:cNvPr id="298" name="Text 34"/>
          <p:cNvSpPr/>
          <p:nvPr/>
        </p:nvSpPr>
        <p:spPr>
          <a:xfrm>
            <a:off x="7943760" y="6138000"/>
            <a:ext cx="2639160" cy="23004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35000"/>
              </a:lnSpc>
              <a:tabLst>
                <a:tab algn="l" pos="0"/>
              </a:tabLst>
            </a:pPr>
            <a:r>
              <a:rPr b="0" lang="en-US" sz="1150" spc="-1" strike="noStrike">
                <a:solidFill>
                  <a:srgbClr val="6e7174"/>
                </a:solidFill>
                <a:latin typeface="Open Sans"/>
                <a:ea typeface="Open Sans"/>
              </a:rPr>
              <a:t>Engineering, partners, permits</a:t>
            </a:r>
            <a:endParaRPr b="0" lang="en-US" sz="1150" spc="-1" strike="noStrike">
              <a:solidFill>
                <a:srgbClr val="000000"/>
              </a:solidFill>
              <a:latin typeface="Arial"/>
            </a:endParaRPr>
          </a:p>
        </p:txBody>
      </p:sp>
      <p:sp>
        <p:nvSpPr>
          <p:cNvPr id="299" name="Shape 35"/>
          <p:cNvSpPr/>
          <p:nvPr/>
        </p:nvSpPr>
        <p:spPr>
          <a:xfrm>
            <a:off x="10553760" y="4680720"/>
            <a:ext cx="741960" cy="2163600"/>
          </a:xfrm>
          <a:prstGeom prst="rect">
            <a:avLst/>
          </a:prstGeom>
          <a:solidFill>
            <a:srgbClr val="f6f6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300" name="Shape 36"/>
          <p:cNvSpPr/>
          <p:nvPr/>
        </p:nvSpPr>
        <p:spPr>
          <a:xfrm>
            <a:off x="10553760" y="4680720"/>
            <a:ext cx="8280" cy="2163600"/>
          </a:xfrm>
          <a:prstGeom prst="rect">
            <a:avLst/>
          </a:prstGeom>
          <a:solidFill>
            <a:srgbClr val="c9cbcd"/>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301" name="Shape 37"/>
          <p:cNvSpPr/>
          <p:nvPr/>
        </p:nvSpPr>
        <p:spPr>
          <a:xfrm>
            <a:off x="11287080" y="4680720"/>
            <a:ext cx="8280" cy="2163600"/>
          </a:xfrm>
          <a:prstGeom prst="rect">
            <a:avLst/>
          </a:prstGeom>
          <a:solidFill>
            <a:srgbClr val="c9cbcd"/>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302" name="Text 38"/>
          <p:cNvSpPr/>
          <p:nvPr/>
        </p:nvSpPr>
        <p:spPr>
          <a:xfrm>
            <a:off x="10806480" y="5287320"/>
            <a:ext cx="312480" cy="2368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1" strike="noStrike">
                <a:solidFill>
                  <a:srgbClr val="2e2e2e"/>
                </a:solidFill>
                <a:latin typeface="Sora"/>
                <a:ea typeface="Sora"/>
              </a:rPr>
              <a:t>G3</a:t>
            </a:r>
            <a:endParaRPr b="0" lang="en-US" sz="1300" spc="-1" strike="noStrike">
              <a:solidFill>
                <a:srgbClr val="000000"/>
              </a:solidFill>
              <a:latin typeface="Arial"/>
            </a:endParaRPr>
          </a:p>
        </p:txBody>
      </p:sp>
      <p:sp>
        <p:nvSpPr>
          <p:cNvPr id="303" name="Text 39"/>
          <p:cNvSpPr/>
          <p:nvPr/>
        </p:nvSpPr>
        <p:spPr>
          <a:xfrm>
            <a:off x="10834560" y="5544720"/>
            <a:ext cx="256320" cy="730800"/>
          </a:xfrm>
          <a:prstGeom prst="rect">
            <a:avLst/>
          </a:prstGeom>
          <a:noFill/>
          <a:ln w="0">
            <a:noFill/>
          </a:ln>
        </p:spPr>
        <p:style>
          <a:lnRef idx="0"/>
          <a:fillRef idx="0"/>
          <a:effectRef idx="0"/>
          <a:fontRef idx="minor"/>
        </p:style>
        <p:txBody>
          <a:bodyPr lIns="25560" rIns="25560" tIns="25560" bIns="25560" anchor="t" vert="eaVert">
            <a:normAutofit fontScale="96666"/>
          </a:bodyPr>
          <a:p>
            <a:pPr defTabSz="914400">
              <a:lnSpc>
                <a:spcPct val="100000"/>
              </a:lnSpc>
              <a:tabLst>
                <a:tab algn="l" pos="0"/>
              </a:tabLst>
            </a:pPr>
            <a:r>
              <a:rPr b="0" lang="en-US" sz="1050" spc="49" strike="noStrike">
                <a:solidFill>
                  <a:srgbClr val="6e7174"/>
                </a:solidFill>
                <a:latin typeface="Open Sans"/>
                <a:ea typeface="Open Sans"/>
              </a:rPr>
              <a:t>¥80–200M</a:t>
            </a:r>
            <a:endParaRPr b="0" lang="en-US" sz="1050" spc="-1" strike="noStrike">
              <a:solidFill>
                <a:srgbClr val="000000"/>
              </a:solidFill>
              <a:latin typeface="Arial"/>
            </a:endParaRPr>
          </a:p>
        </p:txBody>
      </p:sp>
      <p:sp>
        <p:nvSpPr>
          <p:cNvPr id="304" name="Shape 40"/>
          <p:cNvSpPr/>
          <p:nvPr/>
        </p:nvSpPr>
        <p:spPr>
          <a:xfrm>
            <a:off x="11296800" y="4680720"/>
            <a:ext cx="2818440" cy="2163600"/>
          </a:xfrm>
          <a:prstGeom prst="rect">
            <a:avLst/>
          </a:prstGeom>
          <a:solidFill>
            <a:srgbClr val="f6f6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305" name="Text 41"/>
          <p:cNvSpPr/>
          <p:nvPr/>
        </p:nvSpPr>
        <p:spPr>
          <a:xfrm>
            <a:off x="11506320" y="4928400"/>
            <a:ext cx="2639160" cy="2847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2e2e2e"/>
                </a:solidFill>
                <a:latin typeface="Sora"/>
                <a:ea typeface="Sora"/>
              </a:rPr>
              <a:t>Phase 3</a:t>
            </a:r>
            <a:endParaRPr b="0" lang="en-US" sz="1600" spc="-1" strike="noStrike">
              <a:solidFill>
                <a:srgbClr val="000000"/>
              </a:solidFill>
              <a:latin typeface="Arial"/>
            </a:endParaRPr>
          </a:p>
        </p:txBody>
      </p:sp>
      <p:sp>
        <p:nvSpPr>
          <p:cNvPr id="306" name="Text 42"/>
          <p:cNvSpPr/>
          <p:nvPr/>
        </p:nvSpPr>
        <p:spPr>
          <a:xfrm>
            <a:off x="11506320" y="5195160"/>
            <a:ext cx="2639160" cy="246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200" spc="-1" strike="noStrike">
                <a:solidFill>
                  <a:srgbClr val="9b9da0"/>
                </a:solidFill>
                <a:latin typeface="Open Sans"/>
                <a:ea typeface="Open Sans"/>
              </a:rPr>
              <a:t>Pilot build</a:t>
            </a:r>
            <a:endParaRPr b="0" lang="en-US" sz="1200" spc="-1" strike="noStrike">
              <a:solidFill>
                <a:srgbClr val="000000"/>
              </a:solidFill>
              <a:latin typeface="Arial"/>
            </a:endParaRPr>
          </a:p>
        </p:txBody>
      </p:sp>
      <p:sp>
        <p:nvSpPr>
          <p:cNvPr id="307" name="Text 43"/>
          <p:cNvSpPr/>
          <p:nvPr/>
        </p:nvSpPr>
        <p:spPr>
          <a:xfrm>
            <a:off x="11506320" y="5537880"/>
            <a:ext cx="263916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150" spc="-1" strike="noStrike">
                <a:solidFill>
                  <a:srgbClr val="9b9da0"/>
                </a:solidFill>
                <a:latin typeface="Open Sans"/>
                <a:ea typeface="Open Sans"/>
              </a:rPr>
              <a:t>Months 19–30</a:t>
            </a:r>
            <a:endParaRPr b="0" lang="en-US" sz="1150" spc="-1" strike="noStrike">
              <a:solidFill>
                <a:srgbClr val="000000"/>
              </a:solidFill>
              <a:latin typeface="Arial"/>
            </a:endParaRPr>
          </a:p>
        </p:txBody>
      </p:sp>
      <p:sp>
        <p:nvSpPr>
          <p:cNvPr id="308" name="Text 44"/>
          <p:cNvSpPr/>
          <p:nvPr/>
        </p:nvSpPr>
        <p:spPr>
          <a:xfrm>
            <a:off x="11506320" y="5785560"/>
            <a:ext cx="263916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50" spc="-1" strike="noStrike">
                <a:solidFill>
                  <a:srgbClr val="2e2e2e"/>
                </a:solidFill>
                <a:latin typeface="Open Sans"/>
                <a:ea typeface="Open Sans"/>
              </a:rPr>
              <a:t>¥80–200M</a:t>
            </a:r>
            <a:endParaRPr b="0" lang="en-US" sz="1350" spc="-1" strike="noStrike">
              <a:solidFill>
                <a:srgbClr val="000000"/>
              </a:solidFill>
              <a:latin typeface="Arial"/>
            </a:endParaRPr>
          </a:p>
        </p:txBody>
      </p:sp>
      <p:sp>
        <p:nvSpPr>
          <p:cNvPr id="309" name="Text 45"/>
          <p:cNvSpPr/>
          <p:nvPr/>
        </p:nvSpPr>
        <p:spPr>
          <a:xfrm>
            <a:off x="11506320" y="6138000"/>
            <a:ext cx="2639160" cy="23004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35000"/>
              </a:lnSpc>
              <a:tabLst>
                <a:tab algn="l" pos="0"/>
              </a:tabLst>
            </a:pPr>
            <a:r>
              <a:rPr b="0" lang="en-US" sz="1150" spc="-1" strike="noStrike">
                <a:solidFill>
                  <a:srgbClr val="6e7174"/>
                </a:solidFill>
                <a:latin typeface="Open Sans"/>
                <a:ea typeface="Open Sans"/>
              </a:rPr>
              <a:t>First-stage build, commissioning</a:t>
            </a:r>
            <a:endParaRPr b="0" lang="en-US" sz="1150" spc="-1" strike="noStrike">
              <a:solidFill>
                <a:srgbClr val="000000"/>
              </a:solidFill>
              <a:latin typeface="Arial"/>
            </a:endParaRPr>
          </a:p>
        </p:txBody>
      </p:sp>
      <p:sp>
        <p:nvSpPr>
          <p:cNvPr id="310" name="Shape 46"/>
          <p:cNvSpPr/>
          <p:nvPr/>
        </p:nvSpPr>
        <p:spPr>
          <a:xfrm>
            <a:off x="14115960" y="4680720"/>
            <a:ext cx="741960" cy="2163600"/>
          </a:xfrm>
          <a:prstGeom prst="rect">
            <a:avLst/>
          </a:prstGeom>
          <a:solidFill>
            <a:srgbClr val="f6f6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311" name="Shape 47"/>
          <p:cNvSpPr/>
          <p:nvPr/>
        </p:nvSpPr>
        <p:spPr>
          <a:xfrm>
            <a:off x="14115960" y="4680720"/>
            <a:ext cx="8280" cy="2163600"/>
          </a:xfrm>
          <a:prstGeom prst="rect">
            <a:avLst/>
          </a:prstGeom>
          <a:solidFill>
            <a:srgbClr val="c9cbcd"/>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312" name="Shape 48"/>
          <p:cNvSpPr/>
          <p:nvPr/>
        </p:nvSpPr>
        <p:spPr>
          <a:xfrm>
            <a:off x="14849640" y="4680720"/>
            <a:ext cx="8280" cy="2163600"/>
          </a:xfrm>
          <a:prstGeom prst="rect">
            <a:avLst/>
          </a:prstGeom>
          <a:solidFill>
            <a:srgbClr val="c9cbcd"/>
          </a:solidFill>
          <a:ln w="0">
            <a:noFill/>
          </a:ln>
        </p:spPr>
        <p:style>
          <a:lnRef idx="0"/>
          <a:fillRef idx="0"/>
          <a:effectRef idx="0"/>
          <a:fontRef idx="minor"/>
        </p:style>
        <p:txBody>
          <a:bodyPr lIns="4320" rIns="4320" tIns="45000" bIns="45000" anchor="t">
            <a:noAutofit/>
          </a:bodyPr>
          <a:p>
            <a:pPr>
              <a:lnSpc>
                <a:spcPct val="100000"/>
              </a:lnSpc>
            </a:pPr>
            <a:endParaRPr b="0" lang="en-US" sz="1800" spc="-1" strike="noStrike">
              <a:solidFill>
                <a:srgbClr val="000000"/>
              </a:solidFill>
              <a:latin typeface="Arial"/>
              <a:ea typeface="Arial"/>
            </a:endParaRPr>
          </a:p>
        </p:txBody>
      </p:sp>
      <p:sp>
        <p:nvSpPr>
          <p:cNvPr id="313" name="Text 49"/>
          <p:cNvSpPr/>
          <p:nvPr/>
        </p:nvSpPr>
        <p:spPr>
          <a:xfrm>
            <a:off x="14365440" y="5365080"/>
            <a:ext cx="318960" cy="2368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1" strike="noStrike">
                <a:solidFill>
                  <a:srgbClr val="2e2e2e"/>
                </a:solidFill>
                <a:latin typeface="Sora"/>
                <a:ea typeface="Sora"/>
              </a:rPr>
              <a:t>G4</a:t>
            </a:r>
            <a:endParaRPr b="0" lang="en-US" sz="1300" spc="-1" strike="noStrike">
              <a:solidFill>
                <a:srgbClr val="000000"/>
              </a:solidFill>
              <a:latin typeface="Arial"/>
            </a:endParaRPr>
          </a:p>
        </p:txBody>
      </p:sp>
      <p:sp>
        <p:nvSpPr>
          <p:cNvPr id="314" name="Text 50"/>
          <p:cNvSpPr/>
          <p:nvPr/>
        </p:nvSpPr>
        <p:spPr>
          <a:xfrm>
            <a:off x="14401800" y="5622120"/>
            <a:ext cx="246600" cy="575640"/>
          </a:xfrm>
          <a:prstGeom prst="rect">
            <a:avLst/>
          </a:prstGeom>
          <a:noFill/>
          <a:ln w="0">
            <a:noFill/>
          </a:ln>
        </p:spPr>
        <p:style>
          <a:lnRef idx="0"/>
          <a:fillRef idx="0"/>
          <a:effectRef idx="0"/>
          <a:fontRef idx="minor"/>
        </p:style>
        <p:txBody>
          <a:bodyPr lIns="25560" rIns="25560" tIns="25560" bIns="25560" anchor="t" vert="eaVert">
            <a:normAutofit fontScale="87222"/>
          </a:bodyPr>
          <a:p>
            <a:pPr defTabSz="914400">
              <a:lnSpc>
                <a:spcPct val="100000"/>
              </a:lnSpc>
              <a:tabLst>
                <a:tab algn="l" pos="0"/>
              </a:tabLst>
            </a:pPr>
            <a:r>
              <a:rPr b="0" lang="en-US" sz="1000" spc="46" strike="noStrike">
                <a:solidFill>
                  <a:srgbClr val="6e7174"/>
                </a:solidFill>
                <a:latin typeface="Open Sans"/>
                <a:ea typeface="Open Sans"/>
              </a:rPr>
              <a:t>Revenue</a:t>
            </a:r>
            <a:endParaRPr b="0" lang="en-US" sz="1000" spc="-1" strike="noStrike">
              <a:solidFill>
                <a:srgbClr val="000000"/>
              </a:solidFill>
              <a:latin typeface="Arial"/>
            </a:endParaRPr>
          </a:p>
        </p:txBody>
      </p:sp>
      <p:sp>
        <p:nvSpPr>
          <p:cNvPr id="315" name="Shape 51"/>
          <p:cNvSpPr/>
          <p:nvPr/>
        </p:nvSpPr>
        <p:spPr>
          <a:xfrm>
            <a:off x="14859000" y="4680720"/>
            <a:ext cx="2818440" cy="2163600"/>
          </a:xfrm>
          <a:prstGeom prst="rect">
            <a:avLst/>
          </a:prstGeom>
          <a:solidFill>
            <a:srgbClr val="2e2e2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316" name="Text 52"/>
          <p:cNvSpPr/>
          <p:nvPr/>
        </p:nvSpPr>
        <p:spPr>
          <a:xfrm>
            <a:off x="15068520" y="4928400"/>
            <a:ext cx="2639160" cy="2847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ffffff"/>
                </a:solidFill>
                <a:latin typeface="Sora"/>
                <a:ea typeface="Sora"/>
              </a:rPr>
              <a:t>Phase 4</a:t>
            </a:r>
            <a:endParaRPr b="0" lang="en-US" sz="1600" spc="-1" strike="noStrike">
              <a:solidFill>
                <a:srgbClr val="000000"/>
              </a:solidFill>
              <a:latin typeface="Arial"/>
            </a:endParaRPr>
          </a:p>
        </p:txBody>
      </p:sp>
      <p:sp>
        <p:nvSpPr>
          <p:cNvPr id="317" name="Text 53"/>
          <p:cNvSpPr/>
          <p:nvPr/>
        </p:nvSpPr>
        <p:spPr>
          <a:xfrm>
            <a:off x="15068520" y="5195160"/>
            <a:ext cx="2639160" cy="246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200" spc="-1" strike="noStrike">
                <a:solidFill>
                  <a:srgbClr val="c7c9cb"/>
                </a:solidFill>
                <a:latin typeface="Open Sans"/>
                <a:ea typeface="Open Sans"/>
              </a:rPr>
              <a:t>Operate &amp; scale</a:t>
            </a:r>
            <a:endParaRPr b="0" lang="en-US" sz="1200" spc="-1" strike="noStrike">
              <a:solidFill>
                <a:srgbClr val="000000"/>
              </a:solidFill>
              <a:latin typeface="Arial"/>
            </a:endParaRPr>
          </a:p>
        </p:txBody>
      </p:sp>
      <p:sp>
        <p:nvSpPr>
          <p:cNvPr id="318" name="Text 54"/>
          <p:cNvSpPr/>
          <p:nvPr/>
        </p:nvSpPr>
        <p:spPr>
          <a:xfrm>
            <a:off x="15068520" y="5537880"/>
            <a:ext cx="263916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150" spc="-1" strike="noStrike">
                <a:solidFill>
                  <a:srgbClr val="c7c9cb"/>
                </a:solidFill>
                <a:latin typeface="Open Sans"/>
                <a:ea typeface="Open Sans"/>
              </a:rPr>
              <a:t>Months 31+</a:t>
            </a:r>
            <a:endParaRPr b="0" lang="en-US" sz="1150" spc="-1" strike="noStrike">
              <a:solidFill>
                <a:srgbClr val="000000"/>
              </a:solidFill>
              <a:latin typeface="Arial"/>
            </a:endParaRPr>
          </a:p>
        </p:txBody>
      </p:sp>
      <p:sp>
        <p:nvSpPr>
          <p:cNvPr id="319" name="Text 55"/>
          <p:cNvSpPr/>
          <p:nvPr/>
        </p:nvSpPr>
        <p:spPr>
          <a:xfrm>
            <a:off x="15068520" y="5785560"/>
            <a:ext cx="263916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50" spc="-1" strike="noStrike">
                <a:solidFill>
                  <a:srgbClr val="ffffff"/>
                </a:solidFill>
                <a:latin typeface="Open Sans"/>
                <a:ea typeface="Open Sans"/>
              </a:rPr>
              <a:t>Variable</a:t>
            </a:r>
            <a:endParaRPr b="0" lang="en-US" sz="1350" spc="-1" strike="noStrike">
              <a:solidFill>
                <a:srgbClr val="000000"/>
              </a:solidFill>
              <a:latin typeface="Arial"/>
            </a:endParaRPr>
          </a:p>
        </p:txBody>
      </p:sp>
      <p:sp>
        <p:nvSpPr>
          <p:cNvPr id="320" name="Text 56"/>
          <p:cNvSpPr/>
          <p:nvPr/>
        </p:nvSpPr>
        <p:spPr>
          <a:xfrm>
            <a:off x="15068520" y="6138000"/>
            <a:ext cx="2639160" cy="23004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35000"/>
              </a:lnSpc>
              <a:tabLst>
                <a:tab algn="l" pos="0"/>
              </a:tabLst>
            </a:pPr>
            <a:r>
              <a:rPr b="0" lang="en-US" sz="1150" spc="-1" strike="noStrike">
                <a:solidFill>
                  <a:srgbClr val="c7c9cb"/>
                </a:solidFill>
                <a:latin typeface="Open Sans"/>
                <a:ea typeface="Open Sans"/>
              </a:rPr>
              <a:t>Operations, monitoring, replication</a:t>
            </a:r>
            <a:endParaRPr b="0" lang="en-US" sz="1150" spc="-1" strike="noStrike">
              <a:solidFill>
                <a:srgbClr val="000000"/>
              </a:solidFill>
              <a:latin typeface="Arial"/>
            </a:endParaRPr>
          </a:p>
        </p:txBody>
      </p:sp>
      <p:sp>
        <p:nvSpPr>
          <p:cNvPr id="321" name="Shape 57"/>
          <p:cNvSpPr/>
          <p:nvPr/>
        </p:nvSpPr>
        <p:spPr>
          <a:xfrm>
            <a:off x="609480" y="9051480"/>
            <a:ext cx="17067600" cy="548640"/>
          </a:xfrm>
          <a:prstGeom prst="rect">
            <a:avLst/>
          </a:prstGeom>
          <a:solidFill>
            <a:srgbClr val="fbefe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322" name="Shape 58"/>
          <p:cNvSpPr/>
          <p:nvPr/>
        </p:nvSpPr>
        <p:spPr>
          <a:xfrm>
            <a:off x="609480" y="9051480"/>
            <a:ext cx="37080" cy="548640"/>
          </a:xfrm>
          <a:prstGeom prst="rect">
            <a:avLst/>
          </a:prstGeom>
          <a:solidFill>
            <a:srgbClr val="e58520"/>
          </a:solidFill>
          <a:ln w="0">
            <a:noFill/>
          </a:ln>
        </p:spPr>
        <p:style>
          <a:lnRef idx="0"/>
          <a:fillRef idx="0"/>
          <a:effectRef idx="0"/>
          <a:fontRef idx="minor"/>
        </p:style>
        <p:txBody>
          <a:bodyPr lIns="18720" rIns="18720" tIns="45000" bIns="45000" anchor="t">
            <a:noAutofit/>
          </a:bodyPr>
          <a:p>
            <a:pPr>
              <a:lnSpc>
                <a:spcPct val="100000"/>
              </a:lnSpc>
            </a:pPr>
            <a:endParaRPr b="0" lang="en-US" sz="1800" spc="-1" strike="noStrike">
              <a:solidFill>
                <a:srgbClr val="ffffff"/>
              </a:solidFill>
              <a:latin typeface="Arial"/>
              <a:ea typeface="Arial"/>
            </a:endParaRPr>
          </a:p>
        </p:txBody>
      </p:sp>
      <p:sp>
        <p:nvSpPr>
          <p:cNvPr id="323" name="Text 59"/>
          <p:cNvSpPr/>
          <p:nvPr/>
        </p:nvSpPr>
        <p:spPr>
          <a:xfrm>
            <a:off x="857160" y="9204120"/>
            <a:ext cx="17122680" cy="28188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40000"/>
              </a:lnSpc>
              <a:tabLst>
                <a:tab algn="l" pos="0"/>
              </a:tabLst>
            </a:pPr>
            <a:r>
              <a:rPr b="0" lang="en-US" sz="1350" spc="-1" strike="noStrike">
                <a:solidFill>
                  <a:srgbClr val="6e7174"/>
                </a:solidFill>
                <a:highlight>
                  <a:srgbClr val="fbefe0"/>
                </a:highlight>
                <a:latin typeface="Open Sans"/>
                <a:ea typeface="Open Sans"/>
              </a:rPr>
              <a:t>Miss a gate → </a:t>
            </a:r>
            <a:r>
              <a:rPr b="1" lang="en-US" sz="1350" spc="-1" strike="noStrike">
                <a:solidFill>
                  <a:srgbClr val="6e7174"/>
                </a:solidFill>
                <a:latin typeface="Open Sans"/>
                <a:ea typeface="Open Sans"/>
              </a:rPr>
              <a:t>hold &amp; re-pitch </a:t>
            </a:r>
            <a:r>
              <a:rPr b="0" lang="en-US" sz="1350" spc="-1" strike="noStrike">
                <a:solidFill>
                  <a:srgbClr val="6e7174"/>
                </a:solidFill>
                <a:highlight>
                  <a:srgbClr val="fbefe0"/>
                </a:highlight>
                <a:latin typeface="Open Sans"/>
                <a:ea typeface="Open Sans"/>
              </a:rPr>
              <a:t>or descope. Never accelerate into an under-resourced phase. </a:t>
            </a:r>
            <a:r>
              <a:rPr b="0" lang="zh-CN" sz="1350" spc="-1" strike="noStrike">
                <a:solidFill>
                  <a:srgbClr val="9b9da0"/>
                </a:solidFill>
                <a:latin typeface="Noto Sans JP"/>
                <a:ea typeface="Noto Sans JP"/>
              </a:rPr>
              <a:t>ゲート未達なら保留・縮小。</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4" name="Shape 0"/>
          <p:cNvSpPr/>
          <p:nvPr/>
        </p:nvSpPr>
        <p:spPr>
          <a:xfrm>
            <a:off x="0" y="0"/>
            <a:ext cx="18286920" cy="75240"/>
          </a:xfrm>
          <a:prstGeom prst="rect">
            <a:avLst/>
          </a:prstGeom>
          <a:solidFill>
            <a:srgbClr val="9b9da0"/>
          </a:solidFill>
          <a:ln w="0">
            <a:noFill/>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ffffff"/>
              </a:solidFill>
              <a:latin typeface="Arial"/>
              <a:ea typeface="Arial"/>
            </a:endParaRPr>
          </a:p>
        </p:txBody>
      </p:sp>
      <p:sp>
        <p:nvSpPr>
          <p:cNvPr id="325" name="Shape 1"/>
          <p:cNvSpPr/>
          <p:nvPr/>
        </p:nvSpPr>
        <p:spPr>
          <a:xfrm>
            <a:off x="609480" y="895320"/>
            <a:ext cx="43704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326" name="Text 2"/>
          <p:cNvSpPr/>
          <p:nvPr/>
        </p:nvSpPr>
        <p:spPr>
          <a:xfrm>
            <a:off x="1181160" y="800280"/>
            <a:ext cx="334332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202" strike="noStrike">
                <a:solidFill>
                  <a:srgbClr val="9b9da0"/>
                </a:solidFill>
                <a:latin typeface="Open Sans"/>
                <a:ea typeface="Open Sans"/>
              </a:rPr>
              <a:t>FUNDING STACK · </a:t>
            </a:r>
            <a:r>
              <a:rPr b="1" lang="zh-CN" sz="1300" spc="202" strike="noStrike">
                <a:solidFill>
                  <a:srgbClr val="9b9da0"/>
                </a:solidFill>
                <a:latin typeface="Open Sans"/>
                <a:ea typeface="Open Sans"/>
              </a:rPr>
              <a:t>資金構成 </a:t>
            </a:r>
            <a:r>
              <a:rPr b="1" lang="en-US" sz="1300" spc="202" strike="noStrike">
                <a:solidFill>
                  <a:srgbClr val="9b9da0"/>
                </a:solidFill>
                <a:latin typeface="Open Sans"/>
                <a:ea typeface="Open Sans"/>
              </a:rPr>
              <a:t>· 11</a:t>
            </a:r>
            <a:endParaRPr b="0" lang="en-US" sz="1300" spc="-1" strike="noStrike">
              <a:solidFill>
                <a:srgbClr val="000000"/>
              </a:solidFill>
              <a:latin typeface="Arial"/>
            </a:endParaRPr>
          </a:p>
        </p:txBody>
      </p:sp>
      <p:sp>
        <p:nvSpPr>
          <p:cNvPr id="327" name="Text 3"/>
          <p:cNvSpPr/>
          <p:nvPr/>
        </p:nvSpPr>
        <p:spPr>
          <a:xfrm>
            <a:off x="609480" y="1228680"/>
            <a:ext cx="11005200" cy="6199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2000"/>
              </a:lnSpc>
              <a:tabLst>
                <a:tab algn="l" pos="0"/>
              </a:tabLst>
            </a:pPr>
            <a:r>
              <a:rPr b="1" lang="en-US" sz="4500" spc="-46" strike="noStrike">
                <a:solidFill>
                  <a:srgbClr val="2e2e2e"/>
                </a:solidFill>
                <a:latin typeface="Sora"/>
                <a:ea typeface="Sora"/>
              </a:rPr>
              <a:t>Five layers, staged over three years</a:t>
            </a:r>
            <a:endParaRPr b="0" lang="en-US" sz="4500" spc="-1" strike="noStrike">
              <a:solidFill>
                <a:srgbClr val="000000"/>
              </a:solidFill>
              <a:latin typeface="Arial"/>
            </a:endParaRPr>
          </a:p>
        </p:txBody>
      </p:sp>
      <p:sp>
        <p:nvSpPr>
          <p:cNvPr id="328" name="Text 4"/>
          <p:cNvSpPr/>
          <p:nvPr/>
        </p:nvSpPr>
        <p:spPr>
          <a:xfrm>
            <a:off x="609480" y="1887840"/>
            <a:ext cx="11005200" cy="389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zh-CN" sz="1900" spc="-1" strike="noStrike">
                <a:solidFill>
                  <a:srgbClr val="6e7174"/>
                </a:solidFill>
                <a:latin typeface="Noto Sans JP"/>
                <a:ea typeface="Noto Sans JP"/>
              </a:rPr>
              <a:t>五層の資金 — 単一財源に依存しない。</a:t>
            </a:r>
            <a:endParaRPr b="0" lang="en-US" sz="1900" spc="-1" strike="noStrike">
              <a:solidFill>
                <a:srgbClr val="000000"/>
              </a:solidFill>
              <a:latin typeface="Arial"/>
            </a:endParaRPr>
          </a:p>
        </p:txBody>
      </p:sp>
      <p:sp>
        <p:nvSpPr>
          <p:cNvPr id="329" name="Text 5"/>
          <p:cNvSpPr/>
          <p:nvPr/>
        </p:nvSpPr>
        <p:spPr>
          <a:xfrm>
            <a:off x="14694840" y="1468800"/>
            <a:ext cx="2982600" cy="2275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150" spc="134" strike="noStrike">
                <a:solidFill>
                  <a:srgbClr val="a9abae"/>
                </a:solidFill>
                <a:latin typeface="Open Sans"/>
                <a:ea typeface="Open Sans"/>
              </a:rPr>
              <a:t>YEAR 1 → YEAR 3</a:t>
            </a:r>
            <a:endParaRPr b="0" lang="en-US" sz="1150" spc="-1" strike="noStrike">
              <a:solidFill>
                <a:srgbClr val="000000"/>
              </a:solidFill>
              <a:latin typeface="Arial"/>
            </a:endParaRPr>
          </a:p>
        </p:txBody>
      </p:sp>
      <p:sp>
        <p:nvSpPr>
          <p:cNvPr id="330" name="Text 6"/>
          <p:cNvSpPr/>
          <p:nvPr/>
        </p:nvSpPr>
        <p:spPr>
          <a:xfrm>
            <a:off x="14694840" y="1697400"/>
            <a:ext cx="2982600" cy="5227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3000" spc="-1" strike="noStrike">
                <a:solidFill>
                  <a:srgbClr val="2e2e2e"/>
                </a:solidFill>
                <a:latin typeface="Sora"/>
                <a:ea typeface="Sora"/>
              </a:rPr>
              <a:t>¥11M </a:t>
            </a:r>
            <a:r>
              <a:rPr b="1" lang="en-US" sz="3000" spc="-1" strike="noStrike">
                <a:solidFill>
                  <a:srgbClr val="e58520"/>
                </a:solidFill>
                <a:latin typeface="Sora"/>
                <a:ea typeface="Sora"/>
              </a:rPr>
              <a:t>→ </a:t>
            </a:r>
            <a:r>
              <a:rPr b="1" lang="en-US" sz="3000" spc="-1" strike="noStrike">
                <a:solidFill>
                  <a:srgbClr val="2e2e2e"/>
                </a:solidFill>
                <a:latin typeface="Sora"/>
                <a:ea typeface="Sora"/>
              </a:rPr>
              <a:t>¥134M</a:t>
            </a:r>
            <a:endParaRPr b="0" lang="en-US" sz="3000" spc="-1" strike="noStrike">
              <a:solidFill>
                <a:srgbClr val="000000"/>
              </a:solidFill>
              <a:latin typeface="Arial"/>
            </a:endParaRPr>
          </a:p>
        </p:txBody>
      </p:sp>
      <p:sp>
        <p:nvSpPr>
          <p:cNvPr id="331" name="Shape 7"/>
          <p:cNvSpPr/>
          <p:nvPr/>
        </p:nvSpPr>
        <p:spPr>
          <a:xfrm>
            <a:off x="609480" y="4558680"/>
            <a:ext cx="17067600" cy="18000"/>
          </a:xfrm>
          <a:prstGeom prst="rect">
            <a:avLst/>
          </a:prstGeom>
          <a:solidFill>
            <a:srgbClr val="2e2e2e"/>
          </a:solidFill>
          <a:ln w="0">
            <a:noFill/>
          </a:ln>
        </p:spPr>
        <p:style>
          <a:lnRef idx="0"/>
          <a:fillRef idx="0"/>
          <a:effectRef idx="0"/>
          <a:fontRef idx="minor"/>
        </p:style>
        <p:txBody>
          <a:bodyPr lIns="90000" rIns="90000" tIns="-25920" bIns="-25920" anchor="t">
            <a:noAutofit/>
          </a:bodyPr>
          <a:p>
            <a:pPr>
              <a:lnSpc>
                <a:spcPct val="100000"/>
              </a:lnSpc>
            </a:pPr>
            <a:endParaRPr b="0" lang="en-US" sz="1800" spc="-1" strike="noStrike">
              <a:solidFill>
                <a:srgbClr val="ffffff"/>
              </a:solidFill>
              <a:latin typeface="Arial"/>
              <a:ea typeface="Arial"/>
            </a:endParaRPr>
          </a:p>
        </p:txBody>
      </p:sp>
      <p:sp>
        <p:nvSpPr>
          <p:cNvPr id="332" name="Text 8"/>
          <p:cNvSpPr/>
          <p:nvPr/>
        </p:nvSpPr>
        <p:spPr>
          <a:xfrm>
            <a:off x="1390680" y="4206240"/>
            <a:ext cx="11775600" cy="2559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150" spc="111" strike="noStrike">
                <a:solidFill>
                  <a:srgbClr val="a9abae"/>
                </a:solidFill>
                <a:latin typeface="Open Sans"/>
                <a:ea typeface="Open Sans"/>
              </a:rPr>
              <a:t>SOURCE · </a:t>
            </a:r>
            <a:r>
              <a:rPr b="1" lang="zh-CN" sz="1150" spc="111" strike="noStrike">
                <a:solidFill>
                  <a:srgbClr val="a9abae"/>
                </a:solidFill>
                <a:latin typeface="Open Sans"/>
                <a:ea typeface="Open Sans"/>
              </a:rPr>
              <a:t>財源</a:t>
            </a:r>
            <a:endParaRPr b="0" lang="en-US" sz="1150" spc="-1" strike="noStrike">
              <a:solidFill>
                <a:srgbClr val="000000"/>
              </a:solidFill>
              <a:latin typeface="Arial"/>
            </a:endParaRPr>
          </a:p>
        </p:txBody>
      </p:sp>
      <p:sp>
        <p:nvSpPr>
          <p:cNvPr id="333" name="Text 9"/>
          <p:cNvSpPr/>
          <p:nvPr/>
        </p:nvSpPr>
        <p:spPr>
          <a:xfrm>
            <a:off x="14468400" y="4220640"/>
            <a:ext cx="1570680" cy="2275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150" spc="111" strike="noStrike">
                <a:solidFill>
                  <a:srgbClr val="a9abae"/>
                </a:solidFill>
                <a:latin typeface="Open Sans"/>
                <a:ea typeface="Open Sans"/>
              </a:rPr>
              <a:t>YEAR 1</a:t>
            </a:r>
            <a:endParaRPr b="0" lang="en-US" sz="1150" spc="-1" strike="noStrike">
              <a:solidFill>
                <a:srgbClr val="000000"/>
              </a:solidFill>
              <a:latin typeface="Arial"/>
            </a:endParaRPr>
          </a:p>
        </p:txBody>
      </p:sp>
      <p:sp>
        <p:nvSpPr>
          <p:cNvPr id="334" name="Text 10"/>
          <p:cNvSpPr/>
          <p:nvPr/>
        </p:nvSpPr>
        <p:spPr>
          <a:xfrm>
            <a:off x="16106760" y="4220640"/>
            <a:ext cx="1570680" cy="2275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150" spc="111" strike="noStrike">
                <a:solidFill>
                  <a:srgbClr val="a9abae"/>
                </a:solidFill>
                <a:latin typeface="Open Sans"/>
                <a:ea typeface="Open Sans"/>
              </a:rPr>
              <a:t>YEAR 3</a:t>
            </a:r>
            <a:endParaRPr b="0" lang="en-US" sz="1150" spc="-1" strike="noStrike">
              <a:solidFill>
                <a:srgbClr val="000000"/>
              </a:solidFill>
              <a:latin typeface="Arial"/>
            </a:endParaRPr>
          </a:p>
        </p:txBody>
      </p:sp>
      <p:sp>
        <p:nvSpPr>
          <p:cNvPr id="335" name="Shape 11"/>
          <p:cNvSpPr/>
          <p:nvPr/>
        </p:nvSpPr>
        <p:spPr>
          <a:xfrm>
            <a:off x="609480" y="5187240"/>
            <a:ext cx="17067600" cy="8280"/>
          </a:xfrm>
          <a:prstGeom prst="rect">
            <a:avLst/>
          </a:prstGeom>
          <a:solidFill>
            <a:srgbClr val="e6e6e2"/>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000000"/>
              </a:solidFill>
              <a:latin typeface="Arial"/>
              <a:ea typeface="Arial"/>
            </a:endParaRPr>
          </a:p>
        </p:txBody>
      </p:sp>
      <p:sp>
        <p:nvSpPr>
          <p:cNvPr id="336" name="Text 12"/>
          <p:cNvSpPr/>
          <p:nvPr/>
        </p:nvSpPr>
        <p:spPr>
          <a:xfrm>
            <a:off x="609480" y="4782600"/>
            <a:ext cx="646560" cy="2368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200" spc="-1" strike="noStrike">
                <a:solidFill>
                  <a:srgbClr val="9b9da0"/>
                </a:solidFill>
                <a:latin typeface="Sora"/>
                <a:ea typeface="Sora"/>
              </a:rPr>
              <a:t>L1</a:t>
            </a:r>
            <a:endParaRPr b="0" lang="en-US" sz="1200" spc="-1" strike="noStrike">
              <a:solidFill>
                <a:srgbClr val="000000"/>
              </a:solidFill>
              <a:latin typeface="Arial"/>
            </a:endParaRPr>
          </a:p>
        </p:txBody>
      </p:sp>
      <p:sp>
        <p:nvSpPr>
          <p:cNvPr id="337" name="Text 13"/>
          <p:cNvSpPr/>
          <p:nvPr/>
        </p:nvSpPr>
        <p:spPr>
          <a:xfrm>
            <a:off x="1390680" y="4739760"/>
            <a:ext cx="11775600" cy="3229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50" spc="-1" strike="noStrike">
                <a:solidFill>
                  <a:srgbClr val="2e2e2e"/>
                </a:solidFill>
                <a:latin typeface="Open Sans"/>
                <a:ea typeface="Open Sans"/>
              </a:rPr>
              <a:t>Founder / private capital </a:t>
            </a:r>
            <a:r>
              <a:rPr b="1" lang="zh-CN" sz="1200" spc="-1" strike="noStrike">
                <a:solidFill>
                  <a:srgbClr val="9b9da0"/>
                </a:solidFill>
                <a:latin typeface="Noto Sans JP"/>
                <a:ea typeface="Noto Sans JP"/>
              </a:rPr>
              <a:t>自己資金</a:t>
            </a:r>
            <a:endParaRPr b="0" lang="en-US" sz="1200" spc="-1" strike="noStrike">
              <a:solidFill>
                <a:srgbClr val="000000"/>
              </a:solidFill>
              <a:latin typeface="Arial"/>
            </a:endParaRPr>
          </a:p>
        </p:txBody>
      </p:sp>
      <p:sp>
        <p:nvSpPr>
          <p:cNvPr id="338" name="Shape 14"/>
          <p:cNvSpPr/>
          <p:nvPr/>
        </p:nvSpPr>
        <p:spPr>
          <a:xfrm>
            <a:off x="12306240" y="4815720"/>
            <a:ext cx="2094480" cy="132120"/>
          </a:xfrm>
          <a:prstGeom prst="rect">
            <a:avLst/>
          </a:prstGeom>
          <a:solidFill>
            <a:srgbClr val="f1f1e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339" name="Shape 15"/>
          <p:cNvSpPr/>
          <p:nvPr/>
        </p:nvSpPr>
        <p:spPr>
          <a:xfrm>
            <a:off x="12306240" y="4815720"/>
            <a:ext cx="166680" cy="132120"/>
          </a:xfrm>
          <a:prstGeom prst="rect">
            <a:avLst/>
          </a:prstGeom>
          <a:solidFill>
            <a:srgbClr val="c7c9cb"/>
          </a:solidFill>
          <a:ln w="0">
            <a:noFill/>
          </a:ln>
        </p:spPr>
        <p:style>
          <a:lnRef idx="0"/>
          <a:fillRef idx="0"/>
          <a:effectRef idx="0"/>
          <a:fontRef idx="minor"/>
        </p:style>
        <p:txBody>
          <a:bodyPr lIns="83520" rIns="83520" tIns="45000" bIns="45000" anchor="t">
            <a:noAutofit/>
          </a:bodyPr>
          <a:p>
            <a:pPr>
              <a:lnSpc>
                <a:spcPct val="100000"/>
              </a:lnSpc>
            </a:pPr>
            <a:endParaRPr b="0" lang="en-US" sz="1800" spc="-1" strike="noStrike">
              <a:solidFill>
                <a:srgbClr val="000000"/>
              </a:solidFill>
              <a:latin typeface="Arial"/>
              <a:ea typeface="Arial"/>
            </a:endParaRPr>
          </a:p>
        </p:txBody>
      </p:sp>
      <p:sp>
        <p:nvSpPr>
          <p:cNvPr id="340" name="Text 16"/>
          <p:cNvSpPr/>
          <p:nvPr/>
        </p:nvSpPr>
        <p:spPr>
          <a:xfrm>
            <a:off x="14468400" y="4753800"/>
            <a:ext cx="1570680" cy="2941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500" spc="-1" strike="noStrike">
                <a:solidFill>
                  <a:srgbClr val="6e7174"/>
                </a:solidFill>
                <a:latin typeface="Open Sans"/>
                <a:ea typeface="Open Sans"/>
              </a:rPr>
              <a:t>¥3M</a:t>
            </a:r>
            <a:endParaRPr b="0" lang="en-US" sz="1500" spc="-1" strike="noStrike">
              <a:solidFill>
                <a:srgbClr val="000000"/>
              </a:solidFill>
              <a:latin typeface="Arial"/>
            </a:endParaRPr>
          </a:p>
        </p:txBody>
      </p:sp>
      <p:sp>
        <p:nvSpPr>
          <p:cNvPr id="341" name="Text 17"/>
          <p:cNvSpPr/>
          <p:nvPr/>
        </p:nvSpPr>
        <p:spPr>
          <a:xfrm>
            <a:off x="16106760" y="4739760"/>
            <a:ext cx="1570680" cy="3229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650" spc="-1" strike="noStrike">
                <a:solidFill>
                  <a:srgbClr val="2e2e2e"/>
                </a:solidFill>
                <a:latin typeface="Open Sans"/>
                <a:ea typeface="Open Sans"/>
              </a:rPr>
              <a:t>¥1M</a:t>
            </a:r>
            <a:endParaRPr b="0" lang="en-US" sz="1650" spc="-1" strike="noStrike">
              <a:solidFill>
                <a:srgbClr val="000000"/>
              </a:solidFill>
              <a:latin typeface="Arial"/>
            </a:endParaRPr>
          </a:p>
        </p:txBody>
      </p:sp>
      <p:sp>
        <p:nvSpPr>
          <p:cNvPr id="342" name="Shape 18"/>
          <p:cNvSpPr/>
          <p:nvPr/>
        </p:nvSpPr>
        <p:spPr>
          <a:xfrm>
            <a:off x="609480" y="5806440"/>
            <a:ext cx="17067600" cy="8280"/>
          </a:xfrm>
          <a:prstGeom prst="rect">
            <a:avLst/>
          </a:prstGeom>
          <a:solidFill>
            <a:srgbClr val="e6e6e2"/>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000000"/>
              </a:solidFill>
              <a:latin typeface="Arial"/>
              <a:ea typeface="Arial"/>
            </a:endParaRPr>
          </a:p>
        </p:txBody>
      </p:sp>
      <p:sp>
        <p:nvSpPr>
          <p:cNvPr id="343" name="Text 19"/>
          <p:cNvSpPr/>
          <p:nvPr/>
        </p:nvSpPr>
        <p:spPr>
          <a:xfrm>
            <a:off x="609480" y="5401800"/>
            <a:ext cx="646560" cy="2368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200" spc="-1" strike="noStrike">
                <a:solidFill>
                  <a:srgbClr val="9b9da0"/>
                </a:solidFill>
                <a:latin typeface="Sora"/>
                <a:ea typeface="Sora"/>
              </a:rPr>
              <a:t>L2</a:t>
            </a:r>
            <a:endParaRPr b="0" lang="en-US" sz="1200" spc="-1" strike="noStrike">
              <a:solidFill>
                <a:srgbClr val="000000"/>
              </a:solidFill>
              <a:latin typeface="Arial"/>
            </a:endParaRPr>
          </a:p>
        </p:txBody>
      </p:sp>
      <p:sp>
        <p:nvSpPr>
          <p:cNvPr id="344" name="Text 20"/>
          <p:cNvSpPr/>
          <p:nvPr/>
        </p:nvSpPr>
        <p:spPr>
          <a:xfrm>
            <a:off x="1390680" y="5358600"/>
            <a:ext cx="11775600" cy="3229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50" spc="-1" strike="noStrike">
                <a:solidFill>
                  <a:srgbClr val="2e2e2e"/>
                </a:solidFill>
                <a:latin typeface="Open Sans"/>
                <a:ea typeface="Open Sans"/>
              </a:rPr>
              <a:t>Government grants </a:t>
            </a:r>
            <a:r>
              <a:rPr b="1" lang="zh-CN" sz="1200" spc="-1" strike="noStrike">
                <a:solidFill>
                  <a:srgbClr val="9b9da0"/>
                </a:solidFill>
                <a:latin typeface="Noto Sans JP"/>
                <a:ea typeface="Noto Sans JP"/>
              </a:rPr>
              <a:t>補助金（</a:t>
            </a:r>
            <a:r>
              <a:rPr b="1" lang="en-US" sz="1200" spc="-1" strike="noStrike">
                <a:solidFill>
                  <a:srgbClr val="9b9da0"/>
                </a:solidFill>
                <a:latin typeface="Noto Sans JP"/>
                <a:ea typeface="Noto Sans JP"/>
              </a:rPr>
              <a:t>NEDO</a:t>
            </a:r>
            <a:r>
              <a:rPr b="1" lang="zh-CN" sz="1200" spc="-1" strike="noStrike">
                <a:solidFill>
                  <a:srgbClr val="9b9da0"/>
                </a:solidFill>
                <a:latin typeface="Noto Sans JP"/>
                <a:ea typeface="Noto Sans JP"/>
              </a:rPr>
              <a:t>・</a:t>
            </a:r>
            <a:r>
              <a:rPr b="1" lang="en-US" sz="1200" spc="-1" strike="noStrike">
                <a:solidFill>
                  <a:srgbClr val="9b9da0"/>
                </a:solidFill>
                <a:latin typeface="Noto Sans JP"/>
                <a:ea typeface="Noto Sans JP"/>
              </a:rPr>
              <a:t>METI</a:t>
            </a:r>
            <a:r>
              <a:rPr b="1" lang="zh-CN" sz="1200" spc="-1" strike="noStrike">
                <a:solidFill>
                  <a:srgbClr val="9b9da0"/>
                </a:solidFill>
                <a:latin typeface="Noto Sans JP"/>
                <a:ea typeface="Noto Sans JP"/>
              </a:rPr>
              <a:t>・奈良県・村）</a:t>
            </a:r>
            <a:endParaRPr b="0" lang="en-US" sz="1200" spc="-1" strike="noStrike">
              <a:solidFill>
                <a:srgbClr val="000000"/>
              </a:solidFill>
              <a:latin typeface="Arial"/>
            </a:endParaRPr>
          </a:p>
        </p:txBody>
      </p:sp>
      <p:sp>
        <p:nvSpPr>
          <p:cNvPr id="345" name="Shape 21"/>
          <p:cNvSpPr/>
          <p:nvPr/>
        </p:nvSpPr>
        <p:spPr>
          <a:xfrm>
            <a:off x="12306240" y="5434920"/>
            <a:ext cx="2094480" cy="132120"/>
          </a:xfrm>
          <a:prstGeom prst="rect">
            <a:avLst/>
          </a:prstGeom>
          <a:solidFill>
            <a:srgbClr val="f1f1e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346" name="Shape 22"/>
          <p:cNvSpPr/>
          <p:nvPr/>
        </p:nvSpPr>
        <p:spPr>
          <a:xfrm>
            <a:off x="12306240" y="5434920"/>
            <a:ext cx="1256400" cy="132120"/>
          </a:xfrm>
          <a:prstGeom prst="rect">
            <a:avLst/>
          </a:prstGeom>
          <a:solidFill>
            <a:srgbClr val="e5852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347" name="Text 23"/>
          <p:cNvSpPr/>
          <p:nvPr/>
        </p:nvSpPr>
        <p:spPr>
          <a:xfrm>
            <a:off x="14468400" y="5373000"/>
            <a:ext cx="1570680" cy="2941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500" spc="-1" strike="noStrike">
                <a:solidFill>
                  <a:srgbClr val="6e7174"/>
                </a:solidFill>
                <a:latin typeface="Open Sans"/>
                <a:ea typeface="Open Sans"/>
              </a:rPr>
              <a:t>¥5M</a:t>
            </a:r>
            <a:endParaRPr b="0" lang="en-US" sz="1500" spc="-1" strike="noStrike">
              <a:solidFill>
                <a:srgbClr val="000000"/>
              </a:solidFill>
              <a:latin typeface="Arial"/>
            </a:endParaRPr>
          </a:p>
        </p:txBody>
      </p:sp>
      <p:sp>
        <p:nvSpPr>
          <p:cNvPr id="348" name="Text 24"/>
          <p:cNvSpPr/>
          <p:nvPr/>
        </p:nvSpPr>
        <p:spPr>
          <a:xfrm>
            <a:off x="16106760" y="5358600"/>
            <a:ext cx="1570680" cy="3229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650" spc="-1" strike="noStrike">
                <a:solidFill>
                  <a:srgbClr val="c26a12"/>
                </a:solidFill>
                <a:latin typeface="Open Sans"/>
                <a:ea typeface="Open Sans"/>
              </a:rPr>
              <a:t>¥80M</a:t>
            </a:r>
            <a:endParaRPr b="0" lang="en-US" sz="1650" spc="-1" strike="noStrike">
              <a:solidFill>
                <a:srgbClr val="000000"/>
              </a:solidFill>
              <a:latin typeface="Arial"/>
            </a:endParaRPr>
          </a:p>
        </p:txBody>
      </p:sp>
      <p:sp>
        <p:nvSpPr>
          <p:cNvPr id="349" name="Shape 25"/>
          <p:cNvSpPr/>
          <p:nvPr/>
        </p:nvSpPr>
        <p:spPr>
          <a:xfrm>
            <a:off x="609480" y="6425640"/>
            <a:ext cx="17067600" cy="8280"/>
          </a:xfrm>
          <a:prstGeom prst="rect">
            <a:avLst/>
          </a:prstGeom>
          <a:solidFill>
            <a:srgbClr val="e6e6e2"/>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000000"/>
              </a:solidFill>
              <a:latin typeface="Arial"/>
              <a:ea typeface="Arial"/>
            </a:endParaRPr>
          </a:p>
        </p:txBody>
      </p:sp>
      <p:sp>
        <p:nvSpPr>
          <p:cNvPr id="350" name="Text 26"/>
          <p:cNvSpPr/>
          <p:nvPr/>
        </p:nvSpPr>
        <p:spPr>
          <a:xfrm>
            <a:off x="609480" y="6020640"/>
            <a:ext cx="646560" cy="2368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200" spc="-1" strike="noStrike">
                <a:solidFill>
                  <a:srgbClr val="9b9da0"/>
                </a:solidFill>
                <a:latin typeface="Sora"/>
                <a:ea typeface="Sora"/>
              </a:rPr>
              <a:t>L3</a:t>
            </a:r>
            <a:endParaRPr b="0" lang="en-US" sz="1200" spc="-1" strike="noStrike">
              <a:solidFill>
                <a:srgbClr val="000000"/>
              </a:solidFill>
              <a:latin typeface="Arial"/>
            </a:endParaRPr>
          </a:p>
        </p:txBody>
      </p:sp>
      <p:sp>
        <p:nvSpPr>
          <p:cNvPr id="351" name="Text 27"/>
          <p:cNvSpPr/>
          <p:nvPr/>
        </p:nvSpPr>
        <p:spPr>
          <a:xfrm>
            <a:off x="1390680" y="5977800"/>
            <a:ext cx="11775600" cy="3229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50" spc="-1" strike="noStrike">
                <a:solidFill>
                  <a:srgbClr val="2e2e2e"/>
                </a:solidFill>
                <a:latin typeface="Open Sans"/>
                <a:ea typeface="Open Sans"/>
              </a:rPr>
              <a:t>Foundations </a:t>
            </a:r>
            <a:r>
              <a:rPr b="1" lang="zh-CN" sz="1200" spc="-1" strike="noStrike">
                <a:solidFill>
                  <a:srgbClr val="9b9da0"/>
                </a:solidFill>
                <a:latin typeface="Noto Sans JP"/>
                <a:ea typeface="Noto Sans JP"/>
              </a:rPr>
              <a:t>財団（日本財団 ほか）</a:t>
            </a:r>
            <a:endParaRPr b="0" lang="en-US" sz="1200" spc="-1" strike="noStrike">
              <a:solidFill>
                <a:srgbClr val="000000"/>
              </a:solidFill>
              <a:latin typeface="Arial"/>
            </a:endParaRPr>
          </a:p>
        </p:txBody>
      </p:sp>
      <p:sp>
        <p:nvSpPr>
          <p:cNvPr id="352" name="Shape 28"/>
          <p:cNvSpPr/>
          <p:nvPr/>
        </p:nvSpPr>
        <p:spPr>
          <a:xfrm>
            <a:off x="12306240" y="6054120"/>
            <a:ext cx="2094480" cy="132120"/>
          </a:xfrm>
          <a:prstGeom prst="rect">
            <a:avLst/>
          </a:prstGeom>
          <a:solidFill>
            <a:srgbClr val="f1f1e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353" name="Shape 29"/>
          <p:cNvSpPr/>
          <p:nvPr/>
        </p:nvSpPr>
        <p:spPr>
          <a:xfrm>
            <a:off x="12306240" y="6054120"/>
            <a:ext cx="313200" cy="132120"/>
          </a:xfrm>
          <a:prstGeom prst="rect">
            <a:avLst/>
          </a:prstGeom>
          <a:solidFill>
            <a:srgbClr val="c7c9c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354" name="Text 30"/>
          <p:cNvSpPr/>
          <p:nvPr/>
        </p:nvSpPr>
        <p:spPr>
          <a:xfrm>
            <a:off x="14468400" y="5992200"/>
            <a:ext cx="1570680" cy="2941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500" spc="-1" strike="noStrike">
                <a:solidFill>
                  <a:srgbClr val="6e7174"/>
                </a:solidFill>
                <a:latin typeface="Open Sans"/>
                <a:ea typeface="Open Sans"/>
              </a:rPr>
              <a:t>¥3M</a:t>
            </a:r>
            <a:endParaRPr b="0" lang="en-US" sz="1500" spc="-1" strike="noStrike">
              <a:solidFill>
                <a:srgbClr val="000000"/>
              </a:solidFill>
              <a:latin typeface="Arial"/>
            </a:endParaRPr>
          </a:p>
        </p:txBody>
      </p:sp>
      <p:sp>
        <p:nvSpPr>
          <p:cNvPr id="355" name="Text 31"/>
          <p:cNvSpPr/>
          <p:nvPr/>
        </p:nvSpPr>
        <p:spPr>
          <a:xfrm>
            <a:off x="16106760" y="5977800"/>
            <a:ext cx="1570680" cy="3229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650" spc="-1" strike="noStrike">
                <a:solidFill>
                  <a:srgbClr val="2e2e2e"/>
                </a:solidFill>
                <a:latin typeface="Open Sans"/>
                <a:ea typeface="Open Sans"/>
              </a:rPr>
              <a:t>¥20M</a:t>
            </a:r>
            <a:endParaRPr b="0" lang="en-US" sz="1650" spc="-1" strike="noStrike">
              <a:solidFill>
                <a:srgbClr val="000000"/>
              </a:solidFill>
              <a:latin typeface="Arial"/>
            </a:endParaRPr>
          </a:p>
        </p:txBody>
      </p:sp>
      <p:sp>
        <p:nvSpPr>
          <p:cNvPr id="356" name="Shape 32"/>
          <p:cNvSpPr/>
          <p:nvPr/>
        </p:nvSpPr>
        <p:spPr>
          <a:xfrm>
            <a:off x="609480" y="7044840"/>
            <a:ext cx="17067600" cy="8280"/>
          </a:xfrm>
          <a:prstGeom prst="rect">
            <a:avLst/>
          </a:prstGeom>
          <a:solidFill>
            <a:srgbClr val="e6e6e2"/>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000000"/>
              </a:solidFill>
              <a:latin typeface="Arial"/>
              <a:ea typeface="Arial"/>
            </a:endParaRPr>
          </a:p>
        </p:txBody>
      </p:sp>
      <p:sp>
        <p:nvSpPr>
          <p:cNvPr id="357" name="Text 33"/>
          <p:cNvSpPr/>
          <p:nvPr/>
        </p:nvSpPr>
        <p:spPr>
          <a:xfrm>
            <a:off x="609480" y="6639840"/>
            <a:ext cx="646560" cy="2368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200" spc="-1" strike="noStrike">
                <a:solidFill>
                  <a:srgbClr val="9b9da0"/>
                </a:solidFill>
                <a:latin typeface="Sora"/>
                <a:ea typeface="Sora"/>
              </a:rPr>
              <a:t>L4</a:t>
            </a:r>
            <a:endParaRPr b="0" lang="en-US" sz="1200" spc="-1" strike="noStrike">
              <a:solidFill>
                <a:srgbClr val="000000"/>
              </a:solidFill>
              <a:latin typeface="Arial"/>
            </a:endParaRPr>
          </a:p>
        </p:txBody>
      </p:sp>
      <p:sp>
        <p:nvSpPr>
          <p:cNvPr id="358" name="Text 34"/>
          <p:cNvSpPr/>
          <p:nvPr/>
        </p:nvSpPr>
        <p:spPr>
          <a:xfrm>
            <a:off x="1390680" y="6597000"/>
            <a:ext cx="11775600" cy="3229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50" spc="-1" strike="noStrike">
                <a:solidFill>
                  <a:srgbClr val="2e2e2e"/>
                </a:solidFill>
                <a:latin typeface="Open Sans"/>
                <a:ea typeface="Open Sans"/>
              </a:rPr>
              <a:t>Corporate partnerships </a:t>
            </a:r>
            <a:r>
              <a:rPr b="1" lang="zh-CN" sz="1200" spc="-1" strike="noStrike">
                <a:solidFill>
                  <a:srgbClr val="9b9da0"/>
                </a:solidFill>
                <a:latin typeface="Noto Sans JP"/>
                <a:ea typeface="Noto Sans JP"/>
              </a:rPr>
              <a:t>企業連携（</a:t>
            </a:r>
            <a:r>
              <a:rPr b="1" lang="en-US" sz="1200" spc="-1" strike="noStrike">
                <a:solidFill>
                  <a:srgbClr val="9b9da0"/>
                </a:solidFill>
                <a:latin typeface="Noto Sans JP"/>
                <a:ea typeface="Noto Sans JP"/>
              </a:rPr>
              <a:t>CSR</a:t>
            </a:r>
            <a:r>
              <a:rPr b="1" lang="zh-CN" sz="1200" spc="-1" strike="noStrike">
                <a:solidFill>
                  <a:srgbClr val="9b9da0"/>
                </a:solidFill>
                <a:latin typeface="Noto Sans JP"/>
                <a:ea typeface="Noto Sans JP"/>
              </a:rPr>
              <a:t>・蘭日）</a:t>
            </a:r>
            <a:endParaRPr b="0" lang="en-US" sz="1200" spc="-1" strike="noStrike">
              <a:solidFill>
                <a:srgbClr val="000000"/>
              </a:solidFill>
              <a:latin typeface="Arial"/>
            </a:endParaRPr>
          </a:p>
        </p:txBody>
      </p:sp>
      <p:sp>
        <p:nvSpPr>
          <p:cNvPr id="359" name="Shape 35"/>
          <p:cNvSpPr/>
          <p:nvPr/>
        </p:nvSpPr>
        <p:spPr>
          <a:xfrm>
            <a:off x="12306240" y="6673320"/>
            <a:ext cx="2094480" cy="132120"/>
          </a:xfrm>
          <a:prstGeom prst="rect">
            <a:avLst/>
          </a:prstGeom>
          <a:solidFill>
            <a:srgbClr val="f1f1e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360" name="Shape 36"/>
          <p:cNvSpPr/>
          <p:nvPr/>
        </p:nvSpPr>
        <p:spPr>
          <a:xfrm>
            <a:off x="12306240" y="6673320"/>
            <a:ext cx="460080" cy="132120"/>
          </a:xfrm>
          <a:prstGeom prst="rect">
            <a:avLst/>
          </a:prstGeom>
          <a:solidFill>
            <a:srgbClr val="c7c9c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361" name="Text 37"/>
          <p:cNvSpPr/>
          <p:nvPr/>
        </p:nvSpPr>
        <p:spPr>
          <a:xfrm>
            <a:off x="14468400" y="6611400"/>
            <a:ext cx="1570680" cy="2941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500" spc="-1" strike="noStrike">
                <a:solidFill>
                  <a:srgbClr val="6e7174"/>
                </a:solidFill>
                <a:latin typeface="Open Sans"/>
                <a:ea typeface="Open Sans"/>
              </a:rPr>
              <a:t>—</a:t>
            </a:r>
            <a:endParaRPr b="0" lang="en-US" sz="1500" spc="-1" strike="noStrike">
              <a:solidFill>
                <a:srgbClr val="000000"/>
              </a:solidFill>
              <a:latin typeface="Arial"/>
            </a:endParaRPr>
          </a:p>
        </p:txBody>
      </p:sp>
      <p:sp>
        <p:nvSpPr>
          <p:cNvPr id="362" name="Text 38"/>
          <p:cNvSpPr/>
          <p:nvPr/>
        </p:nvSpPr>
        <p:spPr>
          <a:xfrm>
            <a:off x="16106760" y="6597000"/>
            <a:ext cx="1570680" cy="3229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650" spc="-1" strike="noStrike">
                <a:solidFill>
                  <a:srgbClr val="2e2e2e"/>
                </a:solidFill>
                <a:latin typeface="Open Sans"/>
                <a:ea typeface="Open Sans"/>
              </a:rPr>
              <a:t>¥30M</a:t>
            </a:r>
            <a:endParaRPr b="0" lang="en-US" sz="1650" spc="-1" strike="noStrike">
              <a:solidFill>
                <a:srgbClr val="000000"/>
              </a:solidFill>
              <a:latin typeface="Arial"/>
            </a:endParaRPr>
          </a:p>
        </p:txBody>
      </p:sp>
      <p:sp>
        <p:nvSpPr>
          <p:cNvPr id="363" name="Shape 39"/>
          <p:cNvSpPr/>
          <p:nvPr/>
        </p:nvSpPr>
        <p:spPr>
          <a:xfrm>
            <a:off x="609480" y="7663680"/>
            <a:ext cx="17067600" cy="8280"/>
          </a:xfrm>
          <a:prstGeom prst="rect">
            <a:avLst/>
          </a:prstGeom>
          <a:solidFill>
            <a:srgbClr val="e6e6e2"/>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000000"/>
              </a:solidFill>
              <a:latin typeface="Arial"/>
              <a:ea typeface="Arial"/>
            </a:endParaRPr>
          </a:p>
        </p:txBody>
      </p:sp>
      <p:sp>
        <p:nvSpPr>
          <p:cNvPr id="364" name="Text 40"/>
          <p:cNvSpPr/>
          <p:nvPr/>
        </p:nvSpPr>
        <p:spPr>
          <a:xfrm>
            <a:off x="609480" y="7259040"/>
            <a:ext cx="646560" cy="2368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200" spc="-1" strike="noStrike">
                <a:solidFill>
                  <a:srgbClr val="e58520"/>
                </a:solidFill>
                <a:latin typeface="Sora"/>
                <a:ea typeface="Sora"/>
              </a:rPr>
              <a:t>L5</a:t>
            </a:r>
            <a:endParaRPr b="0" lang="en-US" sz="1200" spc="-1" strike="noStrike">
              <a:solidFill>
                <a:srgbClr val="000000"/>
              </a:solidFill>
              <a:latin typeface="Arial"/>
            </a:endParaRPr>
          </a:p>
        </p:txBody>
      </p:sp>
      <p:sp>
        <p:nvSpPr>
          <p:cNvPr id="365" name="Text 41"/>
          <p:cNvSpPr/>
          <p:nvPr/>
        </p:nvSpPr>
        <p:spPr>
          <a:xfrm>
            <a:off x="1390680" y="7216200"/>
            <a:ext cx="11775600" cy="3229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50" spc="-1" strike="noStrike">
                <a:solidFill>
                  <a:srgbClr val="2e2e2e"/>
                </a:solidFill>
                <a:latin typeface="Open Sans"/>
                <a:ea typeface="Open Sans"/>
              </a:rPr>
              <a:t>Operating revenue </a:t>
            </a:r>
            <a:r>
              <a:rPr b="1" lang="zh-CN" sz="1200" spc="-1" strike="noStrike">
                <a:solidFill>
                  <a:srgbClr val="9b9da0"/>
                </a:solidFill>
                <a:latin typeface="Noto Sans JP"/>
                <a:ea typeface="Noto Sans JP"/>
              </a:rPr>
              <a:t>事業収益（ホスティング・</a:t>
            </a:r>
            <a:r>
              <a:rPr b="1" lang="en-US" sz="1200" spc="-1" strike="noStrike">
                <a:solidFill>
                  <a:srgbClr val="9b9da0"/>
                </a:solidFill>
                <a:latin typeface="Noto Sans JP"/>
                <a:ea typeface="Noto Sans JP"/>
              </a:rPr>
              <a:t>FIT</a:t>
            </a:r>
            <a:r>
              <a:rPr b="1" lang="zh-CN" sz="1200" spc="-1" strike="noStrike">
                <a:solidFill>
                  <a:srgbClr val="9b9da0"/>
                </a:solidFill>
                <a:latin typeface="Noto Sans JP"/>
                <a:ea typeface="Noto Sans JP"/>
              </a:rPr>
              <a:t>・</a:t>
            </a:r>
            <a:r>
              <a:rPr b="1" lang="en-US" sz="1200" spc="-1" strike="noStrike">
                <a:solidFill>
                  <a:srgbClr val="9b9da0"/>
                </a:solidFill>
                <a:latin typeface="Noto Sans JP"/>
                <a:ea typeface="Noto Sans JP"/>
              </a:rPr>
              <a:t>EV</a:t>
            </a:r>
            <a:r>
              <a:rPr b="1" lang="zh-CN" sz="1200" spc="-1" strike="noStrike">
                <a:solidFill>
                  <a:srgbClr val="9b9da0"/>
                </a:solidFill>
                <a:latin typeface="Noto Sans JP"/>
                <a:ea typeface="Noto Sans JP"/>
              </a:rPr>
              <a:t>・</a:t>
            </a:r>
            <a:r>
              <a:rPr b="1" lang="en-US" sz="1200" spc="-1" strike="noStrike">
                <a:solidFill>
                  <a:srgbClr val="9b9da0"/>
                </a:solidFill>
                <a:latin typeface="Noto Sans JP"/>
                <a:ea typeface="Noto Sans JP"/>
              </a:rPr>
              <a:t>J</a:t>
            </a:r>
            <a:r>
              <a:rPr b="1" lang="zh-CN" sz="1200" spc="-1" strike="noStrike">
                <a:solidFill>
                  <a:srgbClr val="9b9da0"/>
                </a:solidFill>
                <a:latin typeface="Noto Sans JP"/>
                <a:ea typeface="Noto Sans JP"/>
              </a:rPr>
              <a:t>クレジット）</a:t>
            </a:r>
            <a:endParaRPr b="0" lang="en-US" sz="1200" spc="-1" strike="noStrike">
              <a:solidFill>
                <a:srgbClr val="000000"/>
              </a:solidFill>
              <a:latin typeface="Arial"/>
            </a:endParaRPr>
          </a:p>
        </p:txBody>
      </p:sp>
      <p:sp>
        <p:nvSpPr>
          <p:cNvPr id="366" name="Shape 42"/>
          <p:cNvSpPr/>
          <p:nvPr/>
        </p:nvSpPr>
        <p:spPr>
          <a:xfrm>
            <a:off x="12306240" y="7292520"/>
            <a:ext cx="2094480" cy="132120"/>
          </a:xfrm>
          <a:prstGeom prst="rect">
            <a:avLst/>
          </a:prstGeom>
          <a:solidFill>
            <a:srgbClr val="f1f1e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367" name="Shape 43"/>
          <p:cNvSpPr/>
          <p:nvPr/>
        </p:nvSpPr>
        <p:spPr>
          <a:xfrm>
            <a:off x="12306240" y="7292520"/>
            <a:ext cx="61920" cy="132120"/>
          </a:xfrm>
          <a:prstGeom prst="rect">
            <a:avLst/>
          </a:prstGeom>
          <a:solidFill>
            <a:srgbClr val="c7c9cb"/>
          </a:solidFill>
          <a:ln w="0">
            <a:noFill/>
          </a:ln>
        </p:spPr>
        <p:style>
          <a:lnRef idx="0"/>
          <a:fillRef idx="0"/>
          <a:effectRef idx="0"/>
          <a:fontRef idx="minor"/>
        </p:style>
        <p:txBody>
          <a:bodyPr lIns="31320" rIns="31320" tIns="45000" bIns="45000" anchor="t">
            <a:noAutofit/>
          </a:bodyPr>
          <a:p>
            <a:pPr>
              <a:lnSpc>
                <a:spcPct val="100000"/>
              </a:lnSpc>
            </a:pPr>
            <a:endParaRPr b="0" lang="en-US" sz="1800" spc="-1" strike="noStrike">
              <a:solidFill>
                <a:srgbClr val="000000"/>
              </a:solidFill>
              <a:latin typeface="Arial"/>
              <a:ea typeface="Arial"/>
            </a:endParaRPr>
          </a:p>
        </p:txBody>
      </p:sp>
      <p:sp>
        <p:nvSpPr>
          <p:cNvPr id="368" name="Text 44"/>
          <p:cNvSpPr/>
          <p:nvPr/>
        </p:nvSpPr>
        <p:spPr>
          <a:xfrm>
            <a:off x="14468400" y="7230600"/>
            <a:ext cx="1570680" cy="2941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500" spc="-1" strike="noStrike">
                <a:solidFill>
                  <a:srgbClr val="6e7174"/>
                </a:solidFill>
                <a:latin typeface="Open Sans"/>
                <a:ea typeface="Open Sans"/>
              </a:rPr>
              <a:t>—</a:t>
            </a:r>
            <a:endParaRPr b="0" lang="en-US" sz="1500" spc="-1" strike="noStrike">
              <a:solidFill>
                <a:srgbClr val="000000"/>
              </a:solidFill>
              <a:latin typeface="Arial"/>
            </a:endParaRPr>
          </a:p>
        </p:txBody>
      </p:sp>
      <p:sp>
        <p:nvSpPr>
          <p:cNvPr id="369" name="Text 45"/>
          <p:cNvSpPr/>
          <p:nvPr/>
        </p:nvSpPr>
        <p:spPr>
          <a:xfrm>
            <a:off x="16106760" y="7216200"/>
            <a:ext cx="1570680" cy="322920"/>
          </a:xfrm>
          <a:prstGeom prst="rect">
            <a:avLst/>
          </a:prstGeom>
          <a:noFill/>
          <a:ln w="0">
            <a:noFill/>
          </a:ln>
        </p:spPr>
        <p:style>
          <a:lnRef idx="0"/>
          <a:fillRef idx="0"/>
          <a:effectRef idx="0"/>
          <a:fontRef idx="minor"/>
        </p:style>
        <p:txBody>
          <a:bodyPr lIns="25560" rIns="25560" tIns="25560" bIns="25560" anchor="t">
            <a:normAutofit/>
          </a:bodyPr>
          <a:p>
            <a:pPr algn="r" defTabSz="914400">
              <a:lnSpc>
                <a:spcPct val="100000"/>
              </a:lnSpc>
              <a:tabLst>
                <a:tab algn="l" pos="0"/>
              </a:tabLst>
            </a:pPr>
            <a:r>
              <a:rPr b="1" lang="en-US" sz="1650" spc="-1" strike="noStrike">
                <a:solidFill>
                  <a:srgbClr val="2e2e2e"/>
                </a:solidFill>
                <a:latin typeface="Open Sans"/>
                <a:ea typeface="Open Sans"/>
              </a:rPr>
              <a:t>¥3M</a:t>
            </a:r>
            <a:endParaRPr b="0" lang="en-US" sz="1650" spc="-1" strike="noStrike">
              <a:solidFill>
                <a:srgbClr val="000000"/>
              </a:solidFill>
              <a:latin typeface="Arial"/>
            </a:endParaRPr>
          </a:p>
        </p:txBody>
      </p:sp>
      <p:sp>
        <p:nvSpPr>
          <p:cNvPr id="370" name="Text 46"/>
          <p:cNvSpPr/>
          <p:nvPr/>
        </p:nvSpPr>
        <p:spPr>
          <a:xfrm>
            <a:off x="609480" y="9410760"/>
            <a:ext cx="1877472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000" spc="18" strike="noStrike">
                <a:solidFill>
                  <a:srgbClr val="a9abae"/>
                </a:solidFill>
                <a:latin typeface="Open Sans"/>
                <a:ea typeface="Open Sans"/>
              </a:rPr>
              <a:t>Illustrative planning targets, not commitments. Actual mix depends on grant outcomes &amp; partnerships in Phases 1–2. </a:t>
            </a:r>
            <a:r>
              <a:rPr b="1" lang="zh-CN" sz="1000" spc="18" strike="noStrike">
                <a:solidFill>
                  <a:srgbClr val="a9abae"/>
                </a:solidFill>
                <a:latin typeface="Open Sans"/>
                <a:ea typeface="Open Sans"/>
              </a:rPr>
              <a:t>計画上の目標値（確約ではない）。</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e2e"/>
        </a:solidFill>
      </p:bgPr>
    </p:bg>
    <p:spTree>
      <p:nvGrpSpPr>
        <p:cNvPr id="1" name=""/>
        <p:cNvGrpSpPr/>
        <p:nvPr/>
      </p:nvGrpSpPr>
      <p:grpSpPr>
        <a:xfrm>
          <a:off x="0" y="0"/>
          <a:ext cx="0" cy="0"/>
          <a:chOff x="0" y="0"/>
          <a:chExt cx="0" cy="0"/>
        </a:xfrm>
      </p:grpSpPr>
      <p:sp>
        <p:nvSpPr>
          <p:cNvPr id="371" name="Shape 0"/>
          <p:cNvSpPr/>
          <p:nvPr/>
        </p:nvSpPr>
        <p:spPr>
          <a:xfrm>
            <a:off x="0" y="0"/>
            <a:ext cx="18286920" cy="75240"/>
          </a:xfrm>
          <a:prstGeom prst="rect">
            <a:avLst/>
          </a:prstGeom>
          <a:solidFill>
            <a:srgbClr val="e58520"/>
          </a:solidFill>
          <a:ln w="0">
            <a:noFill/>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ffffff"/>
              </a:solidFill>
              <a:latin typeface="Arial"/>
              <a:ea typeface="Arial"/>
            </a:endParaRPr>
          </a:p>
        </p:txBody>
      </p:sp>
      <p:sp>
        <p:nvSpPr>
          <p:cNvPr id="372" name="Shape 1"/>
          <p:cNvSpPr/>
          <p:nvPr/>
        </p:nvSpPr>
        <p:spPr>
          <a:xfrm>
            <a:off x="609480" y="895320"/>
            <a:ext cx="43704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373" name="Text 2"/>
          <p:cNvSpPr/>
          <p:nvPr/>
        </p:nvSpPr>
        <p:spPr>
          <a:xfrm>
            <a:off x="1181160" y="800280"/>
            <a:ext cx="422316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202" strike="noStrike">
                <a:solidFill>
                  <a:srgbClr val="9b9da0"/>
                </a:solidFill>
                <a:latin typeface="Open Sans"/>
                <a:ea typeface="Open Sans"/>
              </a:rPr>
              <a:t>LONG-TERM RETURN · </a:t>
            </a:r>
            <a:r>
              <a:rPr b="1" lang="zh-CN" sz="1300" spc="202" strike="noStrike">
                <a:solidFill>
                  <a:srgbClr val="9b9da0"/>
                </a:solidFill>
                <a:latin typeface="Open Sans"/>
                <a:ea typeface="Open Sans"/>
              </a:rPr>
              <a:t>長期リターン </a:t>
            </a:r>
            <a:r>
              <a:rPr b="1" lang="en-US" sz="1300" spc="202" strike="noStrike">
                <a:solidFill>
                  <a:srgbClr val="9b9da0"/>
                </a:solidFill>
                <a:latin typeface="Open Sans"/>
                <a:ea typeface="Open Sans"/>
              </a:rPr>
              <a:t>· 12</a:t>
            </a:r>
            <a:endParaRPr b="0" lang="en-US" sz="1300" spc="-1" strike="noStrike">
              <a:solidFill>
                <a:srgbClr val="ffffff"/>
              </a:solidFill>
              <a:latin typeface="Arial"/>
            </a:endParaRPr>
          </a:p>
        </p:txBody>
      </p:sp>
      <p:sp>
        <p:nvSpPr>
          <p:cNvPr id="374" name="Text 3"/>
          <p:cNvSpPr/>
          <p:nvPr/>
        </p:nvSpPr>
        <p:spPr>
          <a:xfrm>
            <a:off x="609480" y="1228680"/>
            <a:ext cx="18774720" cy="6454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3000"/>
              </a:lnSpc>
              <a:tabLst>
                <a:tab algn="l" pos="0"/>
              </a:tabLst>
            </a:pPr>
            <a:r>
              <a:rPr b="1" lang="en-US" sz="4650" spc="-46" strike="noStrike">
                <a:solidFill>
                  <a:srgbClr val="f4f1ec"/>
                </a:solidFill>
                <a:latin typeface="Sora"/>
                <a:ea typeface="Sora"/>
              </a:rPr>
              <a:t>An asset, not an expense</a:t>
            </a:r>
            <a:endParaRPr b="0" lang="en-US" sz="4650" spc="-1" strike="noStrike">
              <a:solidFill>
                <a:srgbClr val="ffffff"/>
              </a:solidFill>
              <a:latin typeface="Arial"/>
            </a:endParaRPr>
          </a:p>
        </p:txBody>
      </p:sp>
      <p:sp>
        <p:nvSpPr>
          <p:cNvPr id="375" name="Text 4"/>
          <p:cNvSpPr/>
          <p:nvPr/>
        </p:nvSpPr>
        <p:spPr>
          <a:xfrm>
            <a:off x="609480" y="1913400"/>
            <a:ext cx="18774720" cy="389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zh-CN" sz="1900" spc="-1" strike="noStrike">
                <a:solidFill>
                  <a:srgbClr val="b9bbbd"/>
                </a:solidFill>
                <a:latin typeface="Noto Sans JP"/>
                <a:ea typeface="Noto Sans JP"/>
              </a:rPr>
              <a:t>一度きりの支出ではなく、</a:t>
            </a:r>
            <a:r>
              <a:rPr b="0" lang="en-US" sz="1900" spc="-1" strike="noStrike">
                <a:solidFill>
                  <a:srgbClr val="b9bbbd"/>
                </a:solidFill>
                <a:latin typeface="Noto Sans JP"/>
                <a:ea typeface="Noto Sans JP"/>
              </a:rPr>
              <a:t>25</a:t>
            </a:r>
            <a:r>
              <a:rPr b="0" lang="zh-CN" sz="1900" spc="-1" strike="noStrike">
                <a:solidFill>
                  <a:srgbClr val="b9bbbd"/>
                </a:solidFill>
                <a:latin typeface="Noto Sans JP"/>
                <a:ea typeface="Noto Sans JP"/>
              </a:rPr>
              <a:t>年生み続ける資産。</a:t>
            </a:r>
            <a:endParaRPr b="0" lang="en-US" sz="1900" spc="-1" strike="noStrike">
              <a:solidFill>
                <a:srgbClr val="ffffff"/>
              </a:solidFill>
              <a:latin typeface="Arial"/>
            </a:endParaRPr>
          </a:p>
        </p:txBody>
      </p:sp>
      <p:sp>
        <p:nvSpPr>
          <p:cNvPr id="376" name="Text 5"/>
          <p:cNvSpPr/>
          <p:nvPr/>
        </p:nvSpPr>
        <p:spPr>
          <a:xfrm>
            <a:off x="609480" y="4342680"/>
            <a:ext cx="13682520" cy="3229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500" spc="180" strike="noStrike">
                <a:solidFill>
                  <a:srgbClr val="9b9da0"/>
                </a:solidFill>
                <a:latin typeface="Open Sans"/>
                <a:ea typeface="Open Sans"/>
              </a:rPr>
              <a:t>THE FUNDING MIX INVERTS · </a:t>
            </a:r>
            <a:r>
              <a:rPr b="1" lang="zh-CN" sz="1500" spc="180" strike="noStrike">
                <a:solidFill>
                  <a:srgbClr val="9b9da0"/>
                </a:solidFill>
                <a:latin typeface="Open Sans"/>
                <a:ea typeface="Open Sans"/>
              </a:rPr>
              <a:t>財源は反転する</a:t>
            </a:r>
            <a:endParaRPr b="0" lang="en-US" sz="1500" spc="-1" strike="noStrike">
              <a:solidFill>
                <a:srgbClr val="ffffff"/>
              </a:solidFill>
              <a:latin typeface="Arial"/>
            </a:endParaRPr>
          </a:p>
        </p:txBody>
      </p:sp>
      <p:sp>
        <p:nvSpPr>
          <p:cNvPr id="377" name="Text 6"/>
          <p:cNvSpPr/>
          <p:nvPr/>
        </p:nvSpPr>
        <p:spPr>
          <a:xfrm>
            <a:off x="609480" y="4876200"/>
            <a:ext cx="4350600" cy="2847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450" spc="-1" strike="noStrike">
                <a:solidFill>
                  <a:srgbClr val="b9bbbd"/>
                </a:solidFill>
                <a:latin typeface="Open Sans"/>
                <a:ea typeface="Open Sans"/>
              </a:rPr>
              <a:t>Year 1</a:t>
            </a:r>
            <a:endParaRPr b="0" lang="en-US" sz="1450" spc="-1" strike="noStrike">
              <a:solidFill>
                <a:srgbClr val="ffffff"/>
              </a:solidFill>
              <a:latin typeface="Arial"/>
            </a:endParaRPr>
          </a:p>
        </p:txBody>
      </p:sp>
      <p:sp>
        <p:nvSpPr>
          <p:cNvPr id="378" name="Shape 7"/>
          <p:cNvSpPr/>
          <p:nvPr/>
        </p:nvSpPr>
        <p:spPr>
          <a:xfrm>
            <a:off x="609480" y="5218920"/>
            <a:ext cx="3954960" cy="2189520"/>
          </a:xfrm>
          <a:prstGeom prst="rect">
            <a:avLst/>
          </a:prstGeom>
          <a:solidFill>
            <a:srgbClr val="3a3a3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379" name="Shape 8"/>
          <p:cNvSpPr/>
          <p:nvPr/>
        </p:nvSpPr>
        <p:spPr>
          <a:xfrm>
            <a:off x="609480" y="5482080"/>
            <a:ext cx="3954960" cy="1926720"/>
          </a:xfrm>
          <a:prstGeom prst="rect">
            <a:avLst/>
          </a:prstGeom>
          <a:solidFill>
            <a:srgbClr val="6e717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380" name="Text 9"/>
          <p:cNvSpPr/>
          <p:nvPr/>
        </p:nvSpPr>
        <p:spPr>
          <a:xfrm>
            <a:off x="550080" y="5577120"/>
            <a:ext cx="4073760" cy="1869480"/>
          </a:xfrm>
          <a:prstGeom prst="rect">
            <a:avLst/>
          </a:prstGeom>
          <a:noFill/>
          <a:ln w="0">
            <a:noFill/>
          </a:ln>
        </p:spPr>
        <p:style>
          <a:lnRef idx="0"/>
          <a:fillRef idx="0"/>
          <a:effectRef idx="0"/>
          <a:fontRef idx="minor"/>
        </p:style>
        <p:txBody>
          <a:bodyPr lIns="25560" rIns="25560" tIns="25560" bIns="25560" anchor="t">
            <a:normAutofit/>
          </a:bodyPr>
          <a:p>
            <a:pPr algn="ctr" defTabSz="914400">
              <a:lnSpc>
                <a:spcPct val="100000"/>
              </a:lnSpc>
              <a:tabLst>
                <a:tab algn="l" pos="0"/>
              </a:tabLst>
            </a:pPr>
            <a:r>
              <a:rPr b="1" lang="en-US" sz="1200" spc="-1" strike="noStrike">
                <a:solidFill>
                  <a:srgbClr val="ffffff"/>
                </a:solidFill>
                <a:latin typeface="Open Sans"/>
                <a:ea typeface="Open Sans"/>
              </a:rPr>
              <a:t>Grants</a:t>
            </a:r>
            <a:endParaRPr b="0" lang="en-US" sz="1200" spc="-1" strike="noStrike">
              <a:solidFill>
                <a:srgbClr val="ffffff"/>
              </a:solidFill>
              <a:latin typeface="Arial"/>
            </a:endParaRPr>
          </a:p>
        </p:txBody>
      </p:sp>
      <p:sp>
        <p:nvSpPr>
          <p:cNvPr id="381" name="Text 10"/>
          <p:cNvSpPr/>
          <p:nvPr/>
        </p:nvSpPr>
        <p:spPr>
          <a:xfrm>
            <a:off x="609480" y="7485840"/>
            <a:ext cx="4350600" cy="246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200" spc="-1" strike="noStrike">
                <a:solidFill>
                  <a:srgbClr val="9b9da0"/>
                </a:solidFill>
                <a:latin typeface="Open Sans"/>
                <a:ea typeface="Open Sans"/>
              </a:rPr>
              <a:t>~Grant-dependent</a:t>
            </a:r>
            <a:endParaRPr b="0" lang="en-US" sz="1200" spc="-1" strike="noStrike">
              <a:solidFill>
                <a:srgbClr val="ffffff"/>
              </a:solidFill>
              <a:latin typeface="Arial"/>
            </a:endParaRPr>
          </a:p>
        </p:txBody>
      </p:sp>
      <p:sp>
        <p:nvSpPr>
          <p:cNvPr id="382" name="Text 11"/>
          <p:cNvSpPr/>
          <p:nvPr/>
        </p:nvSpPr>
        <p:spPr>
          <a:xfrm>
            <a:off x="4851360" y="4876200"/>
            <a:ext cx="4350600" cy="2847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450" spc="-1" strike="noStrike">
                <a:solidFill>
                  <a:srgbClr val="b9bbbd"/>
                </a:solidFill>
                <a:latin typeface="Open Sans"/>
                <a:ea typeface="Open Sans"/>
              </a:rPr>
              <a:t>Year 3</a:t>
            </a:r>
            <a:endParaRPr b="0" lang="en-US" sz="1450" spc="-1" strike="noStrike">
              <a:solidFill>
                <a:srgbClr val="ffffff"/>
              </a:solidFill>
              <a:latin typeface="Arial"/>
            </a:endParaRPr>
          </a:p>
        </p:txBody>
      </p:sp>
      <p:sp>
        <p:nvSpPr>
          <p:cNvPr id="383" name="Shape 12"/>
          <p:cNvSpPr/>
          <p:nvPr/>
        </p:nvSpPr>
        <p:spPr>
          <a:xfrm>
            <a:off x="4851360" y="5218920"/>
            <a:ext cx="3954960" cy="2189520"/>
          </a:xfrm>
          <a:prstGeom prst="rect">
            <a:avLst/>
          </a:prstGeom>
          <a:solidFill>
            <a:srgbClr val="3a3a3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384" name="Shape 13"/>
          <p:cNvSpPr/>
          <p:nvPr/>
        </p:nvSpPr>
        <p:spPr>
          <a:xfrm>
            <a:off x="4851360" y="5218920"/>
            <a:ext cx="3954960" cy="1357200"/>
          </a:xfrm>
          <a:prstGeom prst="rect">
            <a:avLst/>
          </a:prstGeom>
          <a:solidFill>
            <a:srgbClr val="6e717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385" name="Text 14"/>
          <p:cNvSpPr/>
          <p:nvPr/>
        </p:nvSpPr>
        <p:spPr>
          <a:xfrm>
            <a:off x="4791960" y="5314320"/>
            <a:ext cx="4073760" cy="1299960"/>
          </a:xfrm>
          <a:prstGeom prst="rect">
            <a:avLst/>
          </a:prstGeom>
          <a:noFill/>
          <a:ln w="0">
            <a:noFill/>
          </a:ln>
        </p:spPr>
        <p:style>
          <a:lnRef idx="0"/>
          <a:fillRef idx="0"/>
          <a:effectRef idx="0"/>
          <a:fontRef idx="minor"/>
        </p:style>
        <p:txBody>
          <a:bodyPr lIns="25560" rIns="25560" tIns="25560" bIns="25560" anchor="t">
            <a:normAutofit/>
          </a:bodyPr>
          <a:p>
            <a:pPr algn="ctr" defTabSz="914400">
              <a:lnSpc>
                <a:spcPct val="100000"/>
              </a:lnSpc>
              <a:tabLst>
                <a:tab algn="l" pos="0"/>
              </a:tabLst>
            </a:pPr>
            <a:r>
              <a:rPr b="1" lang="en-US" sz="1200" spc="-1" strike="noStrike">
                <a:solidFill>
                  <a:srgbClr val="ffffff"/>
                </a:solidFill>
                <a:latin typeface="Open Sans"/>
                <a:ea typeface="Open Sans"/>
              </a:rPr>
              <a:t>Grants</a:t>
            </a:r>
            <a:endParaRPr b="0" lang="en-US" sz="1200" spc="-1" strike="noStrike">
              <a:solidFill>
                <a:srgbClr val="ffffff"/>
              </a:solidFill>
              <a:latin typeface="Arial"/>
            </a:endParaRPr>
          </a:p>
        </p:txBody>
      </p:sp>
      <p:sp>
        <p:nvSpPr>
          <p:cNvPr id="386" name="Shape 15"/>
          <p:cNvSpPr/>
          <p:nvPr/>
        </p:nvSpPr>
        <p:spPr>
          <a:xfrm>
            <a:off x="4851360" y="6577200"/>
            <a:ext cx="3954960" cy="831240"/>
          </a:xfrm>
          <a:prstGeom prst="rect">
            <a:avLst/>
          </a:prstGeom>
          <a:solidFill>
            <a:srgbClr val="e5852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387" name="Text 16"/>
          <p:cNvSpPr/>
          <p:nvPr/>
        </p:nvSpPr>
        <p:spPr>
          <a:xfrm>
            <a:off x="4791960" y="6577200"/>
            <a:ext cx="4073760" cy="869400"/>
          </a:xfrm>
          <a:prstGeom prst="rect">
            <a:avLst/>
          </a:prstGeom>
          <a:noFill/>
          <a:ln w="0">
            <a:noFill/>
          </a:ln>
        </p:spPr>
        <p:style>
          <a:lnRef idx="0"/>
          <a:fillRef idx="0"/>
          <a:effectRef idx="0"/>
          <a:fontRef idx="minor"/>
        </p:style>
        <p:txBody>
          <a:bodyPr lIns="25560" rIns="25560" tIns="25560" bIns="25560" anchor="ctr">
            <a:normAutofit/>
          </a:bodyPr>
          <a:p>
            <a:pPr algn="ctr" defTabSz="914400">
              <a:lnSpc>
                <a:spcPct val="100000"/>
              </a:lnSpc>
              <a:tabLst>
                <a:tab algn="l" pos="0"/>
              </a:tabLst>
            </a:pPr>
            <a:r>
              <a:rPr b="1" lang="en-US" sz="1200" spc="-1" strike="noStrike">
                <a:solidFill>
                  <a:srgbClr val="ffffff"/>
                </a:solidFill>
                <a:latin typeface="Open Sans"/>
                <a:ea typeface="Open Sans"/>
              </a:rPr>
              <a:t>Revenue + partners</a:t>
            </a:r>
            <a:endParaRPr b="0" lang="en-US" sz="1200" spc="-1" strike="noStrike">
              <a:solidFill>
                <a:srgbClr val="ffffff"/>
              </a:solidFill>
              <a:latin typeface="Arial"/>
            </a:endParaRPr>
          </a:p>
        </p:txBody>
      </p:sp>
      <p:sp>
        <p:nvSpPr>
          <p:cNvPr id="388" name="Text 17"/>
          <p:cNvSpPr/>
          <p:nvPr/>
        </p:nvSpPr>
        <p:spPr>
          <a:xfrm>
            <a:off x="4851360" y="7485840"/>
            <a:ext cx="4350600" cy="246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200" spc="-1" strike="noStrike">
                <a:solidFill>
                  <a:srgbClr val="9b9da0"/>
                </a:solidFill>
                <a:latin typeface="Open Sans"/>
                <a:ea typeface="Open Sans"/>
              </a:rPr>
              <a:t>Revenue begins to carry it</a:t>
            </a:r>
            <a:endParaRPr b="0" lang="en-US" sz="1200" spc="-1" strike="noStrike">
              <a:solidFill>
                <a:srgbClr val="ffffff"/>
              </a:solidFill>
              <a:latin typeface="Arial"/>
            </a:endParaRPr>
          </a:p>
        </p:txBody>
      </p:sp>
      <p:sp>
        <p:nvSpPr>
          <p:cNvPr id="389" name="Text 18"/>
          <p:cNvSpPr/>
          <p:nvPr/>
        </p:nvSpPr>
        <p:spPr>
          <a:xfrm>
            <a:off x="9093240" y="4876200"/>
            <a:ext cx="4350600" cy="2847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450" spc="-1" strike="noStrike">
                <a:solidFill>
                  <a:srgbClr val="f4b872"/>
                </a:solidFill>
                <a:latin typeface="Open Sans"/>
                <a:ea typeface="Open Sans"/>
              </a:rPr>
              <a:t>Year 25</a:t>
            </a:r>
            <a:endParaRPr b="0" lang="en-US" sz="1450" spc="-1" strike="noStrike">
              <a:solidFill>
                <a:srgbClr val="ffffff"/>
              </a:solidFill>
              <a:latin typeface="Arial"/>
            </a:endParaRPr>
          </a:p>
        </p:txBody>
      </p:sp>
      <p:sp>
        <p:nvSpPr>
          <p:cNvPr id="390" name="Shape 19"/>
          <p:cNvSpPr/>
          <p:nvPr/>
        </p:nvSpPr>
        <p:spPr>
          <a:xfrm>
            <a:off x="9093240" y="5218920"/>
            <a:ext cx="3954960" cy="2189520"/>
          </a:xfrm>
          <a:prstGeom prst="rect">
            <a:avLst/>
          </a:prstGeom>
          <a:solidFill>
            <a:srgbClr val="3a3a3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391" name="Shape 20"/>
          <p:cNvSpPr/>
          <p:nvPr/>
        </p:nvSpPr>
        <p:spPr>
          <a:xfrm>
            <a:off x="9093240" y="5218920"/>
            <a:ext cx="3954960" cy="393120"/>
          </a:xfrm>
          <a:prstGeom prst="rect">
            <a:avLst/>
          </a:prstGeom>
          <a:solidFill>
            <a:srgbClr val="6e717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392" name="Shape 21"/>
          <p:cNvSpPr/>
          <p:nvPr/>
        </p:nvSpPr>
        <p:spPr>
          <a:xfrm>
            <a:off x="9093240" y="5613480"/>
            <a:ext cx="3954960" cy="1795320"/>
          </a:xfrm>
          <a:prstGeom prst="rect">
            <a:avLst/>
          </a:prstGeom>
          <a:solidFill>
            <a:srgbClr val="e5852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393" name="Text 22"/>
          <p:cNvSpPr/>
          <p:nvPr/>
        </p:nvSpPr>
        <p:spPr>
          <a:xfrm>
            <a:off x="9033840" y="5613480"/>
            <a:ext cx="4073760" cy="1833480"/>
          </a:xfrm>
          <a:prstGeom prst="rect">
            <a:avLst/>
          </a:prstGeom>
          <a:noFill/>
          <a:ln w="0">
            <a:noFill/>
          </a:ln>
        </p:spPr>
        <p:style>
          <a:lnRef idx="0"/>
          <a:fillRef idx="0"/>
          <a:effectRef idx="0"/>
          <a:fontRef idx="minor"/>
        </p:style>
        <p:txBody>
          <a:bodyPr lIns="25560" rIns="25560" tIns="25560" bIns="25560" anchor="ctr">
            <a:normAutofit/>
          </a:bodyPr>
          <a:p>
            <a:pPr algn="ctr" defTabSz="914400">
              <a:lnSpc>
                <a:spcPct val="130000"/>
              </a:lnSpc>
              <a:tabLst>
                <a:tab algn="l" pos="0"/>
              </a:tabLst>
            </a:pPr>
            <a:r>
              <a:rPr b="1" lang="en-US" sz="1200" spc="-1" strike="noStrike">
                <a:solidFill>
                  <a:srgbClr val="ffffff"/>
                </a:solidFill>
                <a:latin typeface="Open Sans"/>
                <a:ea typeface="Open Sans"/>
              </a:rPr>
              <a:t>Self- sustaining</a:t>
            </a:r>
            <a:endParaRPr b="0" lang="en-US" sz="1200" spc="-1" strike="noStrike">
              <a:solidFill>
                <a:srgbClr val="ffffff"/>
              </a:solidFill>
              <a:latin typeface="Arial"/>
            </a:endParaRPr>
          </a:p>
        </p:txBody>
      </p:sp>
      <p:sp>
        <p:nvSpPr>
          <p:cNvPr id="394" name="Text 23"/>
          <p:cNvSpPr/>
          <p:nvPr/>
        </p:nvSpPr>
        <p:spPr>
          <a:xfrm>
            <a:off x="9093240" y="7485840"/>
            <a:ext cx="4350600" cy="246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200" spc="-1" strike="noStrike">
                <a:solidFill>
                  <a:srgbClr val="9b9da0"/>
                </a:solidFill>
                <a:latin typeface="Open Sans"/>
                <a:ea typeface="Open Sans"/>
              </a:rPr>
              <a:t>Operating revenue carries it</a:t>
            </a:r>
            <a:endParaRPr b="0" lang="en-US" sz="1200" spc="-1" strike="noStrike">
              <a:solidFill>
                <a:srgbClr val="ffffff"/>
              </a:solidFill>
              <a:latin typeface="Arial"/>
            </a:endParaRPr>
          </a:p>
        </p:txBody>
      </p:sp>
      <p:sp>
        <p:nvSpPr>
          <p:cNvPr id="395" name="Text 24"/>
          <p:cNvSpPr/>
          <p:nvPr/>
        </p:nvSpPr>
        <p:spPr>
          <a:xfrm>
            <a:off x="13582800" y="4352400"/>
            <a:ext cx="4504320" cy="3229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500" spc="180" strike="noStrike">
                <a:solidFill>
                  <a:srgbClr val="9b9da0"/>
                </a:solidFill>
                <a:latin typeface="Open Sans"/>
                <a:ea typeface="Open Sans"/>
              </a:rPr>
              <a:t>FOUR RECURRING STREAMS · </a:t>
            </a:r>
            <a:r>
              <a:rPr b="1" lang="zh-CN" sz="1500" spc="180" strike="noStrike">
                <a:solidFill>
                  <a:srgbClr val="9b9da0"/>
                </a:solidFill>
                <a:latin typeface="Open Sans"/>
                <a:ea typeface="Open Sans"/>
              </a:rPr>
              <a:t>収益源</a:t>
            </a:r>
            <a:endParaRPr b="0" lang="en-US" sz="1500" spc="-1" strike="noStrike">
              <a:solidFill>
                <a:srgbClr val="ffffff"/>
              </a:solidFill>
              <a:latin typeface="Arial"/>
            </a:endParaRPr>
          </a:p>
        </p:txBody>
      </p:sp>
      <p:sp>
        <p:nvSpPr>
          <p:cNvPr id="396" name="Shape 25"/>
          <p:cNvSpPr/>
          <p:nvPr/>
        </p:nvSpPr>
        <p:spPr>
          <a:xfrm>
            <a:off x="13582800" y="5199840"/>
            <a:ext cx="4094640" cy="8280"/>
          </a:xfrm>
          <a:prstGeom prst="rect">
            <a:avLst/>
          </a:prstGeom>
          <a:solidFill>
            <a:srgbClr val="4a4a4a"/>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ffffff"/>
              </a:solidFill>
              <a:latin typeface="Arial"/>
              <a:ea typeface="Arial"/>
            </a:endParaRPr>
          </a:p>
        </p:txBody>
      </p:sp>
      <p:sp>
        <p:nvSpPr>
          <p:cNvPr id="397" name="Shape 26"/>
          <p:cNvSpPr/>
          <p:nvPr/>
        </p:nvSpPr>
        <p:spPr>
          <a:xfrm>
            <a:off x="13582800" y="4871520"/>
            <a:ext cx="113400" cy="113400"/>
          </a:xfrm>
          <a:prstGeom prst="rect">
            <a:avLst/>
          </a:prstGeom>
          <a:solidFill>
            <a:srgbClr val="e58520"/>
          </a:solidFill>
          <a:ln w="0">
            <a:noFill/>
          </a:ln>
        </p:spPr>
        <p:style>
          <a:lnRef idx="0"/>
          <a:fillRef idx="0"/>
          <a:effectRef idx="0"/>
          <a:fontRef idx="minor"/>
        </p:style>
        <p:txBody>
          <a:bodyPr lIns="56880" rIns="56880" tIns="45000" bIns="45000" anchor="t">
            <a:noAutofit/>
          </a:bodyPr>
          <a:p>
            <a:pPr>
              <a:lnSpc>
                <a:spcPct val="100000"/>
              </a:lnSpc>
            </a:pPr>
            <a:endParaRPr b="0" lang="en-US" sz="1800" spc="-1" strike="noStrike">
              <a:solidFill>
                <a:srgbClr val="ffffff"/>
              </a:solidFill>
              <a:latin typeface="Arial"/>
              <a:ea typeface="Arial"/>
            </a:endParaRPr>
          </a:p>
        </p:txBody>
      </p:sp>
      <p:sp>
        <p:nvSpPr>
          <p:cNvPr id="398" name="Text 27"/>
          <p:cNvSpPr/>
          <p:nvPr/>
        </p:nvSpPr>
        <p:spPr>
          <a:xfrm>
            <a:off x="13830480" y="4790520"/>
            <a:ext cx="2946600" cy="3132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f4f1ec"/>
                </a:solidFill>
                <a:latin typeface="Open Sans"/>
                <a:ea typeface="Open Sans"/>
              </a:rPr>
              <a:t>Compute hosting </a:t>
            </a:r>
            <a:r>
              <a:rPr b="1" lang="zh-CN" sz="1300" spc="-1" strike="noStrike">
                <a:solidFill>
                  <a:srgbClr val="9b9da0"/>
                </a:solidFill>
                <a:latin typeface="Open Sans"/>
                <a:ea typeface="Open Sans"/>
              </a:rPr>
              <a:t>ホスティング</a:t>
            </a:r>
            <a:endParaRPr b="0" lang="en-US" sz="1300" spc="-1" strike="noStrike">
              <a:solidFill>
                <a:srgbClr val="ffffff"/>
              </a:solidFill>
              <a:latin typeface="Arial"/>
            </a:endParaRPr>
          </a:p>
        </p:txBody>
      </p:sp>
      <p:sp>
        <p:nvSpPr>
          <p:cNvPr id="399" name="Shape 28"/>
          <p:cNvSpPr/>
          <p:nvPr/>
        </p:nvSpPr>
        <p:spPr>
          <a:xfrm>
            <a:off x="13582800" y="5771520"/>
            <a:ext cx="4094640" cy="8280"/>
          </a:xfrm>
          <a:prstGeom prst="rect">
            <a:avLst/>
          </a:prstGeom>
          <a:solidFill>
            <a:srgbClr val="4a4a4a"/>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ffffff"/>
              </a:solidFill>
              <a:latin typeface="Arial"/>
              <a:ea typeface="Arial"/>
            </a:endParaRPr>
          </a:p>
        </p:txBody>
      </p:sp>
      <p:sp>
        <p:nvSpPr>
          <p:cNvPr id="400" name="Shape 29"/>
          <p:cNvSpPr/>
          <p:nvPr/>
        </p:nvSpPr>
        <p:spPr>
          <a:xfrm>
            <a:off x="13582800" y="5442840"/>
            <a:ext cx="113400" cy="113400"/>
          </a:xfrm>
          <a:prstGeom prst="rect">
            <a:avLst/>
          </a:prstGeom>
          <a:solidFill>
            <a:srgbClr val="e58520"/>
          </a:solidFill>
          <a:ln w="0">
            <a:noFill/>
          </a:ln>
        </p:spPr>
        <p:style>
          <a:lnRef idx="0"/>
          <a:fillRef idx="0"/>
          <a:effectRef idx="0"/>
          <a:fontRef idx="minor"/>
        </p:style>
        <p:txBody>
          <a:bodyPr lIns="56880" rIns="56880" tIns="45000" bIns="45000" anchor="t">
            <a:noAutofit/>
          </a:bodyPr>
          <a:p>
            <a:pPr>
              <a:lnSpc>
                <a:spcPct val="100000"/>
              </a:lnSpc>
            </a:pPr>
            <a:endParaRPr b="0" lang="en-US" sz="1800" spc="-1" strike="noStrike">
              <a:solidFill>
                <a:srgbClr val="ffffff"/>
              </a:solidFill>
              <a:latin typeface="Arial"/>
              <a:ea typeface="Arial"/>
            </a:endParaRPr>
          </a:p>
        </p:txBody>
      </p:sp>
      <p:sp>
        <p:nvSpPr>
          <p:cNvPr id="401" name="Text 30"/>
          <p:cNvSpPr/>
          <p:nvPr/>
        </p:nvSpPr>
        <p:spPr>
          <a:xfrm>
            <a:off x="13830480" y="5361840"/>
            <a:ext cx="2845800" cy="3132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f4f1ec"/>
                </a:solidFill>
                <a:latin typeface="Open Sans"/>
                <a:ea typeface="Open Sans"/>
              </a:rPr>
              <a:t>Energy feed-in (FIT/FIP) </a:t>
            </a:r>
            <a:r>
              <a:rPr b="1" lang="zh-CN" sz="1300" spc="-1" strike="noStrike">
                <a:solidFill>
                  <a:srgbClr val="9b9da0"/>
                </a:solidFill>
                <a:latin typeface="Open Sans"/>
                <a:ea typeface="Open Sans"/>
              </a:rPr>
              <a:t>売電</a:t>
            </a:r>
            <a:endParaRPr b="0" lang="en-US" sz="1300" spc="-1" strike="noStrike">
              <a:solidFill>
                <a:srgbClr val="ffffff"/>
              </a:solidFill>
              <a:latin typeface="Arial"/>
            </a:endParaRPr>
          </a:p>
        </p:txBody>
      </p:sp>
      <p:sp>
        <p:nvSpPr>
          <p:cNvPr id="402" name="Shape 31"/>
          <p:cNvSpPr/>
          <p:nvPr/>
        </p:nvSpPr>
        <p:spPr>
          <a:xfrm>
            <a:off x="13582800" y="6342840"/>
            <a:ext cx="4094640" cy="8280"/>
          </a:xfrm>
          <a:prstGeom prst="rect">
            <a:avLst/>
          </a:prstGeom>
          <a:solidFill>
            <a:srgbClr val="4a4a4a"/>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ffffff"/>
              </a:solidFill>
              <a:latin typeface="Arial"/>
              <a:ea typeface="Arial"/>
            </a:endParaRPr>
          </a:p>
        </p:txBody>
      </p:sp>
      <p:sp>
        <p:nvSpPr>
          <p:cNvPr id="403" name="Shape 32"/>
          <p:cNvSpPr/>
          <p:nvPr/>
        </p:nvSpPr>
        <p:spPr>
          <a:xfrm>
            <a:off x="13582800" y="6014520"/>
            <a:ext cx="113400" cy="113400"/>
          </a:xfrm>
          <a:prstGeom prst="rect">
            <a:avLst/>
          </a:prstGeom>
          <a:solidFill>
            <a:srgbClr val="e58520"/>
          </a:solidFill>
          <a:ln w="0">
            <a:noFill/>
          </a:ln>
        </p:spPr>
        <p:style>
          <a:lnRef idx="0"/>
          <a:fillRef idx="0"/>
          <a:effectRef idx="0"/>
          <a:fontRef idx="minor"/>
        </p:style>
        <p:txBody>
          <a:bodyPr lIns="56880" rIns="56880" tIns="45000" bIns="45000" anchor="t">
            <a:noAutofit/>
          </a:bodyPr>
          <a:p>
            <a:pPr>
              <a:lnSpc>
                <a:spcPct val="100000"/>
              </a:lnSpc>
            </a:pPr>
            <a:endParaRPr b="0" lang="en-US" sz="1800" spc="-1" strike="noStrike">
              <a:solidFill>
                <a:srgbClr val="ffffff"/>
              </a:solidFill>
              <a:latin typeface="Arial"/>
              <a:ea typeface="Arial"/>
            </a:endParaRPr>
          </a:p>
        </p:txBody>
      </p:sp>
      <p:sp>
        <p:nvSpPr>
          <p:cNvPr id="404" name="Text 33"/>
          <p:cNvSpPr/>
          <p:nvPr/>
        </p:nvSpPr>
        <p:spPr>
          <a:xfrm>
            <a:off x="13830480" y="5933520"/>
            <a:ext cx="1856160" cy="3132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f4f1ec"/>
                </a:solidFill>
                <a:latin typeface="Open Sans"/>
                <a:ea typeface="Open Sans"/>
              </a:rPr>
              <a:t>EV charging </a:t>
            </a:r>
            <a:r>
              <a:rPr b="1" lang="en-US" sz="1300" spc="-1" strike="noStrike">
                <a:solidFill>
                  <a:srgbClr val="9b9da0"/>
                </a:solidFill>
                <a:latin typeface="Open Sans"/>
                <a:ea typeface="Open Sans"/>
              </a:rPr>
              <a:t>EV</a:t>
            </a:r>
            <a:r>
              <a:rPr b="1" lang="zh-CN" sz="1300" spc="-1" strike="noStrike">
                <a:solidFill>
                  <a:srgbClr val="9b9da0"/>
                </a:solidFill>
                <a:latin typeface="Open Sans"/>
                <a:ea typeface="Open Sans"/>
              </a:rPr>
              <a:t>充電</a:t>
            </a:r>
            <a:endParaRPr b="0" lang="en-US" sz="1300" spc="-1" strike="noStrike">
              <a:solidFill>
                <a:srgbClr val="ffffff"/>
              </a:solidFill>
              <a:latin typeface="Arial"/>
            </a:endParaRPr>
          </a:p>
        </p:txBody>
      </p:sp>
      <p:sp>
        <p:nvSpPr>
          <p:cNvPr id="405" name="Shape 34"/>
          <p:cNvSpPr/>
          <p:nvPr/>
        </p:nvSpPr>
        <p:spPr>
          <a:xfrm>
            <a:off x="13582800" y="6585840"/>
            <a:ext cx="113400" cy="113400"/>
          </a:xfrm>
          <a:prstGeom prst="rect">
            <a:avLst/>
          </a:prstGeom>
          <a:solidFill>
            <a:srgbClr val="e58520"/>
          </a:solidFill>
          <a:ln w="0">
            <a:noFill/>
          </a:ln>
        </p:spPr>
        <p:style>
          <a:lnRef idx="0"/>
          <a:fillRef idx="0"/>
          <a:effectRef idx="0"/>
          <a:fontRef idx="minor"/>
        </p:style>
        <p:txBody>
          <a:bodyPr lIns="56880" rIns="56880" tIns="45000" bIns="45000" anchor="t">
            <a:noAutofit/>
          </a:bodyPr>
          <a:p>
            <a:pPr>
              <a:lnSpc>
                <a:spcPct val="100000"/>
              </a:lnSpc>
            </a:pPr>
            <a:endParaRPr b="0" lang="en-US" sz="1800" spc="-1" strike="noStrike">
              <a:solidFill>
                <a:srgbClr val="ffffff"/>
              </a:solidFill>
              <a:latin typeface="Arial"/>
              <a:ea typeface="Arial"/>
            </a:endParaRPr>
          </a:p>
        </p:txBody>
      </p:sp>
      <p:sp>
        <p:nvSpPr>
          <p:cNvPr id="406" name="Text 35"/>
          <p:cNvSpPr/>
          <p:nvPr/>
        </p:nvSpPr>
        <p:spPr>
          <a:xfrm>
            <a:off x="13830480" y="6504840"/>
            <a:ext cx="3640320" cy="3132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f4f1ec"/>
                </a:solidFill>
                <a:latin typeface="Open Sans"/>
                <a:ea typeface="Open Sans"/>
              </a:rPr>
              <a:t>Carbon credits (J-Credits) </a:t>
            </a:r>
            <a:r>
              <a:rPr b="1" lang="en-US" sz="1300" spc="-1" strike="noStrike">
                <a:solidFill>
                  <a:srgbClr val="9b9da0"/>
                </a:solidFill>
                <a:latin typeface="Open Sans"/>
                <a:ea typeface="Open Sans"/>
              </a:rPr>
              <a:t>J</a:t>
            </a:r>
            <a:r>
              <a:rPr b="1" lang="zh-CN" sz="1300" spc="-1" strike="noStrike">
                <a:solidFill>
                  <a:srgbClr val="9b9da0"/>
                </a:solidFill>
                <a:latin typeface="Open Sans"/>
                <a:ea typeface="Open Sans"/>
              </a:rPr>
              <a:t>クレジット</a:t>
            </a:r>
            <a:endParaRPr b="0" lang="en-US" sz="1300" spc="-1" strike="noStrike">
              <a:solidFill>
                <a:srgbClr val="ffffff"/>
              </a:solidFill>
              <a:latin typeface="Arial"/>
            </a:endParaRPr>
          </a:p>
        </p:txBody>
      </p:sp>
      <p:sp>
        <p:nvSpPr>
          <p:cNvPr id="407" name="Shape 36"/>
          <p:cNvSpPr/>
          <p:nvPr/>
        </p:nvSpPr>
        <p:spPr>
          <a:xfrm>
            <a:off x="13582800" y="7009920"/>
            <a:ext cx="4094640" cy="8280"/>
          </a:xfrm>
          <a:prstGeom prst="rect">
            <a:avLst/>
          </a:prstGeom>
          <a:solidFill>
            <a:srgbClr val="4a4a4a"/>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ffffff"/>
              </a:solidFill>
              <a:latin typeface="Arial"/>
              <a:ea typeface="Arial"/>
            </a:endParaRPr>
          </a:p>
        </p:txBody>
      </p:sp>
      <p:sp>
        <p:nvSpPr>
          <p:cNvPr id="408" name="Text 37"/>
          <p:cNvSpPr/>
          <p:nvPr/>
        </p:nvSpPr>
        <p:spPr>
          <a:xfrm>
            <a:off x="13582800" y="7171560"/>
            <a:ext cx="4217400" cy="551520"/>
          </a:xfrm>
          <a:prstGeom prst="rect">
            <a:avLst/>
          </a:prstGeom>
          <a:noFill/>
          <a:ln w="0">
            <a:noFill/>
          </a:ln>
        </p:spPr>
        <p:style>
          <a:lnRef idx="0"/>
          <a:fillRef idx="0"/>
          <a:effectRef idx="0"/>
          <a:fontRef idx="minor"/>
        </p:style>
        <p:txBody>
          <a:bodyPr lIns="25560" rIns="25560" tIns="25560" bIns="25560" anchor="t">
            <a:normAutofit fontScale="87222"/>
          </a:bodyPr>
          <a:p>
            <a:pPr defTabSz="914400">
              <a:lnSpc>
                <a:spcPct val="150000"/>
              </a:lnSpc>
              <a:tabLst>
                <a:tab algn="l" pos="0"/>
              </a:tabLst>
            </a:pPr>
            <a:r>
              <a:rPr b="0" lang="en-US" sz="1350" spc="-1" strike="noStrike">
                <a:solidFill>
                  <a:srgbClr val="b9bbbd"/>
                </a:solidFill>
                <a:latin typeface="Open Sans"/>
                <a:ea typeface="Open Sans"/>
              </a:rPr>
              <a:t>A 25-year horizon — the bridge to localized small-scale power generation.</a:t>
            </a:r>
            <a:endParaRPr b="0" lang="en-US" sz="13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9" name="Shape 0"/>
          <p:cNvSpPr/>
          <p:nvPr/>
        </p:nvSpPr>
        <p:spPr>
          <a:xfrm>
            <a:off x="0" y="0"/>
            <a:ext cx="18286920" cy="75240"/>
          </a:xfrm>
          <a:prstGeom prst="rect">
            <a:avLst/>
          </a:prstGeom>
          <a:solidFill>
            <a:srgbClr val="9b9da0"/>
          </a:solidFill>
          <a:ln w="0">
            <a:noFill/>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ffffff"/>
              </a:solidFill>
              <a:latin typeface="Arial"/>
              <a:ea typeface="Arial"/>
            </a:endParaRPr>
          </a:p>
        </p:txBody>
      </p:sp>
      <p:sp>
        <p:nvSpPr>
          <p:cNvPr id="410" name="Shape 1"/>
          <p:cNvSpPr/>
          <p:nvPr/>
        </p:nvSpPr>
        <p:spPr>
          <a:xfrm>
            <a:off x="609480" y="895320"/>
            <a:ext cx="43704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411" name="Text 2"/>
          <p:cNvSpPr/>
          <p:nvPr/>
        </p:nvSpPr>
        <p:spPr>
          <a:xfrm>
            <a:off x="1181160" y="800280"/>
            <a:ext cx="467424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202" strike="noStrike">
                <a:solidFill>
                  <a:srgbClr val="9b9da0"/>
                </a:solidFill>
                <a:latin typeface="Open Sans"/>
                <a:ea typeface="Open Sans"/>
              </a:rPr>
              <a:t>GOVERNANCE &amp; ADVISORS · </a:t>
            </a:r>
            <a:r>
              <a:rPr b="1" lang="zh-CN" sz="1300" spc="202" strike="noStrike">
                <a:solidFill>
                  <a:srgbClr val="9b9da0"/>
                </a:solidFill>
                <a:latin typeface="Open Sans"/>
                <a:ea typeface="Open Sans"/>
              </a:rPr>
              <a:t>体制と顧問 </a:t>
            </a:r>
            <a:r>
              <a:rPr b="1" lang="en-US" sz="1300" spc="202" strike="noStrike">
                <a:solidFill>
                  <a:srgbClr val="9b9da0"/>
                </a:solidFill>
                <a:latin typeface="Open Sans"/>
                <a:ea typeface="Open Sans"/>
              </a:rPr>
              <a:t>· 13</a:t>
            </a:r>
            <a:endParaRPr b="0" lang="en-US" sz="1300" spc="-1" strike="noStrike">
              <a:solidFill>
                <a:srgbClr val="000000"/>
              </a:solidFill>
              <a:latin typeface="Arial"/>
            </a:endParaRPr>
          </a:p>
        </p:txBody>
      </p:sp>
      <p:sp>
        <p:nvSpPr>
          <p:cNvPr id="412" name="Text 3"/>
          <p:cNvSpPr/>
          <p:nvPr/>
        </p:nvSpPr>
        <p:spPr>
          <a:xfrm>
            <a:off x="609480" y="1228680"/>
            <a:ext cx="18774720" cy="6256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3000"/>
              </a:lnSpc>
              <a:tabLst>
                <a:tab algn="l" pos="0"/>
              </a:tabLst>
            </a:pPr>
            <a:r>
              <a:rPr b="1" lang="en-US" sz="4500" spc="-46" strike="noStrike">
                <a:solidFill>
                  <a:srgbClr val="2e2e2e"/>
                </a:solidFill>
                <a:latin typeface="Sora"/>
                <a:ea typeface="Sora"/>
              </a:rPr>
              <a:t>Small team, serious people, open books</a:t>
            </a:r>
            <a:endParaRPr b="0" lang="en-US" sz="4500" spc="-1" strike="noStrike">
              <a:solidFill>
                <a:srgbClr val="000000"/>
              </a:solidFill>
              <a:latin typeface="Arial"/>
            </a:endParaRPr>
          </a:p>
        </p:txBody>
      </p:sp>
      <p:sp>
        <p:nvSpPr>
          <p:cNvPr id="413" name="Text 4"/>
          <p:cNvSpPr/>
          <p:nvPr/>
        </p:nvSpPr>
        <p:spPr>
          <a:xfrm>
            <a:off x="609480" y="1893600"/>
            <a:ext cx="18774720" cy="389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zh-CN" sz="1900" spc="-1" strike="noStrike">
                <a:solidFill>
                  <a:srgbClr val="6e7174"/>
                </a:solidFill>
                <a:latin typeface="Noto Sans JP"/>
                <a:ea typeface="Noto Sans JP"/>
              </a:rPr>
              <a:t>少人数・確かな顔ぶれ・公開された会計。</a:t>
            </a:r>
            <a:endParaRPr b="0" lang="en-US" sz="1900" spc="-1" strike="noStrike">
              <a:solidFill>
                <a:srgbClr val="000000"/>
              </a:solidFill>
              <a:latin typeface="Arial"/>
            </a:endParaRPr>
          </a:p>
        </p:txBody>
      </p:sp>
      <p:pic>
        <p:nvPicPr>
          <p:cNvPr id="414" name="Image 0" descr="preencoded.png"/>
          <p:cNvPicPr/>
          <p:nvPr/>
        </p:nvPicPr>
        <p:blipFill>
          <a:blip r:embed="rId1"/>
          <a:stretch/>
        </p:blipFill>
        <p:spPr>
          <a:xfrm>
            <a:off x="609480" y="2588760"/>
            <a:ext cx="4436640" cy="4794840"/>
          </a:xfrm>
          <a:prstGeom prst="rect">
            <a:avLst/>
          </a:prstGeom>
          <a:ln w="0">
            <a:noFill/>
          </a:ln>
        </p:spPr>
      </p:pic>
      <p:sp>
        <p:nvSpPr>
          <p:cNvPr id="415" name="Text 6"/>
          <p:cNvSpPr/>
          <p:nvPr/>
        </p:nvSpPr>
        <p:spPr>
          <a:xfrm>
            <a:off x="609480" y="7467840"/>
            <a:ext cx="441972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000" spc="134" strike="noStrike">
                <a:solidFill>
                  <a:srgbClr val="f4b872"/>
                </a:solidFill>
                <a:latin typeface="Open Sans"/>
                <a:ea typeface="Open Sans"/>
              </a:rPr>
              <a:t>PROJECT LEAD · </a:t>
            </a:r>
            <a:r>
              <a:rPr b="1" lang="zh-CN" sz="1000" spc="134" strike="noStrike">
                <a:solidFill>
                  <a:srgbClr val="f4b872"/>
                </a:solidFill>
                <a:latin typeface="Open Sans"/>
                <a:ea typeface="Open Sans"/>
              </a:rPr>
              <a:t>代表</a:t>
            </a:r>
            <a:endParaRPr b="0" lang="en-US" sz="1000" spc="-1" strike="noStrike">
              <a:solidFill>
                <a:srgbClr val="000000"/>
              </a:solidFill>
              <a:latin typeface="Arial"/>
            </a:endParaRPr>
          </a:p>
        </p:txBody>
      </p:sp>
      <p:sp>
        <p:nvSpPr>
          <p:cNvPr id="416" name="Text 7"/>
          <p:cNvSpPr/>
          <p:nvPr/>
        </p:nvSpPr>
        <p:spPr>
          <a:xfrm>
            <a:off x="609480" y="7734600"/>
            <a:ext cx="4419720" cy="32004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10000"/>
              </a:lnSpc>
              <a:tabLst>
                <a:tab algn="l" pos="0"/>
              </a:tabLst>
            </a:pPr>
            <a:r>
              <a:rPr b="1" lang="en-US" sz="2050" spc="-1" strike="noStrike">
                <a:solidFill>
                  <a:schemeClr val="dk1"/>
                </a:solidFill>
                <a:latin typeface="Sora"/>
                <a:ea typeface="Sora"/>
              </a:rPr>
              <a:t>Rob Oudendijk</a:t>
            </a:r>
            <a:endParaRPr b="0" lang="en-US" sz="2050" spc="-1" strike="noStrike">
              <a:solidFill>
                <a:srgbClr val="000000"/>
              </a:solidFill>
              <a:latin typeface="Arial"/>
            </a:endParaRPr>
          </a:p>
        </p:txBody>
      </p:sp>
      <p:sp>
        <p:nvSpPr>
          <p:cNvPr id="417" name="Text 8"/>
          <p:cNvSpPr/>
          <p:nvPr/>
        </p:nvSpPr>
        <p:spPr>
          <a:xfrm>
            <a:off x="609480" y="8065080"/>
            <a:ext cx="4419720" cy="246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200" spc="-1" strike="noStrike">
                <a:solidFill>
                  <a:schemeClr val="dk1">
                    <a:lumMod val="65000"/>
                    <a:lumOff val="35000"/>
                  </a:schemeClr>
                </a:solidFill>
                <a:latin typeface="Open Sans"/>
                <a:ea typeface="Open Sans"/>
              </a:rPr>
              <a:t>YR-Design · Safecast</a:t>
            </a:r>
            <a:endParaRPr b="0" lang="en-US" sz="1200" spc="-1" strike="noStrike">
              <a:solidFill>
                <a:srgbClr val="000000"/>
              </a:solidFill>
              <a:latin typeface="Arial"/>
            </a:endParaRPr>
          </a:p>
        </p:txBody>
      </p:sp>
      <p:sp>
        <p:nvSpPr>
          <p:cNvPr id="418" name="Shape 9"/>
          <p:cNvSpPr/>
          <p:nvPr/>
        </p:nvSpPr>
        <p:spPr>
          <a:xfrm>
            <a:off x="609480" y="8587800"/>
            <a:ext cx="4436640" cy="1012320"/>
          </a:xfrm>
          <a:prstGeom prst="rect">
            <a:avLst/>
          </a:prstGeom>
          <a:solidFill>
            <a:srgbClr val="f6f6f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419" name="Text 10"/>
          <p:cNvSpPr/>
          <p:nvPr/>
        </p:nvSpPr>
        <p:spPr>
          <a:xfrm>
            <a:off x="819000" y="8740080"/>
            <a:ext cx="441972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000" spc="106" strike="noStrike">
                <a:solidFill>
                  <a:srgbClr val="9b9da0"/>
                </a:solidFill>
                <a:latin typeface="Open Sans"/>
                <a:ea typeface="Open Sans"/>
              </a:rPr>
              <a:t>LEGAL PATH · </a:t>
            </a:r>
            <a:r>
              <a:rPr b="1" lang="zh-CN" sz="1000" spc="106" strike="noStrike">
                <a:solidFill>
                  <a:srgbClr val="9b9da0"/>
                </a:solidFill>
                <a:latin typeface="Open Sans"/>
                <a:ea typeface="Open Sans"/>
              </a:rPr>
              <a:t>法人形態</a:t>
            </a:r>
            <a:endParaRPr b="0" lang="en-US" sz="1000" spc="-1" strike="noStrike">
              <a:solidFill>
                <a:srgbClr val="000000"/>
              </a:solidFill>
              <a:latin typeface="Arial"/>
            </a:endParaRPr>
          </a:p>
        </p:txBody>
      </p:sp>
      <p:sp>
        <p:nvSpPr>
          <p:cNvPr id="420" name="Text 11"/>
          <p:cNvSpPr/>
          <p:nvPr/>
        </p:nvSpPr>
        <p:spPr>
          <a:xfrm>
            <a:off x="819000" y="9006840"/>
            <a:ext cx="4138200" cy="479160"/>
          </a:xfrm>
          <a:prstGeom prst="rect">
            <a:avLst/>
          </a:prstGeom>
          <a:noFill/>
          <a:ln w="0">
            <a:noFill/>
          </a:ln>
        </p:spPr>
        <p:style>
          <a:lnRef idx="0"/>
          <a:fillRef idx="0"/>
          <a:effectRef idx="0"/>
          <a:fontRef idx="minor"/>
        </p:style>
        <p:txBody>
          <a:bodyPr lIns="25560" rIns="25560" tIns="25560" bIns="25560" anchor="t">
            <a:normAutofit fontScale="96666" lnSpcReduction="20000"/>
          </a:bodyPr>
          <a:p>
            <a:pPr defTabSz="914400">
              <a:lnSpc>
                <a:spcPct val="145000"/>
              </a:lnSpc>
              <a:tabLst>
                <a:tab algn="l" pos="0"/>
              </a:tabLst>
            </a:pPr>
            <a:r>
              <a:rPr b="0" lang="zh-CN" sz="1200" spc="-1" strike="noStrike">
                <a:solidFill>
                  <a:srgbClr val="4a4a4a"/>
                </a:solidFill>
                <a:latin typeface="Open Sans"/>
                <a:ea typeface="Open Sans"/>
              </a:rPr>
              <a:t>一般社団法人 → </a:t>
            </a:r>
            <a:r>
              <a:rPr b="0" lang="en-US" sz="1200" spc="-1" strike="noStrike">
                <a:solidFill>
                  <a:srgbClr val="4a4a4a"/>
                </a:solidFill>
                <a:latin typeface="Open Sans"/>
                <a:ea typeface="Open Sans"/>
              </a:rPr>
              <a:t>NPO → </a:t>
            </a:r>
            <a:r>
              <a:rPr b="0" lang="zh-CN" sz="1200" spc="-1" strike="noStrike">
                <a:solidFill>
                  <a:srgbClr val="4a4a4a"/>
                </a:solidFill>
                <a:latin typeface="Open Sans"/>
                <a:ea typeface="Open Sans"/>
              </a:rPr>
              <a:t>認定</a:t>
            </a:r>
            <a:r>
              <a:rPr b="0" lang="en-US" sz="1200" spc="-1" strike="noStrike">
                <a:solidFill>
                  <a:srgbClr val="4a4a4a"/>
                </a:solidFill>
                <a:latin typeface="Open Sans"/>
                <a:ea typeface="Open Sans"/>
              </a:rPr>
              <a:t>NPO — tax-deductible status.</a:t>
            </a:r>
            <a:endParaRPr b="0" lang="en-US" sz="1200" spc="-1" strike="noStrike">
              <a:solidFill>
                <a:srgbClr val="000000"/>
              </a:solidFill>
              <a:latin typeface="Arial"/>
            </a:endParaRPr>
          </a:p>
        </p:txBody>
      </p:sp>
      <p:sp>
        <p:nvSpPr>
          <p:cNvPr id="421" name="Text 12"/>
          <p:cNvSpPr/>
          <p:nvPr/>
        </p:nvSpPr>
        <p:spPr>
          <a:xfrm>
            <a:off x="5371200" y="2588760"/>
            <a:ext cx="13536720" cy="246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050" spc="145" strike="noStrike">
                <a:solidFill>
                  <a:srgbClr val="9b9da0"/>
                </a:solidFill>
                <a:latin typeface="Open Sans"/>
                <a:ea typeface="Open Sans"/>
              </a:rPr>
              <a:t>ADVISORY BOARD · </a:t>
            </a:r>
            <a:r>
              <a:rPr b="1" lang="zh-CN" sz="1050" spc="145" strike="noStrike">
                <a:solidFill>
                  <a:srgbClr val="9b9da0"/>
                </a:solidFill>
                <a:latin typeface="Open Sans"/>
                <a:ea typeface="Open Sans"/>
              </a:rPr>
              <a:t>顧問</a:t>
            </a:r>
            <a:endParaRPr b="0" lang="en-US" sz="1050" spc="-1" strike="noStrike">
              <a:solidFill>
                <a:srgbClr val="000000"/>
              </a:solidFill>
              <a:latin typeface="Arial"/>
            </a:endParaRPr>
          </a:p>
        </p:txBody>
      </p:sp>
      <p:pic>
        <p:nvPicPr>
          <p:cNvPr id="422" name="Image 1" descr="preencoded.png"/>
          <p:cNvPicPr/>
          <p:nvPr/>
        </p:nvPicPr>
        <p:blipFill>
          <a:blip r:embed="rId2"/>
          <a:stretch/>
        </p:blipFill>
        <p:spPr>
          <a:xfrm>
            <a:off x="5371200" y="2931840"/>
            <a:ext cx="1959120" cy="2017080"/>
          </a:xfrm>
          <a:prstGeom prst="rect">
            <a:avLst/>
          </a:prstGeom>
          <a:ln w="0">
            <a:noFill/>
          </a:ln>
        </p:spPr>
      </p:pic>
      <p:sp>
        <p:nvSpPr>
          <p:cNvPr id="423" name="Shape 13"/>
          <p:cNvSpPr/>
          <p:nvPr/>
        </p:nvSpPr>
        <p:spPr>
          <a:xfrm>
            <a:off x="5371200" y="5512680"/>
            <a:ext cx="1959120" cy="27360"/>
          </a:xfrm>
          <a:prstGeom prst="rect">
            <a:avLst/>
          </a:prstGeom>
          <a:solidFill>
            <a:srgbClr val="e58520"/>
          </a:solidFill>
          <a:ln w="0">
            <a:noFill/>
          </a:ln>
        </p:spPr>
        <p:style>
          <a:lnRef idx="0"/>
          <a:fillRef idx="0"/>
          <a:effectRef idx="0"/>
          <a:fontRef idx="minor"/>
        </p:style>
        <p:txBody>
          <a:bodyPr lIns="90000" rIns="90000" tIns="-16560" bIns="-16560" anchor="t">
            <a:noAutofit/>
          </a:bodyPr>
          <a:p>
            <a:pPr>
              <a:lnSpc>
                <a:spcPct val="100000"/>
              </a:lnSpc>
            </a:pPr>
            <a:endParaRPr b="0" lang="en-US" sz="1800" spc="-1" strike="noStrike">
              <a:solidFill>
                <a:srgbClr val="ffffff"/>
              </a:solidFill>
              <a:latin typeface="Arial"/>
              <a:ea typeface="Arial"/>
            </a:endParaRPr>
          </a:p>
        </p:txBody>
      </p:sp>
      <p:sp>
        <p:nvSpPr>
          <p:cNvPr id="424" name="Text 14"/>
          <p:cNvSpPr/>
          <p:nvPr/>
        </p:nvSpPr>
        <p:spPr>
          <a:xfrm>
            <a:off x="5371200" y="5655600"/>
            <a:ext cx="2154960" cy="2656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450" spc="-1" strike="noStrike">
                <a:solidFill>
                  <a:srgbClr val="2e2e2e"/>
                </a:solidFill>
                <a:latin typeface="Sora"/>
                <a:ea typeface="Sora"/>
              </a:rPr>
              <a:t>Ray Ozzie</a:t>
            </a:r>
            <a:endParaRPr b="0" lang="en-US" sz="1450" spc="-1" strike="noStrike">
              <a:solidFill>
                <a:srgbClr val="000000"/>
              </a:solidFill>
              <a:latin typeface="Arial"/>
            </a:endParaRPr>
          </a:p>
        </p:txBody>
      </p:sp>
      <p:sp>
        <p:nvSpPr>
          <p:cNvPr id="425" name="Text 15"/>
          <p:cNvSpPr/>
          <p:nvPr/>
        </p:nvSpPr>
        <p:spPr>
          <a:xfrm>
            <a:off x="5371200" y="5912640"/>
            <a:ext cx="215496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150" spc="-1" strike="noStrike">
                <a:solidFill>
                  <a:srgbClr val="6e7174"/>
                </a:solidFill>
                <a:latin typeface="Open Sans"/>
                <a:ea typeface="Open Sans"/>
              </a:rPr>
              <a:t>Executive Chair, Blues</a:t>
            </a:r>
            <a:endParaRPr b="0" lang="en-US" sz="1150" spc="-1" strike="noStrike">
              <a:solidFill>
                <a:srgbClr val="000000"/>
              </a:solidFill>
              <a:latin typeface="Arial"/>
            </a:endParaRPr>
          </a:p>
        </p:txBody>
      </p:sp>
      <p:pic>
        <p:nvPicPr>
          <p:cNvPr id="426" name="Image 2" descr="preencoded.png"/>
          <p:cNvPicPr/>
          <p:nvPr/>
        </p:nvPicPr>
        <p:blipFill>
          <a:blip r:embed="rId3"/>
          <a:stretch/>
        </p:blipFill>
        <p:spPr>
          <a:xfrm>
            <a:off x="7370280" y="2931840"/>
            <a:ext cx="1959120" cy="2017080"/>
          </a:xfrm>
          <a:prstGeom prst="rect">
            <a:avLst/>
          </a:prstGeom>
          <a:ln w="0">
            <a:noFill/>
          </a:ln>
        </p:spPr>
      </p:pic>
      <p:sp>
        <p:nvSpPr>
          <p:cNvPr id="427" name="Shape 16"/>
          <p:cNvSpPr/>
          <p:nvPr/>
        </p:nvSpPr>
        <p:spPr>
          <a:xfrm>
            <a:off x="7440480" y="5512680"/>
            <a:ext cx="1959120" cy="27360"/>
          </a:xfrm>
          <a:prstGeom prst="rect">
            <a:avLst/>
          </a:prstGeom>
          <a:solidFill>
            <a:srgbClr val="e6e6e2"/>
          </a:solidFill>
          <a:ln w="0">
            <a:noFill/>
          </a:ln>
        </p:spPr>
        <p:style>
          <a:lnRef idx="0"/>
          <a:fillRef idx="0"/>
          <a:effectRef idx="0"/>
          <a:fontRef idx="minor"/>
        </p:style>
        <p:txBody>
          <a:bodyPr lIns="90000" rIns="90000" tIns="-16560" bIns="-16560" anchor="t">
            <a:noAutofit/>
          </a:bodyPr>
          <a:p>
            <a:pPr>
              <a:lnSpc>
                <a:spcPct val="100000"/>
              </a:lnSpc>
            </a:pPr>
            <a:endParaRPr b="0" lang="en-US" sz="1800" spc="-1" strike="noStrike">
              <a:solidFill>
                <a:srgbClr val="000000"/>
              </a:solidFill>
              <a:latin typeface="Arial"/>
              <a:ea typeface="Arial"/>
            </a:endParaRPr>
          </a:p>
        </p:txBody>
      </p:sp>
      <p:sp>
        <p:nvSpPr>
          <p:cNvPr id="428" name="Text 17"/>
          <p:cNvSpPr/>
          <p:nvPr/>
        </p:nvSpPr>
        <p:spPr>
          <a:xfrm>
            <a:off x="7440480" y="5703840"/>
            <a:ext cx="2154960" cy="2656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450" spc="-1" strike="noStrike">
                <a:solidFill>
                  <a:srgbClr val="2e2e2e"/>
                </a:solidFill>
                <a:latin typeface="Sora"/>
                <a:ea typeface="Sora"/>
              </a:rPr>
              <a:t>San Poisson</a:t>
            </a:r>
            <a:endParaRPr b="0" lang="en-US" sz="1450" spc="-1" strike="noStrike">
              <a:solidFill>
                <a:srgbClr val="000000"/>
              </a:solidFill>
              <a:latin typeface="Arial"/>
            </a:endParaRPr>
          </a:p>
        </p:txBody>
      </p:sp>
      <p:sp>
        <p:nvSpPr>
          <p:cNvPr id="429" name="Text 18"/>
          <p:cNvSpPr/>
          <p:nvPr/>
        </p:nvSpPr>
        <p:spPr>
          <a:xfrm>
            <a:off x="7440480" y="5961240"/>
            <a:ext cx="2154960" cy="2275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150" spc="-1" strike="noStrike">
                <a:solidFill>
                  <a:srgbClr val="6e7174"/>
                </a:solidFill>
                <a:latin typeface="Open Sans"/>
                <a:ea typeface="Open Sans"/>
              </a:rPr>
              <a:t>Project Manager</a:t>
            </a:r>
            <a:endParaRPr b="0" lang="en-US" sz="1150" spc="-1" strike="noStrike">
              <a:solidFill>
                <a:srgbClr val="000000"/>
              </a:solidFill>
              <a:latin typeface="Arial"/>
            </a:endParaRPr>
          </a:p>
        </p:txBody>
      </p:sp>
      <p:pic>
        <p:nvPicPr>
          <p:cNvPr id="430" name="Image 3" descr="preencoded.png"/>
          <p:cNvPicPr/>
          <p:nvPr/>
        </p:nvPicPr>
        <p:blipFill>
          <a:blip r:embed="rId4"/>
          <a:stretch/>
        </p:blipFill>
        <p:spPr>
          <a:xfrm>
            <a:off x="9369720" y="2943720"/>
            <a:ext cx="2377080" cy="2005200"/>
          </a:xfrm>
          <a:prstGeom prst="rect">
            <a:avLst/>
          </a:prstGeom>
          <a:ln w="0">
            <a:noFill/>
          </a:ln>
        </p:spPr>
      </p:pic>
      <p:sp>
        <p:nvSpPr>
          <p:cNvPr id="431" name="Shape 19"/>
          <p:cNvSpPr/>
          <p:nvPr/>
        </p:nvSpPr>
        <p:spPr>
          <a:xfrm>
            <a:off x="9510120" y="5526720"/>
            <a:ext cx="1959120" cy="27360"/>
          </a:xfrm>
          <a:prstGeom prst="rect">
            <a:avLst/>
          </a:prstGeom>
          <a:solidFill>
            <a:srgbClr val="e6e6e2"/>
          </a:solidFill>
          <a:ln w="0">
            <a:noFill/>
          </a:ln>
        </p:spPr>
        <p:style>
          <a:lnRef idx="0"/>
          <a:fillRef idx="0"/>
          <a:effectRef idx="0"/>
          <a:fontRef idx="minor"/>
        </p:style>
        <p:txBody>
          <a:bodyPr lIns="90000" rIns="90000" tIns="-16560" bIns="-16560" anchor="t">
            <a:noAutofit/>
          </a:bodyPr>
          <a:p>
            <a:pPr>
              <a:lnSpc>
                <a:spcPct val="100000"/>
              </a:lnSpc>
            </a:pPr>
            <a:endParaRPr b="0" lang="en-US" sz="1800" spc="-1" strike="noStrike">
              <a:solidFill>
                <a:srgbClr val="000000"/>
              </a:solidFill>
              <a:latin typeface="Arial"/>
              <a:ea typeface="Arial"/>
            </a:endParaRPr>
          </a:p>
        </p:txBody>
      </p:sp>
      <p:sp>
        <p:nvSpPr>
          <p:cNvPr id="432" name="Text 20"/>
          <p:cNvSpPr/>
          <p:nvPr/>
        </p:nvSpPr>
        <p:spPr>
          <a:xfrm>
            <a:off x="9510120" y="5669640"/>
            <a:ext cx="2154960" cy="2656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450" spc="-1" strike="noStrike">
                <a:solidFill>
                  <a:srgbClr val="2e2e2e"/>
                </a:solidFill>
                <a:latin typeface="Sora"/>
                <a:ea typeface="Sora"/>
              </a:rPr>
              <a:t>Takuo Dome</a:t>
            </a:r>
            <a:endParaRPr b="0" lang="en-US" sz="1450" spc="-1" strike="noStrike">
              <a:solidFill>
                <a:srgbClr val="000000"/>
              </a:solidFill>
              <a:latin typeface="Arial"/>
            </a:endParaRPr>
          </a:p>
        </p:txBody>
      </p:sp>
      <p:sp>
        <p:nvSpPr>
          <p:cNvPr id="433" name="Text 21"/>
          <p:cNvSpPr/>
          <p:nvPr/>
        </p:nvSpPr>
        <p:spPr>
          <a:xfrm>
            <a:off x="9510120" y="5927040"/>
            <a:ext cx="2022480" cy="408600"/>
          </a:xfrm>
          <a:prstGeom prst="rect">
            <a:avLst/>
          </a:prstGeom>
          <a:noFill/>
          <a:ln w="0">
            <a:noFill/>
          </a:ln>
        </p:spPr>
        <p:style>
          <a:lnRef idx="0"/>
          <a:fillRef idx="0"/>
          <a:effectRef idx="0"/>
          <a:fontRef idx="minor"/>
        </p:style>
        <p:txBody>
          <a:bodyPr lIns="25560" rIns="25560" tIns="25560" bIns="25560" anchor="t">
            <a:normAutofit fontScale="75000"/>
          </a:bodyPr>
          <a:p>
            <a:pPr defTabSz="914400">
              <a:lnSpc>
                <a:spcPct val="130000"/>
              </a:lnSpc>
              <a:tabLst>
                <a:tab algn="l" pos="0"/>
              </a:tabLst>
            </a:pPr>
            <a:r>
              <a:rPr b="0" lang="en-US" sz="1150" spc="-1" strike="noStrike">
                <a:solidFill>
                  <a:srgbClr val="6e7174"/>
                </a:solidFill>
                <a:latin typeface="Open Sans"/>
                <a:ea typeface="Open Sans"/>
              </a:rPr>
              <a:t>Prof. Emeritus, Osaka Univ. Director, Inochi Forum</a:t>
            </a:r>
            <a:endParaRPr b="0" lang="en-US" sz="1150" spc="-1" strike="noStrike">
              <a:solidFill>
                <a:srgbClr val="000000"/>
              </a:solidFill>
              <a:latin typeface="Arial"/>
            </a:endParaRPr>
          </a:p>
        </p:txBody>
      </p:sp>
      <p:pic>
        <p:nvPicPr>
          <p:cNvPr id="434" name="Image 4" descr="preencoded.png"/>
          <p:cNvPicPr/>
          <p:nvPr/>
        </p:nvPicPr>
        <p:blipFill>
          <a:blip r:embed="rId5"/>
          <a:stretch/>
        </p:blipFill>
        <p:spPr>
          <a:xfrm>
            <a:off x="11786400" y="2931840"/>
            <a:ext cx="1959120" cy="2017080"/>
          </a:xfrm>
          <a:prstGeom prst="rect">
            <a:avLst/>
          </a:prstGeom>
          <a:ln w="0">
            <a:noFill/>
          </a:ln>
        </p:spPr>
      </p:pic>
      <p:sp>
        <p:nvSpPr>
          <p:cNvPr id="435" name="Shape 22"/>
          <p:cNvSpPr/>
          <p:nvPr/>
        </p:nvSpPr>
        <p:spPr>
          <a:xfrm>
            <a:off x="11579400" y="5526720"/>
            <a:ext cx="1959120" cy="27360"/>
          </a:xfrm>
          <a:prstGeom prst="rect">
            <a:avLst/>
          </a:prstGeom>
          <a:solidFill>
            <a:srgbClr val="e6e6e2"/>
          </a:solidFill>
          <a:ln w="0">
            <a:noFill/>
          </a:ln>
        </p:spPr>
        <p:style>
          <a:lnRef idx="0"/>
          <a:fillRef idx="0"/>
          <a:effectRef idx="0"/>
          <a:fontRef idx="minor"/>
        </p:style>
        <p:txBody>
          <a:bodyPr lIns="90000" rIns="90000" tIns="-16560" bIns="-16560" anchor="t">
            <a:noAutofit/>
          </a:bodyPr>
          <a:p>
            <a:pPr>
              <a:lnSpc>
                <a:spcPct val="100000"/>
              </a:lnSpc>
            </a:pPr>
            <a:endParaRPr b="0" lang="en-US" sz="1800" spc="-1" strike="noStrike">
              <a:solidFill>
                <a:srgbClr val="000000"/>
              </a:solidFill>
              <a:latin typeface="Arial"/>
              <a:ea typeface="Arial"/>
            </a:endParaRPr>
          </a:p>
        </p:txBody>
      </p:sp>
      <p:sp>
        <p:nvSpPr>
          <p:cNvPr id="436" name="Text 23"/>
          <p:cNvSpPr/>
          <p:nvPr/>
        </p:nvSpPr>
        <p:spPr>
          <a:xfrm>
            <a:off x="11579400" y="5669640"/>
            <a:ext cx="2154960" cy="2656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450" spc="-1" strike="noStrike">
                <a:solidFill>
                  <a:srgbClr val="2e2e2e"/>
                </a:solidFill>
                <a:latin typeface="Sora"/>
                <a:ea typeface="Sora"/>
              </a:rPr>
              <a:t>Evin Zoet</a:t>
            </a:r>
            <a:endParaRPr b="0" lang="en-US" sz="1450" spc="-1" strike="noStrike">
              <a:solidFill>
                <a:srgbClr val="000000"/>
              </a:solidFill>
              <a:latin typeface="Arial"/>
            </a:endParaRPr>
          </a:p>
        </p:txBody>
      </p:sp>
      <p:sp>
        <p:nvSpPr>
          <p:cNvPr id="437" name="Text 24"/>
          <p:cNvSpPr/>
          <p:nvPr/>
        </p:nvSpPr>
        <p:spPr>
          <a:xfrm>
            <a:off x="11579400" y="5927040"/>
            <a:ext cx="2022480" cy="408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30000"/>
              </a:lnSpc>
              <a:tabLst>
                <a:tab algn="l" pos="0"/>
              </a:tabLst>
            </a:pPr>
            <a:r>
              <a:rPr b="0" lang="en-US" sz="1150" spc="-1" strike="noStrike">
                <a:solidFill>
                  <a:srgbClr val="6e7174"/>
                </a:solidFill>
                <a:latin typeface="Open Sans"/>
                <a:ea typeface="Open Sans"/>
              </a:rPr>
              <a:t>Co-Rep. Director, Transom</a:t>
            </a:r>
            <a:endParaRPr b="0" lang="en-US" sz="1150" spc="-1" strike="noStrike">
              <a:solidFill>
                <a:srgbClr val="000000"/>
              </a:solidFill>
              <a:latin typeface="Arial"/>
            </a:endParaRPr>
          </a:p>
        </p:txBody>
      </p:sp>
      <p:pic>
        <p:nvPicPr>
          <p:cNvPr id="438" name="Image 5" descr="preencoded.png"/>
          <p:cNvPicPr/>
          <p:nvPr/>
        </p:nvPicPr>
        <p:blipFill>
          <a:blip r:embed="rId6"/>
          <a:stretch/>
        </p:blipFill>
        <p:spPr>
          <a:xfrm>
            <a:off x="13785840" y="2931840"/>
            <a:ext cx="1892160" cy="2017080"/>
          </a:xfrm>
          <a:prstGeom prst="rect">
            <a:avLst/>
          </a:prstGeom>
          <a:ln w="0">
            <a:noFill/>
          </a:ln>
        </p:spPr>
      </p:pic>
      <p:sp>
        <p:nvSpPr>
          <p:cNvPr id="439" name="Shape 25"/>
          <p:cNvSpPr/>
          <p:nvPr/>
        </p:nvSpPr>
        <p:spPr>
          <a:xfrm>
            <a:off x="13649040" y="5526720"/>
            <a:ext cx="1959120" cy="27360"/>
          </a:xfrm>
          <a:prstGeom prst="rect">
            <a:avLst/>
          </a:prstGeom>
          <a:solidFill>
            <a:srgbClr val="e6e6e2"/>
          </a:solidFill>
          <a:ln w="0">
            <a:noFill/>
          </a:ln>
        </p:spPr>
        <p:style>
          <a:lnRef idx="0"/>
          <a:fillRef idx="0"/>
          <a:effectRef idx="0"/>
          <a:fontRef idx="minor"/>
        </p:style>
        <p:txBody>
          <a:bodyPr lIns="90000" rIns="90000" tIns="-16560" bIns="-16560" anchor="t">
            <a:noAutofit/>
          </a:bodyPr>
          <a:p>
            <a:pPr>
              <a:lnSpc>
                <a:spcPct val="100000"/>
              </a:lnSpc>
            </a:pPr>
            <a:endParaRPr b="0" lang="en-US" sz="1800" spc="-1" strike="noStrike">
              <a:solidFill>
                <a:srgbClr val="000000"/>
              </a:solidFill>
              <a:latin typeface="Arial"/>
              <a:ea typeface="Arial"/>
            </a:endParaRPr>
          </a:p>
        </p:txBody>
      </p:sp>
      <p:sp>
        <p:nvSpPr>
          <p:cNvPr id="440" name="Text 26"/>
          <p:cNvSpPr/>
          <p:nvPr/>
        </p:nvSpPr>
        <p:spPr>
          <a:xfrm>
            <a:off x="13649040" y="5669640"/>
            <a:ext cx="2154960" cy="2656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450" spc="-1" strike="noStrike">
                <a:solidFill>
                  <a:srgbClr val="2e2e2e"/>
                </a:solidFill>
                <a:latin typeface="Sora"/>
                <a:ea typeface="Sora"/>
              </a:rPr>
              <a:t>Yoshiko Zoet-Suzuki</a:t>
            </a:r>
            <a:endParaRPr b="0" lang="en-US" sz="1450" spc="-1" strike="noStrike">
              <a:solidFill>
                <a:srgbClr val="000000"/>
              </a:solidFill>
              <a:latin typeface="Arial"/>
            </a:endParaRPr>
          </a:p>
        </p:txBody>
      </p:sp>
      <p:sp>
        <p:nvSpPr>
          <p:cNvPr id="441" name="Text 27"/>
          <p:cNvSpPr/>
          <p:nvPr/>
        </p:nvSpPr>
        <p:spPr>
          <a:xfrm>
            <a:off x="13649040" y="5927040"/>
            <a:ext cx="2022480" cy="408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30000"/>
              </a:lnSpc>
              <a:tabLst>
                <a:tab algn="l" pos="0"/>
              </a:tabLst>
            </a:pPr>
            <a:r>
              <a:rPr b="0" lang="en-US" sz="1150" spc="-1" strike="noStrike">
                <a:solidFill>
                  <a:srgbClr val="6e7174"/>
                </a:solidFill>
                <a:latin typeface="Open Sans"/>
                <a:ea typeface="Open Sans"/>
              </a:rPr>
              <a:t>Co-Rep. Director, Transom</a:t>
            </a:r>
            <a:endParaRPr b="0" lang="en-US" sz="1150" spc="-1" strike="noStrike">
              <a:solidFill>
                <a:srgbClr val="000000"/>
              </a:solidFill>
              <a:latin typeface="Arial"/>
            </a:endParaRPr>
          </a:p>
        </p:txBody>
      </p:sp>
      <p:pic>
        <p:nvPicPr>
          <p:cNvPr id="442" name="Picture 2138552677" descr="takata_cropped.jpg"/>
          <p:cNvPicPr/>
          <p:nvPr/>
        </p:nvPicPr>
        <p:blipFill>
          <a:blip r:embed="rId7"/>
          <a:stretch/>
        </p:blipFill>
        <p:spPr>
          <a:xfrm>
            <a:off x="15718320" y="2931840"/>
            <a:ext cx="1959120" cy="2017080"/>
          </a:xfrm>
          <a:prstGeom prst="rect">
            <a:avLst/>
          </a:prstGeom>
          <a:ln w="0">
            <a:noFill/>
          </a:ln>
        </p:spPr>
      </p:pic>
      <p:sp>
        <p:nvSpPr>
          <p:cNvPr id="443" name="Shape 13 Takata"/>
          <p:cNvSpPr/>
          <p:nvPr/>
        </p:nvSpPr>
        <p:spPr>
          <a:xfrm>
            <a:off x="15718320" y="5512680"/>
            <a:ext cx="1959120" cy="27360"/>
          </a:xfrm>
          <a:prstGeom prst="rect">
            <a:avLst/>
          </a:prstGeom>
          <a:solidFill>
            <a:srgbClr val="e58520"/>
          </a:solidFill>
          <a:ln w="0">
            <a:noFill/>
          </a:ln>
        </p:spPr>
        <p:style>
          <a:lnRef idx="0"/>
          <a:fillRef idx="0"/>
          <a:effectRef idx="0"/>
          <a:fontRef idx="minor"/>
        </p:style>
        <p:txBody>
          <a:bodyPr lIns="90000" rIns="90000" tIns="-16560" bIns="-16560" anchor="t">
            <a:noAutofit/>
          </a:bodyPr>
          <a:p>
            <a:pPr>
              <a:lnSpc>
                <a:spcPct val="100000"/>
              </a:lnSpc>
            </a:pPr>
            <a:endParaRPr b="0" lang="en-US" sz="1800" spc="-1" strike="noStrike">
              <a:solidFill>
                <a:srgbClr val="ffffff"/>
              </a:solidFill>
              <a:latin typeface="Arial"/>
              <a:ea typeface="Arial"/>
            </a:endParaRPr>
          </a:p>
        </p:txBody>
      </p:sp>
      <p:sp>
        <p:nvSpPr>
          <p:cNvPr id="444" name="Text 14 Takata"/>
          <p:cNvSpPr/>
          <p:nvPr/>
        </p:nvSpPr>
        <p:spPr>
          <a:xfrm>
            <a:off x="15718320" y="5655600"/>
            <a:ext cx="2154960" cy="2656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450" spc="-1" strike="noStrike">
                <a:solidFill>
                  <a:srgbClr val="2e2e2e"/>
                </a:solidFill>
                <a:latin typeface="Sora"/>
                <a:ea typeface="Sora"/>
              </a:rPr>
              <a:t>Henry Takata</a:t>
            </a:r>
            <a:endParaRPr b="0" lang="en-US" sz="1450" spc="-1" strike="noStrike">
              <a:solidFill>
                <a:srgbClr val="000000"/>
              </a:solidFill>
              <a:latin typeface="Arial"/>
            </a:endParaRPr>
          </a:p>
        </p:txBody>
      </p:sp>
      <p:sp>
        <p:nvSpPr>
          <p:cNvPr id="445" name="Text 15 Takata"/>
          <p:cNvSpPr/>
          <p:nvPr/>
        </p:nvSpPr>
        <p:spPr>
          <a:xfrm>
            <a:off x="15718320" y="5912640"/>
            <a:ext cx="2154960" cy="227520"/>
          </a:xfrm>
          <a:prstGeom prst="rect">
            <a:avLst/>
          </a:prstGeom>
          <a:noFill/>
          <a:ln w="0">
            <a:noFill/>
          </a:ln>
        </p:spPr>
        <p:style>
          <a:lnRef idx="0"/>
          <a:fillRef idx="0"/>
          <a:effectRef idx="0"/>
          <a:fontRef idx="minor"/>
        </p:style>
        <p:txBody>
          <a:bodyPr lIns="25560" rIns="25560" tIns="25560" bIns="25560" anchor="t">
            <a:normAutofit fontScale="93333"/>
          </a:bodyPr>
          <a:p>
            <a:pPr defTabSz="914400">
              <a:lnSpc>
                <a:spcPct val="100000"/>
              </a:lnSpc>
              <a:tabLst>
                <a:tab algn="l" pos="0"/>
              </a:tabLst>
            </a:pPr>
            <a:r>
              <a:rPr b="0" lang="en-US" sz="1150" spc="-1" strike="noStrike">
                <a:solidFill>
                  <a:srgbClr val="6e7174"/>
                </a:solidFill>
                <a:latin typeface="Open Sans"/>
                <a:ea typeface="Open Sans"/>
              </a:rPr>
              <a:t>Business Development, SynTech</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af9"/>
        </a:solidFill>
      </p:bgPr>
    </p:bg>
    <p:spTree>
      <p:nvGrpSpPr>
        <p:cNvPr id="1" name=""/>
        <p:cNvGrpSpPr/>
        <p:nvPr/>
      </p:nvGrpSpPr>
      <p:grpSpPr>
        <a:xfrm>
          <a:off x="0" y="0"/>
          <a:ext cx="0" cy="0"/>
          <a:chOff x="0" y="0"/>
          <a:chExt cx="0" cy="0"/>
        </a:xfrm>
      </p:grpSpPr>
      <p:sp>
        <p:nvSpPr>
          <p:cNvPr id="446" name="Shape 0"/>
          <p:cNvSpPr/>
          <p:nvPr/>
        </p:nvSpPr>
        <p:spPr>
          <a:xfrm>
            <a:off x="0" y="0"/>
            <a:ext cx="18286920" cy="75240"/>
          </a:xfrm>
          <a:prstGeom prst="rect">
            <a:avLst/>
          </a:prstGeom>
          <a:solidFill>
            <a:srgbClr val="9b9da0"/>
          </a:solidFill>
          <a:ln w="0">
            <a:noFill/>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ffffff"/>
              </a:solidFill>
              <a:latin typeface="Arial"/>
              <a:ea typeface="Arial"/>
            </a:endParaRPr>
          </a:p>
        </p:txBody>
      </p:sp>
      <p:sp>
        <p:nvSpPr>
          <p:cNvPr id="447" name="Shape 1"/>
          <p:cNvSpPr/>
          <p:nvPr/>
        </p:nvSpPr>
        <p:spPr>
          <a:xfrm>
            <a:off x="609480" y="895320"/>
            <a:ext cx="43704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448" name="Text 2"/>
          <p:cNvSpPr/>
          <p:nvPr/>
        </p:nvSpPr>
        <p:spPr>
          <a:xfrm>
            <a:off x="1181160" y="800280"/>
            <a:ext cx="280944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202" strike="noStrike">
                <a:solidFill>
                  <a:srgbClr val="9b9da0"/>
                </a:solidFill>
                <a:latin typeface="Open Sans"/>
                <a:ea typeface="Open Sans"/>
              </a:rPr>
              <a:t>REPLICATION · </a:t>
            </a:r>
            <a:r>
              <a:rPr b="1" lang="zh-CN" sz="1300" spc="202" strike="noStrike">
                <a:solidFill>
                  <a:srgbClr val="9b9da0"/>
                </a:solidFill>
                <a:latin typeface="Open Sans"/>
                <a:ea typeface="Open Sans"/>
              </a:rPr>
              <a:t>横展開 </a:t>
            </a:r>
            <a:r>
              <a:rPr b="1" lang="en-US" sz="1300" spc="202" strike="noStrike">
                <a:solidFill>
                  <a:srgbClr val="9b9da0"/>
                </a:solidFill>
                <a:latin typeface="Open Sans"/>
                <a:ea typeface="Open Sans"/>
              </a:rPr>
              <a:t>· 14</a:t>
            </a:r>
            <a:endParaRPr b="0" lang="en-US" sz="1300" spc="-1" strike="noStrike">
              <a:solidFill>
                <a:srgbClr val="000000"/>
              </a:solidFill>
              <a:latin typeface="Arial"/>
            </a:endParaRPr>
          </a:p>
        </p:txBody>
      </p:sp>
      <p:sp>
        <p:nvSpPr>
          <p:cNvPr id="449" name="Text 3"/>
          <p:cNvSpPr/>
          <p:nvPr/>
        </p:nvSpPr>
        <p:spPr>
          <a:xfrm>
            <a:off x="609480" y="1247760"/>
            <a:ext cx="18774720" cy="66492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2000"/>
              </a:lnSpc>
              <a:tabLst>
                <a:tab algn="l" pos="0"/>
              </a:tabLst>
            </a:pPr>
            <a:r>
              <a:rPr b="1" lang="en-US" sz="4800" spc="-49" strike="noStrike">
                <a:solidFill>
                  <a:srgbClr val="2e2e2e"/>
                </a:solidFill>
                <a:latin typeface="Sora"/>
                <a:ea typeface="Sora"/>
              </a:rPr>
              <a:t>One village, an open blueprint</a:t>
            </a:r>
            <a:endParaRPr b="0" lang="en-US" sz="4800" spc="-1" strike="noStrike">
              <a:solidFill>
                <a:srgbClr val="000000"/>
              </a:solidFill>
              <a:latin typeface="Arial"/>
            </a:endParaRPr>
          </a:p>
        </p:txBody>
      </p:sp>
      <p:sp>
        <p:nvSpPr>
          <p:cNvPr id="450" name="Text 4"/>
          <p:cNvSpPr/>
          <p:nvPr/>
        </p:nvSpPr>
        <p:spPr>
          <a:xfrm>
            <a:off x="609480" y="1971000"/>
            <a:ext cx="18774720" cy="408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zh-CN" sz="1950" spc="-1" strike="noStrike">
                <a:solidFill>
                  <a:srgbClr val="6e7174"/>
                </a:solidFill>
                <a:latin typeface="Noto Sans JP"/>
                <a:ea typeface="Noto Sans JP"/>
              </a:rPr>
              <a:t>御杖は終着点ではなく、原型。公開された設計図。</a:t>
            </a:r>
            <a:endParaRPr b="0" lang="en-US" sz="1950" spc="-1" strike="noStrike">
              <a:solidFill>
                <a:srgbClr val="000000"/>
              </a:solidFill>
              <a:latin typeface="Arial"/>
            </a:endParaRPr>
          </a:p>
        </p:txBody>
      </p:sp>
      <p:sp>
        <p:nvSpPr>
          <p:cNvPr id="451" name="Text 5"/>
          <p:cNvSpPr/>
          <p:nvPr/>
        </p:nvSpPr>
        <p:spPr>
          <a:xfrm>
            <a:off x="487080" y="4843080"/>
            <a:ext cx="1682280" cy="64656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0000"/>
              </a:lnSpc>
              <a:tabLst>
                <a:tab algn="l" pos="0"/>
              </a:tabLst>
            </a:pPr>
            <a:r>
              <a:rPr b="1" lang="en-US" sz="4800" spc="-1" strike="noStrike">
                <a:solidFill>
                  <a:srgbClr val="e58520"/>
                </a:solidFill>
                <a:latin typeface="Sora"/>
                <a:ea typeface="Sora"/>
              </a:rPr>
              <a:t>100s</a:t>
            </a:r>
            <a:endParaRPr b="0" lang="en-US" sz="4800" spc="-1" strike="noStrike">
              <a:solidFill>
                <a:srgbClr val="000000"/>
              </a:solidFill>
              <a:latin typeface="Arial"/>
            </a:endParaRPr>
          </a:p>
        </p:txBody>
      </p:sp>
      <p:sp>
        <p:nvSpPr>
          <p:cNvPr id="452" name="Text 6"/>
          <p:cNvSpPr/>
          <p:nvPr/>
        </p:nvSpPr>
        <p:spPr>
          <a:xfrm>
            <a:off x="2207880" y="5113800"/>
            <a:ext cx="6021360" cy="65052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40000"/>
              </a:lnSpc>
              <a:tabLst>
                <a:tab algn="l" pos="0"/>
              </a:tabLst>
            </a:pPr>
            <a:r>
              <a:rPr b="0" lang="en-US" sz="1750" spc="-1" strike="noStrike">
                <a:solidFill>
                  <a:srgbClr val="4a4a4a"/>
                </a:solidFill>
                <a:latin typeface="Open Sans"/>
                <a:ea typeface="Open Sans"/>
              </a:rPr>
              <a:t>of depopulating municipalities share the same four raw materials. </a:t>
            </a:r>
            <a:r>
              <a:rPr b="0" lang="zh-CN" sz="1750" spc="-1" strike="noStrike">
                <a:solidFill>
                  <a:srgbClr val="4a4a4a"/>
                </a:solidFill>
                <a:latin typeface="Open Sans"/>
                <a:ea typeface="Open Sans"/>
              </a:rPr>
              <a:t>同じ条件を持つ自治体は数百。</a:t>
            </a:r>
            <a:endParaRPr b="0" lang="en-US" sz="1750" spc="-1" strike="noStrike">
              <a:solidFill>
                <a:srgbClr val="000000"/>
              </a:solidFill>
              <a:latin typeface="Arial"/>
            </a:endParaRPr>
          </a:p>
        </p:txBody>
      </p:sp>
      <p:sp>
        <p:nvSpPr>
          <p:cNvPr id="453" name="Text 8"/>
          <p:cNvSpPr/>
          <p:nvPr/>
        </p:nvSpPr>
        <p:spPr>
          <a:xfrm>
            <a:off x="487080" y="6155640"/>
            <a:ext cx="7056360" cy="72288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50000"/>
              </a:lnSpc>
              <a:tabLst>
                <a:tab algn="l" pos="0"/>
              </a:tabLst>
            </a:pPr>
            <a:r>
              <a:rPr b="0" lang="en-US" sz="1800" spc="-1" strike="noStrike">
                <a:solidFill>
                  <a:srgbClr val="3a3a3a"/>
                </a:solidFill>
                <a:latin typeface="Open Sans"/>
                <a:ea typeface="Open Sans"/>
              </a:rPr>
              <a:t>Every method, dataset and financial record is released under </a:t>
            </a:r>
            <a:r>
              <a:rPr b="1" lang="en-US" sz="1800" spc="-1" strike="noStrike">
                <a:solidFill>
                  <a:srgbClr val="3a3a3a"/>
                </a:solidFill>
                <a:latin typeface="Open Sans"/>
                <a:ea typeface="Open Sans"/>
              </a:rPr>
              <a:t>open licences </a:t>
            </a:r>
            <a:r>
              <a:rPr b="0" lang="en-US" sz="1800" spc="-1" strike="noStrike">
                <a:solidFill>
                  <a:srgbClr val="3a3a3a"/>
                </a:solidFill>
                <a:latin typeface="Open Sans"/>
                <a:ea typeface="Open Sans"/>
              </a:rPr>
              <a:t>. The deliverable isn't the data center — it's the </a:t>
            </a:r>
            <a:r>
              <a:rPr b="1" lang="en-US" sz="1800" spc="-1" strike="noStrike">
                <a:solidFill>
                  <a:srgbClr val="3a3a3a"/>
                </a:solidFill>
                <a:latin typeface="Open Sans"/>
                <a:ea typeface="Open Sans"/>
              </a:rPr>
              <a:t>repeatable playbook</a:t>
            </a:r>
            <a:r>
              <a:rPr b="0" lang="en-US" sz="1800" spc="-1" strike="noStrike">
                <a:solidFill>
                  <a:srgbClr val="3a3a3a"/>
                </a:solidFill>
                <a:latin typeface="Open Sans"/>
                <a:ea typeface="Open Sans"/>
              </a:rPr>
              <a:t>.</a:t>
            </a:r>
            <a:endParaRPr b="0" lang="en-US" sz="1800" spc="-1" strike="noStrike">
              <a:solidFill>
                <a:srgbClr val="000000"/>
              </a:solidFill>
              <a:latin typeface="Arial"/>
            </a:endParaRPr>
          </a:p>
        </p:txBody>
      </p:sp>
      <p:sp>
        <p:nvSpPr>
          <p:cNvPr id="454" name="Text 9"/>
          <p:cNvSpPr/>
          <p:nvPr/>
        </p:nvSpPr>
        <p:spPr>
          <a:xfrm>
            <a:off x="487080" y="7014960"/>
            <a:ext cx="9373320" cy="34452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70000"/>
              </a:lnSpc>
              <a:tabLst>
                <a:tab algn="l" pos="0"/>
              </a:tabLst>
            </a:pPr>
            <a:r>
              <a:rPr b="0" lang="zh-CN" sz="1450" spc="-1" strike="noStrike">
                <a:solidFill>
                  <a:srgbClr val="85888c"/>
                </a:solidFill>
                <a:latin typeface="Noto Sans JP"/>
                <a:ea typeface="Noto Sans JP"/>
              </a:rPr>
              <a:t>手法・データ・会計をすべて公開。成果物はデータセンターではなく、再現可能な「型」。</a:t>
            </a:r>
            <a:endParaRPr b="0" lang="en-US" sz="1450" spc="-1" strike="noStrike">
              <a:solidFill>
                <a:srgbClr val="000000"/>
              </a:solidFill>
              <a:latin typeface="Arial"/>
            </a:endParaRPr>
          </a:p>
        </p:txBody>
      </p:sp>
      <p:pic>
        <p:nvPicPr>
          <p:cNvPr id="455" name="Image 6" descr="preencoded.png"/>
          <p:cNvPicPr/>
          <p:nvPr/>
        </p:nvPicPr>
        <p:blipFill>
          <a:blip r:embed="rId1"/>
          <a:stretch/>
        </p:blipFill>
        <p:spPr>
          <a:xfrm>
            <a:off x="8339400" y="2743200"/>
            <a:ext cx="9342720" cy="5257440"/>
          </a:xfrm>
          <a:prstGeom prst="rect">
            <a:avLst/>
          </a:prstGeom>
          <a:ln w="0">
            <a:noFill/>
          </a:ln>
        </p:spPr>
      </p:pic>
      <p:sp>
        <p:nvSpPr>
          <p:cNvPr id="456" name="Shape 3"/>
          <p:cNvSpPr/>
          <p:nvPr/>
        </p:nvSpPr>
        <p:spPr>
          <a:xfrm>
            <a:off x="8339400" y="5230440"/>
            <a:ext cx="4550040" cy="2559240"/>
          </a:xfrm>
          <a:prstGeom prst="rect">
            <a:avLst/>
          </a:prstGeom>
          <a:gradFill rotWithShape="0">
            <a:gsLst>
              <a:gs pos="0">
                <a:srgbClr val="141414">
                  <a:alpha val="94000"/>
                </a:srgbClr>
              </a:gs>
              <a:gs pos="50000">
                <a:srgbClr val="141414">
                  <a:alpha val="50000"/>
                </a:srgbClr>
              </a:gs>
              <a:gs pos="100000">
                <a:srgbClr val="141414">
                  <a:alpha val="10000"/>
                </a:srgbClr>
              </a:gs>
            </a:gsLst>
            <a:lin ang="162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457" name="Text 1"/>
          <p:cNvSpPr/>
          <p:nvPr/>
        </p:nvSpPr>
        <p:spPr>
          <a:xfrm>
            <a:off x="8718840" y="6005160"/>
            <a:ext cx="448920" cy="318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50" spc="-1" strike="noStrike">
                <a:solidFill>
                  <a:srgbClr val="e58520"/>
                </a:solidFill>
                <a:latin typeface="Sora"/>
                <a:ea typeface="Sora"/>
              </a:rPr>
              <a:t>01</a:t>
            </a:r>
            <a:endParaRPr b="0" lang="en-US" sz="1350" spc="-1" strike="noStrike">
              <a:solidFill>
                <a:srgbClr val="000000"/>
              </a:solidFill>
              <a:latin typeface="Arial"/>
            </a:endParaRPr>
          </a:p>
        </p:txBody>
      </p:sp>
      <p:sp>
        <p:nvSpPr>
          <p:cNvPr id="458" name="Text 57"/>
          <p:cNvSpPr/>
          <p:nvPr/>
        </p:nvSpPr>
        <p:spPr>
          <a:xfrm>
            <a:off x="9240120" y="5987160"/>
            <a:ext cx="3526200" cy="354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450" spc="-1" strike="noStrike">
                <a:solidFill>
                  <a:srgbClr val="ffffff"/>
                </a:solidFill>
                <a:latin typeface="Open Sans"/>
                <a:ea typeface="Open Sans"/>
              </a:rPr>
              <a:t>Restoration &amp; energy methods</a:t>
            </a:r>
            <a:endParaRPr b="0" lang="en-US" sz="1450" spc="-1" strike="noStrike">
              <a:solidFill>
                <a:srgbClr val="000000"/>
              </a:solidFill>
              <a:latin typeface="Arial"/>
            </a:endParaRPr>
          </a:p>
        </p:txBody>
      </p:sp>
      <p:sp>
        <p:nvSpPr>
          <p:cNvPr id="459" name="Text 58"/>
          <p:cNvSpPr/>
          <p:nvPr/>
        </p:nvSpPr>
        <p:spPr>
          <a:xfrm>
            <a:off x="8718840" y="6455160"/>
            <a:ext cx="448920" cy="318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50" spc="-1" strike="noStrike">
                <a:solidFill>
                  <a:srgbClr val="e58520"/>
                </a:solidFill>
                <a:latin typeface="Sora"/>
                <a:ea typeface="Sora"/>
              </a:rPr>
              <a:t>02</a:t>
            </a:r>
            <a:endParaRPr b="0" lang="en-US" sz="1350" spc="-1" strike="noStrike">
              <a:solidFill>
                <a:srgbClr val="000000"/>
              </a:solidFill>
              <a:latin typeface="Arial"/>
            </a:endParaRPr>
          </a:p>
        </p:txBody>
      </p:sp>
      <p:sp>
        <p:nvSpPr>
          <p:cNvPr id="460" name="Text 60"/>
          <p:cNvSpPr/>
          <p:nvPr/>
        </p:nvSpPr>
        <p:spPr>
          <a:xfrm>
            <a:off x="9240120" y="6437520"/>
            <a:ext cx="3805920" cy="3542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450" spc="-1" strike="noStrike">
                <a:solidFill>
                  <a:srgbClr val="ffffff"/>
                </a:solidFill>
                <a:latin typeface="Open Sans"/>
                <a:ea typeface="Open Sans"/>
              </a:rPr>
              <a:t>Financial model &amp; open accounts</a:t>
            </a:r>
            <a:endParaRPr b="0" lang="en-US" sz="1450" spc="-1" strike="noStrike">
              <a:solidFill>
                <a:srgbClr val="000000"/>
              </a:solidFill>
              <a:latin typeface="Arial"/>
            </a:endParaRPr>
          </a:p>
        </p:txBody>
      </p:sp>
      <p:sp>
        <p:nvSpPr>
          <p:cNvPr id="461" name="Text 61"/>
          <p:cNvSpPr/>
          <p:nvPr/>
        </p:nvSpPr>
        <p:spPr>
          <a:xfrm>
            <a:off x="8718840" y="6905520"/>
            <a:ext cx="448920" cy="318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50" spc="-1" strike="noStrike">
                <a:solidFill>
                  <a:srgbClr val="e58520"/>
                </a:solidFill>
                <a:latin typeface="Sora"/>
                <a:ea typeface="Sora"/>
              </a:rPr>
              <a:t>03</a:t>
            </a:r>
            <a:endParaRPr b="0" lang="en-US" sz="1350" spc="-1" strike="noStrike">
              <a:solidFill>
                <a:srgbClr val="000000"/>
              </a:solidFill>
              <a:latin typeface="Arial"/>
            </a:endParaRPr>
          </a:p>
        </p:txBody>
      </p:sp>
      <p:sp>
        <p:nvSpPr>
          <p:cNvPr id="462" name="Text 62"/>
          <p:cNvSpPr/>
          <p:nvPr/>
        </p:nvSpPr>
        <p:spPr>
          <a:xfrm>
            <a:off x="9240120" y="6887880"/>
            <a:ext cx="3453840" cy="354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450" spc="-1" strike="noStrike">
                <a:solidFill>
                  <a:srgbClr val="ffffff"/>
                </a:solidFill>
                <a:latin typeface="Open Sans"/>
                <a:ea typeface="Open Sans"/>
              </a:rPr>
              <a:t>Governance &amp; legal templates</a:t>
            </a:r>
            <a:endParaRPr b="0" lang="en-US" sz="1450" spc="-1" strike="noStrike">
              <a:solidFill>
                <a:srgbClr val="000000"/>
              </a:solidFill>
              <a:latin typeface="Arial"/>
            </a:endParaRPr>
          </a:p>
        </p:txBody>
      </p:sp>
      <p:sp>
        <p:nvSpPr>
          <p:cNvPr id="463" name="Text 63"/>
          <p:cNvSpPr/>
          <p:nvPr/>
        </p:nvSpPr>
        <p:spPr>
          <a:xfrm>
            <a:off x="8718840" y="7355880"/>
            <a:ext cx="448920" cy="3186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50" spc="-1" strike="noStrike">
                <a:solidFill>
                  <a:srgbClr val="e58520"/>
                </a:solidFill>
                <a:latin typeface="Sora"/>
                <a:ea typeface="Sora"/>
              </a:rPr>
              <a:t>04</a:t>
            </a:r>
            <a:endParaRPr b="0" lang="en-US" sz="1350" spc="-1" strike="noStrike">
              <a:solidFill>
                <a:srgbClr val="000000"/>
              </a:solidFill>
              <a:latin typeface="Arial"/>
            </a:endParaRPr>
          </a:p>
        </p:txBody>
      </p:sp>
      <p:sp>
        <p:nvSpPr>
          <p:cNvPr id="464" name="Text 64"/>
          <p:cNvSpPr/>
          <p:nvPr/>
        </p:nvSpPr>
        <p:spPr>
          <a:xfrm>
            <a:off x="9240120" y="7338240"/>
            <a:ext cx="3362760" cy="3542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450" spc="-1" strike="noStrike">
                <a:solidFill>
                  <a:srgbClr val="ffffff"/>
                </a:solidFill>
                <a:latin typeface="Open Sans"/>
                <a:ea typeface="Open Sans"/>
              </a:rPr>
              <a:t>Environmental &amp; energy data</a:t>
            </a:r>
            <a:endParaRPr b="0" lang="en-US" sz="1450" spc="-1" strike="noStrike">
              <a:solidFill>
                <a:srgbClr val="000000"/>
              </a:solidFill>
              <a:latin typeface="Arial"/>
            </a:endParaRPr>
          </a:p>
        </p:txBody>
      </p:sp>
      <p:sp>
        <p:nvSpPr>
          <p:cNvPr id="465" name="Text 65"/>
          <p:cNvSpPr/>
          <p:nvPr/>
        </p:nvSpPr>
        <p:spPr>
          <a:xfrm>
            <a:off x="8560080" y="5514840"/>
            <a:ext cx="9312480" cy="3304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200" spc="165" strike="noStrike">
                <a:solidFill>
                  <a:srgbClr val="9b9da0"/>
                </a:solidFill>
                <a:latin typeface="Open Sans"/>
                <a:ea typeface="Open Sans"/>
              </a:rPr>
              <a:t>THE OPEN PLAYBOOK · </a:t>
            </a:r>
            <a:r>
              <a:rPr b="1" lang="zh-CN" sz="1200" spc="165" strike="noStrike">
                <a:solidFill>
                  <a:srgbClr val="9b9da0"/>
                </a:solidFill>
                <a:latin typeface="Open Sans"/>
                <a:ea typeface="Open Sans"/>
              </a:rPr>
              <a:t>公開設計図</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e2e"/>
        </a:solidFill>
      </p:bgPr>
    </p:bg>
    <p:spTree>
      <p:nvGrpSpPr>
        <p:cNvPr id="1" name=""/>
        <p:cNvGrpSpPr/>
        <p:nvPr/>
      </p:nvGrpSpPr>
      <p:grpSpPr>
        <a:xfrm>
          <a:off x="0" y="0"/>
          <a:ext cx="0" cy="0"/>
          <a:chOff x="0" y="0"/>
          <a:chExt cx="0" cy="0"/>
        </a:xfrm>
      </p:grpSpPr>
      <p:sp>
        <p:nvSpPr>
          <p:cNvPr id="466" name="Shape 0"/>
          <p:cNvSpPr/>
          <p:nvPr/>
        </p:nvSpPr>
        <p:spPr>
          <a:xfrm>
            <a:off x="0" y="0"/>
            <a:ext cx="18286920" cy="75240"/>
          </a:xfrm>
          <a:prstGeom prst="rect">
            <a:avLst/>
          </a:prstGeom>
          <a:solidFill>
            <a:srgbClr val="e58520"/>
          </a:solidFill>
          <a:ln w="0">
            <a:noFill/>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ffffff"/>
              </a:solidFill>
              <a:latin typeface="Arial"/>
              <a:ea typeface="Arial"/>
            </a:endParaRPr>
          </a:p>
        </p:txBody>
      </p:sp>
      <p:sp>
        <p:nvSpPr>
          <p:cNvPr id="467" name="Shape 1"/>
          <p:cNvSpPr/>
          <p:nvPr/>
        </p:nvSpPr>
        <p:spPr>
          <a:xfrm>
            <a:off x="609480" y="933480"/>
            <a:ext cx="437040" cy="46440"/>
          </a:xfrm>
          <a:prstGeom prst="rect">
            <a:avLst/>
          </a:prstGeom>
          <a:solidFill>
            <a:srgbClr val="e58520"/>
          </a:solidFill>
          <a:ln w="0">
            <a:noFill/>
          </a:ln>
        </p:spPr>
        <p:style>
          <a:lnRef idx="0"/>
          <a:fillRef idx="0"/>
          <a:effectRef idx="0"/>
          <a:fontRef idx="minor"/>
        </p:style>
        <p:txBody>
          <a:bodyPr lIns="90000" rIns="90000" tIns="2520" bIns="2520" anchor="t">
            <a:noAutofit/>
          </a:bodyPr>
          <a:p>
            <a:pPr>
              <a:lnSpc>
                <a:spcPct val="100000"/>
              </a:lnSpc>
            </a:pPr>
            <a:endParaRPr b="0" lang="en-US" sz="1800" spc="-1" strike="noStrike">
              <a:solidFill>
                <a:srgbClr val="ffffff"/>
              </a:solidFill>
              <a:latin typeface="Arial"/>
              <a:ea typeface="Arial"/>
            </a:endParaRPr>
          </a:p>
        </p:txBody>
      </p:sp>
      <p:sp>
        <p:nvSpPr>
          <p:cNvPr id="468" name="Text 2"/>
          <p:cNvSpPr/>
          <p:nvPr/>
        </p:nvSpPr>
        <p:spPr>
          <a:xfrm>
            <a:off x="1181160" y="838080"/>
            <a:ext cx="3159720" cy="27504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300" spc="202" strike="noStrike">
                <a:solidFill>
                  <a:srgbClr val="9b9da0"/>
                </a:solidFill>
                <a:latin typeface="Open Sans"/>
                <a:ea typeface="Open Sans"/>
              </a:rPr>
              <a:t>THE INVITATION · </a:t>
            </a:r>
            <a:r>
              <a:rPr b="1" lang="zh-CN" sz="1300" spc="202" strike="noStrike">
                <a:solidFill>
                  <a:srgbClr val="9b9da0"/>
                </a:solidFill>
                <a:latin typeface="Open Sans"/>
                <a:ea typeface="Open Sans"/>
              </a:rPr>
              <a:t>ご提案 </a:t>
            </a:r>
            <a:r>
              <a:rPr b="1" lang="en-US" sz="1300" spc="202" strike="noStrike">
                <a:solidFill>
                  <a:srgbClr val="9b9da0"/>
                </a:solidFill>
                <a:latin typeface="Open Sans"/>
                <a:ea typeface="Open Sans"/>
              </a:rPr>
              <a:t>· 15</a:t>
            </a:r>
            <a:endParaRPr b="0" lang="en-US" sz="1300" spc="-1" strike="noStrike">
              <a:solidFill>
                <a:srgbClr val="ffffff"/>
              </a:solidFill>
              <a:latin typeface="Arial"/>
            </a:endParaRPr>
          </a:p>
        </p:txBody>
      </p:sp>
      <p:sp>
        <p:nvSpPr>
          <p:cNvPr id="469" name="Text 3"/>
          <p:cNvSpPr/>
          <p:nvPr/>
        </p:nvSpPr>
        <p:spPr>
          <a:xfrm>
            <a:off x="609480" y="3321720"/>
            <a:ext cx="14715000" cy="1747080"/>
          </a:xfrm>
          <a:prstGeom prst="rect">
            <a:avLst/>
          </a:prstGeom>
          <a:noFill/>
          <a:ln w="0">
            <a:noFill/>
          </a:ln>
        </p:spPr>
        <p:style>
          <a:lnRef idx="0"/>
          <a:fillRef idx="0"/>
          <a:effectRef idx="0"/>
          <a:fontRef idx="minor"/>
        </p:style>
        <p:txBody>
          <a:bodyPr lIns="25560" rIns="25560" tIns="25560" bIns="25560" anchor="t">
            <a:normAutofit fontScale="83888"/>
          </a:bodyPr>
          <a:p>
            <a:pPr defTabSz="914400">
              <a:lnSpc>
                <a:spcPct val="102000"/>
              </a:lnSpc>
              <a:tabLst>
                <a:tab algn="l" pos="0"/>
              </a:tabLst>
            </a:pPr>
            <a:r>
              <a:rPr b="1" lang="en-US" sz="6600" spc="-100" strike="noStrike">
                <a:solidFill>
                  <a:srgbClr val="f4f1ec"/>
                </a:solidFill>
                <a:latin typeface="Sora"/>
                <a:ea typeface="Sora"/>
              </a:rPr>
              <a:t>Help write the blueprint, not just fund a village.</a:t>
            </a:r>
            <a:endParaRPr b="0" lang="en-US" sz="6600" spc="-1" strike="noStrike">
              <a:solidFill>
                <a:srgbClr val="ffffff"/>
              </a:solidFill>
              <a:latin typeface="Arial"/>
            </a:endParaRPr>
          </a:p>
        </p:txBody>
      </p:sp>
      <p:sp>
        <p:nvSpPr>
          <p:cNvPr id="470" name="Text 4"/>
          <p:cNvSpPr/>
          <p:nvPr/>
        </p:nvSpPr>
        <p:spPr>
          <a:xfrm>
            <a:off x="609480" y="5241240"/>
            <a:ext cx="18774720" cy="45612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zh-CN" sz="2250" spc="-1" strike="noStrike">
                <a:solidFill>
                  <a:srgbClr val="b9bbbd"/>
                </a:solidFill>
                <a:latin typeface="Noto Sans JP"/>
                <a:ea typeface="Noto Sans JP"/>
              </a:rPr>
              <a:t>一つの村への出資ではなく、地方再生の設計図づくりに参加を。</a:t>
            </a:r>
            <a:endParaRPr b="0" lang="en-US" sz="2250" spc="-1" strike="noStrike">
              <a:solidFill>
                <a:srgbClr val="ffffff"/>
              </a:solidFill>
              <a:latin typeface="Arial"/>
            </a:endParaRPr>
          </a:p>
        </p:txBody>
      </p:sp>
      <p:sp>
        <p:nvSpPr>
          <p:cNvPr id="471" name="Shape 5"/>
          <p:cNvSpPr/>
          <p:nvPr/>
        </p:nvSpPr>
        <p:spPr>
          <a:xfrm>
            <a:off x="609480" y="7905600"/>
            <a:ext cx="3903480" cy="1694520"/>
          </a:xfrm>
          <a:prstGeom prst="rect">
            <a:avLst/>
          </a:prstGeom>
          <a:solidFill>
            <a:srgbClr val="e5852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Arial"/>
            </a:endParaRPr>
          </a:p>
        </p:txBody>
      </p:sp>
      <p:sp>
        <p:nvSpPr>
          <p:cNvPr id="472" name="Text 6"/>
          <p:cNvSpPr/>
          <p:nvPr/>
        </p:nvSpPr>
        <p:spPr>
          <a:xfrm>
            <a:off x="971640" y="8191440"/>
            <a:ext cx="3497400" cy="26568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200" spc="165" strike="noStrike">
                <a:solidFill>
                  <a:srgbClr val="fce6cc"/>
                </a:solidFill>
                <a:latin typeface="Open Sans"/>
                <a:ea typeface="Open Sans"/>
              </a:rPr>
              <a:t>NOW SEEKING · GATE 1 · </a:t>
            </a:r>
            <a:r>
              <a:rPr b="1" lang="zh-CN" sz="1200" spc="165" strike="noStrike">
                <a:solidFill>
                  <a:srgbClr val="fce6cc"/>
                </a:solidFill>
                <a:latin typeface="Open Sans"/>
                <a:ea typeface="Open Sans"/>
              </a:rPr>
              <a:t>現在募集中</a:t>
            </a:r>
            <a:endParaRPr b="0" lang="en-US" sz="1200" spc="-1" strike="noStrike">
              <a:solidFill>
                <a:srgbClr val="ffffff"/>
              </a:solidFill>
              <a:latin typeface="Arial"/>
            </a:endParaRPr>
          </a:p>
        </p:txBody>
      </p:sp>
      <p:sp>
        <p:nvSpPr>
          <p:cNvPr id="473" name="Text 7"/>
          <p:cNvSpPr/>
          <p:nvPr/>
        </p:nvSpPr>
        <p:spPr>
          <a:xfrm>
            <a:off x="971640" y="8496360"/>
            <a:ext cx="3497400" cy="532440"/>
          </a:xfrm>
          <a:prstGeom prst="rect">
            <a:avLst/>
          </a:prstGeom>
          <a:noFill/>
          <a:ln w="0">
            <a:noFill/>
          </a:ln>
        </p:spPr>
        <p:style>
          <a:lnRef idx="0"/>
          <a:fillRef idx="0"/>
          <a:effectRef idx="0"/>
          <a:fontRef idx="minor"/>
        </p:style>
        <p:txBody>
          <a:bodyPr lIns="25560" rIns="25560" tIns="25560" bIns="25560" anchor="t">
            <a:normAutofit fontScale="81111"/>
          </a:bodyPr>
          <a:p>
            <a:pPr defTabSz="914400">
              <a:lnSpc>
                <a:spcPct val="100000"/>
              </a:lnSpc>
              <a:tabLst>
                <a:tab algn="l" pos="0"/>
              </a:tabLst>
            </a:pPr>
            <a:r>
              <a:rPr b="1" lang="en-US" sz="3900" spc="-1" strike="noStrike">
                <a:solidFill>
                  <a:srgbClr val="ffffff"/>
                </a:solidFill>
                <a:latin typeface="Sora"/>
                <a:ea typeface="Sora"/>
              </a:rPr>
              <a:t>¥3–8M</a:t>
            </a:r>
            <a:endParaRPr b="0" lang="en-US" sz="3900" spc="-1" strike="noStrike">
              <a:solidFill>
                <a:srgbClr val="ffffff"/>
              </a:solidFill>
              <a:latin typeface="Arial"/>
            </a:endParaRPr>
          </a:p>
        </p:txBody>
      </p:sp>
      <p:sp>
        <p:nvSpPr>
          <p:cNvPr id="474" name="Text 8"/>
          <p:cNvSpPr/>
          <p:nvPr/>
        </p:nvSpPr>
        <p:spPr>
          <a:xfrm>
            <a:off x="971640" y="9067680"/>
            <a:ext cx="3497400" cy="2847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0" lang="en-US" sz="1450" spc="-1" strike="noStrike">
                <a:solidFill>
                  <a:srgbClr val="fbe6cc"/>
                </a:solidFill>
                <a:latin typeface="Open Sans"/>
                <a:ea typeface="Open Sans"/>
              </a:rPr>
              <a:t>Phase 1: entity · feasibility · advisors</a:t>
            </a:r>
            <a:endParaRPr b="0" lang="en-US" sz="1450" spc="-1" strike="noStrike">
              <a:solidFill>
                <a:srgbClr val="ffffff"/>
              </a:solidFill>
              <a:latin typeface="Arial"/>
            </a:endParaRPr>
          </a:p>
        </p:txBody>
      </p:sp>
      <p:sp>
        <p:nvSpPr>
          <p:cNvPr id="475" name="Text 9"/>
          <p:cNvSpPr/>
          <p:nvPr/>
        </p:nvSpPr>
        <p:spPr>
          <a:xfrm>
            <a:off x="4894920" y="8282160"/>
            <a:ext cx="14060520" cy="365760"/>
          </a:xfrm>
          <a:prstGeom prst="rect">
            <a:avLst/>
          </a:prstGeom>
          <a:noFill/>
          <a:ln w="0">
            <a:noFill/>
          </a:ln>
        </p:spPr>
        <p:style>
          <a:lnRef idx="0"/>
          <a:fillRef idx="0"/>
          <a:effectRef idx="0"/>
          <a:fontRef idx="minor"/>
        </p:style>
        <p:txBody>
          <a:bodyPr lIns="25560" rIns="25560" tIns="25560" bIns="25560" anchor="t">
            <a:normAutofit fontScale="87222" lnSpcReduction="10000"/>
          </a:bodyPr>
          <a:p>
            <a:pPr defTabSz="914400">
              <a:lnSpc>
                <a:spcPct val="150000"/>
              </a:lnSpc>
              <a:tabLst>
                <a:tab algn="l" pos="0"/>
              </a:tabLst>
            </a:pPr>
            <a:r>
              <a:rPr b="0" lang="en-US" sz="1750" spc="-1" strike="noStrike">
                <a:solidFill>
                  <a:srgbClr val="e3e4e2"/>
                </a:solidFill>
                <a:latin typeface="Open Sans"/>
                <a:ea typeface="Open Sans"/>
              </a:rPr>
              <a:t>Founding partners welcome — government, foundation, corporate, and impact investors. Open books from day one.</a:t>
            </a:r>
            <a:endParaRPr b="0" lang="en-US" sz="1750" spc="-1" strike="noStrike">
              <a:solidFill>
                <a:srgbClr val="ffffff"/>
              </a:solidFill>
              <a:latin typeface="Arial"/>
            </a:endParaRPr>
          </a:p>
        </p:txBody>
      </p:sp>
      <p:sp>
        <p:nvSpPr>
          <p:cNvPr id="476" name="Shape 10"/>
          <p:cNvSpPr/>
          <p:nvPr/>
        </p:nvSpPr>
        <p:spPr>
          <a:xfrm>
            <a:off x="4894920" y="8858160"/>
            <a:ext cx="12782160" cy="8280"/>
          </a:xfrm>
          <a:prstGeom prst="rect">
            <a:avLst/>
          </a:prstGeom>
          <a:solidFill>
            <a:srgbClr val="4a4a4a"/>
          </a:solidFill>
          <a:ln w="0">
            <a:noFill/>
          </a:ln>
        </p:spPr>
        <p:style>
          <a:lnRef idx="0"/>
          <a:fillRef idx="0"/>
          <a:effectRef idx="0"/>
          <a:fontRef idx="minor"/>
        </p:style>
        <p:txBody>
          <a:bodyPr lIns="90000" rIns="90000" tIns="-35640" bIns="-35640" anchor="t">
            <a:noAutofit/>
          </a:bodyPr>
          <a:p>
            <a:pPr>
              <a:lnSpc>
                <a:spcPct val="100000"/>
              </a:lnSpc>
            </a:pPr>
            <a:endParaRPr b="0" lang="en-US" sz="1800" spc="-1" strike="noStrike">
              <a:solidFill>
                <a:srgbClr val="ffffff"/>
              </a:solidFill>
              <a:latin typeface="Arial"/>
              <a:ea typeface="Arial"/>
            </a:endParaRPr>
          </a:p>
        </p:txBody>
      </p:sp>
      <p:sp>
        <p:nvSpPr>
          <p:cNvPr id="477" name="Text 11"/>
          <p:cNvSpPr/>
          <p:nvPr/>
        </p:nvSpPr>
        <p:spPr>
          <a:xfrm>
            <a:off x="4894920" y="9077400"/>
            <a:ext cx="1569600" cy="2181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050" spc="123" strike="noStrike">
                <a:solidFill>
                  <a:srgbClr val="9b9da0"/>
                </a:solidFill>
                <a:latin typeface="Open Sans"/>
                <a:ea typeface="Open Sans"/>
              </a:rPr>
              <a:t>LEAD</a:t>
            </a:r>
            <a:endParaRPr b="0" lang="en-US" sz="1050" spc="-1" strike="noStrike">
              <a:solidFill>
                <a:srgbClr val="ffffff"/>
              </a:solidFill>
              <a:latin typeface="Arial"/>
            </a:endParaRPr>
          </a:p>
        </p:txBody>
      </p:sp>
      <p:sp>
        <p:nvSpPr>
          <p:cNvPr id="478" name="Text 12"/>
          <p:cNvSpPr/>
          <p:nvPr/>
        </p:nvSpPr>
        <p:spPr>
          <a:xfrm>
            <a:off x="4894920" y="9296280"/>
            <a:ext cx="1569600" cy="3132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f4f1ec"/>
                </a:solidFill>
                <a:latin typeface="Open Sans"/>
                <a:ea typeface="Open Sans"/>
              </a:rPr>
              <a:t>Rob Oudendijk</a:t>
            </a:r>
            <a:endParaRPr b="0" lang="en-US" sz="1600" spc="-1" strike="noStrike">
              <a:solidFill>
                <a:srgbClr val="ffffff"/>
              </a:solidFill>
              <a:latin typeface="Arial"/>
            </a:endParaRPr>
          </a:p>
        </p:txBody>
      </p:sp>
      <p:sp>
        <p:nvSpPr>
          <p:cNvPr id="479" name="Text 13"/>
          <p:cNvSpPr/>
          <p:nvPr/>
        </p:nvSpPr>
        <p:spPr>
          <a:xfrm>
            <a:off x="6780240" y="9077400"/>
            <a:ext cx="2118960" cy="2181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050" spc="123" strike="noStrike">
                <a:solidFill>
                  <a:srgbClr val="9b9da0"/>
                </a:solidFill>
                <a:latin typeface="Open Sans"/>
                <a:ea typeface="Open Sans"/>
              </a:rPr>
              <a:t>ORG</a:t>
            </a:r>
            <a:endParaRPr b="0" lang="en-US" sz="1050" spc="-1" strike="noStrike">
              <a:solidFill>
                <a:srgbClr val="ffffff"/>
              </a:solidFill>
              <a:latin typeface="Arial"/>
            </a:endParaRPr>
          </a:p>
        </p:txBody>
      </p:sp>
      <p:sp>
        <p:nvSpPr>
          <p:cNvPr id="480" name="Text 14"/>
          <p:cNvSpPr/>
          <p:nvPr/>
        </p:nvSpPr>
        <p:spPr>
          <a:xfrm>
            <a:off x="6780240" y="9296280"/>
            <a:ext cx="2118960" cy="3132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f4f1ec"/>
                </a:solidFill>
                <a:latin typeface="Open Sans"/>
                <a:ea typeface="Open Sans"/>
              </a:rPr>
              <a:t>YR-Design · Safecast</a:t>
            </a:r>
            <a:endParaRPr b="0" lang="en-US" sz="1600" spc="-1" strike="noStrike">
              <a:solidFill>
                <a:srgbClr val="ffffff"/>
              </a:solidFill>
              <a:latin typeface="Arial"/>
            </a:endParaRPr>
          </a:p>
        </p:txBody>
      </p:sp>
      <p:sp>
        <p:nvSpPr>
          <p:cNvPr id="481" name="Text 15"/>
          <p:cNvSpPr/>
          <p:nvPr/>
        </p:nvSpPr>
        <p:spPr>
          <a:xfrm>
            <a:off x="9164520" y="9077400"/>
            <a:ext cx="2197800" cy="21816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050" spc="123" strike="noStrike">
                <a:solidFill>
                  <a:srgbClr val="9b9da0"/>
                </a:solidFill>
                <a:latin typeface="Open Sans"/>
                <a:ea typeface="Open Sans"/>
              </a:rPr>
              <a:t>LOCATION</a:t>
            </a:r>
            <a:endParaRPr b="0" lang="en-US" sz="1050" spc="-1" strike="noStrike">
              <a:solidFill>
                <a:srgbClr val="ffffff"/>
              </a:solidFill>
              <a:latin typeface="Arial"/>
            </a:endParaRPr>
          </a:p>
        </p:txBody>
      </p:sp>
      <p:sp>
        <p:nvSpPr>
          <p:cNvPr id="482" name="Text 16"/>
          <p:cNvSpPr/>
          <p:nvPr/>
        </p:nvSpPr>
        <p:spPr>
          <a:xfrm>
            <a:off x="9164520" y="9296280"/>
            <a:ext cx="2197800" cy="342000"/>
          </a:xfrm>
          <a:prstGeom prst="rect">
            <a:avLst/>
          </a:prstGeom>
          <a:noFill/>
          <a:ln w="0">
            <a:noFill/>
          </a:ln>
        </p:spPr>
        <p:style>
          <a:lnRef idx="0"/>
          <a:fillRef idx="0"/>
          <a:effectRef idx="0"/>
          <a:fontRef idx="minor"/>
        </p:style>
        <p:txBody>
          <a:bodyPr lIns="25560" rIns="25560" tIns="25560" bIns="25560" anchor="t">
            <a:normAutofit/>
          </a:bodyPr>
          <a:p>
            <a:pPr defTabSz="914400">
              <a:lnSpc>
                <a:spcPct val="100000"/>
              </a:lnSpc>
              <a:tabLst>
                <a:tab algn="l" pos="0"/>
              </a:tabLst>
            </a:pPr>
            <a:r>
              <a:rPr b="1" lang="en-US" sz="1600" spc="-1" strike="noStrike">
                <a:solidFill>
                  <a:srgbClr val="f4f1ec"/>
                </a:solidFill>
                <a:latin typeface="Open Sans"/>
                <a:ea typeface="Open Sans"/>
              </a:rPr>
              <a:t>Mitsue, Nara · </a:t>
            </a:r>
            <a:r>
              <a:rPr b="1" lang="zh-CN" sz="1600" spc="-1" strike="noStrike">
                <a:solidFill>
                  <a:srgbClr val="f4f1ec"/>
                </a:solidFill>
                <a:latin typeface="Open Sans"/>
                <a:ea typeface="Open Sans"/>
              </a:rPr>
              <a:t>御杖村</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itchFamily="0" charset="1"/>
        <a:ea typeface="Arial" pitchFamily="0" charset="1"/>
        <a:cs typeface="Arial" pitchFamily="0" charset="1"/>
      </a:majorFont>
      <a:minorFont>
        <a:latin typeface="Calibri"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2026-06-18T06:55:34Z</dcterms:created>
  <dc:creator>PptxGenJS</dc:creator>
  <dc:description/>
  <dc:language>en-US</dc:language>
  <cp:lastModifiedBy/>
  <dcterms:modified xsi:type="dcterms:W3CDTF">2026-07-26T01:13:40Z</dcterms:modified>
  <cp:revision>12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Notes">
    <vt:i4>17</vt:i4>
  </property>
  <property fmtid="{D5CDD505-2E9C-101B-9397-08002B2CF9AE}" pid="4" name="PresentationFormat">
    <vt:lpwstr>On-screen Show (4:3)</vt:lpwstr>
  </property>
  <property fmtid="{D5CDD505-2E9C-101B-9397-08002B2CF9AE}" pid="5" name="Slides">
    <vt:i4>17</vt:i4>
  </property>
</Properties>
</file>