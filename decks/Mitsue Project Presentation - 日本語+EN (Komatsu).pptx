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800" b="0" u="none" strike="noStrike">
                <a:solidFill>
                  <a:srgbClr val="000000"/>
                </a:solidFill>
                <a:uFillTx/>
                <a:latin typeface="Calibri"/>
              </a:rPr>
              <a:t>Planned thinning volume, m³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stack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Cut and left in forest (伐捨)</c:v>
                </c:pt>
              </c:strCache>
            </c:strRef>
          </c:tx>
          <c:spPr>
            <a:solidFill>
              <a:srgbClr val="2F4A37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400" b="0" u="none" strike="noStrike">
                    <a:solidFill>
                      <a:srgbClr val="F3ECE0"/>
                    </a:solidFill>
                    <a:uFillTx/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FY2024 (R6)</c:v>
                </c:pt>
                <c:pt idx="1">
                  <c:v>FY2025 (R7)</c:v>
                </c:pt>
                <c:pt idx="2">
                  <c:v>FY2026 (R8)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6933</c:v>
                </c:pt>
                <c:pt idx="1">
                  <c:v>5431</c:v>
                </c:pt>
                <c:pt idx="2">
                  <c:v>5776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Extracted (搬出)</c:v>
                </c:pt>
              </c:strCache>
            </c:strRef>
          </c:tx>
          <c:spPr>
            <a:solidFill>
              <a:srgbClr val="C4663A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400" b="0" u="none" strike="noStrike">
                    <a:solidFill>
                      <a:srgbClr val="F3ECE0"/>
                    </a:solidFill>
                    <a:uFillTx/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FY2024 (R6)</c:v>
                </c:pt>
                <c:pt idx="1">
                  <c:v>FY2025 (R7)</c:v>
                </c:pt>
                <c:pt idx="2">
                  <c:v>FY2026 (R8)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519</c:v>
                </c:pt>
                <c:pt idx="1">
                  <c:v>233</c:v>
                </c:pt>
                <c:pt idx="2">
                  <c:v>1822</c:v>
                </c:pt>
              </c:numCache>
            </c:numRef>
          </c:val>
        </c:ser>
        <c:gapWidth val="60"/>
        <c:overlap val="100"/>
        <c:axId val="63461533"/>
        <c:axId val="35572422"/>
      </c:barChart>
      <c:catAx>
        <c:axId val="63461533"/>
        <c:scaling>
          <c:orientation val="minMax"/>
        </c:scaling>
        <c:delete val="0"/>
        <c:axPos val="b"/>
        <c:numFmt formatCode="[$-409]mm/dd/yyyy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6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35572422"/>
        <c:crosses val="autoZero"/>
        <c:auto val="1"/>
        <c:lblAlgn val="ctr"/>
        <c:lblOffset val="100"/>
        <c:noMultiLvlLbl val="0"/>
      </c:catAx>
      <c:valAx>
        <c:axId val="35572422"/>
        <c:scaling>
          <c:orientation val="minMax"/>
          <c:max val="800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4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63461533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6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D2E44AC-0073-400A-9C18-0A1AB2853B2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388584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 CJK JP"/>
              </a:rPr>
              <a:t>Rob (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Yagami is leader) can you record?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Not much experience in doing presentations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37 year Japan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Tokyo 15 years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2 year Aizu building pico data center local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government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Finished looked around far form nukes and not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used rice field to build my own designed house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of XPS with Yuka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Once in a few month we saw an older person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with his chainsaw on the back of his bike.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2020  we saw young male harvesters thinning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the hill close by. Landslide.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FEF9192-075A-466D-940D-64945AB0A14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Study forest/harvesting. Saw the coming need for AI data center.s Local country side not much power.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Currently we have 1400 most older person here in Mitsue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Lots for forest that needs to be harvested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E08A8F0-BCE9-41F9-BBEF-340A2AFE6B6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Current thinning leave 88 % left not used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C36B996-76CF-48FE-B8C6-05F16076FC9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Use the wood that lays to waste for generating electricity by gassification (more efficient)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F355A95-FDD1-4A57-9600-145775D886C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Staring with looking what is already available. Talking with many people some options we have a foa site and other villages like tenkawa showed interest in the concept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6250DFD-41DE-4631-9E21-7174D0529AF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Final should be more like a 1.2 Mwatt CHP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0CCA3BD-73A0-44B8-842A-BC74C8FEF7D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FB7FEF7-9334-4F8B-A175-EB5A1384BD7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outcome of the trial would be relevant for this project and many small villages.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8A04175-02F8-4646-B4E0-432A6C39D80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When talking with local foresters, mostly were man a only a few female. Those would be ideal for operators and would quicky improve the effeincy of the harvesting.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A19497B-C582-499E-8802-7577D750EA6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First of all the research is most importand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Check what is already there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Simple step histrory has shown that . Radical changes in forest upset many  people. See the work of Totman (the green archipelago).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E4342A3-57CF-4EFE-838C-2990ADD93F6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0EF9A74-6501-40E4-A141-51DE4CDB1B4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5AC41AA-28D6-4721-B4ED-7844790AAE4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72451D7-233D-49A8-A2A7-E23BF0BC30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98AB421-A115-4439-A874-077FB0CC67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AF2E1A0-1AEE-4C7C-9370-529E226E14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5BDEA92-8850-409E-ADFD-94E7DFEE4E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5E43F3F-8D2E-4104-9DB0-285E42660E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C572423-3054-421B-9E36-D51AD99F6A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F0AEE45-78F9-4712-8706-BAABB8EEFA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CD255FE-9216-4E01-9050-FBA1E601E7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7322EEC-A234-4C12-A106-2B646C04EA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7C3EE4B-FA51-4E0C-8102-B6A8D8C777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49255AA-EFC2-445E-B2A1-B215954492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8287280" cy="10286280"/>
          </a:xfrm>
          <a:prstGeom prst="rect">
            <a:avLst/>
          </a:prstGeom>
          <a:solidFill>
            <a:srgbClr val="2F4A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822960" y="5029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4000" b="0" u="none" strike="noStrike">
                <a:solidFill>
                  <a:srgbClr val="F3ECE0"/>
                </a:solidFill>
                <a:effectLst/>
                <a:uFillTx/>
                <a:latin typeface="Noto Serif JP"/>
              </a:rPr>
              <a:t>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1645920" y="56700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F3B486"/>
                </a:solidFill>
                <a:effectLst/>
                <a:uFillTx/>
                <a:latin typeface="Courier New"/>
              </a:rPr>
              <a:t>MITSUE PROJECT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645920" y="91440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35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プロジェクト概要 </a:t>
            </a:r>
            <a:r>
              <a:rPr lang="en-US" sz="135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· </a:t>
            </a:r>
            <a:r>
              <a:rPr lang="ja-JP" sz="135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御杖村 </a:t>
            </a:r>
            <a:r>
              <a:rPr lang="en-US" sz="135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· </a:t>
            </a:r>
            <a:r>
              <a:rPr lang="ja-JP" sz="135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奈良県 </a:t>
            </a:r>
            <a:r>
              <a:rPr lang="en-US" sz="135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/ PROJECT OVERVIEW · </a:t>
            </a:r>
            <a:r>
              <a:rPr lang="ja-JP" sz="135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御杖村 </a:t>
            </a:r>
            <a:r>
              <a:rPr lang="en-US" sz="135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· NARA PREFECTURE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822960" y="9646920"/>
            <a:ext cx="1280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3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コマツ様向け </a:t>
            </a:r>
            <a:r>
              <a:rPr lang="en-US" sz="13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· Teams</a:t>
            </a:r>
            <a:r>
              <a:rPr lang="ja-JP" sz="13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会議 </a:t>
            </a:r>
            <a:r>
              <a:rPr lang="en-US" sz="13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2026</a:t>
            </a:r>
            <a:r>
              <a:rPr lang="ja-JP" sz="13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年</a:t>
            </a:r>
            <a:r>
              <a:rPr lang="en-US" sz="13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10</a:t>
            </a:r>
            <a:r>
              <a:rPr lang="ja-JP" sz="13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月</a:t>
            </a:r>
            <a:r>
              <a:rPr lang="en-US" sz="13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27</a:t>
            </a:r>
            <a:r>
              <a:rPr lang="ja-JP" sz="13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日  </a:t>
            </a:r>
            <a:r>
              <a:rPr lang="en-US" sz="13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|  PREPARED FOR KOMATSU LTD. · TEAMS MEETING 27 OCT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14904720" y="9646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r" defTabSz="457200">
              <a:lnSpc>
                <a:spcPct val="11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F3B486"/>
                </a:solidFill>
                <a:effectLst/>
                <a:uFillTx/>
                <a:latin typeface="Courier New"/>
              </a:rPr>
              <a:t>01 / 12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822960" y="2011680"/>
            <a:ext cx="9326160" cy="32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ja-JP" sz="540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山村の森林をエネルギーに ― </a:t>
            </a:r>
            <a:r>
              <a:rPr lang="en-US" sz="540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CTL</a:t>
            </a:r>
            <a:r>
              <a:rPr lang="ja-JP" sz="540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機械の試験導入の可能性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13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Forest-to-energy in a mountain village, and where a CTL trial could fit</a:t>
            </a:r>
            <a:endParaRPr lang="en-US" sz="3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822960" y="5760720"/>
            <a:ext cx="91432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lang="ja-JP" sz="26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コマツ様向けプロジェクト概要</a:t>
            </a:r>
            <a:br>
              <a:rPr sz="1800"/>
            </a:br>
            <a:r>
              <a:rPr lang="ja-JP" sz="26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グリーン事業推進部 事業企画部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822960" y="7223760"/>
            <a:ext cx="914328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9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Teams</a:t>
            </a:r>
            <a:r>
              <a:rPr lang="ja-JP" sz="19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会議 </a:t>
            </a:r>
            <a:r>
              <a:rPr lang="en-US" sz="19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· 2026</a:t>
            </a:r>
            <a:r>
              <a:rPr lang="ja-JP" sz="19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年</a:t>
            </a:r>
            <a:r>
              <a:rPr lang="en-US" sz="19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10</a:t>
            </a:r>
            <a:r>
              <a:rPr lang="ja-JP" sz="19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月</a:t>
            </a:r>
            <a:r>
              <a:rPr lang="en-US" sz="19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27</a:t>
            </a:r>
            <a:r>
              <a:rPr lang="ja-JP" sz="19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日</a:t>
            </a:r>
            <a:r>
              <a:rPr lang="en-US" sz="19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(</a:t>
            </a:r>
            <a:r>
              <a:rPr lang="ja-JP" sz="19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火</a:t>
            </a:r>
            <a:r>
              <a:rPr lang="en-US" sz="19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) 14:00</a:t>
            </a:r>
            <a:r>
              <a:rPr lang="ja-JP" sz="19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〜</a:t>
            </a:r>
            <a:r>
              <a:rPr lang="en-US" sz="19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14:45 / Teams meeting · Tuesday 27 October 2026 · 14:00–14:45 JST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9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ロブ・アウデンダイク </a:t>
            </a:r>
            <a:r>
              <a:rPr lang="en-US" sz="19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· Mitsue-it(</a:t>
            </a:r>
            <a:r>
              <a:rPr lang="ja-JP" sz="19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独立した取り組み</a:t>
            </a:r>
            <a:r>
              <a:rPr lang="en-US" sz="19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) / Rob Oudendijk · Mitsue-it (independent initiative)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Picture 10" descr="s1_Image0.png"/>
          <p:cNvPicPr/>
          <p:nvPr/>
        </p:nvPicPr>
        <p:blipFill>
          <a:blip r:embed="rId1"/>
          <a:stretch/>
        </p:blipFill>
        <p:spPr>
          <a:xfrm>
            <a:off x="10424160" y="1828800"/>
            <a:ext cx="6948720" cy="6176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8287280" cy="10286280"/>
          </a:xfrm>
          <a:prstGeom prst="rect">
            <a:avLst/>
          </a:prstGeom>
          <a:solidFill>
            <a:srgbClr val="F3EC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822960" y="5029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4000" b="0" u="none" strike="noStrike">
                <a:solidFill>
                  <a:srgbClr val="2F4A37"/>
                </a:solidFill>
                <a:effectLst/>
                <a:uFillTx/>
                <a:latin typeface="Noto Serif JP"/>
              </a:rPr>
              <a:t>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1645920" y="56700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4C554F"/>
                </a:solidFill>
                <a:effectLst/>
                <a:uFillTx/>
                <a:latin typeface="Courier New"/>
              </a:rPr>
              <a:t>MITSUE PROJECT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1645920" y="91440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§ 01 · </a:t>
            </a:r>
            <a:r>
              <a:rPr lang="ja-JP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背景 </a:t>
            </a:r>
            <a:r>
              <a:rPr lang="en-US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/ § 01 · THE SETTING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5"/>
          <p:cNvSpPr/>
          <p:nvPr/>
        </p:nvSpPr>
        <p:spPr>
          <a:xfrm>
            <a:off x="822960" y="1600200"/>
            <a:ext cx="1664136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ja-JP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手入れを必要とする森をもつ山村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67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A mountain village with a forest that needs managing</a:t>
            </a:r>
            <a:endParaRPr lang="en-US" sz="2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822960" y="9646920"/>
            <a:ext cx="1280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コマツ様向け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· Teams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会議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2026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年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10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月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27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日 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|  PREPARED FOR KOMATSU LTD. · TEAMS MEETING 27 OCT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7"/>
          <p:cNvSpPr/>
          <p:nvPr/>
        </p:nvSpPr>
        <p:spPr>
          <a:xfrm>
            <a:off x="14904720" y="9646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r" defTabSz="457200">
              <a:lnSpc>
                <a:spcPct val="11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Courier New"/>
              </a:rPr>
              <a:t>02 / 12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8"/>
          <p:cNvSpPr/>
          <p:nvPr/>
        </p:nvSpPr>
        <p:spPr>
          <a:xfrm>
            <a:off x="822960" y="3657600"/>
            <a:ext cx="5348520" cy="2651040"/>
          </a:xfrm>
          <a:prstGeom prst="rect">
            <a:avLst/>
          </a:prstGeom>
          <a:solidFill>
            <a:srgbClr val="2F4A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9"/>
          <p:cNvSpPr/>
          <p:nvPr/>
        </p:nvSpPr>
        <p:spPr>
          <a:xfrm>
            <a:off x="1097280" y="3931920"/>
            <a:ext cx="48456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610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約</a:t>
            </a:r>
            <a:r>
              <a:rPr lang="en-US" sz="610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1,400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0"/>
          <p:cNvSpPr/>
          <p:nvPr/>
        </p:nvSpPr>
        <p:spPr>
          <a:xfrm>
            <a:off x="1097280" y="5349240"/>
            <a:ext cx="48456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2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人</a:t>
            </a:r>
            <a:r>
              <a:rPr lang="en-US" sz="22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(</a:t>
            </a:r>
            <a:r>
              <a:rPr lang="ja-JP" sz="22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住民</a:t>
            </a:r>
            <a:r>
              <a:rPr lang="en-US" sz="22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) / residents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11"/>
          <p:cNvSpPr/>
          <p:nvPr/>
        </p:nvSpPr>
        <p:spPr>
          <a:xfrm>
            <a:off x="6446520" y="3657600"/>
            <a:ext cx="5348520" cy="2651040"/>
          </a:xfrm>
          <a:prstGeom prst="rect">
            <a:avLst/>
          </a:prstGeom>
          <a:solidFill>
            <a:srgbClr val="2F4A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12"/>
          <p:cNvSpPr/>
          <p:nvPr/>
        </p:nvSpPr>
        <p:spPr>
          <a:xfrm>
            <a:off x="6720840" y="3931920"/>
            <a:ext cx="48456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610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約</a:t>
            </a:r>
            <a:r>
              <a:rPr lang="en-US" sz="610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93%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3"/>
          <p:cNvSpPr/>
          <p:nvPr/>
        </p:nvSpPr>
        <p:spPr>
          <a:xfrm>
            <a:off x="6720840" y="5349240"/>
            <a:ext cx="48456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2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森林率 </a:t>
            </a:r>
            <a:r>
              <a:rPr lang="en-US" sz="22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/ forest cover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14"/>
          <p:cNvSpPr/>
          <p:nvPr/>
        </p:nvSpPr>
        <p:spPr>
          <a:xfrm>
            <a:off x="12070080" y="3657600"/>
            <a:ext cx="5348520" cy="2651040"/>
          </a:xfrm>
          <a:prstGeom prst="rect">
            <a:avLst/>
          </a:prstGeom>
          <a:solidFill>
            <a:srgbClr val="2F4A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15"/>
          <p:cNvSpPr/>
          <p:nvPr/>
        </p:nvSpPr>
        <p:spPr>
          <a:xfrm>
            <a:off x="12344400" y="3931920"/>
            <a:ext cx="48456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320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50</a:t>
            </a:r>
            <a:r>
              <a:rPr lang="ja-JP" sz="320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〜</a:t>
            </a:r>
            <a:r>
              <a:rPr lang="en-US" sz="320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75</a:t>
            </a:r>
            <a:r>
              <a:rPr lang="ja-JP" sz="320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年生 </a:t>
            </a:r>
            <a:r>
              <a:rPr lang="en-US" sz="320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/ 50–75 yr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6"/>
          <p:cNvSpPr/>
          <p:nvPr/>
        </p:nvSpPr>
        <p:spPr>
          <a:xfrm>
            <a:off x="12344400" y="5349240"/>
            <a:ext cx="48456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2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手入れされていない杉人工林の多く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28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age of many unmanaged sugi plantations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7"/>
          <p:cNvSpPr/>
          <p:nvPr/>
        </p:nvSpPr>
        <p:spPr>
          <a:xfrm>
            <a:off x="822960" y="6766560"/>
            <a:ext cx="16641360" cy="26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1199"/>
              </a:spcAft>
            </a:pPr>
            <a:r>
              <a:rPr lang="ja-JP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御杖村は奈良県宇陀郡の村です。杉の多くは戦後に植えられ、数十年にわたり手入れされていません。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199"/>
              </a:spcAft>
            </a:pPr>
            <a:r>
              <a:rPr lang="en-US" sz="139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Mitsue is a village in Uda district, Nara Prefecture. Much of its sugi (cedar) was planted after the war and has not been managed for decades.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199"/>
              </a:spcAft>
            </a:pPr>
            <a:r>
              <a:rPr lang="ja-JP" sz="2400" b="1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ボトルネックは土地や需要ではなく、林業の担い手です。組合は小規模で若手が少なく、機械と新たなオペレーターが必要です。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199"/>
              </a:spcAft>
            </a:pPr>
            <a:r>
              <a:rPr lang="en-US" sz="139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Forestry labour is the bottleneck, not land or demand. The cooperative is small and has few young people, so we need machines and new operators.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199"/>
              </a:spcAft>
            </a:pPr>
            <a:r>
              <a:rPr lang="ja-JP" sz="20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村、地元の林業組合、</a:t>
            </a:r>
            <a:r>
              <a:rPr lang="en-US" sz="20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NGO</a:t>
            </a:r>
            <a:r>
              <a:rPr lang="ja-JP" sz="20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のモア・トゥリーズと協力する独立した取り組みです。現時点で契約はありません。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199"/>
              </a:spcAft>
            </a:pPr>
            <a:r>
              <a:rPr lang="en-US" sz="116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An independent initiative working with the village, the local forestry cooperative and the NGO more trees. Nothing is contracted at this stage.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18287280" cy="10286280"/>
          </a:xfrm>
          <a:prstGeom prst="rect">
            <a:avLst/>
          </a:prstGeom>
          <a:solidFill>
            <a:srgbClr val="F3EC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822960" y="5029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4000" b="0" u="none" strike="noStrike">
                <a:solidFill>
                  <a:srgbClr val="2F4A37"/>
                </a:solidFill>
                <a:effectLst/>
                <a:uFillTx/>
                <a:latin typeface="Noto Serif JP"/>
              </a:rPr>
              <a:t>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1645920" y="56700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4C554F"/>
                </a:solidFill>
                <a:effectLst/>
                <a:uFillTx/>
                <a:latin typeface="Courier New"/>
              </a:rPr>
              <a:t>MITSUE PROJECT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4"/>
          <p:cNvSpPr/>
          <p:nvPr/>
        </p:nvSpPr>
        <p:spPr>
          <a:xfrm>
            <a:off x="1645920" y="91440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§ 02 · </a:t>
            </a:r>
            <a:r>
              <a:rPr lang="ja-JP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課題 </a:t>
            </a:r>
            <a:r>
              <a:rPr lang="en-US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/ § 02 · THE BOTTLENECK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5"/>
          <p:cNvSpPr/>
          <p:nvPr/>
        </p:nvSpPr>
        <p:spPr>
          <a:xfrm>
            <a:off x="822960" y="1600200"/>
            <a:ext cx="1664136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ja-JP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伐りたくても、人が足りません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67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We want to harvest, but we do not have enough people</a:t>
            </a:r>
            <a:endParaRPr lang="en-US" sz="2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6"/>
          <p:cNvSpPr/>
          <p:nvPr/>
        </p:nvSpPr>
        <p:spPr>
          <a:xfrm>
            <a:off x="822960" y="9646920"/>
            <a:ext cx="1280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コマツ様向け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· Teams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会議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2026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年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10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月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27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日 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|  PREPARED FOR KOMATSU LTD. · TEAMS MEETING 27 OCT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7"/>
          <p:cNvSpPr/>
          <p:nvPr/>
        </p:nvSpPr>
        <p:spPr>
          <a:xfrm>
            <a:off x="14904720" y="9646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r" defTabSz="457200">
              <a:lnSpc>
                <a:spcPct val="11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Courier New"/>
              </a:rPr>
              <a:t>03 / 12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1" name="Chart 8"/>
          <p:cNvGraphicFramePr/>
          <p:nvPr/>
        </p:nvGraphicFramePr>
        <p:xfrm>
          <a:off x="822960" y="3566160"/>
          <a:ext cx="8777520" cy="5668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2" name="Rectangle 9"/>
          <p:cNvSpPr/>
          <p:nvPr/>
        </p:nvSpPr>
        <p:spPr>
          <a:xfrm>
            <a:off x="10058400" y="3566160"/>
            <a:ext cx="7405920" cy="5668560"/>
          </a:xfrm>
          <a:prstGeom prst="rect">
            <a:avLst/>
          </a:prstGeom>
          <a:solidFill>
            <a:srgbClr val="ECE3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10378440" y="3749040"/>
            <a:ext cx="6857280" cy="54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</a:pPr>
            <a:r>
              <a:rPr lang="ja-JP" sz="500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約</a:t>
            </a:r>
            <a:r>
              <a:rPr lang="en-US" sz="500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20,700 m³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400"/>
              </a:spcAft>
            </a:pPr>
            <a:r>
              <a:rPr lang="ja-JP" sz="20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間伐計画</a:t>
            </a:r>
            <a:r>
              <a:rPr lang="en-US" sz="20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(</a:t>
            </a:r>
            <a:r>
              <a:rPr lang="ja-JP" sz="20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令和</a:t>
            </a:r>
            <a:r>
              <a:rPr lang="en-US" sz="20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6</a:t>
            </a:r>
            <a:r>
              <a:rPr lang="ja-JP" sz="20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〜</a:t>
            </a:r>
            <a:r>
              <a:rPr lang="en-US" sz="20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8</a:t>
            </a:r>
            <a:r>
              <a:rPr lang="ja-JP" sz="20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年度</a:t>
            </a:r>
            <a:r>
              <a:rPr lang="en-US" sz="20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):4</a:t>
            </a:r>
            <a:r>
              <a:rPr lang="ja-JP" sz="20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地区・</a:t>
            </a:r>
            <a:r>
              <a:rPr lang="en-US" sz="20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113</a:t>
            </a:r>
            <a:r>
              <a:rPr lang="ja-JP" sz="20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筆・約</a:t>
            </a:r>
            <a:r>
              <a:rPr lang="en-US" sz="20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222 ha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400"/>
              </a:spcAft>
            </a:pPr>
            <a:r>
              <a:rPr lang="en-US" sz="116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planned thinning, FY2024–26: 113 parcels, ≈ 222 ha in 4 districts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lang="ja-JP" sz="3200" b="1" u="none" strike="noStrike">
                <a:solidFill>
                  <a:srgbClr val="C4663A"/>
                </a:solidFill>
                <a:effectLst/>
                <a:uFillTx/>
                <a:latin typeface="Yu Mincho"/>
                <a:ea typeface="Yu Mincho"/>
              </a:rPr>
              <a:t>約</a:t>
            </a:r>
            <a:r>
              <a:rPr lang="en-US" sz="3200" b="1" u="none" strike="noStrike">
                <a:solidFill>
                  <a:srgbClr val="C4663A"/>
                </a:solidFill>
                <a:effectLst/>
                <a:uFillTx/>
                <a:latin typeface="Yu Mincho"/>
                <a:ea typeface="Yu Mincho"/>
              </a:rPr>
              <a:t>88%</a:t>
            </a:r>
            <a:r>
              <a:rPr lang="ja-JP" sz="3200" b="1" u="none" strike="noStrike">
                <a:solidFill>
                  <a:srgbClr val="C4663A"/>
                </a:solidFill>
                <a:effectLst/>
                <a:uFillTx/>
                <a:latin typeface="Yu Mincho"/>
                <a:ea typeface="Yu Mincho"/>
              </a:rPr>
              <a:t>は伐り捨て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lang="en-US" sz="18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≈ 88 % is cut and left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400"/>
              </a:spcAft>
            </a:pPr>
            <a:r>
              <a:rPr lang="ja-JP" sz="20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搬出予定は約</a:t>
            </a:r>
            <a:r>
              <a:rPr lang="en-US" sz="20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2,600 m³</a:t>
            </a:r>
            <a:r>
              <a:rPr lang="ja-JP" sz="20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のみです。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400"/>
              </a:spcAft>
            </a:pPr>
            <a:r>
              <a:rPr lang="en-US" sz="116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Only ≈ 2,600 m³ is planned to be extracted.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99"/>
              </a:spcAft>
            </a:pPr>
            <a:r>
              <a:rPr lang="ja-JP" sz="2000" b="1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組合の作業班は少人数で若手が少なく、人手と急傾斜・アクセスの制約が木材を林内に留めています。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99"/>
              </a:spcAft>
            </a:pPr>
            <a:r>
              <a:rPr lang="en-US" sz="116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The cooperative's crew is small and has few young people. Labour, plus slope and access, keeps the wood in the forest.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99"/>
              </a:spcAft>
            </a:pPr>
            <a:r>
              <a:rPr lang="ja-JP" sz="17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計画に基づく当方の解釈です。組合に確認予定です。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99"/>
              </a:spcAft>
            </a:pPr>
            <a:r>
              <a:rPr lang="en-US" sz="98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Our reading of the plan; to be confirmed with the cooperative.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6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出典</a:t>
            </a:r>
            <a:r>
              <a:rPr lang="en-US" sz="16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:</a:t>
            </a:r>
            <a:r>
              <a:rPr lang="ja-JP" sz="16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村役場の間伐計画</a:t>
            </a:r>
            <a:r>
              <a:rPr lang="en-US" sz="16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(R6</a:t>
            </a:r>
            <a:r>
              <a:rPr lang="ja-JP" sz="16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〜</a:t>
            </a:r>
            <a:r>
              <a:rPr lang="en-US" sz="16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R8)</a:t>
            </a:r>
            <a:r>
              <a:rPr lang="ja-JP" sz="16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。計画値であり、実績ではありません。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92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Source: village hall thinning plan R6–R8 (plans, not realised harvests).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0" y="0"/>
            <a:ext cx="18287280" cy="10286280"/>
          </a:xfrm>
          <a:prstGeom prst="rect">
            <a:avLst/>
          </a:prstGeom>
          <a:solidFill>
            <a:srgbClr val="F3EC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822960" y="5029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4000" b="0" u="none" strike="noStrike">
                <a:solidFill>
                  <a:srgbClr val="2F4A37"/>
                </a:solidFill>
                <a:effectLst/>
                <a:uFillTx/>
                <a:latin typeface="Noto Serif JP"/>
              </a:rPr>
              <a:t>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1645920" y="56700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4C554F"/>
                </a:solidFill>
                <a:effectLst/>
                <a:uFillTx/>
                <a:latin typeface="Courier New"/>
              </a:rPr>
              <a:t>MITSUE PROJECT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4"/>
          <p:cNvSpPr/>
          <p:nvPr/>
        </p:nvSpPr>
        <p:spPr>
          <a:xfrm>
            <a:off x="1645920" y="91440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§ 03 · </a:t>
            </a:r>
            <a:r>
              <a:rPr lang="ja-JP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構想 </a:t>
            </a:r>
            <a:r>
              <a:rPr lang="en-US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/ § 03 · THE IDEA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5"/>
          <p:cNvSpPr/>
          <p:nvPr/>
        </p:nvSpPr>
        <p:spPr>
          <a:xfrm>
            <a:off x="822960" y="1600200"/>
            <a:ext cx="1664136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ja-JP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木材を燃料に使い、在来広葉樹を植え戻す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67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Use the wood as fuel, then replant native broadleaf</a:t>
            </a:r>
            <a:endParaRPr lang="en-US" sz="2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6"/>
          <p:cNvSpPr/>
          <p:nvPr/>
        </p:nvSpPr>
        <p:spPr>
          <a:xfrm>
            <a:off x="822960" y="9646920"/>
            <a:ext cx="1280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コマツ様向け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· Teams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会議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2026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年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10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月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27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日 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|  PREPARED FOR KOMATSU LTD. · TEAMS MEETING 27 OCT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7"/>
          <p:cNvSpPr/>
          <p:nvPr/>
        </p:nvSpPr>
        <p:spPr>
          <a:xfrm>
            <a:off x="14904720" y="9646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r" defTabSz="457200">
              <a:lnSpc>
                <a:spcPct val="11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Courier New"/>
              </a:rPr>
              <a:t>04 / 12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8"/>
          <p:cNvSpPr/>
          <p:nvPr/>
        </p:nvSpPr>
        <p:spPr>
          <a:xfrm>
            <a:off x="822960" y="3657600"/>
            <a:ext cx="3839760" cy="2833920"/>
          </a:xfrm>
          <a:prstGeom prst="rect">
            <a:avLst/>
          </a:prstGeom>
          <a:solidFill>
            <a:srgbClr val="C46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9"/>
          <p:cNvSpPr/>
          <p:nvPr/>
        </p:nvSpPr>
        <p:spPr>
          <a:xfrm>
            <a:off x="1051560" y="3886200"/>
            <a:ext cx="3382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95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1  </a:t>
            </a:r>
            <a:r>
              <a:rPr lang="ja-JP" sz="195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間伐・搬出 </a:t>
            </a:r>
            <a:r>
              <a:rPr lang="en-US" sz="195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/ 1  Thin and harvest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1051560" y="4892040"/>
            <a:ext cx="33825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1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急傾斜の杉林に</a:t>
            </a:r>
            <a:r>
              <a:rPr lang="en-US" sz="21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CTL(</a:t>
            </a:r>
            <a:r>
              <a:rPr lang="ja-JP" sz="21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短幹材</a:t>
            </a:r>
            <a:r>
              <a:rPr lang="en-US" sz="21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)</a:t>
            </a:r>
            <a:r>
              <a:rPr lang="ja-JP" sz="21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機械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22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Cut-to-length machines on steep sugi stands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1"/>
          <p:cNvSpPr/>
          <p:nvPr/>
        </p:nvSpPr>
        <p:spPr>
          <a:xfrm>
            <a:off x="4617720" y="4572000"/>
            <a:ext cx="5022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ctr" defTabSz="457200">
              <a:lnSpc>
                <a:spcPct val="110000"/>
              </a:lnSpc>
              <a:spcAft>
                <a:spcPts val="601"/>
              </a:spcAft>
            </a:pPr>
            <a:r>
              <a:rPr lang="en-US" sz="4400" b="1" u="none" strike="noStrike">
                <a:solidFill>
                  <a:srgbClr val="C4663A"/>
                </a:solidFill>
                <a:effectLst/>
                <a:uFillTx/>
                <a:latin typeface="Georgia"/>
              </a:rPr>
              <a:t>›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12"/>
          <p:cNvSpPr/>
          <p:nvPr/>
        </p:nvSpPr>
        <p:spPr>
          <a:xfrm>
            <a:off x="5074920" y="3657600"/>
            <a:ext cx="3839760" cy="2833920"/>
          </a:xfrm>
          <a:prstGeom prst="rect">
            <a:avLst/>
          </a:prstGeom>
          <a:solidFill>
            <a:srgbClr val="2F4A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13"/>
          <p:cNvSpPr/>
          <p:nvPr/>
        </p:nvSpPr>
        <p:spPr>
          <a:xfrm>
            <a:off x="5303520" y="3886200"/>
            <a:ext cx="3382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95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2  </a:t>
            </a:r>
            <a:r>
              <a:rPr lang="ja-JP" sz="195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チップ化・乾燥 </a:t>
            </a:r>
            <a:r>
              <a:rPr lang="en-US" sz="195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/ 2  Chip and dry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4"/>
          <p:cNvSpPr/>
          <p:nvPr/>
        </p:nvSpPr>
        <p:spPr>
          <a:xfrm>
            <a:off x="5303520" y="4892040"/>
            <a:ext cx="33825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1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地元でチップ化、</a:t>
            </a:r>
            <a:r>
              <a:rPr lang="en-US" sz="21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CHP</a:t>
            </a:r>
            <a:r>
              <a:rPr lang="ja-JP" sz="21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の熱で乾燥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22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Local chipping, drying with CHP heat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5"/>
          <p:cNvSpPr/>
          <p:nvPr/>
        </p:nvSpPr>
        <p:spPr>
          <a:xfrm>
            <a:off x="8869680" y="4572000"/>
            <a:ext cx="5022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ctr" defTabSz="457200">
              <a:lnSpc>
                <a:spcPct val="110000"/>
              </a:lnSpc>
              <a:spcAft>
                <a:spcPts val="601"/>
              </a:spcAft>
            </a:pPr>
            <a:r>
              <a:rPr lang="en-US" sz="4400" b="1" u="none" strike="noStrike">
                <a:solidFill>
                  <a:srgbClr val="C4663A"/>
                </a:solidFill>
                <a:effectLst/>
                <a:uFillTx/>
                <a:latin typeface="Georgia"/>
              </a:rPr>
              <a:t>›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16"/>
          <p:cNvSpPr/>
          <p:nvPr/>
        </p:nvSpPr>
        <p:spPr>
          <a:xfrm>
            <a:off x="9326880" y="3657600"/>
            <a:ext cx="3839760" cy="2833920"/>
          </a:xfrm>
          <a:prstGeom prst="rect">
            <a:avLst/>
          </a:prstGeom>
          <a:solidFill>
            <a:srgbClr val="2F4A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17"/>
          <p:cNvSpPr/>
          <p:nvPr/>
        </p:nvSpPr>
        <p:spPr>
          <a:xfrm>
            <a:off x="9555480" y="3886200"/>
            <a:ext cx="3382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2600" b="1" u="none" strike="noStrike">
                <a:solidFill>
                  <a:srgbClr val="F3ECE0"/>
                </a:solidFill>
                <a:effectLst/>
                <a:uFillTx/>
                <a:latin typeface="Georgia"/>
              </a:rPr>
              <a:t>3  50 kWe CHP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8"/>
          <p:cNvSpPr/>
          <p:nvPr/>
        </p:nvSpPr>
        <p:spPr>
          <a:xfrm>
            <a:off x="9555480" y="4892040"/>
            <a:ext cx="33825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1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小型ガス化装置、</a:t>
            </a:r>
            <a:r>
              <a:rPr lang="en-US" sz="21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24</a:t>
            </a:r>
            <a:r>
              <a:rPr lang="ja-JP" sz="21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時間運転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22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Small gasification unit, 24 h operation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9"/>
          <p:cNvSpPr/>
          <p:nvPr/>
        </p:nvSpPr>
        <p:spPr>
          <a:xfrm>
            <a:off x="13121640" y="4572000"/>
            <a:ext cx="5022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ctr" defTabSz="457200">
              <a:lnSpc>
                <a:spcPct val="110000"/>
              </a:lnSpc>
              <a:spcAft>
                <a:spcPts val="601"/>
              </a:spcAft>
            </a:pPr>
            <a:r>
              <a:rPr lang="en-US" sz="4400" b="1" u="none" strike="noStrike">
                <a:solidFill>
                  <a:srgbClr val="C4663A"/>
                </a:solidFill>
                <a:effectLst/>
                <a:uFillTx/>
                <a:latin typeface="Georgia"/>
              </a:rPr>
              <a:t>›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20"/>
          <p:cNvSpPr/>
          <p:nvPr/>
        </p:nvSpPr>
        <p:spPr>
          <a:xfrm>
            <a:off x="13578840" y="3657600"/>
            <a:ext cx="3839760" cy="2833920"/>
          </a:xfrm>
          <a:prstGeom prst="rect">
            <a:avLst/>
          </a:prstGeom>
          <a:solidFill>
            <a:srgbClr val="2F4A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1"/>
          <p:cNvSpPr/>
          <p:nvPr/>
        </p:nvSpPr>
        <p:spPr>
          <a:xfrm>
            <a:off x="13807440" y="3886200"/>
            <a:ext cx="3382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95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4  </a:t>
            </a:r>
            <a:r>
              <a:rPr lang="ja-JP" sz="195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電力と熱 </a:t>
            </a:r>
            <a:r>
              <a:rPr lang="en-US" sz="195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/ 4  Power and heat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22"/>
          <p:cNvSpPr/>
          <p:nvPr/>
        </p:nvSpPr>
        <p:spPr>
          <a:xfrm>
            <a:off x="13807440" y="4892040"/>
            <a:ext cx="33825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1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地域で利用。将来は小規模な計算負荷も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22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For local use; a small compute load later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23"/>
          <p:cNvSpPr/>
          <p:nvPr/>
        </p:nvSpPr>
        <p:spPr>
          <a:xfrm>
            <a:off x="822960" y="6858000"/>
            <a:ext cx="16641360" cy="72360"/>
          </a:xfrm>
          <a:prstGeom prst="rect">
            <a:avLst/>
          </a:prstGeom>
          <a:solidFill>
            <a:srgbClr val="C46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24"/>
          <p:cNvSpPr/>
          <p:nvPr/>
        </p:nvSpPr>
        <p:spPr>
          <a:xfrm>
            <a:off x="822960" y="7132320"/>
            <a:ext cx="813744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799"/>
              </a:spcAft>
            </a:pPr>
            <a:r>
              <a:rPr lang="ja-JP" sz="260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植え戻し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99"/>
              </a:spcAft>
            </a:pPr>
            <a:r>
              <a:rPr lang="en-US" sz="1510" b="0" u="none" strike="noStrike">
                <a:solidFill>
                  <a:srgbClr val="2F4A37"/>
                </a:solidFill>
                <a:effectLst/>
                <a:uFillTx/>
                <a:latin typeface="Yu Gothic"/>
                <a:ea typeface="Yu Gothic"/>
              </a:rPr>
              <a:t>Replanting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99"/>
              </a:spcAft>
            </a:pPr>
            <a:r>
              <a:rPr lang="ja-JP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伐採跡地は、モア・トゥリーズと選ぶ在来広葉樹</a:t>
            </a: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(</a:t>
            </a:r>
            <a:r>
              <a:rPr lang="ja-JP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ナラ、クリ、コナラ等</a:t>
            </a: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)</a:t>
            </a:r>
            <a:r>
              <a:rPr lang="ja-JP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に戻します。村の基本方針は、再び単一樹種にするのではなく在来広葉樹です。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99"/>
              </a:spcAft>
            </a:pPr>
            <a:r>
              <a:rPr lang="en-US" sz="122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Cleared stands go back to native broadleaf (oak, chestnut, konara), chosen with the NGO more trees. The village's default is native broadleaf, not another monoculture.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5"/>
          <p:cNvSpPr/>
          <p:nvPr/>
        </p:nvSpPr>
        <p:spPr>
          <a:xfrm>
            <a:off x="9326880" y="7132320"/>
            <a:ext cx="813744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799"/>
              </a:spcAft>
            </a:pPr>
            <a:r>
              <a:rPr lang="ja-JP" sz="260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燃料需要</a:t>
            </a:r>
            <a:r>
              <a:rPr lang="en-US" sz="260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(</a:t>
            </a:r>
            <a:r>
              <a:rPr lang="ja-JP" sz="260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第</a:t>
            </a:r>
            <a:r>
              <a:rPr lang="en-US" sz="260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1</a:t>
            </a:r>
            <a:r>
              <a:rPr lang="ja-JP" sz="260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号機</a:t>
            </a:r>
            <a:r>
              <a:rPr lang="en-US" sz="260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99"/>
              </a:spcAft>
            </a:pPr>
            <a:r>
              <a:rPr lang="en-US" sz="1510" b="0" u="none" strike="noStrike">
                <a:solidFill>
                  <a:srgbClr val="2F4A37"/>
                </a:solidFill>
                <a:effectLst/>
                <a:uFillTx/>
                <a:latin typeface="Yu Gothic"/>
                <a:ea typeface="Yu Gothic"/>
              </a:rPr>
              <a:t>Fuel demand, first unit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99"/>
              </a:spcAft>
            </a:pP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50 kWe</a:t>
            </a:r>
            <a:r>
              <a:rPr lang="ja-JP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機を</a:t>
            </a: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24</a:t>
            </a:r>
            <a:r>
              <a:rPr lang="ja-JP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時間運転すると、乾燥材で</a:t>
            </a: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1</a:t>
            </a:r>
            <a:r>
              <a:rPr lang="ja-JP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日あたり約</a:t>
            </a: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1.3</a:t>
            </a:r>
            <a:r>
              <a:rPr lang="ja-JP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〜</a:t>
            </a: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1.8 t</a:t>
            </a:r>
            <a:r>
              <a:rPr lang="ja-JP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、年間約</a:t>
            </a: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450</a:t>
            </a:r>
            <a:r>
              <a:rPr lang="ja-JP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〜</a:t>
            </a: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600 t</a:t>
            </a:r>
            <a:r>
              <a:rPr lang="ja-JP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が必要です。</a:t>
            </a: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3</a:t>
            </a:r>
            <a:r>
              <a:rPr lang="ja-JP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通りの試算がこの範囲で一致しました。機種は未選定です。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799"/>
              </a:spcAft>
            </a:pPr>
            <a:r>
              <a:rPr lang="en-US" sz="122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A 50 kWe unit running 24 h needs ≈ 1.3–1.8 t dry wood per day, about 450–600 t a year. Three estimating methods agree on that range. No unit has been chosen yet.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18287280" cy="10286280"/>
          </a:xfrm>
          <a:prstGeom prst="rect">
            <a:avLst/>
          </a:prstGeom>
          <a:solidFill>
            <a:srgbClr val="F3EC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822960" y="5029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4000" b="0" u="none" strike="noStrike">
                <a:solidFill>
                  <a:srgbClr val="2F4A37"/>
                </a:solidFill>
                <a:effectLst/>
                <a:uFillTx/>
                <a:latin typeface="Noto Serif JP"/>
              </a:rPr>
              <a:t>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1645920" y="56700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4C554F"/>
                </a:solidFill>
                <a:effectLst/>
                <a:uFillTx/>
                <a:latin typeface="Courier New"/>
              </a:rPr>
              <a:t>MITSUE PROJECT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4"/>
          <p:cNvSpPr/>
          <p:nvPr/>
        </p:nvSpPr>
        <p:spPr>
          <a:xfrm>
            <a:off x="1645920" y="91440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§ 04 · </a:t>
            </a:r>
            <a:r>
              <a:rPr lang="ja-JP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第一歩 </a:t>
            </a:r>
            <a:r>
              <a:rPr lang="en-US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/ § 04 · FIRST STEP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5"/>
          <p:cNvSpPr/>
          <p:nvPr/>
        </p:nvSpPr>
        <p:spPr>
          <a:xfrm>
            <a:off x="822960" y="1600200"/>
            <a:ext cx="1664136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ja-JP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地元の林業拠点に</a:t>
            </a:r>
            <a:r>
              <a:rPr lang="en-US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50 kWe</a:t>
            </a:r>
            <a:r>
              <a:rPr lang="ja-JP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のプロトタイプ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67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A 50 kWe prototype at a local forestry site</a:t>
            </a:r>
            <a:endParaRPr lang="en-US" sz="2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6"/>
          <p:cNvSpPr/>
          <p:nvPr/>
        </p:nvSpPr>
        <p:spPr>
          <a:xfrm>
            <a:off x="822960" y="9646920"/>
            <a:ext cx="1280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コマツ様向け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· Teams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会議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2026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年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10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月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27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日 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|  PREPARED FOR KOMATSU LTD. · TEAMS MEETING 27 OCT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7"/>
          <p:cNvSpPr/>
          <p:nvPr/>
        </p:nvSpPr>
        <p:spPr>
          <a:xfrm>
            <a:off x="14904720" y="9646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r" defTabSz="457200">
              <a:lnSpc>
                <a:spcPct val="11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Courier New"/>
              </a:rPr>
              <a:t>05 / 12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8"/>
          <p:cNvSpPr/>
          <p:nvPr/>
        </p:nvSpPr>
        <p:spPr>
          <a:xfrm>
            <a:off x="822960" y="3566160"/>
            <a:ext cx="8594640" cy="58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1599"/>
              </a:spcAft>
            </a:pPr>
            <a:r>
              <a:rPr lang="ja-JP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想定地</a:t>
            </a:r>
            <a:r>
              <a:rPr lang="en-US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:</a:t>
            </a:r>
            <a:r>
              <a:rPr lang="ja-JP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地元林業組合の土場に</a:t>
            </a:r>
            <a:r>
              <a:rPr lang="en-US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20</a:t>
            </a:r>
            <a:r>
              <a:rPr lang="ja-JP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フィートコンテナを設置。組合は</a:t>
            </a:r>
            <a:r>
              <a:rPr lang="en-US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CHP</a:t>
            </a:r>
            <a:r>
              <a:rPr lang="ja-JP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に前向きです。未確定です。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599"/>
              </a:spcAft>
            </a:pPr>
            <a:r>
              <a:rPr lang="en-US" sz="134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Probable site: a local forestry cooperative's yard, using a 20 ft container. The cooperative is keen on the CHP. Not final yet.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599"/>
              </a:spcAft>
            </a:pPr>
            <a:r>
              <a:rPr lang="ja-JP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理由</a:t>
            </a:r>
            <a:r>
              <a:rPr lang="en-US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:</a:t>
            </a:r>
            <a:r>
              <a:rPr lang="ja-JP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木材がもともと集まる場所で、燃料の取り扱いと乾燥が簡単です。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599"/>
              </a:spcAft>
            </a:pPr>
            <a:r>
              <a:rPr lang="en-US" sz="134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Why there: wood arrives there anyway, so fuel handling and drying are simple.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599"/>
              </a:spcAft>
            </a:pPr>
            <a:r>
              <a:rPr lang="ja-JP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最初にやること</a:t>
            </a:r>
            <a:r>
              <a:rPr lang="en-US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:</a:t>
            </a:r>
            <a:r>
              <a:rPr lang="ja-JP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燃料の分析、機種の選定、組合・村役場との間で設置場所と木材の流れの合意。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599"/>
              </a:spcAft>
            </a:pPr>
            <a:r>
              <a:rPr lang="en-US" sz="134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What we do first: analyse the fuel, choose a unit, agree the site and the wood flow with the cooperative and village hall.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2300" b="1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CTL</a:t>
            </a:r>
            <a:r>
              <a:rPr lang="ja-JP" sz="2300" b="1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にとっての意味</a:t>
            </a:r>
            <a:r>
              <a:rPr lang="en-US" sz="2300" b="1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:</a:t>
            </a:r>
            <a:r>
              <a:rPr lang="ja-JP" sz="2300" b="1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プロトタイプが安定した需要を生み、搬出する意味をつくります。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4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Why it matters to CTL: the prototype creates the steady demand that makes extracting wood worthwhile.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Picture 9" descr="site.jpg"/>
          <p:cNvPicPr/>
          <p:nvPr/>
        </p:nvPicPr>
        <p:blipFill>
          <a:blip r:embed="rId1"/>
          <a:stretch/>
        </p:blipFill>
        <p:spPr>
          <a:xfrm>
            <a:off x="9875520" y="3566160"/>
            <a:ext cx="7588800" cy="52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Box 10"/>
          <p:cNvSpPr/>
          <p:nvPr/>
        </p:nvSpPr>
        <p:spPr>
          <a:xfrm>
            <a:off x="9875520" y="8845560"/>
            <a:ext cx="758880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ja-JP" sz="1400" b="0" u="none" strike="noStrike">
                <a:solidFill>
                  <a:srgbClr val="4C554F"/>
                </a:solidFill>
                <a:effectLst/>
                <a:uFillTx/>
                <a:latin typeface="Yu Gothic"/>
              </a:rPr>
              <a:t>想定地の航空写真</a:t>
            </a:r>
            <a:r>
              <a:rPr lang="en-US" sz="1400" b="0" u="none" strike="noStrike">
                <a:solidFill>
                  <a:srgbClr val="4C554F"/>
                </a:solidFill>
                <a:effectLst/>
                <a:uFillTx/>
                <a:latin typeface="Yu Gothic"/>
              </a:rPr>
              <a:t>(</a:t>
            </a:r>
            <a:r>
              <a:rPr lang="ja-JP" sz="1400" b="0" u="none" strike="noStrike">
                <a:solidFill>
                  <a:srgbClr val="4C554F"/>
                </a:solidFill>
                <a:effectLst/>
                <a:uFillTx/>
                <a:latin typeface="Yu Gothic"/>
              </a:rPr>
              <a:t>未確定</a:t>
            </a:r>
            <a:r>
              <a:rPr lang="en-US" sz="1400" b="0" u="none" strike="noStrike">
                <a:solidFill>
                  <a:srgbClr val="4C554F"/>
                </a:solidFill>
                <a:effectLst/>
                <a:uFillTx/>
                <a:latin typeface="Yu Gothic"/>
              </a:rPr>
              <a:t>) / Aerial view of the probable site (not final)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0"/>
            <a:ext cx="18287280" cy="10286280"/>
          </a:xfrm>
          <a:prstGeom prst="rect">
            <a:avLst/>
          </a:prstGeom>
          <a:solidFill>
            <a:srgbClr val="F3EC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822960" y="5029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4000" b="0" u="none" strike="noStrike">
                <a:solidFill>
                  <a:srgbClr val="2F4A37"/>
                </a:solidFill>
                <a:effectLst/>
                <a:uFillTx/>
                <a:latin typeface="Noto Serif JP"/>
              </a:rPr>
              <a:t>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3"/>
          <p:cNvSpPr/>
          <p:nvPr/>
        </p:nvSpPr>
        <p:spPr>
          <a:xfrm>
            <a:off x="1645920" y="56700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4C554F"/>
                </a:solidFill>
                <a:effectLst/>
                <a:uFillTx/>
                <a:latin typeface="Courier New"/>
              </a:rPr>
              <a:t>MITSUE PROJECT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4"/>
          <p:cNvSpPr/>
          <p:nvPr/>
        </p:nvSpPr>
        <p:spPr>
          <a:xfrm>
            <a:off x="1645920" y="91440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§ 05 · </a:t>
            </a:r>
            <a:r>
              <a:rPr lang="ja-JP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長期の姿 </a:t>
            </a:r>
            <a:r>
              <a:rPr lang="en-US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/ § 05 · THE LONG-TERM PICTURE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5"/>
          <p:cNvSpPr/>
          <p:nvPr/>
        </p:nvSpPr>
        <p:spPr>
          <a:xfrm>
            <a:off x="822960" y="1600200"/>
            <a:ext cx="1664136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ja-JP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その先</a:t>
            </a:r>
            <a:r>
              <a:rPr lang="en-US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:</a:t>
            </a:r>
            <a:r>
              <a:rPr lang="ja-JP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約</a:t>
            </a:r>
            <a:r>
              <a:rPr lang="en-US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1.2 MWe</a:t>
            </a:r>
            <a:r>
              <a:rPr lang="ja-JP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の</a:t>
            </a:r>
            <a:r>
              <a:rPr lang="en-US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CHP</a:t>
            </a:r>
            <a:r>
              <a:rPr lang="ja-JP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と本格的な</a:t>
            </a:r>
            <a:r>
              <a:rPr lang="en-US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AI</a:t>
            </a:r>
            <a:r>
              <a:rPr lang="ja-JP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データセンター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67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Where it leads: ≈ 1.2 MWe of CHP and a full-scale AI data center</a:t>
            </a:r>
            <a:endParaRPr lang="en-US" sz="2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6"/>
          <p:cNvSpPr/>
          <p:nvPr/>
        </p:nvSpPr>
        <p:spPr>
          <a:xfrm>
            <a:off x="822960" y="9646920"/>
            <a:ext cx="1280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コマツ様向け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· Teams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会議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2026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年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10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月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27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日 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|  PREPARED FOR KOMATSU LTD. · TEAMS MEETING 27 OCT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7"/>
          <p:cNvSpPr/>
          <p:nvPr/>
        </p:nvSpPr>
        <p:spPr>
          <a:xfrm>
            <a:off x="14904720" y="9646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r" defTabSz="457200">
              <a:lnSpc>
                <a:spcPct val="11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Courier New"/>
              </a:rPr>
              <a:t>06 / 12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8"/>
          <p:cNvSpPr/>
          <p:nvPr/>
        </p:nvSpPr>
        <p:spPr>
          <a:xfrm>
            <a:off x="822960" y="3657600"/>
            <a:ext cx="1828080" cy="913680"/>
          </a:xfrm>
          <a:prstGeom prst="rect">
            <a:avLst/>
          </a:prstGeom>
          <a:solidFill>
            <a:srgbClr val="3A7A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9"/>
          <p:cNvSpPr/>
          <p:nvPr/>
        </p:nvSpPr>
        <p:spPr>
          <a:xfrm>
            <a:off x="822960" y="4663440"/>
            <a:ext cx="2925360" cy="11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</a:pPr>
            <a:r>
              <a:rPr lang="ja-JP" sz="185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プロトタイプ </a:t>
            </a:r>
            <a:r>
              <a:rPr lang="en-US" sz="185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/ Prototype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850" b="0" u="none" strike="noStrike">
                <a:solidFill>
                  <a:srgbClr val="4C554F"/>
                </a:solidFill>
                <a:effectLst/>
                <a:uFillTx/>
                <a:latin typeface="Arial"/>
                <a:ea typeface="Yu Mincho"/>
              </a:rPr>
              <a:t>50 kWe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10"/>
          <p:cNvSpPr/>
          <p:nvPr/>
        </p:nvSpPr>
        <p:spPr>
          <a:xfrm>
            <a:off x="4114800" y="3657600"/>
            <a:ext cx="4754160" cy="913680"/>
          </a:xfrm>
          <a:prstGeom prst="rect">
            <a:avLst/>
          </a:prstGeom>
          <a:solidFill>
            <a:srgbClr val="2F4A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ectangle 11"/>
          <p:cNvSpPr/>
          <p:nvPr/>
        </p:nvSpPr>
        <p:spPr>
          <a:xfrm>
            <a:off x="4114800" y="4754880"/>
            <a:ext cx="4754160" cy="913680"/>
          </a:xfrm>
          <a:prstGeom prst="rect">
            <a:avLst/>
          </a:prstGeom>
          <a:solidFill>
            <a:srgbClr val="2F4A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12"/>
          <p:cNvSpPr/>
          <p:nvPr/>
        </p:nvSpPr>
        <p:spPr>
          <a:xfrm>
            <a:off x="4114800" y="5760720"/>
            <a:ext cx="474912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</a:pPr>
            <a:r>
              <a:rPr lang="ja-JP" sz="200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本格規模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lang="en-US" sz="1150" b="0" u="none" strike="noStrike">
                <a:solidFill>
                  <a:srgbClr val="2F4A37"/>
                </a:solidFill>
                <a:effectLst/>
                <a:uFillTx/>
                <a:latin typeface="Yu Gothic"/>
                <a:ea typeface="Yu Gothic"/>
              </a:rPr>
              <a:t>Full scale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 × 0.6 MWe ≈ 1.2 MWe</a:t>
            </a:r>
            <a:r>
              <a:rPr lang="ja-JP" sz="18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、プロトタイプの約</a:t>
            </a:r>
            <a:r>
              <a:rPr lang="en-US" sz="18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23</a:t>
            </a:r>
            <a:r>
              <a:rPr lang="ja-JP" sz="18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倍</a:t>
            </a:r>
            <a:r>
              <a:rPr lang="en-US" sz="18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(</a:t>
            </a:r>
            <a:r>
              <a:rPr lang="ja-JP" sz="18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図は縮尺どおりではありません</a:t>
            </a:r>
            <a:r>
              <a:rPr lang="en-US" sz="18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05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 × 0.6 MWe ≈ 1.2 MWe, about 23 × the prototype (not to scale)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3"/>
          <p:cNvSpPr/>
          <p:nvPr/>
        </p:nvSpPr>
        <p:spPr>
          <a:xfrm>
            <a:off x="4297680" y="3794760"/>
            <a:ext cx="43884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2600" b="1" u="none" strike="noStrike">
                <a:solidFill>
                  <a:srgbClr val="F3ECE0"/>
                </a:solidFill>
                <a:effectLst/>
                <a:uFillTx/>
                <a:latin typeface="Georgia"/>
              </a:rPr>
              <a:t>0.6 MWe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4"/>
          <p:cNvSpPr/>
          <p:nvPr/>
        </p:nvSpPr>
        <p:spPr>
          <a:xfrm>
            <a:off x="4297680" y="4892040"/>
            <a:ext cx="43884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2600" b="1" u="none" strike="noStrike">
                <a:solidFill>
                  <a:srgbClr val="F3ECE0"/>
                </a:solidFill>
                <a:effectLst/>
                <a:uFillTx/>
                <a:latin typeface="Georgia"/>
              </a:rPr>
              <a:t>0.6 MWe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5"/>
          <p:cNvSpPr/>
          <p:nvPr/>
        </p:nvSpPr>
        <p:spPr>
          <a:xfrm>
            <a:off x="822960" y="7406640"/>
            <a:ext cx="804600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1199"/>
              </a:spcAft>
            </a:pP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1</a:t>
            </a:r>
            <a:r>
              <a:rPr lang="ja-JP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基ではなく</a:t>
            </a: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2</a:t>
            </a:r>
            <a:r>
              <a:rPr lang="ja-JP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基にすることで、保守中も運転を</a:t>
            </a:r>
            <a:r>
              <a:rPr lang="ja-JP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続けられ、出力も段階的に増やせます。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199"/>
              </a:spcAft>
            </a:pPr>
            <a:r>
              <a:rPr lang="en-US" sz="12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Two units, not one, so the plant keeps running during maintenance and </a:t>
            </a:r>
            <a:r>
              <a:rPr lang="en-US" sz="12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the output stays modular.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年間の発電量は約</a:t>
            </a: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8,000 MWh</a:t>
            </a:r>
            <a:r>
              <a:rPr lang="ja-JP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。燃料乾燥に</a:t>
            </a:r>
            <a:r>
              <a:rPr lang="ja-JP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使える同程度の熱も得られます。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Roughly 8,000 MWh of power a year, and a similar scale of heat for drying </a:t>
            </a:r>
            <a:r>
              <a:rPr lang="en-US" sz="12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the fuel.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16"/>
          <p:cNvSpPr/>
          <p:nvPr/>
        </p:nvSpPr>
        <p:spPr>
          <a:xfrm>
            <a:off x="9509760" y="3657600"/>
            <a:ext cx="7954560" cy="5577120"/>
          </a:xfrm>
          <a:prstGeom prst="rect">
            <a:avLst/>
          </a:prstGeom>
          <a:solidFill>
            <a:srgbClr val="ECE3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Rectangle 17"/>
          <p:cNvSpPr/>
          <p:nvPr/>
        </p:nvSpPr>
        <p:spPr>
          <a:xfrm>
            <a:off x="9509760" y="3657600"/>
            <a:ext cx="109080" cy="5577120"/>
          </a:xfrm>
          <a:prstGeom prst="rect">
            <a:avLst/>
          </a:prstGeom>
          <a:solidFill>
            <a:srgbClr val="C46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18"/>
          <p:cNvSpPr/>
          <p:nvPr/>
        </p:nvSpPr>
        <p:spPr>
          <a:xfrm>
            <a:off x="9829800" y="3840480"/>
            <a:ext cx="74059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500" b="1" u="none" strike="noStrike">
                <a:solidFill>
                  <a:srgbClr val="C4663A"/>
                </a:solidFill>
                <a:effectLst/>
                <a:uFillTx/>
                <a:latin typeface="Yu Mincho"/>
                <a:ea typeface="Yu Mincho"/>
              </a:rPr>
              <a:t>必要なこと </a:t>
            </a:r>
            <a:r>
              <a:rPr lang="en-US" sz="2500" b="1" u="none" strike="noStrike">
                <a:solidFill>
                  <a:srgbClr val="C4663A"/>
                </a:solidFill>
                <a:effectLst/>
                <a:uFillTx/>
                <a:latin typeface="Yu Mincho"/>
                <a:ea typeface="Yu Mincho"/>
              </a:rPr>
              <a:t>/ What it takes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9"/>
          <p:cNvSpPr/>
          <p:nvPr/>
        </p:nvSpPr>
        <p:spPr>
          <a:xfrm>
            <a:off x="9829800" y="4709160"/>
            <a:ext cx="740592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本格的な</a:t>
            </a:r>
            <a:r>
              <a:rPr lang="en-US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AI</a:t>
            </a:r>
            <a:r>
              <a:rPr lang="ja-JP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データセンターをアンカー需要家に</a:t>
            </a:r>
            <a:r>
              <a:rPr lang="en-US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:</a:t>
            </a:r>
            <a:r>
              <a:rPr lang="ja-JP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出力調整が可能なバイオマスによる、</a:t>
            </a:r>
            <a:r>
              <a:rPr lang="en-US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24</a:t>
            </a:r>
            <a:r>
              <a:rPr lang="ja-JP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時間安定の電力と熱。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34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A full-scale AI data center as the anchor customer: steady 24-hour power and heat from dispatchable biomass.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乾燥材で年間約</a:t>
            </a:r>
            <a:r>
              <a:rPr lang="en-US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13,000 t</a:t>
            </a:r>
            <a:r>
              <a:rPr lang="ja-JP" sz="23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が必要で、林業の作業班を倍増し、間伐・搬出を機械化することが前提です。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34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About 13,000 t of dry wood a year, which needs a doubled forest crew and mechanised thinning and harvest.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100" b="1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長期の構想で、時期は未定です。まずプロトタイプから始めます。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22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Long-term, with no fixed date. The prototype comes first.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"/>
          <p:cNvSpPr/>
          <p:nvPr/>
        </p:nvSpPr>
        <p:spPr>
          <a:xfrm>
            <a:off x="0" y="0"/>
            <a:ext cx="18287280" cy="10286280"/>
          </a:xfrm>
          <a:prstGeom prst="rect">
            <a:avLst/>
          </a:prstGeom>
          <a:solidFill>
            <a:srgbClr val="F3EC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2"/>
          <p:cNvSpPr/>
          <p:nvPr/>
        </p:nvSpPr>
        <p:spPr>
          <a:xfrm>
            <a:off x="822960" y="5029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4000" b="0" u="none" strike="noStrike">
                <a:solidFill>
                  <a:srgbClr val="2F4A37"/>
                </a:solidFill>
                <a:effectLst/>
                <a:uFillTx/>
                <a:latin typeface="Noto Serif JP"/>
              </a:rPr>
              <a:t>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3"/>
          <p:cNvSpPr/>
          <p:nvPr/>
        </p:nvSpPr>
        <p:spPr>
          <a:xfrm>
            <a:off x="1645920" y="56700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4C554F"/>
                </a:solidFill>
                <a:effectLst/>
                <a:uFillTx/>
                <a:latin typeface="Courier New"/>
              </a:rPr>
              <a:t>MITSUE </a:t>
            </a:r>
            <a:r>
              <a:rPr lang="en-US" sz="1350" b="0" u="none" strike="noStrike">
                <a:solidFill>
                  <a:srgbClr val="4C554F"/>
                </a:solidFill>
                <a:effectLst/>
                <a:uFillTx/>
                <a:latin typeface="Courier New"/>
              </a:rPr>
              <a:t>PROJECT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4"/>
          <p:cNvSpPr/>
          <p:nvPr/>
        </p:nvSpPr>
        <p:spPr>
          <a:xfrm>
            <a:off x="1645920" y="91440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§ 06 · </a:t>
            </a:r>
            <a:r>
              <a:rPr lang="ja-JP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最初の一例 </a:t>
            </a:r>
            <a:r>
              <a:rPr lang="en-US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/ § 06 · THE FIRST OF MANY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5"/>
          <p:cNvSpPr/>
          <p:nvPr/>
        </p:nvSpPr>
        <p:spPr>
          <a:xfrm>
            <a:off x="822960" y="1600200"/>
            <a:ext cx="1664136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ja-JP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御杖村は最初の一例。同じ課題をもつ森は全国に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67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Mitsue is the first. Many more forests need the same</a:t>
            </a:r>
            <a:endParaRPr lang="en-US" sz="2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6"/>
          <p:cNvSpPr/>
          <p:nvPr/>
        </p:nvSpPr>
        <p:spPr>
          <a:xfrm>
            <a:off x="822960" y="9646920"/>
            <a:ext cx="1280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コマツ様向け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· Teams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会議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2026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年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10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月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27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日 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|  PREPARED FOR KOMATSU LTD. · TEAMS MEETING 27 OCT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7"/>
          <p:cNvSpPr/>
          <p:nvPr/>
        </p:nvSpPr>
        <p:spPr>
          <a:xfrm>
            <a:off x="14904720" y="9646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r" defTabSz="457200">
              <a:lnSpc>
                <a:spcPct val="11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Courier New"/>
              </a:rPr>
              <a:t>07 / 12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8"/>
          <p:cNvSpPr/>
          <p:nvPr/>
        </p:nvSpPr>
        <p:spPr>
          <a:xfrm>
            <a:off x="822960" y="3566160"/>
            <a:ext cx="6948720" cy="5668560"/>
          </a:xfrm>
          <a:prstGeom prst="rect">
            <a:avLst/>
          </a:prstGeom>
          <a:solidFill>
            <a:srgbClr val="2F4A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9"/>
          <p:cNvSpPr/>
          <p:nvPr/>
        </p:nvSpPr>
        <p:spPr>
          <a:xfrm>
            <a:off x="1097280" y="3840480"/>
            <a:ext cx="640008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430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約</a:t>
            </a:r>
            <a:r>
              <a:rPr lang="en-US" sz="430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1,000</a:t>
            </a:r>
            <a:r>
              <a:rPr lang="ja-JP" sz="430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万 </a:t>
            </a:r>
            <a:r>
              <a:rPr lang="en-US" sz="430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ha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25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≈ 10 million ha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0"/>
          <p:cNvSpPr/>
          <p:nvPr/>
        </p:nvSpPr>
        <p:spPr>
          <a:xfrm>
            <a:off x="1097280" y="5212080"/>
            <a:ext cx="6400080" cy="38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1199"/>
              </a:spcAft>
            </a:pPr>
            <a:r>
              <a:rPr lang="ja-JP" sz="24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日本の人工林面積。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199"/>
              </a:spcAft>
            </a:pPr>
            <a:r>
              <a:rPr lang="en-US" sz="139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of planted forest in Japan.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199"/>
              </a:spcAft>
            </a:pPr>
            <a:r>
              <a:rPr lang="ja-JP" sz="24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その多くは戦後に植えられ、いま収穫期を迎えていますが、御杖村と同じく林業の担い手が不足しています。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199"/>
              </a:spcAft>
            </a:pPr>
            <a:r>
              <a:rPr lang="en-US" sz="139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Much of it was planted after the war and is now ready to harvest, in villages that, like Mitsue, are short of forestry workers.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199"/>
              </a:spcAft>
            </a:pPr>
            <a:r>
              <a:rPr lang="ja-JP" sz="16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出典</a:t>
            </a:r>
            <a:r>
              <a:rPr lang="en-US" sz="16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:</a:t>
            </a:r>
            <a:r>
              <a:rPr lang="ja-JP" sz="16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林野庁、</a:t>
            </a:r>
            <a:r>
              <a:rPr lang="en-US" sz="16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2022</a:t>
            </a:r>
            <a:r>
              <a:rPr lang="ja-JP" sz="16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年</a:t>
            </a:r>
            <a:r>
              <a:rPr lang="en-US" sz="16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3</a:t>
            </a:r>
            <a:r>
              <a:rPr lang="ja-JP" sz="16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月</a:t>
            </a:r>
            <a:r>
              <a:rPr lang="en-US" sz="16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31</a:t>
            </a:r>
            <a:r>
              <a:rPr lang="ja-JP" sz="16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日時点</a:t>
            </a:r>
            <a:r>
              <a:rPr lang="en-US" sz="16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(10,093,422 ha)</a:t>
            </a:r>
            <a:r>
              <a:rPr lang="ja-JP" sz="16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199"/>
              </a:spcAft>
            </a:pPr>
            <a:r>
              <a:rPr lang="en-US" sz="92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Source: Forestry Agency, 31 March 2022 (10,093,422 ha).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11"/>
          <p:cNvSpPr/>
          <p:nvPr/>
        </p:nvSpPr>
        <p:spPr>
          <a:xfrm>
            <a:off x="8229600" y="3566160"/>
            <a:ext cx="9234720" cy="1782360"/>
          </a:xfrm>
          <a:prstGeom prst="rect">
            <a:avLst/>
          </a:prstGeom>
          <a:solidFill>
            <a:srgbClr val="ECE3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ectangle 12"/>
          <p:cNvSpPr/>
          <p:nvPr/>
        </p:nvSpPr>
        <p:spPr>
          <a:xfrm>
            <a:off x="8229600" y="3566160"/>
            <a:ext cx="109080" cy="1782360"/>
          </a:xfrm>
          <a:prstGeom prst="rect">
            <a:avLst/>
          </a:prstGeom>
          <a:solidFill>
            <a:srgbClr val="C46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13"/>
          <p:cNvSpPr/>
          <p:nvPr/>
        </p:nvSpPr>
        <p:spPr>
          <a:xfrm>
            <a:off x="8549640" y="3703320"/>
            <a:ext cx="7308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4200" b="1" u="none" strike="noStrike">
                <a:solidFill>
                  <a:srgbClr val="C4663A"/>
                </a:solidFill>
                <a:effectLst/>
                <a:uFillTx/>
                <a:latin typeface="Georgia"/>
              </a:rPr>
              <a:t>1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4"/>
          <p:cNvSpPr/>
          <p:nvPr/>
        </p:nvSpPr>
        <p:spPr>
          <a:xfrm>
            <a:off x="9326880" y="3675960"/>
            <a:ext cx="79545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500" b="1" u="none" strike="noStrike">
                <a:solidFill>
                  <a:srgbClr val="C4663A"/>
                </a:solidFill>
                <a:effectLst/>
                <a:uFillTx/>
                <a:latin typeface="Yu Mincho"/>
                <a:ea typeface="Yu Mincho"/>
              </a:rPr>
              <a:t>御杖村</a:t>
            </a:r>
            <a:r>
              <a:rPr lang="en-US" sz="2500" b="1" u="none" strike="noStrike">
                <a:solidFill>
                  <a:srgbClr val="C4663A"/>
                </a:solidFill>
                <a:effectLst/>
                <a:uFillTx/>
                <a:latin typeface="Yu Mincho"/>
                <a:ea typeface="Yu Mincho"/>
              </a:rPr>
              <a:t>:</a:t>
            </a:r>
            <a:r>
              <a:rPr lang="ja-JP" sz="2500" b="1" u="none" strike="noStrike">
                <a:solidFill>
                  <a:srgbClr val="C4663A"/>
                </a:solidFill>
                <a:effectLst/>
                <a:uFillTx/>
                <a:latin typeface="Yu Mincho"/>
                <a:ea typeface="Yu Mincho"/>
              </a:rPr>
              <a:t>実証する </a:t>
            </a:r>
            <a:r>
              <a:rPr lang="en-US" sz="2500" b="1" u="none" strike="noStrike">
                <a:solidFill>
                  <a:srgbClr val="C4663A"/>
                </a:solidFill>
                <a:effectLst/>
                <a:uFillTx/>
                <a:latin typeface="Yu Mincho"/>
                <a:ea typeface="Yu Mincho"/>
              </a:rPr>
              <a:t>/ Mitsue: prove it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15"/>
          <p:cNvSpPr/>
          <p:nvPr/>
        </p:nvSpPr>
        <p:spPr>
          <a:xfrm>
            <a:off x="9326880" y="4297680"/>
            <a:ext cx="79545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9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収穫し、在来広葉樹を植え戻し、小型</a:t>
            </a:r>
            <a:r>
              <a:rPr lang="en-US" sz="19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CHP</a:t>
            </a:r>
            <a:r>
              <a:rPr lang="ja-JP" sz="19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を運転し、地元のオペレーターを育てます。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Harvest, replant native broadleaf, run a small CHP, train local operators.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16"/>
          <p:cNvSpPr/>
          <p:nvPr/>
        </p:nvSpPr>
        <p:spPr>
          <a:xfrm>
            <a:off x="8229600" y="5532120"/>
            <a:ext cx="9234720" cy="1782360"/>
          </a:xfrm>
          <a:prstGeom prst="rect">
            <a:avLst/>
          </a:prstGeom>
          <a:solidFill>
            <a:srgbClr val="ECE3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ectangle 17"/>
          <p:cNvSpPr/>
          <p:nvPr/>
        </p:nvSpPr>
        <p:spPr>
          <a:xfrm>
            <a:off x="8229600" y="5532120"/>
            <a:ext cx="109080" cy="1782360"/>
          </a:xfrm>
          <a:prstGeom prst="rect">
            <a:avLst/>
          </a:prstGeom>
          <a:solidFill>
            <a:srgbClr val="2F4A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18"/>
          <p:cNvSpPr/>
          <p:nvPr/>
        </p:nvSpPr>
        <p:spPr>
          <a:xfrm>
            <a:off x="8549640" y="5669280"/>
            <a:ext cx="7308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4200" b="1" u="none" strike="noStrike">
                <a:solidFill>
                  <a:srgbClr val="2F4A37"/>
                </a:solidFill>
                <a:effectLst/>
                <a:uFillTx/>
                <a:latin typeface="Georgia"/>
              </a:rPr>
              <a:t>2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19"/>
          <p:cNvSpPr/>
          <p:nvPr/>
        </p:nvSpPr>
        <p:spPr>
          <a:xfrm>
            <a:off x="9326880" y="5641920"/>
            <a:ext cx="79545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75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近隣の村</a:t>
            </a:r>
            <a:r>
              <a:rPr lang="en-US" sz="175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:</a:t>
            </a:r>
            <a:r>
              <a:rPr lang="ja-JP" sz="175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横展開する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2F4A37"/>
                </a:solidFill>
                <a:effectLst/>
                <a:uFillTx/>
                <a:latin typeface="Yu Gothic"/>
                <a:ea typeface="Yu Gothic"/>
              </a:rPr>
              <a:t>Nearby villages: repeat it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20"/>
          <p:cNvSpPr/>
          <p:nvPr/>
        </p:nvSpPr>
        <p:spPr>
          <a:xfrm>
            <a:off x="9326880" y="6263640"/>
            <a:ext cx="79545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8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同じ機械、同じ方法、公開した同じ資料で進めます。他の林業の村とも初期的な対話をしています。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05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Same machines, same methods, same open documents. We have had early conversations in other forest villages.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21"/>
          <p:cNvSpPr/>
          <p:nvPr/>
        </p:nvSpPr>
        <p:spPr>
          <a:xfrm>
            <a:off x="8229600" y="7498080"/>
            <a:ext cx="9234720" cy="1782360"/>
          </a:xfrm>
          <a:prstGeom prst="rect">
            <a:avLst/>
          </a:prstGeom>
          <a:solidFill>
            <a:srgbClr val="ECE3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Rectangle 22"/>
          <p:cNvSpPr/>
          <p:nvPr/>
        </p:nvSpPr>
        <p:spPr>
          <a:xfrm>
            <a:off x="8229600" y="7498080"/>
            <a:ext cx="109080" cy="1782360"/>
          </a:xfrm>
          <a:prstGeom prst="rect">
            <a:avLst/>
          </a:prstGeom>
          <a:solidFill>
            <a:srgbClr val="3A7A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23"/>
          <p:cNvSpPr/>
          <p:nvPr/>
        </p:nvSpPr>
        <p:spPr>
          <a:xfrm>
            <a:off x="8549640" y="7635240"/>
            <a:ext cx="7308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4200" b="1" u="none" strike="noStrike">
                <a:solidFill>
                  <a:srgbClr val="3A7A5A"/>
                </a:solidFill>
                <a:effectLst/>
                <a:uFillTx/>
                <a:latin typeface="Georgia"/>
              </a:rPr>
              <a:t>3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24"/>
          <p:cNvSpPr/>
          <p:nvPr/>
        </p:nvSpPr>
        <p:spPr>
          <a:xfrm>
            <a:off x="9326880" y="7607880"/>
            <a:ext cx="79545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500" b="1" u="none" strike="noStrike">
                <a:solidFill>
                  <a:srgbClr val="3A7A5A"/>
                </a:solidFill>
                <a:effectLst/>
                <a:uFillTx/>
                <a:latin typeface="Yu Mincho"/>
                <a:ea typeface="Yu Mincho"/>
              </a:rPr>
              <a:t>さらに多くの森へ </a:t>
            </a:r>
            <a:r>
              <a:rPr lang="en-US" sz="2500" b="1" u="none" strike="noStrike">
                <a:solidFill>
                  <a:srgbClr val="3A7A5A"/>
                </a:solidFill>
                <a:effectLst/>
                <a:uFillTx/>
                <a:latin typeface="Yu Mincho"/>
                <a:ea typeface="Yu Mincho"/>
              </a:rPr>
              <a:t>/ Many more forests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25"/>
          <p:cNvSpPr/>
          <p:nvPr/>
        </p:nvSpPr>
        <p:spPr>
          <a:xfrm>
            <a:off x="9326880" y="8229600"/>
            <a:ext cx="79545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CTL</a:t>
            </a:r>
            <a:r>
              <a:rPr lang="ja-JP" sz="17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機械と育成したオペレーターを中心に、人口減少が進む全国の山村に使えるひな形にします。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A template for depopulating mountain villages across Japan, with CTL machines and trained operators at the centre.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1"/>
          <p:cNvSpPr/>
          <p:nvPr/>
        </p:nvSpPr>
        <p:spPr>
          <a:xfrm>
            <a:off x="0" y="0"/>
            <a:ext cx="18287280" cy="10286280"/>
          </a:xfrm>
          <a:prstGeom prst="rect">
            <a:avLst/>
          </a:prstGeom>
          <a:solidFill>
            <a:srgbClr val="F3EC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2"/>
          <p:cNvSpPr/>
          <p:nvPr/>
        </p:nvSpPr>
        <p:spPr>
          <a:xfrm>
            <a:off x="822960" y="5029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4000" b="0" u="none" strike="noStrike">
                <a:solidFill>
                  <a:srgbClr val="2F4A37"/>
                </a:solidFill>
                <a:effectLst/>
                <a:uFillTx/>
                <a:latin typeface="Noto Serif JP"/>
              </a:rPr>
              <a:t>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3"/>
          <p:cNvSpPr/>
          <p:nvPr/>
        </p:nvSpPr>
        <p:spPr>
          <a:xfrm>
            <a:off x="1645920" y="56700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4C554F"/>
                </a:solidFill>
                <a:effectLst/>
                <a:uFillTx/>
                <a:latin typeface="Courier New"/>
              </a:rPr>
              <a:t>MITSUE PROJECT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4"/>
          <p:cNvSpPr/>
          <p:nvPr/>
        </p:nvSpPr>
        <p:spPr>
          <a:xfrm>
            <a:off x="1645920" y="91440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§ 07 · CTL</a:t>
            </a:r>
            <a:r>
              <a:rPr lang="ja-JP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の活用余地 </a:t>
            </a:r>
            <a:r>
              <a:rPr lang="en-US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/ § 07 · WHERE CTL COULD FIT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5"/>
          <p:cNvSpPr/>
          <p:nvPr/>
        </p:nvSpPr>
        <p:spPr>
          <a:xfrm>
            <a:off x="822960" y="1600200"/>
            <a:ext cx="1664136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ja-JP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コマツ様の試験導入で確かめたいこと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67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What we hope to learn from a Komatsu trial</a:t>
            </a:r>
            <a:endParaRPr lang="en-US" sz="2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6"/>
          <p:cNvSpPr/>
          <p:nvPr/>
        </p:nvSpPr>
        <p:spPr>
          <a:xfrm>
            <a:off x="822960" y="9646920"/>
            <a:ext cx="1280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コマツ様向け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· Teams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会議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2026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年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10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月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27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日 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|  PREPARED FOR KOMATSU LTD. · TEAMS MEETING 27 OCT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7"/>
          <p:cNvSpPr/>
          <p:nvPr/>
        </p:nvSpPr>
        <p:spPr>
          <a:xfrm>
            <a:off x="14904720" y="9646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r" defTabSz="457200">
              <a:lnSpc>
                <a:spcPct val="11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Courier New"/>
              </a:rPr>
              <a:t>08 / 12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8"/>
          <p:cNvSpPr/>
          <p:nvPr/>
        </p:nvSpPr>
        <p:spPr>
          <a:xfrm>
            <a:off x="822960" y="3566160"/>
            <a:ext cx="5439960" cy="5668560"/>
          </a:xfrm>
          <a:prstGeom prst="rect">
            <a:avLst/>
          </a:prstGeom>
          <a:solidFill>
            <a:srgbClr val="ECE3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ectangle 9"/>
          <p:cNvSpPr/>
          <p:nvPr/>
        </p:nvSpPr>
        <p:spPr>
          <a:xfrm>
            <a:off x="822960" y="3566160"/>
            <a:ext cx="109080" cy="5668560"/>
          </a:xfrm>
          <a:prstGeom prst="rect">
            <a:avLst/>
          </a:prstGeom>
          <a:solidFill>
            <a:srgbClr val="2F4A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10"/>
          <p:cNvSpPr/>
          <p:nvPr/>
        </p:nvSpPr>
        <p:spPr>
          <a:xfrm>
            <a:off x="1143000" y="3749040"/>
            <a:ext cx="489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50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当方の状況 </a:t>
            </a:r>
            <a:r>
              <a:rPr lang="en-US" sz="250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/ Our situation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11"/>
          <p:cNvSpPr/>
          <p:nvPr/>
        </p:nvSpPr>
        <p:spPr>
          <a:xfrm>
            <a:off x="1143000" y="4617720"/>
            <a:ext cx="4891320" cy="44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急傾斜地で、</a:t>
            </a:r>
            <a:r>
              <a:rPr lang="en-US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50</a:t>
            </a:r>
            <a:r>
              <a:rPr lang="ja-JP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〜</a:t>
            </a:r>
            <a:r>
              <a:rPr lang="en-US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75</a:t>
            </a:r>
            <a:r>
              <a:rPr lang="ja-JP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年生の杉の間伐。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39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Steep terrain, thinning of 50–75-year-old sugi.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人手不足</a:t>
            </a:r>
            <a:r>
              <a:rPr lang="en-US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:</a:t>
            </a:r>
            <a:r>
              <a:rPr lang="ja-JP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組合は若手が少ない。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39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Not enough workers: the cooperative has few young people.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主に小径木の間伐。長年未整備の林分には大径木も混じる。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39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Small-diameter thinning, with some larger stems in long-unmanaged stands.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12"/>
          <p:cNvSpPr/>
          <p:nvPr/>
        </p:nvSpPr>
        <p:spPr>
          <a:xfrm>
            <a:off x="6446520" y="3566160"/>
            <a:ext cx="5439960" cy="5668560"/>
          </a:xfrm>
          <a:prstGeom prst="rect">
            <a:avLst/>
          </a:prstGeom>
          <a:solidFill>
            <a:srgbClr val="ECE3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Rectangle 13"/>
          <p:cNvSpPr/>
          <p:nvPr/>
        </p:nvSpPr>
        <p:spPr>
          <a:xfrm>
            <a:off x="6446520" y="3566160"/>
            <a:ext cx="109080" cy="5668560"/>
          </a:xfrm>
          <a:prstGeom prst="rect">
            <a:avLst/>
          </a:prstGeom>
          <a:solidFill>
            <a:srgbClr val="C46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14"/>
          <p:cNvSpPr/>
          <p:nvPr/>
        </p:nvSpPr>
        <p:spPr>
          <a:xfrm>
            <a:off x="6766560" y="3749040"/>
            <a:ext cx="489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000" b="1" u="none" strike="noStrike">
                <a:solidFill>
                  <a:srgbClr val="C4663A"/>
                </a:solidFill>
                <a:effectLst/>
                <a:uFillTx/>
                <a:latin typeface="Yu Mincho"/>
                <a:ea typeface="Yu Mincho"/>
              </a:rPr>
              <a:t>検討してきたこと </a:t>
            </a:r>
            <a:r>
              <a:rPr lang="en-US" sz="2000" b="1" u="none" strike="noStrike">
                <a:solidFill>
                  <a:srgbClr val="C4663A"/>
                </a:solidFill>
                <a:effectLst/>
                <a:uFillTx/>
                <a:latin typeface="Yu Mincho"/>
                <a:ea typeface="Yu Mincho"/>
              </a:rPr>
              <a:t>/ What we have looked 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5"/>
          <p:cNvSpPr/>
          <p:nvPr/>
        </p:nvSpPr>
        <p:spPr>
          <a:xfrm>
            <a:off x="6766560" y="4617720"/>
            <a:ext cx="4891320" cy="44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当方の規模には、</a:t>
            </a:r>
            <a:r>
              <a:rPr lang="en-US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901XC(C93</a:t>
            </a:r>
            <a:r>
              <a:rPr lang="ja-JP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ヘッド</a:t>
            </a:r>
            <a:r>
              <a:rPr lang="en-US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)</a:t>
            </a:r>
            <a:r>
              <a:rPr lang="ja-JP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が合いそうです。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39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901XC with C93 head looks like the better match for our scale.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931XC</a:t>
            </a:r>
            <a:r>
              <a:rPr lang="ja-JP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と</a:t>
            </a:r>
            <a:r>
              <a:rPr lang="en-US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855</a:t>
            </a:r>
            <a:r>
              <a:rPr lang="ja-JP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フォワーダも検討しました。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39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931XC and 855 forwarder also considered.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1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動画での印象のみで、現場で実機は見ていません。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22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Impression from videos only; we have not seen the machines in the field.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16"/>
          <p:cNvSpPr/>
          <p:nvPr/>
        </p:nvSpPr>
        <p:spPr>
          <a:xfrm>
            <a:off x="12070080" y="3566160"/>
            <a:ext cx="5439960" cy="5668560"/>
          </a:xfrm>
          <a:prstGeom prst="rect">
            <a:avLst/>
          </a:prstGeom>
          <a:solidFill>
            <a:srgbClr val="ECE3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Rectangle 17"/>
          <p:cNvSpPr/>
          <p:nvPr/>
        </p:nvSpPr>
        <p:spPr>
          <a:xfrm>
            <a:off x="12070080" y="3566160"/>
            <a:ext cx="109080" cy="5668560"/>
          </a:xfrm>
          <a:prstGeom prst="rect">
            <a:avLst/>
          </a:prstGeom>
          <a:solidFill>
            <a:srgbClr val="2F4A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18"/>
          <p:cNvSpPr/>
          <p:nvPr/>
        </p:nvSpPr>
        <p:spPr>
          <a:xfrm>
            <a:off x="12390120" y="3749040"/>
            <a:ext cx="489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00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コマツ様へのご質問 </a:t>
            </a:r>
            <a:r>
              <a:rPr lang="en-US" sz="200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/ Questions for Komatsu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19"/>
          <p:cNvSpPr/>
          <p:nvPr/>
        </p:nvSpPr>
        <p:spPr>
          <a:xfrm>
            <a:off x="12390120" y="4617720"/>
            <a:ext cx="4891320" cy="44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当地での試験導入は可能でしょうか。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22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Is a trial feasible at our site?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傾斜の限界と作業道の間隔は</a:t>
            </a: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?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22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Slope limits and extraction-trail spacing?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常設の道が必要か、軽いフォワーダ用の作業道で足りるか</a:t>
            </a: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?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22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Is permanent road needed, or only light forwarder trails?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当地の林分にはどの機種・ヘッドが適しているか</a:t>
            </a: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?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22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Which model and head suit our stands?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地元の研修生はどのような訓練を受けられるか</a:t>
            </a: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?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22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What training could a local trainee operator get?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1"/>
          <p:cNvSpPr/>
          <p:nvPr/>
        </p:nvSpPr>
        <p:spPr>
          <a:xfrm>
            <a:off x="0" y="0"/>
            <a:ext cx="18287280" cy="10286280"/>
          </a:xfrm>
          <a:prstGeom prst="rect">
            <a:avLst/>
          </a:prstGeom>
          <a:solidFill>
            <a:srgbClr val="F3EC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2"/>
          <p:cNvSpPr/>
          <p:nvPr/>
        </p:nvSpPr>
        <p:spPr>
          <a:xfrm>
            <a:off x="822960" y="5029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4000" b="0" u="none" strike="noStrike">
                <a:solidFill>
                  <a:srgbClr val="2F4A37"/>
                </a:solidFill>
                <a:effectLst/>
                <a:uFillTx/>
                <a:latin typeface="Noto Serif JP"/>
              </a:rPr>
              <a:t>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3"/>
          <p:cNvSpPr/>
          <p:nvPr/>
        </p:nvSpPr>
        <p:spPr>
          <a:xfrm>
            <a:off x="1645920" y="56700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4C554F"/>
                </a:solidFill>
                <a:effectLst/>
                <a:uFillTx/>
                <a:latin typeface="Courier New"/>
              </a:rPr>
              <a:t>MITSUE PROJECT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4"/>
          <p:cNvSpPr/>
          <p:nvPr/>
        </p:nvSpPr>
        <p:spPr>
          <a:xfrm>
            <a:off x="1645920" y="91440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§ 08 · </a:t>
            </a:r>
            <a:r>
              <a:rPr lang="ja-JP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人の面 </a:t>
            </a:r>
            <a:r>
              <a:rPr lang="en-US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/ § 08 · THE PEOPLE SIDE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5"/>
          <p:cNvSpPr/>
          <p:nvPr/>
        </p:nvSpPr>
        <p:spPr>
          <a:xfrm>
            <a:off x="822960" y="1600200"/>
            <a:ext cx="1664136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ja-JP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機械は、動かす人がいてこそ役に立つ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67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Machines only help if there are people to run them</a:t>
            </a:r>
            <a:endParaRPr lang="en-US" sz="2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6"/>
          <p:cNvSpPr/>
          <p:nvPr/>
        </p:nvSpPr>
        <p:spPr>
          <a:xfrm>
            <a:off x="822960" y="9646920"/>
            <a:ext cx="1280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コマツ様向け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· Teams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会議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2026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年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10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月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27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日 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|  PREPARED FOR KOMATSU LTD. · TEAMS MEETING 27 OCT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7"/>
          <p:cNvSpPr/>
          <p:nvPr/>
        </p:nvSpPr>
        <p:spPr>
          <a:xfrm>
            <a:off x="14904720" y="9646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r" defTabSz="457200">
              <a:lnSpc>
                <a:spcPct val="11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Courier New"/>
              </a:rPr>
              <a:t>09 / 12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8"/>
          <p:cNvSpPr/>
          <p:nvPr/>
        </p:nvSpPr>
        <p:spPr>
          <a:xfrm>
            <a:off x="822960" y="3566160"/>
            <a:ext cx="5439960" cy="5668560"/>
          </a:xfrm>
          <a:prstGeom prst="rect">
            <a:avLst/>
          </a:prstGeom>
          <a:solidFill>
            <a:srgbClr val="ECE3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Rectangle 9"/>
          <p:cNvSpPr/>
          <p:nvPr/>
        </p:nvSpPr>
        <p:spPr>
          <a:xfrm>
            <a:off x="822960" y="3566160"/>
            <a:ext cx="109080" cy="5668560"/>
          </a:xfrm>
          <a:prstGeom prst="rect">
            <a:avLst/>
          </a:prstGeom>
          <a:solidFill>
            <a:srgbClr val="2F4A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10"/>
          <p:cNvSpPr/>
          <p:nvPr/>
        </p:nvSpPr>
        <p:spPr>
          <a:xfrm>
            <a:off x="1143000" y="3749040"/>
            <a:ext cx="489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50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ギャップ </a:t>
            </a:r>
            <a:r>
              <a:rPr lang="en-US" sz="250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/ The gap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11"/>
          <p:cNvSpPr/>
          <p:nvPr/>
        </p:nvSpPr>
        <p:spPr>
          <a:xfrm>
            <a:off x="1143000" y="4617720"/>
            <a:ext cx="4891320" cy="44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組合の作業班は少人数で、若手が少ない。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39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The cooperative's crew is small and has few young people.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森に必要な規模の間伐・搬出は、現在の体制では不可能です。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39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Thinning and harvest at the scale the forest needs is not possible with today's team.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CTL</a:t>
            </a:r>
            <a:r>
              <a:rPr lang="ja-JP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機械があれば、少人数でもはるかに多くをこなせます。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39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A cut-to-length machine lets a small crew do much more.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12"/>
          <p:cNvSpPr/>
          <p:nvPr/>
        </p:nvSpPr>
        <p:spPr>
          <a:xfrm>
            <a:off x="6446520" y="3566160"/>
            <a:ext cx="5439960" cy="5668560"/>
          </a:xfrm>
          <a:prstGeom prst="rect">
            <a:avLst/>
          </a:prstGeom>
          <a:solidFill>
            <a:srgbClr val="ECE3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Rectangle 13"/>
          <p:cNvSpPr/>
          <p:nvPr/>
        </p:nvSpPr>
        <p:spPr>
          <a:xfrm>
            <a:off x="6446520" y="3566160"/>
            <a:ext cx="109080" cy="5668560"/>
          </a:xfrm>
          <a:prstGeom prst="rect">
            <a:avLst/>
          </a:prstGeom>
          <a:solidFill>
            <a:srgbClr val="C46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14"/>
          <p:cNvSpPr/>
          <p:nvPr/>
        </p:nvSpPr>
        <p:spPr>
          <a:xfrm>
            <a:off x="6766560" y="3749040"/>
            <a:ext cx="489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250" b="1" u="none" strike="noStrike">
                <a:solidFill>
                  <a:srgbClr val="C4663A"/>
                </a:solidFill>
                <a:effectLst/>
                <a:uFillTx/>
                <a:latin typeface="Yu Mincho"/>
                <a:ea typeface="Yu Mincho"/>
              </a:rPr>
              <a:t>地元の後継者 </a:t>
            </a:r>
            <a:r>
              <a:rPr lang="en-US" sz="2250" b="1" u="none" strike="noStrike">
                <a:solidFill>
                  <a:srgbClr val="C4663A"/>
                </a:solidFill>
                <a:effectLst/>
                <a:uFillTx/>
                <a:latin typeface="Yu Mincho"/>
                <a:ea typeface="Yu Mincho"/>
              </a:rPr>
              <a:t>/ A local successor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15"/>
          <p:cNvSpPr/>
          <p:nvPr/>
        </p:nvSpPr>
        <p:spPr>
          <a:xfrm>
            <a:off x="6766560" y="4617720"/>
            <a:ext cx="4891320" cy="44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2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組合で働く若い女性。聡明で意志が強く、オペレーターになることが夢で、</a:t>
            </a:r>
            <a:r>
              <a:rPr lang="en-US" sz="22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931XC</a:t>
            </a:r>
            <a:r>
              <a:rPr lang="ja-JP" sz="22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のような機械での訓練に胸を躍らせています。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25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A young woman who works at the cooperative, bright and determined. Her dream job is to be a machine operator, and she is excited at the idea of training on machines like the 931XC.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200" b="1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時期はまだ確定しておらず、先に別の仕事に就く可能性もあります。試験導入が実現し、本人の都合が合えば、訓練の機会をいただければ幸いです。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2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Her timing is not certain: she may need to take another job first. We would be glad to offer training if a trial goes ahead and the timing suits her.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16"/>
          <p:cNvSpPr/>
          <p:nvPr/>
        </p:nvSpPr>
        <p:spPr>
          <a:xfrm>
            <a:off x="12070080" y="3566160"/>
            <a:ext cx="5439960" cy="5668560"/>
          </a:xfrm>
          <a:prstGeom prst="rect">
            <a:avLst/>
          </a:prstGeom>
          <a:solidFill>
            <a:srgbClr val="ECE3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Rectangle 17"/>
          <p:cNvSpPr/>
          <p:nvPr/>
        </p:nvSpPr>
        <p:spPr>
          <a:xfrm>
            <a:off x="12070080" y="3566160"/>
            <a:ext cx="109080" cy="5668560"/>
          </a:xfrm>
          <a:prstGeom prst="rect">
            <a:avLst/>
          </a:prstGeom>
          <a:solidFill>
            <a:srgbClr val="3A7A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18"/>
          <p:cNvSpPr/>
          <p:nvPr/>
        </p:nvSpPr>
        <p:spPr>
          <a:xfrm>
            <a:off x="12390120" y="3749040"/>
            <a:ext cx="489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250" b="1" u="none" strike="noStrike">
                <a:solidFill>
                  <a:srgbClr val="3A7A5A"/>
                </a:solidFill>
                <a:effectLst/>
                <a:uFillTx/>
                <a:latin typeface="Yu Mincho"/>
                <a:ea typeface="Yu Mincho"/>
              </a:rPr>
              <a:t>コマツ様にとっての意義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3A7A5A"/>
                </a:solidFill>
                <a:effectLst/>
                <a:uFillTx/>
                <a:latin typeface="Yu Gothic"/>
                <a:ea typeface="Yu Gothic"/>
              </a:rPr>
              <a:t>Why it matters to Komatsu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19"/>
          <p:cNvSpPr/>
          <p:nvPr/>
        </p:nvSpPr>
        <p:spPr>
          <a:xfrm>
            <a:off x="12390120" y="4617720"/>
            <a:ext cx="4891320" cy="44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0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人口減少の村で、国産機械を使う若者の地元でのキャリアの道をつくる。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15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A local career path for young people in a depopulating village, on Japanese-made machines.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000" b="1" u="none" strike="noStrike">
                <a:solidFill>
                  <a:srgbClr val="3A7A5A"/>
                </a:solidFill>
                <a:effectLst/>
                <a:uFillTx/>
                <a:latin typeface="Yu Gothic"/>
                <a:ea typeface="Yu Gothic"/>
              </a:rPr>
              <a:t>林業機械の仕事に女性をより多く迎え、担い手の裾野を広げる機会になる。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150" b="0" u="none" strike="noStrike">
                <a:solidFill>
                  <a:srgbClr val="3A7A5A"/>
                </a:solidFill>
                <a:effectLst/>
                <a:uFillTx/>
                <a:latin typeface="Yu Gothic"/>
                <a:ea typeface="Yu Gothic"/>
              </a:rPr>
              <a:t>A chance to bring more women into forestry machine work and widen the workforce.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0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語りやすい物語</a:t>
            </a:r>
            <a:r>
              <a:rPr lang="en-US" sz="20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:</a:t>
            </a:r>
            <a:r>
              <a:rPr lang="ja-JP" sz="20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試験導入が、次のオペレーターを生む。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15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A story that is easy to tell: a trial that creates the next operator.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18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研修生には、どのような訓練・資格取得・機械利用が可能でしょうか。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05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What training, licence and machine access are possible for a trainee?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1"/>
          <p:cNvSpPr/>
          <p:nvPr/>
        </p:nvSpPr>
        <p:spPr>
          <a:xfrm>
            <a:off x="0" y="0"/>
            <a:ext cx="18287280" cy="10286280"/>
          </a:xfrm>
          <a:prstGeom prst="rect">
            <a:avLst/>
          </a:prstGeom>
          <a:solidFill>
            <a:srgbClr val="F3EC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2"/>
          <p:cNvSpPr/>
          <p:nvPr/>
        </p:nvSpPr>
        <p:spPr>
          <a:xfrm>
            <a:off x="822960" y="5029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4000" b="0" u="none" strike="noStrike">
                <a:solidFill>
                  <a:srgbClr val="2F4A37"/>
                </a:solidFill>
                <a:effectLst/>
                <a:uFillTx/>
                <a:latin typeface="Noto Serif JP"/>
              </a:rPr>
              <a:t>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3"/>
          <p:cNvSpPr/>
          <p:nvPr/>
        </p:nvSpPr>
        <p:spPr>
          <a:xfrm>
            <a:off x="1645920" y="56700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4C554F"/>
                </a:solidFill>
                <a:effectLst/>
                <a:uFillTx/>
                <a:latin typeface="Courier New"/>
              </a:rPr>
              <a:t>MITSUE PROJECT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4"/>
          <p:cNvSpPr/>
          <p:nvPr/>
        </p:nvSpPr>
        <p:spPr>
          <a:xfrm>
            <a:off x="1645920" y="91440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§ 09 · </a:t>
            </a:r>
            <a:r>
              <a:rPr lang="ja-JP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時期と現状 </a:t>
            </a:r>
            <a:r>
              <a:rPr lang="en-US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/ § 09 · TIMELINE AND STATUS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5"/>
          <p:cNvSpPr/>
          <p:nvPr/>
        </p:nvSpPr>
        <p:spPr>
          <a:xfrm>
            <a:off x="822960" y="1600200"/>
            <a:ext cx="1664136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ja-JP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計画初期段階。試験導入の現実的な時期は</a:t>
            </a:r>
            <a:r>
              <a:rPr lang="en-US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2028</a:t>
            </a:r>
            <a:r>
              <a:rPr lang="ja-JP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年初め頃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67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Early planning, with a realistic trial window around early 2028</a:t>
            </a:r>
            <a:endParaRPr lang="en-US" sz="2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6"/>
          <p:cNvSpPr/>
          <p:nvPr/>
        </p:nvSpPr>
        <p:spPr>
          <a:xfrm>
            <a:off x="822960" y="9646920"/>
            <a:ext cx="1280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コマツ様向け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· Teams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会議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2026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年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10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月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27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日 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|  PREPARED FOR KOMATSU LTD. · TEAMS MEETING 27 OCT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7"/>
          <p:cNvSpPr/>
          <p:nvPr/>
        </p:nvSpPr>
        <p:spPr>
          <a:xfrm>
            <a:off x="14904720" y="9646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r" defTabSz="457200">
              <a:lnSpc>
                <a:spcPct val="11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Courier New"/>
              </a:rPr>
              <a:t>10 / 12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 8"/>
          <p:cNvSpPr/>
          <p:nvPr/>
        </p:nvSpPr>
        <p:spPr>
          <a:xfrm>
            <a:off x="1188720" y="4983480"/>
            <a:ext cx="15909840" cy="72360"/>
          </a:xfrm>
          <a:prstGeom prst="rect">
            <a:avLst/>
          </a:prstGeom>
          <a:solidFill>
            <a:srgbClr val="4C55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Oval 9"/>
          <p:cNvSpPr/>
          <p:nvPr/>
        </p:nvSpPr>
        <p:spPr>
          <a:xfrm>
            <a:off x="1051560" y="4754880"/>
            <a:ext cx="502200" cy="502200"/>
          </a:xfrm>
          <a:prstGeom prst="ellipse">
            <a:avLst/>
          </a:prstGeom>
          <a:solidFill>
            <a:srgbClr val="2F4A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10"/>
          <p:cNvSpPr/>
          <p:nvPr/>
        </p:nvSpPr>
        <p:spPr>
          <a:xfrm>
            <a:off x="822960" y="3657600"/>
            <a:ext cx="3199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000" b="1" u="none" strike="noStrike">
                <a:solidFill>
                  <a:srgbClr val="2F4A37"/>
                </a:solidFill>
                <a:effectLst/>
                <a:uFillTx/>
                <a:latin typeface="Yu Gothic"/>
                <a:ea typeface="Yu Gothic"/>
              </a:rPr>
              <a:t>現在 </a:t>
            </a:r>
            <a:r>
              <a:rPr lang="en-US" sz="2000" b="1" u="none" strike="noStrike">
                <a:solidFill>
                  <a:srgbClr val="2F4A37"/>
                </a:solidFill>
                <a:effectLst/>
                <a:uFillTx/>
                <a:latin typeface="Yu Gothic"/>
                <a:ea typeface="Yu Gothic"/>
              </a:rPr>
              <a:t>/ NOW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11"/>
          <p:cNvSpPr/>
          <p:nvPr/>
        </p:nvSpPr>
        <p:spPr>
          <a:xfrm>
            <a:off x="822960" y="5486400"/>
            <a:ext cx="3199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4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フェーズ</a:t>
            </a:r>
            <a:r>
              <a:rPr lang="en-US" sz="24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0 / Phase 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12"/>
          <p:cNvSpPr/>
          <p:nvPr/>
        </p:nvSpPr>
        <p:spPr>
          <a:xfrm>
            <a:off x="822960" y="6263640"/>
            <a:ext cx="310824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9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地域の信頼づくり、設置場所・燃料の協議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Local trust, site and fuel talks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Oval 13"/>
          <p:cNvSpPr/>
          <p:nvPr/>
        </p:nvSpPr>
        <p:spPr>
          <a:xfrm>
            <a:off x="4434840" y="4754880"/>
            <a:ext cx="502200" cy="502200"/>
          </a:xfrm>
          <a:prstGeom prst="ellipse">
            <a:avLst/>
          </a:prstGeom>
          <a:solidFill>
            <a:srgbClr val="2F4A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14"/>
          <p:cNvSpPr/>
          <p:nvPr/>
        </p:nvSpPr>
        <p:spPr>
          <a:xfrm>
            <a:off x="4206240" y="3657600"/>
            <a:ext cx="3199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000" b="1" u="none" strike="noStrike">
                <a:solidFill>
                  <a:srgbClr val="2F4A37"/>
                </a:solidFill>
                <a:effectLst/>
                <a:uFillTx/>
                <a:latin typeface="Yu Gothic"/>
                <a:ea typeface="Yu Gothic"/>
              </a:rPr>
              <a:t>次 </a:t>
            </a:r>
            <a:r>
              <a:rPr lang="en-US" sz="2000" b="1" u="none" strike="noStrike">
                <a:solidFill>
                  <a:srgbClr val="2F4A37"/>
                </a:solidFill>
                <a:effectLst/>
                <a:uFillTx/>
                <a:latin typeface="Yu Gothic"/>
                <a:ea typeface="Yu Gothic"/>
              </a:rPr>
              <a:t>/ NEXT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15"/>
          <p:cNvSpPr/>
          <p:nvPr/>
        </p:nvSpPr>
        <p:spPr>
          <a:xfrm>
            <a:off x="4206240" y="5486400"/>
            <a:ext cx="3199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8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プロトタイプ </a:t>
            </a:r>
            <a:r>
              <a:rPr lang="en-US" sz="18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/ Prototype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16"/>
          <p:cNvSpPr/>
          <p:nvPr/>
        </p:nvSpPr>
        <p:spPr>
          <a:xfrm>
            <a:off x="4206240" y="6263640"/>
            <a:ext cx="310824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9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地元の林業拠点に</a:t>
            </a:r>
            <a:r>
              <a:rPr lang="en-US" sz="19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50 </a:t>
            </a:r>
            <a:r>
              <a:rPr lang="en-US" sz="19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kWe CHP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50 kWe CHP at a local forestry site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Oval 17"/>
          <p:cNvSpPr/>
          <p:nvPr/>
        </p:nvSpPr>
        <p:spPr>
          <a:xfrm>
            <a:off x="7818120" y="4754880"/>
            <a:ext cx="502200" cy="502200"/>
          </a:xfrm>
          <a:prstGeom prst="ellipse">
            <a:avLst/>
          </a:prstGeom>
          <a:solidFill>
            <a:srgbClr val="2F4A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18"/>
          <p:cNvSpPr/>
          <p:nvPr/>
        </p:nvSpPr>
        <p:spPr>
          <a:xfrm>
            <a:off x="7589520" y="3657600"/>
            <a:ext cx="3199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000" b="1" u="none" strike="noStrike">
                <a:solidFill>
                  <a:srgbClr val="2F4A37"/>
                </a:solidFill>
                <a:effectLst/>
                <a:uFillTx/>
                <a:latin typeface="Yu Gothic"/>
                <a:ea typeface="Yu Gothic"/>
              </a:rPr>
              <a:t>約</a:t>
            </a:r>
            <a:r>
              <a:rPr lang="en-US" sz="2000" b="1" u="none" strike="noStrike">
                <a:solidFill>
                  <a:srgbClr val="2F4A37"/>
                </a:solidFill>
                <a:effectLst/>
                <a:uFillTx/>
                <a:latin typeface="Yu Gothic"/>
                <a:ea typeface="Yu Gothic"/>
              </a:rPr>
              <a:t>1</a:t>
            </a:r>
            <a:r>
              <a:rPr lang="ja-JP" sz="2000" b="1" u="none" strike="noStrike">
                <a:solidFill>
                  <a:srgbClr val="2F4A37"/>
                </a:solidFill>
                <a:effectLst/>
                <a:uFillTx/>
                <a:latin typeface="Yu Gothic"/>
                <a:ea typeface="Yu Gothic"/>
              </a:rPr>
              <a:t>年後 </a:t>
            </a:r>
            <a:r>
              <a:rPr lang="en-US" sz="2000" b="1" u="none" strike="noStrike">
                <a:solidFill>
                  <a:srgbClr val="2F4A37"/>
                </a:solidFill>
                <a:effectLst/>
                <a:uFillTx/>
                <a:latin typeface="Yu Gothic"/>
                <a:ea typeface="Yu Gothic"/>
              </a:rPr>
              <a:t>/ ≈ 1 YEAR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19"/>
          <p:cNvSpPr/>
          <p:nvPr/>
        </p:nvSpPr>
        <p:spPr>
          <a:xfrm>
            <a:off x="7589520" y="5486400"/>
            <a:ext cx="3199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4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次の一歩 </a:t>
            </a:r>
            <a:r>
              <a:rPr lang="en-US" sz="24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/ Next step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20"/>
          <p:cNvSpPr/>
          <p:nvPr/>
        </p:nvSpPr>
        <p:spPr>
          <a:xfrm>
            <a:off x="7589520" y="6263640"/>
            <a:ext cx="310824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9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約</a:t>
            </a:r>
            <a:r>
              <a:rPr lang="en-US" sz="19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50 kW</a:t>
            </a:r>
            <a:r>
              <a:rPr lang="ja-JP" sz="19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の小規模計算負荷。設置場所は未定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Small ≈ 50 kW compute load; site undecided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Oval 21"/>
          <p:cNvSpPr/>
          <p:nvPr/>
        </p:nvSpPr>
        <p:spPr>
          <a:xfrm>
            <a:off x="11201400" y="4754880"/>
            <a:ext cx="502200" cy="502200"/>
          </a:xfrm>
          <a:prstGeom prst="ellipse">
            <a:avLst/>
          </a:prstGeom>
          <a:solidFill>
            <a:srgbClr val="C46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22"/>
          <p:cNvSpPr/>
          <p:nvPr/>
        </p:nvSpPr>
        <p:spPr>
          <a:xfrm>
            <a:off x="10972800" y="3657600"/>
            <a:ext cx="3199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2028</a:t>
            </a:r>
            <a:r>
              <a:rPr lang="ja-JP" sz="1900" b="1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年初め </a:t>
            </a:r>
            <a:r>
              <a:rPr lang="en-US" sz="1900" b="1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/ EARLY 2028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23"/>
          <p:cNvSpPr/>
          <p:nvPr/>
        </p:nvSpPr>
        <p:spPr>
          <a:xfrm>
            <a:off x="10972800" y="5486400"/>
            <a:ext cx="3199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95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CTL</a:t>
            </a:r>
            <a:r>
              <a:rPr lang="ja-JP" sz="195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試験導入 </a:t>
            </a:r>
            <a:r>
              <a:rPr lang="en-US" sz="195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/ CTL trial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24"/>
          <p:cNvSpPr/>
          <p:nvPr/>
        </p:nvSpPr>
        <p:spPr>
          <a:xfrm>
            <a:off x="10972800" y="6263640"/>
            <a:ext cx="310824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9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2027</a:t>
            </a:r>
            <a:r>
              <a:rPr lang="ja-JP" sz="19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年度末が現実的な時期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End of FY2027 is our realistic window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Oval 25"/>
          <p:cNvSpPr/>
          <p:nvPr/>
        </p:nvSpPr>
        <p:spPr>
          <a:xfrm>
            <a:off x="14584680" y="4754880"/>
            <a:ext cx="502200" cy="502200"/>
          </a:xfrm>
          <a:prstGeom prst="ellipse">
            <a:avLst/>
          </a:prstGeom>
          <a:solidFill>
            <a:srgbClr val="2F4A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26"/>
          <p:cNvSpPr/>
          <p:nvPr/>
        </p:nvSpPr>
        <p:spPr>
          <a:xfrm>
            <a:off x="14356080" y="3657600"/>
            <a:ext cx="3199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000" b="1" u="none" strike="noStrike">
                <a:solidFill>
                  <a:srgbClr val="2F4A37"/>
                </a:solidFill>
                <a:effectLst/>
                <a:uFillTx/>
                <a:latin typeface="Yu Gothic"/>
                <a:ea typeface="Yu Gothic"/>
              </a:rPr>
              <a:t>その後 </a:t>
            </a:r>
            <a:r>
              <a:rPr lang="en-US" sz="2000" b="1" u="none" strike="noStrike">
                <a:solidFill>
                  <a:srgbClr val="2F4A37"/>
                </a:solidFill>
                <a:effectLst/>
                <a:uFillTx/>
                <a:latin typeface="Yu Gothic"/>
                <a:ea typeface="Yu Gothic"/>
              </a:rPr>
              <a:t>/ LATER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27"/>
          <p:cNvSpPr/>
          <p:nvPr/>
        </p:nvSpPr>
        <p:spPr>
          <a:xfrm>
            <a:off x="14356080" y="5486400"/>
            <a:ext cx="3199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1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本格規模 </a:t>
            </a:r>
            <a:r>
              <a:rPr lang="en-US" sz="21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/ Full scale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28"/>
          <p:cNvSpPr/>
          <p:nvPr/>
        </p:nvSpPr>
        <p:spPr>
          <a:xfrm>
            <a:off x="14356080" y="6263640"/>
            <a:ext cx="310824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9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約</a:t>
            </a:r>
            <a:r>
              <a:rPr lang="en-US" sz="19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1.2 MWe</a:t>
            </a:r>
            <a:r>
              <a:rPr lang="ja-JP" sz="19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の</a:t>
            </a:r>
            <a:r>
              <a:rPr lang="en-US" sz="19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CHP</a:t>
            </a:r>
            <a:r>
              <a:rPr lang="ja-JP" sz="19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と本格的な</a:t>
            </a:r>
            <a:r>
              <a:rPr lang="en-US" sz="19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AI</a:t>
            </a:r>
            <a:r>
              <a:rPr lang="ja-JP" sz="19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データセンター。時期は未定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≈ 1.2 MWe CHP and a full-scale AI data center; no fixed date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29"/>
          <p:cNvSpPr/>
          <p:nvPr/>
        </p:nvSpPr>
        <p:spPr>
          <a:xfrm>
            <a:off x="822960" y="7818120"/>
            <a:ext cx="16641360" cy="1416600"/>
          </a:xfrm>
          <a:prstGeom prst="rect">
            <a:avLst/>
          </a:prstGeom>
          <a:solidFill>
            <a:srgbClr val="ECE3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30"/>
          <p:cNvSpPr/>
          <p:nvPr/>
        </p:nvSpPr>
        <p:spPr>
          <a:xfrm>
            <a:off x="1097280" y="7955280"/>
            <a:ext cx="160927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2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現状</a:t>
            </a:r>
            <a:r>
              <a:rPr lang="en-US" sz="22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:</a:t>
            </a:r>
            <a:r>
              <a:rPr lang="ja-JP" sz="22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契約・購入・資金の確約はありません。時期は目標であり約束ではなく、本格施設の時期は未定です。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28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Status: no contracts, purchases or funding are committed. The dates are targets, not promises, and the full-scale facility has no fixed date.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 1"/>
          <p:cNvSpPr/>
          <p:nvPr/>
        </p:nvSpPr>
        <p:spPr>
          <a:xfrm>
            <a:off x="0" y="0"/>
            <a:ext cx="18287280" cy="10286280"/>
          </a:xfrm>
          <a:prstGeom prst="rect">
            <a:avLst/>
          </a:prstGeom>
          <a:solidFill>
            <a:srgbClr val="F3EC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2"/>
          <p:cNvSpPr/>
          <p:nvPr/>
        </p:nvSpPr>
        <p:spPr>
          <a:xfrm>
            <a:off x="822960" y="5029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4000" b="0" u="none" strike="noStrike">
                <a:solidFill>
                  <a:srgbClr val="2F4A37"/>
                </a:solidFill>
                <a:effectLst/>
                <a:uFillTx/>
                <a:latin typeface="Noto Serif JP"/>
              </a:rPr>
              <a:t>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3"/>
          <p:cNvSpPr/>
          <p:nvPr/>
        </p:nvSpPr>
        <p:spPr>
          <a:xfrm>
            <a:off x="1645920" y="56700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4C554F"/>
                </a:solidFill>
                <a:effectLst/>
                <a:uFillTx/>
                <a:latin typeface="Courier New"/>
              </a:rPr>
              <a:t>MITSUE PROJECT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4"/>
          <p:cNvSpPr/>
          <p:nvPr/>
        </p:nvSpPr>
        <p:spPr>
          <a:xfrm>
            <a:off x="1645920" y="91440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§ 10 · </a:t>
            </a:r>
            <a:r>
              <a:rPr lang="ja-JP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連携のかたち </a:t>
            </a:r>
            <a:r>
              <a:rPr lang="en-US" sz="135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/ § 10 · WORKING TOGETHER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5"/>
          <p:cNvSpPr/>
          <p:nvPr/>
        </p:nvSpPr>
        <p:spPr>
          <a:xfrm>
            <a:off x="822960" y="1600200"/>
            <a:ext cx="1664136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ja-JP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コマツ様との連携の</a:t>
            </a:r>
            <a:r>
              <a:rPr lang="en-US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3</a:t>
            </a:r>
            <a:r>
              <a:rPr lang="ja-JP" sz="4600" b="1" u="none" strike="noStrike">
                <a:solidFill>
                  <a:srgbClr val="1F2A24"/>
                </a:solidFill>
                <a:effectLst/>
                <a:uFillTx/>
                <a:latin typeface="Yu Mincho"/>
                <a:ea typeface="Yu Mincho"/>
              </a:rPr>
              <a:t>つのかたち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67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Three ways we could work with Komatsu</a:t>
            </a:r>
            <a:endParaRPr lang="en-US" sz="2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6"/>
          <p:cNvSpPr/>
          <p:nvPr/>
        </p:nvSpPr>
        <p:spPr>
          <a:xfrm>
            <a:off x="822960" y="9646920"/>
            <a:ext cx="1280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コマツ様向け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· Teams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会議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2026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年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10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月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27</a:t>
            </a:r>
            <a:r>
              <a:rPr lang="ja-JP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日  </a:t>
            </a: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|  PREPARED FOR KOMATSU LTD. · TEAMS MEETING 27 OCT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7"/>
          <p:cNvSpPr/>
          <p:nvPr/>
        </p:nvSpPr>
        <p:spPr>
          <a:xfrm>
            <a:off x="14904720" y="9646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r" defTabSz="457200">
              <a:lnSpc>
                <a:spcPct val="11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4C554F"/>
                </a:solidFill>
                <a:effectLst/>
                <a:uFillTx/>
                <a:latin typeface="Courier New"/>
              </a:rPr>
              <a:t>11 / 12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ectangle 8"/>
          <p:cNvSpPr/>
          <p:nvPr/>
        </p:nvSpPr>
        <p:spPr>
          <a:xfrm>
            <a:off x="822960" y="3566160"/>
            <a:ext cx="5439960" cy="5668560"/>
          </a:xfrm>
          <a:prstGeom prst="rect">
            <a:avLst/>
          </a:prstGeom>
          <a:solidFill>
            <a:srgbClr val="ECE3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Rectangle 9"/>
          <p:cNvSpPr/>
          <p:nvPr/>
        </p:nvSpPr>
        <p:spPr>
          <a:xfrm>
            <a:off x="822960" y="3566160"/>
            <a:ext cx="109080" cy="5668560"/>
          </a:xfrm>
          <a:prstGeom prst="rect">
            <a:avLst/>
          </a:prstGeom>
          <a:solidFill>
            <a:srgbClr val="2F4A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10"/>
          <p:cNvSpPr/>
          <p:nvPr/>
        </p:nvSpPr>
        <p:spPr>
          <a:xfrm>
            <a:off x="1143000" y="3749040"/>
            <a:ext cx="489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225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1  </a:t>
            </a:r>
            <a:r>
              <a:rPr lang="ja-JP" sz="225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まず試験導入 </a:t>
            </a:r>
            <a:r>
              <a:rPr lang="en-US" sz="225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/ 1  Trial first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11"/>
          <p:cNvSpPr/>
          <p:nvPr/>
        </p:nvSpPr>
        <p:spPr>
          <a:xfrm>
            <a:off x="1143000" y="4617720"/>
            <a:ext cx="4891320" cy="44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御杖村を</a:t>
            </a:r>
            <a:r>
              <a:rPr lang="en-US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CTL</a:t>
            </a:r>
            <a:r>
              <a:rPr lang="ja-JP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プログラムの追加の試験・訓練の場として。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39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Mitsue as an additional trial or training site for the CTL programme.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傾斜・アクセス・搬出に関する所見を共有し、地元オペレーターの育成にも協力します。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39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We would share observations on slope, access and extraction, and help train a local operator.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12"/>
          <p:cNvSpPr/>
          <p:nvPr/>
        </p:nvSpPr>
        <p:spPr>
          <a:xfrm>
            <a:off x="6446520" y="3566160"/>
            <a:ext cx="5439960" cy="5668560"/>
          </a:xfrm>
          <a:prstGeom prst="rect">
            <a:avLst/>
          </a:prstGeom>
          <a:solidFill>
            <a:srgbClr val="ECE3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Rectangle 13"/>
          <p:cNvSpPr/>
          <p:nvPr/>
        </p:nvSpPr>
        <p:spPr>
          <a:xfrm>
            <a:off x="6446520" y="3566160"/>
            <a:ext cx="109080" cy="5668560"/>
          </a:xfrm>
          <a:prstGeom prst="rect">
            <a:avLst/>
          </a:prstGeom>
          <a:solidFill>
            <a:srgbClr val="3A7A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14"/>
          <p:cNvSpPr/>
          <p:nvPr/>
        </p:nvSpPr>
        <p:spPr>
          <a:xfrm>
            <a:off x="6766560" y="3749040"/>
            <a:ext cx="489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2250" b="1" u="none" strike="noStrike">
                <a:solidFill>
                  <a:srgbClr val="3A7A5A"/>
                </a:solidFill>
                <a:effectLst/>
                <a:uFillTx/>
                <a:latin typeface="Yu Mincho"/>
                <a:ea typeface="Yu Mincho"/>
              </a:rPr>
              <a:t>2  </a:t>
            </a:r>
            <a:r>
              <a:rPr lang="ja-JP" sz="2250" b="1" u="none" strike="noStrike">
                <a:solidFill>
                  <a:srgbClr val="3A7A5A"/>
                </a:solidFill>
                <a:effectLst/>
                <a:uFillTx/>
                <a:latin typeface="Yu Mincho"/>
                <a:ea typeface="Yu Mincho"/>
              </a:rPr>
              <a:t>購入・リースは後で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3A7A5A"/>
                </a:solidFill>
                <a:effectLst/>
                <a:uFillTx/>
                <a:latin typeface="Yu Gothic"/>
                <a:ea typeface="Yu Gothic"/>
              </a:rPr>
              <a:t>2  Purchase or lease later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15"/>
          <p:cNvSpPr/>
          <p:nvPr/>
        </p:nvSpPr>
        <p:spPr>
          <a:xfrm>
            <a:off x="6766560" y="4617720"/>
            <a:ext cx="4891320" cy="44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試験で適合が確認でき、資金の手当てがついた場合に限ります。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39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Only if the trial shows a good fit and financing is in place.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4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現時点ではいずれも確約していません。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39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Neither is committed today.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ectangle 16"/>
          <p:cNvSpPr/>
          <p:nvPr/>
        </p:nvSpPr>
        <p:spPr>
          <a:xfrm>
            <a:off x="12070080" y="3566160"/>
            <a:ext cx="5439960" cy="5668560"/>
          </a:xfrm>
          <a:prstGeom prst="rect">
            <a:avLst/>
          </a:prstGeom>
          <a:solidFill>
            <a:srgbClr val="ECE3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Rectangle 17"/>
          <p:cNvSpPr/>
          <p:nvPr/>
        </p:nvSpPr>
        <p:spPr>
          <a:xfrm>
            <a:off x="12070080" y="3566160"/>
            <a:ext cx="109080" cy="5668560"/>
          </a:xfrm>
          <a:prstGeom prst="rect">
            <a:avLst/>
          </a:prstGeom>
          <a:solidFill>
            <a:srgbClr val="C46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18"/>
          <p:cNvSpPr/>
          <p:nvPr/>
        </p:nvSpPr>
        <p:spPr>
          <a:xfrm>
            <a:off x="12390120" y="3749040"/>
            <a:ext cx="489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2000" b="1" u="none" strike="noStrike">
                <a:solidFill>
                  <a:srgbClr val="C4663A"/>
                </a:solidFill>
                <a:effectLst/>
                <a:uFillTx/>
                <a:latin typeface="Yu Mincho"/>
                <a:ea typeface="Yu Mincho"/>
              </a:rPr>
              <a:t>3  </a:t>
            </a:r>
            <a:r>
              <a:rPr lang="ja-JP" sz="2000" b="1" u="none" strike="noStrike">
                <a:solidFill>
                  <a:srgbClr val="C4663A"/>
                </a:solidFill>
                <a:effectLst/>
                <a:uFillTx/>
                <a:latin typeface="Yu Mincho"/>
                <a:ea typeface="Yu Mincho"/>
              </a:rPr>
              <a:t>共有できる物語 </a:t>
            </a:r>
            <a:r>
              <a:rPr lang="en-US" sz="2000" b="1" u="none" strike="noStrike">
                <a:solidFill>
                  <a:srgbClr val="C4663A"/>
                </a:solidFill>
                <a:effectLst/>
                <a:uFillTx/>
                <a:latin typeface="Yu Mincho"/>
                <a:ea typeface="Yu Mincho"/>
              </a:rPr>
              <a:t>/ 3  A shared story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9"/>
          <p:cNvSpPr/>
          <p:nvPr/>
        </p:nvSpPr>
        <p:spPr>
          <a:xfrm>
            <a:off x="12390120" y="4617720"/>
            <a:ext cx="4891320" cy="44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2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国産林業機械が、広葉樹の植林、地域のバイオマスエネルギー、村の活性化を支える具体的な事例。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28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A concrete case of Japanese-made forestry machinery supporting broadleaf reforestation, local biomass energy and village revitalisation.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2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事例紹介、共同広報、視察の受け入れなど、コマツ様のご都合に合わせた範囲で。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28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Case studies, joint publicity, hosting visitors, at whatever level suits Komatsu.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ja-JP" sz="22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そして、他の多くの村へのひな形にもなります。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901"/>
              </a:spcAft>
            </a:pPr>
            <a:r>
              <a:rPr lang="en-US" sz="128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And a template for many more villages.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1"/>
          <p:cNvSpPr/>
          <p:nvPr/>
        </p:nvSpPr>
        <p:spPr>
          <a:xfrm>
            <a:off x="0" y="0"/>
            <a:ext cx="18287280" cy="10286280"/>
          </a:xfrm>
          <a:prstGeom prst="rect">
            <a:avLst/>
          </a:prstGeom>
          <a:solidFill>
            <a:srgbClr val="2F4A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2"/>
          <p:cNvSpPr/>
          <p:nvPr/>
        </p:nvSpPr>
        <p:spPr>
          <a:xfrm>
            <a:off x="822960" y="5029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4000" b="0" u="none" strike="noStrike">
                <a:solidFill>
                  <a:srgbClr val="F3ECE0"/>
                </a:solidFill>
                <a:effectLst/>
                <a:uFillTx/>
                <a:latin typeface="Noto Serif JP"/>
              </a:rPr>
              <a:t>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3"/>
          <p:cNvSpPr/>
          <p:nvPr/>
        </p:nvSpPr>
        <p:spPr>
          <a:xfrm>
            <a:off x="1645920" y="56700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F3B486"/>
                </a:solidFill>
                <a:effectLst/>
                <a:uFillTx/>
                <a:latin typeface="Courier New"/>
              </a:rPr>
              <a:t>MITSUE PROJECT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4"/>
          <p:cNvSpPr/>
          <p:nvPr/>
        </p:nvSpPr>
        <p:spPr>
          <a:xfrm>
            <a:off x="1645920" y="91440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§ 11 · </a:t>
            </a:r>
            <a:r>
              <a:rPr lang="ja-JP" sz="135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次のステップ </a:t>
            </a:r>
            <a:r>
              <a:rPr lang="en-US" sz="135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/ § 11 · NEXT STEPS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5"/>
          <p:cNvSpPr/>
          <p:nvPr/>
        </p:nvSpPr>
        <p:spPr>
          <a:xfrm>
            <a:off x="822960" y="1600200"/>
            <a:ext cx="1664136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ja-JP" sz="4600" b="1" u="none" strike="noStrike">
                <a:solidFill>
                  <a:srgbClr val="F3ECE0"/>
                </a:solidFill>
                <a:effectLst/>
                <a:uFillTx/>
                <a:latin typeface="Yu Mincho"/>
                <a:ea typeface="Yu Mincho"/>
              </a:rPr>
              <a:t>本日お願いしたいこと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67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What we would like from today</a:t>
            </a:r>
            <a:endParaRPr lang="en-US" sz="2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6"/>
          <p:cNvSpPr/>
          <p:nvPr/>
        </p:nvSpPr>
        <p:spPr>
          <a:xfrm>
            <a:off x="822960" y="9646920"/>
            <a:ext cx="1280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13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コマツ様向け </a:t>
            </a:r>
            <a:r>
              <a:rPr lang="en-US" sz="13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· Teams</a:t>
            </a:r>
            <a:r>
              <a:rPr lang="ja-JP" sz="13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会議 </a:t>
            </a:r>
            <a:r>
              <a:rPr lang="en-US" sz="13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2026</a:t>
            </a:r>
            <a:r>
              <a:rPr lang="ja-JP" sz="13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年</a:t>
            </a:r>
            <a:r>
              <a:rPr lang="en-US" sz="13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10</a:t>
            </a:r>
            <a:r>
              <a:rPr lang="ja-JP" sz="13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月</a:t>
            </a:r>
            <a:r>
              <a:rPr lang="en-US" sz="13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27</a:t>
            </a:r>
            <a:r>
              <a:rPr lang="ja-JP" sz="13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日  </a:t>
            </a:r>
            <a:r>
              <a:rPr lang="en-US" sz="1300" b="0" u="none" strike="noStrike">
                <a:solidFill>
                  <a:srgbClr val="F3B486"/>
                </a:solidFill>
                <a:effectLst/>
                <a:uFillTx/>
                <a:latin typeface="Yu Gothic"/>
                <a:ea typeface="Yu Gothic"/>
              </a:rPr>
              <a:t>|  PREPARED FOR KOMATSU LTD. · TEAMS MEETING 27 OCT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7"/>
          <p:cNvSpPr/>
          <p:nvPr/>
        </p:nvSpPr>
        <p:spPr>
          <a:xfrm>
            <a:off x="14904720" y="9646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r" defTabSz="457200">
              <a:lnSpc>
                <a:spcPct val="11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F3B486"/>
                </a:solidFill>
                <a:effectLst/>
                <a:uFillTx/>
                <a:latin typeface="Courier New"/>
              </a:rPr>
              <a:t>12 / 12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8"/>
          <p:cNvSpPr/>
          <p:nvPr/>
        </p:nvSpPr>
        <p:spPr>
          <a:xfrm>
            <a:off x="822960" y="3566160"/>
            <a:ext cx="9326160" cy="51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1599"/>
              </a:spcAft>
            </a:pPr>
            <a:r>
              <a:rPr lang="en-US" sz="24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1  </a:t>
            </a:r>
            <a:r>
              <a:rPr lang="ja-JP" sz="24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ご意見</a:t>
            </a:r>
            <a:r>
              <a:rPr lang="en-US" sz="24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:</a:t>
            </a:r>
            <a:r>
              <a:rPr lang="ja-JP" sz="24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試験導入は可能か、当方から何をお示しすればよいか。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599"/>
              </a:spcAft>
            </a:pPr>
            <a:r>
              <a:rPr lang="en-US" sz="139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1  Your view: is a trial feasible, and what would you need to see from us?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599"/>
              </a:spcAft>
            </a:pPr>
            <a:r>
              <a:rPr lang="en-US" sz="24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2  </a:t>
            </a:r>
            <a:r>
              <a:rPr lang="ja-JP" sz="24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現場でお見せできるものが整った段階で、地元の林業事業者とともに村の森林をご視察いただくこと。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599"/>
              </a:spcAft>
            </a:pPr>
            <a:r>
              <a:rPr lang="en-US" sz="139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2  A later site visit to the village's forests with local forestry operators, once we have something to show on the ground.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599"/>
              </a:spcAft>
            </a:pPr>
            <a:r>
              <a:rPr lang="en-US" sz="24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3  </a:t>
            </a:r>
            <a:r>
              <a:rPr lang="ja-JP" sz="24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機種選定、傾斜・作業道の指針について、適切なコマツのご担当者のご紹介。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599"/>
              </a:spcAft>
            </a:pPr>
            <a:r>
              <a:rPr lang="en-US" sz="139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3  The right Komatsu contacts for model selection and slope and trail guidance.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599"/>
              </a:spcAft>
            </a:pPr>
            <a:r>
              <a:rPr lang="en-US" sz="24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4  </a:t>
            </a:r>
            <a:r>
              <a:rPr lang="ja-JP" sz="240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オペレーターを夢見る若い女性のための、本人の時期に合わせた訓練の選択肢と、林業に女性をより多く迎える方法。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599"/>
              </a:spcAft>
            </a:pPr>
            <a:r>
              <a:rPr lang="en-US" sz="1390" b="0" u="none" strike="noStrike">
                <a:solidFill>
                  <a:srgbClr val="F3ECE0"/>
                </a:solidFill>
                <a:effectLst/>
                <a:uFillTx/>
                <a:latin typeface="Yu Gothic"/>
                <a:ea typeface="Yu Gothic"/>
              </a:rPr>
              <a:t>4  Training options for a young woman who dreams of becoming an operator, at a time that suits her, and how to bring more women into forestry work.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ectangle 9"/>
          <p:cNvSpPr/>
          <p:nvPr/>
        </p:nvSpPr>
        <p:spPr>
          <a:xfrm>
            <a:off x="10698480" y="3566160"/>
            <a:ext cx="6765840" cy="4479840"/>
          </a:xfrm>
          <a:prstGeom prst="rect">
            <a:avLst/>
          </a:prstGeom>
          <a:solidFill>
            <a:srgbClr val="F3EC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10"/>
          <p:cNvSpPr/>
          <p:nvPr/>
        </p:nvSpPr>
        <p:spPr>
          <a:xfrm>
            <a:off x="10972800" y="3794760"/>
            <a:ext cx="630864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defTabSz="457200">
              <a:lnSpc>
                <a:spcPct val="110000"/>
              </a:lnSpc>
              <a:spcAft>
                <a:spcPts val="201"/>
              </a:spcAft>
            </a:pPr>
            <a:r>
              <a:rPr lang="ja-JP" sz="2800" b="1" u="none" strike="noStrike">
                <a:solidFill>
                  <a:srgbClr val="2F4A37"/>
                </a:solidFill>
                <a:effectLst/>
                <a:uFillTx/>
                <a:latin typeface="Yu Mincho"/>
                <a:ea typeface="Yu Mincho"/>
              </a:rPr>
              <a:t>ロブ・アウデンダイク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201"/>
              </a:spcAft>
            </a:pPr>
            <a:r>
              <a:rPr lang="en-US" sz="1620" b="0" u="none" strike="noStrike">
                <a:solidFill>
                  <a:srgbClr val="2F4A37"/>
                </a:solidFill>
                <a:effectLst/>
                <a:uFillTx/>
                <a:latin typeface="Yu Gothic"/>
                <a:ea typeface="Yu Gothic"/>
              </a:rPr>
              <a:t>Rob Oudendijk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400"/>
              </a:spcAft>
            </a:pPr>
            <a:r>
              <a:rPr lang="en-US" sz="18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Mitsue-it · </a:t>
            </a:r>
            <a:r>
              <a:rPr lang="ja-JP" sz="180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御杖村 森林エネルギープロジェクト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400"/>
              </a:spcAft>
            </a:pPr>
            <a:r>
              <a:rPr lang="en-US" sz="1050" b="0" u="none" strike="noStrike">
                <a:solidFill>
                  <a:srgbClr val="4C554F"/>
                </a:solidFill>
                <a:effectLst/>
                <a:uFillTx/>
                <a:latin typeface="Yu Gothic"/>
                <a:ea typeface="Yu Gothic"/>
              </a:rPr>
              <a:t>Mitsue-it · Mitsue Village forest-energy project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lang="en-US" sz="2200" b="0" u="none" strike="noStrike">
                <a:solidFill>
                  <a:srgbClr val="1F2A24"/>
                </a:solidFill>
                <a:effectLst/>
                <a:uFillTx/>
                <a:latin typeface="Arial"/>
                <a:ea typeface="Yu Gothic"/>
              </a:rPr>
              <a:t>rob@mitsue.it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lang="en-US" sz="2200" b="0" u="none" strike="noStrike">
                <a:solidFill>
                  <a:srgbClr val="1F2A24"/>
                </a:solidFill>
                <a:effectLst/>
                <a:uFillTx/>
                <a:latin typeface="Arial"/>
                <a:ea typeface="Yu Gothic"/>
              </a:rPr>
              <a:t>+81 80-2260-5966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lang="en-US" sz="2200" b="0" u="none" strike="noStrike">
                <a:solidFill>
                  <a:srgbClr val="1F2A24"/>
                </a:solidFill>
                <a:effectLst/>
                <a:uFillTx/>
                <a:latin typeface="Arial"/>
                <a:ea typeface="Yu Gothic"/>
              </a:rPr>
              <a:t>mitsue.it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400"/>
              </a:spcAft>
            </a:pPr>
            <a:r>
              <a:rPr lang="en-US" sz="22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tinyurl.com/2xv524fz(</a:t>
            </a:r>
            <a:r>
              <a:rPr lang="ja-JP" sz="22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プロジェクトのリポジトリ</a:t>
            </a:r>
            <a:r>
              <a:rPr lang="en-US" sz="220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400"/>
              </a:spcAft>
            </a:pPr>
            <a:r>
              <a:rPr lang="en-US" sz="1280" b="0" u="none" strike="noStrike">
                <a:solidFill>
                  <a:srgbClr val="1F2A24"/>
                </a:solidFill>
                <a:effectLst/>
                <a:uFillTx/>
                <a:latin typeface="Yu Gothic"/>
                <a:ea typeface="Yu Gothic"/>
              </a:rPr>
              <a:t>tinyurl.com/2xv524fz (project repository)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ja-JP" sz="2200" b="1" u="none" strike="noStrike">
                <a:solidFill>
                  <a:srgbClr val="C4663A"/>
                </a:solidFill>
                <a:effectLst/>
                <a:uFillTx/>
                <a:latin typeface="Yu Mincho"/>
                <a:ea typeface="Yu Mincho"/>
              </a:rPr>
              <a:t>ありがとうございます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28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Thank you · </a:t>
            </a:r>
            <a:r>
              <a:rPr lang="ja-JP" sz="1280" b="0" u="none" strike="noStrike">
                <a:solidFill>
                  <a:srgbClr val="C4663A"/>
                </a:solidFill>
                <a:effectLst/>
                <a:uFillTx/>
                <a:latin typeface="Yu Gothic"/>
                <a:ea typeface="Yu Gothic"/>
              </a:rPr>
              <a:t>ありがとうございます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</TotalTime>
  <Application>LibreOffice/26.8.0.3$Linux_X86_64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2026-10-27T15:56:07Z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