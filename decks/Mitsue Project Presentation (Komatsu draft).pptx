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800" b="0"/>
              <a:t>Planned thinning volume, m³</a:t>
            </a:r>
          </a:p>
        </c:rich>
      </c:tx>
      <c:layout/>
      <c:overlay val="0"/>
    </c:title>
    <c:autoTitleDeleted val="0"/>
    <c:plotArea>
      <c:barChart>
        <c:barDir val="col"/>
        <c:grouping val="stacked"/>
        <c:ser>
          <c:idx val="0"/>
          <c:order val="0"/>
          <c:tx>
            <c:strRef>
              <c:f>Sheet1!$B$1</c:f>
              <c:strCache>
                <c:ptCount val="1"/>
                <c:pt idx="0">
                  <c:v>Cut and left in forest (伐捨)</c:v>
                </c:pt>
              </c:strCache>
            </c:strRef>
          </c:tx>
          <c:spPr>
            <a:solidFill>
              <a:srgbClr val="2F4A37"/>
            </a:solidFill>
          </c:spPr>
          <c:cat>
            <c:strRef>
              <c:f>Sheet1!$A$2:$A$4</c:f>
              <c:strCache>
                <c:ptCount val="3"/>
                <c:pt idx="0">
                  <c:v>FY2024 (R6)</c:v>
                </c:pt>
                <c:pt idx="1">
                  <c:v>FY2025 (R7)</c:v>
                </c:pt>
                <c:pt idx="2">
                  <c:v>FY2026 (R8)</c:v>
                </c:pt>
              </c:strCache>
            </c:strRef>
          </c:cat>
          <c:val>
            <c:numRef>
              <c:f>Sheet1!$B$2:$B$4</c:f>
              <c:numCache>
                <c:formatCode>General</c:formatCode>
                <c:ptCount val="3"/>
                <c:pt idx="0">
                  <c:v>6933</c:v>
                </c:pt>
                <c:pt idx="1">
                  <c:v>5431</c:v>
                </c:pt>
                <c:pt idx="2">
                  <c:v>5776</c:v>
                </c:pt>
              </c:numCache>
            </c:numRef>
          </c:val>
        </c:ser>
        <c:ser>
          <c:idx val="1"/>
          <c:order val="1"/>
          <c:tx>
            <c:strRef>
              <c:f>Sheet1!$C$1</c:f>
              <c:strCache>
                <c:ptCount val="1"/>
                <c:pt idx="0">
                  <c:v>Extracted (搬出)</c:v>
                </c:pt>
              </c:strCache>
            </c:strRef>
          </c:tx>
          <c:spPr>
            <a:solidFill>
              <a:srgbClr val="C4663A"/>
            </a:solidFill>
          </c:spPr>
          <c:cat>
            <c:strRef>
              <c:f>Sheet1!$A$2:$A$4</c:f>
              <c:strCache>
                <c:ptCount val="3"/>
                <c:pt idx="0">
                  <c:v>FY2024 (R6)</c:v>
                </c:pt>
                <c:pt idx="1">
                  <c:v>FY2025 (R7)</c:v>
                </c:pt>
                <c:pt idx="2">
                  <c:v>FY2026 (R8)</c:v>
                </c:pt>
              </c:strCache>
            </c:strRef>
          </c:cat>
          <c:val>
            <c:numRef>
              <c:f>Sheet1!$C$2:$C$4</c:f>
              <c:numCache>
                <c:formatCode>General</c:formatCode>
                <c:ptCount val="3"/>
                <c:pt idx="0">
                  <c:v>519</c:v>
                </c:pt>
                <c:pt idx="1">
                  <c:v>233</c:v>
                </c:pt>
                <c:pt idx="2">
                  <c:v>1822</c:v>
                </c:pt>
              </c:numCache>
            </c:numRef>
          </c:val>
        </c:ser>
        <c:dLbls>
          <c:numFmt formatCode="#,##0" sourceLinked="0"/>
          <c:txPr>
            <a:bodyPr/>
            <a:lstStyle/>
            <a:p>
              <a:pPr>
                <a:defRPr sz="1400">
                  <a:solidFill>
                    <a:srgbClr val="F3ECE0"/>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txPr>
          <a:bodyPr/>
          <a:lstStyle/>
          <a:p>
            <a:pPr>
              <a:defRPr sz="1600"/>
            </a:pPr>
          </a:p>
        </c:txPr>
        <c:crossAx val="-2113994440"/>
        <c:crosses val="autoZero"/>
        <c:auto val="1"/>
        <c:lblAlgn val="ctr"/>
        <c:lblOffset val="100"/>
        <c:noMultiLvlLbl val="0"/>
      </c:catAx>
      <c:valAx>
        <c:axId val="-2113994440"/>
        <c:scaling>
          <c:max val="8000.0"/>
        </c:scaling>
        <c:delete val="0"/>
        <c:axPos val="l"/>
        <c:majorTickMark val="out"/>
        <c:minorTickMark val="none"/>
        <c:tickLblPos val="nextTo"/>
        <c:txPr>
          <a:bodyPr/>
          <a:lstStyle/>
          <a:p>
            <a:pPr>
              <a:defRPr sz="1400"/>
            </a:pPr>
          </a:p>
        </c:txPr>
        <c:crossAx val="-2068027336"/>
        <c:crosses val="autoZero"/>
      </c:valAx>
    </c:plotArea>
    <c:legend>
      <c:legendPos val="b"/>
      <c:overlay val="0"/>
      <c:txPr>
        <a:bodyPr/>
        <a:lstStyle/>
        <a:p>
          <a:pPr>
            <a:defRPr sz="16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Komatsu attendees: Tokunaga, Saitou, Yagami (Business Planning Dept, Forest and Agriculture Promotion Division). Keep to ~30 min of slides so there is time for questions. Everything here is early planning; nothing is contracted.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Population and forest cover come from the existing project deck (Oct 2026). 'Independent initiative' wording matches what we told Yagami-san on 12 Oct.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computed from docs/energy-forest/workforce/village_thinning_plan_R6-R8.xlsx (source scan from village hall, 8 Oct 2026). R6 6,933+519; R7 5,431+233; R8 5,776+1,822 m3. Totals 18,140 cut&amp;leave + 2,574 extracted = 20,714 m3; 222 ha; 113 parcels (菅野, 神末, 土屋原, 桃俣). These are PLANS, not realised harvests. The 'why' is our interpretation, not stated in the plan. Cooperative crew: small, few young people (Rob, 19 Oct 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Fuel numbers: docs/energy-forest/chp-technical/mitsue_50kwe_prototype_fuel_demand.md v1.1 (planning figure 1.3-1.8 t dry/day, 450-600 t/yr at 8,000 h). No gasifier maker selected. Do not mention unit makers unless asked. Replanting: village default is native broadleaf; kiri is one landowner's wish, not the project plan.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PLACEHOLDER: Rob is asking the cooperative for site photos on 23 Oct. Replace the grey box with photos (or remove it if none by 27 Oct). The cooperative is anonymised on purpose (see 2 Oct commit 'Anonymise forest cooperative in public docs'); do not name it in the deck. Site is 'probable', not decided; coop is 'keen on CHP', less sure about AI data center.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docs/energy-forest/workforce/mitsue_forest_workforce_energy_plan.md. Recommended baseline = doubled crew (~140 ha/yr) -&gt; ~50% of forest over 25 yr -&gt; ~1,150 kWe, ~8,000 MWh/yr, fuel ~13,000 dry t/yr; built as 2 x ~0.6 MWe. The 23x is 1,150/50. The data-centre size is NOT fixed in our documents (the earlier baseline load was ~18 kW; Phase 1 ~50 kW). Do not quote an MW figure for the data centre. Grid: 2x0.6 MWe on one site is treated as &gt;1,000 kW (FIP-only, no splitting). Phase 4 capex (~JPY 800M CHP + ~120M fuel prep) is outside the EVM baseline; do not quote money to Komatsu.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for 10,093,422 ha planted forest (人工林), national, as of 31 March 2022: Forestry Agency, https://www.rinya.maff.go.jp/j/keikaku/genkyou/r4/1.html. 'Much of it is now ready to harvest' is qualitative: I did NOT verify the age-class share (one Kanto Forest Office document says ~60% of planted forest is 51+ years old, but that page was regional and I could not confirm the national figure). 'Early conversations in other forest villages' = e.g. the 25 Aug 2026 Tenkawa visit; do not name villages or imply commitments. Project principle: methods and data published openly so other municipalities can copy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Consistent with the 12 Oct reply to Yagami-san (901XC + C93 seen in video only; 931XC/855 trial programme). C93 is rated 150-370 mm DBH; our stands are 50-75 years old and long unmanaged, so some stems may be bigger. Slope/trail-spacing questions were asked in the original 12 Sep inquiry and are still unanswered.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the young person is deliberately NOT named. She is Kinjo-san's daughter and works at the cooperative; Kinjo said on 19 Oct that she is eager to learn heavy machinery such as the 931XC. Rob wants to promote women in the forestry workforce (positive angle for Komatsu). Keep it to workforce diversity; the deck lists non-partisan as an operating principle, so no political references on the slide. No national share of women in forestry is quoted because it is unverified. Confirm with Kinjo-san and her daughter before naming her or describing her in more detail, and keep to her qualities, never her looks. Nothing is decided: no training slot, licence route or machine access has been checked (see earlier note of 9 Oct). Cooperative crew: small, few young people (Rob, 19 Oct 2026); the workforce plan lists the crew as small and young (average age ~33), so do not quote an 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Matches the 12 Oct reply: prototype ~50 kWe first; ~50 kW AI data centre within about a year (Phase 1); full facility later with no date; CTL trial ~early 2028 (end FY2027). Site for the compute load is undecided (old school lease closed 24 Sep with another party). Do not state a funding total; ¥0 committed.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three-part answer given to question 5 of Yagami-san's email (purchase or CSR): both possible, neither committed, trial first. Keep it open: 'at whatever level suits Komatsu'.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block matches the standard Mitsue signature (rob@mitsue.it, +81 80-2260-5966, mitsue.it, tinyurl repo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822960" cy="822960"/>
          </a:xfrm>
          <a:prstGeom prst="rect">
            <a:avLst/>
          </a:prstGeom>
          <a:noFill/>
        </p:spPr>
        <p:txBody>
          <a:bodyPr wrap="square" lIns="45720" rIns="45720" tIns="27432" bIns="27432" anchor="t">
            <a:spAutoFit/>
          </a:bodyPr>
          <a:lstStyle/>
          <a:p>
            <a:pPr algn="l">
              <a:lnSpc>
                <a:spcPct val="110000"/>
              </a:lnSpc>
              <a:spcAft>
                <a:spcPts val="600"/>
              </a:spcAft>
            </a:pPr>
            <a:r>
              <a:rPr sz="4000" b="0">
                <a:solidFill>
                  <a:srgbClr val="F3ECE0"/>
                </a:solidFill>
                <a:latin typeface="Noto Serif JP"/>
              </a:rPr>
              <a:t>御</a:t>
            </a:r>
          </a:p>
        </p:txBody>
      </p:sp>
      <p:sp>
        <p:nvSpPr>
          <p:cNvPr id="4" name="TextBox 3"/>
          <p:cNvSpPr txBox="1"/>
          <p:nvPr/>
        </p:nvSpPr>
        <p:spPr>
          <a:xfrm>
            <a:off x="1645920" y="566928"/>
            <a:ext cx="73152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F3B486"/>
                </a:solidFill>
                <a:latin typeface="Courier New"/>
              </a:rPr>
              <a:t>MITSUE PROJECT</a:t>
            </a:r>
          </a:p>
        </p:txBody>
      </p:sp>
      <p:sp>
        <p:nvSpPr>
          <p:cNvPr id="5" name="TextBox 4"/>
          <p:cNvSpPr txBox="1"/>
          <p:nvPr/>
        </p:nvSpPr>
        <p:spPr>
          <a:xfrm>
            <a:off x="1645920" y="914400"/>
            <a:ext cx="109728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F3B486"/>
                </a:solidFill>
                <a:latin typeface="Courier New"/>
              </a:rPr>
              <a:t>PROJECT OVERVIEW · 御杖村 · NARA PREFECTURE</a:t>
            </a:r>
          </a:p>
        </p:txBody>
      </p:sp>
      <p:sp>
        <p:nvSpPr>
          <p:cNvPr id="6" name="TextBox 5"/>
          <p:cNvSpPr txBox="1"/>
          <p:nvPr/>
        </p:nvSpPr>
        <p:spPr>
          <a:xfrm>
            <a:off x="822960" y="9646920"/>
            <a:ext cx="12801600" cy="365760"/>
          </a:xfrm>
          <a:prstGeom prst="rect">
            <a:avLst/>
          </a:prstGeom>
          <a:noFill/>
        </p:spPr>
        <p:txBody>
          <a:bodyPr wrap="square" lIns="45720" rIns="45720" tIns="27432" bIns="27432" anchor="t">
            <a:spAutoFit/>
          </a:bodyPr>
          <a:lstStyle/>
          <a:p>
            <a:pPr algn="l">
              <a:lnSpc>
                <a:spcPct val="110000"/>
              </a:lnSpc>
              <a:spcAft>
                <a:spcPts val="600"/>
              </a:spcAft>
            </a:pPr>
            <a:r>
              <a:rPr sz="1300" b="0">
                <a:solidFill>
                  <a:srgbClr val="F3B486"/>
                </a:solidFill>
                <a:latin typeface="Courier New"/>
              </a:rPr>
              <a:t>PREPARED FOR KOMATSU LTD. · TEAMS MEETING 27 OCT 2026 · DRAFT</a:t>
            </a:r>
          </a:p>
        </p:txBody>
      </p:sp>
      <p:sp>
        <p:nvSpPr>
          <p:cNvPr id="7" name="TextBox 6"/>
          <p:cNvSpPr txBox="1"/>
          <p:nvPr/>
        </p:nvSpPr>
        <p:spPr>
          <a:xfrm>
            <a:off x="14904720" y="9646920"/>
            <a:ext cx="2560320" cy="365760"/>
          </a:xfrm>
          <a:prstGeom prst="rect">
            <a:avLst/>
          </a:prstGeom>
          <a:noFill/>
        </p:spPr>
        <p:txBody>
          <a:bodyPr wrap="square" lIns="45720" rIns="45720" tIns="27432" bIns="27432" anchor="t">
            <a:spAutoFit/>
          </a:bodyPr>
          <a:lstStyle/>
          <a:p>
            <a:pPr algn="r">
              <a:lnSpc>
                <a:spcPct val="110000"/>
              </a:lnSpc>
              <a:spcAft>
                <a:spcPts val="600"/>
              </a:spcAft>
            </a:pPr>
            <a:r>
              <a:rPr sz="1300" b="0">
                <a:solidFill>
                  <a:srgbClr val="F3B486"/>
                </a:solidFill>
                <a:latin typeface="Courier New"/>
              </a:rPr>
              <a:t>01 / 12</a:t>
            </a:r>
          </a:p>
        </p:txBody>
      </p:sp>
      <p:sp>
        <p:nvSpPr>
          <p:cNvPr id="8" name="TextBox 7"/>
          <p:cNvSpPr txBox="1"/>
          <p:nvPr/>
        </p:nvSpPr>
        <p:spPr>
          <a:xfrm>
            <a:off x="822960" y="2011680"/>
            <a:ext cx="9326880" cy="3291840"/>
          </a:xfrm>
          <a:prstGeom prst="rect">
            <a:avLst/>
          </a:prstGeom>
          <a:noFill/>
        </p:spPr>
        <p:txBody>
          <a:bodyPr wrap="square" lIns="45720" rIns="45720" tIns="27432" bIns="27432" anchor="t">
            <a:spAutoFit/>
          </a:bodyPr>
          <a:lstStyle/>
          <a:p>
            <a:pPr algn="l">
              <a:lnSpc>
                <a:spcPct val="100000"/>
              </a:lnSpc>
              <a:spcAft>
                <a:spcPts val="600"/>
              </a:spcAft>
            </a:pPr>
            <a:r>
              <a:rPr sz="5400" b="1">
                <a:solidFill>
                  <a:srgbClr val="F3ECE0"/>
                </a:solidFill>
                <a:latin typeface="Georgia"/>
              </a:rPr>
              <a:t>Forest-to-energy in a mountain village, and where a CTL trial could fit</a:t>
            </a:r>
          </a:p>
        </p:txBody>
      </p:sp>
      <p:sp>
        <p:nvSpPr>
          <p:cNvPr id="9" name="TextBox 8"/>
          <p:cNvSpPr txBox="1"/>
          <p:nvPr/>
        </p:nvSpPr>
        <p:spPr>
          <a:xfrm>
            <a:off x="822960" y="5760720"/>
            <a:ext cx="9144000" cy="1097280"/>
          </a:xfrm>
          <a:prstGeom prst="rect">
            <a:avLst/>
          </a:prstGeom>
          <a:noFill/>
        </p:spPr>
        <p:txBody>
          <a:bodyPr wrap="square" lIns="45720" rIns="45720" tIns="27432" bIns="27432" anchor="t">
            <a:spAutoFit/>
          </a:bodyPr>
          <a:lstStyle/>
          <a:p>
            <a:pPr algn="l">
              <a:lnSpc>
                <a:spcPct val="110000"/>
              </a:lnSpc>
              <a:spcAft>
                <a:spcPts val="400"/>
              </a:spcAft>
            </a:pPr>
            <a:r>
              <a:rPr sz="2600" b="0">
                <a:solidFill>
                  <a:srgbClr val="F3ECE0"/>
                </a:solidFill>
                <a:latin typeface="Arial"/>
              </a:rPr>
              <a:t>Project overview for Komatsu Ltd.
Forest and Agriculture Business Division</a:t>
            </a:r>
          </a:p>
        </p:txBody>
      </p:sp>
      <p:sp>
        <p:nvSpPr>
          <p:cNvPr id="10" name="TextBox 9"/>
          <p:cNvSpPr txBox="1"/>
          <p:nvPr/>
        </p:nvSpPr>
        <p:spPr>
          <a:xfrm>
            <a:off x="822960" y="7223760"/>
            <a:ext cx="9144000" cy="1463040"/>
          </a:xfrm>
          <a:prstGeom prst="rect">
            <a:avLst/>
          </a:prstGeom>
          <a:noFill/>
        </p:spPr>
        <p:txBody>
          <a:bodyPr wrap="square" lIns="45720" rIns="45720" tIns="27432" bIns="27432" anchor="t">
            <a:spAutoFit/>
          </a:bodyPr>
          <a:lstStyle/>
          <a:p>
            <a:pPr algn="l">
              <a:lnSpc>
                <a:spcPct val="110000"/>
              </a:lnSpc>
              <a:spcAft>
                <a:spcPts val="600"/>
              </a:spcAft>
            </a:pPr>
            <a:r>
              <a:rPr sz="2000" b="0">
                <a:solidFill>
                  <a:srgbClr val="F3B486"/>
                </a:solidFill>
                <a:latin typeface="Courier New"/>
              </a:rPr>
              <a:t>Teams meeting · Tuesday 27 October 2026 · 14:00–14:45 JST</a:t>
            </a:r>
          </a:p>
          <a:p>
            <a:pPr algn="l">
              <a:lnSpc>
                <a:spcPct val="110000"/>
              </a:lnSpc>
              <a:spcAft>
                <a:spcPts val="600"/>
              </a:spcAft>
            </a:pPr>
            <a:r>
              <a:rPr sz="2000" b="0">
                <a:solidFill>
                  <a:srgbClr val="F3ECE0"/>
                </a:solidFill>
                <a:latin typeface="Courier New"/>
              </a:rPr>
              <a:t>Rob Oudendijk · Mitsue-it (independent initiative)</a:t>
            </a:r>
          </a:p>
        </p:txBody>
      </p:sp>
      <p:pic>
        <p:nvPicPr>
          <p:cNvPr id="11" name="Picture 10" descr="s1_Image0.png"/>
          <p:cNvPicPr>
            <a:picLocks noChangeAspect="1"/>
          </p:cNvPicPr>
          <p:nvPr/>
        </p:nvPicPr>
        <p:blipFill>
          <a:blip r:embed="rId2"/>
          <a:stretch>
            <a:fillRect/>
          </a:stretch>
        </p:blipFill>
        <p:spPr>
          <a:xfrm>
            <a:off x="10424160" y="1828800"/>
            <a:ext cx="6949440" cy="61772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822960" cy="822960"/>
          </a:xfrm>
          <a:prstGeom prst="rect">
            <a:avLst/>
          </a:prstGeom>
          <a:noFill/>
        </p:spPr>
        <p:txBody>
          <a:bodyPr wrap="square" lIns="45720" rIns="45720" tIns="27432" bIns="27432" anchor="t">
            <a:spAutoFit/>
          </a:bodyPr>
          <a:lstStyle/>
          <a:p>
            <a:pPr algn="l">
              <a:lnSpc>
                <a:spcPct val="110000"/>
              </a:lnSpc>
              <a:spcAft>
                <a:spcPts val="600"/>
              </a:spcAft>
            </a:pPr>
            <a:r>
              <a:rPr sz="4000" b="0">
                <a:solidFill>
                  <a:srgbClr val="2F4A37"/>
                </a:solidFill>
                <a:latin typeface="Noto Serif JP"/>
              </a:rPr>
              <a:t>御</a:t>
            </a:r>
          </a:p>
        </p:txBody>
      </p:sp>
      <p:sp>
        <p:nvSpPr>
          <p:cNvPr id="4" name="TextBox 3"/>
          <p:cNvSpPr txBox="1"/>
          <p:nvPr/>
        </p:nvSpPr>
        <p:spPr>
          <a:xfrm>
            <a:off x="1645920" y="566928"/>
            <a:ext cx="73152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4C554F"/>
                </a:solidFill>
                <a:latin typeface="Courier New"/>
              </a:rPr>
              <a:t>MITSUE PROJECT</a:t>
            </a:r>
          </a:p>
        </p:txBody>
      </p:sp>
      <p:sp>
        <p:nvSpPr>
          <p:cNvPr id="5" name="TextBox 4"/>
          <p:cNvSpPr txBox="1"/>
          <p:nvPr/>
        </p:nvSpPr>
        <p:spPr>
          <a:xfrm>
            <a:off x="1645920" y="914400"/>
            <a:ext cx="109728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C4663A"/>
                </a:solidFill>
                <a:latin typeface="Courier New"/>
              </a:rPr>
              <a:t>§ 01 · THE SETTING</a:t>
            </a:r>
          </a:p>
        </p:txBody>
      </p:sp>
      <p:sp>
        <p:nvSpPr>
          <p:cNvPr id="6" name="TextBox 5"/>
          <p:cNvSpPr txBox="1"/>
          <p:nvPr/>
        </p:nvSpPr>
        <p:spPr>
          <a:xfrm>
            <a:off x="822960" y="1600200"/>
            <a:ext cx="16642080" cy="1737360"/>
          </a:xfrm>
          <a:prstGeom prst="rect">
            <a:avLst/>
          </a:prstGeom>
          <a:noFill/>
        </p:spPr>
        <p:txBody>
          <a:bodyPr wrap="square" lIns="45720" rIns="45720" tIns="27432" bIns="27432" anchor="t">
            <a:spAutoFit/>
          </a:bodyPr>
          <a:lstStyle/>
          <a:p>
            <a:pPr algn="l">
              <a:lnSpc>
                <a:spcPct val="100000"/>
              </a:lnSpc>
              <a:spcAft>
                <a:spcPts val="600"/>
              </a:spcAft>
            </a:pPr>
            <a:r>
              <a:rPr sz="4600" b="1">
                <a:solidFill>
                  <a:srgbClr val="1F2A24"/>
                </a:solidFill>
                <a:latin typeface="Georgia"/>
              </a:rPr>
              <a:t>A mountain village with a forest that needs managing</a:t>
            </a:r>
          </a:p>
        </p:txBody>
      </p:sp>
      <p:sp>
        <p:nvSpPr>
          <p:cNvPr id="7" name="TextBox 6"/>
          <p:cNvSpPr txBox="1"/>
          <p:nvPr/>
        </p:nvSpPr>
        <p:spPr>
          <a:xfrm>
            <a:off x="822960" y="9646920"/>
            <a:ext cx="12801600" cy="365760"/>
          </a:xfrm>
          <a:prstGeom prst="rect">
            <a:avLst/>
          </a:prstGeom>
          <a:noFill/>
        </p:spPr>
        <p:txBody>
          <a:bodyPr wrap="square" lIns="45720" rIns="45720" tIns="27432" bIns="27432" anchor="t">
            <a:spAutoFit/>
          </a:bodyPr>
          <a:lstStyle/>
          <a:p>
            <a:pPr algn="l">
              <a:lnSpc>
                <a:spcPct val="110000"/>
              </a:lnSpc>
              <a:spcAft>
                <a:spcPts val="600"/>
              </a:spcAft>
            </a:pPr>
            <a:r>
              <a:rPr sz="1300" b="0">
                <a:solidFill>
                  <a:srgbClr val="4C554F"/>
                </a:solidFill>
                <a:latin typeface="Courier New"/>
              </a:rPr>
              <a:t>PREPARED FOR KOMATSU LTD. · TEAMS MEETING 27 OCT 2026 · DRAFT</a:t>
            </a:r>
          </a:p>
        </p:txBody>
      </p:sp>
      <p:sp>
        <p:nvSpPr>
          <p:cNvPr id="8" name="TextBox 7"/>
          <p:cNvSpPr txBox="1"/>
          <p:nvPr/>
        </p:nvSpPr>
        <p:spPr>
          <a:xfrm>
            <a:off x="14904720" y="9646920"/>
            <a:ext cx="2560320" cy="365760"/>
          </a:xfrm>
          <a:prstGeom prst="rect">
            <a:avLst/>
          </a:prstGeom>
          <a:noFill/>
        </p:spPr>
        <p:txBody>
          <a:bodyPr wrap="square" lIns="45720" rIns="45720" tIns="27432" bIns="27432" anchor="t">
            <a:spAutoFit/>
          </a:bodyPr>
          <a:lstStyle/>
          <a:p>
            <a:pPr algn="r">
              <a:lnSpc>
                <a:spcPct val="110000"/>
              </a:lnSpc>
              <a:spcAft>
                <a:spcPts val="600"/>
              </a:spcAft>
            </a:pPr>
            <a:r>
              <a:rPr sz="1300" b="0">
                <a:solidFill>
                  <a:srgbClr val="4C554F"/>
                </a:solidFill>
                <a:latin typeface="Courier New"/>
              </a:rPr>
              <a:t>02 / 12</a:t>
            </a:r>
          </a:p>
        </p:txBody>
      </p:sp>
      <p:sp>
        <p:nvSpPr>
          <p:cNvPr id="9" name="Rectangle 8"/>
          <p:cNvSpPr/>
          <p:nvPr/>
        </p:nvSpPr>
        <p:spPr>
          <a:xfrm>
            <a:off x="822960" y="3657600"/>
            <a:ext cx="5349240" cy="265176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931920"/>
            <a:ext cx="4846320" cy="1280160"/>
          </a:xfrm>
          <a:prstGeom prst="rect">
            <a:avLst/>
          </a:prstGeom>
          <a:noFill/>
        </p:spPr>
        <p:txBody>
          <a:bodyPr wrap="square" lIns="45720" rIns="45720" tIns="27432" bIns="27432" anchor="t">
            <a:spAutoFit/>
          </a:bodyPr>
          <a:lstStyle/>
          <a:p>
            <a:pPr algn="l">
              <a:lnSpc>
                <a:spcPct val="110000"/>
              </a:lnSpc>
              <a:spcAft>
                <a:spcPts val="600"/>
              </a:spcAft>
            </a:pPr>
            <a:r>
              <a:rPr sz="6400" b="1">
                <a:solidFill>
                  <a:srgbClr val="F3ECE0"/>
                </a:solidFill>
                <a:latin typeface="Georgia"/>
              </a:rPr>
              <a:t>≈ 1,400</a:t>
            </a:r>
          </a:p>
        </p:txBody>
      </p:sp>
      <p:sp>
        <p:nvSpPr>
          <p:cNvPr id="11" name="TextBox 10"/>
          <p:cNvSpPr txBox="1"/>
          <p:nvPr/>
        </p:nvSpPr>
        <p:spPr>
          <a:xfrm>
            <a:off x="1097280" y="5349240"/>
            <a:ext cx="4846320" cy="868680"/>
          </a:xfrm>
          <a:prstGeom prst="rect">
            <a:avLst/>
          </a:prstGeom>
          <a:noFill/>
        </p:spPr>
        <p:txBody>
          <a:bodyPr wrap="square" lIns="45720" rIns="45720" tIns="27432" bIns="27432" anchor="t">
            <a:spAutoFit/>
          </a:bodyPr>
          <a:lstStyle/>
          <a:p>
            <a:pPr algn="l">
              <a:lnSpc>
                <a:spcPct val="110000"/>
              </a:lnSpc>
              <a:spcAft>
                <a:spcPts val="600"/>
              </a:spcAft>
            </a:pPr>
            <a:r>
              <a:rPr sz="2200" b="0">
                <a:solidFill>
                  <a:srgbClr val="F3ECE0"/>
                </a:solidFill>
                <a:latin typeface="Arial"/>
              </a:rPr>
              <a:t>residents</a:t>
            </a:r>
          </a:p>
        </p:txBody>
      </p:sp>
      <p:sp>
        <p:nvSpPr>
          <p:cNvPr id="12" name="Rectangle 11"/>
          <p:cNvSpPr/>
          <p:nvPr/>
        </p:nvSpPr>
        <p:spPr>
          <a:xfrm>
            <a:off x="6446520" y="3657600"/>
            <a:ext cx="5349240" cy="265176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3931920"/>
            <a:ext cx="4846320" cy="1280160"/>
          </a:xfrm>
          <a:prstGeom prst="rect">
            <a:avLst/>
          </a:prstGeom>
          <a:noFill/>
        </p:spPr>
        <p:txBody>
          <a:bodyPr wrap="square" lIns="45720" rIns="45720" tIns="27432" bIns="27432" anchor="t">
            <a:spAutoFit/>
          </a:bodyPr>
          <a:lstStyle/>
          <a:p>
            <a:pPr algn="l">
              <a:lnSpc>
                <a:spcPct val="110000"/>
              </a:lnSpc>
              <a:spcAft>
                <a:spcPts val="600"/>
              </a:spcAft>
            </a:pPr>
            <a:r>
              <a:rPr sz="6400" b="1">
                <a:solidFill>
                  <a:srgbClr val="F3ECE0"/>
                </a:solidFill>
                <a:latin typeface="Georgia"/>
              </a:rPr>
              <a:t>≈ 93 %</a:t>
            </a:r>
          </a:p>
        </p:txBody>
      </p:sp>
      <p:sp>
        <p:nvSpPr>
          <p:cNvPr id="14" name="TextBox 13"/>
          <p:cNvSpPr txBox="1"/>
          <p:nvPr/>
        </p:nvSpPr>
        <p:spPr>
          <a:xfrm>
            <a:off x="6720840" y="5349240"/>
            <a:ext cx="4846320" cy="868680"/>
          </a:xfrm>
          <a:prstGeom prst="rect">
            <a:avLst/>
          </a:prstGeom>
          <a:noFill/>
        </p:spPr>
        <p:txBody>
          <a:bodyPr wrap="square" lIns="45720" rIns="45720" tIns="27432" bIns="27432" anchor="t">
            <a:spAutoFit/>
          </a:bodyPr>
          <a:lstStyle/>
          <a:p>
            <a:pPr algn="l">
              <a:lnSpc>
                <a:spcPct val="110000"/>
              </a:lnSpc>
              <a:spcAft>
                <a:spcPts val="600"/>
              </a:spcAft>
            </a:pPr>
            <a:r>
              <a:rPr sz="2200" b="0">
                <a:solidFill>
                  <a:srgbClr val="F3ECE0"/>
                </a:solidFill>
                <a:latin typeface="Arial"/>
              </a:rPr>
              <a:t>forest cover</a:t>
            </a:r>
          </a:p>
        </p:txBody>
      </p:sp>
      <p:sp>
        <p:nvSpPr>
          <p:cNvPr id="15" name="Rectangle 14"/>
          <p:cNvSpPr/>
          <p:nvPr/>
        </p:nvSpPr>
        <p:spPr>
          <a:xfrm>
            <a:off x="12070080" y="3657600"/>
            <a:ext cx="5349240" cy="265176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0" y="3931920"/>
            <a:ext cx="4846320" cy="1280160"/>
          </a:xfrm>
          <a:prstGeom prst="rect">
            <a:avLst/>
          </a:prstGeom>
          <a:noFill/>
        </p:spPr>
        <p:txBody>
          <a:bodyPr wrap="square" lIns="45720" rIns="45720" tIns="27432" bIns="27432" anchor="t">
            <a:spAutoFit/>
          </a:bodyPr>
          <a:lstStyle/>
          <a:p>
            <a:pPr algn="l">
              <a:lnSpc>
                <a:spcPct val="110000"/>
              </a:lnSpc>
              <a:spcAft>
                <a:spcPts val="600"/>
              </a:spcAft>
            </a:pPr>
            <a:r>
              <a:rPr sz="6400" b="1">
                <a:solidFill>
                  <a:srgbClr val="F3ECE0"/>
                </a:solidFill>
                <a:latin typeface="Georgia"/>
              </a:rPr>
              <a:t>50–75 yr</a:t>
            </a:r>
          </a:p>
        </p:txBody>
      </p:sp>
      <p:sp>
        <p:nvSpPr>
          <p:cNvPr id="17" name="TextBox 16"/>
          <p:cNvSpPr txBox="1"/>
          <p:nvPr/>
        </p:nvSpPr>
        <p:spPr>
          <a:xfrm>
            <a:off x="12344400" y="5349240"/>
            <a:ext cx="4846320" cy="868680"/>
          </a:xfrm>
          <a:prstGeom prst="rect">
            <a:avLst/>
          </a:prstGeom>
          <a:noFill/>
        </p:spPr>
        <p:txBody>
          <a:bodyPr wrap="square" lIns="45720" rIns="45720" tIns="27432" bIns="27432" anchor="t">
            <a:spAutoFit/>
          </a:bodyPr>
          <a:lstStyle/>
          <a:p>
            <a:pPr algn="l">
              <a:lnSpc>
                <a:spcPct val="110000"/>
              </a:lnSpc>
              <a:spcAft>
                <a:spcPts val="600"/>
              </a:spcAft>
            </a:pPr>
            <a:r>
              <a:rPr sz="2200" b="0">
                <a:solidFill>
                  <a:srgbClr val="F3ECE0"/>
                </a:solidFill>
                <a:latin typeface="Arial"/>
              </a:rPr>
              <a:t>age of many unmanaged sugi plantations</a:t>
            </a:r>
          </a:p>
        </p:txBody>
      </p:sp>
      <p:sp>
        <p:nvSpPr>
          <p:cNvPr id="18" name="TextBox 17"/>
          <p:cNvSpPr txBox="1"/>
          <p:nvPr/>
        </p:nvSpPr>
        <p:spPr>
          <a:xfrm>
            <a:off x="822960" y="6766560"/>
            <a:ext cx="16642080" cy="2651760"/>
          </a:xfrm>
          <a:prstGeom prst="rect">
            <a:avLst/>
          </a:prstGeom>
          <a:noFill/>
        </p:spPr>
        <p:txBody>
          <a:bodyPr wrap="square" lIns="45720" rIns="45720" tIns="27432" bIns="27432" anchor="t">
            <a:spAutoFit/>
          </a:bodyPr>
          <a:lstStyle/>
          <a:p>
            <a:pPr algn="l">
              <a:lnSpc>
                <a:spcPct val="110000"/>
              </a:lnSpc>
              <a:spcAft>
                <a:spcPts val="1200"/>
              </a:spcAft>
            </a:pPr>
            <a:r>
              <a:rPr sz="2400" b="0">
                <a:solidFill>
                  <a:srgbClr val="1F2A24"/>
                </a:solidFill>
                <a:latin typeface="Arial"/>
              </a:rPr>
              <a:t>Mitsue is a village in Uda district, Nara Prefecture. Much of its sugi (cedar) was planted after the war and has not been managed for decades.</a:t>
            </a:r>
          </a:p>
          <a:p>
            <a:pPr algn="l">
              <a:lnSpc>
                <a:spcPct val="110000"/>
              </a:lnSpc>
              <a:spcAft>
                <a:spcPts val="1200"/>
              </a:spcAft>
            </a:pPr>
            <a:r>
              <a:rPr sz="2400" b="1">
                <a:solidFill>
                  <a:srgbClr val="1F2A24"/>
                </a:solidFill>
                <a:latin typeface="Arial"/>
              </a:rPr>
              <a:t>Forestry labour is the bottleneck, not land or demand. The cooperative is small and has few young people, so we need machines and new operators.</a:t>
            </a:r>
          </a:p>
          <a:p>
            <a:pPr algn="l">
              <a:lnSpc>
                <a:spcPct val="110000"/>
              </a:lnSpc>
              <a:spcAft>
                <a:spcPts val="1200"/>
              </a:spcAft>
            </a:pPr>
            <a:r>
              <a:rPr sz="2000" b="0">
                <a:solidFill>
                  <a:srgbClr val="4C554F"/>
                </a:solidFill>
                <a:latin typeface="Arial"/>
              </a:rPr>
              <a:t>An independent initiative working with the village, the local forestry cooperative and the NGO more trees. Nothing is contracted at this stage.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822960" cy="822960"/>
          </a:xfrm>
          <a:prstGeom prst="rect">
            <a:avLst/>
          </a:prstGeom>
          <a:noFill/>
        </p:spPr>
        <p:txBody>
          <a:bodyPr wrap="square" lIns="45720" rIns="45720" tIns="27432" bIns="27432" anchor="t">
            <a:spAutoFit/>
          </a:bodyPr>
          <a:lstStyle/>
          <a:p>
            <a:pPr algn="l">
              <a:lnSpc>
                <a:spcPct val="110000"/>
              </a:lnSpc>
              <a:spcAft>
                <a:spcPts val="600"/>
              </a:spcAft>
            </a:pPr>
            <a:r>
              <a:rPr sz="4000" b="0">
                <a:solidFill>
                  <a:srgbClr val="2F4A37"/>
                </a:solidFill>
                <a:latin typeface="Noto Serif JP"/>
              </a:rPr>
              <a:t>御</a:t>
            </a:r>
          </a:p>
        </p:txBody>
      </p:sp>
      <p:sp>
        <p:nvSpPr>
          <p:cNvPr id="4" name="TextBox 3"/>
          <p:cNvSpPr txBox="1"/>
          <p:nvPr/>
        </p:nvSpPr>
        <p:spPr>
          <a:xfrm>
            <a:off x="1645920" y="566928"/>
            <a:ext cx="73152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4C554F"/>
                </a:solidFill>
                <a:latin typeface="Courier New"/>
              </a:rPr>
              <a:t>MITSUE PROJECT</a:t>
            </a:r>
          </a:p>
        </p:txBody>
      </p:sp>
      <p:sp>
        <p:nvSpPr>
          <p:cNvPr id="5" name="TextBox 4"/>
          <p:cNvSpPr txBox="1"/>
          <p:nvPr/>
        </p:nvSpPr>
        <p:spPr>
          <a:xfrm>
            <a:off x="1645920" y="914400"/>
            <a:ext cx="109728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C4663A"/>
                </a:solidFill>
                <a:latin typeface="Courier New"/>
              </a:rPr>
              <a:t>§ 02 · THE BOTTLENECK</a:t>
            </a:r>
          </a:p>
        </p:txBody>
      </p:sp>
      <p:sp>
        <p:nvSpPr>
          <p:cNvPr id="6" name="TextBox 5"/>
          <p:cNvSpPr txBox="1"/>
          <p:nvPr/>
        </p:nvSpPr>
        <p:spPr>
          <a:xfrm>
            <a:off x="822960" y="1600200"/>
            <a:ext cx="16642080" cy="1737360"/>
          </a:xfrm>
          <a:prstGeom prst="rect">
            <a:avLst/>
          </a:prstGeom>
          <a:noFill/>
        </p:spPr>
        <p:txBody>
          <a:bodyPr wrap="square" lIns="45720" rIns="45720" tIns="27432" bIns="27432" anchor="t">
            <a:spAutoFit/>
          </a:bodyPr>
          <a:lstStyle/>
          <a:p>
            <a:pPr algn="l">
              <a:lnSpc>
                <a:spcPct val="100000"/>
              </a:lnSpc>
              <a:spcAft>
                <a:spcPts val="600"/>
              </a:spcAft>
            </a:pPr>
            <a:r>
              <a:rPr sz="4600" b="1">
                <a:solidFill>
                  <a:srgbClr val="1F2A24"/>
                </a:solidFill>
                <a:latin typeface="Georgia"/>
              </a:rPr>
              <a:t>We want to harvest, but we do not have enough people</a:t>
            </a:r>
          </a:p>
        </p:txBody>
      </p:sp>
      <p:sp>
        <p:nvSpPr>
          <p:cNvPr id="7" name="TextBox 6"/>
          <p:cNvSpPr txBox="1"/>
          <p:nvPr/>
        </p:nvSpPr>
        <p:spPr>
          <a:xfrm>
            <a:off x="822960" y="9646920"/>
            <a:ext cx="12801600" cy="365760"/>
          </a:xfrm>
          <a:prstGeom prst="rect">
            <a:avLst/>
          </a:prstGeom>
          <a:noFill/>
        </p:spPr>
        <p:txBody>
          <a:bodyPr wrap="square" lIns="45720" rIns="45720" tIns="27432" bIns="27432" anchor="t">
            <a:spAutoFit/>
          </a:bodyPr>
          <a:lstStyle/>
          <a:p>
            <a:pPr algn="l">
              <a:lnSpc>
                <a:spcPct val="110000"/>
              </a:lnSpc>
              <a:spcAft>
                <a:spcPts val="600"/>
              </a:spcAft>
            </a:pPr>
            <a:r>
              <a:rPr sz="1300" b="0">
                <a:solidFill>
                  <a:srgbClr val="4C554F"/>
                </a:solidFill>
                <a:latin typeface="Courier New"/>
              </a:rPr>
              <a:t>PREPARED FOR KOMATSU LTD. · TEAMS MEETING 27 OCT 2026 · DRAFT</a:t>
            </a:r>
          </a:p>
        </p:txBody>
      </p:sp>
      <p:sp>
        <p:nvSpPr>
          <p:cNvPr id="8" name="TextBox 7"/>
          <p:cNvSpPr txBox="1"/>
          <p:nvPr/>
        </p:nvSpPr>
        <p:spPr>
          <a:xfrm>
            <a:off x="14904720" y="9646920"/>
            <a:ext cx="2560320" cy="365760"/>
          </a:xfrm>
          <a:prstGeom prst="rect">
            <a:avLst/>
          </a:prstGeom>
          <a:noFill/>
        </p:spPr>
        <p:txBody>
          <a:bodyPr wrap="square" lIns="45720" rIns="45720" tIns="27432" bIns="27432" anchor="t">
            <a:spAutoFit/>
          </a:bodyPr>
          <a:lstStyle/>
          <a:p>
            <a:pPr algn="r">
              <a:lnSpc>
                <a:spcPct val="110000"/>
              </a:lnSpc>
              <a:spcAft>
                <a:spcPts val="600"/>
              </a:spcAft>
            </a:pPr>
            <a:r>
              <a:rPr sz="1300" b="0">
                <a:solidFill>
                  <a:srgbClr val="4C554F"/>
                </a:solidFill>
                <a:latin typeface="Courier New"/>
              </a:rPr>
              <a:t>03 / 12</a:t>
            </a:r>
          </a:p>
        </p:txBody>
      </p:sp>
      <p:graphicFrame>
        <p:nvGraphicFramePr>
          <p:cNvPr id="9" name="Chart 8"/>
          <p:cNvGraphicFramePr>
            <a:graphicFrameLocks noGrp="1"/>
          </p:cNvGraphicFramePr>
          <p:nvPr/>
        </p:nvGraphicFramePr>
        <p:xfrm>
          <a:off x="822960" y="3566160"/>
          <a:ext cx="8778240" cy="5669280"/>
        </p:xfrm>
        <a:graphic>
          <a:graphicData uri="http://schemas.openxmlformats.org/drawingml/2006/chart">
            <c:chart xmlns:c="http://schemas.openxmlformats.org/drawingml/2006/chart" r:id="rId2"/>
          </a:graphicData>
        </a:graphic>
      </p:graphicFrame>
      <p:sp>
        <p:nvSpPr>
          <p:cNvPr id="10" name="Rectangle 9"/>
          <p:cNvSpPr/>
          <p:nvPr/>
        </p:nvSpPr>
        <p:spPr>
          <a:xfrm>
            <a:off x="10058400" y="3566160"/>
            <a:ext cx="7406640" cy="566928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78440" y="3749039"/>
            <a:ext cx="6858000" cy="5486400"/>
          </a:xfrm>
          <a:prstGeom prst="rect">
            <a:avLst/>
          </a:prstGeom>
          <a:noFill/>
        </p:spPr>
        <p:txBody>
          <a:bodyPr wrap="square" lIns="45720" rIns="45720" tIns="27432" bIns="27432" anchor="t">
            <a:spAutoFit/>
          </a:bodyPr>
          <a:lstStyle/>
          <a:p>
            <a:pPr algn="l">
              <a:lnSpc>
                <a:spcPct val="110000"/>
              </a:lnSpc>
              <a:spcAft>
                <a:spcPts val="0"/>
              </a:spcAft>
            </a:pPr>
            <a:r>
              <a:rPr sz="5000" b="1">
                <a:solidFill>
                  <a:srgbClr val="2F4A37"/>
                </a:solidFill>
                <a:latin typeface="Georgia"/>
              </a:rPr>
              <a:t>≈ 20,700 m³</a:t>
            </a:r>
          </a:p>
          <a:p>
            <a:pPr algn="l">
              <a:lnSpc>
                <a:spcPct val="110000"/>
              </a:lnSpc>
              <a:spcAft>
                <a:spcPts val="1400"/>
              </a:spcAft>
            </a:pPr>
            <a:r>
              <a:rPr sz="2000" b="0">
                <a:solidFill>
                  <a:srgbClr val="1F2A24"/>
                </a:solidFill>
                <a:latin typeface="Arial"/>
              </a:rPr>
              <a:t>planned thinning, FY2024–26: 113 parcels, ≈ 222 ha in 4 districts</a:t>
            </a:r>
          </a:p>
          <a:p>
            <a:pPr algn="l">
              <a:lnSpc>
                <a:spcPct val="110000"/>
              </a:lnSpc>
              <a:spcAft>
                <a:spcPts val="400"/>
              </a:spcAft>
            </a:pPr>
            <a:r>
              <a:rPr sz="3200" b="1">
                <a:solidFill>
                  <a:srgbClr val="C4663A"/>
                </a:solidFill>
                <a:latin typeface="Georgia"/>
              </a:rPr>
              <a:t>≈ 88 % is cut and left</a:t>
            </a:r>
          </a:p>
          <a:p>
            <a:pPr algn="l">
              <a:lnSpc>
                <a:spcPct val="110000"/>
              </a:lnSpc>
              <a:spcAft>
                <a:spcPts val="1400"/>
              </a:spcAft>
            </a:pPr>
            <a:r>
              <a:rPr sz="2000" b="0">
                <a:solidFill>
                  <a:srgbClr val="1F2A24"/>
                </a:solidFill>
                <a:latin typeface="Arial"/>
              </a:rPr>
              <a:t>Only ≈ 2,600 m³ is planned to be extracted.</a:t>
            </a:r>
          </a:p>
          <a:p>
            <a:pPr algn="l">
              <a:lnSpc>
                <a:spcPct val="110000"/>
              </a:lnSpc>
              <a:spcAft>
                <a:spcPts val="800"/>
              </a:spcAft>
            </a:pPr>
            <a:r>
              <a:rPr sz="2000" b="1">
                <a:solidFill>
                  <a:srgbClr val="1F2A24"/>
                </a:solidFill>
                <a:latin typeface="Arial"/>
              </a:rPr>
              <a:t>The cooperative's crew is small and has few young people. Labour, plus slope and access, keeps the wood in the forest.</a:t>
            </a:r>
          </a:p>
          <a:p>
            <a:pPr algn="l">
              <a:lnSpc>
                <a:spcPct val="110000"/>
              </a:lnSpc>
              <a:spcAft>
                <a:spcPts val="800"/>
              </a:spcAft>
            </a:pPr>
            <a:r>
              <a:rPr sz="1700" b="0">
                <a:solidFill>
                  <a:srgbClr val="4C554F"/>
                </a:solidFill>
                <a:latin typeface="Arial"/>
              </a:rPr>
              <a:t>Our reading of the plan; to be confirmed with the cooperative.</a:t>
            </a:r>
          </a:p>
          <a:p>
            <a:pPr algn="l">
              <a:lnSpc>
                <a:spcPct val="110000"/>
              </a:lnSpc>
              <a:spcAft>
                <a:spcPts val="600"/>
              </a:spcAft>
            </a:pPr>
            <a:r>
              <a:rPr sz="1600" b="0">
                <a:solidFill>
                  <a:srgbClr val="4C554F"/>
                </a:solidFill>
                <a:latin typeface="Arial"/>
              </a:rPr>
              <a:t>Source: village hall thinning plan R6–R8 (plans, not realised harvests).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822960" cy="822960"/>
          </a:xfrm>
          <a:prstGeom prst="rect">
            <a:avLst/>
          </a:prstGeom>
          <a:noFill/>
        </p:spPr>
        <p:txBody>
          <a:bodyPr wrap="square" lIns="45720" rIns="45720" tIns="27432" bIns="27432" anchor="t">
            <a:spAutoFit/>
          </a:bodyPr>
          <a:lstStyle/>
          <a:p>
            <a:pPr algn="l">
              <a:lnSpc>
                <a:spcPct val="110000"/>
              </a:lnSpc>
              <a:spcAft>
                <a:spcPts val="600"/>
              </a:spcAft>
            </a:pPr>
            <a:r>
              <a:rPr sz="4000" b="0">
                <a:solidFill>
                  <a:srgbClr val="2F4A37"/>
                </a:solidFill>
                <a:latin typeface="Noto Serif JP"/>
              </a:rPr>
              <a:t>御</a:t>
            </a:r>
          </a:p>
        </p:txBody>
      </p:sp>
      <p:sp>
        <p:nvSpPr>
          <p:cNvPr id="4" name="TextBox 3"/>
          <p:cNvSpPr txBox="1"/>
          <p:nvPr/>
        </p:nvSpPr>
        <p:spPr>
          <a:xfrm>
            <a:off x="1645920" y="566928"/>
            <a:ext cx="73152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4C554F"/>
                </a:solidFill>
                <a:latin typeface="Courier New"/>
              </a:rPr>
              <a:t>MITSUE PROJECT</a:t>
            </a:r>
          </a:p>
        </p:txBody>
      </p:sp>
      <p:sp>
        <p:nvSpPr>
          <p:cNvPr id="5" name="TextBox 4"/>
          <p:cNvSpPr txBox="1"/>
          <p:nvPr/>
        </p:nvSpPr>
        <p:spPr>
          <a:xfrm>
            <a:off x="1645920" y="914400"/>
            <a:ext cx="109728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C4663A"/>
                </a:solidFill>
                <a:latin typeface="Courier New"/>
              </a:rPr>
              <a:t>§ 03 · THE IDEA</a:t>
            </a:r>
          </a:p>
        </p:txBody>
      </p:sp>
      <p:sp>
        <p:nvSpPr>
          <p:cNvPr id="6" name="TextBox 5"/>
          <p:cNvSpPr txBox="1"/>
          <p:nvPr/>
        </p:nvSpPr>
        <p:spPr>
          <a:xfrm>
            <a:off x="822960" y="1600200"/>
            <a:ext cx="16642080" cy="1737360"/>
          </a:xfrm>
          <a:prstGeom prst="rect">
            <a:avLst/>
          </a:prstGeom>
          <a:noFill/>
        </p:spPr>
        <p:txBody>
          <a:bodyPr wrap="square" lIns="45720" rIns="45720" tIns="27432" bIns="27432" anchor="t">
            <a:spAutoFit/>
          </a:bodyPr>
          <a:lstStyle/>
          <a:p>
            <a:pPr algn="l">
              <a:lnSpc>
                <a:spcPct val="100000"/>
              </a:lnSpc>
              <a:spcAft>
                <a:spcPts val="600"/>
              </a:spcAft>
            </a:pPr>
            <a:r>
              <a:rPr sz="4600" b="1">
                <a:solidFill>
                  <a:srgbClr val="1F2A24"/>
                </a:solidFill>
                <a:latin typeface="Georgia"/>
              </a:rPr>
              <a:t>Use the wood as fuel, then replant native broadleaf</a:t>
            </a:r>
          </a:p>
        </p:txBody>
      </p:sp>
      <p:sp>
        <p:nvSpPr>
          <p:cNvPr id="7" name="TextBox 6"/>
          <p:cNvSpPr txBox="1"/>
          <p:nvPr/>
        </p:nvSpPr>
        <p:spPr>
          <a:xfrm>
            <a:off x="822960" y="9646920"/>
            <a:ext cx="12801600" cy="365760"/>
          </a:xfrm>
          <a:prstGeom prst="rect">
            <a:avLst/>
          </a:prstGeom>
          <a:noFill/>
        </p:spPr>
        <p:txBody>
          <a:bodyPr wrap="square" lIns="45720" rIns="45720" tIns="27432" bIns="27432" anchor="t">
            <a:spAutoFit/>
          </a:bodyPr>
          <a:lstStyle/>
          <a:p>
            <a:pPr algn="l">
              <a:lnSpc>
                <a:spcPct val="110000"/>
              </a:lnSpc>
              <a:spcAft>
                <a:spcPts val="600"/>
              </a:spcAft>
            </a:pPr>
            <a:r>
              <a:rPr sz="1300" b="0">
                <a:solidFill>
                  <a:srgbClr val="4C554F"/>
                </a:solidFill>
                <a:latin typeface="Courier New"/>
              </a:rPr>
              <a:t>PREPARED FOR KOMATSU LTD. · TEAMS MEETING 27 OCT 2026 · DRAFT</a:t>
            </a:r>
          </a:p>
        </p:txBody>
      </p:sp>
      <p:sp>
        <p:nvSpPr>
          <p:cNvPr id="8" name="TextBox 7"/>
          <p:cNvSpPr txBox="1"/>
          <p:nvPr/>
        </p:nvSpPr>
        <p:spPr>
          <a:xfrm>
            <a:off x="14904720" y="9646920"/>
            <a:ext cx="2560320" cy="365760"/>
          </a:xfrm>
          <a:prstGeom prst="rect">
            <a:avLst/>
          </a:prstGeom>
          <a:noFill/>
        </p:spPr>
        <p:txBody>
          <a:bodyPr wrap="square" lIns="45720" rIns="45720" tIns="27432" bIns="27432" anchor="t">
            <a:spAutoFit/>
          </a:bodyPr>
          <a:lstStyle/>
          <a:p>
            <a:pPr algn="r">
              <a:lnSpc>
                <a:spcPct val="110000"/>
              </a:lnSpc>
              <a:spcAft>
                <a:spcPts val="600"/>
              </a:spcAft>
            </a:pPr>
            <a:r>
              <a:rPr sz="1300" b="0">
                <a:solidFill>
                  <a:srgbClr val="4C554F"/>
                </a:solidFill>
                <a:latin typeface="Courier New"/>
              </a:rPr>
              <a:t>04 / 12</a:t>
            </a:r>
          </a:p>
        </p:txBody>
      </p:sp>
      <p:sp>
        <p:nvSpPr>
          <p:cNvPr id="9" name="Rectangle 8"/>
          <p:cNvSpPr/>
          <p:nvPr/>
        </p:nvSpPr>
        <p:spPr>
          <a:xfrm>
            <a:off x="822960" y="3657600"/>
            <a:ext cx="3840480" cy="2834640"/>
          </a:xfrm>
          <a:prstGeom prst="rect">
            <a:avLst/>
          </a:prstGeom>
          <a:solidFill>
            <a:srgbClr val="C46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886200"/>
            <a:ext cx="3383280" cy="822960"/>
          </a:xfrm>
          <a:prstGeom prst="rect">
            <a:avLst/>
          </a:prstGeom>
          <a:noFill/>
        </p:spPr>
        <p:txBody>
          <a:bodyPr wrap="square" lIns="45720" rIns="45720" tIns="27432" bIns="27432" anchor="t">
            <a:spAutoFit/>
          </a:bodyPr>
          <a:lstStyle/>
          <a:p>
            <a:pPr algn="l">
              <a:lnSpc>
                <a:spcPct val="110000"/>
              </a:lnSpc>
              <a:spcAft>
                <a:spcPts val="600"/>
              </a:spcAft>
            </a:pPr>
            <a:r>
              <a:rPr sz="2600" b="1">
                <a:solidFill>
                  <a:srgbClr val="F3ECE0"/>
                </a:solidFill>
                <a:latin typeface="Georgia"/>
              </a:rPr>
              <a:t>1  Thin and harvest</a:t>
            </a:r>
          </a:p>
        </p:txBody>
      </p:sp>
      <p:sp>
        <p:nvSpPr>
          <p:cNvPr id="11" name="TextBox 10"/>
          <p:cNvSpPr txBox="1"/>
          <p:nvPr/>
        </p:nvSpPr>
        <p:spPr>
          <a:xfrm>
            <a:off x="1051560" y="4892040"/>
            <a:ext cx="3383280" cy="1463040"/>
          </a:xfrm>
          <a:prstGeom prst="rect">
            <a:avLst/>
          </a:prstGeom>
          <a:noFill/>
        </p:spPr>
        <p:txBody>
          <a:bodyPr wrap="square" lIns="45720" rIns="45720" tIns="27432" bIns="27432" anchor="t">
            <a:spAutoFit/>
          </a:bodyPr>
          <a:lstStyle/>
          <a:p>
            <a:pPr algn="l">
              <a:lnSpc>
                <a:spcPct val="110000"/>
              </a:lnSpc>
              <a:spcAft>
                <a:spcPts val="600"/>
              </a:spcAft>
            </a:pPr>
            <a:r>
              <a:rPr sz="2100" b="0">
                <a:solidFill>
                  <a:srgbClr val="F3ECE0"/>
                </a:solidFill>
                <a:latin typeface="Arial"/>
              </a:rPr>
              <a:t>Cut-to-length machines on steep sugi stands</a:t>
            </a:r>
          </a:p>
        </p:txBody>
      </p:sp>
      <p:sp>
        <p:nvSpPr>
          <p:cNvPr id="12" name="TextBox 11"/>
          <p:cNvSpPr txBox="1"/>
          <p:nvPr/>
        </p:nvSpPr>
        <p:spPr>
          <a:xfrm>
            <a:off x="4617720" y="4572000"/>
            <a:ext cx="502920" cy="731520"/>
          </a:xfrm>
          <a:prstGeom prst="rect">
            <a:avLst/>
          </a:prstGeom>
          <a:noFill/>
        </p:spPr>
        <p:txBody>
          <a:bodyPr wrap="square" lIns="45720" rIns="45720" tIns="27432" bIns="27432" anchor="t">
            <a:spAutoFit/>
          </a:bodyPr>
          <a:lstStyle/>
          <a:p>
            <a:pPr algn="ctr">
              <a:lnSpc>
                <a:spcPct val="110000"/>
              </a:lnSpc>
              <a:spcAft>
                <a:spcPts val="600"/>
              </a:spcAft>
            </a:pPr>
            <a:r>
              <a:rPr sz="4400" b="1">
                <a:solidFill>
                  <a:srgbClr val="C4663A"/>
                </a:solidFill>
                <a:latin typeface="Georgia"/>
              </a:rPr>
              <a:t>›</a:t>
            </a:r>
          </a:p>
        </p:txBody>
      </p:sp>
      <p:sp>
        <p:nvSpPr>
          <p:cNvPr id="13" name="Rectangle 12"/>
          <p:cNvSpPr/>
          <p:nvPr/>
        </p:nvSpPr>
        <p:spPr>
          <a:xfrm>
            <a:off x="5074920" y="3657600"/>
            <a:ext cx="3840480" cy="283464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0" y="3886200"/>
            <a:ext cx="3383280" cy="822960"/>
          </a:xfrm>
          <a:prstGeom prst="rect">
            <a:avLst/>
          </a:prstGeom>
          <a:noFill/>
        </p:spPr>
        <p:txBody>
          <a:bodyPr wrap="square" lIns="45720" rIns="45720" tIns="27432" bIns="27432" anchor="t">
            <a:spAutoFit/>
          </a:bodyPr>
          <a:lstStyle/>
          <a:p>
            <a:pPr algn="l">
              <a:lnSpc>
                <a:spcPct val="110000"/>
              </a:lnSpc>
              <a:spcAft>
                <a:spcPts val="600"/>
              </a:spcAft>
            </a:pPr>
            <a:r>
              <a:rPr sz="2600" b="1">
                <a:solidFill>
                  <a:srgbClr val="F3ECE0"/>
                </a:solidFill>
                <a:latin typeface="Georgia"/>
              </a:rPr>
              <a:t>2  Chip and dry</a:t>
            </a:r>
          </a:p>
        </p:txBody>
      </p:sp>
      <p:sp>
        <p:nvSpPr>
          <p:cNvPr id="15" name="TextBox 14"/>
          <p:cNvSpPr txBox="1"/>
          <p:nvPr/>
        </p:nvSpPr>
        <p:spPr>
          <a:xfrm>
            <a:off x="5303520" y="4892040"/>
            <a:ext cx="3383280" cy="1463040"/>
          </a:xfrm>
          <a:prstGeom prst="rect">
            <a:avLst/>
          </a:prstGeom>
          <a:noFill/>
        </p:spPr>
        <p:txBody>
          <a:bodyPr wrap="square" lIns="45720" rIns="45720" tIns="27432" bIns="27432" anchor="t">
            <a:spAutoFit/>
          </a:bodyPr>
          <a:lstStyle/>
          <a:p>
            <a:pPr algn="l">
              <a:lnSpc>
                <a:spcPct val="110000"/>
              </a:lnSpc>
              <a:spcAft>
                <a:spcPts val="600"/>
              </a:spcAft>
            </a:pPr>
            <a:r>
              <a:rPr sz="2100" b="0">
                <a:solidFill>
                  <a:srgbClr val="F3ECE0"/>
                </a:solidFill>
                <a:latin typeface="Arial"/>
              </a:rPr>
              <a:t>Local chipping, drying with CHP heat</a:t>
            </a:r>
          </a:p>
        </p:txBody>
      </p:sp>
      <p:sp>
        <p:nvSpPr>
          <p:cNvPr id="16" name="TextBox 15"/>
          <p:cNvSpPr txBox="1"/>
          <p:nvPr/>
        </p:nvSpPr>
        <p:spPr>
          <a:xfrm>
            <a:off x="8869680" y="4572000"/>
            <a:ext cx="502920" cy="731520"/>
          </a:xfrm>
          <a:prstGeom prst="rect">
            <a:avLst/>
          </a:prstGeom>
          <a:noFill/>
        </p:spPr>
        <p:txBody>
          <a:bodyPr wrap="square" lIns="45720" rIns="45720" tIns="27432" bIns="27432" anchor="t">
            <a:spAutoFit/>
          </a:bodyPr>
          <a:lstStyle/>
          <a:p>
            <a:pPr algn="ctr">
              <a:lnSpc>
                <a:spcPct val="110000"/>
              </a:lnSpc>
              <a:spcAft>
                <a:spcPts val="600"/>
              </a:spcAft>
            </a:pPr>
            <a:r>
              <a:rPr sz="4400" b="1">
                <a:solidFill>
                  <a:srgbClr val="C4663A"/>
                </a:solidFill>
                <a:latin typeface="Georgia"/>
              </a:rPr>
              <a:t>›</a:t>
            </a:r>
          </a:p>
        </p:txBody>
      </p:sp>
      <p:sp>
        <p:nvSpPr>
          <p:cNvPr id="17" name="Rectangle 16"/>
          <p:cNvSpPr/>
          <p:nvPr/>
        </p:nvSpPr>
        <p:spPr>
          <a:xfrm>
            <a:off x="9326880" y="3657600"/>
            <a:ext cx="3840480" cy="283464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55480" y="3886200"/>
            <a:ext cx="3383280" cy="822960"/>
          </a:xfrm>
          <a:prstGeom prst="rect">
            <a:avLst/>
          </a:prstGeom>
          <a:noFill/>
        </p:spPr>
        <p:txBody>
          <a:bodyPr wrap="square" lIns="45720" rIns="45720" tIns="27432" bIns="27432" anchor="t">
            <a:spAutoFit/>
          </a:bodyPr>
          <a:lstStyle/>
          <a:p>
            <a:pPr algn="l">
              <a:lnSpc>
                <a:spcPct val="110000"/>
              </a:lnSpc>
              <a:spcAft>
                <a:spcPts val="600"/>
              </a:spcAft>
            </a:pPr>
            <a:r>
              <a:rPr sz="2600" b="1">
                <a:solidFill>
                  <a:srgbClr val="F3ECE0"/>
                </a:solidFill>
                <a:latin typeface="Georgia"/>
              </a:rPr>
              <a:t>3  50 kWe CHP</a:t>
            </a:r>
          </a:p>
        </p:txBody>
      </p:sp>
      <p:sp>
        <p:nvSpPr>
          <p:cNvPr id="19" name="TextBox 18"/>
          <p:cNvSpPr txBox="1"/>
          <p:nvPr/>
        </p:nvSpPr>
        <p:spPr>
          <a:xfrm>
            <a:off x="9555480" y="4892040"/>
            <a:ext cx="3383280" cy="1463040"/>
          </a:xfrm>
          <a:prstGeom prst="rect">
            <a:avLst/>
          </a:prstGeom>
          <a:noFill/>
        </p:spPr>
        <p:txBody>
          <a:bodyPr wrap="square" lIns="45720" rIns="45720" tIns="27432" bIns="27432" anchor="t">
            <a:spAutoFit/>
          </a:bodyPr>
          <a:lstStyle/>
          <a:p>
            <a:pPr algn="l">
              <a:lnSpc>
                <a:spcPct val="110000"/>
              </a:lnSpc>
              <a:spcAft>
                <a:spcPts val="600"/>
              </a:spcAft>
            </a:pPr>
            <a:r>
              <a:rPr sz="2100" b="0">
                <a:solidFill>
                  <a:srgbClr val="F3ECE0"/>
                </a:solidFill>
                <a:latin typeface="Arial"/>
              </a:rPr>
              <a:t>Small gasification unit, 24 h operation</a:t>
            </a:r>
          </a:p>
        </p:txBody>
      </p:sp>
      <p:sp>
        <p:nvSpPr>
          <p:cNvPr id="20" name="TextBox 19"/>
          <p:cNvSpPr txBox="1"/>
          <p:nvPr/>
        </p:nvSpPr>
        <p:spPr>
          <a:xfrm>
            <a:off x="13121640" y="4572000"/>
            <a:ext cx="502920" cy="731520"/>
          </a:xfrm>
          <a:prstGeom prst="rect">
            <a:avLst/>
          </a:prstGeom>
          <a:noFill/>
        </p:spPr>
        <p:txBody>
          <a:bodyPr wrap="square" lIns="45720" rIns="45720" tIns="27432" bIns="27432" anchor="t">
            <a:spAutoFit/>
          </a:bodyPr>
          <a:lstStyle/>
          <a:p>
            <a:pPr algn="ctr">
              <a:lnSpc>
                <a:spcPct val="110000"/>
              </a:lnSpc>
              <a:spcAft>
                <a:spcPts val="600"/>
              </a:spcAft>
            </a:pPr>
            <a:r>
              <a:rPr sz="4400" b="1">
                <a:solidFill>
                  <a:srgbClr val="C4663A"/>
                </a:solidFill>
                <a:latin typeface="Georgia"/>
              </a:rPr>
              <a:t>›</a:t>
            </a:r>
          </a:p>
        </p:txBody>
      </p:sp>
      <p:sp>
        <p:nvSpPr>
          <p:cNvPr id="21" name="Rectangle 20"/>
          <p:cNvSpPr/>
          <p:nvPr/>
        </p:nvSpPr>
        <p:spPr>
          <a:xfrm>
            <a:off x="13578840" y="3657600"/>
            <a:ext cx="3840480" cy="283464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807440" y="3886200"/>
            <a:ext cx="3383280" cy="822960"/>
          </a:xfrm>
          <a:prstGeom prst="rect">
            <a:avLst/>
          </a:prstGeom>
          <a:noFill/>
        </p:spPr>
        <p:txBody>
          <a:bodyPr wrap="square" lIns="45720" rIns="45720" tIns="27432" bIns="27432" anchor="t">
            <a:spAutoFit/>
          </a:bodyPr>
          <a:lstStyle/>
          <a:p>
            <a:pPr algn="l">
              <a:lnSpc>
                <a:spcPct val="110000"/>
              </a:lnSpc>
              <a:spcAft>
                <a:spcPts val="600"/>
              </a:spcAft>
            </a:pPr>
            <a:r>
              <a:rPr sz="2600" b="1">
                <a:solidFill>
                  <a:srgbClr val="F3ECE0"/>
                </a:solidFill>
                <a:latin typeface="Georgia"/>
              </a:rPr>
              <a:t>4  Power and heat</a:t>
            </a:r>
          </a:p>
        </p:txBody>
      </p:sp>
      <p:sp>
        <p:nvSpPr>
          <p:cNvPr id="23" name="TextBox 22"/>
          <p:cNvSpPr txBox="1"/>
          <p:nvPr/>
        </p:nvSpPr>
        <p:spPr>
          <a:xfrm>
            <a:off x="13807440" y="4892040"/>
            <a:ext cx="3383280" cy="1463040"/>
          </a:xfrm>
          <a:prstGeom prst="rect">
            <a:avLst/>
          </a:prstGeom>
          <a:noFill/>
        </p:spPr>
        <p:txBody>
          <a:bodyPr wrap="square" lIns="45720" rIns="45720" tIns="27432" bIns="27432" anchor="t">
            <a:spAutoFit/>
          </a:bodyPr>
          <a:lstStyle/>
          <a:p>
            <a:pPr algn="l">
              <a:lnSpc>
                <a:spcPct val="110000"/>
              </a:lnSpc>
              <a:spcAft>
                <a:spcPts val="600"/>
              </a:spcAft>
            </a:pPr>
            <a:r>
              <a:rPr sz="2100" b="0">
                <a:solidFill>
                  <a:srgbClr val="F3ECE0"/>
                </a:solidFill>
                <a:latin typeface="Arial"/>
              </a:rPr>
              <a:t>For local use; a small compute load later</a:t>
            </a:r>
          </a:p>
        </p:txBody>
      </p:sp>
      <p:sp>
        <p:nvSpPr>
          <p:cNvPr id="24" name="Rectangle 23"/>
          <p:cNvSpPr/>
          <p:nvPr/>
        </p:nvSpPr>
        <p:spPr>
          <a:xfrm>
            <a:off x="822960" y="6858000"/>
            <a:ext cx="16642080" cy="73152"/>
          </a:xfrm>
          <a:prstGeom prst="rect">
            <a:avLst/>
          </a:prstGeom>
          <a:solidFill>
            <a:srgbClr val="C46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7132320"/>
            <a:ext cx="8138160" cy="2377440"/>
          </a:xfrm>
          <a:prstGeom prst="rect">
            <a:avLst/>
          </a:prstGeom>
          <a:noFill/>
        </p:spPr>
        <p:txBody>
          <a:bodyPr wrap="square" lIns="45720" rIns="45720" tIns="27432" bIns="27432" anchor="t">
            <a:spAutoFit/>
          </a:bodyPr>
          <a:lstStyle/>
          <a:p>
            <a:pPr algn="l">
              <a:lnSpc>
                <a:spcPct val="110000"/>
              </a:lnSpc>
              <a:spcAft>
                <a:spcPts val="800"/>
              </a:spcAft>
            </a:pPr>
            <a:r>
              <a:rPr sz="2600" b="1">
                <a:solidFill>
                  <a:srgbClr val="2F4A37"/>
                </a:solidFill>
                <a:latin typeface="Georgia"/>
              </a:rPr>
              <a:t>Replanting</a:t>
            </a:r>
          </a:p>
          <a:p>
            <a:pPr algn="l">
              <a:lnSpc>
                <a:spcPct val="110000"/>
              </a:lnSpc>
              <a:spcAft>
                <a:spcPts val="800"/>
              </a:spcAft>
            </a:pPr>
            <a:r>
              <a:rPr sz="2100" b="0">
                <a:solidFill>
                  <a:srgbClr val="1F2A24"/>
                </a:solidFill>
                <a:latin typeface="Arial"/>
              </a:rPr>
              <a:t>Cleared stands go back to native broadleaf (oak, chestnut, konara), chosen with the NGO more trees. The village's default is native broadleaf, not another monoculture.</a:t>
            </a:r>
          </a:p>
        </p:txBody>
      </p:sp>
      <p:sp>
        <p:nvSpPr>
          <p:cNvPr id="26" name="TextBox 25"/>
          <p:cNvSpPr txBox="1"/>
          <p:nvPr/>
        </p:nvSpPr>
        <p:spPr>
          <a:xfrm>
            <a:off x="9326880" y="7132320"/>
            <a:ext cx="8138160" cy="2377440"/>
          </a:xfrm>
          <a:prstGeom prst="rect">
            <a:avLst/>
          </a:prstGeom>
          <a:noFill/>
        </p:spPr>
        <p:txBody>
          <a:bodyPr wrap="square" lIns="45720" rIns="45720" tIns="27432" bIns="27432" anchor="t">
            <a:spAutoFit/>
          </a:bodyPr>
          <a:lstStyle/>
          <a:p>
            <a:pPr algn="l">
              <a:lnSpc>
                <a:spcPct val="110000"/>
              </a:lnSpc>
              <a:spcAft>
                <a:spcPts val="800"/>
              </a:spcAft>
            </a:pPr>
            <a:r>
              <a:rPr sz="2600" b="1">
                <a:solidFill>
                  <a:srgbClr val="2F4A37"/>
                </a:solidFill>
                <a:latin typeface="Georgia"/>
              </a:rPr>
              <a:t>Fuel demand, first unit</a:t>
            </a:r>
          </a:p>
          <a:p>
            <a:pPr algn="l">
              <a:lnSpc>
                <a:spcPct val="110000"/>
              </a:lnSpc>
              <a:spcAft>
                <a:spcPts val="800"/>
              </a:spcAft>
            </a:pPr>
            <a:r>
              <a:rPr sz="2100" b="0">
                <a:solidFill>
                  <a:srgbClr val="1F2A24"/>
                </a:solidFill>
                <a:latin typeface="Arial"/>
              </a:rPr>
              <a:t>A 50 kWe unit running 24 h needs ≈ 1.3–1.8 t dry wood per day, about 450–600 t a year. Three estimating methods agree on that range. No unit has been chosen yet.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822960" cy="822960"/>
          </a:xfrm>
          <a:prstGeom prst="rect">
            <a:avLst/>
          </a:prstGeom>
          <a:noFill/>
        </p:spPr>
        <p:txBody>
          <a:bodyPr wrap="square" lIns="45720" rIns="45720" tIns="27432" bIns="27432" anchor="t">
            <a:spAutoFit/>
          </a:bodyPr>
          <a:lstStyle/>
          <a:p>
            <a:pPr algn="l">
              <a:lnSpc>
                <a:spcPct val="110000"/>
              </a:lnSpc>
              <a:spcAft>
                <a:spcPts val="600"/>
              </a:spcAft>
            </a:pPr>
            <a:r>
              <a:rPr sz="4000" b="0">
                <a:solidFill>
                  <a:srgbClr val="2F4A37"/>
                </a:solidFill>
                <a:latin typeface="Noto Serif JP"/>
              </a:rPr>
              <a:t>御</a:t>
            </a:r>
          </a:p>
        </p:txBody>
      </p:sp>
      <p:sp>
        <p:nvSpPr>
          <p:cNvPr id="4" name="TextBox 3"/>
          <p:cNvSpPr txBox="1"/>
          <p:nvPr/>
        </p:nvSpPr>
        <p:spPr>
          <a:xfrm>
            <a:off x="1645920" y="566928"/>
            <a:ext cx="73152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4C554F"/>
                </a:solidFill>
                <a:latin typeface="Courier New"/>
              </a:rPr>
              <a:t>MITSUE PROJECT</a:t>
            </a:r>
          </a:p>
        </p:txBody>
      </p:sp>
      <p:sp>
        <p:nvSpPr>
          <p:cNvPr id="5" name="TextBox 4"/>
          <p:cNvSpPr txBox="1"/>
          <p:nvPr/>
        </p:nvSpPr>
        <p:spPr>
          <a:xfrm>
            <a:off x="1645920" y="914400"/>
            <a:ext cx="109728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C4663A"/>
                </a:solidFill>
                <a:latin typeface="Courier New"/>
              </a:rPr>
              <a:t>§ 04 · FIRST STEP</a:t>
            </a:r>
          </a:p>
        </p:txBody>
      </p:sp>
      <p:sp>
        <p:nvSpPr>
          <p:cNvPr id="6" name="TextBox 5"/>
          <p:cNvSpPr txBox="1"/>
          <p:nvPr/>
        </p:nvSpPr>
        <p:spPr>
          <a:xfrm>
            <a:off x="822960" y="1600200"/>
            <a:ext cx="16642080" cy="1737360"/>
          </a:xfrm>
          <a:prstGeom prst="rect">
            <a:avLst/>
          </a:prstGeom>
          <a:noFill/>
        </p:spPr>
        <p:txBody>
          <a:bodyPr wrap="square" lIns="45720" rIns="45720" tIns="27432" bIns="27432" anchor="t">
            <a:spAutoFit/>
          </a:bodyPr>
          <a:lstStyle/>
          <a:p>
            <a:pPr algn="l">
              <a:lnSpc>
                <a:spcPct val="100000"/>
              </a:lnSpc>
              <a:spcAft>
                <a:spcPts val="600"/>
              </a:spcAft>
            </a:pPr>
            <a:r>
              <a:rPr sz="4600" b="1">
                <a:solidFill>
                  <a:srgbClr val="1F2A24"/>
                </a:solidFill>
                <a:latin typeface="Georgia"/>
              </a:rPr>
              <a:t>A 50 kWe prototype at a local forestry site</a:t>
            </a:r>
          </a:p>
        </p:txBody>
      </p:sp>
      <p:sp>
        <p:nvSpPr>
          <p:cNvPr id="7" name="TextBox 6"/>
          <p:cNvSpPr txBox="1"/>
          <p:nvPr/>
        </p:nvSpPr>
        <p:spPr>
          <a:xfrm>
            <a:off x="822960" y="9646920"/>
            <a:ext cx="12801600" cy="365760"/>
          </a:xfrm>
          <a:prstGeom prst="rect">
            <a:avLst/>
          </a:prstGeom>
          <a:noFill/>
        </p:spPr>
        <p:txBody>
          <a:bodyPr wrap="square" lIns="45720" rIns="45720" tIns="27432" bIns="27432" anchor="t">
            <a:spAutoFit/>
          </a:bodyPr>
          <a:lstStyle/>
          <a:p>
            <a:pPr algn="l">
              <a:lnSpc>
                <a:spcPct val="110000"/>
              </a:lnSpc>
              <a:spcAft>
                <a:spcPts val="600"/>
              </a:spcAft>
            </a:pPr>
            <a:r>
              <a:rPr sz="1300" b="0">
                <a:solidFill>
                  <a:srgbClr val="4C554F"/>
                </a:solidFill>
                <a:latin typeface="Courier New"/>
              </a:rPr>
              <a:t>PREPARED FOR KOMATSU LTD. · TEAMS MEETING 27 OCT 2026 · DRAFT</a:t>
            </a:r>
          </a:p>
        </p:txBody>
      </p:sp>
      <p:sp>
        <p:nvSpPr>
          <p:cNvPr id="8" name="TextBox 7"/>
          <p:cNvSpPr txBox="1"/>
          <p:nvPr/>
        </p:nvSpPr>
        <p:spPr>
          <a:xfrm>
            <a:off x="14904720" y="9646920"/>
            <a:ext cx="2560320" cy="365760"/>
          </a:xfrm>
          <a:prstGeom prst="rect">
            <a:avLst/>
          </a:prstGeom>
          <a:noFill/>
        </p:spPr>
        <p:txBody>
          <a:bodyPr wrap="square" lIns="45720" rIns="45720" tIns="27432" bIns="27432" anchor="t">
            <a:spAutoFit/>
          </a:bodyPr>
          <a:lstStyle/>
          <a:p>
            <a:pPr algn="r">
              <a:lnSpc>
                <a:spcPct val="110000"/>
              </a:lnSpc>
              <a:spcAft>
                <a:spcPts val="600"/>
              </a:spcAft>
            </a:pPr>
            <a:r>
              <a:rPr sz="1300" b="0">
                <a:solidFill>
                  <a:srgbClr val="4C554F"/>
                </a:solidFill>
                <a:latin typeface="Courier New"/>
              </a:rPr>
              <a:t>05 / 12</a:t>
            </a:r>
          </a:p>
        </p:txBody>
      </p:sp>
      <p:sp>
        <p:nvSpPr>
          <p:cNvPr id="9" name="TextBox 8"/>
          <p:cNvSpPr txBox="1"/>
          <p:nvPr/>
        </p:nvSpPr>
        <p:spPr>
          <a:xfrm>
            <a:off x="822960" y="3566160"/>
            <a:ext cx="8595360" cy="5852160"/>
          </a:xfrm>
          <a:prstGeom prst="rect">
            <a:avLst/>
          </a:prstGeom>
          <a:noFill/>
        </p:spPr>
        <p:txBody>
          <a:bodyPr wrap="square" lIns="45720" rIns="45720" tIns="27432" bIns="27432" anchor="t">
            <a:spAutoFit/>
          </a:bodyPr>
          <a:lstStyle/>
          <a:p>
            <a:pPr algn="l">
              <a:lnSpc>
                <a:spcPct val="110000"/>
              </a:lnSpc>
              <a:spcAft>
                <a:spcPts val="1600"/>
              </a:spcAft>
            </a:pPr>
            <a:r>
              <a:rPr sz="2300" b="0">
                <a:solidFill>
                  <a:srgbClr val="1F2A24"/>
                </a:solidFill>
                <a:latin typeface="Arial"/>
              </a:rPr>
              <a:t>Probable site: a local forestry cooperative's yard, using a 20 ft container. The cooperative is keen on the CHP. Not final yet.</a:t>
            </a:r>
          </a:p>
          <a:p>
            <a:pPr algn="l">
              <a:lnSpc>
                <a:spcPct val="110000"/>
              </a:lnSpc>
              <a:spcAft>
                <a:spcPts val="1600"/>
              </a:spcAft>
            </a:pPr>
            <a:r>
              <a:rPr sz="2300" b="0">
                <a:solidFill>
                  <a:srgbClr val="1F2A24"/>
                </a:solidFill>
                <a:latin typeface="Arial"/>
              </a:rPr>
              <a:t>Why there: wood arrives there anyway, so fuel handling and drying are simple.</a:t>
            </a:r>
          </a:p>
          <a:p>
            <a:pPr algn="l">
              <a:lnSpc>
                <a:spcPct val="110000"/>
              </a:lnSpc>
              <a:spcAft>
                <a:spcPts val="1600"/>
              </a:spcAft>
            </a:pPr>
            <a:r>
              <a:rPr sz="2300" b="0">
                <a:solidFill>
                  <a:srgbClr val="1F2A24"/>
                </a:solidFill>
                <a:latin typeface="Arial"/>
              </a:rPr>
              <a:t>What we do first: analyse the fuel, choose a unit, agree the site and the wood flow with the cooperative and village hall.</a:t>
            </a:r>
          </a:p>
          <a:p>
            <a:pPr algn="l">
              <a:lnSpc>
                <a:spcPct val="110000"/>
              </a:lnSpc>
              <a:spcAft>
                <a:spcPts val="600"/>
              </a:spcAft>
            </a:pPr>
            <a:r>
              <a:rPr sz="2300" b="1">
                <a:solidFill>
                  <a:srgbClr val="C4663A"/>
                </a:solidFill>
                <a:latin typeface="Arial"/>
              </a:rPr>
              <a:t>Why it matters to CTL: the prototype creates the steady demand that makes extracting wood worthwhile.</a:t>
            </a:r>
          </a:p>
        </p:txBody>
      </p:sp>
      <p:sp>
        <p:nvSpPr>
          <p:cNvPr id="10" name="Rectangle 9"/>
          <p:cNvSpPr/>
          <p:nvPr/>
        </p:nvSpPr>
        <p:spPr>
          <a:xfrm>
            <a:off x="9875520" y="3566160"/>
            <a:ext cx="7589520" cy="5486400"/>
          </a:xfrm>
          <a:prstGeom prst="rect">
            <a:avLst/>
          </a:prstGeom>
          <a:solidFill>
            <a:srgbClr val="ECE3D3"/>
          </a:solidFill>
          <a:ln w="19050">
            <a:solidFill>
              <a:srgbClr val="4C55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0" y="5212080"/>
            <a:ext cx="7040880" cy="2194560"/>
          </a:xfrm>
          <a:prstGeom prst="rect">
            <a:avLst/>
          </a:prstGeom>
          <a:noFill/>
        </p:spPr>
        <p:txBody>
          <a:bodyPr wrap="square" lIns="45720" rIns="45720" tIns="27432" bIns="27432" anchor="t">
            <a:spAutoFit/>
          </a:bodyPr>
          <a:lstStyle/>
          <a:p>
            <a:pPr algn="ctr">
              <a:lnSpc>
                <a:spcPct val="110000"/>
              </a:lnSpc>
              <a:spcAft>
                <a:spcPts val="600"/>
              </a:spcAft>
            </a:pPr>
            <a:r>
              <a:rPr sz="2600" b="1">
                <a:solidFill>
                  <a:srgbClr val="2F4A37"/>
                </a:solidFill>
                <a:latin typeface="Georgia"/>
              </a:rPr>
              <a:t>Photos of the planned site</a:t>
            </a:r>
          </a:p>
          <a:p>
            <a:pPr algn="ctr">
              <a:lnSpc>
                <a:spcPct val="110000"/>
              </a:lnSpc>
              <a:spcAft>
                <a:spcPts val="600"/>
              </a:spcAft>
            </a:pPr>
            <a:r>
              <a:rPr sz="2000" b="0">
                <a:solidFill>
                  <a:srgbClr val="4C554F"/>
                </a:solidFill>
                <a:latin typeface="Arial"/>
              </a:rPr>
              <a:t>to be added once the cooperative sends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822960" cy="822960"/>
          </a:xfrm>
          <a:prstGeom prst="rect">
            <a:avLst/>
          </a:prstGeom>
          <a:noFill/>
        </p:spPr>
        <p:txBody>
          <a:bodyPr wrap="square" lIns="45720" rIns="45720" tIns="27432" bIns="27432" anchor="t">
            <a:spAutoFit/>
          </a:bodyPr>
          <a:lstStyle/>
          <a:p>
            <a:pPr algn="l">
              <a:lnSpc>
                <a:spcPct val="110000"/>
              </a:lnSpc>
              <a:spcAft>
                <a:spcPts val="600"/>
              </a:spcAft>
            </a:pPr>
            <a:r>
              <a:rPr sz="4000" b="0">
                <a:solidFill>
                  <a:srgbClr val="2F4A37"/>
                </a:solidFill>
                <a:latin typeface="Noto Serif JP"/>
              </a:rPr>
              <a:t>御</a:t>
            </a:r>
          </a:p>
        </p:txBody>
      </p:sp>
      <p:sp>
        <p:nvSpPr>
          <p:cNvPr id="4" name="TextBox 3"/>
          <p:cNvSpPr txBox="1"/>
          <p:nvPr/>
        </p:nvSpPr>
        <p:spPr>
          <a:xfrm>
            <a:off x="1645920" y="566928"/>
            <a:ext cx="73152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4C554F"/>
                </a:solidFill>
                <a:latin typeface="Courier New"/>
              </a:rPr>
              <a:t>MITSUE PROJECT</a:t>
            </a:r>
          </a:p>
        </p:txBody>
      </p:sp>
      <p:sp>
        <p:nvSpPr>
          <p:cNvPr id="5" name="TextBox 4"/>
          <p:cNvSpPr txBox="1"/>
          <p:nvPr/>
        </p:nvSpPr>
        <p:spPr>
          <a:xfrm>
            <a:off x="1645920" y="914400"/>
            <a:ext cx="109728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C4663A"/>
                </a:solidFill>
                <a:latin typeface="Courier New"/>
              </a:rPr>
              <a:t>§ 05 · THE LONG-TERM PICTURE</a:t>
            </a:r>
          </a:p>
        </p:txBody>
      </p:sp>
      <p:sp>
        <p:nvSpPr>
          <p:cNvPr id="6" name="TextBox 5"/>
          <p:cNvSpPr txBox="1"/>
          <p:nvPr/>
        </p:nvSpPr>
        <p:spPr>
          <a:xfrm>
            <a:off x="822960" y="1600200"/>
            <a:ext cx="16642080" cy="1737360"/>
          </a:xfrm>
          <a:prstGeom prst="rect">
            <a:avLst/>
          </a:prstGeom>
          <a:noFill/>
        </p:spPr>
        <p:txBody>
          <a:bodyPr wrap="square" lIns="45720" rIns="45720" tIns="27432" bIns="27432" anchor="t">
            <a:spAutoFit/>
          </a:bodyPr>
          <a:lstStyle/>
          <a:p>
            <a:pPr algn="l">
              <a:lnSpc>
                <a:spcPct val="100000"/>
              </a:lnSpc>
              <a:spcAft>
                <a:spcPts val="600"/>
              </a:spcAft>
            </a:pPr>
            <a:r>
              <a:rPr sz="4600" b="1">
                <a:solidFill>
                  <a:srgbClr val="1F2A24"/>
                </a:solidFill>
                <a:latin typeface="Georgia"/>
              </a:rPr>
              <a:t>Where it leads: ≈ 1.2 MWe of CHP and a full-scale AI data center</a:t>
            </a:r>
          </a:p>
        </p:txBody>
      </p:sp>
      <p:sp>
        <p:nvSpPr>
          <p:cNvPr id="7" name="TextBox 6"/>
          <p:cNvSpPr txBox="1"/>
          <p:nvPr/>
        </p:nvSpPr>
        <p:spPr>
          <a:xfrm>
            <a:off x="822960" y="9646920"/>
            <a:ext cx="12801600" cy="365760"/>
          </a:xfrm>
          <a:prstGeom prst="rect">
            <a:avLst/>
          </a:prstGeom>
          <a:noFill/>
        </p:spPr>
        <p:txBody>
          <a:bodyPr wrap="square" lIns="45720" rIns="45720" tIns="27432" bIns="27432" anchor="t">
            <a:spAutoFit/>
          </a:bodyPr>
          <a:lstStyle/>
          <a:p>
            <a:pPr algn="l">
              <a:lnSpc>
                <a:spcPct val="110000"/>
              </a:lnSpc>
              <a:spcAft>
                <a:spcPts val="600"/>
              </a:spcAft>
            </a:pPr>
            <a:r>
              <a:rPr sz="1300" b="0">
                <a:solidFill>
                  <a:srgbClr val="4C554F"/>
                </a:solidFill>
                <a:latin typeface="Courier New"/>
              </a:rPr>
              <a:t>PREPARED FOR KOMATSU LTD. · TEAMS MEETING 27 OCT 2026 · DRAFT</a:t>
            </a:r>
          </a:p>
        </p:txBody>
      </p:sp>
      <p:sp>
        <p:nvSpPr>
          <p:cNvPr id="8" name="TextBox 7"/>
          <p:cNvSpPr txBox="1"/>
          <p:nvPr/>
        </p:nvSpPr>
        <p:spPr>
          <a:xfrm>
            <a:off x="14904720" y="9646920"/>
            <a:ext cx="2560320" cy="365760"/>
          </a:xfrm>
          <a:prstGeom prst="rect">
            <a:avLst/>
          </a:prstGeom>
          <a:noFill/>
        </p:spPr>
        <p:txBody>
          <a:bodyPr wrap="square" lIns="45720" rIns="45720" tIns="27432" bIns="27432" anchor="t">
            <a:spAutoFit/>
          </a:bodyPr>
          <a:lstStyle/>
          <a:p>
            <a:pPr algn="r">
              <a:lnSpc>
                <a:spcPct val="110000"/>
              </a:lnSpc>
              <a:spcAft>
                <a:spcPts val="600"/>
              </a:spcAft>
            </a:pPr>
            <a:r>
              <a:rPr sz="1300" b="0">
                <a:solidFill>
                  <a:srgbClr val="4C554F"/>
                </a:solidFill>
                <a:latin typeface="Courier New"/>
              </a:rPr>
              <a:t>06 / 12</a:t>
            </a:r>
          </a:p>
        </p:txBody>
      </p:sp>
      <p:sp>
        <p:nvSpPr>
          <p:cNvPr id="9" name="Rectangle 8"/>
          <p:cNvSpPr/>
          <p:nvPr/>
        </p:nvSpPr>
        <p:spPr>
          <a:xfrm>
            <a:off x="822960" y="3657600"/>
            <a:ext cx="1828800" cy="914400"/>
          </a:xfrm>
          <a:prstGeom prst="rect">
            <a:avLst/>
          </a:prstGeom>
          <a:solidFill>
            <a:srgbClr val="3A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63440"/>
            <a:ext cx="2926080" cy="822960"/>
          </a:xfrm>
          <a:prstGeom prst="rect">
            <a:avLst/>
          </a:prstGeom>
          <a:noFill/>
        </p:spPr>
        <p:txBody>
          <a:bodyPr wrap="square" lIns="45720" rIns="45720" tIns="27432" bIns="27432" anchor="t">
            <a:spAutoFit/>
          </a:bodyPr>
          <a:lstStyle/>
          <a:p>
            <a:pPr algn="l">
              <a:lnSpc>
                <a:spcPct val="110000"/>
              </a:lnSpc>
              <a:spcAft>
                <a:spcPts val="0"/>
              </a:spcAft>
            </a:pPr>
            <a:r>
              <a:rPr sz="2200" b="1">
                <a:solidFill>
                  <a:srgbClr val="2F4A37"/>
                </a:solidFill>
                <a:latin typeface="Georgia"/>
              </a:rPr>
              <a:t>Prototype</a:t>
            </a:r>
          </a:p>
          <a:p>
            <a:pPr algn="l">
              <a:lnSpc>
                <a:spcPct val="110000"/>
              </a:lnSpc>
              <a:spcAft>
                <a:spcPts val="600"/>
              </a:spcAft>
            </a:pPr>
            <a:r>
              <a:rPr sz="2200" b="0">
                <a:solidFill>
                  <a:srgbClr val="4C554F"/>
                </a:solidFill>
                <a:latin typeface="Arial"/>
              </a:rPr>
              <a:t>50 kWe</a:t>
            </a:r>
          </a:p>
        </p:txBody>
      </p:sp>
      <p:sp>
        <p:nvSpPr>
          <p:cNvPr id="11" name="Rectangle 10"/>
          <p:cNvSpPr/>
          <p:nvPr/>
        </p:nvSpPr>
        <p:spPr>
          <a:xfrm>
            <a:off x="4114800" y="3657600"/>
            <a:ext cx="4754880" cy="91440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0" y="4754880"/>
            <a:ext cx="4754880" cy="91440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0" y="5760720"/>
            <a:ext cx="4937760" cy="1371600"/>
          </a:xfrm>
          <a:prstGeom prst="rect">
            <a:avLst/>
          </a:prstGeom>
          <a:noFill/>
        </p:spPr>
        <p:txBody>
          <a:bodyPr wrap="square" lIns="45720" rIns="45720" tIns="27432" bIns="27432" anchor="t">
            <a:spAutoFit/>
          </a:bodyPr>
          <a:lstStyle/>
          <a:p>
            <a:pPr algn="l">
              <a:lnSpc>
                <a:spcPct val="110000"/>
              </a:lnSpc>
              <a:spcAft>
                <a:spcPts val="0"/>
              </a:spcAft>
            </a:pPr>
            <a:r>
              <a:rPr sz="2200" b="1">
                <a:solidFill>
                  <a:srgbClr val="2F4A37"/>
                </a:solidFill>
                <a:latin typeface="Georgia"/>
              </a:rPr>
              <a:t>Full scale</a:t>
            </a:r>
          </a:p>
          <a:p>
            <a:pPr algn="l">
              <a:lnSpc>
                <a:spcPct val="110000"/>
              </a:lnSpc>
              <a:spcAft>
                <a:spcPts val="600"/>
              </a:spcAft>
            </a:pPr>
            <a:r>
              <a:rPr sz="2000" b="0">
                <a:solidFill>
                  <a:srgbClr val="4C554F"/>
                </a:solidFill>
                <a:latin typeface="Arial"/>
              </a:rPr>
              <a:t>2 × 0.6 MWe ≈ 1.2 MWe, about 23 × the prototype (not to scale)</a:t>
            </a:r>
          </a:p>
        </p:txBody>
      </p:sp>
      <p:sp>
        <p:nvSpPr>
          <p:cNvPr id="14" name="TextBox 13"/>
          <p:cNvSpPr txBox="1"/>
          <p:nvPr/>
        </p:nvSpPr>
        <p:spPr>
          <a:xfrm>
            <a:off x="4297680" y="3794760"/>
            <a:ext cx="4389120" cy="731520"/>
          </a:xfrm>
          <a:prstGeom prst="rect">
            <a:avLst/>
          </a:prstGeom>
          <a:noFill/>
        </p:spPr>
        <p:txBody>
          <a:bodyPr wrap="square" lIns="45720" rIns="45720" tIns="27432" bIns="27432" anchor="ctr">
            <a:spAutoFit/>
          </a:bodyPr>
          <a:lstStyle/>
          <a:p>
            <a:pPr algn="l">
              <a:lnSpc>
                <a:spcPct val="110000"/>
              </a:lnSpc>
              <a:spcAft>
                <a:spcPts val="600"/>
              </a:spcAft>
            </a:pPr>
            <a:r>
              <a:rPr sz="2600" b="1">
                <a:solidFill>
                  <a:srgbClr val="F3ECE0"/>
                </a:solidFill>
                <a:latin typeface="Georgia"/>
              </a:rPr>
              <a:t>0.6 MWe</a:t>
            </a:r>
          </a:p>
        </p:txBody>
      </p:sp>
      <p:sp>
        <p:nvSpPr>
          <p:cNvPr id="15" name="TextBox 14"/>
          <p:cNvSpPr txBox="1"/>
          <p:nvPr/>
        </p:nvSpPr>
        <p:spPr>
          <a:xfrm>
            <a:off x="4297680" y="4892040"/>
            <a:ext cx="4389120" cy="731520"/>
          </a:xfrm>
          <a:prstGeom prst="rect">
            <a:avLst/>
          </a:prstGeom>
          <a:noFill/>
        </p:spPr>
        <p:txBody>
          <a:bodyPr wrap="square" lIns="45720" rIns="45720" tIns="27432" bIns="27432" anchor="ctr">
            <a:spAutoFit/>
          </a:bodyPr>
          <a:lstStyle/>
          <a:p>
            <a:pPr algn="l">
              <a:lnSpc>
                <a:spcPct val="110000"/>
              </a:lnSpc>
              <a:spcAft>
                <a:spcPts val="600"/>
              </a:spcAft>
            </a:pPr>
            <a:r>
              <a:rPr sz="2600" b="1">
                <a:solidFill>
                  <a:srgbClr val="F3ECE0"/>
                </a:solidFill>
                <a:latin typeface="Georgia"/>
              </a:rPr>
              <a:t>0.6 MWe</a:t>
            </a:r>
          </a:p>
        </p:txBody>
      </p:sp>
      <p:sp>
        <p:nvSpPr>
          <p:cNvPr id="16" name="TextBox 15"/>
          <p:cNvSpPr txBox="1"/>
          <p:nvPr/>
        </p:nvSpPr>
        <p:spPr>
          <a:xfrm>
            <a:off x="822960" y="7406640"/>
            <a:ext cx="8046720" cy="2103120"/>
          </a:xfrm>
          <a:prstGeom prst="rect">
            <a:avLst/>
          </a:prstGeom>
          <a:noFill/>
        </p:spPr>
        <p:txBody>
          <a:bodyPr wrap="square" lIns="45720" rIns="45720" tIns="27432" bIns="27432" anchor="t">
            <a:spAutoFit/>
          </a:bodyPr>
          <a:lstStyle/>
          <a:p>
            <a:pPr algn="l">
              <a:lnSpc>
                <a:spcPct val="110000"/>
              </a:lnSpc>
              <a:spcAft>
                <a:spcPts val="1200"/>
              </a:spcAft>
            </a:pPr>
            <a:r>
              <a:rPr sz="2200" b="0">
                <a:solidFill>
                  <a:srgbClr val="1F2A24"/>
                </a:solidFill>
                <a:latin typeface="Arial"/>
              </a:rPr>
              <a:t>Two units, not one, so the plant keeps running during maintenance and the output stays modular.</a:t>
            </a:r>
          </a:p>
          <a:p>
            <a:pPr algn="l">
              <a:lnSpc>
                <a:spcPct val="110000"/>
              </a:lnSpc>
              <a:spcAft>
                <a:spcPts val="600"/>
              </a:spcAft>
            </a:pPr>
            <a:r>
              <a:rPr sz="2200" b="0">
                <a:solidFill>
                  <a:srgbClr val="1F2A24"/>
                </a:solidFill>
                <a:latin typeface="Arial"/>
              </a:rPr>
              <a:t>Roughly 8,000 MWh of power a year, and a similar scale of heat for drying the fuel.</a:t>
            </a:r>
          </a:p>
        </p:txBody>
      </p:sp>
      <p:sp>
        <p:nvSpPr>
          <p:cNvPr id="17" name="Rectangle 16"/>
          <p:cNvSpPr/>
          <p:nvPr/>
        </p:nvSpPr>
        <p:spPr>
          <a:xfrm>
            <a:off x="9509760" y="3657600"/>
            <a:ext cx="7955279" cy="557784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509760" y="3657600"/>
            <a:ext cx="109728" cy="5577840"/>
          </a:xfrm>
          <a:prstGeom prst="rect">
            <a:avLst/>
          </a:prstGeom>
          <a:solidFill>
            <a:srgbClr val="C46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29800" y="3840480"/>
            <a:ext cx="7406640" cy="822960"/>
          </a:xfrm>
          <a:prstGeom prst="rect">
            <a:avLst/>
          </a:prstGeom>
          <a:noFill/>
        </p:spPr>
        <p:txBody>
          <a:bodyPr wrap="square" lIns="45720" rIns="45720" tIns="27432" bIns="27432" anchor="t">
            <a:spAutoFit/>
          </a:bodyPr>
          <a:lstStyle/>
          <a:p>
            <a:pPr algn="l">
              <a:lnSpc>
                <a:spcPct val="110000"/>
              </a:lnSpc>
              <a:spcAft>
                <a:spcPts val="600"/>
              </a:spcAft>
            </a:pPr>
            <a:r>
              <a:rPr sz="2500" b="1">
                <a:solidFill>
                  <a:srgbClr val="C4663A"/>
                </a:solidFill>
                <a:latin typeface="Georgia"/>
              </a:rPr>
              <a:t>What it takes</a:t>
            </a:r>
          </a:p>
        </p:txBody>
      </p:sp>
      <p:sp>
        <p:nvSpPr>
          <p:cNvPr id="20" name="TextBox 19"/>
          <p:cNvSpPr txBox="1"/>
          <p:nvPr/>
        </p:nvSpPr>
        <p:spPr>
          <a:xfrm>
            <a:off x="9829800" y="4709160"/>
            <a:ext cx="7406640" cy="4389120"/>
          </a:xfrm>
          <a:prstGeom prst="rect">
            <a:avLst/>
          </a:prstGeom>
          <a:noFill/>
        </p:spPr>
        <p:txBody>
          <a:bodyPr wrap="square" lIns="45720" rIns="45720" tIns="27432" bIns="27432" anchor="t">
            <a:spAutoFit/>
          </a:bodyPr>
          <a:lstStyle/>
          <a:p>
            <a:pPr algn="l">
              <a:lnSpc>
                <a:spcPct val="110000"/>
              </a:lnSpc>
              <a:spcAft>
                <a:spcPts val="900"/>
              </a:spcAft>
            </a:pPr>
            <a:r>
              <a:rPr sz="2300" b="0">
                <a:solidFill>
                  <a:srgbClr val="1F2A24"/>
                </a:solidFill>
                <a:latin typeface="Arial"/>
              </a:rPr>
              <a:t>A full-scale AI data center as the anchor customer: steady 24-hour power and heat from dispatchable biomass.</a:t>
            </a:r>
          </a:p>
          <a:p>
            <a:pPr algn="l">
              <a:lnSpc>
                <a:spcPct val="110000"/>
              </a:lnSpc>
              <a:spcAft>
                <a:spcPts val="900"/>
              </a:spcAft>
            </a:pPr>
            <a:r>
              <a:rPr sz="2300" b="0">
                <a:solidFill>
                  <a:srgbClr val="1F2A24"/>
                </a:solidFill>
                <a:latin typeface="Arial"/>
              </a:rPr>
              <a:t>About 13,000 t of dry wood a year, which needs a doubled forest crew and mechanised thinning and harvest.</a:t>
            </a:r>
          </a:p>
          <a:p>
            <a:pPr algn="l">
              <a:lnSpc>
                <a:spcPct val="110000"/>
              </a:lnSpc>
              <a:spcAft>
                <a:spcPts val="900"/>
              </a:spcAft>
            </a:pPr>
            <a:r>
              <a:rPr sz="2100" b="1">
                <a:solidFill>
                  <a:srgbClr val="C4663A"/>
                </a:solidFill>
                <a:latin typeface="Arial"/>
              </a:rPr>
              <a:t>Long-term, with no fixed date. The prototype comes first.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822960" cy="822960"/>
          </a:xfrm>
          <a:prstGeom prst="rect">
            <a:avLst/>
          </a:prstGeom>
          <a:noFill/>
        </p:spPr>
        <p:txBody>
          <a:bodyPr wrap="square" lIns="45720" rIns="45720" tIns="27432" bIns="27432" anchor="t">
            <a:spAutoFit/>
          </a:bodyPr>
          <a:lstStyle/>
          <a:p>
            <a:pPr algn="l">
              <a:lnSpc>
                <a:spcPct val="110000"/>
              </a:lnSpc>
              <a:spcAft>
                <a:spcPts val="600"/>
              </a:spcAft>
            </a:pPr>
            <a:r>
              <a:rPr sz="4000" b="0">
                <a:solidFill>
                  <a:srgbClr val="2F4A37"/>
                </a:solidFill>
                <a:latin typeface="Noto Serif JP"/>
              </a:rPr>
              <a:t>御</a:t>
            </a:r>
          </a:p>
        </p:txBody>
      </p:sp>
      <p:sp>
        <p:nvSpPr>
          <p:cNvPr id="4" name="TextBox 3"/>
          <p:cNvSpPr txBox="1"/>
          <p:nvPr/>
        </p:nvSpPr>
        <p:spPr>
          <a:xfrm>
            <a:off x="1645920" y="566928"/>
            <a:ext cx="73152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4C554F"/>
                </a:solidFill>
                <a:latin typeface="Courier New"/>
              </a:rPr>
              <a:t>MITSUE PROJECT</a:t>
            </a:r>
          </a:p>
        </p:txBody>
      </p:sp>
      <p:sp>
        <p:nvSpPr>
          <p:cNvPr id="5" name="TextBox 4"/>
          <p:cNvSpPr txBox="1"/>
          <p:nvPr/>
        </p:nvSpPr>
        <p:spPr>
          <a:xfrm>
            <a:off x="1645920" y="914400"/>
            <a:ext cx="109728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C4663A"/>
                </a:solidFill>
                <a:latin typeface="Courier New"/>
              </a:rPr>
              <a:t>§ 06 · THE FIRST OF MANY</a:t>
            </a:r>
          </a:p>
        </p:txBody>
      </p:sp>
      <p:sp>
        <p:nvSpPr>
          <p:cNvPr id="6" name="TextBox 5"/>
          <p:cNvSpPr txBox="1"/>
          <p:nvPr/>
        </p:nvSpPr>
        <p:spPr>
          <a:xfrm>
            <a:off x="822960" y="1600200"/>
            <a:ext cx="16642080" cy="1737360"/>
          </a:xfrm>
          <a:prstGeom prst="rect">
            <a:avLst/>
          </a:prstGeom>
          <a:noFill/>
        </p:spPr>
        <p:txBody>
          <a:bodyPr wrap="square" lIns="45720" rIns="45720" tIns="27432" bIns="27432" anchor="t">
            <a:spAutoFit/>
          </a:bodyPr>
          <a:lstStyle/>
          <a:p>
            <a:pPr algn="l">
              <a:lnSpc>
                <a:spcPct val="100000"/>
              </a:lnSpc>
              <a:spcAft>
                <a:spcPts val="600"/>
              </a:spcAft>
            </a:pPr>
            <a:r>
              <a:rPr sz="4600" b="1">
                <a:solidFill>
                  <a:srgbClr val="1F2A24"/>
                </a:solidFill>
                <a:latin typeface="Georgia"/>
              </a:rPr>
              <a:t>Mitsue is the first. Many more forests need the same</a:t>
            </a:r>
          </a:p>
        </p:txBody>
      </p:sp>
      <p:sp>
        <p:nvSpPr>
          <p:cNvPr id="7" name="TextBox 6"/>
          <p:cNvSpPr txBox="1"/>
          <p:nvPr/>
        </p:nvSpPr>
        <p:spPr>
          <a:xfrm>
            <a:off x="822960" y="9646920"/>
            <a:ext cx="12801600" cy="365760"/>
          </a:xfrm>
          <a:prstGeom prst="rect">
            <a:avLst/>
          </a:prstGeom>
          <a:noFill/>
        </p:spPr>
        <p:txBody>
          <a:bodyPr wrap="square" lIns="45720" rIns="45720" tIns="27432" bIns="27432" anchor="t">
            <a:spAutoFit/>
          </a:bodyPr>
          <a:lstStyle/>
          <a:p>
            <a:pPr algn="l">
              <a:lnSpc>
                <a:spcPct val="110000"/>
              </a:lnSpc>
              <a:spcAft>
                <a:spcPts val="600"/>
              </a:spcAft>
            </a:pPr>
            <a:r>
              <a:rPr sz="1300" b="0">
                <a:solidFill>
                  <a:srgbClr val="4C554F"/>
                </a:solidFill>
                <a:latin typeface="Courier New"/>
              </a:rPr>
              <a:t>PREPARED FOR KOMATSU LTD. · TEAMS MEETING 27 OCT 2026 · DRAFT</a:t>
            </a:r>
          </a:p>
        </p:txBody>
      </p:sp>
      <p:sp>
        <p:nvSpPr>
          <p:cNvPr id="8" name="TextBox 7"/>
          <p:cNvSpPr txBox="1"/>
          <p:nvPr/>
        </p:nvSpPr>
        <p:spPr>
          <a:xfrm>
            <a:off x="14904720" y="9646920"/>
            <a:ext cx="2560320" cy="365760"/>
          </a:xfrm>
          <a:prstGeom prst="rect">
            <a:avLst/>
          </a:prstGeom>
          <a:noFill/>
        </p:spPr>
        <p:txBody>
          <a:bodyPr wrap="square" lIns="45720" rIns="45720" tIns="27432" bIns="27432" anchor="t">
            <a:spAutoFit/>
          </a:bodyPr>
          <a:lstStyle/>
          <a:p>
            <a:pPr algn="r">
              <a:lnSpc>
                <a:spcPct val="110000"/>
              </a:lnSpc>
              <a:spcAft>
                <a:spcPts val="600"/>
              </a:spcAft>
            </a:pPr>
            <a:r>
              <a:rPr sz="1300" b="0">
                <a:solidFill>
                  <a:srgbClr val="4C554F"/>
                </a:solidFill>
                <a:latin typeface="Courier New"/>
              </a:rPr>
              <a:t>07 / 12</a:t>
            </a:r>
          </a:p>
        </p:txBody>
      </p:sp>
      <p:sp>
        <p:nvSpPr>
          <p:cNvPr id="9" name="Rectangle 8"/>
          <p:cNvSpPr/>
          <p:nvPr/>
        </p:nvSpPr>
        <p:spPr>
          <a:xfrm>
            <a:off x="822960" y="3566160"/>
            <a:ext cx="6949440" cy="566928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840480"/>
            <a:ext cx="6400800" cy="1463040"/>
          </a:xfrm>
          <a:prstGeom prst="rect">
            <a:avLst/>
          </a:prstGeom>
          <a:noFill/>
        </p:spPr>
        <p:txBody>
          <a:bodyPr wrap="square" lIns="45720" rIns="45720" tIns="27432" bIns="27432" anchor="t">
            <a:spAutoFit/>
          </a:bodyPr>
          <a:lstStyle/>
          <a:p>
            <a:pPr algn="l">
              <a:lnSpc>
                <a:spcPct val="110000"/>
              </a:lnSpc>
              <a:spcAft>
                <a:spcPts val="600"/>
              </a:spcAft>
            </a:pPr>
            <a:r>
              <a:rPr sz="5400" b="1">
                <a:solidFill>
                  <a:srgbClr val="F3ECE0"/>
                </a:solidFill>
                <a:latin typeface="Georgia"/>
              </a:rPr>
              <a:t>≈ 10 million ha</a:t>
            </a:r>
          </a:p>
        </p:txBody>
      </p:sp>
      <p:sp>
        <p:nvSpPr>
          <p:cNvPr id="11" name="TextBox 10"/>
          <p:cNvSpPr txBox="1"/>
          <p:nvPr/>
        </p:nvSpPr>
        <p:spPr>
          <a:xfrm>
            <a:off x="1097280" y="5212080"/>
            <a:ext cx="6400800" cy="3840480"/>
          </a:xfrm>
          <a:prstGeom prst="rect">
            <a:avLst/>
          </a:prstGeom>
          <a:noFill/>
        </p:spPr>
        <p:txBody>
          <a:bodyPr wrap="square" lIns="45720" rIns="45720" tIns="27432" bIns="27432" anchor="t">
            <a:spAutoFit/>
          </a:bodyPr>
          <a:lstStyle/>
          <a:p>
            <a:pPr algn="l">
              <a:lnSpc>
                <a:spcPct val="110000"/>
              </a:lnSpc>
              <a:spcAft>
                <a:spcPts val="1200"/>
              </a:spcAft>
            </a:pPr>
            <a:r>
              <a:rPr sz="2400" b="0">
                <a:solidFill>
                  <a:srgbClr val="F3ECE0"/>
                </a:solidFill>
                <a:latin typeface="Arial"/>
              </a:rPr>
              <a:t>of planted forest in Japan.</a:t>
            </a:r>
          </a:p>
          <a:p>
            <a:pPr algn="l">
              <a:lnSpc>
                <a:spcPct val="110000"/>
              </a:lnSpc>
              <a:spcAft>
                <a:spcPts val="1200"/>
              </a:spcAft>
            </a:pPr>
            <a:r>
              <a:rPr sz="2400" b="0">
                <a:solidFill>
                  <a:srgbClr val="F3ECE0"/>
                </a:solidFill>
                <a:latin typeface="Arial"/>
              </a:rPr>
              <a:t>Much of it was planted after the war and is now ready to harvest, in villages that, like Mitsue, are short of forestry workers.</a:t>
            </a:r>
          </a:p>
          <a:p>
            <a:pPr algn="l">
              <a:lnSpc>
                <a:spcPct val="110000"/>
              </a:lnSpc>
              <a:spcAft>
                <a:spcPts val="1200"/>
              </a:spcAft>
            </a:pPr>
            <a:r>
              <a:rPr sz="1600" b="0">
                <a:solidFill>
                  <a:srgbClr val="F3B486"/>
                </a:solidFill>
                <a:latin typeface="Arial"/>
              </a:rPr>
              <a:t>Source: Forestry Agency, 31 March 2022 (10,093,422 ha).</a:t>
            </a:r>
          </a:p>
        </p:txBody>
      </p:sp>
      <p:sp>
        <p:nvSpPr>
          <p:cNvPr id="12" name="Rectangle 11"/>
          <p:cNvSpPr/>
          <p:nvPr/>
        </p:nvSpPr>
        <p:spPr>
          <a:xfrm>
            <a:off x="8229600" y="3566160"/>
            <a:ext cx="9235440" cy="178308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3566160"/>
            <a:ext cx="109728" cy="1783080"/>
          </a:xfrm>
          <a:prstGeom prst="rect">
            <a:avLst/>
          </a:prstGeom>
          <a:solidFill>
            <a:srgbClr val="C46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9640" y="3703320"/>
            <a:ext cx="731520" cy="914400"/>
          </a:xfrm>
          <a:prstGeom prst="rect">
            <a:avLst/>
          </a:prstGeom>
          <a:noFill/>
        </p:spPr>
        <p:txBody>
          <a:bodyPr wrap="square" lIns="45720" rIns="45720" tIns="27432" bIns="27432" anchor="t">
            <a:spAutoFit/>
          </a:bodyPr>
          <a:lstStyle/>
          <a:p>
            <a:pPr algn="l">
              <a:lnSpc>
                <a:spcPct val="110000"/>
              </a:lnSpc>
              <a:spcAft>
                <a:spcPts val="600"/>
              </a:spcAft>
            </a:pPr>
            <a:r>
              <a:rPr sz="4400" b="1">
                <a:solidFill>
                  <a:srgbClr val="C4663A"/>
                </a:solidFill>
                <a:latin typeface="Georgia"/>
              </a:rPr>
              <a:t>1</a:t>
            </a:r>
          </a:p>
        </p:txBody>
      </p:sp>
      <p:sp>
        <p:nvSpPr>
          <p:cNvPr id="15" name="TextBox 14"/>
          <p:cNvSpPr txBox="1"/>
          <p:nvPr/>
        </p:nvSpPr>
        <p:spPr>
          <a:xfrm>
            <a:off x="9326880" y="3675887"/>
            <a:ext cx="7955279" cy="640080"/>
          </a:xfrm>
          <a:prstGeom prst="rect">
            <a:avLst/>
          </a:prstGeom>
          <a:noFill/>
        </p:spPr>
        <p:txBody>
          <a:bodyPr wrap="square" lIns="45720" rIns="45720" tIns="27432" bIns="27432" anchor="t">
            <a:spAutoFit/>
          </a:bodyPr>
          <a:lstStyle/>
          <a:p>
            <a:pPr algn="l">
              <a:lnSpc>
                <a:spcPct val="110000"/>
              </a:lnSpc>
              <a:spcAft>
                <a:spcPts val="600"/>
              </a:spcAft>
            </a:pPr>
            <a:r>
              <a:rPr sz="2500" b="1">
                <a:solidFill>
                  <a:srgbClr val="C4663A"/>
                </a:solidFill>
                <a:latin typeface="Georgia"/>
              </a:rPr>
              <a:t>Mitsue: prove it</a:t>
            </a:r>
          </a:p>
        </p:txBody>
      </p:sp>
      <p:sp>
        <p:nvSpPr>
          <p:cNvPr id="16" name="TextBox 15"/>
          <p:cNvSpPr txBox="1"/>
          <p:nvPr/>
        </p:nvSpPr>
        <p:spPr>
          <a:xfrm>
            <a:off x="9326880" y="4297680"/>
            <a:ext cx="7955279" cy="1005840"/>
          </a:xfrm>
          <a:prstGeom prst="rect">
            <a:avLst/>
          </a:prstGeom>
          <a:noFill/>
        </p:spPr>
        <p:txBody>
          <a:bodyPr wrap="square" lIns="45720" rIns="45720" tIns="27432" bIns="27432" anchor="t">
            <a:spAutoFit/>
          </a:bodyPr>
          <a:lstStyle/>
          <a:p>
            <a:pPr algn="l">
              <a:lnSpc>
                <a:spcPct val="110000"/>
              </a:lnSpc>
              <a:spcAft>
                <a:spcPts val="600"/>
              </a:spcAft>
            </a:pPr>
            <a:r>
              <a:rPr sz="2000" b="0">
                <a:solidFill>
                  <a:srgbClr val="1F2A24"/>
                </a:solidFill>
                <a:latin typeface="Arial"/>
              </a:rPr>
              <a:t>Harvest, replant native broadleaf, run a small CHP, train local operators.</a:t>
            </a:r>
          </a:p>
        </p:txBody>
      </p:sp>
      <p:sp>
        <p:nvSpPr>
          <p:cNvPr id="17" name="Rectangle 16"/>
          <p:cNvSpPr/>
          <p:nvPr/>
        </p:nvSpPr>
        <p:spPr>
          <a:xfrm>
            <a:off x="8229600" y="5532120"/>
            <a:ext cx="9235440" cy="178308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5532120"/>
            <a:ext cx="109728" cy="178308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5669280"/>
            <a:ext cx="731520" cy="914400"/>
          </a:xfrm>
          <a:prstGeom prst="rect">
            <a:avLst/>
          </a:prstGeom>
          <a:noFill/>
        </p:spPr>
        <p:txBody>
          <a:bodyPr wrap="square" lIns="45720" rIns="45720" tIns="27432" bIns="27432" anchor="t">
            <a:spAutoFit/>
          </a:bodyPr>
          <a:lstStyle/>
          <a:p>
            <a:pPr algn="l">
              <a:lnSpc>
                <a:spcPct val="110000"/>
              </a:lnSpc>
              <a:spcAft>
                <a:spcPts val="600"/>
              </a:spcAft>
            </a:pPr>
            <a:r>
              <a:rPr sz="4400" b="1">
                <a:solidFill>
                  <a:srgbClr val="2F4A37"/>
                </a:solidFill>
                <a:latin typeface="Georgia"/>
              </a:rPr>
              <a:t>2</a:t>
            </a:r>
          </a:p>
        </p:txBody>
      </p:sp>
      <p:sp>
        <p:nvSpPr>
          <p:cNvPr id="20" name="TextBox 19"/>
          <p:cNvSpPr txBox="1"/>
          <p:nvPr/>
        </p:nvSpPr>
        <p:spPr>
          <a:xfrm>
            <a:off x="9326880" y="5641848"/>
            <a:ext cx="7955279" cy="640080"/>
          </a:xfrm>
          <a:prstGeom prst="rect">
            <a:avLst/>
          </a:prstGeom>
          <a:noFill/>
        </p:spPr>
        <p:txBody>
          <a:bodyPr wrap="square" lIns="45720" rIns="45720" tIns="27432" bIns="27432" anchor="t">
            <a:spAutoFit/>
          </a:bodyPr>
          <a:lstStyle/>
          <a:p>
            <a:pPr algn="l">
              <a:lnSpc>
                <a:spcPct val="110000"/>
              </a:lnSpc>
              <a:spcAft>
                <a:spcPts val="600"/>
              </a:spcAft>
            </a:pPr>
            <a:r>
              <a:rPr sz="2500" b="1">
                <a:solidFill>
                  <a:srgbClr val="2F4A37"/>
                </a:solidFill>
                <a:latin typeface="Georgia"/>
              </a:rPr>
              <a:t>Nearby villages: repeat it</a:t>
            </a:r>
          </a:p>
        </p:txBody>
      </p:sp>
      <p:sp>
        <p:nvSpPr>
          <p:cNvPr id="21" name="TextBox 20"/>
          <p:cNvSpPr txBox="1"/>
          <p:nvPr/>
        </p:nvSpPr>
        <p:spPr>
          <a:xfrm>
            <a:off x="9326880" y="6263640"/>
            <a:ext cx="7955279" cy="1005840"/>
          </a:xfrm>
          <a:prstGeom prst="rect">
            <a:avLst/>
          </a:prstGeom>
          <a:noFill/>
        </p:spPr>
        <p:txBody>
          <a:bodyPr wrap="square" lIns="45720" rIns="45720" tIns="27432" bIns="27432" anchor="t">
            <a:spAutoFit/>
          </a:bodyPr>
          <a:lstStyle/>
          <a:p>
            <a:pPr algn="l">
              <a:lnSpc>
                <a:spcPct val="110000"/>
              </a:lnSpc>
              <a:spcAft>
                <a:spcPts val="600"/>
              </a:spcAft>
            </a:pPr>
            <a:r>
              <a:rPr sz="2000" b="0">
                <a:solidFill>
                  <a:srgbClr val="1F2A24"/>
                </a:solidFill>
                <a:latin typeface="Arial"/>
              </a:rPr>
              <a:t>Same machines, same methods, same open documents. We have had early conversations in other forest villages.</a:t>
            </a:r>
          </a:p>
        </p:txBody>
      </p:sp>
      <p:sp>
        <p:nvSpPr>
          <p:cNvPr id="22" name="Rectangle 21"/>
          <p:cNvSpPr/>
          <p:nvPr/>
        </p:nvSpPr>
        <p:spPr>
          <a:xfrm>
            <a:off x="8229600" y="7498079"/>
            <a:ext cx="9235440" cy="178308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7498079"/>
            <a:ext cx="109728" cy="1783080"/>
          </a:xfrm>
          <a:prstGeom prst="rect">
            <a:avLst/>
          </a:prstGeom>
          <a:solidFill>
            <a:srgbClr val="3A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49640" y="7635240"/>
            <a:ext cx="731520" cy="914400"/>
          </a:xfrm>
          <a:prstGeom prst="rect">
            <a:avLst/>
          </a:prstGeom>
          <a:noFill/>
        </p:spPr>
        <p:txBody>
          <a:bodyPr wrap="square" lIns="45720" rIns="45720" tIns="27432" bIns="27432" anchor="t">
            <a:spAutoFit/>
          </a:bodyPr>
          <a:lstStyle/>
          <a:p>
            <a:pPr algn="l">
              <a:lnSpc>
                <a:spcPct val="110000"/>
              </a:lnSpc>
              <a:spcAft>
                <a:spcPts val="600"/>
              </a:spcAft>
            </a:pPr>
            <a:r>
              <a:rPr sz="4400" b="1">
                <a:solidFill>
                  <a:srgbClr val="3A7A5A"/>
                </a:solidFill>
                <a:latin typeface="Georgia"/>
              </a:rPr>
              <a:t>3</a:t>
            </a:r>
          </a:p>
        </p:txBody>
      </p:sp>
      <p:sp>
        <p:nvSpPr>
          <p:cNvPr id="25" name="TextBox 24"/>
          <p:cNvSpPr txBox="1"/>
          <p:nvPr/>
        </p:nvSpPr>
        <p:spPr>
          <a:xfrm>
            <a:off x="9326880" y="7607807"/>
            <a:ext cx="7955279" cy="640080"/>
          </a:xfrm>
          <a:prstGeom prst="rect">
            <a:avLst/>
          </a:prstGeom>
          <a:noFill/>
        </p:spPr>
        <p:txBody>
          <a:bodyPr wrap="square" lIns="45720" rIns="45720" tIns="27432" bIns="27432" anchor="t">
            <a:spAutoFit/>
          </a:bodyPr>
          <a:lstStyle/>
          <a:p>
            <a:pPr algn="l">
              <a:lnSpc>
                <a:spcPct val="110000"/>
              </a:lnSpc>
              <a:spcAft>
                <a:spcPts val="600"/>
              </a:spcAft>
            </a:pPr>
            <a:r>
              <a:rPr sz="2500" b="1">
                <a:solidFill>
                  <a:srgbClr val="3A7A5A"/>
                </a:solidFill>
                <a:latin typeface="Georgia"/>
              </a:rPr>
              <a:t>Many more forests</a:t>
            </a:r>
          </a:p>
        </p:txBody>
      </p:sp>
      <p:sp>
        <p:nvSpPr>
          <p:cNvPr id="26" name="TextBox 25"/>
          <p:cNvSpPr txBox="1"/>
          <p:nvPr/>
        </p:nvSpPr>
        <p:spPr>
          <a:xfrm>
            <a:off x="9326880" y="8229600"/>
            <a:ext cx="7955279" cy="1005840"/>
          </a:xfrm>
          <a:prstGeom prst="rect">
            <a:avLst/>
          </a:prstGeom>
          <a:noFill/>
        </p:spPr>
        <p:txBody>
          <a:bodyPr wrap="square" lIns="45720" rIns="45720" tIns="27432" bIns="27432" anchor="t">
            <a:spAutoFit/>
          </a:bodyPr>
          <a:lstStyle/>
          <a:p>
            <a:pPr algn="l">
              <a:lnSpc>
                <a:spcPct val="110000"/>
              </a:lnSpc>
              <a:spcAft>
                <a:spcPts val="600"/>
              </a:spcAft>
            </a:pPr>
            <a:r>
              <a:rPr sz="2000" b="0">
                <a:solidFill>
                  <a:srgbClr val="1F2A24"/>
                </a:solidFill>
                <a:latin typeface="Arial"/>
              </a:rPr>
              <a:t>A template for depopulating mountain villages across Japan, with CTL machines and trained operators at the centre.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822960" cy="822960"/>
          </a:xfrm>
          <a:prstGeom prst="rect">
            <a:avLst/>
          </a:prstGeom>
          <a:noFill/>
        </p:spPr>
        <p:txBody>
          <a:bodyPr wrap="square" lIns="45720" rIns="45720" tIns="27432" bIns="27432" anchor="t">
            <a:spAutoFit/>
          </a:bodyPr>
          <a:lstStyle/>
          <a:p>
            <a:pPr algn="l">
              <a:lnSpc>
                <a:spcPct val="110000"/>
              </a:lnSpc>
              <a:spcAft>
                <a:spcPts val="600"/>
              </a:spcAft>
            </a:pPr>
            <a:r>
              <a:rPr sz="4000" b="0">
                <a:solidFill>
                  <a:srgbClr val="2F4A37"/>
                </a:solidFill>
                <a:latin typeface="Noto Serif JP"/>
              </a:rPr>
              <a:t>御</a:t>
            </a:r>
          </a:p>
        </p:txBody>
      </p:sp>
      <p:sp>
        <p:nvSpPr>
          <p:cNvPr id="4" name="TextBox 3"/>
          <p:cNvSpPr txBox="1"/>
          <p:nvPr/>
        </p:nvSpPr>
        <p:spPr>
          <a:xfrm>
            <a:off x="1645920" y="566928"/>
            <a:ext cx="73152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4C554F"/>
                </a:solidFill>
                <a:latin typeface="Courier New"/>
              </a:rPr>
              <a:t>MITSUE PROJECT</a:t>
            </a:r>
          </a:p>
        </p:txBody>
      </p:sp>
      <p:sp>
        <p:nvSpPr>
          <p:cNvPr id="5" name="TextBox 4"/>
          <p:cNvSpPr txBox="1"/>
          <p:nvPr/>
        </p:nvSpPr>
        <p:spPr>
          <a:xfrm>
            <a:off x="1645920" y="914400"/>
            <a:ext cx="109728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C4663A"/>
                </a:solidFill>
                <a:latin typeface="Courier New"/>
              </a:rPr>
              <a:t>§ 07 · WHERE CTL COULD FIT</a:t>
            </a:r>
          </a:p>
        </p:txBody>
      </p:sp>
      <p:sp>
        <p:nvSpPr>
          <p:cNvPr id="6" name="TextBox 5"/>
          <p:cNvSpPr txBox="1"/>
          <p:nvPr/>
        </p:nvSpPr>
        <p:spPr>
          <a:xfrm>
            <a:off x="822960" y="1600200"/>
            <a:ext cx="16642080" cy="1737360"/>
          </a:xfrm>
          <a:prstGeom prst="rect">
            <a:avLst/>
          </a:prstGeom>
          <a:noFill/>
        </p:spPr>
        <p:txBody>
          <a:bodyPr wrap="square" lIns="45720" rIns="45720" tIns="27432" bIns="27432" anchor="t">
            <a:spAutoFit/>
          </a:bodyPr>
          <a:lstStyle/>
          <a:p>
            <a:pPr algn="l">
              <a:lnSpc>
                <a:spcPct val="100000"/>
              </a:lnSpc>
              <a:spcAft>
                <a:spcPts val="600"/>
              </a:spcAft>
            </a:pPr>
            <a:r>
              <a:rPr sz="4600" b="1">
                <a:solidFill>
                  <a:srgbClr val="1F2A24"/>
                </a:solidFill>
                <a:latin typeface="Georgia"/>
              </a:rPr>
              <a:t>What we hope to learn from a Komatsu trial</a:t>
            </a:r>
          </a:p>
        </p:txBody>
      </p:sp>
      <p:sp>
        <p:nvSpPr>
          <p:cNvPr id="7" name="TextBox 6"/>
          <p:cNvSpPr txBox="1"/>
          <p:nvPr/>
        </p:nvSpPr>
        <p:spPr>
          <a:xfrm>
            <a:off x="822960" y="9646920"/>
            <a:ext cx="12801600" cy="365760"/>
          </a:xfrm>
          <a:prstGeom prst="rect">
            <a:avLst/>
          </a:prstGeom>
          <a:noFill/>
        </p:spPr>
        <p:txBody>
          <a:bodyPr wrap="square" lIns="45720" rIns="45720" tIns="27432" bIns="27432" anchor="t">
            <a:spAutoFit/>
          </a:bodyPr>
          <a:lstStyle/>
          <a:p>
            <a:pPr algn="l">
              <a:lnSpc>
                <a:spcPct val="110000"/>
              </a:lnSpc>
              <a:spcAft>
                <a:spcPts val="600"/>
              </a:spcAft>
            </a:pPr>
            <a:r>
              <a:rPr sz="1300" b="0">
                <a:solidFill>
                  <a:srgbClr val="4C554F"/>
                </a:solidFill>
                <a:latin typeface="Courier New"/>
              </a:rPr>
              <a:t>PREPARED FOR KOMATSU LTD. · TEAMS MEETING 27 OCT 2026 · DRAFT</a:t>
            </a:r>
          </a:p>
        </p:txBody>
      </p:sp>
      <p:sp>
        <p:nvSpPr>
          <p:cNvPr id="8" name="TextBox 7"/>
          <p:cNvSpPr txBox="1"/>
          <p:nvPr/>
        </p:nvSpPr>
        <p:spPr>
          <a:xfrm>
            <a:off x="14904720" y="9646920"/>
            <a:ext cx="2560320" cy="365760"/>
          </a:xfrm>
          <a:prstGeom prst="rect">
            <a:avLst/>
          </a:prstGeom>
          <a:noFill/>
        </p:spPr>
        <p:txBody>
          <a:bodyPr wrap="square" lIns="45720" rIns="45720" tIns="27432" bIns="27432" anchor="t">
            <a:spAutoFit/>
          </a:bodyPr>
          <a:lstStyle/>
          <a:p>
            <a:pPr algn="r">
              <a:lnSpc>
                <a:spcPct val="110000"/>
              </a:lnSpc>
              <a:spcAft>
                <a:spcPts val="600"/>
              </a:spcAft>
            </a:pPr>
            <a:r>
              <a:rPr sz="1300" b="0">
                <a:solidFill>
                  <a:srgbClr val="4C554F"/>
                </a:solidFill>
                <a:latin typeface="Courier New"/>
              </a:rPr>
              <a:t>08 / 12</a:t>
            </a:r>
          </a:p>
        </p:txBody>
      </p:sp>
      <p:sp>
        <p:nvSpPr>
          <p:cNvPr id="9" name="Rectangle 8"/>
          <p:cNvSpPr/>
          <p:nvPr/>
        </p:nvSpPr>
        <p:spPr>
          <a:xfrm>
            <a:off x="822960" y="3566160"/>
            <a:ext cx="5440680" cy="566928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566160"/>
            <a:ext cx="109728" cy="566928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749039"/>
            <a:ext cx="4892040" cy="822960"/>
          </a:xfrm>
          <a:prstGeom prst="rect">
            <a:avLst/>
          </a:prstGeom>
          <a:noFill/>
        </p:spPr>
        <p:txBody>
          <a:bodyPr wrap="square" lIns="45720" rIns="45720" tIns="27432" bIns="27432" anchor="t">
            <a:spAutoFit/>
          </a:bodyPr>
          <a:lstStyle/>
          <a:p>
            <a:pPr algn="l">
              <a:lnSpc>
                <a:spcPct val="110000"/>
              </a:lnSpc>
              <a:spcAft>
                <a:spcPts val="600"/>
              </a:spcAft>
            </a:pPr>
            <a:r>
              <a:rPr sz="2500" b="1">
                <a:solidFill>
                  <a:srgbClr val="2F4A37"/>
                </a:solidFill>
                <a:latin typeface="Georgia"/>
              </a:rPr>
              <a:t>Our situation</a:t>
            </a:r>
          </a:p>
        </p:txBody>
      </p:sp>
      <p:sp>
        <p:nvSpPr>
          <p:cNvPr id="12" name="TextBox 11"/>
          <p:cNvSpPr txBox="1"/>
          <p:nvPr/>
        </p:nvSpPr>
        <p:spPr>
          <a:xfrm>
            <a:off x="1143000" y="4617720"/>
            <a:ext cx="4892040" cy="4480560"/>
          </a:xfrm>
          <a:prstGeom prst="rect">
            <a:avLst/>
          </a:prstGeom>
          <a:noFill/>
        </p:spPr>
        <p:txBody>
          <a:bodyPr wrap="square" lIns="45720" rIns="45720" tIns="27432" bIns="27432" anchor="t">
            <a:spAutoFit/>
          </a:bodyPr>
          <a:lstStyle/>
          <a:p>
            <a:pPr algn="l">
              <a:lnSpc>
                <a:spcPct val="110000"/>
              </a:lnSpc>
              <a:spcAft>
                <a:spcPts val="900"/>
              </a:spcAft>
            </a:pPr>
            <a:r>
              <a:rPr sz="2400" b="0">
                <a:solidFill>
                  <a:srgbClr val="1F2A24"/>
                </a:solidFill>
                <a:latin typeface="Arial"/>
              </a:rPr>
              <a:t>Steep terrain, thinning of 50–75-year-old sugi.</a:t>
            </a:r>
          </a:p>
          <a:p>
            <a:pPr algn="l">
              <a:lnSpc>
                <a:spcPct val="110000"/>
              </a:lnSpc>
              <a:spcAft>
                <a:spcPts val="900"/>
              </a:spcAft>
            </a:pPr>
            <a:r>
              <a:rPr sz="2400" b="0">
                <a:solidFill>
                  <a:srgbClr val="1F2A24"/>
                </a:solidFill>
                <a:latin typeface="Arial"/>
              </a:rPr>
              <a:t>Not enough workers: the cooperative has few young people.</a:t>
            </a:r>
          </a:p>
          <a:p>
            <a:pPr algn="l">
              <a:lnSpc>
                <a:spcPct val="110000"/>
              </a:lnSpc>
              <a:spcAft>
                <a:spcPts val="900"/>
              </a:spcAft>
            </a:pPr>
            <a:r>
              <a:rPr sz="2400" b="0">
                <a:solidFill>
                  <a:srgbClr val="1F2A24"/>
                </a:solidFill>
                <a:latin typeface="Arial"/>
              </a:rPr>
              <a:t>Small-diameter thinning, with some larger stems in long-unmanaged stands.</a:t>
            </a:r>
          </a:p>
        </p:txBody>
      </p:sp>
      <p:sp>
        <p:nvSpPr>
          <p:cNvPr id="13" name="Rectangle 12"/>
          <p:cNvSpPr/>
          <p:nvPr/>
        </p:nvSpPr>
        <p:spPr>
          <a:xfrm>
            <a:off x="6446520" y="3566160"/>
            <a:ext cx="5440680" cy="566928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46520" y="3566160"/>
            <a:ext cx="109728" cy="5669280"/>
          </a:xfrm>
          <a:prstGeom prst="rect">
            <a:avLst/>
          </a:prstGeom>
          <a:solidFill>
            <a:srgbClr val="C46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3749039"/>
            <a:ext cx="4892040" cy="822960"/>
          </a:xfrm>
          <a:prstGeom prst="rect">
            <a:avLst/>
          </a:prstGeom>
          <a:noFill/>
        </p:spPr>
        <p:txBody>
          <a:bodyPr wrap="square" lIns="45720" rIns="45720" tIns="27432" bIns="27432" anchor="t">
            <a:spAutoFit/>
          </a:bodyPr>
          <a:lstStyle/>
          <a:p>
            <a:pPr algn="l">
              <a:lnSpc>
                <a:spcPct val="110000"/>
              </a:lnSpc>
              <a:spcAft>
                <a:spcPts val="600"/>
              </a:spcAft>
            </a:pPr>
            <a:r>
              <a:rPr sz="2500" b="1">
                <a:solidFill>
                  <a:srgbClr val="C4663A"/>
                </a:solidFill>
                <a:latin typeface="Georgia"/>
              </a:rPr>
              <a:t>What we have looked at</a:t>
            </a:r>
          </a:p>
        </p:txBody>
      </p:sp>
      <p:sp>
        <p:nvSpPr>
          <p:cNvPr id="16" name="TextBox 15"/>
          <p:cNvSpPr txBox="1"/>
          <p:nvPr/>
        </p:nvSpPr>
        <p:spPr>
          <a:xfrm>
            <a:off x="6766560" y="4617720"/>
            <a:ext cx="4892040" cy="4480560"/>
          </a:xfrm>
          <a:prstGeom prst="rect">
            <a:avLst/>
          </a:prstGeom>
          <a:noFill/>
        </p:spPr>
        <p:txBody>
          <a:bodyPr wrap="square" lIns="45720" rIns="45720" tIns="27432" bIns="27432" anchor="t">
            <a:spAutoFit/>
          </a:bodyPr>
          <a:lstStyle/>
          <a:p>
            <a:pPr algn="l">
              <a:lnSpc>
                <a:spcPct val="110000"/>
              </a:lnSpc>
              <a:spcAft>
                <a:spcPts val="900"/>
              </a:spcAft>
            </a:pPr>
            <a:r>
              <a:rPr sz="2400" b="0">
                <a:solidFill>
                  <a:srgbClr val="1F2A24"/>
                </a:solidFill>
                <a:latin typeface="Arial"/>
              </a:rPr>
              <a:t>901XC with C93 head looks like the better match for our scale.</a:t>
            </a:r>
          </a:p>
          <a:p>
            <a:pPr algn="l">
              <a:lnSpc>
                <a:spcPct val="110000"/>
              </a:lnSpc>
              <a:spcAft>
                <a:spcPts val="900"/>
              </a:spcAft>
            </a:pPr>
            <a:r>
              <a:rPr sz="2400" b="0">
                <a:solidFill>
                  <a:srgbClr val="1F2A24"/>
                </a:solidFill>
                <a:latin typeface="Arial"/>
              </a:rPr>
              <a:t>931XC and 855 forwarder also considered.</a:t>
            </a:r>
          </a:p>
          <a:p>
            <a:pPr algn="l">
              <a:lnSpc>
                <a:spcPct val="110000"/>
              </a:lnSpc>
              <a:spcAft>
                <a:spcPts val="900"/>
              </a:spcAft>
            </a:pPr>
            <a:r>
              <a:rPr sz="2100" b="0">
                <a:solidFill>
                  <a:srgbClr val="4C554F"/>
                </a:solidFill>
                <a:latin typeface="Arial"/>
              </a:rPr>
              <a:t>Impression from videos only; we have not seen the machines in the field.</a:t>
            </a:r>
          </a:p>
        </p:txBody>
      </p:sp>
      <p:sp>
        <p:nvSpPr>
          <p:cNvPr id="17" name="Rectangle 16"/>
          <p:cNvSpPr/>
          <p:nvPr/>
        </p:nvSpPr>
        <p:spPr>
          <a:xfrm>
            <a:off x="12070080" y="3566160"/>
            <a:ext cx="5440680" cy="566928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70080" y="3566160"/>
            <a:ext cx="109728" cy="566928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90120" y="3749039"/>
            <a:ext cx="4892040" cy="822960"/>
          </a:xfrm>
          <a:prstGeom prst="rect">
            <a:avLst/>
          </a:prstGeom>
          <a:noFill/>
        </p:spPr>
        <p:txBody>
          <a:bodyPr wrap="square" lIns="45720" rIns="45720" tIns="27432" bIns="27432" anchor="t">
            <a:spAutoFit/>
          </a:bodyPr>
          <a:lstStyle/>
          <a:p>
            <a:pPr algn="l">
              <a:lnSpc>
                <a:spcPct val="110000"/>
              </a:lnSpc>
              <a:spcAft>
                <a:spcPts val="600"/>
              </a:spcAft>
            </a:pPr>
            <a:r>
              <a:rPr sz="2500" b="1">
                <a:solidFill>
                  <a:srgbClr val="2F4A37"/>
                </a:solidFill>
                <a:latin typeface="Georgia"/>
              </a:rPr>
              <a:t>Questions for Komatsu</a:t>
            </a:r>
          </a:p>
        </p:txBody>
      </p:sp>
      <p:sp>
        <p:nvSpPr>
          <p:cNvPr id="20" name="TextBox 19"/>
          <p:cNvSpPr txBox="1"/>
          <p:nvPr/>
        </p:nvSpPr>
        <p:spPr>
          <a:xfrm>
            <a:off x="12390120" y="4617720"/>
            <a:ext cx="4892040" cy="4480560"/>
          </a:xfrm>
          <a:prstGeom prst="rect">
            <a:avLst/>
          </a:prstGeom>
          <a:noFill/>
        </p:spPr>
        <p:txBody>
          <a:bodyPr wrap="square" lIns="45720" rIns="45720" tIns="27432" bIns="27432" anchor="t">
            <a:spAutoFit/>
          </a:bodyPr>
          <a:lstStyle/>
          <a:p>
            <a:pPr algn="l">
              <a:lnSpc>
                <a:spcPct val="110000"/>
              </a:lnSpc>
              <a:spcAft>
                <a:spcPts val="900"/>
              </a:spcAft>
            </a:pPr>
            <a:r>
              <a:rPr sz="2100" b="0">
                <a:solidFill>
                  <a:srgbClr val="1F2A24"/>
                </a:solidFill>
                <a:latin typeface="Arial"/>
              </a:rPr>
              <a:t>Is a trial feasible at our site?</a:t>
            </a:r>
          </a:p>
          <a:p>
            <a:pPr algn="l">
              <a:lnSpc>
                <a:spcPct val="110000"/>
              </a:lnSpc>
              <a:spcAft>
                <a:spcPts val="900"/>
              </a:spcAft>
            </a:pPr>
            <a:r>
              <a:rPr sz="2100" b="0">
                <a:solidFill>
                  <a:srgbClr val="1F2A24"/>
                </a:solidFill>
                <a:latin typeface="Arial"/>
              </a:rPr>
              <a:t>Slope limits and extraction-trail spacing?</a:t>
            </a:r>
          </a:p>
          <a:p>
            <a:pPr algn="l">
              <a:lnSpc>
                <a:spcPct val="110000"/>
              </a:lnSpc>
              <a:spcAft>
                <a:spcPts val="900"/>
              </a:spcAft>
            </a:pPr>
            <a:r>
              <a:rPr sz="2100" b="0">
                <a:solidFill>
                  <a:srgbClr val="1F2A24"/>
                </a:solidFill>
                <a:latin typeface="Arial"/>
              </a:rPr>
              <a:t>Is permanent road needed, or only light forwarder trails?</a:t>
            </a:r>
          </a:p>
          <a:p>
            <a:pPr algn="l">
              <a:lnSpc>
                <a:spcPct val="110000"/>
              </a:lnSpc>
              <a:spcAft>
                <a:spcPts val="900"/>
              </a:spcAft>
            </a:pPr>
            <a:r>
              <a:rPr sz="2100" b="0">
                <a:solidFill>
                  <a:srgbClr val="1F2A24"/>
                </a:solidFill>
                <a:latin typeface="Arial"/>
              </a:rPr>
              <a:t>Which model and head suit our stands?</a:t>
            </a:r>
          </a:p>
          <a:p>
            <a:pPr algn="l">
              <a:lnSpc>
                <a:spcPct val="110000"/>
              </a:lnSpc>
              <a:spcAft>
                <a:spcPts val="900"/>
              </a:spcAft>
            </a:pPr>
            <a:r>
              <a:rPr sz="2100" b="0">
                <a:solidFill>
                  <a:srgbClr val="1F2A24"/>
                </a:solidFill>
                <a:latin typeface="Arial"/>
              </a:rPr>
              <a:t>What training could a local trainee operator get?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822960" cy="822960"/>
          </a:xfrm>
          <a:prstGeom prst="rect">
            <a:avLst/>
          </a:prstGeom>
          <a:noFill/>
        </p:spPr>
        <p:txBody>
          <a:bodyPr wrap="square" lIns="45720" rIns="45720" tIns="27432" bIns="27432" anchor="t">
            <a:spAutoFit/>
          </a:bodyPr>
          <a:lstStyle/>
          <a:p>
            <a:pPr algn="l">
              <a:lnSpc>
                <a:spcPct val="110000"/>
              </a:lnSpc>
              <a:spcAft>
                <a:spcPts val="600"/>
              </a:spcAft>
            </a:pPr>
            <a:r>
              <a:rPr sz="4000" b="0">
                <a:solidFill>
                  <a:srgbClr val="2F4A37"/>
                </a:solidFill>
                <a:latin typeface="Noto Serif JP"/>
              </a:rPr>
              <a:t>御</a:t>
            </a:r>
          </a:p>
        </p:txBody>
      </p:sp>
      <p:sp>
        <p:nvSpPr>
          <p:cNvPr id="4" name="TextBox 3"/>
          <p:cNvSpPr txBox="1"/>
          <p:nvPr/>
        </p:nvSpPr>
        <p:spPr>
          <a:xfrm>
            <a:off x="1645920" y="566928"/>
            <a:ext cx="73152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4C554F"/>
                </a:solidFill>
                <a:latin typeface="Courier New"/>
              </a:rPr>
              <a:t>MITSUE PROJECT</a:t>
            </a:r>
          </a:p>
        </p:txBody>
      </p:sp>
      <p:sp>
        <p:nvSpPr>
          <p:cNvPr id="5" name="TextBox 4"/>
          <p:cNvSpPr txBox="1"/>
          <p:nvPr/>
        </p:nvSpPr>
        <p:spPr>
          <a:xfrm>
            <a:off x="1645920" y="914400"/>
            <a:ext cx="109728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C4663A"/>
                </a:solidFill>
                <a:latin typeface="Courier New"/>
              </a:rPr>
              <a:t>§ 08 · THE PEOPLE SIDE</a:t>
            </a:r>
          </a:p>
        </p:txBody>
      </p:sp>
      <p:sp>
        <p:nvSpPr>
          <p:cNvPr id="6" name="TextBox 5"/>
          <p:cNvSpPr txBox="1"/>
          <p:nvPr/>
        </p:nvSpPr>
        <p:spPr>
          <a:xfrm>
            <a:off x="822960" y="1600200"/>
            <a:ext cx="16642080" cy="1737360"/>
          </a:xfrm>
          <a:prstGeom prst="rect">
            <a:avLst/>
          </a:prstGeom>
          <a:noFill/>
        </p:spPr>
        <p:txBody>
          <a:bodyPr wrap="square" lIns="45720" rIns="45720" tIns="27432" bIns="27432" anchor="t">
            <a:spAutoFit/>
          </a:bodyPr>
          <a:lstStyle/>
          <a:p>
            <a:pPr algn="l">
              <a:lnSpc>
                <a:spcPct val="100000"/>
              </a:lnSpc>
              <a:spcAft>
                <a:spcPts val="600"/>
              </a:spcAft>
            </a:pPr>
            <a:r>
              <a:rPr sz="4600" b="1">
                <a:solidFill>
                  <a:srgbClr val="1F2A24"/>
                </a:solidFill>
                <a:latin typeface="Georgia"/>
              </a:rPr>
              <a:t>Machines only help if there are people to run them</a:t>
            </a:r>
          </a:p>
        </p:txBody>
      </p:sp>
      <p:sp>
        <p:nvSpPr>
          <p:cNvPr id="7" name="TextBox 6"/>
          <p:cNvSpPr txBox="1"/>
          <p:nvPr/>
        </p:nvSpPr>
        <p:spPr>
          <a:xfrm>
            <a:off x="822960" y="9646920"/>
            <a:ext cx="12801600" cy="365760"/>
          </a:xfrm>
          <a:prstGeom prst="rect">
            <a:avLst/>
          </a:prstGeom>
          <a:noFill/>
        </p:spPr>
        <p:txBody>
          <a:bodyPr wrap="square" lIns="45720" rIns="45720" tIns="27432" bIns="27432" anchor="t">
            <a:spAutoFit/>
          </a:bodyPr>
          <a:lstStyle/>
          <a:p>
            <a:pPr algn="l">
              <a:lnSpc>
                <a:spcPct val="110000"/>
              </a:lnSpc>
              <a:spcAft>
                <a:spcPts val="600"/>
              </a:spcAft>
            </a:pPr>
            <a:r>
              <a:rPr sz="1300" b="0">
                <a:solidFill>
                  <a:srgbClr val="4C554F"/>
                </a:solidFill>
                <a:latin typeface="Courier New"/>
              </a:rPr>
              <a:t>PREPARED FOR KOMATSU LTD. · TEAMS MEETING 27 OCT 2026 · DRAFT</a:t>
            </a:r>
          </a:p>
        </p:txBody>
      </p:sp>
      <p:sp>
        <p:nvSpPr>
          <p:cNvPr id="8" name="TextBox 7"/>
          <p:cNvSpPr txBox="1"/>
          <p:nvPr/>
        </p:nvSpPr>
        <p:spPr>
          <a:xfrm>
            <a:off x="14904720" y="9646920"/>
            <a:ext cx="2560320" cy="365760"/>
          </a:xfrm>
          <a:prstGeom prst="rect">
            <a:avLst/>
          </a:prstGeom>
          <a:noFill/>
        </p:spPr>
        <p:txBody>
          <a:bodyPr wrap="square" lIns="45720" rIns="45720" tIns="27432" bIns="27432" anchor="t">
            <a:spAutoFit/>
          </a:bodyPr>
          <a:lstStyle/>
          <a:p>
            <a:pPr algn="r">
              <a:lnSpc>
                <a:spcPct val="110000"/>
              </a:lnSpc>
              <a:spcAft>
                <a:spcPts val="600"/>
              </a:spcAft>
            </a:pPr>
            <a:r>
              <a:rPr sz="1300" b="0">
                <a:solidFill>
                  <a:srgbClr val="4C554F"/>
                </a:solidFill>
                <a:latin typeface="Courier New"/>
              </a:rPr>
              <a:t>09 / 12</a:t>
            </a:r>
          </a:p>
        </p:txBody>
      </p:sp>
      <p:sp>
        <p:nvSpPr>
          <p:cNvPr id="9" name="Rectangle 8"/>
          <p:cNvSpPr/>
          <p:nvPr/>
        </p:nvSpPr>
        <p:spPr>
          <a:xfrm>
            <a:off x="822960" y="3566160"/>
            <a:ext cx="5440680" cy="566928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566160"/>
            <a:ext cx="109728" cy="566928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749039"/>
            <a:ext cx="4892040" cy="822960"/>
          </a:xfrm>
          <a:prstGeom prst="rect">
            <a:avLst/>
          </a:prstGeom>
          <a:noFill/>
        </p:spPr>
        <p:txBody>
          <a:bodyPr wrap="square" lIns="45720" rIns="45720" tIns="27432" bIns="27432" anchor="t">
            <a:spAutoFit/>
          </a:bodyPr>
          <a:lstStyle/>
          <a:p>
            <a:pPr algn="l">
              <a:lnSpc>
                <a:spcPct val="110000"/>
              </a:lnSpc>
              <a:spcAft>
                <a:spcPts val="600"/>
              </a:spcAft>
            </a:pPr>
            <a:r>
              <a:rPr sz="2500" b="1">
                <a:solidFill>
                  <a:srgbClr val="2F4A37"/>
                </a:solidFill>
                <a:latin typeface="Georgia"/>
              </a:rPr>
              <a:t>The gap</a:t>
            </a:r>
          </a:p>
        </p:txBody>
      </p:sp>
      <p:sp>
        <p:nvSpPr>
          <p:cNvPr id="12" name="TextBox 11"/>
          <p:cNvSpPr txBox="1"/>
          <p:nvPr/>
        </p:nvSpPr>
        <p:spPr>
          <a:xfrm>
            <a:off x="1143000" y="4617720"/>
            <a:ext cx="4892040" cy="4480560"/>
          </a:xfrm>
          <a:prstGeom prst="rect">
            <a:avLst/>
          </a:prstGeom>
          <a:noFill/>
        </p:spPr>
        <p:txBody>
          <a:bodyPr wrap="square" lIns="45720" rIns="45720" tIns="27432" bIns="27432" anchor="t">
            <a:spAutoFit/>
          </a:bodyPr>
          <a:lstStyle/>
          <a:p>
            <a:pPr algn="l">
              <a:lnSpc>
                <a:spcPct val="110000"/>
              </a:lnSpc>
              <a:spcAft>
                <a:spcPts val="900"/>
              </a:spcAft>
            </a:pPr>
            <a:r>
              <a:rPr sz="2400" b="0">
                <a:solidFill>
                  <a:srgbClr val="1F2A24"/>
                </a:solidFill>
                <a:latin typeface="Arial"/>
              </a:rPr>
              <a:t>The cooperative's crew is small and has few young people.</a:t>
            </a:r>
          </a:p>
          <a:p>
            <a:pPr algn="l">
              <a:lnSpc>
                <a:spcPct val="110000"/>
              </a:lnSpc>
              <a:spcAft>
                <a:spcPts val="900"/>
              </a:spcAft>
            </a:pPr>
            <a:r>
              <a:rPr sz="2400" b="0">
                <a:solidFill>
                  <a:srgbClr val="1F2A24"/>
                </a:solidFill>
                <a:latin typeface="Arial"/>
              </a:rPr>
              <a:t>Thinning and harvest at the scale the forest needs is not possible with today's team.</a:t>
            </a:r>
          </a:p>
          <a:p>
            <a:pPr algn="l">
              <a:lnSpc>
                <a:spcPct val="110000"/>
              </a:lnSpc>
              <a:spcAft>
                <a:spcPts val="900"/>
              </a:spcAft>
            </a:pPr>
            <a:r>
              <a:rPr sz="2400" b="0">
                <a:solidFill>
                  <a:srgbClr val="1F2A24"/>
                </a:solidFill>
                <a:latin typeface="Arial"/>
              </a:rPr>
              <a:t>A cut-to-length machine lets a small crew do much more.</a:t>
            </a:r>
          </a:p>
        </p:txBody>
      </p:sp>
      <p:sp>
        <p:nvSpPr>
          <p:cNvPr id="13" name="Rectangle 12"/>
          <p:cNvSpPr/>
          <p:nvPr/>
        </p:nvSpPr>
        <p:spPr>
          <a:xfrm>
            <a:off x="6446520" y="3566160"/>
            <a:ext cx="5440680" cy="566928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46520" y="3566160"/>
            <a:ext cx="109728" cy="5669280"/>
          </a:xfrm>
          <a:prstGeom prst="rect">
            <a:avLst/>
          </a:prstGeom>
          <a:solidFill>
            <a:srgbClr val="C46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3749039"/>
            <a:ext cx="4892040" cy="822960"/>
          </a:xfrm>
          <a:prstGeom prst="rect">
            <a:avLst/>
          </a:prstGeom>
          <a:noFill/>
        </p:spPr>
        <p:txBody>
          <a:bodyPr wrap="square" lIns="45720" rIns="45720" tIns="27432" bIns="27432" anchor="t">
            <a:spAutoFit/>
          </a:bodyPr>
          <a:lstStyle/>
          <a:p>
            <a:pPr algn="l">
              <a:lnSpc>
                <a:spcPct val="110000"/>
              </a:lnSpc>
              <a:spcAft>
                <a:spcPts val="600"/>
              </a:spcAft>
            </a:pPr>
            <a:r>
              <a:rPr sz="2500" b="1">
                <a:solidFill>
                  <a:srgbClr val="C4663A"/>
                </a:solidFill>
                <a:latin typeface="Georgia"/>
              </a:rPr>
              <a:t>A local successor</a:t>
            </a:r>
          </a:p>
        </p:txBody>
      </p:sp>
      <p:sp>
        <p:nvSpPr>
          <p:cNvPr id="16" name="TextBox 15"/>
          <p:cNvSpPr txBox="1"/>
          <p:nvPr/>
        </p:nvSpPr>
        <p:spPr>
          <a:xfrm>
            <a:off x="6766560" y="4617720"/>
            <a:ext cx="4892040" cy="4480560"/>
          </a:xfrm>
          <a:prstGeom prst="rect">
            <a:avLst/>
          </a:prstGeom>
          <a:noFill/>
        </p:spPr>
        <p:txBody>
          <a:bodyPr wrap="square" lIns="45720" rIns="45720" tIns="27432" bIns="27432" anchor="t">
            <a:spAutoFit/>
          </a:bodyPr>
          <a:lstStyle/>
          <a:p>
            <a:pPr algn="l">
              <a:lnSpc>
                <a:spcPct val="110000"/>
              </a:lnSpc>
              <a:spcAft>
                <a:spcPts val="900"/>
              </a:spcAft>
            </a:pPr>
            <a:r>
              <a:rPr sz="2400" b="0">
                <a:solidFill>
                  <a:srgbClr val="1F2A24"/>
                </a:solidFill>
                <a:latin typeface="Arial"/>
              </a:rPr>
              <a:t>A young woman who works at the cooperative, bright and determined, and eager to learn to operate machines like the 931XC.</a:t>
            </a:r>
          </a:p>
          <a:p>
            <a:pPr algn="l">
              <a:lnSpc>
                <a:spcPct val="110000"/>
              </a:lnSpc>
              <a:spcAft>
                <a:spcPts val="900"/>
              </a:spcAft>
            </a:pPr>
            <a:r>
              <a:rPr sz="2400" b="1">
                <a:solidFill>
                  <a:srgbClr val="C4663A"/>
                </a:solidFill>
                <a:latin typeface="Arial"/>
              </a:rPr>
              <a:t>We would like her to train on Komatsu machines if a trial goes ahead.</a:t>
            </a:r>
          </a:p>
        </p:txBody>
      </p:sp>
      <p:sp>
        <p:nvSpPr>
          <p:cNvPr id="17" name="Rectangle 16"/>
          <p:cNvSpPr/>
          <p:nvPr/>
        </p:nvSpPr>
        <p:spPr>
          <a:xfrm>
            <a:off x="12070080" y="3566160"/>
            <a:ext cx="5440680" cy="566928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70080" y="3566160"/>
            <a:ext cx="109728" cy="5669280"/>
          </a:xfrm>
          <a:prstGeom prst="rect">
            <a:avLst/>
          </a:prstGeom>
          <a:solidFill>
            <a:srgbClr val="3A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90120" y="3749039"/>
            <a:ext cx="4892040" cy="822960"/>
          </a:xfrm>
          <a:prstGeom prst="rect">
            <a:avLst/>
          </a:prstGeom>
          <a:noFill/>
        </p:spPr>
        <p:txBody>
          <a:bodyPr wrap="square" lIns="45720" rIns="45720" tIns="27432" bIns="27432" anchor="t">
            <a:spAutoFit/>
          </a:bodyPr>
          <a:lstStyle/>
          <a:p>
            <a:pPr algn="l">
              <a:lnSpc>
                <a:spcPct val="110000"/>
              </a:lnSpc>
              <a:spcAft>
                <a:spcPts val="600"/>
              </a:spcAft>
            </a:pPr>
            <a:r>
              <a:rPr sz="2500" b="1">
                <a:solidFill>
                  <a:srgbClr val="3A7A5A"/>
                </a:solidFill>
                <a:latin typeface="Georgia"/>
              </a:rPr>
              <a:t>Why it matters to Komatsu</a:t>
            </a:r>
          </a:p>
        </p:txBody>
      </p:sp>
      <p:sp>
        <p:nvSpPr>
          <p:cNvPr id="20" name="TextBox 19"/>
          <p:cNvSpPr txBox="1"/>
          <p:nvPr/>
        </p:nvSpPr>
        <p:spPr>
          <a:xfrm>
            <a:off x="12390120" y="4617720"/>
            <a:ext cx="4892040" cy="4480560"/>
          </a:xfrm>
          <a:prstGeom prst="rect">
            <a:avLst/>
          </a:prstGeom>
          <a:noFill/>
        </p:spPr>
        <p:txBody>
          <a:bodyPr wrap="square" lIns="45720" rIns="45720" tIns="27432" bIns="27432" anchor="t">
            <a:spAutoFit/>
          </a:bodyPr>
          <a:lstStyle/>
          <a:p>
            <a:pPr algn="l">
              <a:lnSpc>
                <a:spcPct val="110000"/>
              </a:lnSpc>
              <a:spcAft>
                <a:spcPts val="900"/>
              </a:spcAft>
            </a:pPr>
            <a:r>
              <a:rPr sz="2100" b="0">
                <a:solidFill>
                  <a:srgbClr val="1F2A24"/>
                </a:solidFill>
                <a:latin typeface="Arial"/>
              </a:rPr>
              <a:t>A local career path for young people in a depopulating village, on Japanese-made machines.</a:t>
            </a:r>
          </a:p>
          <a:p>
            <a:pPr algn="l">
              <a:lnSpc>
                <a:spcPct val="110000"/>
              </a:lnSpc>
              <a:spcAft>
                <a:spcPts val="900"/>
              </a:spcAft>
            </a:pPr>
            <a:r>
              <a:rPr sz="2100" b="1">
                <a:solidFill>
                  <a:srgbClr val="3A7A5A"/>
                </a:solidFill>
                <a:latin typeface="Arial"/>
              </a:rPr>
              <a:t>A chance to bring more women into forestry machine work and widen the workforce.</a:t>
            </a:r>
          </a:p>
          <a:p>
            <a:pPr algn="l">
              <a:lnSpc>
                <a:spcPct val="110000"/>
              </a:lnSpc>
              <a:spcAft>
                <a:spcPts val="900"/>
              </a:spcAft>
            </a:pPr>
            <a:r>
              <a:rPr sz="2100" b="0">
                <a:solidFill>
                  <a:srgbClr val="1F2A24"/>
                </a:solidFill>
                <a:latin typeface="Arial"/>
              </a:rPr>
              <a:t>A story that is easy to tell: a trial that creates the next operator.</a:t>
            </a:r>
          </a:p>
          <a:p>
            <a:pPr algn="l">
              <a:lnSpc>
                <a:spcPct val="110000"/>
              </a:lnSpc>
              <a:spcAft>
                <a:spcPts val="900"/>
              </a:spcAft>
            </a:pPr>
            <a:r>
              <a:rPr sz="1900" b="0">
                <a:solidFill>
                  <a:srgbClr val="4C554F"/>
                </a:solidFill>
                <a:latin typeface="Arial"/>
              </a:rPr>
              <a:t>What training, licence and machine access are possible for a trainee?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822960" cy="822960"/>
          </a:xfrm>
          <a:prstGeom prst="rect">
            <a:avLst/>
          </a:prstGeom>
          <a:noFill/>
        </p:spPr>
        <p:txBody>
          <a:bodyPr wrap="square" lIns="45720" rIns="45720" tIns="27432" bIns="27432" anchor="t">
            <a:spAutoFit/>
          </a:bodyPr>
          <a:lstStyle/>
          <a:p>
            <a:pPr algn="l">
              <a:lnSpc>
                <a:spcPct val="110000"/>
              </a:lnSpc>
              <a:spcAft>
                <a:spcPts val="600"/>
              </a:spcAft>
            </a:pPr>
            <a:r>
              <a:rPr sz="4000" b="0">
                <a:solidFill>
                  <a:srgbClr val="2F4A37"/>
                </a:solidFill>
                <a:latin typeface="Noto Serif JP"/>
              </a:rPr>
              <a:t>御</a:t>
            </a:r>
          </a:p>
        </p:txBody>
      </p:sp>
      <p:sp>
        <p:nvSpPr>
          <p:cNvPr id="4" name="TextBox 3"/>
          <p:cNvSpPr txBox="1"/>
          <p:nvPr/>
        </p:nvSpPr>
        <p:spPr>
          <a:xfrm>
            <a:off x="1645920" y="566928"/>
            <a:ext cx="73152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4C554F"/>
                </a:solidFill>
                <a:latin typeface="Courier New"/>
              </a:rPr>
              <a:t>MITSUE PROJECT</a:t>
            </a:r>
          </a:p>
        </p:txBody>
      </p:sp>
      <p:sp>
        <p:nvSpPr>
          <p:cNvPr id="5" name="TextBox 4"/>
          <p:cNvSpPr txBox="1"/>
          <p:nvPr/>
        </p:nvSpPr>
        <p:spPr>
          <a:xfrm>
            <a:off x="1645920" y="914400"/>
            <a:ext cx="109728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C4663A"/>
                </a:solidFill>
                <a:latin typeface="Courier New"/>
              </a:rPr>
              <a:t>§ 09 · TIMELINE AND STATUS</a:t>
            </a:r>
          </a:p>
        </p:txBody>
      </p:sp>
      <p:sp>
        <p:nvSpPr>
          <p:cNvPr id="6" name="TextBox 5"/>
          <p:cNvSpPr txBox="1"/>
          <p:nvPr/>
        </p:nvSpPr>
        <p:spPr>
          <a:xfrm>
            <a:off x="822960" y="1600200"/>
            <a:ext cx="16642080" cy="1737360"/>
          </a:xfrm>
          <a:prstGeom prst="rect">
            <a:avLst/>
          </a:prstGeom>
          <a:noFill/>
        </p:spPr>
        <p:txBody>
          <a:bodyPr wrap="square" lIns="45720" rIns="45720" tIns="27432" bIns="27432" anchor="t">
            <a:spAutoFit/>
          </a:bodyPr>
          <a:lstStyle/>
          <a:p>
            <a:pPr algn="l">
              <a:lnSpc>
                <a:spcPct val="100000"/>
              </a:lnSpc>
              <a:spcAft>
                <a:spcPts val="600"/>
              </a:spcAft>
            </a:pPr>
            <a:r>
              <a:rPr sz="4600" b="1">
                <a:solidFill>
                  <a:srgbClr val="1F2A24"/>
                </a:solidFill>
                <a:latin typeface="Georgia"/>
              </a:rPr>
              <a:t>Early planning, with a realistic trial window around early 2028</a:t>
            </a:r>
          </a:p>
        </p:txBody>
      </p:sp>
      <p:sp>
        <p:nvSpPr>
          <p:cNvPr id="7" name="TextBox 6"/>
          <p:cNvSpPr txBox="1"/>
          <p:nvPr/>
        </p:nvSpPr>
        <p:spPr>
          <a:xfrm>
            <a:off x="822960" y="9646920"/>
            <a:ext cx="12801600" cy="365760"/>
          </a:xfrm>
          <a:prstGeom prst="rect">
            <a:avLst/>
          </a:prstGeom>
          <a:noFill/>
        </p:spPr>
        <p:txBody>
          <a:bodyPr wrap="square" lIns="45720" rIns="45720" tIns="27432" bIns="27432" anchor="t">
            <a:spAutoFit/>
          </a:bodyPr>
          <a:lstStyle/>
          <a:p>
            <a:pPr algn="l">
              <a:lnSpc>
                <a:spcPct val="110000"/>
              </a:lnSpc>
              <a:spcAft>
                <a:spcPts val="600"/>
              </a:spcAft>
            </a:pPr>
            <a:r>
              <a:rPr sz="1300" b="0">
                <a:solidFill>
                  <a:srgbClr val="4C554F"/>
                </a:solidFill>
                <a:latin typeface="Courier New"/>
              </a:rPr>
              <a:t>PREPARED FOR KOMATSU LTD. · TEAMS MEETING 27 OCT 2026 · DRAFT</a:t>
            </a:r>
          </a:p>
        </p:txBody>
      </p:sp>
      <p:sp>
        <p:nvSpPr>
          <p:cNvPr id="8" name="TextBox 7"/>
          <p:cNvSpPr txBox="1"/>
          <p:nvPr/>
        </p:nvSpPr>
        <p:spPr>
          <a:xfrm>
            <a:off x="14904720" y="9646920"/>
            <a:ext cx="2560320" cy="365760"/>
          </a:xfrm>
          <a:prstGeom prst="rect">
            <a:avLst/>
          </a:prstGeom>
          <a:noFill/>
        </p:spPr>
        <p:txBody>
          <a:bodyPr wrap="square" lIns="45720" rIns="45720" tIns="27432" bIns="27432" anchor="t">
            <a:spAutoFit/>
          </a:bodyPr>
          <a:lstStyle/>
          <a:p>
            <a:pPr algn="r">
              <a:lnSpc>
                <a:spcPct val="110000"/>
              </a:lnSpc>
              <a:spcAft>
                <a:spcPts val="600"/>
              </a:spcAft>
            </a:pPr>
            <a:r>
              <a:rPr sz="1300" b="0">
                <a:solidFill>
                  <a:srgbClr val="4C554F"/>
                </a:solidFill>
                <a:latin typeface="Courier New"/>
              </a:rPr>
              <a:t>10 / 12</a:t>
            </a:r>
          </a:p>
        </p:txBody>
      </p:sp>
      <p:sp>
        <p:nvSpPr>
          <p:cNvPr id="9" name="Rectangle 8"/>
          <p:cNvSpPr/>
          <p:nvPr/>
        </p:nvSpPr>
        <p:spPr>
          <a:xfrm>
            <a:off x="1188720" y="4983480"/>
            <a:ext cx="15910559" cy="73152"/>
          </a:xfrm>
          <a:prstGeom prst="rect">
            <a:avLst/>
          </a:prstGeom>
          <a:solidFill>
            <a:srgbClr val="4C55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1560" y="4754880"/>
            <a:ext cx="502920" cy="502920"/>
          </a:xfrm>
          <a:prstGeom prst="ellipse">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657600"/>
            <a:ext cx="3200400" cy="548640"/>
          </a:xfrm>
          <a:prstGeom prst="rect">
            <a:avLst/>
          </a:prstGeom>
          <a:noFill/>
        </p:spPr>
        <p:txBody>
          <a:bodyPr wrap="square" lIns="45720" rIns="45720" tIns="27432" bIns="27432" anchor="t">
            <a:spAutoFit/>
          </a:bodyPr>
          <a:lstStyle/>
          <a:p>
            <a:pPr algn="l">
              <a:lnSpc>
                <a:spcPct val="110000"/>
              </a:lnSpc>
              <a:spcAft>
                <a:spcPts val="600"/>
              </a:spcAft>
            </a:pPr>
            <a:r>
              <a:rPr sz="2000" b="1">
                <a:solidFill>
                  <a:srgbClr val="2F4A37"/>
                </a:solidFill>
                <a:latin typeface="Courier New"/>
              </a:rPr>
              <a:t>NOW</a:t>
            </a:r>
          </a:p>
        </p:txBody>
      </p:sp>
      <p:sp>
        <p:nvSpPr>
          <p:cNvPr id="12" name="TextBox 11"/>
          <p:cNvSpPr txBox="1"/>
          <p:nvPr/>
        </p:nvSpPr>
        <p:spPr>
          <a:xfrm>
            <a:off x="822960" y="5486400"/>
            <a:ext cx="3200400" cy="731520"/>
          </a:xfrm>
          <a:prstGeom prst="rect">
            <a:avLst/>
          </a:prstGeom>
          <a:noFill/>
        </p:spPr>
        <p:txBody>
          <a:bodyPr wrap="square" lIns="45720" rIns="45720" tIns="27432" bIns="27432" anchor="t">
            <a:spAutoFit/>
          </a:bodyPr>
          <a:lstStyle/>
          <a:p>
            <a:pPr algn="l">
              <a:lnSpc>
                <a:spcPct val="110000"/>
              </a:lnSpc>
              <a:spcAft>
                <a:spcPts val="600"/>
              </a:spcAft>
            </a:pPr>
            <a:r>
              <a:rPr sz="2800" b="1">
                <a:solidFill>
                  <a:srgbClr val="1F2A24"/>
                </a:solidFill>
                <a:latin typeface="Georgia"/>
              </a:rPr>
              <a:t>Phase 0</a:t>
            </a:r>
          </a:p>
        </p:txBody>
      </p:sp>
      <p:sp>
        <p:nvSpPr>
          <p:cNvPr id="13" name="TextBox 12"/>
          <p:cNvSpPr txBox="1"/>
          <p:nvPr/>
        </p:nvSpPr>
        <p:spPr>
          <a:xfrm>
            <a:off x="822960" y="6263640"/>
            <a:ext cx="3108960" cy="1463040"/>
          </a:xfrm>
          <a:prstGeom prst="rect">
            <a:avLst/>
          </a:prstGeom>
          <a:noFill/>
        </p:spPr>
        <p:txBody>
          <a:bodyPr wrap="square" lIns="45720" rIns="45720" tIns="27432" bIns="27432" anchor="t">
            <a:spAutoFit/>
          </a:bodyPr>
          <a:lstStyle/>
          <a:p>
            <a:pPr algn="l">
              <a:lnSpc>
                <a:spcPct val="110000"/>
              </a:lnSpc>
              <a:spcAft>
                <a:spcPts val="600"/>
              </a:spcAft>
            </a:pPr>
            <a:r>
              <a:rPr sz="1900" b="0">
                <a:solidFill>
                  <a:srgbClr val="4C554F"/>
                </a:solidFill>
                <a:latin typeface="Arial"/>
              </a:rPr>
              <a:t>Local trust, site and fuel talks</a:t>
            </a:r>
          </a:p>
        </p:txBody>
      </p:sp>
      <p:sp>
        <p:nvSpPr>
          <p:cNvPr id="14" name="Oval 13"/>
          <p:cNvSpPr/>
          <p:nvPr/>
        </p:nvSpPr>
        <p:spPr>
          <a:xfrm>
            <a:off x="4434840" y="4754880"/>
            <a:ext cx="502920" cy="502920"/>
          </a:xfrm>
          <a:prstGeom prst="ellipse">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3657600"/>
            <a:ext cx="3200400" cy="548640"/>
          </a:xfrm>
          <a:prstGeom prst="rect">
            <a:avLst/>
          </a:prstGeom>
          <a:noFill/>
        </p:spPr>
        <p:txBody>
          <a:bodyPr wrap="square" lIns="45720" rIns="45720" tIns="27432" bIns="27432" anchor="t">
            <a:spAutoFit/>
          </a:bodyPr>
          <a:lstStyle/>
          <a:p>
            <a:pPr algn="l">
              <a:lnSpc>
                <a:spcPct val="110000"/>
              </a:lnSpc>
              <a:spcAft>
                <a:spcPts val="600"/>
              </a:spcAft>
            </a:pPr>
            <a:r>
              <a:rPr sz="2000" b="1">
                <a:solidFill>
                  <a:srgbClr val="2F4A37"/>
                </a:solidFill>
                <a:latin typeface="Courier New"/>
              </a:rPr>
              <a:t>NEXT</a:t>
            </a:r>
          </a:p>
        </p:txBody>
      </p:sp>
      <p:sp>
        <p:nvSpPr>
          <p:cNvPr id="16" name="TextBox 15"/>
          <p:cNvSpPr txBox="1"/>
          <p:nvPr/>
        </p:nvSpPr>
        <p:spPr>
          <a:xfrm>
            <a:off x="4206240" y="5486400"/>
            <a:ext cx="3200400" cy="731520"/>
          </a:xfrm>
          <a:prstGeom prst="rect">
            <a:avLst/>
          </a:prstGeom>
          <a:noFill/>
        </p:spPr>
        <p:txBody>
          <a:bodyPr wrap="square" lIns="45720" rIns="45720" tIns="27432" bIns="27432" anchor="t">
            <a:spAutoFit/>
          </a:bodyPr>
          <a:lstStyle/>
          <a:p>
            <a:pPr algn="l">
              <a:lnSpc>
                <a:spcPct val="110000"/>
              </a:lnSpc>
              <a:spcAft>
                <a:spcPts val="600"/>
              </a:spcAft>
            </a:pPr>
            <a:r>
              <a:rPr sz="2800" b="1">
                <a:solidFill>
                  <a:srgbClr val="1F2A24"/>
                </a:solidFill>
                <a:latin typeface="Georgia"/>
              </a:rPr>
              <a:t>Prototype</a:t>
            </a:r>
          </a:p>
        </p:txBody>
      </p:sp>
      <p:sp>
        <p:nvSpPr>
          <p:cNvPr id="17" name="TextBox 16"/>
          <p:cNvSpPr txBox="1"/>
          <p:nvPr/>
        </p:nvSpPr>
        <p:spPr>
          <a:xfrm>
            <a:off x="4206240" y="6263640"/>
            <a:ext cx="3108960" cy="1463040"/>
          </a:xfrm>
          <a:prstGeom prst="rect">
            <a:avLst/>
          </a:prstGeom>
          <a:noFill/>
        </p:spPr>
        <p:txBody>
          <a:bodyPr wrap="square" lIns="45720" rIns="45720" tIns="27432" bIns="27432" anchor="t">
            <a:spAutoFit/>
          </a:bodyPr>
          <a:lstStyle/>
          <a:p>
            <a:pPr algn="l">
              <a:lnSpc>
                <a:spcPct val="110000"/>
              </a:lnSpc>
              <a:spcAft>
                <a:spcPts val="600"/>
              </a:spcAft>
            </a:pPr>
            <a:r>
              <a:rPr sz="1900" b="0">
                <a:solidFill>
                  <a:srgbClr val="4C554F"/>
                </a:solidFill>
                <a:latin typeface="Arial"/>
              </a:rPr>
              <a:t>50 kWe CHP at a local forestry site</a:t>
            </a:r>
          </a:p>
        </p:txBody>
      </p:sp>
      <p:sp>
        <p:nvSpPr>
          <p:cNvPr id="18" name="Oval 17"/>
          <p:cNvSpPr/>
          <p:nvPr/>
        </p:nvSpPr>
        <p:spPr>
          <a:xfrm>
            <a:off x="7818120" y="4754880"/>
            <a:ext cx="502920" cy="502920"/>
          </a:xfrm>
          <a:prstGeom prst="ellipse">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3657600"/>
            <a:ext cx="3200400" cy="548640"/>
          </a:xfrm>
          <a:prstGeom prst="rect">
            <a:avLst/>
          </a:prstGeom>
          <a:noFill/>
        </p:spPr>
        <p:txBody>
          <a:bodyPr wrap="square" lIns="45720" rIns="45720" tIns="27432" bIns="27432" anchor="t">
            <a:spAutoFit/>
          </a:bodyPr>
          <a:lstStyle/>
          <a:p>
            <a:pPr algn="l">
              <a:lnSpc>
                <a:spcPct val="110000"/>
              </a:lnSpc>
              <a:spcAft>
                <a:spcPts val="600"/>
              </a:spcAft>
            </a:pPr>
            <a:r>
              <a:rPr sz="2000" b="1">
                <a:solidFill>
                  <a:srgbClr val="2F4A37"/>
                </a:solidFill>
                <a:latin typeface="Courier New"/>
              </a:rPr>
              <a:t>≈ 1 YEAR</a:t>
            </a:r>
          </a:p>
        </p:txBody>
      </p:sp>
      <p:sp>
        <p:nvSpPr>
          <p:cNvPr id="20" name="TextBox 19"/>
          <p:cNvSpPr txBox="1"/>
          <p:nvPr/>
        </p:nvSpPr>
        <p:spPr>
          <a:xfrm>
            <a:off x="7589520" y="5486400"/>
            <a:ext cx="3200400" cy="731520"/>
          </a:xfrm>
          <a:prstGeom prst="rect">
            <a:avLst/>
          </a:prstGeom>
          <a:noFill/>
        </p:spPr>
        <p:txBody>
          <a:bodyPr wrap="square" lIns="45720" rIns="45720" tIns="27432" bIns="27432" anchor="t">
            <a:spAutoFit/>
          </a:bodyPr>
          <a:lstStyle/>
          <a:p>
            <a:pPr algn="l">
              <a:lnSpc>
                <a:spcPct val="110000"/>
              </a:lnSpc>
              <a:spcAft>
                <a:spcPts val="600"/>
              </a:spcAft>
            </a:pPr>
            <a:r>
              <a:rPr sz="2800" b="1">
                <a:solidFill>
                  <a:srgbClr val="1F2A24"/>
                </a:solidFill>
                <a:latin typeface="Georgia"/>
              </a:rPr>
              <a:t>Phase 1</a:t>
            </a:r>
          </a:p>
        </p:txBody>
      </p:sp>
      <p:sp>
        <p:nvSpPr>
          <p:cNvPr id="21" name="TextBox 20"/>
          <p:cNvSpPr txBox="1"/>
          <p:nvPr/>
        </p:nvSpPr>
        <p:spPr>
          <a:xfrm>
            <a:off x="7589520" y="6263640"/>
            <a:ext cx="3108960" cy="1463040"/>
          </a:xfrm>
          <a:prstGeom prst="rect">
            <a:avLst/>
          </a:prstGeom>
          <a:noFill/>
        </p:spPr>
        <p:txBody>
          <a:bodyPr wrap="square" lIns="45720" rIns="45720" tIns="27432" bIns="27432" anchor="t">
            <a:spAutoFit/>
          </a:bodyPr>
          <a:lstStyle/>
          <a:p>
            <a:pPr algn="l">
              <a:lnSpc>
                <a:spcPct val="110000"/>
              </a:lnSpc>
              <a:spcAft>
                <a:spcPts val="600"/>
              </a:spcAft>
            </a:pPr>
            <a:r>
              <a:rPr sz="1900" b="0">
                <a:solidFill>
                  <a:srgbClr val="4C554F"/>
                </a:solidFill>
                <a:latin typeface="Arial"/>
              </a:rPr>
              <a:t>Small ≈ 50 kW compute load; site undecided</a:t>
            </a:r>
          </a:p>
        </p:txBody>
      </p:sp>
      <p:sp>
        <p:nvSpPr>
          <p:cNvPr id="22" name="Oval 21"/>
          <p:cNvSpPr/>
          <p:nvPr/>
        </p:nvSpPr>
        <p:spPr>
          <a:xfrm>
            <a:off x="11201400" y="4754880"/>
            <a:ext cx="502920" cy="502920"/>
          </a:xfrm>
          <a:prstGeom prst="ellipse">
            <a:avLst/>
          </a:prstGeom>
          <a:solidFill>
            <a:srgbClr val="C46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0" y="3657600"/>
            <a:ext cx="3200400" cy="548640"/>
          </a:xfrm>
          <a:prstGeom prst="rect">
            <a:avLst/>
          </a:prstGeom>
          <a:noFill/>
        </p:spPr>
        <p:txBody>
          <a:bodyPr wrap="square" lIns="45720" rIns="45720" tIns="27432" bIns="27432" anchor="t">
            <a:spAutoFit/>
          </a:bodyPr>
          <a:lstStyle/>
          <a:p>
            <a:pPr algn="l">
              <a:lnSpc>
                <a:spcPct val="110000"/>
              </a:lnSpc>
              <a:spcAft>
                <a:spcPts val="600"/>
              </a:spcAft>
            </a:pPr>
            <a:r>
              <a:rPr sz="2000" b="1">
                <a:solidFill>
                  <a:srgbClr val="C4663A"/>
                </a:solidFill>
                <a:latin typeface="Courier New"/>
              </a:rPr>
              <a:t>EARLY 2028</a:t>
            </a:r>
          </a:p>
        </p:txBody>
      </p:sp>
      <p:sp>
        <p:nvSpPr>
          <p:cNvPr id="24" name="TextBox 23"/>
          <p:cNvSpPr txBox="1"/>
          <p:nvPr/>
        </p:nvSpPr>
        <p:spPr>
          <a:xfrm>
            <a:off x="10972800" y="5486400"/>
            <a:ext cx="3200400" cy="731520"/>
          </a:xfrm>
          <a:prstGeom prst="rect">
            <a:avLst/>
          </a:prstGeom>
          <a:noFill/>
        </p:spPr>
        <p:txBody>
          <a:bodyPr wrap="square" lIns="45720" rIns="45720" tIns="27432" bIns="27432" anchor="t">
            <a:spAutoFit/>
          </a:bodyPr>
          <a:lstStyle/>
          <a:p>
            <a:pPr algn="l">
              <a:lnSpc>
                <a:spcPct val="110000"/>
              </a:lnSpc>
              <a:spcAft>
                <a:spcPts val="600"/>
              </a:spcAft>
            </a:pPr>
            <a:r>
              <a:rPr sz="2800" b="1">
                <a:solidFill>
                  <a:srgbClr val="1F2A24"/>
                </a:solidFill>
                <a:latin typeface="Georgia"/>
              </a:rPr>
              <a:t>CTL trial</a:t>
            </a:r>
          </a:p>
        </p:txBody>
      </p:sp>
      <p:sp>
        <p:nvSpPr>
          <p:cNvPr id="25" name="TextBox 24"/>
          <p:cNvSpPr txBox="1"/>
          <p:nvPr/>
        </p:nvSpPr>
        <p:spPr>
          <a:xfrm>
            <a:off x="10972800" y="6263640"/>
            <a:ext cx="3108960" cy="1463040"/>
          </a:xfrm>
          <a:prstGeom prst="rect">
            <a:avLst/>
          </a:prstGeom>
          <a:noFill/>
        </p:spPr>
        <p:txBody>
          <a:bodyPr wrap="square" lIns="45720" rIns="45720" tIns="27432" bIns="27432" anchor="t">
            <a:spAutoFit/>
          </a:bodyPr>
          <a:lstStyle/>
          <a:p>
            <a:pPr algn="l">
              <a:lnSpc>
                <a:spcPct val="110000"/>
              </a:lnSpc>
              <a:spcAft>
                <a:spcPts val="600"/>
              </a:spcAft>
            </a:pPr>
            <a:r>
              <a:rPr sz="1900" b="0">
                <a:solidFill>
                  <a:srgbClr val="4C554F"/>
                </a:solidFill>
                <a:latin typeface="Arial"/>
              </a:rPr>
              <a:t>End of FY2027 is our realistic window</a:t>
            </a:r>
          </a:p>
        </p:txBody>
      </p:sp>
      <p:sp>
        <p:nvSpPr>
          <p:cNvPr id="26" name="Oval 25"/>
          <p:cNvSpPr/>
          <p:nvPr/>
        </p:nvSpPr>
        <p:spPr>
          <a:xfrm>
            <a:off x="14584680" y="4754880"/>
            <a:ext cx="502920" cy="502920"/>
          </a:xfrm>
          <a:prstGeom prst="ellipse">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356080" y="3657600"/>
            <a:ext cx="3200400" cy="548640"/>
          </a:xfrm>
          <a:prstGeom prst="rect">
            <a:avLst/>
          </a:prstGeom>
          <a:noFill/>
        </p:spPr>
        <p:txBody>
          <a:bodyPr wrap="square" lIns="45720" rIns="45720" tIns="27432" bIns="27432" anchor="t">
            <a:spAutoFit/>
          </a:bodyPr>
          <a:lstStyle/>
          <a:p>
            <a:pPr algn="l">
              <a:lnSpc>
                <a:spcPct val="110000"/>
              </a:lnSpc>
              <a:spcAft>
                <a:spcPts val="600"/>
              </a:spcAft>
            </a:pPr>
            <a:r>
              <a:rPr sz="2000" b="1">
                <a:solidFill>
                  <a:srgbClr val="2F4A37"/>
                </a:solidFill>
                <a:latin typeface="Courier New"/>
              </a:rPr>
              <a:t>LATER</a:t>
            </a:r>
          </a:p>
        </p:txBody>
      </p:sp>
      <p:sp>
        <p:nvSpPr>
          <p:cNvPr id="28" name="TextBox 27"/>
          <p:cNvSpPr txBox="1"/>
          <p:nvPr/>
        </p:nvSpPr>
        <p:spPr>
          <a:xfrm>
            <a:off x="14356080" y="5486400"/>
            <a:ext cx="3200400" cy="731520"/>
          </a:xfrm>
          <a:prstGeom prst="rect">
            <a:avLst/>
          </a:prstGeom>
          <a:noFill/>
        </p:spPr>
        <p:txBody>
          <a:bodyPr wrap="square" lIns="45720" rIns="45720" tIns="27432" bIns="27432" anchor="t">
            <a:spAutoFit/>
          </a:bodyPr>
          <a:lstStyle/>
          <a:p>
            <a:pPr algn="l">
              <a:lnSpc>
                <a:spcPct val="110000"/>
              </a:lnSpc>
              <a:spcAft>
                <a:spcPts val="600"/>
              </a:spcAft>
            </a:pPr>
            <a:r>
              <a:rPr sz="2800" b="1">
                <a:solidFill>
                  <a:srgbClr val="1F2A24"/>
                </a:solidFill>
                <a:latin typeface="Georgia"/>
              </a:rPr>
              <a:t>Full scale</a:t>
            </a:r>
          </a:p>
        </p:txBody>
      </p:sp>
      <p:sp>
        <p:nvSpPr>
          <p:cNvPr id="29" name="TextBox 28"/>
          <p:cNvSpPr txBox="1"/>
          <p:nvPr/>
        </p:nvSpPr>
        <p:spPr>
          <a:xfrm>
            <a:off x="14356080" y="6263640"/>
            <a:ext cx="3108960" cy="1463040"/>
          </a:xfrm>
          <a:prstGeom prst="rect">
            <a:avLst/>
          </a:prstGeom>
          <a:noFill/>
        </p:spPr>
        <p:txBody>
          <a:bodyPr wrap="square" lIns="45720" rIns="45720" tIns="27432" bIns="27432" anchor="t">
            <a:spAutoFit/>
          </a:bodyPr>
          <a:lstStyle/>
          <a:p>
            <a:pPr algn="l">
              <a:lnSpc>
                <a:spcPct val="110000"/>
              </a:lnSpc>
              <a:spcAft>
                <a:spcPts val="600"/>
              </a:spcAft>
            </a:pPr>
            <a:r>
              <a:rPr sz="1900" b="0">
                <a:solidFill>
                  <a:srgbClr val="4C554F"/>
                </a:solidFill>
                <a:latin typeface="Arial"/>
              </a:rPr>
              <a:t>≈ 1.2 MWe CHP and a full-scale AI data center; no fixed date</a:t>
            </a:r>
          </a:p>
        </p:txBody>
      </p:sp>
      <p:sp>
        <p:nvSpPr>
          <p:cNvPr id="30" name="Rectangle 29"/>
          <p:cNvSpPr/>
          <p:nvPr/>
        </p:nvSpPr>
        <p:spPr>
          <a:xfrm>
            <a:off x="822960" y="7818120"/>
            <a:ext cx="16642080" cy="141732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7955279"/>
            <a:ext cx="16093440" cy="1188720"/>
          </a:xfrm>
          <a:prstGeom prst="rect">
            <a:avLst/>
          </a:prstGeom>
          <a:noFill/>
        </p:spPr>
        <p:txBody>
          <a:bodyPr wrap="square" lIns="45720" rIns="45720" tIns="27432" bIns="27432" anchor="ctr">
            <a:spAutoFit/>
          </a:bodyPr>
          <a:lstStyle/>
          <a:p>
            <a:pPr algn="l">
              <a:lnSpc>
                <a:spcPct val="110000"/>
              </a:lnSpc>
              <a:spcAft>
                <a:spcPts val="600"/>
              </a:spcAft>
            </a:pPr>
            <a:r>
              <a:rPr sz="2200" b="0">
                <a:solidFill>
                  <a:srgbClr val="1F2A24"/>
                </a:solidFill>
                <a:latin typeface="Arial"/>
              </a:rPr>
              <a:t>Status: no contracts, purchases or funding are committed. The dates are targets, not promises, and the full-scale facility has no fixed date.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822960" cy="822960"/>
          </a:xfrm>
          <a:prstGeom prst="rect">
            <a:avLst/>
          </a:prstGeom>
          <a:noFill/>
        </p:spPr>
        <p:txBody>
          <a:bodyPr wrap="square" lIns="45720" rIns="45720" tIns="27432" bIns="27432" anchor="t">
            <a:spAutoFit/>
          </a:bodyPr>
          <a:lstStyle/>
          <a:p>
            <a:pPr algn="l">
              <a:lnSpc>
                <a:spcPct val="110000"/>
              </a:lnSpc>
              <a:spcAft>
                <a:spcPts val="600"/>
              </a:spcAft>
            </a:pPr>
            <a:r>
              <a:rPr sz="4000" b="0">
                <a:solidFill>
                  <a:srgbClr val="2F4A37"/>
                </a:solidFill>
                <a:latin typeface="Noto Serif JP"/>
              </a:rPr>
              <a:t>御</a:t>
            </a:r>
          </a:p>
        </p:txBody>
      </p:sp>
      <p:sp>
        <p:nvSpPr>
          <p:cNvPr id="4" name="TextBox 3"/>
          <p:cNvSpPr txBox="1"/>
          <p:nvPr/>
        </p:nvSpPr>
        <p:spPr>
          <a:xfrm>
            <a:off x="1645920" y="566928"/>
            <a:ext cx="73152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4C554F"/>
                </a:solidFill>
                <a:latin typeface="Courier New"/>
              </a:rPr>
              <a:t>MITSUE PROJECT</a:t>
            </a:r>
          </a:p>
        </p:txBody>
      </p:sp>
      <p:sp>
        <p:nvSpPr>
          <p:cNvPr id="5" name="TextBox 4"/>
          <p:cNvSpPr txBox="1"/>
          <p:nvPr/>
        </p:nvSpPr>
        <p:spPr>
          <a:xfrm>
            <a:off x="1645920" y="914400"/>
            <a:ext cx="109728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C4663A"/>
                </a:solidFill>
                <a:latin typeface="Courier New"/>
              </a:rPr>
              <a:t>§ 10 · WORKING TOGETHER</a:t>
            </a:r>
          </a:p>
        </p:txBody>
      </p:sp>
      <p:sp>
        <p:nvSpPr>
          <p:cNvPr id="6" name="TextBox 5"/>
          <p:cNvSpPr txBox="1"/>
          <p:nvPr/>
        </p:nvSpPr>
        <p:spPr>
          <a:xfrm>
            <a:off x="822960" y="1600200"/>
            <a:ext cx="16642080" cy="1737360"/>
          </a:xfrm>
          <a:prstGeom prst="rect">
            <a:avLst/>
          </a:prstGeom>
          <a:noFill/>
        </p:spPr>
        <p:txBody>
          <a:bodyPr wrap="square" lIns="45720" rIns="45720" tIns="27432" bIns="27432" anchor="t">
            <a:spAutoFit/>
          </a:bodyPr>
          <a:lstStyle/>
          <a:p>
            <a:pPr algn="l">
              <a:lnSpc>
                <a:spcPct val="100000"/>
              </a:lnSpc>
              <a:spcAft>
                <a:spcPts val="600"/>
              </a:spcAft>
            </a:pPr>
            <a:r>
              <a:rPr sz="4600" b="1">
                <a:solidFill>
                  <a:srgbClr val="1F2A24"/>
                </a:solidFill>
                <a:latin typeface="Georgia"/>
              </a:rPr>
              <a:t>Three ways we could work with Komatsu</a:t>
            </a:r>
          </a:p>
        </p:txBody>
      </p:sp>
      <p:sp>
        <p:nvSpPr>
          <p:cNvPr id="7" name="TextBox 6"/>
          <p:cNvSpPr txBox="1"/>
          <p:nvPr/>
        </p:nvSpPr>
        <p:spPr>
          <a:xfrm>
            <a:off x="822960" y="9646920"/>
            <a:ext cx="12801600" cy="365760"/>
          </a:xfrm>
          <a:prstGeom prst="rect">
            <a:avLst/>
          </a:prstGeom>
          <a:noFill/>
        </p:spPr>
        <p:txBody>
          <a:bodyPr wrap="square" lIns="45720" rIns="45720" tIns="27432" bIns="27432" anchor="t">
            <a:spAutoFit/>
          </a:bodyPr>
          <a:lstStyle/>
          <a:p>
            <a:pPr algn="l">
              <a:lnSpc>
                <a:spcPct val="110000"/>
              </a:lnSpc>
              <a:spcAft>
                <a:spcPts val="600"/>
              </a:spcAft>
            </a:pPr>
            <a:r>
              <a:rPr sz="1300" b="0">
                <a:solidFill>
                  <a:srgbClr val="4C554F"/>
                </a:solidFill>
                <a:latin typeface="Courier New"/>
              </a:rPr>
              <a:t>PREPARED FOR KOMATSU LTD. · TEAMS MEETING 27 OCT 2026 · DRAFT</a:t>
            </a:r>
          </a:p>
        </p:txBody>
      </p:sp>
      <p:sp>
        <p:nvSpPr>
          <p:cNvPr id="8" name="TextBox 7"/>
          <p:cNvSpPr txBox="1"/>
          <p:nvPr/>
        </p:nvSpPr>
        <p:spPr>
          <a:xfrm>
            <a:off x="14904720" y="9646920"/>
            <a:ext cx="2560320" cy="365760"/>
          </a:xfrm>
          <a:prstGeom prst="rect">
            <a:avLst/>
          </a:prstGeom>
          <a:noFill/>
        </p:spPr>
        <p:txBody>
          <a:bodyPr wrap="square" lIns="45720" rIns="45720" tIns="27432" bIns="27432" anchor="t">
            <a:spAutoFit/>
          </a:bodyPr>
          <a:lstStyle/>
          <a:p>
            <a:pPr algn="r">
              <a:lnSpc>
                <a:spcPct val="110000"/>
              </a:lnSpc>
              <a:spcAft>
                <a:spcPts val="600"/>
              </a:spcAft>
            </a:pPr>
            <a:r>
              <a:rPr sz="1300" b="0">
                <a:solidFill>
                  <a:srgbClr val="4C554F"/>
                </a:solidFill>
                <a:latin typeface="Courier New"/>
              </a:rPr>
              <a:t>11 / 12</a:t>
            </a:r>
          </a:p>
        </p:txBody>
      </p:sp>
      <p:sp>
        <p:nvSpPr>
          <p:cNvPr id="9" name="Rectangle 8"/>
          <p:cNvSpPr/>
          <p:nvPr/>
        </p:nvSpPr>
        <p:spPr>
          <a:xfrm>
            <a:off x="822960" y="3566160"/>
            <a:ext cx="5440680" cy="566928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566160"/>
            <a:ext cx="109728" cy="566928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3749039"/>
            <a:ext cx="4892040" cy="822960"/>
          </a:xfrm>
          <a:prstGeom prst="rect">
            <a:avLst/>
          </a:prstGeom>
          <a:noFill/>
        </p:spPr>
        <p:txBody>
          <a:bodyPr wrap="square" lIns="45720" rIns="45720" tIns="27432" bIns="27432" anchor="t">
            <a:spAutoFit/>
          </a:bodyPr>
          <a:lstStyle/>
          <a:p>
            <a:pPr algn="l">
              <a:lnSpc>
                <a:spcPct val="110000"/>
              </a:lnSpc>
              <a:spcAft>
                <a:spcPts val="600"/>
              </a:spcAft>
            </a:pPr>
            <a:r>
              <a:rPr sz="2500" b="1">
                <a:solidFill>
                  <a:srgbClr val="2F4A37"/>
                </a:solidFill>
                <a:latin typeface="Georgia"/>
              </a:rPr>
              <a:t>1  Trial first</a:t>
            </a:r>
          </a:p>
        </p:txBody>
      </p:sp>
      <p:sp>
        <p:nvSpPr>
          <p:cNvPr id="12" name="TextBox 11"/>
          <p:cNvSpPr txBox="1"/>
          <p:nvPr/>
        </p:nvSpPr>
        <p:spPr>
          <a:xfrm>
            <a:off x="1143000" y="4617720"/>
            <a:ext cx="4892040" cy="4480560"/>
          </a:xfrm>
          <a:prstGeom prst="rect">
            <a:avLst/>
          </a:prstGeom>
          <a:noFill/>
        </p:spPr>
        <p:txBody>
          <a:bodyPr wrap="square" lIns="45720" rIns="45720" tIns="27432" bIns="27432" anchor="t">
            <a:spAutoFit/>
          </a:bodyPr>
          <a:lstStyle/>
          <a:p>
            <a:pPr algn="l">
              <a:lnSpc>
                <a:spcPct val="110000"/>
              </a:lnSpc>
              <a:spcAft>
                <a:spcPts val="900"/>
              </a:spcAft>
            </a:pPr>
            <a:r>
              <a:rPr sz="2400" b="0">
                <a:solidFill>
                  <a:srgbClr val="1F2A24"/>
                </a:solidFill>
                <a:latin typeface="Arial"/>
              </a:rPr>
              <a:t>Mitsue as an additional trial or training site for the CTL programme.</a:t>
            </a:r>
          </a:p>
          <a:p>
            <a:pPr algn="l">
              <a:lnSpc>
                <a:spcPct val="110000"/>
              </a:lnSpc>
              <a:spcAft>
                <a:spcPts val="900"/>
              </a:spcAft>
            </a:pPr>
            <a:r>
              <a:rPr sz="2400" b="0">
                <a:solidFill>
                  <a:srgbClr val="1F2A24"/>
                </a:solidFill>
                <a:latin typeface="Arial"/>
              </a:rPr>
              <a:t>We would share observations on slope, access and extraction, and help train a local operator.</a:t>
            </a:r>
          </a:p>
        </p:txBody>
      </p:sp>
      <p:sp>
        <p:nvSpPr>
          <p:cNvPr id="13" name="Rectangle 12"/>
          <p:cNvSpPr/>
          <p:nvPr/>
        </p:nvSpPr>
        <p:spPr>
          <a:xfrm>
            <a:off x="6446520" y="3566160"/>
            <a:ext cx="5440680" cy="566928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46520" y="3566160"/>
            <a:ext cx="109728" cy="5669280"/>
          </a:xfrm>
          <a:prstGeom prst="rect">
            <a:avLst/>
          </a:prstGeom>
          <a:solidFill>
            <a:srgbClr val="3A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3749039"/>
            <a:ext cx="4892040" cy="822960"/>
          </a:xfrm>
          <a:prstGeom prst="rect">
            <a:avLst/>
          </a:prstGeom>
          <a:noFill/>
        </p:spPr>
        <p:txBody>
          <a:bodyPr wrap="square" lIns="45720" rIns="45720" tIns="27432" bIns="27432" anchor="t">
            <a:spAutoFit/>
          </a:bodyPr>
          <a:lstStyle/>
          <a:p>
            <a:pPr algn="l">
              <a:lnSpc>
                <a:spcPct val="110000"/>
              </a:lnSpc>
              <a:spcAft>
                <a:spcPts val="600"/>
              </a:spcAft>
            </a:pPr>
            <a:r>
              <a:rPr sz="2500" b="1">
                <a:solidFill>
                  <a:srgbClr val="3A7A5A"/>
                </a:solidFill>
                <a:latin typeface="Georgia"/>
              </a:rPr>
              <a:t>2  Purchase or lease later</a:t>
            </a:r>
          </a:p>
        </p:txBody>
      </p:sp>
      <p:sp>
        <p:nvSpPr>
          <p:cNvPr id="16" name="TextBox 15"/>
          <p:cNvSpPr txBox="1"/>
          <p:nvPr/>
        </p:nvSpPr>
        <p:spPr>
          <a:xfrm>
            <a:off x="6766560" y="4617720"/>
            <a:ext cx="4892040" cy="4480560"/>
          </a:xfrm>
          <a:prstGeom prst="rect">
            <a:avLst/>
          </a:prstGeom>
          <a:noFill/>
        </p:spPr>
        <p:txBody>
          <a:bodyPr wrap="square" lIns="45720" rIns="45720" tIns="27432" bIns="27432" anchor="t">
            <a:spAutoFit/>
          </a:bodyPr>
          <a:lstStyle/>
          <a:p>
            <a:pPr algn="l">
              <a:lnSpc>
                <a:spcPct val="110000"/>
              </a:lnSpc>
              <a:spcAft>
                <a:spcPts val="900"/>
              </a:spcAft>
            </a:pPr>
            <a:r>
              <a:rPr sz="2400" b="0">
                <a:solidFill>
                  <a:srgbClr val="1F2A24"/>
                </a:solidFill>
                <a:latin typeface="Arial"/>
              </a:rPr>
              <a:t>Only if the trial shows a good fit and financing is in place.</a:t>
            </a:r>
          </a:p>
          <a:p>
            <a:pPr algn="l">
              <a:lnSpc>
                <a:spcPct val="110000"/>
              </a:lnSpc>
              <a:spcAft>
                <a:spcPts val="900"/>
              </a:spcAft>
            </a:pPr>
            <a:r>
              <a:rPr sz="2400" b="0">
                <a:solidFill>
                  <a:srgbClr val="1F2A24"/>
                </a:solidFill>
                <a:latin typeface="Arial"/>
              </a:rPr>
              <a:t>Neither is committed today.</a:t>
            </a:r>
          </a:p>
        </p:txBody>
      </p:sp>
      <p:sp>
        <p:nvSpPr>
          <p:cNvPr id="17" name="Rectangle 16"/>
          <p:cNvSpPr/>
          <p:nvPr/>
        </p:nvSpPr>
        <p:spPr>
          <a:xfrm>
            <a:off x="12070080" y="3566160"/>
            <a:ext cx="5440680" cy="5669280"/>
          </a:xfrm>
          <a:prstGeom prst="rect">
            <a:avLst/>
          </a:prstGeom>
          <a:solidFill>
            <a:srgbClr val="EC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70080" y="3566160"/>
            <a:ext cx="109728" cy="5669280"/>
          </a:xfrm>
          <a:prstGeom prst="rect">
            <a:avLst/>
          </a:prstGeom>
          <a:solidFill>
            <a:srgbClr val="C46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90120" y="3749039"/>
            <a:ext cx="4892040" cy="822960"/>
          </a:xfrm>
          <a:prstGeom prst="rect">
            <a:avLst/>
          </a:prstGeom>
          <a:noFill/>
        </p:spPr>
        <p:txBody>
          <a:bodyPr wrap="square" lIns="45720" rIns="45720" tIns="27432" bIns="27432" anchor="t">
            <a:spAutoFit/>
          </a:bodyPr>
          <a:lstStyle/>
          <a:p>
            <a:pPr algn="l">
              <a:lnSpc>
                <a:spcPct val="110000"/>
              </a:lnSpc>
              <a:spcAft>
                <a:spcPts val="600"/>
              </a:spcAft>
            </a:pPr>
            <a:r>
              <a:rPr sz="2500" b="1">
                <a:solidFill>
                  <a:srgbClr val="C4663A"/>
                </a:solidFill>
                <a:latin typeface="Georgia"/>
              </a:rPr>
              <a:t>3  A shared story</a:t>
            </a:r>
          </a:p>
        </p:txBody>
      </p:sp>
      <p:sp>
        <p:nvSpPr>
          <p:cNvPr id="20" name="TextBox 19"/>
          <p:cNvSpPr txBox="1"/>
          <p:nvPr/>
        </p:nvSpPr>
        <p:spPr>
          <a:xfrm>
            <a:off x="12390120" y="4617720"/>
            <a:ext cx="4892040" cy="4480560"/>
          </a:xfrm>
          <a:prstGeom prst="rect">
            <a:avLst/>
          </a:prstGeom>
          <a:noFill/>
        </p:spPr>
        <p:txBody>
          <a:bodyPr wrap="square" lIns="45720" rIns="45720" tIns="27432" bIns="27432" anchor="t">
            <a:spAutoFit/>
          </a:bodyPr>
          <a:lstStyle/>
          <a:p>
            <a:pPr algn="l">
              <a:lnSpc>
                <a:spcPct val="110000"/>
              </a:lnSpc>
              <a:spcAft>
                <a:spcPts val="900"/>
              </a:spcAft>
            </a:pPr>
            <a:r>
              <a:rPr sz="2200" b="0">
                <a:solidFill>
                  <a:srgbClr val="1F2A24"/>
                </a:solidFill>
                <a:latin typeface="Arial"/>
              </a:rPr>
              <a:t>A concrete case of Japanese-made forestry machinery supporting broadleaf reforestation, local biomass energy and village revitalisation.</a:t>
            </a:r>
          </a:p>
          <a:p>
            <a:pPr algn="l">
              <a:lnSpc>
                <a:spcPct val="110000"/>
              </a:lnSpc>
              <a:spcAft>
                <a:spcPts val="900"/>
              </a:spcAft>
            </a:pPr>
            <a:r>
              <a:rPr sz="2200" b="0">
                <a:solidFill>
                  <a:srgbClr val="1F2A24"/>
                </a:solidFill>
                <a:latin typeface="Arial"/>
              </a:rPr>
              <a:t>Case studies, joint publicity, hosting visitors, at whatever level suits Komatsu.</a:t>
            </a:r>
          </a:p>
          <a:p>
            <a:pPr algn="l">
              <a:lnSpc>
                <a:spcPct val="110000"/>
              </a:lnSpc>
              <a:spcAft>
                <a:spcPts val="900"/>
              </a:spcAft>
            </a:pPr>
            <a:r>
              <a:rPr sz="2200" b="0">
                <a:solidFill>
                  <a:srgbClr val="1F2A24"/>
                </a:solidFill>
                <a:latin typeface="Arial"/>
              </a:rPr>
              <a:t>And a template for many more villages.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2F4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822960" cy="822960"/>
          </a:xfrm>
          <a:prstGeom prst="rect">
            <a:avLst/>
          </a:prstGeom>
          <a:noFill/>
        </p:spPr>
        <p:txBody>
          <a:bodyPr wrap="square" lIns="45720" rIns="45720" tIns="27432" bIns="27432" anchor="t">
            <a:spAutoFit/>
          </a:bodyPr>
          <a:lstStyle/>
          <a:p>
            <a:pPr algn="l">
              <a:lnSpc>
                <a:spcPct val="110000"/>
              </a:lnSpc>
              <a:spcAft>
                <a:spcPts val="600"/>
              </a:spcAft>
            </a:pPr>
            <a:r>
              <a:rPr sz="4000" b="0">
                <a:solidFill>
                  <a:srgbClr val="F3ECE0"/>
                </a:solidFill>
                <a:latin typeface="Noto Serif JP"/>
              </a:rPr>
              <a:t>御</a:t>
            </a:r>
          </a:p>
        </p:txBody>
      </p:sp>
      <p:sp>
        <p:nvSpPr>
          <p:cNvPr id="4" name="TextBox 3"/>
          <p:cNvSpPr txBox="1"/>
          <p:nvPr/>
        </p:nvSpPr>
        <p:spPr>
          <a:xfrm>
            <a:off x="1645920" y="566928"/>
            <a:ext cx="73152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F3B486"/>
                </a:solidFill>
                <a:latin typeface="Courier New"/>
              </a:rPr>
              <a:t>MITSUE PROJECT</a:t>
            </a:r>
          </a:p>
        </p:txBody>
      </p:sp>
      <p:sp>
        <p:nvSpPr>
          <p:cNvPr id="5" name="TextBox 4"/>
          <p:cNvSpPr txBox="1"/>
          <p:nvPr/>
        </p:nvSpPr>
        <p:spPr>
          <a:xfrm>
            <a:off x="1645920" y="914400"/>
            <a:ext cx="10972800" cy="365760"/>
          </a:xfrm>
          <a:prstGeom prst="rect">
            <a:avLst/>
          </a:prstGeom>
          <a:noFill/>
        </p:spPr>
        <p:txBody>
          <a:bodyPr wrap="square" lIns="45720" rIns="45720" tIns="27432" bIns="27432" anchor="t">
            <a:spAutoFit/>
          </a:bodyPr>
          <a:lstStyle/>
          <a:p>
            <a:pPr algn="l">
              <a:lnSpc>
                <a:spcPct val="110000"/>
              </a:lnSpc>
              <a:spcAft>
                <a:spcPts val="600"/>
              </a:spcAft>
            </a:pPr>
            <a:r>
              <a:rPr sz="1500" b="0">
                <a:solidFill>
                  <a:srgbClr val="F3B486"/>
                </a:solidFill>
                <a:latin typeface="Courier New"/>
              </a:rPr>
              <a:t>§ 11 · NEXT STEPS</a:t>
            </a:r>
          </a:p>
        </p:txBody>
      </p:sp>
      <p:sp>
        <p:nvSpPr>
          <p:cNvPr id="6" name="TextBox 5"/>
          <p:cNvSpPr txBox="1"/>
          <p:nvPr/>
        </p:nvSpPr>
        <p:spPr>
          <a:xfrm>
            <a:off x="822960" y="1600200"/>
            <a:ext cx="16642080" cy="1737360"/>
          </a:xfrm>
          <a:prstGeom prst="rect">
            <a:avLst/>
          </a:prstGeom>
          <a:noFill/>
        </p:spPr>
        <p:txBody>
          <a:bodyPr wrap="square" lIns="45720" rIns="45720" tIns="27432" bIns="27432" anchor="t">
            <a:spAutoFit/>
          </a:bodyPr>
          <a:lstStyle/>
          <a:p>
            <a:pPr algn="l">
              <a:lnSpc>
                <a:spcPct val="100000"/>
              </a:lnSpc>
              <a:spcAft>
                <a:spcPts val="600"/>
              </a:spcAft>
            </a:pPr>
            <a:r>
              <a:rPr sz="4600" b="1">
                <a:solidFill>
                  <a:srgbClr val="F3ECE0"/>
                </a:solidFill>
                <a:latin typeface="Georgia"/>
              </a:rPr>
              <a:t>What we would like from today</a:t>
            </a:r>
          </a:p>
        </p:txBody>
      </p:sp>
      <p:sp>
        <p:nvSpPr>
          <p:cNvPr id="7" name="TextBox 6"/>
          <p:cNvSpPr txBox="1"/>
          <p:nvPr/>
        </p:nvSpPr>
        <p:spPr>
          <a:xfrm>
            <a:off x="822960" y="9646920"/>
            <a:ext cx="12801600" cy="365760"/>
          </a:xfrm>
          <a:prstGeom prst="rect">
            <a:avLst/>
          </a:prstGeom>
          <a:noFill/>
        </p:spPr>
        <p:txBody>
          <a:bodyPr wrap="square" lIns="45720" rIns="45720" tIns="27432" bIns="27432" anchor="t">
            <a:spAutoFit/>
          </a:bodyPr>
          <a:lstStyle/>
          <a:p>
            <a:pPr algn="l">
              <a:lnSpc>
                <a:spcPct val="110000"/>
              </a:lnSpc>
              <a:spcAft>
                <a:spcPts val="600"/>
              </a:spcAft>
            </a:pPr>
            <a:r>
              <a:rPr sz="1300" b="0">
                <a:solidFill>
                  <a:srgbClr val="F3B486"/>
                </a:solidFill>
                <a:latin typeface="Courier New"/>
              </a:rPr>
              <a:t>PREPARED FOR KOMATSU LTD. · TEAMS MEETING 27 OCT 2026 · DRAFT</a:t>
            </a:r>
          </a:p>
        </p:txBody>
      </p:sp>
      <p:sp>
        <p:nvSpPr>
          <p:cNvPr id="8" name="TextBox 7"/>
          <p:cNvSpPr txBox="1"/>
          <p:nvPr/>
        </p:nvSpPr>
        <p:spPr>
          <a:xfrm>
            <a:off x="14904720" y="9646920"/>
            <a:ext cx="2560320" cy="365760"/>
          </a:xfrm>
          <a:prstGeom prst="rect">
            <a:avLst/>
          </a:prstGeom>
          <a:noFill/>
        </p:spPr>
        <p:txBody>
          <a:bodyPr wrap="square" lIns="45720" rIns="45720" tIns="27432" bIns="27432" anchor="t">
            <a:spAutoFit/>
          </a:bodyPr>
          <a:lstStyle/>
          <a:p>
            <a:pPr algn="r">
              <a:lnSpc>
                <a:spcPct val="110000"/>
              </a:lnSpc>
              <a:spcAft>
                <a:spcPts val="600"/>
              </a:spcAft>
            </a:pPr>
            <a:r>
              <a:rPr sz="1300" b="0">
                <a:solidFill>
                  <a:srgbClr val="F3B486"/>
                </a:solidFill>
                <a:latin typeface="Courier New"/>
              </a:rPr>
              <a:t>12 / 12</a:t>
            </a:r>
          </a:p>
        </p:txBody>
      </p:sp>
      <p:sp>
        <p:nvSpPr>
          <p:cNvPr id="9" name="TextBox 8"/>
          <p:cNvSpPr txBox="1"/>
          <p:nvPr/>
        </p:nvSpPr>
        <p:spPr>
          <a:xfrm>
            <a:off x="822960" y="3566160"/>
            <a:ext cx="9326880" cy="5120640"/>
          </a:xfrm>
          <a:prstGeom prst="rect">
            <a:avLst/>
          </a:prstGeom>
          <a:noFill/>
        </p:spPr>
        <p:txBody>
          <a:bodyPr wrap="square" lIns="45720" rIns="45720" tIns="27432" bIns="27432" anchor="t">
            <a:spAutoFit/>
          </a:bodyPr>
          <a:lstStyle/>
          <a:p>
            <a:pPr algn="l">
              <a:lnSpc>
                <a:spcPct val="110000"/>
              </a:lnSpc>
              <a:spcAft>
                <a:spcPts val="1600"/>
              </a:spcAft>
            </a:pPr>
            <a:r>
              <a:rPr sz="2400" b="0">
                <a:solidFill>
                  <a:srgbClr val="F3ECE0"/>
                </a:solidFill>
                <a:latin typeface="Arial"/>
              </a:rPr>
              <a:t>1  Your view: is a trial feasible, and what would you need to see from us?</a:t>
            </a:r>
          </a:p>
          <a:p>
            <a:pPr algn="l">
              <a:lnSpc>
                <a:spcPct val="110000"/>
              </a:lnSpc>
              <a:spcAft>
                <a:spcPts val="1600"/>
              </a:spcAft>
            </a:pPr>
            <a:r>
              <a:rPr sz="2400" b="0">
                <a:solidFill>
                  <a:srgbClr val="F3ECE0"/>
                </a:solidFill>
                <a:latin typeface="Arial"/>
              </a:rPr>
              <a:t>2  A later site visit to the village's forests with local forestry operators, once we have something to show on the ground.</a:t>
            </a:r>
          </a:p>
          <a:p>
            <a:pPr algn="l">
              <a:lnSpc>
                <a:spcPct val="110000"/>
              </a:lnSpc>
              <a:spcAft>
                <a:spcPts val="1600"/>
              </a:spcAft>
            </a:pPr>
            <a:r>
              <a:rPr sz="2400" b="0">
                <a:solidFill>
                  <a:srgbClr val="F3ECE0"/>
                </a:solidFill>
                <a:latin typeface="Arial"/>
              </a:rPr>
              <a:t>3  The right Komatsu contacts for model selection and slope and trail guidance.</a:t>
            </a:r>
          </a:p>
          <a:p>
            <a:pPr algn="l">
              <a:lnSpc>
                <a:spcPct val="110000"/>
              </a:lnSpc>
              <a:spcAft>
                <a:spcPts val="1600"/>
              </a:spcAft>
            </a:pPr>
            <a:r>
              <a:rPr sz="2400" b="0">
                <a:solidFill>
                  <a:srgbClr val="F3ECE0"/>
                </a:solidFill>
                <a:latin typeface="Arial"/>
              </a:rPr>
              <a:t>4  Training options for a young woman who wants to learn to operate the machines, and how to bring more women into forestry work.</a:t>
            </a:r>
          </a:p>
        </p:txBody>
      </p:sp>
      <p:sp>
        <p:nvSpPr>
          <p:cNvPr id="10" name="Rectangle 9"/>
          <p:cNvSpPr/>
          <p:nvPr/>
        </p:nvSpPr>
        <p:spPr>
          <a:xfrm>
            <a:off x="10698480" y="3566160"/>
            <a:ext cx="6766560" cy="4480560"/>
          </a:xfrm>
          <a:prstGeom prst="rect">
            <a:avLst/>
          </a:prstGeom>
          <a:solidFill>
            <a:srgbClr val="F3E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0" y="3794760"/>
            <a:ext cx="6309360" cy="4754880"/>
          </a:xfrm>
          <a:prstGeom prst="rect">
            <a:avLst/>
          </a:prstGeom>
          <a:noFill/>
        </p:spPr>
        <p:txBody>
          <a:bodyPr wrap="square" lIns="45720" rIns="45720" tIns="27432" bIns="27432" anchor="t">
            <a:spAutoFit/>
          </a:bodyPr>
          <a:lstStyle/>
          <a:p>
            <a:pPr algn="l">
              <a:lnSpc>
                <a:spcPct val="110000"/>
              </a:lnSpc>
              <a:spcAft>
                <a:spcPts val="200"/>
              </a:spcAft>
            </a:pPr>
            <a:r>
              <a:rPr sz="2800" b="1">
                <a:solidFill>
                  <a:srgbClr val="2F4A37"/>
                </a:solidFill>
                <a:latin typeface="Georgia"/>
              </a:rPr>
              <a:t>Rob Oudendijk</a:t>
            </a:r>
          </a:p>
          <a:p>
            <a:pPr algn="l">
              <a:lnSpc>
                <a:spcPct val="110000"/>
              </a:lnSpc>
              <a:spcAft>
                <a:spcPts val="1400"/>
              </a:spcAft>
            </a:pPr>
            <a:r>
              <a:rPr sz="1800" b="0">
                <a:solidFill>
                  <a:srgbClr val="4C554F"/>
                </a:solidFill>
                <a:latin typeface="Arial"/>
              </a:rPr>
              <a:t>Mitsue-it · Mitsue Village forest-energy project</a:t>
            </a:r>
          </a:p>
          <a:p>
            <a:pPr algn="l">
              <a:lnSpc>
                <a:spcPct val="110000"/>
              </a:lnSpc>
              <a:spcAft>
                <a:spcPts val="400"/>
              </a:spcAft>
            </a:pPr>
            <a:r>
              <a:rPr sz="2200" b="0">
                <a:solidFill>
                  <a:srgbClr val="1F2A24"/>
                </a:solidFill>
                <a:latin typeface="Arial"/>
              </a:rPr>
              <a:t>rob@mitsue.it</a:t>
            </a:r>
          </a:p>
          <a:p>
            <a:pPr algn="l">
              <a:lnSpc>
                <a:spcPct val="110000"/>
              </a:lnSpc>
              <a:spcAft>
                <a:spcPts val="400"/>
              </a:spcAft>
            </a:pPr>
            <a:r>
              <a:rPr sz="2200" b="0">
                <a:solidFill>
                  <a:srgbClr val="1F2A24"/>
                </a:solidFill>
                <a:latin typeface="Arial"/>
              </a:rPr>
              <a:t>+81 80-2260-5966</a:t>
            </a:r>
          </a:p>
          <a:p>
            <a:pPr algn="l">
              <a:lnSpc>
                <a:spcPct val="110000"/>
              </a:lnSpc>
              <a:spcAft>
                <a:spcPts val="400"/>
              </a:spcAft>
            </a:pPr>
            <a:r>
              <a:rPr sz="2200" b="0">
                <a:solidFill>
                  <a:srgbClr val="1F2A24"/>
                </a:solidFill>
                <a:latin typeface="Arial"/>
              </a:rPr>
              <a:t>mitsue.it</a:t>
            </a:r>
          </a:p>
          <a:p>
            <a:pPr algn="l">
              <a:lnSpc>
                <a:spcPct val="110000"/>
              </a:lnSpc>
              <a:spcAft>
                <a:spcPts val="1400"/>
              </a:spcAft>
            </a:pPr>
            <a:r>
              <a:rPr sz="2200" b="0">
                <a:solidFill>
                  <a:srgbClr val="1F2A24"/>
                </a:solidFill>
                <a:latin typeface="Arial"/>
              </a:rPr>
              <a:t>tinyurl.com/2xv524fz (project repository)</a:t>
            </a:r>
          </a:p>
          <a:p>
            <a:pPr algn="l">
              <a:lnSpc>
                <a:spcPct val="110000"/>
              </a:lnSpc>
              <a:spcAft>
                <a:spcPts val="600"/>
              </a:spcAft>
            </a:pPr>
            <a:r>
              <a:rPr sz="2200" b="1">
                <a:solidFill>
                  <a:srgbClr val="C4663A"/>
                </a:solidFill>
                <a:latin typeface="Georgia"/>
              </a:rPr>
              <a:t>Thank you · ありがとうございます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