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3.svg" ContentType="image/svg"/>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8288000" cy="10287000"/>
  <p:notesSz cx="10287000" cy="18288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a:t>
            </a:r>
            <a:r>
              <a:rPr lang="en-US" sz="1800" b="0" u="none" strike="noStrike">
                <a:solidFill>
                  <a:schemeClr val="dk1"/>
                </a:solidFill>
                <a:effectLst/>
                <a:uFillTx/>
                <a:latin typeface="Calibri"/>
              </a:rPr>
              <a:t>move the </a:t>
            </a:r>
            <a:r>
              <a:rPr lang="en-US" sz="1800" b="0" u="none" strike="noStrike">
                <a:solidFill>
                  <a:schemeClr val="dk1"/>
                </a:solidFill>
                <a:effectLst/>
                <a:uFillTx/>
                <a:latin typeface="Calibri"/>
              </a:rPr>
              <a:t>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7898D6D-15B2-4D1A-99FA-02A09FD6A091}"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685800" y="1143000"/>
            <a:ext cx="5485680" cy="3085560"/>
          </a:xfrm>
          <a:prstGeom prst="rect">
            <a:avLst/>
          </a:prstGeom>
          <a:ln w="0">
            <a:noFill/>
          </a:ln>
        </p:spPr>
      </p:sp>
      <p:sp>
        <p:nvSpPr>
          <p:cNvPr id="48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Good morning, and thank you for being here. What you're looking at is a village in eastern Nara called Mitsue — ninety-three percent forest, fewer than fifteen hundred people, and getting smaller every year. Over the next ten minutes I want to show you why we think this particular village is the right place to prove something much larger: that rural decline can be reversed with a model that pays for itself, and that what works here can be copied anywhere. This is an invitation to invest in that proof.</a:t>
            </a:r>
            <a:endParaRPr lang="en-US" sz="2000" b="0" u="none" strike="noStrike">
              <a:solidFill>
                <a:srgbClr val="000000"/>
              </a:solidFill>
              <a:effectLst/>
              <a:uFillTx/>
              <a:latin typeface="Arial"/>
            </a:endParaRPr>
          </a:p>
        </p:txBody>
      </p:sp>
      <p:sp>
        <p:nvSpPr>
          <p:cNvPr id="482"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E81494A-5717-41E8-9C98-DC47DC7485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685800" y="1143000"/>
            <a:ext cx="5485680" cy="3085560"/>
          </a:xfrm>
          <a:prstGeom prst="rect">
            <a:avLst/>
          </a:prstGeom>
          <a:ln w="0">
            <a:noFill/>
          </a:ln>
        </p:spPr>
      </p:sp>
      <p:sp>
        <p:nvSpPr>
          <p:cNvPr id="48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Let me start with the idea itself, because it's simple. Most rural revitalization fails because it depends on subsidy that never ends. Ours is built the other way around: three activities — restoring the forest, generating clean energy, and running a small community-owned data center — wired together so that each one feeds the next, and the whole thing eventually funds itself. And here's the part I most want you to hold onto: the data center is not the point. It is the engine. The forest, the jobs, and the village's future are the return on it.</a:t>
            </a:r>
            <a:endParaRPr lang="en-US" sz="2000" b="0" u="none" strike="noStrike">
              <a:solidFill>
                <a:srgbClr val="000000"/>
              </a:solidFill>
              <a:effectLst/>
              <a:uFillTx/>
              <a:latin typeface="Arial"/>
            </a:endParaRPr>
          </a:p>
        </p:txBody>
      </p:sp>
      <p:sp>
        <p:nvSpPr>
          <p:cNvPr id="485"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E68096B-21A2-4008-9012-4D6AA1532D7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685800" y="1143000"/>
            <a:ext cx="5485680" cy="3085560"/>
          </a:xfrm>
          <a:prstGeom prst="rect">
            <a:avLst/>
          </a:prstGeom>
          <a:ln w="0">
            <a:noFill/>
          </a:ln>
        </p:spPr>
      </p:sp>
      <p:sp>
        <p:nvSpPr>
          <p:cNvPr id="48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So what are we starting with? Be honest about it. The population is under fifteen hundred and projected to roughly halve again; more than half of who remains will be over sixty-five. The mountains are ninety-three percent forest, but most of it is aging cedar plantation that nobody is managing — a pollen and landslide liability, not an asset. The elementary school closed and now costs the village money to stand empty. And almost every yen of energy is bought from outside and shipped in. Four problems — but notice they are also four raw materials.</a:t>
            </a:r>
            <a:endParaRPr lang="en-US" sz="2000" b="0" u="none" strike="noStrike">
              <a:solidFill>
                <a:srgbClr val="000000"/>
              </a:solidFill>
              <a:effectLst/>
              <a:uFillTx/>
              <a:latin typeface="Arial"/>
            </a:endParaRPr>
          </a:p>
        </p:txBody>
      </p:sp>
      <p:sp>
        <p:nvSpPr>
          <p:cNvPr id="488"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34F088A-31BA-4BEF-9ACC-2CDAF506F79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685800" y="1143000"/>
            <a:ext cx="5485680" cy="3085560"/>
          </a:xfrm>
          <a:prstGeom prst="rect">
            <a:avLst/>
          </a:prstGeom>
          <a:ln w="0">
            <a:noFill/>
          </a:ln>
        </p:spPr>
      </p:sp>
      <p:sp>
        <p:nvSpPr>
          <p:cNvPr id="4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Here is how the four raw materials connect. Start anywhere — say the village. The village manages the forest. The forest yields timber and fuel. That fuel makes heat and power. That energy runs a small data center. The data center earns revenue. And the revenue flows back into the forest, the jobs, and the village. It's a loop, not a line — a circular economy where the output of each step is the input to the next. Subsidy might prime it, but the loop is designed to keep turning on its own.</a:t>
            </a:r>
            <a:endParaRPr lang="en-US" sz="2000" b="0" u="none" strike="noStrike">
              <a:solidFill>
                <a:srgbClr val="000000"/>
              </a:solidFill>
              <a:effectLst/>
              <a:uFillTx/>
              <a:latin typeface="Arial"/>
            </a:endParaRPr>
          </a:p>
        </p:txBody>
      </p:sp>
      <p:sp>
        <p:nvSpPr>
          <p:cNvPr id="491"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7B4FAAB-2056-48CB-BB2B-C8939ADF01F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685800" y="1143000"/>
            <a:ext cx="5485680" cy="3085560"/>
          </a:xfrm>
          <a:prstGeom prst="rect">
            <a:avLst/>
          </a:prstGeom>
          <a:ln w="0">
            <a:noFill/>
          </a:ln>
        </p:spPr>
      </p:sp>
      <p:sp>
        <p:nvSpPr>
          <p:cNvPr id="4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Let's talk about the engine, because it's the part that makes this an investment and not a donation. We take the closed elementary school and turn it into a small, energy-efficient data center — edge and AI compute, powered by local renewable energy. It is deliberately modest: sized for accountability and community ownership, not hyperscale. But it produces something the forest and the village never could on their own — recurring digital revenue. That revenue is what funds the restoration, the jobs, and the charging network, year after year.</a:t>
            </a:r>
            <a:endParaRPr lang="en-US" sz="2000" b="0" u="none" strike="noStrike">
              <a:solidFill>
                <a:srgbClr val="000000"/>
              </a:solidFill>
              <a:effectLst/>
              <a:uFillTx/>
              <a:latin typeface="Arial"/>
            </a:endParaRPr>
          </a:p>
        </p:txBody>
      </p:sp>
      <p:sp>
        <p:nvSpPr>
          <p:cNvPr id="494"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56B9287-0425-4B21-A0F5-DC79470ADFB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685800" y="1143000"/>
            <a:ext cx="5485680" cy="3085560"/>
          </a:xfrm>
          <a:prstGeom prst="rect">
            <a:avLst/>
          </a:prstGeom>
          <a:ln w="0">
            <a:noFill/>
          </a:ln>
        </p:spPr>
      </p:sp>
      <p:sp>
        <p:nvSpPr>
          <p:cNvPr id="4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forest is where the environmental return lives, and it's a twenty-five year job by nature. Post-war Japan planted enormous monocultures of sugi cedar that were never thinned. We replace them, in phases, with native broadleaf species — working alongside the landowners, the village forestry cooperative, and the Forestry Agency. That does three things at once: it pulls the aging plantation down as fuel for the energy system, it brings back biodiversity and water retention, and it earns carbon credits. The liability becomes the feedstock.</a:t>
            </a:r>
            <a:endParaRPr lang="en-US" sz="2000" b="0" u="none" strike="noStrike">
              <a:solidFill>
                <a:srgbClr val="000000"/>
              </a:solidFill>
              <a:effectLst/>
              <a:uFillTx/>
              <a:latin typeface="Arial"/>
            </a:endParaRPr>
          </a:p>
        </p:txBody>
      </p:sp>
      <p:sp>
        <p:nvSpPr>
          <p:cNvPr id="497"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3B4C281-78DF-4CF4-95D7-27AD2C79C45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685800" y="1143000"/>
            <a:ext cx="5485680" cy="3085560"/>
          </a:xfrm>
          <a:prstGeom prst="rect">
            <a:avLst/>
          </a:prstGeom>
          <a:ln w="0">
            <a:noFill/>
          </a:ln>
        </p:spPr>
      </p:sp>
      <p:sp>
        <p:nvSpPr>
          <p:cNvPr id="4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Let me be clear about the priority, because it drives everything downstream. Power comes first. The whole point is electricity — to run the AI data center and to build out EV charging for residents and visitors. That is the demand we are designing around. Heat is real and we will capture it, but it comes second: we do not have a committed heat off-taker yet, so we treat recovered heat as an opportunity to develop, not a foundation to depend on. The supply mix is unchanged — biomass for baseload, the village's existing solar by day, the grid for backup — but it is pointed squarely at compute and mobility.</a:t>
            </a:r>
            <a:endParaRPr lang="en-US" sz="2000" b="0" u="none" strike="noStrike">
              <a:solidFill>
                <a:srgbClr val="000000"/>
              </a:solidFill>
              <a:effectLst/>
              <a:uFillTx/>
              <a:latin typeface="Arial"/>
            </a:endParaRPr>
          </a:p>
        </p:txBody>
      </p:sp>
      <p:sp>
        <p:nvSpPr>
          <p:cNvPr id="500"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2E20F52-2F56-4EC6-AE01-27BB3C1FB35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685800" y="1143000"/>
            <a:ext cx="5485680" cy="3085560"/>
          </a:xfrm>
          <a:prstGeom prst="rect">
            <a:avLst/>
          </a:prstGeom>
          <a:ln w="0">
            <a:noFill/>
          </a:ln>
        </p:spPr>
      </p:sp>
      <p:sp>
        <p:nvSpPr>
          <p:cNvPr id="5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503"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p>
            <a:pPr indent="0" algn="l">
              <a:buNone/>
            </a:pPr>
            <a:endParaRPr lang="en-U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685800" y="1143000"/>
            <a:ext cx="5485680" cy="3085560"/>
          </a:xfrm>
          <a:prstGeom prst="rect">
            <a:avLst/>
          </a:prstGeom>
          <a:ln w="0">
            <a:noFill/>
          </a:ln>
        </p:spPr>
      </p:sp>
      <p:sp>
        <p:nvSpPr>
          <p:cNvPr id="5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Now the numbers — and these are the indicators a Japanese municipality is actually measured on, from the national Energy Database. Today Mitsue is almost completely energy-dependent: self-sufficiency in single digits, ninety percent of its energy imported, money flowing out, and the emissions that come with all that fossil fuel. The scenario on the right is where the integrated system takes us by twenty-fifty: a net energy exporter, dependency cut to a quarter, the trade balance flipped from negative to positive, and emissions down roughly three-quarters. I want to be straight with you — these are illustrative figures pending the simulator run, but the direction is not in doubt.</a:t>
            </a:r>
            <a:endParaRPr lang="en-US" sz="2000" b="0" u="none" strike="noStrike">
              <a:solidFill>
                <a:srgbClr val="000000"/>
              </a:solidFill>
              <a:effectLst/>
              <a:uFillTx/>
              <a:latin typeface="Arial"/>
            </a:endParaRPr>
          </a:p>
        </p:txBody>
      </p:sp>
      <p:sp>
        <p:nvSpPr>
          <p:cNvPr id="506"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1EA9C9B-0283-4EC0-9621-57545081C46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685800" y="1143000"/>
            <a:ext cx="5485680" cy="3085560"/>
          </a:xfrm>
          <a:prstGeom prst="rect">
            <a:avLst/>
          </a:prstGeom>
          <a:ln w="0">
            <a:noFill/>
          </a:ln>
        </p:spPr>
      </p:sp>
      <p:sp>
        <p:nvSpPr>
          <p:cNvPr id="5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So what does an investor actually get back? Not one return — five, and they compound. Ecological: a restored watershed and carbon drawn down. Energy: a village that powers itself and stops exporting cash. Economic: new jobs in forestry, operations and hosting. Digital: edge compute and connectivity that rural Japan badly lacks. And knowledge: because we publish everything under open licences, every lesson here becomes a template other villages can lift. That last one is the multiplier — it's how one village becomes a movement.</a:t>
            </a:r>
            <a:endParaRPr lang="en-US" sz="2000" b="0" u="none" strike="noStrike">
              <a:solidFill>
                <a:srgbClr val="000000"/>
              </a:solidFill>
              <a:effectLst/>
              <a:uFillTx/>
              <a:latin typeface="Arial"/>
            </a:endParaRPr>
          </a:p>
        </p:txBody>
      </p:sp>
      <p:sp>
        <p:nvSpPr>
          <p:cNvPr id="509"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E207E5F-30CF-416E-BD0D-3CCA5191A02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685800" y="1143000"/>
            <a:ext cx="5485680" cy="3085560"/>
          </a:xfrm>
          <a:prstGeom prst="rect">
            <a:avLst/>
          </a:prstGeom>
          <a:ln w="0">
            <a:noFill/>
          </a:ln>
        </p:spPr>
      </p:sp>
      <p:sp>
        <p:nvSpPr>
          <p:cNvPr id="5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part that should make a funder comfortable. We are not asking for one big cheque. The first three years are five phases, and between each phase there is a funding gate. You only unlock the next phase by clearing the last one — and if we fall short at a gate, the plan is explicit: we hold and re-pitch, or we descope. We do not accelerate into an under-resourced phase. Right now we are in Phase Zero, pre-foundation, self-funded, no press, no website — exactly where a careful project should be before it asks for money.</a:t>
            </a:r>
            <a:endParaRPr lang="en-US" sz="2000" b="0" u="none" strike="noStrike">
              <a:solidFill>
                <a:srgbClr val="000000"/>
              </a:solidFill>
              <a:effectLst/>
              <a:uFillTx/>
              <a:latin typeface="Arial"/>
            </a:endParaRPr>
          </a:p>
        </p:txBody>
      </p:sp>
      <p:sp>
        <p:nvSpPr>
          <p:cNvPr id="512"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F31C821-5C9B-4989-B157-AB431E2FFE3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5680" cy="3085560"/>
          </a:xfrm>
          <a:prstGeom prst="rect">
            <a:avLst/>
          </a:prstGeom>
          <a:ln w="0">
            <a:noFill/>
          </a:ln>
        </p:spPr>
      </p:sp>
      <p:sp>
        <p:nvSpPr>
          <p:cNvPr id="5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capital is layered the same way the phases are. Five sources, each unlocked by the deliverables of the one before it, so we are never dependent on a single cheque. Founder capital primes it. Government grants — NEDO, METI, Nara Prefecture, the village itself — do the heavy lifting. Foundations and corporate CSR partners, Dutch and Japanese, add to it. And by year three, operating revenue — hosting, feed-in, EV charging, carbon credits — starts carrying its own weight. We grow from about eleven million yen in year one to roughly one hundred thirty-four million by year three. These are planning targets, not commitments, and we are honest about that.</a:t>
            </a:r>
            <a:endParaRPr lang="en-US" sz="2000" b="0" u="none" strike="noStrike">
              <a:solidFill>
                <a:srgbClr val="000000"/>
              </a:solidFill>
              <a:effectLst/>
              <a:uFillTx/>
              <a:latin typeface="Arial"/>
            </a:endParaRPr>
          </a:p>
        </p:txBody>
      </p:sp>
      <p:sp>
        <p:nvSpPr>
          <p:cNvPr id="515"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A2B84EA-405C-4A6C-B649-374E6E6A02B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5680" cy="3085560"/>
          </a:xfrm>
          <a:prstGeom prst="rect">
            <a:avLst/>
          </a:prstGeom>
          <a:ln w="0">
            <a:noFill/>
          </a:ln>
        </p:spPr>
      </p:sp>
      <p:sp>
        <p:nvSpPr>
          <p:cNvPr id="5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And this is the case for patience. A conventional grant is spent once and it's gone. What we are building is an asset base that keeps producing — for twenty-five years and beyond. As the phases mature, the funding mix inverts: it starts almost entirely grant-dependent, and it ends carrying itself on four recurring revenue streams — compute hosting, energy feed-in, EV charging, and carbon credits. The twenty-five year horizon is deliberate. It's the bridge between today's rural deficits and the localized, small-scale power generation we expect to arrive within that window. You are not funding an expense. You are seeding an endowment that happens to be made of forest, energy, and compute.</a:t>
            </a:r>
            <a:endParaRPr lang="en-US" sz="2000" b="0" u="none" strike="noStrike">
              <a:solidFill>
                <a:srgbClr val="000000"/>
              </a:solidFill>
              <a:effectLst/>
              <a:uFillTx/>
              <a:latin typeface="Arial"/>
            </a:endParaRPr>
          </a:p>
        </p:txBody>
      </p:sp>
      <p:sp>
        <p:nvSpPr>
          <p:cNvPr id="518"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B53B490-8EB3-4BC4-82F4-1BD2575EB84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5680" cy="3085560"/>
          </a:xfrm>
          <a:prstGeom prst="rect">
            <a:avLst/>
          </a:prstGeom>
          <a:ln w="0">
            <a:noFill/>
          </a:ln>
        </p:spPr>
      </p:sp>
      <p:sp>
        <p:nvSpPr>
          <p:cNvPr id="5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Who is behind this. The project is led by Rob Oudendijk, of YR-Design and Safecast — Safecast being the open environmental-data network that grew out of Fukushima, which tells you something about our commitment to transparency. The legal path runs from a general incorporated association today toward certified non-profit status, so that donations become tax-deductible. And we are advised by people who have built real things: Ray Ozzie, San Poisson, Professor Emeritus Takuo Dome of Osaka University and the Inochi Forum, and Evin Zoet and Yoshiko Zoet-Suzuki of Transom. Small team, serious people, open books.</a:t>
            </a:r>
            <a:endParaRPr lang="en-US" sz="2000" b="0" u="none" strike="noStrike">
              <a:solidFill>
                <a:srgbClr val="000000"/>
              </a:solidFill>
              <a:effectLst/>
              <a:uFillTx/>
              <a:latin typeface="Arial"/>
            </a:endParaRPr>
          </a:p>
        </p:txBody>
      </p:sp>
      <p:sp>
        <p:nvSpPr>
          <p:cNvPr id="521"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24E0093-C578-4126-AF8F-AB2510B1AEB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5680" cy="3085560"/>
          </a:xfrm>
          <a:prstGeom prst="rect">
            <a:avLst/>
          </a:prstGeom>
          <a:ln w="0">
            <a:noFill/>
          </a:ln>
        </p:spPr>
      </p:sp>
      <p:sp>
        <p:nvSpPr>
          <p:cNvPr id="5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And here is why this is worth more than one village. Mitsue is not the destination — it's the prototype. There are hundreds of depopulating municipalities across Japan with the same four raw materials: empty forest, a closed school, an energy bill, and a shrinking population. Every method, every financial record, every lesson we learn here is published under open licences. So the real product is not the data center. It's the documented, repeatable playbook — a blueprint another community can pick up and adapt without starting from zero. Fund Mitsue once, and you are funding the template for many.</a:t>
            </a:r>
            <a:endParaRPr lang="en-US" sz="2000" b="0" u="none" strike="noStrike">
              <a:solidFill>
                <a:srgbClr val="000000"/>
              </a:solidFill>
              <a:effectLst/>
              <a:uFillTx/>
              <a:latin typeface="Arial"/>
            </a:endParaRPr>
          </a:p>
        </p:txBody>
      </p:sp>
      <p:sp>
        <p:nvSpPr>
          <p:cNvPr id="524"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EE6BA77-3F38-4E17-86D0-676B6953667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5680" cy="3085560"/>
          </a:xfrm>
          <a:prstGeom prst="rect">
            <a:avLst/>
          </a:prstGeom>
          <a:ln w="0">
            <a:noFill/>
          </a:ln>
        </p:spPr>
      </p:sp>
      <p:sp>
        <p:nvSpPr>
          <p:cNvPr id="5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So here is the invitation. We are in Phase Zero, and we are looking for the partners who clear Gate One — three to eight million yen to stand up the legal entity, the feasibility work, and the professional advisors that the next phase depends on. Come in as a founding partner: government, foundation, corporate, or impact investor. What you get is not a logo on a wall. You get a stake in the first fully-documented model for regenerating rural Japan — and the right to say you helped write the blueprint the others followed. Thank you. Let's talk.</a:t>
            </a:r>
            <a:endParaRPr lang="en-US" sz="2000" b="0" u="none" strike="noStrike">
              <a:solidFill>
                <a:srgbClr val="000000"/>
              </a:solidFill>
              <a:effectLst/>
              <a:uFillTx/>
              <a:latin typeface="Arial"/>
            </a:endParaRPr>
          </a:p>
        </p:txBody>
      </p:sp>
      <p:sp>
        <p:nvSpPr>
          <p:cNvPr id="527"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7017251-D9D7-4A49-9686-4337AE6CE1F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1.jpe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jpe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slideLayout" Target="../slideLayouts/slideLayout1.xml"/><Relationship Id="rId8"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11" name="Shape 1"/>
          <p:cNvSpPr/>
          <p:nvPr/>
        </p:nvSpPr>
        <p:spPr>
          <a:xfrm>
            <a:off x="0" y="600120"/>
            <a:ext cx="1828728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2" name="Text 2"/>
          <p:cNvSpPr/>
          <p:nvPr/>
        </p:nvSpPr>
        <p:spPr>
          <a:xfrm>
            <a:off x="609480" y="243000"/>
            <a:ext cx="239256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1" u="none" spc="247" strike="noStrike">
                <a:solidFill>
                  <a:srgbClr val="6E7174"/>
                </a:solidFill>
                <a:effectLst/>
                <a:uFillTx/>
                <a:latin typeface="Open Sans"/>
                <a:ea typeface="Open Sans"/>
              </a:rPr>
              <a:t>YR-DESIGN · SAFECAST</a:t>
            </a:r>
            <a:endParaRPr lang="en-US" sz="1150" b="0" u="none" strike="noStrike">
              <a:solidFill>
                <a:srgbClr val="000000"/>
              </a:solidFill>
              <a:effectLst/>
              <a:uFillTx/>
              <a:latin typeface="Arial"/>
            </a:endParaRPr>
          </a:p>
        </p:txBody>
      </p:sp>
      <p:sp>
        <p:nvSpPr>
          <p:cNvPr id="13" name="Text 3"/>
          <p:cNvSpPr/>
          <p:nvPr/>
        </p:nvSpPr>
        <p:spPr>
          <a:xfrm>
            <a:off x="6929640" y="228600"/>
            <a:ext cx="514296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1" u="none" spc="247" strike="noStrike">
                <a:solidFill>
                  <a:srgbClr val="9B9DA0"/>
                </a:solidFill>
                <a:effectLst/>
                <a:uFillTx/>
                <a:latin typeface="Open Sans"/>
                <a:ea typeface="Open Sans"/>
              </a:rPr>
              <a:t>IMPACT INVESTMENT PROSPECTUS · </a:t>
            </a:r>
            <a:r>
              <a:rPr lang="zh-CN" sz="1150" b="1" u="none" spc="247" strike="noStrike">
                <a:solidFill>
                  <a:srgbClr val="9B9DA0"/>
                </a:solidFill>
                <a:effectLst/>
                <a:uFillTx/>
                <a:latin typeface="Open Sans"/>
                <a:ea typeface="Open Sans"/>
              </a:rPr>
              <a:t>インパクト投資</a:t>
            </a:r>
            <a:endParaRPr lang="en-US" sz="1150" b="0" u="none" strike="noStrike">
              <a:solidFill>
                <a:srgbClr val="000000"/>
              </a:solidFill>
              <a:effectLst/>
              <a:uFillTx/>
              <a:latin typeface="Arial"/>
            </a:endParaRPr>
          </a:p>
        </p:txBody>
      </p:sp>
      <p:sp>
        <p:nvSpPr>
          <p:cNvPr id="14" name="Text 4"/>
          <p:cNvSpPr/>
          <p:nvPr/>
        </p:nvSpPr>
        <p:spPr>
          <a:xfrm>
            <a:off x="15750360" y="243000"/>
            <a:ext cx="2120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1" u="none" spc="247" strike="noStrike">
                <a:solidFill>
                  <a:srgbClr val="E58520"/>
                </a:solidFill>
                <a:effectLst/>
                <a:uFillTx/>
                <a:latin typeface="Open Sans"/>
                <a:ea typeface="Open Sans"/>
              </a:rPr>
              <a:t>NARA, JAPAN · 2026</a:t>
            </a:r>
            <a:endParaRPr lang="en-US" sz="1150" b="0" u="none" strike="noStrike">
              <a:solidFill>
                <a:srgbClr val="000000"/>
              </a:solidFill>
              <a:effectLst/>
              <a:uFillTx/>
              <a:latin typeface="Arial"/>
            </a:endParaRPr>
          </a:p>
        </p:txBody>
      </p:sp>
      <p:sp>
        <p:nvSpPr>
          <p:cNvPr id="15" name="Shape 5"/>
          <p:cNvSpPr/>
          <p:nvPr/>
        </p:nvSpPr>
        <p:spPr>
          <a:xfrm>
            <a:off x="609480" y="150984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16" name="Text 6"/>
          <p:cNvSpPr/>
          <p:nvPr/>
        </p:nvSpPr>
        <p:spPr>
          <a:xfrm>
            <a:off x="1200240" y="1409760"/>
            <a:ext cx="5259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1" u="none" spc="142" strike="noStrike">
                <a:solidFill>
                  <a:srgbClr val="9B9DA0"/>
                </a:solidFill>
                <a:effectLst/>
                <a:uFillTx/>
                <a:latin typeface="Open Sans"/>
                <a:ea typeface="Open Sans"/>
              </a:rPr>
              <a:t>A 25-YEAR MODEL FOR RURAL REGENERATION</a:t>
            </a:r>
            <a:endParaRPr lang="en-US" sz="1450" b="0" u="none" strike="noStrike">
              <a:solidFill>
                <a:srgbClr val="000000"/>
              </a:solidFill>
              <a:effectLst/>
              <a:uFillTx/>
              <a:latin typeface="Arial"/>
            </a:endParaRPr>
          </a:p>
        </p:txBody>
      </p:sp>
      <p:sp>
        <p:nvSpPr>
          <p:cNvPr id="17" name="Text 7"/>
          <p:cNvSpPr/>
          <p:nvPr/>
        </p:nvSpPr>
        <p:spPr>
          <a:xfrm>
            <a:off x="609480" y="1943280"/>
            <a:ext cx="8915400" cy="2361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8000" b="1" u="none" spc="-45" strike="noStrike">
                <a:solidFill>
                  <a:srgbClr val="2E2E2E"/>
                </a:solidFill>
                <a:effectLst/>
                <a:uFillTx/>
                <a:latin typeface="Arial"/>
                <a:ea typeface="Arial"/>
              </a:rPr>
              <a:t>Mitsue Project</a:t>
            </a:r>
            <a:endParaRPr lang="en-US" sz="8000" b="0" u="none" strike="noStrike">
              <a:solidFill>
                <a:srgbClr val="000000"/>
              </a:solidFill>
              <a:effectLst/>
              <a:uFillTx/>
              <a:latin typeface="Arial"/>
            </a:endParaRPr>
          </a:p>
        </p:txBody>
      </p:sp>
      <p:sp>
        <p:nvSpPr>
          <p:cNvPr id="18" name="Text 8"/>
          <p:cNvSpPr/>
          <p:nvPr/>
        </p:nvSpPr>
        <p:spPr>
          <a:xfrm>
            <a:off x="609480" y="4476600"/>
            <a:ext cx="9521280" cy="656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3300" b="1" u="none" spc="65" strike="noStrike">
                <a:solidFill>
                  <a:srgbClr val="6E7174"/>
                </a:solidFill>
                <a:effectLst/>
                <a:uFillTx/>
                <a:latin typeface="Noto Sans JP"/>
                <a:ea typeface="Noto Sans JP"/>
              </a:rPr>
              <a:t>御杖プロジェクト</a:t>
            </a:r>
            <a:endParaRPr lang="en-US" sz="3300" b="0" u="none" strike="noStrike">
              <a:solidFill>
                <a:srgbClr val="000000"/>
              </a:solidFill>
              <a:effectLst/>
              <a:uFillTx/>
              <a:latin typeface="Arial"/>
            </a:endParaRPr>
          </a:p>
        </p:txBody>
      </p:sp>
      <p:sp>
        <p:nvSpPr>
          <p:cNvPr id="19" name="Text 9"/>
          <p:cNvSpPr/>
          <p:nvPr/>
        </p:nvSpPr>
        <p:spPr>
          <a:xfrm>
            <a:off x="609480" y="5754960"/>
            <a:ext cx="6278040" cy="1690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0000"/>
              </a:lnSpc>
              <a:tabLst>
                <a:tab pos="0" algn="l"/>
              </a:tabLst>
            </a:pPr>
            <a:r>
              <a:rPr lang="en-US" sz="2350" b="0" u="none" strike="noStrike">
                <a:solidFill>
                  <a:srgbClr val="3A3A3A"/>
                </a:solidFill>
                <a:effectLst/>
                <a:uFillTx/>
                <a:latin typeface="Open Sans"/>
                <a:ea typeface="Open Sans"/>
              </a:rPr>
              <a:t>Restored forest, local clean energy, and a community-owned data center — one integrated system, openly documented for any village to follow.</a:t>
            </a:r>
            <a:endParaRPr lang="en-US" sz="2350" b="0" u="none" strike="noStrike">
              <a:solidFill>
                <a:srgbClr val="000000"/>
              </a:solidFill>
              <a:effectLst/>
              <a:uFillTx/>
              <a:latin typeface="Arial"/>
            </a:endParaRPr>
          </a:p>
        </p:txBody>
      </p:sp>
      <p:sp>
        <p:nvSpPr>
          <p:cNvPr id="20" name="Text 10"/>
          <p:cNvSpPr/>
          <p:nvPr/>
        </p:nvSpPr>
        <p:spPr>
          <a:xfrm>
            <a:off x="609480" y="7542000"/>
            <a:ext cx="6278040" cy="704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75000"/>
              </a:lnSpc>
              <a:tabLst>
                <a:tab pos="0" algn="l"/>
              </a:tabLst>
            </a:pPr>
            <a:r>
              <a:rPr lang="zh-CN" sz="1500" b="0" u="none" strike="noStrike">
                <a:solidFill>
                  <a:srgbClr val="85888C"/>
                </a:solidFill>
                <a:effectLst/>
                <a:uFillTx/>
                <a:latin typeface="Noto Sans JP"/>
                <a:ea typeface="Noto Sans JP"/>
              </a:rPr>
              <a:t>森林再生・地域エネルギー・コミュニティ所有のデータセンター。どの集落も辿れる、公開された統合モデル。</a:t>
            </a:r>
            <a:endParaRPr lang="en-US" sz="1500" b="0" u="none" strike="noStrike">
              <a:solidFill>
                <a:srgbClr val="000000"/>
              </a:solidFill>
              <a:effectLst/>
              <a:uFillTx/>
              <a:latin typeface="Arial"/>
            </a:endParaRPr>
          </a:p>
        </p:txBody>
      </p:sp>
      <p:sp>
        <p:nvSpPr>
          <p:cNvPr id="21" name="Shape 11"/>
          <p:cNvSpPr/>
          <p:nvPr/>
        </p:nvSpPr>
        <p:spPr>
          <a:xfrm>
            <a:off x="609480" y="8867880"/>
            <a:ext cx="865548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2" name="Text 12"/>
          <p:cNvSpPr/>
          <p:nvPr/>
        </p:nvSpPr>
        <p:spPr>
          <a:xfrm>
            <a:off x="60948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136" strike="noStrike">
                <a:solidFill>
                  <a:srgbClr val="A9ABAE"/>
                </a:solidFill>
                <a:effectLst/>
                <a:uFillTx/>
                <a:latin typeface="Open Sans"/>
                <a:ea typeface="Open Sans"/>
              </a:rPr>
              <a:t>HORIZON · </a:t>
            </a:r>
            <a:r>
              <a:rPr lang="zh-CN" sz="1000" b="1" u="none" spc="136" strike="noStrike">
                <a:solidFill>
                  <a:srgbClr val="A9ABAE"/>
                </a:solidFill>
                <a:effectLst/>
                <a:uFillTx/>
                <a:latin typeface="Open Sans"/>
                <a:ea typeface="Open Sans"/>
              </a:rPr>
              <a:t>期間</a:t>
            </a:r>
            <a:endParaRPr lang="en-US" sz="1000" b="0" u="none" strike="noStrike">
              <a:solidFill>
                <a:srgbClr val="000000"/>
              </a:solidFill>
              <a:effectLst/>
              <a:uFillTx/>
              <a:latin typeface="Arial"/>
            </a:endParaRPr>
          </a:p>
        </p:txBody>
      </p:sp>
      <p:sp>
        <p:nvSpPr>
          <p:cNvPr id="23" name="Text 13"/>
          <p:cNvSpPr/>
          <p:nvPr/>
        </p:nvSpPr>
        <p:spPr>
          <a:xfrm>
            <a:off x="60948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Open Sans"/>
                <a:ea typeface="Open Sans"/>
              </a:rPr>
              <a:t>25 years</a:t>
            </a:r>
            <a:endParaRPr lang="en-US" sz="1900" b="0" u="none" strike="noStrike">
              <a:solidFill>
                <a:srgbClr val="000000"/>
              </a:solidFill>
              <a:effectLst/>
              <a:uFillTx/>
              <a:latin typeface="Arial"/>
            </a:endParaRPr>
          </a:p>
        </p:txBody>
      </p:sp>
      <p:sp>
        <p:nvSpPr>
          <p:cNvPr id="24" name="Text 14"/>
          <p:cNvSpPr/>
          <p:nvPr/>
        </p:nvSpPr>
        <p:spPr>
          <a:xfrm>
            <a:off x="349488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136" strike="noStrike">
                <a:solidFill>
                  <a:srgbClr val="A9ABAE"/>
                </a:solidFill>
                <a:effectLst/>
                <a:uFillTx/>
                <a:latin typeface="Open Sans"/>
                <a:ea typeface="Open Sans"/>
              </a:rPr>
              <a:t>PHASE · </a:t>
            </a:r>
            <a:r>
              <a:rPr lang="zh-CN" sz="1000" b="1" u="none" spc="136" strike="noStrike">
                <a:solidFill>
                  <a:srgbClr val="A9ABAE"/>
                </a:solidFill>
                <a:effectLst/>
                <a:uFillTx/>
                <a:latin typeface="Open Sans"/>
                <a:ea typeface="Open Sans"/>
              </a:rPr>
              <a:t>段階</a:t>
            </a:r>
            <a:endParaRPr lang="en-US" sz="1000" b="0" u="none" strike="noStrike">
              <a:solidFill>
                <a:srgbClr val="000000"/>
              </a:solidFill>
              <a:effectLst/>
              <a:uFillTx/>
              <a:latin typeface="Arial"/>
            </a:endParaRPr>
          </a:p>
        </p:txBody>
      </p:sp>
      <p:sp>
        <p:nvSpPr>
          <p:cNvPr id="25" name="Text 15"/>
          <p:cNvSpPr/>
          <p:nvPr/>
        </p:nvSpPr>
        <p:spPr>
          <a:xfrm>
            <a:off x="349488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Open Sans"/>
                <a:ea typeface="Open Sans"/>
              </a:rPr>
              <a:t>0 · Pre-foundation</a:t>
            </a:r>
            <a:endParaRPr lang="en-US" sz="1900" b="0" u="none" strike="noStrike">
              <a:solidFill>
                <a:srgbClr val="000000"/>
              </a:solidFill>
              <a:effectLst/>
              <a:uFillTx/>
              <a:latin typeface="Arial"/>
            </a:endParaRPr>
          </a:p>
        </p:txBody>
      </p:sp>
      <p:sp>
        <p:nvSpPr>
          <p:cNvPr id="26" name="Text 16"/>
          <p:cNvSpPr/>
          <p:nvPr/>
        </p:nvSpPr>
        <p:spPr>
          <a:xfrm>
            <a:off x="638064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136" strike="noStrike">
                <a:solidFill>
                  <a:srgbClr val="A9ABAE"/>
                </a:solidFill>
                <a:effectLst/>
                <a:uFillTx/>
                <a:latin typeface="Open Sans"/>
                <a:ea typeface="Open Sans"/>
              </a:rPr>
              <a:t>ADVISORS · </a:t>
            </a:r>
            <a:r>
              <a:rPr lang="zh-CN" sz="1000" b="1" u="none" spc="136" strike="noStrike">
                <a:solidFill>
                  <a:srgbClr val="A9ABAE"/>
                </a:solidFill>
                <a:effectLst/>
                <a:uFillTx/>
                <a:latin typeface="Open Sans"/>
                <a:ea typeface="Open Sans"/>
              </a:rPr>
              <a:t>顧問</a:t>
            </a:r>
            <a:endParaRPr lang="en-US" sz="1000" b="0" u="none" strike="noStrike">
              <a:solidFill>
                <a:srgbClr val="000000"/>
              </a:solidFill>
              <a:effectLst/>
              <a:uFillTx/>
              <a:latin typeface="Arial"/>
            </a:endParaRPr>
          </a:p>
        </p:txBody>
      </p:sp>
      <p:sp>
        <p:nvSpPr>
          <p:cNvPr id="27" name="Text 17"/>
          <p:cNvSpPr/>
          <p:nvPr/>
        </p:nvSpPr>
        <p:spPr>
          <a:xfrm>
            <a:off x="638064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Open Sans"/>
                <a:ea typeface="Open Sans"/>
              </a:rPr>
              <a:t>Ozzie · Dome</a:t>
            </a:r>
            <a:endParaRPr lang="en-US" sz="1900" b="0" u="none" strike="noStrike">
              <a:solidFill>
                <a:srgbClr val="000000"/>
              </a:solidFill>
              <a:effectLst/>
              <a:uFillTx/>
              <a:latin typeface="Arial"/>
            </a:endParaRPr>
          </a:p>
        </p:txBody>
      </p:sp>
      <p:pic>
        <p:nvPicPr>
          <p:cNvPr id="28" name="Image 0" descr="preencoded.png"/>
          <p:cNvPicPr/>
          <p:nvPr/>
        </p:nvPicPr>
        <p:blipFill>
          <a:blip r:embed="rId1"/>
          <a:srcRect l="29187" t="0" r="29187" b="0"/>
          <a:stretch/>
        </p:blipFill>
        <p:spPr>
          <a:xfrm>
            <a:off x="9837360" y="2225880"/>
            <a:ext cx="7802280" cy="6836400"/>
          </a:xfrm>
          <a:prstGeom prst="rect">
            <a:avLst/>
          </a:prstGeom>
          <a:noFill/>
          <a:ln w="0">
            <a:noFill/>
          </a:ln>
        </p:spPr>
      </p:pic>
      <p:sp>
        <p:nvSpPr>
          <p:cNvPr id="29" name="Shape 18"/>
          <p:cNvSpPr/>
          <p:nvPr/>
        </p:nvSpPr>
        <p:spPr>
          <a:xfrm>
            <a:off x="9875520" y="8634240"/>
            <a:ext cx="2679840" cy="42804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 name="Text 19"/>
          <p:cNvSpPr/>
          <p:nvPr/>
        </p:nvSpPr>
        <p:spPr>
          <a:xfrm>
            <a:off x="10046880" y="8739360"/>
            <a:ext cx="245880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1" u="none" spc="45" strike="noStrike">
                <a:solidFill>
                  <a:srgbClr val="FFFFFF"/>
                </a:solidFill>
                <a:effectLst/>
                <a:uFillTx/>
                <a:latin typeface="Open Sans"/>
                <a:ea typeface="Open Sans"/>
              </a:rPr>
              <a:t>Mitsue Village · </a:t>
            </a:r>
            <a:r>
              <a:rPr lang="zh-CN" sz="1150" b="1" u="none" spc="45" strike="noStrike">
                <a:solidFill>
                  <a:srgbClr val="FFFFFF"/>
                </a:solidFill>
                <a:effectLst/>
                <a:uFillTx/>
                <a:latin typeface="Open Sans"/>
                <a:ea typeface="Open Sans"/>
              </a:rPr>
              <a:t>御杖村</a:t>
            </a:r>
            <a:r>
              <a:rPr lang="en-US" sz="1150" b="1" u="none" spc="45" strike="noStrike">
                <a:solidFill>
                  <a:srgbClr val="FFFFFF"/>
                </a:solidFill>
                <a:effectLst/>
                <a:uFillTx/>
                <a:latin typeface="Open Sans"/>
                <a:ea typeface="Open Sans"/>
              </a:rPr>
              <a:t>, Nara</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32"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33" name="Text 2"/>
          <p:cNvSpPr/>
          <p:nvPr/>
        </p:nvSpPr>
        <p:spPr>
          <a:xfrm>
            <a:off x="1181160" y="800280"/>
            <a:ext cx="23806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THE THESIS · </a:t>
            </a:r>
            <a:r>
              <a:rPr lang="zh-CN" sz="1300" b="1" u="none" spc="204" strike="noStrike">
                <a:solidFill>
                  <a:srgbClr val="9B9DA0"/>
                </a:solidFill>
                <a:effectLst/>
                <a:uFillTx/>
                <a:latin typeface="Open Sans"/>
                <a:ea typeface="Open Sans"/>
              </a:rPr>
              <a:t>命題 </a:t>
            </a:r>
            <a:r>
              <a:rPr lang="en-US" sz="1300" b="1" u="none" spc="204" strike="noStrike">
                <a:solidFill>
                  <a:srgbClr val="9B9DA0"/>
                </a:solidFill>
                <a:effectLst/>
                <a:uFillTx/>
                <a:latin typeface="Open Sans"/>
                <a:ea typeface="Open Sans"/>
              </a:rPr>
              <a:t>· 02</a:t>
            </a:r>
            <a:endParaRPr lang="en-US" sz="1300" b="0" u="none" strike="noStrike">
              <a:solidFill>
                <a:srgbClr val="000000"/>
              </a:solidFill>
              <a:effectLst/>
              <a:uFillTx/>
              <a:latin typeface="Arial"/>
            </a:endParaRPr>
          </a:p>
        </p:txBody>
      </p:sp>
      <p:sp>
        <p:nvSpPr>
          <p:cNvPr id="34" name="Text 3"/>
          <p:cNvSpPr/>
          <p:nvPr/>
        </p:nvSpPr>
        <p:spPr>
          <a:xfrm>
            <a:off x="609480" y="1285920"/>
            <a:ext cx="14715360" cy="14774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5000"/>
              </a:lnSpc>
              <a:tabLst>
                <a:tab pos="0" algn="l"/>
              </a:tabLst>
            </a:pPr>
            <a:r>
              <a:rPr lang="en-US" sz="5400" b="1" u="none" spc="-54" strike="noStrike">
                <a:solidFill>
                  <a:srgbClr val="2E2E2E"/>
                </a:solidFill>
                <a:effectLst/>
                <a:uFillTx/>
                <a:latin typeface="Sora"/>
                <a:ea typeface="Sora"/>
              </a:rPr>
              <a:t>A replicable model for rural regeneration.</a:t>
            </a:r>
            <a:endParaRPr lang="en-US" sz="5400" b="0" u="none" strike="noStrike">
              <a:solidFill>
                <a:srgbClr val="000000"/>
              </a:solidFill>
              <a:effectLst/>
              <a:uFillTx/>
              <a:latin typeface="Arial"/>
            </a:endParaRPr>
          </a:p>
        </p:txBody>
      </p:sp>
      <p:sp>
        <p:nvSpPr>
          <p:cNvPr id="35" name="Text 4"/>
          <p:cNvSpPr/>
          <p:nvPr/>
        </p:nvSpPr>
        <p:spPr>
          <a:xfrm>
            <a:off x="609480" y="2859480"/>
            <a:ext cx="18775080" cy="437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100" b="0" u="none" strike="noStrike">
                <a:solidFill>
                  <a:srgbClr val="6E7174"/>
                </a:solidFill>
                <a:effectLst/>
                <a:uFillTx/>
                <a:latin typeface="Noto Sans JP"/>
                <a:ea typeface="Noto Sans JP"/>
              </a:rPr>
              <a:t>地方再生の、再現可能なモデル。</a:t>
            </a:r>
            <a:endParaRPr lang="en-US" sz="2100" b="0" u="none" strike="noStrike">
              <a:solidFill>
                <a:srgbClr val="000000"/>
              </a:solidFill>
              <a:effectLst/>
              <a:uFillTx/>
              <a:latin typeface="Arial"/>
            </a:endParaRPr>
          </a:p>
        </p:txBody>
      </p:sp>
      <p:sp>
        <p:nvSpPr>
          <p:cNvPr id="36" name="Shape 5"/>
          <p:cNvSpPr/>
          <p:nvPr/>
        </p:nvSpPr>
        <p:spPr>
          <a:xfrm>
            <a:off x="60948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 name="Shape 6"/>
          <p:cNvSpPr/>
          <p:nvPr/>
        </p:nvSpPr>
        <p:spPr>
          <a:xfrm>
            <a:off x="609480" y="4640760"/>
            <a:ext cx="5485680" cy="46800"/>
          </a:xfrm>
          <a:prstGeom prst="rect">
            <a:avLst/>
          </a:prstGeom>
          <a:solidFill>
            <a:srgbClr val="2E2E2E"/>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38" name="Text 7"/>
          <p:cNvSpPr/>
          <p:nvPr/>
        </p:nvSpPr>
        <p:spPr>
          <a:xfrm>
            <a:off x="93348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2250" b="1" u="none" strike="noStrike">
                <a:solidFill>
                  <a:srgbClr val="2E2E2E"/>
                </a:solidFill>
                <a:effectLst/>
                <a:uFillTx/>
                <a:latin typeface="Sora"/>
                <a:ea typeface="Sora"/>
              </a:rPr>
              <a:t>Forest</a:t>
            </a:r>
            <a:endParaRPr lang="en-US" sz="2250" b="0" u="none" strike="noStrike">
              <a:solidFill>
                <a:srgbClr val="000000"/>
              </a:solidFill>
              <a:effectLst/>
              <a:uFillTx/>
              <a:latin typeface="Arial"/>
            </a:endParaRPr>
          </a:p>
        </p:txBody>
      </p:sp>
      <p:sp>
        <p:nvSpPr>
          <p:cNvPr id="39" name="Text 8"/>
          <p:cNvSpPr/>
          <p:nvPr/>
        </p:nvSpPr>
        <p:spPr>
          <a:xfrm>
            <a:off x="93348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450" b="1" u="none" strike="noStrike">
                <a:solidFill>
                  <a:srgbClr val="9B9DA0"/>
                </a:solidFill>
                <a:effectLst/>
                <a:uFillTx/>
                <a:latin typeface="Noto Sans JP"/>
                <a:ea typeface="Noto Sans JP"/>
              </a:rPr>
              <a:t>森林再生</a:t>
            </a:r>
            <a:endParaRPr lang="en-US" sz="1450" b="0" u="none" strike="noStrike">
              <a:solidFill>
                <a:srgbClr val="000000"/>
              </a:solidFill>
              <a:effectLst/>
              <a:uFillTx/>
              <a:latin typeface="Arial"/>
            </a:endParaRPr>
          </a:p>
        </p:txBody>
      </p:sp>
      <p:sp>
        <p:nvSpPr>
          <p:cNvPr id="40" name="Text 9"/>
          <p:cNvSpPr/>
          <p:nvPr/>
        </p:nvSpPr>
        <p:spPr>
          <a:xfrm>
            <a:off x="93348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650" b="0" u="none" strike="noStrike">
                <a:solidFill>
                  <a:srgbClr val="4A4A4A"/>
                </a:solidFill>
                <a:effectLst/>
                <a:uFillTx/>
                <a:latin typeface="Open Sans"/>
                <a:ea typeface="Open Sans"/>
              </a:rPr>
              <a:t>Aged cedar restored to native broadleaf — turning a liability into feedstock and habitat.</a:t>
            </a:r>
            <a:endParaRPr lang="en-US" sz="1650" b="0" u="none" strike="noStrike">
              <a:solidFill>
                <a:srgbClr val="000000"/>
              </a:solidFill>
              <a:effectLst/>
              <a:uFillTx/>
              <a:latin typeface="Arial"/>
            </a:endParaRPr>
          </a:p>
        </p:txBody>
      </p:sp>
      <p:sp>
        <p:nvSpPr>
          <p:cNvPr id="41" name="Shape 10"/>
          <p:cNvSpPr/>
          <p:nvPr/>
        </p:nvSpPr>
        <p:spPr>
          <a:xfrm>
            <a:off x="640080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 name="Shape 11"/>
          <p:cNvSpPr/>
          <p:nvPr/>
        </p:nvSpPr>
        <p:spPr>
          <a:xfrm>
            <a:off x="6400800" y="4640760"/>
            <a:ext cx="5485680" cy="46800"/>
          </a:xfrm>
          <a:prstGeom prst="rect">
            <a:avLst/>
          </a:prstGeom>
          <a:solidFill>
            <a:srgbClr val="2E2E2E"/>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43" name="Text 12"/>
          <p:cNvSpPr/>
          <p:nvPr/>
        </p:nvSpPr>
        <p:spPr>
          <a:xfrm>
            <a:off x="672480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2250" b="1" u="none" strike="noStrike">
                <a:solidFill>
                  <a:srgbClr val="2E2E2E"/>
                </a:solidFill>
                <a:effectLst/>
                <a:uFillTx/>
                <a:latin typeface="Sora"/>
                <a:ea typeface="Sora"/>
              </a:rPr>
              <a:t>Energy</a:t>
            </a:r>
            <a:endParaRPr lang="en-US" sz="2250" b="0" u="none" strike="noStrike">
              <a:solidFill>
                <a:srgbClr val="000000"/>
              </a:solidFill>
              <a:effectLst/>
              <a:uFillTx/>
              <a:latin typeface="Arial"/>
            </a:endParaRPr>
          </a:p>
        </p:txBody>
      </p:sp>
      <p:sp>
        <p:nvSpPr>
          <p:cNvPr id="44" name="Text 13"/>
          <p:cNvSpPr/>
          <p:nvPr/>
        </p:nvSpPr>
        <p:spPr>
          <a:xfrm>
            <a:off x="672480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450" b="1" u="none" strike="noStrike">
                <a:solidFill>
                  <a:srgbClr val="9B9DA0"/>
                </a:solidFill>
                <a:effectLst/>
                <a:uFillTx/>
                <a:latin typeface="Noto Sans JP"/>
                <a:ea typeface="Noto Sans JP"/>
              </a:rPr>
              <a:t>地域エネルギー</a:t>
            </a:r>
            <a:endParaRPr lang="en-US" sz="1450" b="0" u="none" strike="noStrike">
              <a:solidFill>
                <a:srgbClr val="000000"/>
              </a:solidFill>
              <a:effectLst/>
              <a:uFillTx/>
              <a:latin typeface="Arial"/>
            </a:endParaRPr>
          </a:p>
        </p:txBody>
      </p:sp>
      <p:sp>
        <p:nvSpPr>
          <p:cNvPr id="45" name="Text 14"/>
          <p:cNvSpPr/>
          <p:nvPr/>
        </p:nvSpPr>
        <p:spPr>
          <a:xfrm>
            <a:off x="672480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650" b="0" u="none" strike="noStrike">
                <a:solidFill>
                  <a:srgbClr val="4A4A4A"/>
                </a:solidFill>
                <a:effectLst/>
                <a:uFillTx/>
                <a:latin typeface="Open Sans"/>
                <a:ea typeface="Open Sans"/>
              </a:rPr>
              <a:t>Biomass heat and existing solar — local power, kept local, with the grid as backup.</a:t>
            </a:r>
            <a:endParaRPr lang="en-US" sz="1650" b="0" u="none" strike="noStrike">
              <a:solidFill>
                <a:srgbClr val="000000"/>
              </a:solidFill>
              <a:effectLst/>
              <a:uFillTx/>
              <a:latin typeface="Arial"/>
            </a:endParaRPr>
          </a:p>
        </p:txBody>
      </p:sp>
      <p:sp>
        <p:nvSpPr>
          <p:cNvPr id="46" name="Shape 15"/>
          <p:cNvSpPr/>
          <p:nvPr/>
        </p:nvSpPr>
        <p:spPr>
          <a:xfrm>
            <a:off x="1219212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 name="Shape 16"/>
          <p:cNvSpPr/>
          <p:nvPr/>
        </p:nvSpPr>
        <p:spPr>
          <a:xfrm>
            <a:off x="12192120" y="4640760"/>
            <a:ext cx="548568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48" name="Text 17"/>
          <p:cNvSpPr/>
          <p:nvPr/>
        </p:nvSpPr>
        <p:spPr>
          <a:xfrm>
            <a:off x="1251576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2250" b="1" u="none" strike="noStrike">
                <a:solidFill>
                  <a:srgbClr val="C26A12"/>
                </a:solidFill>
                <a:effectLst/>
                <a:uFillTx/>
                <a:latin typeface="Sora"/>
                <a:ea typeface="Sora"/>
              </a:rPr>
              <a:t>Compute</a:t>
            </a:r>
            <a:endParaRPr lang="en-US" sz="2250" b="0" u="none" strike="noStrike">
              <a:solidFill>
                <a:srgbClr val="000000"/>
              </a:solidFill>
              <a:effectLst/>
              <a:uFillTx/>
              <a:latin typeface="Arial"/>
            </a:endParaRPr>
          </a:p>
        </p:txBody>
      </p:sp>
      <p:sp>
        <p:nvSpPr>
          <p:cNvPr id="49" name="Text 18"/>
          <p:cNvSpPr/>
          <p:nvPr/>
        </p:nvSpPr>
        <p:spPr>
          <a:xfrm>
            <a:off x="1251576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450" b="1" u="none" strike="noStrike">
                <a:solidFill>
                  <a:srgbClr val="E58520"/>
                </a:solidFill>
                <a:effectLst/>
                <a:uFillTx/>
                <a:latin typeface="Noto Sans JP"/>
                <a:ea typeface="Noto Sans JP"/>
              </a:rPr>
              <a:t>演算 — エンジン</a:t>
            </a:r>
            <a:endParaRPr lang="en-US" sz="1450" b="0" u="none" strike="noStrike">
              <a:solidFill>
                <a:srgbClr val="000000"/>
              </a:solidFill>
              <a:effectLst/>
              <a:uFillTx/>
              <a:latin typeface="Arial"/>
            </a:endParaRPr>
          </a:p>
        </p:txBody>
      </p:sp>
      <p:sp>
        <p:nvSpPr>
          <p:cNvPr id="50" name="Text 19"/>
          <p:cNvSpPr/>
          <p:nvPr/>
        </p:nvSpPr>
        <p:spPr>
          <a:xfrm>
            <a:off x="1251576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650" b="0" u="none" strike="noStrike">
                <a:solidFill>
                  <a:srgbClr val="4A4A4A"/>
                </a:solidFill>
                <a:effectLst/>
                <a:uFillTx/>
                <a:latin typeface="Open Sans"/>
                <a:ea typeface="Open Sans"/>
              </a:rPr>
              <a:t>A community-owned data center — the revenue engine that finances everything else.</a:t>
            </a:r>
            <a:endParaRPr lang="en-US" sz="1650" b="0" u="none" strike="noStrike">
              <a:solidFill>
                <a:srgbClr val="000000"/>
              </a:solidFill>
              <a:effectLst/>
              <a:uFillTx/>
              <a:latin typeface="Arial"/>
            </a:endParaRPr>
          </a:p>
        </p:txBody>
      </p:sp>
      <p:sp>
        <p:nvSpPr>
          <p:cNvPr id="51" name="Shape 20"/>
          <p:cNvSpPr/>
          <p:nvPr/>
        </p:nvSpPr>
        <p:spPr>
          <a:xfrm>
            <a:off x="609480" y="8784360"/>
            <a:ext cx="17067960" cy="816120"/>
          </a:xfrm>
          <a:prstGeom prst="rect">
            <a:avLst/>
          </a:prstGeom>
          <a:solidFill>
            <a:srgbClr val="2E2E2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 name="Text 21"/>
          <p:cNvSpPr/>
          <p:nvPr/>
        </p:nvSpPr>
        <p:spPr>
          <a:xfrm>
            <a:off x="933480" y="9035640"/>
            <a:ext cx="114948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50" b="1" u="none" strike="noStrike">
                <a:solidFill>
                  <a:srgbClr val="F4B872"/>
                </a:solidFill>
                <a:effectLst/>
                <a:uFillTx/>
                <a:latin typeface="Sora"/>
                <a:ea typeface="Sora"/>
              </a:rPr>
              <a:t>Key idea</a:t>
            </a:r>
            <a:endParaRPr lang="en-US" sz="1950" b="0" u="none" strike="noStrike">
              <a:solidFill>
                <a:srgbClr val="000000"/>
              </a:solidFill>
              <a:effectLst/>
              <a:uFillTx/>
              <a:latin typeface="Arial"/>
            </a:endParaRPr>
          </a:p>
        </p:txBody>
      </p:sp>
      <p:sp>
        <p:nvSpPr>
          <p:cNvPr id="53" name="Text 22"/>
          <p:cNvSpPr/>
          <p:nvPr/>
        </p:nvSpPr>
        <p:spPr>
          <a:xfrm>
            <a:off x="2216880" y="9032040"/>
            <a:ext cx="13814280" cy="358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5000"/>
              </a:lnSpc>
              <a:tabLst>
                <a:tab pos="0" algn="l"/>
              </a:tabLst>
            </a:pPr>
            <a:r>
              <a:rPr lang="en-US" sz="1900" b="1" u="none" strike="noStrike">
                <a:solidFill>
                  <a:srgbClr val="FFFFFF"/>
                </a:solidFill>
                <a:effectLst/>
                <a:uFillTx/>
                <a:latin typeface="Open Sans"/>
                <a:ea typeface="Open Sans"/>
              </a:rPr>
              <a:t>The data center is the engine. The forest and the village are the return. </a:t>
            </a:r>
            <a:r>
              <a:rPr lang="zh-CN" sz="1500" b="0" u="none" strike="noStrike">
                <a:solidFill>
                  <a:srgbClr val="C7C9CB"/>
                </a:solidFill>
                <a:effectLst/>
                <a:uFillTx/>
                <a:latin typeface="Noto Sans JP"/>
                <a:ea typeface="Noto Sans JP"/>
              </a:rPr>
              <a:t>データセンターはエンジン、森と集落がリターン。</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55"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56" name="Text 2"/>
          <p:cNvSpPr/>
          <p:nvPr/>
        </p:nvSpPr>
        <p:spPr>
          <a:xfrm>
            <a:off x="1181160" y="800280"/>
            <a:ext cx="353844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THE CHALLENGE · </a:t>
            </a:r>
            <a:r>
              <a:rPr lang="zh-CN" sz="1300" b="1" u="none" spc="204" strike="noStrike">
                <a:solidFill>
                  <a:srgbClr val="9B9DA0"/>
                </a:solidFill>
                <a:effectLst/>
                <a:uFillTx/>
                <a:latin typeface="Open Sans"/>
                <a:ea typeface="Open Sans"/>
              </a:rPr>
              <a:t>現状の課題 </a:t>
            </a:r>
            <a:r>
              <a:rPr lang="en-US" sz="1300" b="1" u="none" spc="204" strike="noStrike">
                <a:solidFill>
                  <a:srgbClr val="9B9DA0"/>
                </a:solidFill>
                <a:effectLst/>
                <a:uFillTx/>
                <a:latin typeface="Open Sans"/>
                <a:ea typeface="Open Sans"/>
              </a:rPr>
              <a:t>· 03</a:t>
            </a:r>
            <a:endParaRPr lang="en-US" sz="1300" b="0" u="none" strike="noStrike">
              <a:solidFill>
                <a:srgbClr val="000000"/>
              </a:solidFill>
              <a:effectLst/>
              <a:uFillTx/>
              <a:latin typeface="Arial"/>
            </a:endParaRPr>
          </a:p>
        </p:txBody>
      </p:sp>
      <p:sp>
        <p:nvSpPr>
          <p:cNvPr id="57" name="Text 3"/>
          <p:cNvSpPr/>
          <p:nvPr/>
        </p:nvSpPr>
        <p:spPr>
          <a:xfrm>
            <a:off x="609480" y="1266840"/>
            <a:ext cx="18775080" cy="671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4000"/>
              </a:lnSpc>
              <a:tabLst>
                <a:tab pos="0" algn="l"/>
              </a:tabLst>
            </a:pPr>
            <a:r>
              <a:rPr lang="en-US" sz="4800" b="1" u="none" spc="-48" strike="noStrike">
                <a:solidFill>
                  <a:srgbClr val="2E2E2E"/>
                </a:solidFill>
                <a:effectLst/>
                <a:uFillTx/>
                <a:latin typeface="Sora"/>
                <a:ea typeface="Sora"/>
              </a:rPr>
              <a:t>Four problems — or four raw materials</a:t>
            </a:r>
            <a:endParaRPr lang="en-US" sz="4800" b="0" u="none" strike="noStrike">
              <a:solidFill>
                <a:srgbClr val="000000"/>
              </a:solidFill>
              <a:effectLst/>
              <a:uFillTx/>
              <a:latin typeface="Arial"/>
            </a:endParaRPr>
          </a:p>
        </p:txBody>
      </p:sp>
      <p:sp>
        <p:nvSpPr>
          <p:cNvPr id="58" name="Text 4"/>
          <p:cNvSpPr/>
          <p:nvPr/>
        </p:nvSpPr>
        <p:spPr>
          <a:xfrm>
            <a:off x="609480" y="201528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0" u="none" strike="noStrike">
                <a:solidFill>
                  <a:srgbClr val="6E7174"/>
                </a:solidFill>
                <a:effectLst/>
                <a:uFillTx/>
                <a:latin typeface="Noto Sans JP"/>
                <a:ea typeface="Noto Sans JP"/>
              </a:rPr>
              <a:t>四つの課題は、見方を変えれば四つの資源。</a:t>
            </a:r>
            <a:endParaRPr lang="en-US" sz="1950" b="0" u="none" strike="noStrike">
              <a:solidFill>
                <a:srgbClr val="000000"/>
              </a:solidFill>
              <a:effectLst/>
              <a:uFillTx/>
              <a:latin typeface="Arial"/>
            </a:endParaRPr>
          </a:p>
        </p:txBody>
      </p:sp>
      <p:sp>
        <p:nvSpPr>
          <p:cNvPr id="59" name="Shape 5"/>
          <p:cNvSpPr/>
          <p:nvPr/>
        </p:nvSpPr>
        <p:spPr>
          <a:xfrm>
            <a:off x="60948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60" name="Text 6"/>
          <p:cNvSpPr/>
          <p:nvPr/>
        </p:nvSpPr>
        <p:spPr>
          <a:xfrm>
            <a:off x="60948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500" b="1" u="none" strike="noStrike">
                <a:solidFill>
                  <a:srgbClr val="2E2E2E"/>
                </a:solidFill>
                <a:effectLst/>
                <a:uFillTx/>
                <a:latin typeface="Sora"/>
                <a:ea typeface="Sora"/>
              </a:rPr>
              <a:t>&lt;1,500</a:t>
            </a:r>
            <a:endParaRPr lang="en-US" sz="4500" b="0" u="none" strike="noStrike">
              <a:solidFill>
                <a:srgbClr val="000000"/>
              </a:solidFill>
              <a:effectLst/>
              <a:uFillTx/>
              <a:latin typeface="Arial"/>
            </a:endParaRPr>
          </a:p>
        </p:txBody>
      </p:sp>
      <p:sp>
        <p:nvSpPr>
          <p:cNvPr id="61" name="Text 7"/>
          <p:cNvSpPr/>
          <p:nvPr/>
        </p:nvSpPr>
        <p:spPr>
          <a:xfrm>
            <a:off x="60948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750" b="1" u="none" strike="noStrike">
                <a:solidFill>
                  <a:srgbClr val="2E2E2E"/>
                </a:solidFill>
                <a:effectLst/>
                <a:uFillTx/>
                <a:latin typeface="Open Sans"/>
                <a:ea typeface="Open Sans"/>
              </a:rPr>
              <a:t>Residents, and falling</a:t>
            </a:r>
            <a:endParaRPr lang="en-US" sz="1750" b="0" u="none" strike="noStrike">
              <a:solidFill>
                <a:srgbClr val="000000"/>
              </a:solidFill>
              <a:effectLst/>
              <a:uFillTx/>
              <a:latin typeface="Arial"/>
            </a:endParaRPr>
          </a:p>
        </p:txBody>
      </p:sp>
      <p:sp>
        <p:nvSpPr>
          <p:cNvPr id="62" name="Text 8"/>
          <p:cNvSpPr/>
          <p:nvPr/>
        </p:nvSpPr>
        <p:spPr>
          <a:xfrm>
            <a:off x="60948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zh-CN" sz="1350" b="0" u="none" strike="noStrike">
                <a:solidFill>
                  <a:srgbClr val="9B9DA0"/>
                </a:solidFill>
                <a:effectLst/>
                <a:uFillTx/>
                <a:latin typeface="Noto Sans JP"/>
                <a:ea typeface="Noto Sans JP"/>
              </a:rPr>
              <a:t>人口減少・高齢化（</a:t>
            </a:r>
            <a:r>
              <a:rPr lang="en-US" sz="1350" b="0" u="none" strike="noStrike">
                <a:solidFill>
                  <a:srgbClr val="9B9DA0"/>
                </a:solidFill>
                <a:effectLst/>
                <a:uFillTx/>
                <a:latin typeface="Noto Sans JP"/>
                <a:ea typeface="Noto Sans JP"/>
              </a:rPr>
              <a:t>65</a:t>
            </a:r>
            <a:r>
              <a:rPr lang="zh-CN" sz="1350" b="0" u="none" strike="noStrike">
                <a:solidFill>
                  <a:srgbClr val="9B9DA0"/>
                </a:solidFill>
                <a:effectLst/>
                <a:uFillTx/>
                <a:latin typeface="Noto Sans JP"/>
                <a:ea typeface="Noto Sans JP"/>
              </a:rPr>
              <a:t>歳以上が過半）</a:t>
            </a:r>
            <a:endParaRPr lang="en-US" sz="1350" b="0" u="none" strike="noStrike">
              <a:solidFill>
                <a:srgbClr val="000000"/>
              </a:solidFill>
              <a:effectLst/>
              <a:uFillTx/>
              <a:latin typeface="Arial"/>
            </a:endParaRPr>
          </a:p>
        </p:txBody>
      </p:sp>
      <p:sp>
        <p:nvSpPr>
          <p:cNvPr id="63" name="Text 9"/>
          <p:cNvSpPr/>
          <p:nvPr/>
        </p:nvSpPr>
        <p:spPr>
          <a:xfrm>
            <a:off x="60948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pPr>
            <a:r>
              <a:rPr lang="en-US" sz="1450" b="0" u="none" strike="noStrike">
                <a:solidFill>
                  <a:srgbClr val="6E7174"/>
                </a:solidFill>
                <a:effectLst/>
                <a:uFillTx/>
                <a:latin typeface="Open Sans"/>
                <a:ea typeface="Open Sans"/>
              </a:rPr>
              <a:t>An aging community that needs new work and reasons to stay.</a:t>
            </a:r>
            <a:endParaRPr lang="en-US" sz="1450" b="0" u="none" strike="noStrike">
              <a:solidFill>
                <a:srgbClr val="000000"/>
              </a:solidFill>
              <a:effectLst/>
              <a:uFillTx/>
              <a:latin typeface="Arial"/>
            </a:endParaRPr>
          </a:p>
        </p:txBody>
      </p:sp>
      <p:sp>
        <p:nvSpPr>
          <p:cNvPr id="64" name="Shape 10"/>
          <p:cNvSpPr/>
          <p:nvPr/>
        </p:nvSpPr>
        <p:spPr>
          <a:xfrm>
            <a:off x="493884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65" name="Text 11"/>
          <p:cNvSpPr/>
          <p:nvPr/>
        </p:nvSpPr>
        <p:spPr>
          <a:xfrm>
            <a:off x="4938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500" b="1" u="none" strike="noStrike">
                <a:solidFill>
                  <a:srgbClr val="2E2E2E"/>
                </a:solidFill>
                <a:effectLst/>
                <a:uFillTx/>
                <a:latin typeface="Sora"/>
                <a:ea typeface="Sora"/>
              </a:rPr>
              <a:t>93%</a:t>
            </a:r>
            <a:endParaRPr lang="en-US" sz="4500" b="0" u="none" strike="noStrike">
              <a:solidFill>
                <a:srgbClr val="000000"/>
              </a:solidFill>
              <a:effectLst/>
              <a:uFillTx/>
              <a:latin typeface="Arial"/>
            </a:endParaRPr>
          </a:p>
        </p:txBody>
      </p:sp>
      <p:sp>
        <p:nvSpPr>
          <p:cNvPr id="66" name="Text 12"/>
          <p:cNvSpPr/>
          <p:nvPr/>
        </p:nvSpPr>
        <p:spPr>
          <a:xfrm>
            <a:off x="4938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750" b="1" u="none" strike="noStrike">
                <a:solidFill>
                  <a:srgbClr val="2E2E2E"/>
                </a:solidFill>
                <a:effectLst/>
                <a:uFillTx/>
                <a:latin typeface="Open Sans"/>
                <a:ea typeface="Open Sans"/>
              </a:rPr>
              <a:t>Forest, much unmanaged</a:t>
            </a:r>
            <a:endParaRPr lang="en-US" sz="1750" b="0" u="none" strike="noStrike">
              <a:solidFill>
                <a:srgbClr val="000000"/>
              </a:solidFill>
              <a:effectLst/>
              <a:uFillTx/>
              <a:latin typeface="Arial"/>
            </a:endParaRPr>
          </a:p>
        </p:txBody>
      </p:sp>
      <p:sp>
        <p:nvSpPr>
          <p:cNvPr id="67" name="Text 13"/>
          <p:cNvSpPr/>
          <p:nvPr/>
        </p:nvSpPr>
        <p:spPr>
          <a:xfrm>
            <a:off x="4938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zh-CN" sz="1350" b="0" u="none" strike="noStrike">
                <a:solidFill>
                  <a:srgbClr val="9B9DA0"/>
                </a:solidFill>
                <a:effectLst/>
                <a:uFillTx/>
                <a:latin typeface="Noto Sans JP"/>
                <a:ea typeface="Noto Sans JP"/>
              </a:rPr>
              <a:t>森林率</a:t>
            </a:r>
            <a:r>
              <a:rPr lang="en-US" sz="1350" b="0" u="none" strike="noStrike">
                <a:solidFill>
                  <a:srgbClr val="9B9DA0"/>
                </a:solidFill>
                <a:effectLst/>
                <a:uFillTx/>
                <a:latin typeface="Noto Sans JP"/>
                <a:ea typeface="Noto Sans JP"/>
              </a:rPr>
              <a:t>93%</a:t>
            </a:r>
            <a:r>
              <a:rPr lang="zh-CN" sz="1350" b="0" u="none" strike="noStrike">
                <a:solidFill>
                  <a:srgbClr val="9B9DA0"/>
                </a:solidFill>
                <a:effectLst/>
                <a:uFillTx/>
                <a:latin typeface="Noto Sans JP"/>
                <a:ea typeface="Noto Sans JP"/>
              </a:rPr>
              <a:t>・放置された人工林</a:t>
            </a:r>
            <a:endParaRPr lang="en-US" sz="1350" b="0" u="none" strike="noStrike">
              <a:solidFill>
                <a:srgbClr val="000000"/>
              </a:solidFill>
              <a:effectLst/>
              <a:uFillTx/>
              <a:latin typeface="Arial"/>
            </a:endParaRPr>
          </a:p>
        </p:txBody>
      </p:sp>
      <p:sp>
        <p:nvSpPr>
          <p:cNvPr id="68" name="Text 14"/>
          <p:cNvSpPr/>
          <p:nvPr/>
        </p:nvSpPr>
        <p:spPr>
          <a:xfrm>
            <a:off x="4938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pPr>
            <a:r>
              <a:rPr lang="en-US" sz="1450" b="0" u="none" strike="noStrike">
                <a:solidFill>
                  <a:srgbClr val="6E7174"/>
                </a:solidFill>
                <a:effectLst/>
                <a:uFillTx/>
                <a:latin typeface="Open Sans"/>
                <a:ea typeface="Open Sans"/>
              </a:rPr>
              <a:t>Aged cedar: a pollen, fire and landslide liability — and a fuel.</a:t>
            </a:r>
            <a:endParaRPr lang="en-US" sz="1450" b="0" u="none" strike="noStrike">
              <a:solidFill>
                <a:srgbClr val="000000"/>
              </a:solidFill>
              <a:effectLst/>
              <a:uFillTx/>
              <a:latin typeface="Arial"/>
            </a:endParaRPr>
          </a:p>
        </p:txBody>
      </p:sp>
      <p:sp>
        <p:nvSpPr>
          <p:cNvPr id="69" name="Shape 15"/>
          <p:cNvSpPr/>
          <p:nvPr/>
        </p:nvSpPr>
        <p:spPr>
          <a:xfrm>
            <a:off x="926784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endParaRPr lang="en-US" sz="1800" b="0" u="none" strike="noStrike">
              <a:solidFill>
                <a:srgbClr val="000000"/>
              </a:solidFill>
              <a:effectLst/>
              <a:uFillTx/>
              <a:latin typeface="Arial"/>
            </a:endParaRPr>
          </a:p>
        </p:txBody>
      </p:sp>
      <p:sp>
        <p:nvSpPr>
          <p:cNvPr id="70" name="Text 16"/>
          <p:cNvSpPr/>
          <p:nvPr/>
        </p:nvSpPr>
        <p:spPr>
          <a:xfrm>
            <a:off x="9267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500" b="1" u="none" strike="noStrike">
                <a:solidFill>
                  <a:srgbClr val="2E2E2E"/>
                </a:solidFill>
                <a:effectLst/>
                <a:uFillTx/>
                <a:latin typeface="Sora"/>
                <a:ea typeface="Sora"/>
              </a:rPr>
              <a:t>1</a:t>
            </a:r>
            <a:endParaRPr lang="en-US" sz="4500" b="0" u="none" strike="noStrike">
              <a:solidFill>
                <a:srgbClr val="000000"/>
              </a:solidFill>
              <a:effectLst/>
              <a:uFillTx/>
              <a:latin typeface="Arial"/>
            </a:endParaRPr>
          </a:p>
        </p:txBody>
      </p:sp>
      <p:sp>
        <p:nvSpPr>
          <p:cNvPr id="71" name="Text 17"/>
          <p:cNvSpPr/>
          <p:nvPr/>
        </p:nvSpPr>
        <p:spPr>
          <a:xfrm>
            <a:off x="9267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750" b="1" u="none" strike="noStrike">
                <a:solidFill>
                  <a:srgbClr val="2E2E2E"/>
                </a:solidFill>
                <a:effectLst/>
                <a:uFillTx/>
                <a:latin typeface="Open Sans"/>
                <a:ea typeface="Open Sans"/>
              </a:rPr>
              <a:t>Closed school</a:t>
            </a:r>
            <a:endParaRPr lang="en-US" sz="1750" b="0" u="none" strike="noStrike">
              <a:solidFill>
                <a:srgbClr val="000000"/>
              </a:solidFill>
              <a:effectLst/>
              <a:uFillTx/>
              <a:latin typeface="Arial"/>
            </a:endParaRPr>
          </a:p>
        </p:txBody>
      </p:sp>
      <p:sp>
        <p:nvSpPr>
          <p:cNvPr id="72" name="Text 18"/>
          <p:cNvSpPr/>
          <p:nvPr/>
        </p:nvSpPr>
        <p:spPr>
          <a:xfrm>
            <a:off x="9267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zh-CN" sz="1350" b="0" u="none" strike="noStrike">
                <a:solidFill>
                  <a:srgbClr val="9B9DA0"/>
                </a:solidFill>
                <a:effectLst/>
                <a:uFillTx/>
                <a:latin typeface="Noto Sans JP"/>
                <a:ea typeface="Noto Sans JP"/>
              </a:rPr>
              <a:t>旧御杖小学校 — 維持費のかかる遊休資産</a:t>
            </a:r>
            <a:endParaRPr lang="en-US" sz="1350" b="0" u="none" strike="noStrike">
              <a:solidFill>
                <a:srgbClr val="000000"/>
              </a:solidFill>
              <a:effectLst/>
              <a:uFillTx/>
              <a:latin typeface="Arial"/>
            </a:endParaRPr>
          </a:p>
        </p:txBody>
      </p:sp>
      <p:sp>
        <p:nvSpPr>
          <p:cNvPr id="73" name="Text 19"/>
          <p:cNvSpPr/>
          <p:nvPr/>
        </p:nvSpPr>
        <p:spPr>
          <a:xfrm>
            <a:off x="9267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pPr>
            <a:r>
              <a:rPr lang="en-US" sz="1450" b="0" u="none" strike="noStrike">
                <a:solidFill>
                  <a:srgbClr val="6E7174"/>
                </a:solidFill>
                <a:effectLst/>
                <a:uFillTx/>
                <a:latin typeface="Open Sans"/>
                <a:ea typeface="Open Sans"/>
              </a:rPr>
              <a:t>A maintained building earning nothing — ready to be repurposed.</a:t>
            </a:r>
            <a:endParaRPr lang="en-US" sz="1450" b="0" u="none" strike="noStrike">
              <a:solidFill>
                <a:srgbClr val="000000"/>
              </a:solidFill>
              <a:effectLst/>
              <a:uFillTx/>
              <a:latin typeface="Arial"/>
            </a:endParaRPr>
          </a:p>
        </p:txBody>
      </p:sp>
      <p:sp>
        <p:nvSpPr>
          <p:cNvPr id="74" name="Shape 20"/>
          <p:cNvSpPr/>
          <p:nvPr/>
        </p:nvSpPr>
        <p:spPr>
          <a:xfrm>
            <a:off x="13596840" y="2767680"/>
            <a:ext cx="4080600" cy="18360"/>
          </a:xfrm>
          <a:prstGeom prst="rect">
            <a:avLst/>
          </a:prstGeom>
          <a:solidFill>
            <a:srgbClr val="E58520"/>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75" name="Text 21"/>
          <p:cNvSpPr/>
          <p:nvPr/>
        </p:nvSpPr>
        <p:spPr>
          <a:xfrm>
            <a:off x="13596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500" b="1" u="none" strike="noStrike">
                <a:solidFill>
                  <a:srgbClr val="C26A12"/>
                </a:solidFill>
                <a:effectLst/>
                <a:uFillTx/>
                <a:latin typeface="Sora"/>
                <a:ea typeface="Sora"/>
              </a:rPr>
              <a:t>~92%</a:t>
            </a:r>
            <a:endParaRPr lang="en-US" sz="4500" b="0" u="none" strike="noStrike">
              <a:solidFill>
                <a:srgbClr val="000000"/>
              </a:solidFill>
              <a:effectLst/>
              <a:uFillTx/>
              <a:latin typeface="Arial"/>
            </a:endParaRPr>
          </a:p>
        </p:txBody>
      </p:sp>
      <p:sp>
        <p:nvSpPr>
          <p:cNvPr id="76" name="Text 22"/>
          <p:cNvSpPr/>
          <p:nvPr/>
        </p:nvSpPr>
        <p:spPr>
          <a:xfrm>
            <a:off x="13596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750" b="1" u="none" strike="noStrike">
                <a:solidFill>
                  <a:srgbClr val="2E2E2E"/>
                </a:solidFill>
                <a:effectLst/>
                <a:uFillTx/>
                <a:latin typeface="Open Sans"/>
                <a:ea typeface="Open Sans"/>
              </a:rPr>
              <a:t>Energy imported</a:t>
            </a:r>
            <a:endParaRPr lang="en-US" sz="1750" b="0" u="none" strike="noStrike">
              <a:solidFill>
                <a:srgbClr val="000000"/>
              </a:solidFill>
              <a:effectLst/>
              <a:uFillTx/>
              <a:latin typeface="Arial"/>
            </a:endParaRPr>
          </a:p>
        </p:txBody>
      </p:sp>
      <p:sp>
        <p:nvSpPr>
          <p:cNvPr id="77" name="Text 23"/>
          <p:cNvSpPr/>
          <p:nvPr/>
        </p:nvSpPr>
        <p:spPr>
          <a:xfrm>
            <a:off x="13596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zh-CN" sz="1350" b="0" u="none" strike="noStrike">
                <a:solidFill>
                  <a:srgbClr val="E58520"/>
                </a:solidFill>
                <a:effectLst/>
                <a:uFillTx/>
                <a:latin typeface="Noto Sans JP"/>
                <a:ea typeface="Noto Sans JP"/>
              </a:rPr>
              <a:t>エネルギーの大半を域外に依存</a:t>
            </a:r>
            <a:endParaRPr lang="en-US" sz="1350" b="0" u="none" strike="noStrike">
              <a:solidFill>
                <a:srgbClr val="000000"/>
              </a:solidFill>
              <a:effectLst/>
              <a:uFillTx/>
              <a:latin typeface="Arial"/>
            </a:endParaRPr>
          </a:p>
        </p:txBody>
      </p:sp>
      <p:sp>
        <p:nvSpPr>
          <p:cNvPr id="78" name="Text 24"/>
          <p:cNvSpPr/>
          <p:nvPr/>
        </p:nvSpPr>
        <p:spPr>
          <a:xfrm>
            <a:off x="13596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pPr>
            <a:r>
              <a:rPr lang="en-US" sz="1450" b="0" u="none" strike="noStrike">
                <a:solidFill>
                  <a:srgbClr val="6E7174"/>
                </a:solidFill>
                <a:effectLst/>
                <a:uFillTx/>
                <a:latin typeface="Open Sans"/>
                <a:ea typeface="Open Sans"/>
              </a:rPr>
              <a:t>Money leaves the village every month to buy power and fuel.</a:t>
            </a:r>
            <a:endParaRPr lang="en-US" sz="1450" b="0" u="none" strike="noStrike">
              <a:solidFill>
                <a:srgbClr val="000000"/>
              </a:solidFill>
              <a:effectLst/>
              <a:uFillTx/>
              <a:latin typeface="Arial"/>
            </a:endParaRPr>
          </a:p>
        </p:txBody>
      </p:sp>
      <p:sp>
        <p:nvSpPr>
          <p:cNvPr id="79" name="Text 25"/>
          <p:cNvSpPr/>
          <p:nvPr/>
        </p:nvSpPr>
        <p:spPr>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20" strike="noStrike">
                <a:solidFill>
                  <a:srgbClr val="A9ABAE"/>
                </a:solidFill>
                <a:effectLst/>
                <a:uFillTx/>
                <a:latin typeface="Open Sans"/>
                <a:ea typeface="Open Sans"/>
              </a:rPr>
              <a:t>Population &amp; forest: Mitsue Village statistics / Census. Energy import share illustrative — Japan Energy Database indicators. </a:t>
            </a:r>
            <a:r>
              <a:rPr lang="zh-CN" sz="1000" b="1" u="none" spc="20" strike="noStrike">
                <a:solidFill>
                  <a:srgbClr val="A9ABAE"/>
                </a:solidFill>
                <a:effectLst/>
                <a:uFillTx/>
                <a:latin typeface="Open Sans"/>
                <a:ea typeface="Open Sans"/>
              </a:rPr>
              <a:t>出典：御杖村統計・国勢調査／エネルギーは試算</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9"/>
        </a:solidFill>
      </p:bgPr>
    </p:bg>
    <p:spTree>
      <p:nvGrpSpPr>
        <p:cNvPr id="1" name=""/>
        <p:cNvGrpSpPr/>
        <p:nvPr/>
      </p:nvGrpSpPr>
      <p:grpSpPr>
        <a:xfrm>
          <a:off x="0" y="0"/>
          <a:ext cx="0" cy="0"/>
          <a:chOff x="0" y="0"/>
          <a:chExt cx="0" cy="0"/>
        </a:xfrm>
      </p:grpSpPr>
      <p:sp>
        <p:nvSpPr>
          <p:cNvPr id="80"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81"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82" name="Text 2"/>
          <p:cNvSpPr/>
          <p:nvPr/>
        </p:nvSpPr>
        <p:spPr>
          <a:xfrm>
            <a:off x="1181160" y="800280"/>
            <a:ext cx="42012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THE CIRCULAR MODEL · </a:t>
            </a:r>
            <a:r>
              <a:rPr lang="zh-CN" sz="1300" b="1" u="none" spc="204" strike="noStrike">
                <a:solidFill>
                  <a:srgbClr val="9B9DA0"/>
                </a:solidFill>
                <a:effectLst/>
                <a:uFillTx/>
                <a:latin typeface="Open Sans"/>
                <a:ea typeface="Open Sans"/>
              </a:rPr>
              <a:t>循環モデル </a:t>
            </a:r>
            <a:r>
              <a:rPr lang="en-US" sz="1300" b="1" u="none" spc="204" strike="noStrike">
                <a:solidFill>
                  <a:srgbClr val="9B9DA0"/>
                </a:solidFill>
                <a:effectLst/>
                <a:uFillTx/>
                <a:latin typeface="Open Sans"/>
                <a:ea typeface="Open Sans"/>
              </a:rPr>
              <a:t>· 04</a:t>
            </a:r>
            <a:endParaRPr lang="en-US" sz="1300" b="0" u="none" strike="noStrike">
              <a:solidFill>
                <a:srgbClr val="000000"/>
              </a:solidFill>
              <a:effectLst/>
              <a:uFillTx/>
              <a:latin typeface="Arial"/>
            </a:endParaRPr>
          </a:p>
        </p:txBody>
      </p:sp>
      <p:sp>
        <p:nvSpPr>
          <p:cNvPr id="83" name="Text 3"/>
          <p:cNvSpPr/>
          <p:nvPr/>
        </p:nvSpPr>
        <p:spPr>
          <a:xfrm>
            <a:off x="609480" y="1247760"/>
            <a:ext cx="5616360" cy="659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pPr>
            <a:r>
              <a:rPr lang="en-US" sz="4800" b="1" u="none" spc="-48" strike="noStrike">
                <a:solidFill>
                  <a:srgbClr val="2E2E2E"/>
                </a:solidFill>
                <a:effectLst/>
                <a:uFillTx/>
                <a:latin typeface="Sora"/>
                <a:ea typeface="Sora"/>
              </a:rPr>
              <a:t>A loop, not a line</a:t>
            </a:r>
            <a:endParaRPr lang="en-US" sz="4800" b="0" u="none" strike="noStrike">
              <a:solidFill>
                <a:srgbClr val="000000"/>
              </a:solidFill>
              <a:effectLst/>
              <a:uFillTx/>
              <a:latin typeface="Arial"/>
            </a:endParaRPr>
          </a:p>
        </p:txBody>
      </p:sp>
      <p:sp>
        <p:nvSpPr>
          <p:cNvPr id="84" name="Text 4"/>
          <p:cNvSpPr/>
          <p:nvPr/>
        </p:nvSpPr>
        <p:spPr>
          <a:xfrm>
            <a:off x="609480" y="1964880"/>
            <a:ext cx="5616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0" u="none" strike="noStrike">
                <a:solidFill>
                  <a:srgbClr val="6E7174"/>
                </a:solidFill>
                <a:effectLst/>
                <a:uFillTx/>
                <a:latin typeface="Noto Sans JP"/>
                <a:ea typeface="Noto Sans JP"/>
              </a:rPr>
              <a:t>直線ではなく、循環。各段階が次を支える。</a:t>
            </a:r>
            <a:endParaRPr lang="en-US" sz="1950" b="0" u="none" strike="noStrike">
              <a:solidFill>
                <a:srgbClr val="000000"/>
              </a:solidFill>
              <a:effectLst/>
              <a:uFillTx/>
              <a:latin typeface="Arial"/>
            </a:endParaRPr>
          </a:p>
        </p:txBody>
      </p:sp>
      <p:sp>
        <p:nvSpPr>
          <p:cNvPr id="85" name="Text 5"/>
          <p:cNvSpPr/>
          <p:nvPr/>
        </p:nvSpPr>
        <p:spPr>
          <a:xfrm>
            <a:off x="13912200" y="1369440"/>
            <a:ext cx="3878280" cy="627120"/>
          </a:xfrm>
          <a:prstGeom prst="rect">
            <a:avLst/>
          </a:prstGeom>
          <a:noFill/>
          <a:ln w="0">
            <a:noFill/>
          </a:ln>
        </p:spPr>
        <p:style>
          <a:lnRef idx="0"/>
          <a:fillRef idx="0"/>
          <a:effectRef idx="0"/>
          <a:fontRef idx="minor"/>
        </p:style>
        <p:txBody>
          <a:bodyPr lIns="0" tIns="0" rIns="0" bIns="0" anchor="t">
            <a:normAutofit fontScale="92500" lnSpcReduction="9999"/>
          </a:bodyPr>
          <a:p>
            <a:pPr algn="r" defTabSz="914400">
              <a:lnSpc>
                <a:spcPct val="145000"/>
              </a:lnSpc>
              <a:tabLst>
                <a:tab pos="0" algn="l"/>
              </a:tabLst>
            </a:pPr>
            <a:r>
              <a:rPr lang="en-US" sz="1650" b="0" u="none" strike="noStrike">
                <a:solidFill>
                  <a:srgbClr val="4A4A4A"/>
                </a:solidFill>
                <a:effectLst/>
                <a:uFillTx/>
                <a:latin typeface="Open Sans"/>
                <a:ea typeface="Open Sans"/>
              </a:rPr>
              <a:t>Each output is the next input. Revenue returns to the forest and the village.</a:t>
            </a:r>
            <a:endParaRPr lang="en-US" sz="1650" b="0" u="none" strike="noStrike">
              <a:solidFill>
                <a:srgbClr val="000000"/>
              </a:solidFill>
              <a:effectLst/>
              <a:uFillTx/>
              <a:latin typeface="Arial"/>
            </a:endParaRPr>
          </a:p>
        </p:txBody>
      </p:sp>
      <p:sp>
        <p:nvSpPr>
          <p:cNvPr id="86" name="Text 6"/>
          <p:cNvSpPr/>
          <p:nvPr/>
        </p:nvSpPr>
        <p:spPr>
          <a:xfrm>
            <a:off x="13173120" y="2044440"/>
            <a:ext cx="4504680" cy="272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algn="r" defTabSz="914400">
              <a:lnSpc>
                <a:spcPct val="145000"/>
              </a:lnSpc>
              <a:tabLst>
                <a:tab pos="0" algn="l"/>
              </a:tabLst>
            </a:pPr>
            <a:r>
              <a:rPr lang="zh-CN" sz="1300" b="0" u="none" strike="noStrike">
                <a:solidFill>
                  <a:srgbClr val="9B9DA0"/>
                </a:solidFill>
                <a:effectLst/>
                <a:uFillTx/>
                <a:latin typeface="Noto Sans JP"/>
                <a:ea typeface="Noto Sans JP"/>
              </a:rPr>
              <a:t>収益は森と集落へ還る。</a:t>
            </a:r>
            <a:endParaRPr lang="en-US" sz="1300" b="0" u="none" strike="noStrike">
              <a:solidFill>
                <a:srgbClr val="000000"/>
              </a:solidFill>
              <a:effectLst/>
              <a:uFillTx/>
              <a:latin typeface="Arial"/>
            </a:endParaRPr>
          </a:p>
        </p:txBody>
      </p:sp>
      <p:pic>
        <p:nvPicPr>
          <p:cNvPr id="87" name="Image 0" descr="preencoded.png"/>
          <p:cNvPicPr/>
          <p:nvPr/>
        </p:nvPicPr>
        <p:blipFill>
          <a:blip r:embed="rId1">
            <a:extLst>
              <a:ext uri="{96DAC541-7B7A-43D3-8B79-37D633B846F1}">
                <asvg:svgBlip xmlns:asvg="http://schemas.microsoft.com/office/drawing/2016/SVG/main" r:embed="rId2"/>
              </a:ext>
            </a:extLst>
          </a:blip>
          <a:stretch/>
        </p:blipFill>
        <p:spPr>
          <a:xfrm>
            <a:off x="609480" y="1000440"/>
            <a:ext cx="17067960" cy="75211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8" name=""/>
          <p:cNvPicPr/>
          <p:nvPr/>
        </p:nvPicPr>
        <p:blipFill>
          <a:blip r:embed="rId1"/>
          <a:srcRect l="23550" t="0" r="19768" b="0"/>
          <a:stretch/>
        </p:blipFill>
        <p:spPr>
          <a:xfrm>
            <a:off x="7856280" y="1410480"/>
            <a:ext cx="9586080" cy="8142120"/>
          </a:xfrm>
          <a:prstGeom prst="rect">
            <a:avLst/>
          </a:prstGeom>
          <a:noFill/>
          <a:ln w="0">
            <a:noFill/>
          </a:ln>
        </p:spPr>
      </p:pic>
      <p:sp>
        <p:nvSpPr>
          <p:cNvPr id="89"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90" name="Shape 1"/>
          <p:cNvSpPr/>
          <p:nvPr/>
        </p:nvSpPr>
        <p:spPr>
          <a:xfrm>
            <a:off x="53352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91" name="Text 2"/>
          <p:cNvSpPr/>
          <p:nvPr/>
        </p:nvSpPr>
        <p:spPr>
          <a:xfrm>
            <a:off x="1104840" y="800280"/>
            <a:ext cx="28764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THE ENGINE · </a:t>
            </a:r>
            <a:r>
              <a:rPr lang="zh-CN" sz="1300" b="1" u="none" spc="204" strike="noStrike">
                <a:solidFill>
                  <a:srgbClr val="9B9DA0"/>
                </a:solidFill>
                <a:effectLst/>
                <a:uFillTx/>
                <a:latin typeface="Open Sans"/>
                <a:ea typeface="Open Sans"/>
              </a:rPr>
              <a:t>エンジン </a:t>
            </a:r>
            <a:r>
              <a:rPr lang="en-US" sz="1300" b="1" u="none" spc="204" strike="noStrike">
                <a:solidFill>
                  <a:srgbClr val="9B9DA0"/>
                </a:solidFill>
                <a:effectLst/>
                <a:uFillTx/>
                <a:latin typeface="Open Sans"/>
                <a:ea typeface="Open Sans"/>
              </a:rPr>
              <a:t>· 05</a:t>
            </a:r>
            <a:endParaRPr lang="en-US" sz="1300" b="0" u="none" strike="noStrike">
              <a:solidFill>
                <a:srgbClr val="000000"/>
              </a:solidFill>
              <a:effectLst/>
              <a:uFillTx/>
              <a:latin typeface="Arial"/>
            </a:endParaRPr>
          </a:p>
        </p:txBody>
      </p:sp>
      <p:sp>
        <p:nvSpPr>
          <p:cNvPr id="92" name="Text 3"/>
          <p:cNvSpPr/>
          <p:nvPr/>
        </p:nvSpPr>
        <p:spPr>
          <a:xfrm>
            <a:off x="533520" y="1247760"/>
            <a:ext cx="8318880" cy="1226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4000"/>
              </a:lnSpc>
              <a:tabLst>
                <a:tab pos="0" algn="l"/>
              </a:tabLst>
            </a:pPr>
            <a:r>
              <a:rPr lang="en-US" sz="4500" b="1" u="none" spc="-45" strike="noStrike">
                <a:solidFill>
                  <a:srgbClr val="2E2E2E"/>
                </a:solidFill>
                <a:effectLst/>
                <a:uFillTx/>
                <a:latin typeface="Sora"/>
                <a:ea typeface="Sora"/>
              </a:rPr>
              <a:t>A community-owned data center</a:t>
            </a:r>
            <a:endParaRPr lang="en-US" sz="4500" b="0" u="none" strike="noStrike">
              <a:solidFill>
                <a:srgbClr val="000000"/>
              </a:solidFill>
              <a:effectLst/>
              <a:uFillTx/>
              <a:latin typeface="Arial"/>
            </a:endParaRPr>
          </a:p>
        </p:txBody>
      </p:sp>
      <p:sp>
        <p:nvSpPr>
          <p:cNvPr id="93" name="Text 4"/>
          <p:cNvSpPr/>
          <p:nvPr/>
        </p:nvSpPr>
        <p:spPr>
          <a:xfrm>
            <a:off x="533520" y="2531880"/>
            <a:ext cx="8884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00" b="0" u="none" strike="noStrike">
                <a:solidFill>
                  <a:srgbClr val="6E7174"/>
                </a:solidFill>
                <a:effectLst/>
                <a:uFillTx/>
                <a:latin typeface="Noto Sans JP"/>
                <a:ea typeface="Noto Sans JP"/>
              </a:rPr>
              <a:t>コミュニティ所有の小規模データセンター</a:t>
            </a:r>
            <a:endParaRPr lang="en-US" sz="1900" b="0" u="none" strike="noStrike">
              <a:solidFill>
                <a:srgbClr val="000000"/>
              </a:solidFill>
              <a:effectLst/>
              <a:uFillTx/>
              <a:latin typeface="Arial"/>
            </a:endParaRPr>
          </a:p>
        </p:txBody>
      </p:sp>
      <p:sp>
        <p:nvSpPr>
          <p:cNvPr id="94" name="Text 5"/>
          <p:cNvSpPr/>
          <p:nvPr/>
        </p:nvSpPr>
        <p:spPr>
          <a:xfrm>
            <a:off x="533520" y="3169800"/>
            <a:ext cx="6278040" cy="1409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en-US" sz="1800" b="0" u="none" strike="noStrike">
                <a:solidFill>
                  <a:srgbClr val="3A3A3A"/>
                </a:solidFill>
                <a:effectLst/>
                <a:uFillTx/>
                <a:latin typeface="Open Sans"/>
                <a:ea typeface="Open Sans"/>
              </a:rPr>
              <a:t>The closed Mitsue Elementary School, repurposed as a small, energy-efficient edge &amp; AI compute facility — powered entirely by local renewable energy, owned by the community it serves.</a:t>
            </a:r>
            <a:endParaRPr lang="en-US" sz="1800" b="0" u="none" strike="noStrike">
              <a:solidFill>
                <a:srgbClr val="000000"/>
              </a:solidFill>
              <a:effectLst/>
              <a:uFillTx/>
              <a:latin typeface="Arial"/>
            </a:endParaRPr>
          </a:p>
        </p:txBody>
      </p:sp>
      <p:sp>
        <p:nvSpPr>
          <p:cNvPr id="95" name="Shape 6"/>
          <p:cNvSpPr/>
          <p:nvPr/>
        </p:nvSpPr>
        <p:spPr>
          <a:xfrm>
            <a:off x="533520" y="7934400"/>
            <a:ext cx="807660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6" name="Text 7"/>
          <p:cNvSpPr/>
          <p:nvPr/>
        </p:nvSpPr>
        <p:spPr>
          <a:xfrm>
            <a:off x="533520" y="811548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1" u="none" strike="noStrike">
                <a:solidFill>
                  <a:srgbClr val="E58520"/>
                </a:solidFill>
                <a:effectLst/>
                <a:uFillTx/>
                <a:latin typeface="Sora"/>
                <a:ea typeface="Sora"/>
              </a:rPr>
              <a:t>01</a:t>
            </a:r>
            <a:endParaRPr lang="en-US" sz="1800" b="0" u="none" strike="noStrike">
              <a:solidFill>
                <a:srgbClr val="000000"/>
              </a:solidFill>
              <a:effectLst/>
              <a:uFillTx/>
              <a:latin typeface="Arial"/>
            </a:endParaRPr>
          </a:p>
        </p:txBody>
      </p:sp>
      <p:sp>
        <p:nvSpPr>
          <p:cNvPr id="97" name="Text 8"/>
          <p:cNvSpPr/>
          <p:nvPr/>
        </p:nvSpPr>
        <p:spPr>
          <a:xfrm>
            <a:off x="1162080" y="8118000"/>
            <a:ext cx="679572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pPr>
            <a:r>
              <a:rPr lang="en-US" sz="1600" b="0" u="none" strike="noStrike">
                <a:solidFill>
                  <a:srgbClr val="4A4A4A"/>
                </a:solidFill>
                <a:effectLst/>
                <a:uFillTx/>
                <a:latin typeface="Open Sans"/>
                <a:ea typeface="Open Sans"/>
              </a:rPr>
              <a:t>Sized for </a:t>
            </a:r>
            <a:r>
              <a:rPr lang="en-US" sz="1600" b="1" u="none" strike="noStrike">
                <a:solidFill>
                  <a:srgbClr val="4A4A4A"/>
                </a:solidFill>
                <a:effectLst/>
                <a:uFillTx/>
                <a:latin typeface="Open Sans"/>
                <a:ea typeface="Open Sans"/>
              </a:rPr>
              <a:t>accountability &amp; ownership</a:t>
            </a:r>
            <a:r>
              <a:rPr lang="en-US" sz="1600" b="0" u="none" strike="noStrike">
                <a:solidFill>
                  <a:srgbClr val="4A4A4A"/>
                </a:solidFill>
                <a:effectLst/>
                <a:uFillTx/>
                <a:latin typeface="Open Sans"/>
                <a:ea typeface="Open Sans"/>
              </a:rPr>
              <a:t>, not hyperscale economics.</a:t>
            </a:r>
            <a:endParaRPr lang="en-US" sz="1600" b="0" u="none" strike="noStrike">
              <a:solidFill>
                <a:srgbClr val="000000"/>
              </a:solidFill>
              <a:effectLst/>
              <a:uFillTx/>
              <a:latin typeface="Arial"/>
            </a:endParaRPr>
          </a:p>
        </p:txBody>
      </p:sp>
      <p:sp>
        <p:nvSpPr>
          <p:cNvPr id="98" name="Shape 9"/>
          <p:cNvSpPr/>
          <p:nvPr/>
        </p:nvSpPr>
        <p:spPr>
          <a:xfrm>
            <a:off x="533520" y="8572680"/>
            <a:ext cx="807660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99" name="Text 10"/>
          <p:cNvSpPr/>
          <p:nvPr/>
        </p:nvSpPr>
        <p:spPr>
          <a:xfrm>
            <a:off x="533520" y="875340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1" u="none" strike="noStrike">
                <a:solidFill>
                  <a:srgbClr val="E58520"/>
                </a:solidFill>
                <a:effectLst/>
                <a:uFillTx/>
                <a:latin typeface="Sora"/>
                <a:ea typeface="Sora"/>
              </a:rPr>
              <a:t>02</a:t>
            </a:r>
            <a:endParaRPr lang="en-US" sz="1800" b="0" u="none" strike="noStrike">
              <a:solidFill>
                <a:srgbClr val="000000"/>
              </a:solidFill>
              <a:effectLst/>
              <a:uFillTx/>
              <a:latin typeface="Arial"/>
            </a:endParaRPr>
          </a:p>
        </p:txBody>
      </p:sp>
      <p:sp>
        <p:nvSpPr>
          <p:cNvPr id="100" name="Text 11"/>
          <p:cNvSpPr/>
          <p:nvPr/>
        </p:nvSpPr>
        <p:spPr>
          <a:xfrm>
            <a:off x="1162080" y="8756280"/>
            <a:ext cx="581688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pPr>
            <a:r>
              <a:rPr lang="en-US" sz="1600" b="0" u="none" strike="noStrike">
                <a:solidFill>
                  <a:srgbClr val="4A4A4A"/>
                </a:solidFill>
                <a:effectLst/>
                <a:uFillTx/>
                <a:latin typeface="Open Sans"/>
                <a:ea typeface="Open Sans"/>
              </a:rPr>
              <a:t>Reuses a </a:t>
            </a:r>
            <a:r>
              <a:rPr lang="en-US" sz="1600" b="1" u="none" strike="noStrike">
                <a:solidFill>
                  <a:srgbClr val="4A4A4A"/>
                </a:solidFill>
                <a:effectLst/>
                <a:uFillTx/>
                <a:latin typeface="Open Sans"/>
                <a:ea typeface="Open Sans"/>
              </a:rPr>
              <a:t>stranded public asset </a:t>
            </a:r>
            <a:r>
              <a:rPr lang="en-US" sz="1600" b="0" u="none" strike="noStrike">
                <a:solidFill>
                  <a:srgbClr val="4A4A4A"/>
                </a:solidFill>
                <a:effectLst/>
                <a:uFillTx/>
                <a:latin typeface="Open Sans"/>
                <a:ea typeface="Open Sans"/>
              </a:rPr>
              <a:t>instead of building new.</a:t>
            </a:r>
            <a:endParaRPr lang="en-US" sz="1600" b="0" u="none" strike="noStrike">
              <a:solidFill>
                <a:srgbClr val="000000"/>
              </a:solidFill>
              <a:effectLst/>
              <a:uFillTx/>
              <a:latin typeface="Arial"/>
            </a:endParaRPr>
          </a:p>
        </p:txBody>
      </p:sp>
      <p:sp>
        <p:nvSpPr>
          <p:cNvPr id="101" name="Shape 12"/>
          <p:cNvSpPr/>
          <p:nvPr/>
        </p:nvSpPr>
        <p:spPr>
          <a:xfrm>
            <a:off x="533520" y="9210600"/>
            <a:ext cx="807660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102" name="Text 13"/>
          <p:cNvSpPr/>
          <p:nvPr/>
        </p:nvSpPr>
        <p:spPr>
          <a:xfrm>
            <a:off x="533520" y="939168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800" b="1" u="none" strike="noStrike">
                <a:solidFill>
                  <a:srgbClr val="E58520"/>
                </a:solidFill>
                <a:effectLst/>
                <a:uFillTx/>
                <a:latin typeface="Sora"/>
                <a:ea typeface="Sora"/>
              </a:rPr>
              <a:t>03</a:t>
            </a:r>
            <a:endParaRPr lang="en-US" sz="1800" b="0" u="none" strike="noStrike">
              <a:solidFill>
                <a:srgbClr val="000000"/>
              </a:solidFill>
              <a:effectLst/>
              <a:uFillTx/>
              <a:latin typeface="Arial"/>
            </a:endParaRPr>
          </a:p>
        </p:txBody>
      </p:sp>
      <p:sp>
        <p:nvSpPr>
          <p:cNvPr id="103" name="Text 14"/>
          <p:cNvSpPr/>
          <p:nvPr/>
        </p:nvSpPr>
        <p:spPr>
          <a:xfrm>
            <a:off x="1162080" y="9394560"/>
            <a:ext cx="557208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pPr>
            <a:r>
              <a:rPr lang="en-US" sz="1600" b="0" u="none" strike="noStrike">
                <a:solidFill>
                  <a:srgbClr val="4A4A4A"/>
                </a:solidFill>
                <a:effectLst/>
                <a:uFillTx/>
                <a:latin typeface="Open Sans"/>
                <a:ea typeface="Open Sans"/>
              </a:rPr>
              <a:t>Generates the </a:t>
            </a:r>
            <a:r>
              <a:rPr lang="en-US" sz="1600" b="1" u="none" strike="noStrike">
                <a:solidFill>
                  <a:srgbClr val="4A4A4A"/>
                </a:solidFill>
                <a:effectLst/>
                <a:uFillTx/>
                <a:latin typeface="Open Sans"/>
                <a:ea typeface="Open Sans"/>
              </a:rPr>
              <a:t>recurring revenue </a:t>
            </a:r>
            <a:r>
              <a:rPr lang="en-US" sz="1600" b="0" u="none" strike="noStrike">
                <a:solidFill>
                  <a:srgbClr val="4A4A4A"/>
                </a:solidFill>
                <a:effectLst/>
                <a:uFillTx/>
                <a:latin typeface="Open Sans"/>
                <a:ea typeface="Open Sans"/>
              </a:rPr>
              <a:t>that funds the loop.</a:t>
            </a:r>
            <a:endParaRPr lang="en-US" sz="1600" b="0" u="none" strike="noStrike">
              <a:solidFill>
                <a:srgbClr val="000000"/>
              </a:solidFill>
              <a:effectLst/>
              <a:uFillTx/>
              <a:latin typeface="Arial"/>
            </a:endParaRPr>
          </a:p>
        </p:txBody>
      </p:sp>
      <p:sp>
        <p:nvSpPr>
          <p:cNvPr id="104" name="Shape 15"/>
          <p:cNvSpPr/>
          <p:nvPr/>
        </p:nvSpPr>
        <p:spPr>
          <a:xfrm>
            <a:off x="7856280" y="9124920"/>
            <a:ext cx="3360960" cy="428040"/>
          </a:xfrm>
          <a:prstGeom prst="rect">
            <a:avLst/>
          </a:prstGeom>
          <a:solidFill>
            <a:srgbClr val="2E2E2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5" name="Text 16"/>
          <p:cNvSpPr/>
          <p:nvPr/>
        </p:nvSpPr>
        <p:spPr>
          <a:xfrm>
            <a:off x="8027640" y="9229680"/>
            <a:ext cx="311904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1" u="none" spc="34" strike="noStrike">
                <a:solidFill>
                  <a:srgbClr val="FFFFFF"/>
                </a:solidFill>
                <a:effectLst/>
                <a:uFillTx/>
                <a:latin typeface="Open Sans"/>
                <a:ea typeface="Open Sans"/>
              </a:rPr>
              <a:t>Former Mitsue Elementary · </a:t>
            </a:r>
            <a:r>
              <a:rPr lang="zh-CN" sz="1150" b="1" u="none" spc="34" strike="noStrike">
                <a:solidFill>
                  <a:srgbClr val="FFFFFF"/>
                </a:solidFill>
                <a:effectLst/>
                <a:uFillTx/>
                <a:latin typeface="Open Sans"/>
                <a:ea typeface="Open Sans"/>
              </a:rPr>
              <a:t>旧御杖小学校</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6" name=""/>
          <p:cNvPicPr/>
          <p:nvPr/>
        </p:nvPicPr>
        <p:blipFill>
          <a:blip r:embed="rId1"/>
          <a:stretch/>
        </p:blipFill>
        <p:spPr>
          <a:xfrm>
            <a:off x="7819200" y="1334880"/>
            <a:ext cx="10108440" cy="7191360"/>
          </a:xfrm>
          <a:prstGeom prst="rect">
            <a:avLst/>
          </a:prstGeom>
          <a:noFill/>
          <a:ln w="0">
            <a:noFill/>
          </a:ln>
        </p:spPr>
      </p:pic>
      <p:sp>
        <p:nvSpPr>
          <p:cNvPr id="107"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108"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109" name="Text 2"/>
          <p:cNvSpPr/>
          <p:nvPr/>
        </p:nvSpPr>
        <p:spPr>
          <a:xfrm>
            <a:off x="1181160" y="800280"/>
            <a:ext cx="399564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FOREST RESTORATION · </a:t>
            </a:r>
            <a:r>
              <a:rPr lang="zh-CN" sz="1300" b="1" u="none" spc="204" strike="noStrike">
                <a:solidFill>
                  <a:srgbClr val="9B9DA0"/>
                </a:solidFill>
                <a:effectLst/>
                <a:uFillTx/>
                <a:latin typeface="Open Sans"/>
                <a:ea typeface="Open Sans"/>
              </a:rPr>
              <a:t>森林再生 </a:t>
            </a:r>
            <a:r>
              <a:rPr lang="en-US" sz="1300" b="1" u="none" spc="204" strike="noStrike">
                <a:solidFill>
                  <a:srgbClr val="9B9DA0"/>
                </a:solidFill>
                <a:effectLst/>
                <a:uFillTx/>
                <a:latin typeface="Open Sans"/>
                <a:ea typeface="Open Sans"/>
              </a:rPr>
              <a:t>· 06</a:t>
            </a:r>
            <a:endParaRPr lang="en-US" sz="1300" b="0" u="none" strike="noStrike">
              <a:solidFill>
                <a:srgbClr val="000000"/>
              </a:solidFill>
              <a:effectLst/>
              <a:uFillTx/>
              <a:latin typeface="Arial"/>
            </a:endParaRPr>
          </a:p>
        </p:txBody>
      </p:sp>
      <p:sp>
        <p:nvSpPr>
          <p:cNvPr id="110" name="Text 3"/>
          <p:cNvSpPr/>
          <p:nvPr/>
        </p:nvSpPr>
        <p:spPr>
          <a:xfrm>
            <a:off x="609480" y="1247760"/>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pPr>
            <a:r>
              <a:rPr lang="en-US" sz="4800" b="1" u="none" spc="-48" strike="noStrike">
                <a:solidFill>
                  <a:srgbClr val="2E2E2E"/>
                </a:solidFill>
                <a:effectLst/>
                <a:uFillTx/>
                <a:latin typeface="Sora"/>
                <a:ea typeface="Sora"/>
              </a:rPr>
              <a:t>From liability to asset</a:t>
            </a:r>
            <a:endParaRPr lang="en-US" sz="4800" b="0" u="none" strike="noStrike">
              <a:solidFill>
                <a:srgbClr val="000000"/>
              </a:solidFill>
              <a:effectLst/>
              <a:uFillTx/>
              <a:latin typeface="Arial"/>
            </a:endParaRPr>
          </a:p>
        </p:txBody>
      </p:sp>
      <p:sp>
        <p:nvSpPr>
          <p:cNvPr id="111" name="Text 4"/>
          <p:cNvSpPr/>
          <p:nvPr/>
        </p:nvSpPr>
        <p:spPr>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0" u="none" strike="noStrike">
                <a:solidFill>
                  <a:srgbClr val="6E7174"/>
                </a:solidFill>
                <a:effectLst/>
                <a:uFillTx/>
                <a:latin typeface="Noto Sans JP"/>
                <a:ea typeface="Noto Sans JP"/>
              </a:rPr>
              <a:t>負債から資産へ — </a:t>
            </a:r>
            <a:r>
              <a:rPr lang="en-US" sz="1950" b="0" u="none" strike="noStrike">
                <a:solidFill>
                  <a:srgbClr val="6E7174"/>
                </a:solidFill>
                <a:effectLst/>
                <a:uFillTx/>
                <a:latin typeface="Noto Sans JP"/>
                <a:ea typeface="Noto Sans JP"/>
              </a:rPr>
              <a:t>25</a:t>
            </a:r>
            <a:r>
              <a:rPr lang="zh-CN" sz="1950" b="0" u="none" strike="noStrike">
                <a:solidFill>
                  <a:srgbClr val="6E7174"/>
                </a:solidFill>
                <a:effectLst/>
                <a:uFillTx/>
                <a:latin typeface="Noto Sans JP"/>
                <a:ea typeface="Noto Sans JP"/>
              </a:rPr>
              <a:t>年の生態系再生。</a:t>
            </a:r>
            <a:endParaRPr lang="en-US" sz="1950" b="0" u="none" strike="noStrike">
              <a:solidFill>
                <a:srgbClr val="000000"/>
              </a:solidFill>
              <a:effectLst/>
              <a:uFillTx/>
              <a:latin typeface="Arial"/>
            </a:endParaRPr>
          </a:p>
        </p:txBody>
      </p:sp>
      <p:sp>
        <p:nvSpPr>
          <p:cNvPr id="112" name="Shape 5"/>
          <p:cNvSpPr/>
          <p:nvPr/>
        </p:nvSpPr>
        <p:spPr>
          <a:xfrm>
            <a:off x="630720" y="5568840"/>
            <a:ext cx="6359760" cy="96120"/>
          </a:xfrm>
          <a:prstGeom prst="rect">
            <a:avLst/>
          </a:prstGeom>
          <a:solidFill>
            <a:srgbClr val="E6E6E2"/>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 name="Text 6"/>
          <p:cNvSpPr/>
          <p:nvPr/>
        </p:nvSpPr>
        <p:spPr>
          <a:xfrm>
            <a:off x="609480" y="4905000"/>
            <a:ext cx="157104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9B9DA0"/>
                </a:solidFill>
                <a:effectLst/>
                <a:uFillTx/>
                <a:latin typeface="Open Sans"/>
                <a:ea typeface="Open Sans"/>
              </a:rPr>
              <a:t>Today · </a:t>
            </a:r>
            <a:r>
              <a:rPr lang="zh-CN" sz="1650" b="1" u="none" strike="noStrike">
                <a:solidFill>
                  <a:srgbClr val="9B9DA0"/>
                </a:solidFill>
                <a:effectLst/>
                <a:uFillTx/>
                <a:latin typeface="Open Sans"/>
                <a:ea typeface="Open Sans"/>
              </a:rPr>
              <a:t>現状</a:t>
            </a:r>
            <a:endParaRPr lang="en-US" sz="1650" b="0" u="none" strike="noStrike">
              <a:solidFill>
                <a:srgbClr val="000000"/>
              </a:solidFill>
              <a:effectLst/>
              <a:uFillTx/>
              <a:latin typeface="Arial"/>
            </a:endParaRPr>
          </a:p>
        </p:txBody>
      </p:sp>
      <p:sp>
        <p:nvSpPr>
          <p:cNvPr id="114" name="Text 7"/>
          <p:cNvSpPr/>
          <p:nvPr/>
        </p:nvSpPr>
        <p:spPr>
          <a:xfrm>
            <a:off x="2266920" y="4728600"/>
            <a:ext cx="4908240" cy="704160"/>
          </a:xfrm>
          <a:prstGeom prst="rect">
            <a:avLst/>
          </a:prstGeom>
          <a:noFill/>
          <a:ln w="0">
            <a:noFill/>
          </a:ln>
        </p:spPr>
        <p:style>
          <a:lnRef idx="0"/>
          <a:fillRef idx="0"/>
          <a:effectRef idx="0"/>
          <a:fontRef idx="minor"/>
        </p:style>
        <p:txBody>
          <a:bodyPr numCol="1" spcCol="0" horzOverflow="overflow" lIns="25560" tIns="25560" rIns="25560" bIns="25560" anchor="t">
            <a:normAutofit fontScale="85000" lnSpcReduction="9999"/>
          </a:bodyPr>
          <a:p>
            <a:pPr defTabSz="914400">
              <a:lnSpc>
                <a:spcPct val="140000"/>
              </a:lnSpc>
              <a:tabLst>
                <a:tab pos="0" algn="l"/>
              </a:tabLst>
            </a:pPr>
            <a:r>
              <a:rPr lang="en-US" sz="1900" b="0" u="none" strike="noStrike">
                <a:solidFill>
                  <a:srgbClr val="4A4A4A"/>
                </a:solidFill>
                <a:effectLst/>
                <a:uFillTx/>
                <a:latin typeface="Open Sans"/>
                <a:ea typeface="Open Sans"/>
              </a:rPr>
              <a:t>Aged </a:t>
            </a:r>
            <a:r>
              <a:rPr lang="en-US" sz="1900" b="1" u="none" strike="noStrike">
                <a:solidFill>
                  <a:srgbClr val="4A4A4A"/>
                </a:solidFill>
                <a:effectLst/>
                <a:uFillTx/>
                <a:latin typeface="Open Sans"/>
                <a:ea typeface="Open Sans"/>
              </a:rPr>
              <a:t>sugi cedar </a:t>
            </a:r>
            <a:r>
              <a:rPr lang="en-US" sz="1900" b="0" u="none" strike="noStrike">
                <a:solidFill>
                  <a:srgbClr val="4A4A4A"/>
                </a:solidFill>
                <a:effectLst/>
                <a:uFillTx/>
                <a:latin typeface="Open Sans"/>
                <a:ea typeface="Open Sans"/>
              </a:rPr>
              <a:t>monoculture — pollen, landslide and fire risk, little habitat.</a:t>
            </a:r>
            <a:endParaRPr lang="en-US" sz="1900" b="0" u="none" strike="noStrike">
              <a:solidFill>
                <a:srgbClr val="000000"/>
              </a:solidFill>
              <a:effectLst/>
              <a:uFillTx/>
              <a:latin typeface="Arial"/>
            </a:endParaRPr>
          </a:p>
        </p:txBody>
      </p:sp>
      <p:sp>
        <p:nvSpPr>
          <p:cNvPr id="115" name="Text 8"/>
          <p:cNvSpPr/>
          <p:nvPr/>
        </p:nvSpPr>
        <p:spPr>
          <a:xfrm>
            <a:off x="1822320" y="5765040"/>
            <a:ext cx="480924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2250" b="1" u="none" strike="noStrike">
                <a:solidFill>
                  <a:srgbClr val="E58520"/>
                </a:solidFill>
                <a:effectLst/>
                <a:uFillTx/>
                <a:latin typeface="Sora"/>
                <a:ea typeface="Sora"/>
              </a:rPr>
              <a:t>↓ 25-year phased restoration</a:t>
            </a:r>
            <a:endParaRPr lang="en-US" sz="2250" b="0" u="none" strike="noStrike">
              <a:solidFill>
                <a:srgbClr val="000000"/>
              </a:solidFill>
              <a:effectLst/>
              <a:uFillTx/>
              <a:latin typeface="Arial"/>
            </a:endParaRPr>
          </a:p>
        </p:txBody>
      </p:sp>
      <p:sp>
        <p:nvSpPr>
          <p:cNvPr id="116" name="Shape 9"/>
          <p:cNvSpPr/>
          <p:nvPr/>
        </p:nvSpPr>
        <p:spPr>
          <a:xfrm flipV="1">
            <a:off x="609480" y="6337800"/>
            <a:ext cx="6381000" cy="45000"/>
          </a:xfrm>
          <a:prstGeom prst="rect">
            <a:avLst/>
          </a:prstGeom>
          <a:solidFill>
            <a:srgbClr val="2E2E2E"/>
          </a:solidFill>
          <a:ln w="0">
            <a:noFill/>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
        <p:nvSpPr>
          <p:cNvPr id="117" name="Text 10"/>
          <p:cNvSpPr/>
          <p:nvPr/>
        </p:nvSpPr>
        <p:spPr>
          <a:xfrm>
            <a:off x="609480" y="6724080"/>
            <a:ext cx="157104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2E2E2E"/>
                </a:solidFill>
                <a:effectLst/>
                <a:uFillTx/>
                <a:latin typeface="Open Sans"/>
                <a:ea typeface="Open Sans"/>
              </a:rPr>
              <a:t>2050 · </a:t>
            </a:r>
            <a:r>
              <a:rPr lang="zh-CN" sz="1650" b="1" u="none" strike="noStrike">
                <a:solidFill>
                  <a:srgbClr val="2E2E2E"/>
                </a:solidFill>
                <a:effectLst/>
                <a:uFillTx/>
                <a:latin typeface="Open Sans"/>
                <a:ea typeface="Open Sans"/>
              </a:rPr>
              <a:t>想定</a:t>
            </a:r>
            <a:endParaRPr lang="en-US" sz="1650" b="0" u="none" strike="noStrike">
              <a:solidFill>
                <a:srgbClr val="000000"/>
              </a:solidFill>
              <a:effectLst/>
              <a:uFillTx/>
              <a:latin typeface="Arial"/>
            </a:endParaRPr>
          </a:p>
        </p:txBody>
      </p:sp>
      <p:sp>
        <p:nvSpPr>
          <p:cNvPr id="118" name="Text 11"/>
          <p:cNvSpPr/>
          <p:nvPr/>
        </p:nvSpPr>
        <p:spPr>
          <a:xfrm>
            <a:off x="2266920" y="6548040"/>
            <a:ext cx="4723560" cy="704160"/>
          </a:xfrm>
          <a:prstGeom prst="rect">
            <a:avLst/>
          </a:prstGeom>
          <a:noFill/>
          <a:ln w="0">
            <a:noFill/>
          </a:ln>
        </p:spPr>
        <p:style>
          <a:lnRef idx="0"/>
          <a:fillRef idx="0"/>
          <a:effectRef idx="0"/>
          <a:fontRef idx="minor"/>
        </p:style>
        <p:txBody>
          <a:bodyPr numCol="1" spcCol="0" horzOverflow="overflow" lIns="25560" tIns="25560" rIns="25560" bIns="25560" anchor="t">
            <a:normAutofit fontScale="85000" lnSpcReduction="9999"/>
          </a:bodyPr>
          <a:p>
            <a:pPr defTabSz="914400">
              <a:lnSpc>
                <a:spcPct val="140000"/>
              </a:lnSpc>
              <a:tabLst>
                <a:tab pos="0" algn="l"/>
              </a:tabLst>
            </a:pPr>
            <a:r>
              <a:rPr lang="en-US" sz="1900" b="1" u="none" strike="noStrike">
                <a:solidFill>
                  <a:srgbClr val="2E2E2E"/>
                </a:solidFill>
                <a:effectLst/>
                <a:uFillTx/>
                <a:latin typeface="Open Sans"/>
                <a:ea typeface="Open Sans"/>
              </a:rPr>
              <a:t>Native broadleaf forest </a:t>
            </a:r>
            <a:r>
              <a:rPr lang="en-US" sz="1900" b="0" u="none" strike="noStrike">
                <a:solidFill>
                  <a:srgbClr val="2E2E2E"/>
                </a:solidFill>
                <a:effectLst/>
                <a:uFillTx/>
                <a:latin typeface="Open Sans"/>
                <a:ea typeface="Open Sans"/>
              </a:rPr>
              <a:t>— biodiversity, water retention, timber &amp; biomass.</a:t>
            </a:r>
            <a:endParaRPr lang="en-US" sz="1900" b="0" u="none" strike="noStrike">
              <a:solidFill>
                <a:srgbClr val="000000"/>
              </a:solidFill>
              <a:effectLst/>
              <a:uFillTx/>
              <a:latin typeface="Arial"/>
            </a:endParaRPr>
          </a:p>
        </p:txBody>
      </p:sp>
      <p:sp>
        <p:nvSpPr>
          <p:cNvPr id="119" name="Shape 12"/>
          <p:cNvSpPr/>
          <p:nvPr/>
        </p:nvSpPr>
        <p:spPr>
          <a:xfrm>
            <a:off x="7805520" y="6413400"/>
            <a:ext cx="8818200" cy="2121480"/>
          </a:xfrm>
          <a:prstGeom prst="rect">
            <a:avLst/>
          </a:prstGeom>
          <a:gradFill rotWithShape="0">
            <a:gsLst>
              <a:gs pos="0">
                <a:srgbClr val="0E1A0E">
                  <a:alpha val="92000"/>
                </a:srgbClr>
              </a:gs>
              <a:gs pos="100000">
                <a:srgbClr val="0E1A0E">
                  <a:alpha val="0"/>
                </a:srgbClr>
              </a:gs>
            </a:gsLst>
            <a:lin ang="16200000"/>
          </a:gra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 name="Shape 13"/>
          <p:cNvSpPr/>
          <p:nvPr/>
        </p:nvSpPr>
        <p:spPr>
          <a:xfrm>
            <a:off x="7898760" y="671328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endParaRPr lang="en-US" sz="1800" b="0" u="none" strike="noStrike">
              <a:solidFill>
                <a:srgbClr val="FFFFFF"/>
              </a:solidFill>
              <a:effectLst/>
              <a:uFillTx/>
              <a:latin typeface="Arial"/>
            </a:endParaRPr>
          </a:p>
        </p:txBody>
      </p:sp>
      <p:sp>
        <p:nvSpPr>
          <p:cNvPr id="121" name="Text 14"/>
          <p:cNvSpPr/>
          <p:nvPr/>
        </p:nvSpPr>
        <p:spPr>
          <a:xfrm>
            <a:off x="8200080" y="6622920"/>
            <a:ext cx="444276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1" u="none" strike="noStrike">
                <a:solidFill>
                  <a:srgbClr val="FFFFFF"/>
                </a:solidFill>
                <a:effectLst/>
                <a:uFillTx/>
                <a:latin typeface="Open Sans"/>
                <a:ea typeface="Open Sans"/>
              </a:rPr>
              <a:t>Thinnings → energy feedstock </a:t>
            </a:r>
            <a:r>
              <a:rPr lang="zh-CN" sz="1450" b="0" u="none" strike="noStrike">
                <a:solidFill>
                  <a:srgbClr val="C7C9CB"/>
                </a:solidFill>
                <a:effectLst/>
                <a:uFillTx/>
                <a:latin typeface="Open Sans"/>
                <a:ea typeface="Open Sans"/>
              </a:rPr>
              <a:t>間伐材を燃料に</a:t>
            </a:r>
            <a:endParaRPr lang="en-US" sz="1450" b="0" u="none" strike="noStrike">
              <a:solidFill>
                <a:srgbClr val="000000"/>
              </a:solidFill>
              <a:effectLst/>
              <a:uFillTx/>
              <a:latin typeface="Arial"/>
            </a:endParaRPr>
          </a:p>
        </p:txBody>
      </p:sp>
      <p:sp>
        <p:nvSpPr>
          <p:cNvPr id="122" name="Shape 15"/>
          <p:cNvSpPr/>
          <p:nvPr/>
        </p:nvSpPr>
        <p:spPr>
          <a:xfrm>
            <a:off x="7898760" y="711360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endParaRPr lang="en-US" sz="1800" b="0" u="none" strike="noStrike">
              <a:solidFill>
                <a:srgbClr val="FFFFFF"/>
              </a:solidFill>
              <a:effectLst/>
              <a:uFillTx/>
              <a:latin typeface="Arial"/>
            </a:endParaRPr>
          </a:p>
        </p:txBody>
      </p:sp>
      <p:sp>
        <p:nvSpPr>
          <p:cNvPr id="123" name="Text 16"/>
          <p:cNvSpPr/>
          <p:nvPr/>
        </p:nvSpPr>
        <p:spPr>
          <a:xfrm>
            <a:off x="8194680" y="7022880"/>
            <a:ext cx="418320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1" u="none" strike="noStrike">
                <a:solidFill>
                  <a:srgbClr val="FFFFFF"/>
                </a:solidFill>
                <a:effectLst/>
                <a:uFillTx/>
                <a:latin typeface="Open Sans"/>
                <a:ea typeface="Open Sans"/>
              </a:rPr>
              <a:t>Biodiversity &amp; watershed </a:t>
            </a:r>
            <a:r>
              <a:rPr lang="zh-CN" sz="1450" b="0" u="none" strike="noStrike">
                <a:solidFill>
                  <a:srgbClr val="C7C9CB"/>
                </a:solidFill>
                <a:effectLst/>
                <a:uFillTx/>
                <a:latin typeface="Open Sans"/>
                <a:ea typeface="Open Sans"/>
              </a:rPr>
              <a:t>生物多様性と水源</a:t>
            </a:r>
            <a:endParaRPr lang="en-US" sz="1450" b="0" u="none" strike="noStrike">
              <a:solidFill>
                <a:srgbClr val="000000"/>
              </a:solidFill>
              <a:effectLst/>
              <a:uFillTx/>
              <a:latin typeface="Arial"/>
            </a:endParaRPr>
          </a:p>
        </p:txBody>
      </p:sp>
      <p:sp>
        <p:nvSpPr>
          <p:cNvPr id="124" name="Shape 17"/>
          <p:cNvSpPr/>
          <p:nvPr/>
        </p:nvSpPr>
        <p:spPr>
          <a:xfrm>
            <a:off x="7898760" y="751356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endParaRPr lang="en-US" sz="1800" b="0" u="none" strike="noStrike">
              <a:solidFill>
                <a:srgbClr val="FFFFFF"/>
              </a:solidFill>
              <a:effectLst/>
              <a:uFillTx/>
              <a:latin typeface="Arial"/>
            </a:endParaRPr>
          </a:p>
        </p:txBody>
      </p:sp>
      <p:sp>
        <p:nvSpPr>
          <p:cNvPr id="125" name="Text 18"/>
          <p:cNvSpPr/>
          <p:nvPr/>
        </p:nvSpPr>
        <p:spPr>
          <a:xfrm>
            <a:off x="8186400" y="7423200"/>
            <a:ext cx="379908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1" u="none" strike="noStrike">
                <a:solidFill>
                  <a:srgbClr val="FFFFFF"/>
                </a:solidFill>
                <a:effectLst/>
                <a:uFillTx/>
                <a:latin typeface="Open Sans"/>
                <a:ea typeface="Open Sans"/>
              </a:rPr>
              <a:t>J-Credits revenue layer </a:t>
            </a:r>
            <a:r>
              <a:rPr lang="en-US" sz="1450" b="0" u="none" strike="noStrike">
                <a:solidFill>
                  <a:srgbClr val="C7C9CB"/>
                </a:solidFill>
                <a:effectLst/>
                <a:uFillTx/>
                <a:latin typeface="Open Sans"/>
                <a:ea typeface="Open Sans"/>
              </a:rPr>
              <a:t>J</a:t>
            </a:r>
            <a:r>
              <a:rPr lang="zh-CN" sz="1450" b="0" u="none" strike="noStrike">
                <a:solidFill>
                  <a:srgbClr val="C7C9CB"/>
                </a:solidFill>
                <a:effectLst/>
                <a:uFillTx/>
                <a:latin typeface="Open Sans"/>
                <a:ea typeface="Open Sans"/>
              </a:rPr>
              <a:t>クレジット収益</a:t>
            </a:r>
            <a:endParaRPr lang="en-US" sz="1450" b="0" u="none" strike="noStrike">
              <a:solidFill>
                <a:srgbClr val="000000"/>
              </a:solidFill>
              <a:effectLst/>
              <a:uFillTx/>
              <a:latin typeface="Arial"/>
            </a:endParaRPr>
          </a:p>
        </p:txBody>
      </p:sp>
      <p:sp>
        <p:nvSpPr>
          <p:cNvPr id="126" name="Text 19"/>
          <p:cNvSpPr/>
          <p:nvPr/>
        </p:nvSpPr>
        <p:spPr>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20" strike="noStrike">
                <a:solidFill>
                  <a:srgbClr val="A9ABAE"/>
                </a:solidFill>
                <a:effectLst/>
                <a:uFillTx/>
                <a:latin typeface="Open Sans"/>
                <a:ea typeface="Open Sans"/>
              </a:rPr>
              <a:t>In cooperation with private landowners, the Mitsue Forestry Cooperative, and the Forestry Agency (</a:t>
            </a:r>
            <a:r>
              <a:rPr lang="zh-CN" sz="1000" b="1" u="none" spc="20" strike="noStrike">
                <a:solidFill>
                  <a:srgbClr val="A9ABAE"/>
                </a:solidFill>
                <a:effectLst/>
                <a:uFillTx/>
                <a:latin typeface="Open Sans"/>
                <a:ea typeface="Open Sans"/>
              </a:rPr>
              <a:t>林野庁</a:t>
            </a:r>
            <a:r>
              <a:rPr lang="en-US" sz="1000" b="1" u="none" spc="20" strike="noStrike">
                <a:solidFill>
                  <a:srgbClr val="A9ABAE"/>
                </a:solidFill>
                <a:effectLst/>
                <a:uFillTx/>
                <a:latin typeface="Open Sans"/>
                <a:ea typeface="Open Sans"/>
              </a:rPr>
              <a:t>).</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128"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129" name="Text 2"/>
          <p:cNvSpPr/>
          <p:nvPr/>
        </p:nvSpPr>
        <p:spPr>
          <a:xfrm>
            <a:off x="1181160" y="800280"/>
            <a:ext cx="39459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ENERGY SYSTEM · </a:t>
            </a:r>
            <a:r>
              <a:rPr lang="zh-CN" sz="1300" b="1" u="none" spc="204" strike="noStrike">
                <a:solidFill>
                  <a:srgbClr val="9B9DA0"/>
                </a:solidFill>
                <a:effectLst/>
                <a:uFillTx/>
                <a:latin typeface="Open Sans"/>
                <a:ea typeface="Open Sans"/>
              </a:rPr>
              <a:t>エネルギー設計 </a:t>
            </a:r>
            <a:r>
              <a:rPr lang="en-US" sz="1300" b="1" u="none" spc="204" strike="noStrike">
                <a:solidFill>
                  <a:srgbClr val="9B9DA0"/>
                </a:solidFill>
                <a:effectLst/>
                <a:uFillTx/>
                <a:latin typeface="Open Sans"/>
                <a:ea typeface="Open Sans"/>
              </a:rPr>
              <a:t>· 07</a:t>
            </a:r>
            <a:endParaRPr lang="en-US" sz="1300" b="0" u="none" strike="noStrike">
              <a:solidFill>
                <a:srgbClr val="000000"/>
              </a:solidFill>
              <a:effectLst/>
              <a:uFillTx/>
              <a:latin typeface="Arial"/>
            </a:endParaRPr>
          </a:p>
        </p:txBody>
      </p:sp>
      <p:sp>
        <p:nvSpPr>
          <p:cNvPr id="130" name="Text 3"/>
          <p:cNvSpPr/>
          <p:nvPr/>
        </p:nvSpPr>
        <p:spPr>
          <a:xfrm>
            <a:off x="609480" y="1247760"/>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pPr>
            <a:r>
              <a:rPr lang="en-US" sz="4800" b="1" u="none" spc="-48" strike="noStrike">
                <a:solidFill>
                  <a:srgbClr val="2E2E2E"/>
                </a:solidFill>
                <a:effectLst/>
                <a:uFillTx/>
                <a:latin typeface="Sora"/>
                <a:ea typeface="Sora"/>
              </a:rPr>
              <a:t>Power first — for compute &amp; charging</a:t>
            </a:r>
            <a:endParaRPr lang="en-US" sz="4800" b="0" u="none" strike="noStrike">
              <a:solidFill>
                <a:srgbClr val="000000"/>
              </a:solidFill>
              <a:effectLst/>
              <a:uFillTx/>
              <a:latin typeface="Arial"/>
            </a:endParaRPr>
          </a:p>
        </p:txBody>
      </p:sp>
      <p:sp>
        <p:nvSpPr>
          <p:cNvPr id="131" name="Text 4"/>
          <p:cNvSpPr/>
          <p:nvPr/>
        </p:nvSpPr>
        <p:spPr>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0" u="none" strike="noStrike">
                <a:solidFill>
                  <a:srgbClr val="6E7174"/>
                </a:solidFill>
                <a:effectLst/>
                <a:uFillTx/>
                <a:latin typeface="Noto Sans JP"/>
                <a:ea typeface="Noto Sans JP"/>
              </a:rPr>
              <a:t>電力優先 — データセンターと</a:t>
            </a:r>
            <a:r>
              <a:rPr lang="en-US" sz="1950" b="0" u="none" strike="noStrike">
                <a:solidFill>
                  <a:srgbClr val="6E7174"/>
                </a:solidFill>
                <a:effectLst/>
                <a:uFillTx/>
                <a:latin typeface="Noto Sans JP"/>
                <a:ea typeface="Noto Sans JP"/>
              </a:rPr>
              <a:t>EV</a:t>
            </a:r>
            <a:r>
              <a:rPr lang="zh-CN" sz="1950" b="0" u="none" strike="noStrike">
                <a:solidFill>
                  <a:srgbClr val="6E7174"/>
                </a:solidFill>
                <a:effectLst/>
                <a:uFillTx/>
                <a:latin typeface="Noto Sans JP"/>
                <a:ea typeface="Noto Sans JP"/>
              </a:rPr>
              <a:t>充電へ。</a:t>
            </a:r>
            <a:endParaRPr lang="en-US" sz="1950" b="0" u="none" strike="noStrike">
              <a:solidFill>
                <a:srgbClr val="000000"/>
              </a:solidFill>
              <a:effectLst/>
              <a:uFillTx/>
              <a:latin typeface="Arial"/>
            </a:endParaRPr>
          </a:p>
        </p:txBody>
      </p:sp>
      <p:sp>
        <p:nvSpPr>
          <p:cNvPr id="132" name="Shape 5"/>
          <p:cNvSpPr/>
          <p:nvPr/>
        </p:nvSpPr>
        <p:spPr>
          <a:xfrm>
            <a:off x="609480" y="2704320"/>
            <a:ext cx="8009640" cy="3333240"/>
          </a:xfrm>
          <a:prstGeom prst="rect">
            <a:avLst/>
          </a:prstGeom>
          <a:solidFill>
            <a:srgbClr val="FBEF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3" name="Shape 6"/>
          <p:cNvSpPr/>
          <p:nvPr/>
        </p:nvSpPr>
        <p:spPr>
          <a:xfrm>
            <a:off x="609480" y="2704320"/>
            <a:ext cx="800964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134" name="Text 7"/>
          <p:cNvSpPr/>
          <p:nvPr/>
        </p:nvSpPr>
        <p:spPr>
          <a:xfrm>
            <a:off x="914400" y="3895560"/>
            <a:ext cx="8140320" cy="361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2050" b="1" u="none" strike="noStrike">
                <a:solidFill>
                  <a:srgbClr val="C26A12"/>
                </a:solidFill>
                <a:effectLst/>
                <a:uFillTx/>
                <a:latin typeface="Sora"/>
                <a:ea typeface="Sora"/>
              </a:rPr>
              <a:t>1 · Power first</a:t>
            </a:r>
            <a:endParaRPr lang="en-US" sz="2050" b="0" u="none" strike="noStrike">
              <a:solidFill>
                <a:srgbClr val="000000"/>
              </a:solidFill>
              <a:effectLst/>
              <a:uFillTx/>
              <a:latin typeface="Arial"/>
            </a:endParaRPr>
          </a:p>
        </p:txBody>
      </p:sp>
      <p:sp>
        <p:nvSpPr>
          <p:cNvPr id="135" name="Text 8"/>
          <p:cNvSpPr/>
          <p:nvPr/>
        </p:nvSpPr>
        <p:spPr>
          <a:xfrm>
            <a:off x="914400" y="4314600"/>
            <a:ext cx="7622280" cy="61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600" b="0" u="none" strike="noStrike">
                <a:solidFill>
                  <a:srgbClr val="4A4A4A"/>
                </a:solidFill>
                <a:effectLst/>
                <a:uFillTx/>
                <a:latin typeface="Open Sans"/>
                <a:ea typeface="Open Sans"/>
              </a:rPr>
              <a:t>Electricity runs the AI data center and the EV charging network — the demand we are building for. </a:t>
            </a:r>
            <a:r>
              <a:rPr lang="zh-CN" sz="1600" b="0" u="none" strike="noStrike">
                <a:solidFill>
                  <a:srgbClr val="4A4A4A"/>
                </a:solidFill>
                <a:effectLst/>
                <a:uFillTx/>
                <a:latin typeface="Open Sans"/>
                <a:ea typeface="Open Sans"/>
              </a:rPr>
              <a:t>電力をデータセンターと</a:t>
            </a:r>
            <a:r>
              <a:rPr lang="en-US" sz="1600" b="0" u="none" strike="noStrike">
                <a:solidFill>
                  <a:srgbClr val="4A4A4A"/>
                </a:solidFill>
                <a:effectLst/>
                <a:uFillTx/>
                <a:latin typeface="Open Sans"/>
                <a:ea typeface="Open Sans"/>
              </a:rPr>
              <a:t>EV</a:t>
            </a:r>
            <a:r>
              <a:rPr lang="zh-CN" sz="1600" b="0" u="none" strike="noStrike">
                <a:solidFill>
                  <a:srgbClr val="4A4A4A"/>
                </a:solidFill>
                <a:effectLst/>
                <a:uFillTx/>
                <a:latin typeface="Open Sans"/>
                <a:ea typeface="Open Sans"/>
              </a:rPr>
              <a:t>充電へ。</a:t>
            </a:r>
            <a:endParaRPr lang="en-US" sz="1600" b="0" u="none" strike="noStrike">
              <a:solidFill>
                <a:srgbClr val="000000"/>
              </a:solidFill>
              <a:effectLst/>
              <a:uFillTx/>
              <a:latin typeface="Arial"/>
            </a:endParaRPr>
          </a:p>
        </p:txBody>
      </p:sp>
      <p:sp>
        <p:nvSpPr>
          <p:cNvPr id="136" name="Shape 9"/>
          <p:cNvSpPr/>
          <p:nvPr/>
        </p:nvSpPr>
        <p:spPr>
          <a:xfrm>
            <a:off x="609480" y="6266880"/>
            <a:ext cx="8009640" cy="333360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Shape 10"/>
          <p:cNvSpPr/>
          <p:nvPr/>
        </p:nvSpPr>
        <p:spPr>
          <a:xfrm>
            <a:off x="609480" y="6266880"/>
            <a:ext cx="8009640" cy="46800"/>
          </a:xfrm>
          <a:prstGeom prst="rect">
            <a:avLst/>
          </a:prstGeom>
          <a:solidFill>
            <a:srgbClr val="6E7174"/>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138" name="Text 11"/>
          <p:cNvSpPr/>
          <p:nvPr/>
        </p:nvSpPr>
        <p:spPr>
          <a:xfrm>
            <a:off x="914400" y="7458120"/>
            <a:ext cx="8140320" cy="361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2050" b="1" u="none" strike="noStrike">
                <a:solidFill>
                  <a:srgbClr val="2E2E2E"/>
                </a:solidFill>
                <a:effectLst/>
                <a:uFillTx/>
                <a:latin typeface="Sora"/>
                <a:ea typeface="Sora"/>
              </a:rPr>
              <a:t>2 · Heat, captured second</a:t>
            </a:r>
            <a:endParaRPr lang="en-US" sz="2050" b="0" u="none" strike="noStrike">
              <a:solidFill>
                <a:srgbClr val="000000"/>
              </a:solidFill>
              <a:effectLst/>
              <a:uFillTx/>
              <a:latin typeface="Arial"/>
            </a:endParaRPr>
          </a:p>
        </p:txBody>
      </p:sp>
      <p:sp>
        <p:nvSpPr>
          <p:cNvPr id="139" name="Text 12"/>
          <p:cNvSpPr/>
          <p:nvPr/>
        </p:nvSpPr>
        <p:spPr>
          <a:xfrm>
            <a:off x="914400" y="7877160"/>
            <a:ext cx="7622280" cy="61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600" b="0" u="none" strike="noStrike">
                <a:solidFill>
                  <a:srgbClr val="4A4A4A"/>
                </a:solidFill>
                <a:effectLst/>
                <a:uFillTx/>
                <a:latin typeface="Open Sans"/>
                <a:ea typeface="Open Sans"/>
              </a:rPr>
              <a:t>Recovered heat is a by-product we will use as demand emerges — no committed off-taker yet. </a:t>
            </a:r>
            <a:r>
              <a:rPr lang="zh-CN" sz="1600" b="0" u="none" strike="noStrike">
                <a:solidFill>
                  <a:srgbClr val="4A4A4A"/>
                </a:solidFill>
                <a:effectLst/>
                <a:uFillTx/>
                <a:latin typeface="Open Sans"/>
                <a:ea typeface="Open Sans"/>
              </a:rPr>
              <a:t>排熱は需要が定まり次第活用。</a:t>
            </a:r>
            <a:endParaRPr lang="en-US" sz="1600" b="0" u="none" strike="noStrike">
              <a:solidFill>
                <a:srgbClr val="000000"/>
              </a:solidFill>
              <a:effectLst/>
              <a:uFillTx/>
              <a:latin typeface="Arial"/>
            </a:endParaRPr>
          </a:p>
        </p:txBody>
      </p:sp>
      <p:sp>
        <p:nvSpPr>
          <p:cNvPr id="140" name="Shape 13"/>
          <p:cNvSpPr/>
          <p:nvPr/>
        </p:nvSpPr>
        <p:spPr>
          <a:xfrm>
            <a:off x="8906040" y="2704320"/>
            <a:ext cx="8771760" cy="6896160"/>
          </a:xfrm>
          <a:prstGeom prst="rect">
            <a:avLst/>
          </a:prstGeom>
          <a:solidFill>
            <a:srgbClr val="2E2E2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1" name="Text 14"/>
          <p:cNvSpPr/>
          <p:nvPr/>
        </p:nvSpPr>
        <p:spPr>
          <a:xfrm>
            <a:off x="9286920" y="4523760"/>
            <a:ext cx="881100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1" u="none" spc="210" strike="noStrike">
                <a:solidFill>
                  <a:srgbClr val="9B9DA0"/>
                </a:solidFill>
                <a:effectLst/>
                <a:uFillTx/>
                <a:latin typeface="Open Sans"/>
                <a:ea typeface="Open Sans"/>
              </a:rPr>
              <a:t>THE REALISTIC MIX · </a:t>
            </a:r>
            <a:r>
              <a:rPr lang="zh-CN" sz="1500" b="1" u="none" spc="210" strike="noStrike">
                <a:solidFill>
                  <a:srgbClr val="9B9DA0"/>
                </a:solidFill>
                <a:effectLst/>
                <a:uFillTx/>
                <a:latin typeface="Open Sans"/>
                <a:ea typeface="Open Sans"/>
              </a:rPr>
              <a:t>現実的な電源構成</a:t>
            </a:r>
            <a:endParaRPr lang="en-US" sz="1500" b="0" u="none" strike="noStrike">
              <a:solidFill>
                <a:srgbClr val="000000"/>
              </a:solidFill>
              <a:effectLst/>
              <a:uFillTx/>
              <a:latin typeface="Arial"/>
            </a:endParaRPr>
          </a:p>
        </p:txBody>
      </p:sp>
      <p:sp>
        <p:nvSpPr>
          <p:cNvPr id="142" name="Shape 15"/>
          <p:cNvSpPr/>
          <p:nvPr/>
        </p:nvSpPr>
        <p:spPr>
          <a:xfrm>
            <a:off x="9286920" y="5166720"/>
            <a:ext cx="132480" cy="399240"/>
          </a:xfrm>
          <a:prstGeom prst="rect">
            <a:avLst/>
          </a:prstGeom>
          <a:solidFill>
            <a:srgbClr val="E58520"/>
          </a:solidFill>
          <a:ln w="0">
            <a:noFill/>
          </a:ln>
        </p:spPr>
        <p:style>
          <a:lnRef idx="0"/>
          <a:fillRef idx="0"/>
          <a:effectRef idx="0"/>
          <a:fontRef idx="minor"/>
        </p:style>
        <p:txBody>
          <a:bodyPr lIns="66240" tIns="45000" rIns="66240" bIns="45000" anchor="t">
            <a:noAutofit/>
          </a:bodyPr>
          <a:p>
            <a:endParaRPr lang="en-US" sz="1800" b="0" u="none" strike="noStrike">
              <a:solidFill>
                <a:srgbClr val="FFFFFF"/>
              </a:solidFill>
              <a:effectLst/>
              <a:uFillTx/>
              <a:latin typeface="Arial"/>
            </a:endParaRPr>
          </a:p>
        </p:txBody>
      </p:sp>
      <p:sp>
        <p:nvSpPr>
          <p:cNvPr id="143" name="Text 16"/>
          <p:cNvSpPr/>
          <p:nvPr/>
        </p:nvSpPr>
        <p:spPr>
          <a:xfrm>
            <a:off x="9591840" y="5076360"/>
            <a:ext cx="30664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FFFFFF"/>
                </a:solidFill>
                <a:effectLst/>
                <a:uFillTx/>
                <a:latin typeface="Open Sans"/>
                <a:ea typeface="Open Sans"/>
              </a:rPr>
              <a:t>Biomass</a:t>
            </a:r>
            <a:endParaRPr lang="en-US" sz="1900" b="0" u="none" strike="noStrike">
              <a:solidFill>
                <a:srgbClr val="000000"/>
              </a:solidFill>
              <a:effectLst/>
              <a:uFillTx/>
              <a:latin typeface="Arial"/>
            </a:endParaRPr>
          </a:p>
        </p:txBody>
      </p:sp>
      <p:sp>
        <p:nvSpPr>
          <p:cNvPr id="144" name="Text 17"/>
          <p:cNvSpPr/>
          <p:nvPr/>
        </p:nvSpPr>
        <p:spPr>
          <a:xfrm>
            <a:off x="9591840" y="5400360"/>
            <a:ext cx="306648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0" u="none" strike="noStrike">
                <a:solidFill>
                  <a:srgbClr val="C7C9CB"/>
                </a:solidFill>
                <a:effectLst/>
                <a:uFillTx/>
                <a:latin typeface="Open Sans"/>
                <a:ea typeface="Open Sans"/>
              </a:rPr>
              <a:t>Baseload power · </a:t>
            </a:r>
            <a:r>
              <a:rPr lang="zh-CN" sz="1350" b="0" u="none" strike="noStrike">
                <a:solidFill>
                  <a:srgbClr val="C7C9CB"/>
                </a:solidFill>
                <a:effectLst/>
                <a:uFillTx/>
                <a:latin typeface="Open Sans"/>
                <a:ea typeface="Open Sans"/>
              </a:rPr>
              <a:t>ベースロード電源</a:t>
            </a:r>
            <a:endParaRPr lang="en-US" sz="1350" b="0" u="none" strike="noStrike">
              <a:solidFill>
                <a:srgbClr val="000000"/>
              </a:solidFill>
              <a:effectLst/>
              <a:uFillTx/>
              <a:latin typeface="Arial"/>
            </a:endParaRPr>
          </a:p>
        </p:txBody>
      </p:sp>
      <p:sp>
        <p:nvSpPr>
          <p:cNvPr id="145" name="Shape 18"/>
          <p:cNvSpPr/>
          <p:nvPr/>
        </p:nvSpPr>
        <p:spPr>
          <a:xfrm>
            <a:off x="9286920" y="5957280"/>
            <a:ext cx="132480" cy="399240"/>
          </a:xfrm>
          <a:prstGeom prst="rect">
            <a:avLst/>
          </a:prstGeom>
          <a:solidFill>
            <a:srgbClr val="F4B872"/>
          </a:solidFill>
          <a:ln w="0">
            <a:noFill/>
          </a:ln>
        </p:spPr>
        <p:style>
          <a:lnRef idx="0"/>
          <a:fillRef idx="0"/>
          <a:effectRef idx="0"/>
          <a:fontRef idx="minor"/>
        </p:style>
        <p:txBody>
          <a:bodyPr lIns="66240" tIns="45000" rIns="66240" bIns="45000" anchor="t">
            <a:noAutofit/>
          </a:bodyPr>
          <a:p>
            <a:endParaRPr lang="en-US" sz="1800" b="0" u="none" strike="noStrike">
              <a:solidFill>
                <a:srgbClr val="000000"/>
              </a:solidFill>
              <a:effectLst/>
              <a:uFillTx/>
              <a:latin typeface="Arial"/>
            </a:endParaRPr>
          </a:p>
        </p:txBody>
      </p:sp>
      <p:sp>
        <p:nvSpPr>
          <p:cNvPr id="146" name="Text 19"/>
          <p:cNvSpPr/>
          <p:nvPr/>
        </p:nvSpPr>
        <p:spPr>
          <a:xfrm>
            <a:off x="9591840" y="5866920"/>
            <a:ext cx="30146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FFFFFF"/>
                </a:solidFill>
                <a:effectLst/>
                <a:uFillTx/>
                <a:latin typeface="Open Sans"/>
                <a:ea typeface="Open Sans"/>
              </a:rPr>
              <a:t>Existing solar</a:t>
            </a:r>
            <a:endParaRPr lang="en-US" sz="1900" b="0" u="none" strike="noStrike">
              <a:solidFill>
                <a:srgbClr val="000000"/>
              </a:solidFill>
              <a:effectLst/>
              <a:uFillTx/>
              <a:latin typeface="Arial"/>
            </a:endParaRPr>
          </a:p>
        </p:txBody>
      </p:sp>
      <p:sp>
        <p:nvSpPr>
          <p:cNvPr id="147" name="Text 20"/>
          <p:cNvSpPr/>
          <p:nvPr/>
        </p:nvSpPr>
        <p:spPr>
          <a:xfrm>
            <a:off x="9591840" y="6190920"/>
            <a:ext cx="301464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0" u="none" strike="noStrike">
                <a:solidFill>
                  <a:srgbClr val="C7C9CB"/>
                </a:solidFill>
                <a:effectLst/>
                <a:uFillTx/>
                <a:latin typeface="Open Sans"/>
                <a:ea typeface="Open Sans"/>
              </a:rPr>
              <a:t>Daytime generation · </a:t>
            </a:r>
            <a:r>
              <a:rPr lang="zh-CN" sz="1350" b="0" u="none" strike="noStrike">
                <a:solidFill>
                  <a:srgbClr val="C7C9CB"/>
                </a:solidFill>
                <a:effectLst/>
                <a:uFillTx/>
                <a:latin typeface="Open Sans"/>
                <a:ea typeface="Open Sans"/>
              </a:rPr>
              <a:t>日中の太陽光</a:t>
            </a:r>
            <a:endParaRPr lang="en-US" sz="1350" b="0" u="none" strike="noStrike">
              <a:solidFill>
                <a:srgbClr val="000000"/>
              </a:solidFill>
              <a:effectLst/>
              <a:uFillTx/>
              <a:latin typeface="Arial"/>
            </a:endParaRPr>
          </a:p>
        </p:txBody>
      </p:sp>
      <p:sp>
        <p:nvSpPr>
          <p:cNvPr id="148" name="Shape 21"/>
          <p:cNvSpPr/>
          <p:nvPr/>
        </p:nvSpPr>
        <p:spPr>
          <a:xfrm>
            <a:off x="9286920" y="6747840"/>
            <a:ext cx="132480" cy="399240"/>
          </a:xfrm>
          <a:prstGeom prst="rect">
            <a:avLst/>
          </a:prstGeom>
          <a:solidFill>
            <a:srgbClr val="6E7174"/>
          </a:solidFill>
          <a:ln w="0">
            <a:noFill/>
          </a:ln>
        </p:spPr>
        <p:style>
          <a:lnRef idx="0"/>
          <a:fillRef idx="0"/>
          <a:effectRef idx="0"/>
          <a:fontRef idx="minor"/>
        </p:style>
        <p:txBody>
          <a:bodyPr lIns="66240" tIns="45000" rIns="66240" bIns="45000" anchor="t">
            <a:noAutofit/>
          </a:bodyPr>
          <a:p>
            <a:endParaRPr lang="en-US" sz="1800" b="0" u="none" strike="noStrike">
              <a:solidFill>
                <a:srgbClr val="FFFFFF"/>
              </a:solidFill>
              <a:effectLst/>
              <a:uFillTx/>
              <a:latin typeface="Arial"/>
            </a:endParaRPr>
          </a:p>
        </p:txBody>
      </p:sp>
      <p:sp>
        <p:nvSpPr>
          <p:cNvPr id="149" name="Text 22"/>
          <p:cNvSpPr/>
          <p:nvPr/>
        </p:nvSpPr>
        <p:spPr>
          <a:xfrm>
            <a:off x="9591840" y="6657480"/>
            <a:ext cx="34304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FFFFFF"/>
                </a:solidFill>
                <a:effectLst/>
                <a:uFillTx/>
                <a:latin typeface="Open Sans"/>
                <a:ea typeface="Open Sans"/>
              </a:rPr>
              <a:t>Grid</a:t>
            </a:r>
            <a:endParaRPr lang="en-US" sz="1900" b="0" u="none" strike="noStrike">
              <a:solidFill>
                <a:srgbClr val="000000"/>
              </a:solidFill>
              <a:effectLst/>
              <a:uFillTx/>
              <a:latin typeface="Arial"/>
            </a:endParaRPr>
          </a:p>
        </p:txBody>
      </p:sp>
      <p:sp>
        <p:nvSpPr>
          <p:cNvPr id="150" name="Text 23"/>
          <p:cNvSpPr/>
          <p:nvPr/>
        </p:nvSpPr>
        <p:spPr>
          <a:xfrm>
            <a:off x="9591840" y="6981480"/>
            <a:ext cx="343044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0" u="none" strike="noStrike">
                <a:solidFill>
                  <a:srgbClr val="C7C9CB"/>
                </a:solidFill>
                <a:effectLst/>
                <a:uFillTx/>
                <a:latin typeface="Open Sans"/>
                <a:ea typeface="Open Sans"/>
              </a:rPr>
              <a:t>Backup &amp; peaks · </a:t>
            </a:r>
            <a:r>
              <a:rPr lang="zh-CN" sz="1350" b="0" u="none" strike="noStrike">
                <a:solidFill>
                  <a:srgbClr val="C7C9CB"/>
                </a:solidFill>
                <a:effectLst/>
                <a:uFillTx/>
                <a:latin typeface="Open Sans"/>
                <a:ea typeface="Open Sans"/>
              </a:rPr>
              <a:t>系統（バックアップ）</a:t>
            </a:r>
            <a:endParaRPr lang="en-US" sz="1350" b="0" u="none" strike="noStrike">
              <a:solidFill>
                <a:srgbClr val="000000"/>
              </a:solidFill>
              <a:effectLst/>
              <a:uFillTx/>
              <a:latin typeface="Arial"/>
            </a:endParaRPr>
          </a:p>
        </p:txBody>
      </p:sp>
      <p:sp>
        <p:nvSpPr>
          <p:cNvPr id="151" name="Text 24"/>
          <p:cNvSpPr/>
          <p:nvPr/>
        </p:nvSpPr>
        <p:spPr>
          <a:xfrm>
            <a:off x="9286920" y="7524360"/>
            <a:ext cx="881100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en-US" sz="1350" b="0" u="none" strike="noStrike">
                <a:solidFill>
                  <a:srgbClr val="9B9DA0"/>
                </a:solidFill>
                <a:effectLst/>
                <a:uFillTx/>
                <a:latin typeface="Open Sans"/>
                <a:ea typeface="Open Sans"/>
              </a:rPr>
              <a:t>Not biomass alone, and not a replacement for the village's solar — a resilient blend.</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Rectangle 1"/>
          <p:cNvSpPr/>
          <p:nvPr/>
        </p:nvSpPr>
        <p:spPr>
          <a:xfrm>
            <a:off x="0" y="0"/>
            <a:ext cx="18287280" cy="75240"/>
          </a:xfrm>
          <a:prstGeom prst="rect">
            <a:avLst/>
          </a:prstGeom>
          <a:solidFill>
            <a:srgbClr val="9B9DA0"/>
          </a:solidFill>
          <a:ln>
            <a:noFill/>
          </a:ln>
        </p:spPr>
        <p:style>
          <a:lnRef idx="1">
            <a:schemeClr val="accent1"/>
          </a:lnRef>
          <a:fillRef idx="3">
            <a:schemeClr val="accent1"/>
          </a:fillRef>
          <a:effectRef idx="2">
            <a:schemeClr val="accent1"/>
          </a:effectRef>
          <a:fontRef idx="minor"/>
        </p:style>
        <p:txBody>
          <a:bodyPr lIns="90000" tIns="30960" rIns="90000" bIns="30960" anchor="ctr">
            <a:noAutofit/>
          </a:bodyPr>
          <a:p>
            <a:endParaRPr lang="en-US" sz="1800" b="0" u="none" strike="noStrike">
              <a:solidFill>
                <a:schemeClr val="lt1"/>
              </a:solidFill>
              <a:effectLst/>
              <a:uFillTx/>
              <a:latin typeface="Calibri"/>
            </a:endParaRPr>
          </a:p>
        </p:txBody>
      </p:sp>
      <p:sp>
        <p:nvSpPr>
          <p:cNvPr id="153" name="Rectangle 2"/>
          <p:cNvSpPr/>
          <p:nvPr/>
        </p:nvSpPr>
        <p:spPr>
          <a:xfrm>
            <a:off x="612720" y="896040"/>
            <a:ext cx="438120" cy="46800"/>
          </a:xfrm>
          <a:prstGeom prst="rect">
            <a:avLst/>
          </a:prstGeom>
          <a:solidFill>
            <a:srgbClr val="E58520"/>
          </a:solidFill>
          <a:ln>
            <a:noFill/>
          </a:ln>
        </p:spPr>
        <p:style>
          <a:lnRef idx="1">
            <a:schemeClr val="accent1"/>
          </a:lnRef>
          <a:fillRef idx="3">
            <a:schemeClr val="accent1"/>
          </a:fillRef>
          <a:effectRef idx="2">
            <a:schemeClr val="accent1"/>
          </a:effectRef>
          <a:fontRef idx="minor"/>
        </p:style>
        <p:txBody>
          <a:bodyPr lIns="90000" tIns="2520" rIns="90000" bIns="2520" anchor="ctr">
            <a:noAutofit/>
          </a:bodyPr>
          <a:p>
            <a:endParaRPr lang="en-US" sz="1800" b="0" u="none" strike="noStrike">
              <a:solidFill>
                <a:schemeClr val="lt1"/>
              </a:solidFill>
              <a:effectLst/>
              <a:uFillTx/>
              <a:latin typeface="Calibri"/>
            </a:endParaRPr>
          </a:p>
        </p:txBody>
      </p:sp>
      <p:sp>
        <p:nvSpPr>
          <p:cNvPr id="154" name="TextBox 3"/>
          <p:cNvSpPr/>
          <p:nvPr/>
        </p:nvSpPr>
        <p:spPr>
          <a:xfrm>
            <a:off x="1179720" y="800280"/>
            <a:ext cx="7314480" cy="300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300" b="1" u="none" strike="noStrike">
                <a:solidFill>
                  <a:srgbClr val="9B9DA0"/>
                </a:solidFill>
                <a:effectLst/>
                <a:uFillTx/>
                <a:latin typeface="Open Sans"/>
                <a:ea typeface="Arial"/>
              </a:rPr>
              <a:t>BIOMASS OPPORTUNITY · </a:t>
            </a:r>
            <a:r>
              <a:rPr lang="zh-CN" sz="1300" b="1" u="none" strike="noStrike">
                <a:solidFill>
                  <a:srgbClr val="9B9DA0"/>
                </a:solidFill>
                <a:effectLst/>
                <a:uFillTx/>
                <a:latin typeface="Open Sans"/>
                <a:ea typeface="Arial"/>
              </a:rPr>
              <a:t>バイオマスの可能性 </a:t>
            </a:r>
            <a:r>
              <a:rPr lang="en-US" sz="1300" b="1" u="none" strike="noStrike">
                <a:solidFill>
                  <a:srgbClr val="9B9DA0"/>
                </a:solidFill>
                <a:effectLst/>
                <a:uFillTx/>
                <a:latin typeface="Open Sans"/>
                <a:ea typeface="Arial"/>
              </a:rPr>
              <a:t>· 08</a:t>
            </a:r>
            <a:endParaRPr lang="en-US" sz="1300" b="0" u="none" strike="noStrike">
              <a:solidFill>
                <a:srgbClr val="000000"/>
              </a:solidFill>
              <a:effectLst/>
              <a:uFillTx/>
              <a:latin typeface="Arial"/>
            </a:endParaRPr>
          </a:p>
        </p:txBody>
      </p:sp>
      <p:sp>
        <p:nvSpPr>
          <p:cNvPr id="155" name="TextBox 4"/>
          <p:cNvSpPr/>
          <p:nvPr/>
        </p:nvSpPr>
        <p:spPr>
          <a:xfrm>
            <a:off x="612720" y="1243440"/>
            <a:ext cx="16915680" cy="6667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4800" b="1" u="none" strike="noStrike">
                <a:solidFill>
                  <a:srgbClr val="2E2E2E"/>
                </a:solidFill>
                <a:effectLst/>
                <a:uFillTx/>
                <a:latin typeface="Sora"/>
                <a:ea typeface="Arial"/>
              </a:rPr>
              <a:t>Untapped — but not for long</a:t>
            </a:r>
            <a:endParaRPr lang="en-US" sz="4800" b="0" u="none" strike="noStrike">
              <a:solidFill>
                <a:srgbClr val="000000"/>
              </a:solidFill>
              <a:effectLst/>
              <a:uFillTx/>
              <a:latin typeface="Arial"/>
            </a:endParaRPr>
          </a:p>
        </p:txBody>
      </p:sp>
      <p:sp>
        <p:nvSpPr>
          <p:cNvPr id="156" name="TextBox 5"/>
          <p:cNvSpPr/>
          <p:nvPr/>
        </p:nvSpPr>
        <p:spPr>
          <a:xfrm>
            <a:off x="612720" y="1974960"/>
            <a:ext cx="16915680" cy="4107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zh-CN" sz="1800" b="0" u="none" strike="noStrike">
                <a:solidFill>
                  <a:srgbClr val="5A5A5A"/>
                </a:solidFill>
                <a:effectLst/>
                <a:uFillTx/>
                <a:latin typeface="Open Sans"/>
                <a:ea typeface="Arial"/>
              </a:rPr>
              <a:t>地域再生可能エネルギーポテンシャル </a:t>
            </a:r>
            <a:r>
              <a:rPr lang="en-US" sz="1800" b="0" u="none" strike="noStrike">
                <a:solidFill>
                  <a:srgbClr val="5A5A5A"/>
                </a:solidFill>
                <a:effectLst/>
                <a:uFillTx/>
                <a:latin typeface="Open Sans"/>
                <a:ea typeface="Arial"/>
              </a:rPr>
              <a:t>1,967 TJ — </a:t>
            </a:r>
            <a:r>
              <a:rPr lang="zh-CN" sz="1800" b="0" u="none" strike="noStrike">
                <a:solidFill>
                  <a:srgbClr val="5A5A5A"/>
                </a:solidFill>
                <a:effectLst/>
                <a:uFillTx/>
                <a:latin typeface="Open Sans"/>
                <a:ea typeface="Arial"/>
              </a:rPr>
              <a:t>木質バイオマスが最大の柱</a:t>
            </a:r>
            <a:endParaRPr lang="en-US" sz="1800" b="0" u="none" strike="noStrike">
              <a:solidFill>
                <a:srgbClr val="000000"/>
              </a:solidFill>
              <a:effectLst/>
              <a:uFillTx/>
              <a:latin typeface="Arial"/>
            </a:endParaRPr>
          </a:p>
        </p:txBody>
      </p:sp>
      <p:pic>
        <p:nvPicPr>
          <p:cNvPr id="157" name="Picture 6" descr="Mitsue energy 2032.png"/>
          <p:cNvPicPr/>
          <p:nvPr/>
        </p:nvPicPr>
        <p:blipFill>
          <a:blip r:embed="rId1"/>
          <a:stretch/>
        </p:blipFill>
        <p:spPr>
          <a:xfrm>
            <a:off x="9162360" y="2514600"/>
            <a:ext cx="8594640" cy="4068360"/>
          </a:xfrm>
          <a:prstGeom prst="rect">
            <a:avLst/>
          </a:prstGeom>
          <a:noFill/>
          <a:ln w="0">
            <a:noFill/>
          </a:ln>
        </p:spPr>
      </p:pic>
      <p:pic>
        <p:nvPicPr>
          <p:cNvPr id="158" name="Picture 7" descr="Mitsue energy 2022.png"/>
          <p:cNvPicPr/>
          <p:nvPr/>
        </p:nvPicPr>
        <p:blipFill>
          <a:blip r:embed="rId2"/>
          <a:stretch/>
        </p:blipFill>
        <p:spPr>
          <a:xfrm>
            <a:off x="475560" y="2514600"/>
            <a:ext cx="8594640" cy="4068360"/>
          </a:xfrm>
          <a:prstGeom prst="rect">
            <a:avLst/>
          </a:prstGeom>
          <a:noFill/>
          <a:ln w="0">
            <a:noFill/>
          </a:ln>
        </p:spPr>
      </p:pic>
      <p:sp>
        <p:nvSpPr>
          <p:cNvPr id="159" name="TextBox 8"/>
          <p:cNvSpPr/>
          <p:nvPr/>
        </p:nvSpPr>
        <p:spPr>
          <a:xfrm>
            <a:off x="9144000" y="6647760"/>
            <a:ext cx="859464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100" b="1" u="none" strike="noStrike">
                <a:solidFill>
                  <a:srgbClr val="3A7A5A"/>
                </a:solidFill>
                <a:effectLst/>
                <a:uFillTx/>
                <a:latin typeface="Open Sans"/>
                <a:ea typeface="Arial"/>
              </a:rPr>
              <a:t>2032 TARGET  ·  Fossil fuels: 97 TJ  ·  Local renewables introduced</a:t>
            </a:r>
            <a:endParaRPr lang="en-US" sz="1100" b="0" u="none" strike="noStrike">
              <a:solidFill>
                <a:srgbClr val="000000"/>
              </a:solidFill>
              <a:effectLst/>
              <a:uFillTx/>
              <a:latin typeface="Arial"/>
            </a:endParaRPr>
          </a:p>
        </p:txBody>
      </p:sp>
      <p:sp>
        <p:nvSpPr>
          <p:cNvPr id="160" name="TextBox 9"/>
          <p:cNvSpPr/>
          <p:nvPr/>
        </p:nvSpPr>
        <p:spPr>
          <a:xfrm>
            <a:off x="475560" y="6647760"/>
            <a:ext cx="859464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100" b="1" u="none" strike="noStrike">
                <a:solidFill>
                  <a:srgbClr val="C0392B"/>
                </a:solidFill>
                <a:effectLst/>
                <a:uFillTx/>
                <a:latin typeface="Open Sans"/>
                <a:ea typeface="Arial"/>
              </a:rPr>
              <a:t>2022 BASELINE  ·  Fossil fuels: 119 TJ  ·  Minimal renewables in use</a:t>
            </a:r>
            <a:endParaRPr lang="en-US" sz="1100" b="0" u="none" strike="noStrike">
              <a:solidFill>
                <a:srgbClr val="000000"/>
              </a:solidFill>
              <a:effectLst/>
              <a:uFillTx/>
              <a:latin typeface="Arial"/>
            </a:endParaRPr>
          </a:p>
        </p:txBody>
      </p:sp>
      <p:sp>
        <p:nvSpPr>
          <p:cNvPr id="161" name="Rectangle 10"/>
          <p:cNvSpPr/>
          <p:nvPr/>
        </p:nvSpPr>
        <p:spPr>
          <a:xfrm>
            <a:off x="457200" y="7113960"/>
            <a:ext cx="17372880" cy="1941120"/>
          </a:xfrm>
          <a:prstGeom prst="rect">
            <a:avLst/>
          </a:prstGeom>
          <a:solidFill>
            <a:srgbClr val="FFF8E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TextBox 11"/>
          <p:cNvSpPr/>
          <p:nvPr/>
        </p:nvSpPr>
        <p:spPr>
          <a:xfrm>
            <a:off x="685800" y="7269480"/>
            <a:ext cx="457128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300" b="1" u="none" strike="noStrike">
                <a:solidFill>
                  <a:srgbClr val="E58520"/>
                </a:solidFill>
                <a:effectLst/>
                <a:uFillTx/>
                <a:latin typeface="Open Sans"/>
                <a:ea typeface="Arial"/>
              </a:rPr>
              <a:t>THE BIOMASS CASE</a:t>
            </a:r>
            <a:endParaRPr lang="en-US" sz="1300" b="0" u="none" strike="noStrike">
              <a:solidFill>
                <a:srgbClr val="000000"/>
              </a:solidFill>
              <a:effectLst/>
              <a:uFillTx/>
              <a:latin typeface="Arial"/>
            </a:endParaRPr>
          </a:p>
        </p:txBody>
      </p:sp>
      <p:sp>
        <p:nvSpPr>
          <p:cNvPr id="163" name="TextBox 12"/>
          <p:cNvSpPr/>
          <p:nvPr/>
        </p:nvSpPr>
        <p:spPr>
          <a:xfrm>
            <a:off x="685800" y="7699320"/>
            <a:ext cx="16918920" cy="731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400" b="0" u="none" strike="noStrike">
                <a:solidFill>
                  <a:srgbClr val="2E2E2E"/>
                </a:solidFill>
                <a:effectLst/>
                <a:uFillTx/>
                <a:latin typeface="Open Sans"/>
                <a:ea typeface="Arial"/>
              </a:rPr>
              <a:t>The right bar in both diagrams shows 1,967 TJ of local renewable energy potential — woody biomass (dark green) is the dominant resource by far. Today, almost none is captured. The Mitsue Project changes that: sugi thinnings feed a CHP unit, generating baseload electricity and heat year-round. Every cubic metre of timber harvested for forest restoration becomes fuel — closing the loop between reforestation and energy self-sufficiency.</a:t>
            </a:r>
            <a:endParaRPr lang="en-US" sz="1400" b="0" u="none" strike="noStrike">
              <a:solidFill>
                <a:srgbClr val="000000"/>
              </a:solidFill>
              <a:effectLst/>
              <a:uFillTx/>
              <a:latin typeface="Arial"/>
            </a:endParaRPr>
          </a:p>
        </p:txBody>
      </p:sp>
      <p:sp>
        <p:nvSpPr>
          <p:cNvPr id="164" name="Text 52"/>
          <p:cNvSpPr/>
          <p:nvPr/>
        </p:nvSpPr>
        <p:spPr>
          <a:xfrm>
            <a:off x="609480" y="956304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20" strike="noStrike">
                <a:solidFill>
                  <a:srgbClr val="A9ABAE"/>
                </a:solidFill>
                <a:effectLst/>
                <a:uFillTx/>
                <a:latin typeface="Open Sans"/>
                <a:ea typeface="Open Sans"/>
              </a:rPr>
              <a:t>Indicators: Japan Energy Database (Tohoku University, CC BY-NC). Mitsue values illustrative — confirm via Future Energy Simulator. </a:t>
            </a:r>
            <a:r>
              <a:rPr lang="zh-CN" sz="1000" b="1" u="none" spc="20" strike="noStrike">
                <a:solidFill>
                  <a:srgbClr val="A9ABAE"/>
                </a:solidFill>
                <a:effectLst/>
                <a:uFillTx/>
                <a:latin typeface="Open Sans"/>
                <a:ea typeface="Open Sans"/>
              </a:rPr>
              <a:t>出典：地域エネルギー需給データベース／数値は試算</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166" name="Shape 1"/>
          <p:cNvSpPr/>
          <p:nvPr/>
        </p:nvSpPr>
        <p:spPr>
          <a:xfrm>
            <a:off x="609480" y="2354760"/>
            <a:ext cx="17067960" cy="18360"/>
          </a:xfrm>
          <a:prstGeom prst="rect">
            <a:avLst/>
          </a:prstGeom>
          <a:solidFill>
            <a:srgbClr val="2E2E2E"/>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167" name="Shape 2"/>
          <p:cNvSpPr/>
          <p:nvPr/>
        </p:nvSpPr>
        <p:spPr>
          <a:xfrm>
            <a:off x="609480" y="80028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168" name="Text 3"/>
          <p:cNvSpPr/>
          <p:nvPr/>
        </p:nvSpPr>
        <p:spPr>
          <a:xfrm>
            <a:off x="1181160" y="704880"/>
            <a:ext cx="41551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PROFILE IN NUMBERS · </a:t>
            </a:r>
            <a:r>
              <a:rPr lang="zh-CN" sz="1300" b="1" u="none" spc="204" strike="noStrike">
                <a:solidFill>
                  <a:srgbClr val="9B9DA0"/>
                </a:solidFill>
                <a:effectLst/>
                <a:uFillTx/>
                <a:latin typeface="Open Sans"/>
                <a:ea typeface="Open Sans"/>
              </a:rPr>
              <a:t>現状と将来 </a:t>
            </a:r>
            <a:r>
              <a:rPr lang="en-US" sz="1300" b="1" u="none" spc="204" strike="noStrike">
                <a:solidFill>
                  <a:srgbClr val="9B9DA0"/>
                </a:solidFill>
                <a:effectLst/>
                <a:uFillTx/>
                <a:latin typeface="Open Sans"/>
                <a:ea typeface="Open Sans"/>
              </a:rPr>
              <a:t>· 08</a:t>
            </a:r>
            <a:endParaRPr lang="en-US" sz="1300" b="0" u="none" strike="noStrike">
              <a:solidFill>
                <a:srgbClr val="000000"/>
              </a:solidFill>
              <a:effectLst/>
              <a:uFillTx/>
              <a:latin typeface="Arial"/>
            </a:endParaRPr>
          </a:p>
        </p:txBody>
      </p:sp>
      <p:sp>
        <p:nvSpPr>
          <p:cNvPr id="169" name="Text 4"/>
          <p:cNvSpPr/>
          <p:nvPr/>
        </p:nvSpPr>
        <p:spPr>
          <a:xfrm>
            <a:off x="609480" y="1076400"/>
            <a:ext cx="9488160" cy="639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1000"/>
              </a:lnSpc>
              <a:tabLst>
                <a:tab pos="0" algn="l"/>
              </a:tabLst>
            </a:pPr>
            <a:r>
              <a:rPr lang="en-US" sz="4650" b="1" u="none" spc="-23" strike="noStrike">
                <a:solidFill>
                  <a:srgbClr val="2E2E2E"/>
                </a:solidFill>
                <a:effectLst/>
                <a:uFillTx/>
                <a:latin typeface="Sora"/>
                <a:ea typeface="Sora"/>
              </a:rPr>
              <a:t>From dependence to surplus</a:t>
            </a:r>
            <a:endParaRPr lang="en-US" sz="4650" b="0" u="none" strike="noStrike">
              <a:solidFill>
                <a:srgbClr val="000000"/>
              </a:solidFill>
              <a:effectLst/>
              <a:uFillTx/>
              <a:latin typeface="Arial"/>
            </a:endParaRPr>
          </a:p>
        </p:txBody>
      </p:sp>
      <p:sp>
        <p:nvSpPr>
          <p:cNvPr id="170" name="Text 5"/>
          <p:cNvSpPr/>
          <p:nvPr/>
        </p:nvSpPr>
        <p:spPr>
          <a:xfrm>
            <a:off x="609480" y="1773720"/>
            <a:ext cx="948816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00" b="0" u="none" strike="noStrike">
                <a:solidFill>
                  <a:srgbClr val="6E7174"/>
                </a:solidFill>
                <a:effectLst/>
                <a:uFillTx/>
                <a:latin typeface="Noto Sans JP"/>
                <a:ea typeface="Noto Sans JP"/>
              </a:rPr>
              <a:t>依存から余剰へ — エネルギー自立への転換</a:t>
            </a:r>
            <a:endParaRPr lang="en-US" sz="1900" b="0" u="none" strike="noStrike">
              <a:solidFill>
                <a:srgbClr val="000000"/>
              </a:solidFill>
              <a:effectLst/>
              <a:uFillTx/>
              <a:latin typeface="Arial"/>
            </a:endParaRPr>
          </a:p>
        </p:txBody>
      </p:sp>
      <p:sp>
        <p:nvSpPr>
          <p:cNvPr id="171" name="Shape 6"/>
          <p:cNvSpPr/>
          <p:nvPr/>
        </p:nvSpPr>
        <p:spPr>
          <a:xfrm>
            <a:off x="15017400" y="1883520"/>
            <a:ext cx="246960" cy="132480"/>
          </a:xfrm>
          <a:prstGeom prst="rect">
            <a:avLst/>
          </a:prstGeom>
          <a:solidFill>
            <a:srgbClr val="C7C9CB"/>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2" name="Text 7"/>
          <p:cNvSpPr/>
          <p:nvPr/>
        </p:nvSpPr>
        <p:spPr>
          <a:xfrm>
            <a:off x="15350760" y="1830960"/>
            <a:ext cx="999720" cy="275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1300" b="1" u="none" strike="noStrike">
                <a:solidFill>
                  <a:srgbClr val="6E7174"/>
                </a:solidFill>
                <a:effectLst/>
                <a:uFillTx/>
                <a:latin typeface="Open Sans"/>
                <a:ea typeface="Open Sans"/>
              </a:rPr>
              <a:t>Today · </a:t>
            </a:r>
            <a:r>
              <a:rPr lang="zh-CN" sz="1300" b="1" u="none" strike="noStrike">
                <a:solidFill>
                  <a:srgbClr val="6E7174"/>
                </a:solidFill>
                <a:effectLst/>
                <a:uFillTx/>
                <a:latin typeface="Open Sans"/>
                <a:ea typeface="Open Sans"/>
              </a:rPr>
              <a:t>現状</a:t>
            </a:r>
            <a:endParaRPr lang="en-US" sz="1300" b="0" u="none" strike="noStrike">
              <a:solidFill>
                <a:srgbClr val="000000"/>
              </a:solidFill>
              <a:effectLst/>
              <a:uFillTx/>
              <a:latin typeface="Arial"/>
            </a:endParaRPr>
          </a:p>
        </p:txBody>
      </p:sp>
      <p:sp>
        <p:nvSpPr>
          <p:cNvPr id="173" name="Shape 8"/>
          <p:cNvSpPr/>
          <p:nvPr/>
        </p:nvSpPr>
        <p:spPr>
          <a:xfrm>
            <a:off x="16522560" y="1883520"/>
            <a:ext cx="246960" cy="13248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 name="Text 9"/>
          <p:cNvSpPr/>
          <p:nvPr/>
        </p:nvSpPr>
        <p:spPr>
          <a:xfrm>
            <a:off x="16855920" y="1830960"/>
            <a:ext cx="897840" cy="275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1300" b="1" u="none" strike="noStrike">
                <a:solidFill>
                  <a:srgbClr val="6E7174"/>
                </a:solidFill>
                <a:effectLst/>
                <a:uFillTx/>
                <a:latin typeface="Open Sans"/>
                <a:ea typeface="Open Sans"/>
              </a:rPr>
              <a:t>2050 · </a:t>
            </a:r>
            <a:r>
              <a:rPr lang="zh-CN" sz="1300" b="1" u="none" strike="noStrike">
                <a:solidFill>
                  <a:srgbClr val="6E7174"/>
                </a:solidFill>
                <a:effectLst/>
                <a:uFillTx/>
                <a:latin typeface="Open Sans"/>
                <a:ea typeface="Open Sans"/>
              </a:rPr>
              <a:t>想定</a:t>
            </a:r>
            <a:endParaRPr lang="en-US" sz="1300" b="0" u="none" strike="noStrike">
              <a:solidFill>
                <a:srgbClr val="000000"/>
              </a:solidFill>
              <a:effectLst/>
              <a:uFillTx/>
              <a:latin typeface="Arial"/>
            </a:endParaRPr>
          </a:p>
        </p:txBody>
      </p:sp>
      <p:sp>
        <p:nvSpPr>
          <p:cNvPr id="175" name="Text 10"/>
          <p:cNvSpPr/>
          <p:nvPr/>
        </p:nvSpPr>
        <p:spPr>
          <a:xfrm>
            <a:off x="609480" y="3732840"/>
            <a:ext cx="35200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Open Sans"/>
                <a:ea typeface="Open Sans"/>
              </a:rPr>
              <a:t>Energy self-sufficiency </a:t>
            </a:r>
            <a:r>
              <a:rPr lang="zh-CN" sz="1300" b="0" u="none" strike="noStrike">
                <a:solidFill>
                  <a:srgbClr val="9B9DA0"/>
                </a:solidFill>
                <a:effectLst/>
                <a:uFillTx/>
                <a:latin typeface="Noto Sans JP"/>
                <a:ea typeface="Noto Sans JP"/>
              </a:rPr>
              <a:t>自給率</a:t>
            </a:r>
            <a:endParaRPr lang="en-US" sz="1300" b="0" u="none" strike="noStrike">
              <a:solidFill>
                <a:srgbClr val="000000"/>
              </a:solidFill>
              <a:effectLst/>
              <a:uFillTx/>
              <a:latin typeface="Arial"/>
            </a:endParaRPr>
          </a:p>
        </p:txBody>
      </p:sp>
      <p:sp>
        <p:nvSpPr>
          <p:cNvPr id="176" name="Text 11"/>
          <p:cNvSpPr/>
          <p:nvPr/>
        </p:nvSpPr>
        <p:spPr>
          <a:xfrm>
            <a:off x="7944120" y="3776040"/>
            <a:ext cx="9705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E58520"/>
                </a:solidFill>
                <a:effectLst/>
                <a:uFillTx/>
                <a:latin typeface="Open Sans"/>
                <a:ea typeface="Open Sans"/>
              </a:rPr>
              <a:t>▲ +107pt</a:t>
            </a:r>
            <a:endParaRPr lang="en-US" sz="1600" b="0" u="none" strike="noStrike">
              <a:solidFill>
                <a:srgbClr val="000000"/>
              </a:solidFill>
              <a:effectLst/>
              <a:uFillTx/>
              <a:latin typeface="Arial"/>
            </a:endParaRPr>
          </a:p>
        </p:txBody>
      </p:sp>
      <p:sp>
        <p:nvSpPr>
          <p:cNvPr id="177" name="Text 12"/>
          <p:cNvSpPr/>
          <p:nvPr/>
        </p:nvSpPr>
        <p:spPr>
          <a:xfrm>
            <a:off x="533520" y="42426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A9ABAE"/>
                </a:solidFill>
                <a:effectLst/>
                <a:uFillTx/>
                <a:latin typeface="Open Sans"/>
                <a:ea typeface="Open Sans"/>
              </a:rPr>
              <a:t>TODAY</a:t>
            </a:r>
            <a:endParaRPr lang="en-US" sz="1150" b="0" u="none" strike="noStrike">
              <a:solidFill>
                <a:srgbClr val="000000"/>
              </a:solidFill>
              <a:effectLst/>
              <a:uFillTx/>
              <a:latin typeface="Arial"/>
            </a:endParaRPr>
          </a:p>
        </p:txBody>
      </p:sp>
      <p:sp>
        <p:nvSpPr>
          <p:cNvPr id="178" name="Shape 13"/>
          <p:cNvSpPr/>
          <p:nvPr/>
        </p:nvSpPr>
        <p:spPr>
          <a:xfrm>
            <a:off x="1504800" y="42141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9" name="Shape 14"/>
          <p:cNvSpPr/>
          <p:nvPr/>
        </p:nvSpPr>
        <p:spPr>
          <a:xfrm>
            <a:off x="1504800" y="4214160"/>
            <a:ext cx="44604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0" name="Text 15"/>
          <p:cNvSpPr/>
          <p:nvPr/>
        </p:nvSpPr>
        <p:spPr>
          <a:xfrm>
            <a:off x="8039160" y="42091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1" u="none" strike="noStrike">
                <a:solidFill>
                  <a:srgbClr val="6E7174"/>
                </a:solidFill>
                <a:effectLst/>
                <a:uFillTx/>
                <a:latin typeface="Open Sans"/>
                <a:ea typeface="Open Sans"/>
              </a:rPr>
              <a:t>8%</a:t>
            </a:r>
            <a:endParaRPr lang="en-US" sz="1500" b="0" u="none" strike="noStrike">
              <a:solidFill>
                <a:srgbClr val="000000"/>
              </a:solidFill>
              <a:effectLst/>
              <a:uFillTx/>
              <a:latin typeface="Arial"/>
            </a:endParaRPr>
          </a:p>
        </p:txBody>
      </p:sp>
      <p:sp>
        <p:nvSpPr>
          <p:cNvPr id="181" name="Text 16"/>
          <p:cNvSpPr/>
          <p:nvPr/>
        </p:nvSpPr>
        <p:spPr>
          <a:xfrm>
            <a:off x="533520" y="46285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E58520"/>
                </a:solidFill>
                <a:effectLst/>
                <a:uFillTx/>
                <a:latin typeface="Open Sans"/>
                <a:ea typeface="Open Sans"/>
              </a:rPr>
              <a:t>2050</a:t>
            </a:r>
            <a:endParaRPr lang="en-US" sz="1150" b="0" u="none" strike="noStrike">
              <a:solidFill>
                <a:srgbClr val="000000"/>
              </a:solidFill>
              <a:effectLst/>
              <a:uFillTx/>
              <a:latin typeface="Arial"/>
            </a:endParaRPr>
          </a:p>
        </p:txBody>
      </p:sp>
      <p:sp>
        <p:nvSpPr>
          <p:cNvPr id="182" name="Shape 17"/>
          <p:cNvSpPr/>
          <p:nvPr/>
        </p:nvSpPr>
        <p:spPr>
          <a:xfrm>
            <a:off x="1504800" y="45997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Shape 18"/>
          <p:cNvSpPr/>
          <p:nvPr/>
        </p:nvSpPr>
        <p:spPr>
          <a:xfrm>
            <a:off x="1504800" y="4599720"/>
            <a:ext cx="612576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Text 19"/>
          <p:cNvSpPr/>
          <p:nvPr/>
        </p:nvSpPr>
        <p:spPr>
          <a:xfrm>
            <a:off x="8039160" y="45522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50" b="1" u="none" strike="noStrike">
                <a:solidFill>
                  <a:srgbClr val="2E2E2E"/>
                </a:solidFill>
                <a:effectLst/>
                <a:uFillTx/>
                <a:latin typeface="Open Sans"/>
                <a:ea typeface="Open Sans"/>
              </a:rPr>
              <a:t>115%</a:t>
            </a:r>
            <a:endParaRPr lang="en-US" sz="1950" b="0" u="none" strike="noStrike">
              <a:solidFill>
                <a:srgbClr val="000000"/>
              </a:solidFill>
              <a:effectLst/>
              <a:uFillTx/>
              <a:latin typeface="Arial"/>
            </a:endParaRPr>
          </a:p>
        </p:txBody>
      </p:sp>
      <p:sp>
        <p:nvSpPr>
          <p:cNvPr id="185" name="Text 20"/>
          <p:cNvSpPr/>
          <p:nvPr/>
        </p:nvSpPr>
        <p:spPr>
          <a:xfrm>
            <a:off x="9448920" y="3732840"/>
            <a:ext cx="351972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Open Sans"/>
                <a:ea typeface="Open Sans"/>
              </a:rPr>
              <a:t>Import dependency </a:t>
            </a:r>
            <a:r>
              <a:rPr lang="zh-CN" sz="1300" b="0" u="none" strike="noStrike">
                <a:solidFill>
                  <a:srgbClr val="9B9DA0"/>
                </a:solidFill>
                <a:effectLst/>
                <a:uFillTx/>
                <a:latin typeface="Noto Sans JP"/>
                <a:ea typeface="Noto Sans JP"/>
              </a:rPr>
              <a:t>域外依存率</a:t>
            </a:r>
            <a:endParaRPr lang="en-US" sz="1300" b="0" u="none" strike="noStrike">
              <a:solidFill>
                <a:srgbClr val="000000"/>
              </a:solidFill>
              <a:effectLst/>
              <a:uFillTx/>
              <a:latin typeface="Arial"/>
            </a:endParaRPr>
          </a:p>
        </p:txBody>
      </p:sp>
      <p:sp>
        <p:nvSpPr>
          <p:cNvPr id="186" name="Text 21"/>
          <p:cNvSpPr/>
          <p:nvPr/>
        </p:nvSpPr>
        <p:spPr>
          <a:xfrm>
            <a:off x="16904520" y="3776040"/>
            <a:ext cx="84924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E58520"/>
                </a:solidFill>
                <a:effectLst/>
                <a:uFillTx/>
                <a:latin typeface="Open Sans"/>
                <a:ea typeface="Open Sans"/>
              </a:rPr>
              <a:t>▼ −67pt</a:t>
            </a:r>
            <a:endParaRPr lang="en-US" sz="1600" b="0" u="none" strike="noStrike">
              <a:solidFill>
                <a:srgbClr val="000000"/>
              </a:solidFill>
              <a:effectLst/>
              <a:uFillTx/>
              <a:latin typeface="Arial"/>
            </a:endParaRPr>
          </a:p>
        </p:txBody>
      </p:sp>
      <p:sp>
        <p:nvSpPr>
          <p:cNvPr id="187" name="Text 22"/>
          <p:cNvSpPr/>
          <p:nvPr/>
        </p:nvSpPr>
        <p:spPr>
          <a:xfrm>
            <a:off x="9372600" y="42426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A9ABAE"/>
                </a:solidFill>
                <a:effectLst/>
                <a:uFillTx/>
                <a:latin typeface="Open Sans"/>
                <a:ea typeface="Open Sans"/>
              </a:rPr>
              <a:t>TODAY</a:t>
            </a:r>
            <a:endParaRPr lang="en-US" sz="1150" b="0" u="none" strike="noStrike">
              <a:solidFill>
                <a:srgbClr val="000000"/>
              </a:solidFill>
              <a:effectLst/>
              <a:uFillTx/>
              <a:latin typeface="Arial"/>
            </a:endParaRPr>
          </a:p>
        </p:txBody>
      </p:sp>
      <p:sp>
        <p:nvSpPr>
          <p:cNvPr id="188" name="Shape 23"/>
          <p:cNvSpPr/>
          <p:nvPr/>
        </p:nvSpPr>
        <p:spPr>
          <a:xfrm>
            <a:off x="10344240" y="42141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 name="Shape 24"/>
          <p:cNvSpPr/>
          <p:nvPr/>
        </p:nvSpPr>
        <p:spPr>
          <a:xfrm>
            <a:off x="10344240" y="4214160"/>
            <a:ext cx="587052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Text 25"/>
          <p:cNvSpPr/>
          <p:nvPr/>
        </p:nvSpPr>
        <p:spPr>
          <a:xfrm>
            <a:off x="16878240" y="42091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1" u="none" strike="noStrike">
                <a:solidFill>
                  <a:srgbClr val="6E7174"/>
                </a:solidFill>
                <a:effectLst/>
                <a:uFillTx/>
                <a:latin typeface="Open Sans"/>
                <a:ea typeface="Open Sans"/>
              </a:rPr>
              <a:t>92%</a:t>
            </a:r>
            <a:endParaRPr lang="en-US" sz="1500" b="0" u="none" strike="noStrike">
              <a:solidFill>
                <a:srgbClr val="000000"/>
              </a:solidFill>
              <a:effectLst/>
              <a:uFillTx/>
              <a:latin typeface="Arial"/>
            </a:endParaRPr>
          </a:p>
        </p:txBody>
      </p:sp>
      <p:sp>
        <p:nvSpPr>
          <p:cNvPr id="191" name="Text 26"/>
          <p:cNvSpPr/>
          <p:nvPr/>
        </p:nvSpPr>
        <p:spPr>
          <a:xfrm>
            <a:off x="9372600" y="46285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E58520"/>
                </a:solidFill>
                <a:effectLst/>
                <a:uFillTx/>
                <a:latin typeface="Open Sans"/>
                <a:ea typeface="Open Sans"/>
              </a:rPr>
              <a:t>2050</a:t>
            </a:r>
            <a:endParaRPr lang="en-US" sz="1150" b="0" u="none" strike="noStrike">
              <a:solidFill>
                <a:srgbClr val="000000"/>
              </a:solidFill>
              <a:effectLst/>
              <a:uFillTx/>
              <a:latin typeface="Arial"/>
            </a:endParaRPr>
          </a:p>
        </p:txBody>
      </p:sp>
      <p:sp>
        <p:nvSpPr>
          <p:cNvPr id="192" name="Shape 27"/>
          <p:cNvSpPr/>
          <p:nvPr/>
        </p:nvSpPr>
        <p:spPr>
          <a:xfrm>
            <a:off x="10344240" y="45997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Shape 28"/>
          <p:cNvSpPr/>
          <p:nvPr/>
        </p:nvSpPr>
        <p:spPr>
          <a:xfrm>
            <a:off x="10344240" y="4599720"/>
            <a:ext cx="159480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4" name="Text 29"/>
          <p:cNvSpPr/>
          <p:nvPr/>
        </p:nvSpPr>
        <p:spPr>
          <a:xfrm>
            <a:off x="16878240" y="45522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50" b="1" u="none" strike="noStrike">
                <a:solidFill>
                  <a:srgbClr val="2E2E2E"/>
                </a:solidFill>
                <a:effectLst/>
                <a:uFillTx/>
                <a:latin typeface="Open Sans"/>
                <a:ea typeface="Open Sans"/>
              </a:rPr>
              <a:t>25%</a:t>
            </a:r>
            <a:endParaRPr lang="en-US" sz="1950" b="0" u="none" strike="noStrike">
              <a:solidFill>
                <a:srgbClr val="000000"/>
              </a:solidFill>
              <a:effectLst/>
              <a:uFillTx/>
              <a:latin typeface="Arial"/>
            </a:endParaRPr>
          </a:p>
        </p:txBody>
      </p:sp>
      <p:sp>
        <p:nvSpPr>
          <p:cNvPr id="195" name="Text 30"/>
          <p:cNvSpPr/>
          <p:nvPr/>
        </p:nvSpPr>
        <p:spPr>
          <a:xfrm>
            <a:off x="609480" y="7175160"/>
            <a:ext cx="35402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Open Sans"/>
                <a:ea typeface="Open Sans"/>
              </a:rPr>
              <a:t>Energy trade balance </a:t>
            </a:r>
            <a:r>
              <a:rPr lang="zh-CN" sz="1300" b="0" u="none" strike="noStrike">
                <a:solidFill>
                  <a:srgbClr val="9B9DA0"/>
                </a:solidFill>
                <a:effectLst/>
                <a:uFillTx/>
                <a:latin typeface="Noto Sans JP"/>
                <a:ea typeface="Noto Sans JP"/>
              </a:rPr>
              <a:t>経済収支</a:t>
            </a:r>
            <a:endParaRPr lang="en-US" sz="1300" b="0" u="none" strike="noStrike">
              <a:solidFill>
                <a:srgbClr val="000000"/>
              </a:solidFill>
              <a:effectLst/>
              <a:uFillTx/>
              <a:latin typeface="Arial"/>
            </a:endParaRPr>
          </a:p>
        </p:txBody>
      </p:sp>
      <p:sp>
        <p:nvSpPr>
          <p:cNvPr id="196" name="Text 31"/>
          <p:cNvSpPr/>
          <p:nvPr/>
        </p:nvSpPr>
        <p:spPr>
          <a:xfrm>
            <a:off x="8225640" y="7218000"/>
            <a:ext cx="68904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E58520"/>
                </a:solidFill>
                <a:effectLst/>
                <a:uFillTx/>
                <a:latin typeface="Open Sans"/>
                <a:ea typeface="Open Sans"/>
              </a:rPr>
              <a:t>flips +</a:t>
            </a:r>
            <a:endParaRPr lang="en-US" sz="1600" b="0" u="none" strike="noStrike">
              <a:solidFill>
                <a:srgbClr val="000000"/>
              </a:solidFill>
              <a:effectLst/>
              <a:uFillTx/>
              <a:latin typeface="Arial"/>
            </a:endParaRPr>
          </a:p>
        </p:txBody>
      </p:sp>
      <p:sp>
        <p:nvSpPr>
          <p:cNvPr id="197" name="Text 32"/>
          <p:cNvSpPr/>
          <p:nvPr/>
        </p:nvSpPr>
        <p:spPr>
          <a:xfrm>
            <a:off x="533520" y="76849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A9ABAE"/>
                </a:solidFill>
                <a:effectLst/>
                <a:uFillTx/>
                <a:latin typeface="Open Sans"/>
                <a:ea typeface="Open Sans"/>
              </a:rPr>
              <a:t>TODAY</a:t>
            </a:r>
            <a:endParaRPr lang="en-US" sz="1150" b="0" u="none" strike="noStrike">
              <a:solidFill>
                <a:srgbClr val="000000"/>
              </a:solidFill>
              <a:effectLst/>
              <a:uFillTx/>
              <a:latin typeface="Arial"/>
            </a:endParaRPr>
          </a:p>
        </p:txBody>
      </p:sp>
      <p:sp>
        <p:nvSpPr>
          <p:cNvPr id="198" name="Shape 33"/>
          <p:cNvSpPr/>
          <p:nvPr/>
        </p:nvSpPr>
        <p:spPr>
          <a:xfrm>
            <a:off x="1504800" y="76561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9" name="Shape 34"/>
          <p:cNvSpPr/>
          <p:nvPr/>
        </p:nvSpPr>
        <p:spPr>
          <a:xfrm>
            <a:off x="4695840" y="7656120"/>
            <a:ext cx="18360" cy="246960"/>
          </a:xfrm>
          <a:prstGeom prst="rect">
            <a:avLst/>
          </a:prstGeom>
          <a:solidFill>
            <a:srgbClr val="2E2E2E"/>
          </a:solidFill>
          <a:ln w="0">
            <a:noFill/>
          </a:ln>
        </p:spPr>
        <p:style>
          <a:lnRef idx="0"/>
          <a:fillRef idx="0"/>
          <a:effectRef idx="0"/>
          <a:fontRef idx="minor"/>
        </p:style>
        <p:txBody>
          <a:bodyPr lIns="9360" tIns="45000" rIns="9360" bIns="45000" anchor="t">
            <a:noAutofit/>
          </a:bodyPr>
          <a:p>
            <a:endParaRPr lang="en-US" sz="1800" b="0" u="none" strike="noStrike">
              <a:solidFill>
                <a:srgbClr val="FFFFFF"/>
              </a:solidFill>
              <a:effectLst/>
              <a:uFillTx/>
              <a:latin typeface="Arial"/>
            </a:endParaRPr>
          </a:p>
        </p:txBody>
      </p:sp>
      <p:sp>
        <p:nvSpPr>
          <p:cNvPr id="200" name="Shape 35"/>
          <p:cNvSpPr/>
          <p:nvPr/>
        </p:nvSpPr>
        <p:spPr>
          <a:xfrm>
            <a:off x="2589840" y="7656120"/>
            <a:ext cx="210528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1" name="Text 36"/>
          <p:cNvSpPr/>
          <p:nvPr/>
        </p:nvSpPr>
        <p:spPr>
          <a:xfrm>
            <a:off x="8039160" y="765144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6E7174"/>
                </a:solidFill>
                <a:effectLst/>
                <a:uFillTx/>
                <a:latin typeface="Open Sans"/>
                <a:ea typeface="Open Sans"/>
              </a:rPr>
              <a:t>−¥2.0</a:t>
            </a:r>
            <a:r>
              <a:rPr lang="zh-CN" sz="1350" b="1" u="none" strike="noStrike">
                <a:solidFill>
                  <a:srgbClr val="6E7174"/>
                </a:solidFill>
                <a:effectLst/>
                <a:uFillTx/>
                <a:latin typeface="Open Sans"/>
                <a:ea typeface="Open Sans"/>
              </a:rPr>
              <a:t>億</a:t>
            </a:r>
            <a:endParaRPr lang="en-US" sz="1350" b="0" u="none" strike="noStrike">
              <a:solidFill>
                <a:srgbClr val="000000"/>
              </a:solidFill>
              <a:effectLst/>
              <a:uFillTx/>
              <a:latin typeface="Arial"/>
            </a:endParaRPr>
          </a:p>
        </p:txBody>
      </p:sp>
      <p:sp>
        <p:nvSpPr>
          <p:cNvPr id="202" name="Text 37"/>
          <p:cNvSpPr/>
          <p:nvPr/>
        </p:nvSpPr>
        <p:spPr>
          <a:xfrm>
            <a:off x="533520" y="822276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E58520"/>
                </a:solidFill>
                <a:effectLst/>
                <a:uFillTx/>
                <a:latin typeface="Open Sans"/>
                <a:ea typeface="Open Sans"/>
              </a:rPr>
              <a:t>2050</a:t>
            </a:r>
            <a:endParaRPr lang="en-US" sz="1150" b="0" u="none" strike="noStrike">
              <a:solidFill>
                <a:srgbClr val="000000"/>
              </a:solidFill>
              <a:effectLst/>
              <a:uFillTx/>
              <a:latin typeface="Arial"/>
            </a:endParaRPr>
          </a:p>
        </p:txBody>
      </p:sp>
      <p:sp>
        <p:nvSpPr>
          <p:cNvPr id="203" name="Shape 38"/>
          <p:cNvSpPr/>
          <p:nvPr/>
        </p:nvSpPr>
        <p:spPr>
          <a:xfrm>
            <a:off x="1504800" y="81943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4" name="Shape 39"/>
          <p:cNvSpPr/>
          <p:nvPr/>
        </p:nvSpPr>
        <p:spPr>
          <a:xfrm>
            <a:off x="4695840" y="8194320"/>
            <a:ext cx="18360" cy="246960"/>
          </a:xfrm>
          <a:prstGeom prst="rect">
            <a:avLst/>
          </a:prstGeom>
          <a:solidFill>
            <a:srgbClr val="2E2E2E"/>
          </a:solidFill>
          <a:ln w="0">
            <a:noFill/>
          </a:ln>
        </p:spPr>
        <p:style>
          <a:lnRef idx="0"/>
          <a:fillRef idx="0"/>
          <a:effectRef idx="0"/>
          <a:fontRef idx="minor"/>
        </p:style>
        <p:txBody>
          <a:bodyPr lIns="9360" tIns="45000" rIns="9360" bIns="45000" anchor="t">
            <a:noAutofit/>
          </a:bodyPr>
          <a:p>
            <a:endParaRPr lang="en-US" sz="1800" b="0" u="none" strike="noStrike">
              <a:solidFill>
                <a:srgbClr val="FFFFFF"/>
              </a:solidFill>
              <a:effectLst/>
              <a:uFillTx/>
              <a:latin typeface="Arial"/>
            </a:endParaRPr>
          </a:p>
        </p:txBody>
      </p:sp>
      <p:sp>
        <p:nvSpPr>
          <p:cNvPr id="205" name="Shape 40"/>
          <p:cNvSpPr/>
          <p:nvPr/>
        </p:nvSpPr>
        <p:spPr>
          <a:xfrm>
            <a:off x="4695840" y="8194320"/>
            <a:ext cx="82908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6" name="Text 41"/>
          <p:cNvSpPr/>
          <p:nvPr/>
        </p:nvSpPr>
        <p:spPr>
          <a:xfrm>
            <a:off x="8039160" y="7994160"/>
            <a:ext cx="875520" cy="685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800" b="1" u="none" strike="noStrike">
                <a:solidFill>
                  <a:srgbClr val="2E2E2E"/>
                </a:solidFill>
                <a:effectLst/>
                <a:uFillTx/>
                <a:latin typeface="Open Sans"/>
                <a:ea typeface="Open Sans"/>
              </a:rPr>
              <a:t>+¥0.8</a:t>
            </a:r>
            <a:r>
              <a:rPr lang="zh-CN" sz="1800" b="1" u="none" strike="noStrike">
                <a:solidFill>
                  <a:srgbClr val="2E2E2E"/>
                </a:solidFill>
                <a:effectLst/>
                <a:uFillTx/>
                <a:latin typeface="Open Sans"/>
                <a:ea typeface="Open Sans"/>
              </a:rPr>
              <a:t>億</a:t>
            </a:r>
            <a:endParaRPr lang="en-US" sz="1800" b="0" u="none" strike="noStrike">
              <a:solidFill>
                <a:srgbClr val="000000"/>
              </a:solidFill>
              <a:effectLst/>
              <a:uFillTx/>
              <a:latin typeface="Arial"/>
            </a:endParaRPr>
          </a:p>
        </p:txBody>
      </p:sp>
      <p:sp>
        <p:nvSpPr>
          <p:cNvPr id="207" name="Text 42"/>
          <p:cNvSpPr/>
          <p:nvPr/>
        </p:nvSpPr>
        <p:spPr>
          <a:xfrm>
            <a:off x="9448920" y="7327440"/>
            <a:ext cx="33688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Open Sans"/>
                <a:ea typeface="Open Sans"/>
              </a:rPr>
              <a:t>Energy-related CO₂ </a:t>
            </a:r>
            <a:r>
              <a:rPr lang="en-US" sz="1300" b="0" u="none" strike="noStrike">
                <a:solidFill>
                  <a:srgbClr val="9B9DA0"/>
                </a:solidFill>
                <a:effectLst/>
                <a:uFillTx/>
                <a:latin typeface="Noto Sans JP"/>
                <a:ea typeface="Noto Sans JP"/>
              </a:rPr>
              <a:t>CO₂</a:t>
            </a:r>
            <a:r>
              <a:rPr lang="zh-CN" sz="1300" b="0" u="none" strike="noStrike">
                <a:solidFill>
                  <a:srgbClr val="9B9DA0"/>
                </a:solidFill>
                <a:effectLst/>
                <a:uFillTx/>
                <a:latin typeface="Noto Sans JP"/>
                <a:ea typeface="Noto Sans JP"/>
              </a:rPr>
              <a:t>排出量</a:t>
            </a:r>
            <a:endParaRPr lang="en-US" sz="1300" b="0" u="none" strike="noStrike">
              <a:solidFill>
                <a:srgbClr val="000000"/>
              </a:solidFill>
              <a:effectLst/>
              <a:uFillTx/>
              <a:latin typeface="Arial"/>
            </a:endParaRPr>
          </a:p>
        </p:txBody>
      </p:sp>
      <p:sp>
        <p:nvSpPr>
          <p:cNvPr id="208" name="Text 43"/>
          <p:cNvSpPr/>
          <p:nvPr/>
        </p:nvSpPr>
        <p:spPr>
          <a:xfrm>
            <a:off x="16935480" y="7370280"/>
            <a:ext cx="8182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E58520"/>
                </a:solidFill>
                <a:effectLst/>
                <a:uFillTx/>
                <a:latin typeface="Open Sans"/>
                <a:ea typeface="Open Sans"/>
              </a:rPr>
              <a:t>▼ −73%</a:t>
            </a:r>
            <a:endParaRPr lang="en-US" sz="1600" b="0" u="none" strike="noStrike">
              <a:solidFill>
                <a:srgbClr val="000000"/>
              </a:solidFill>
              <a:effectLst/>
              <a:uFillTx/>
              <a:latin typeface="Arial"/>
            </a:endParaRPr>
          </a:p>
        </p:txBody>
      </p:sp>
      <p:sp>
        <p:nvSpPr>
          <p:cNvPr id="209" name="Text 44"/>
          <p:cNvSpPr/>
          <p:nvPr/>
        </p:nvSpPr>
        <p:spPr>
          <a:xfrm>
            <a:off x="9372600" y="78372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A9ABAE"/>
                </a:solidFill>
                <a:effectLst/>
                <a:uFillTx/>
                <a:latin typeface="Open Sans"/>
                <a:ea typeface="Open Sans"/>
              </a:rPr>
              <a:t>TODAY</a:t>
            </a:r>
            <a:endParaRPr lang="en-US" sz="1150" b="0" u="none" strike="noStrike">
              <a:solidFill>
                <a:srgbClr val="000000"/>
              </a:solidFill>
              <a:effectLst/>
              <a:uFillTx/>
              <a:latin typeface="Arial"/>
            </a:endParaRPr>
          </a:p>
        </p:txBody>
      </p:sp>
      <p:sp>
        <p:nvSpPr>
          <p:cNvPr id="210" name="Shape 45"/>
          <p:cNvSpPr/>
          <p:nvPr/>
        </p:nvSpPr>
        <p:spPr>
          <a:xfrm>
            <a:off x="10344240" y="78087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1" name="Shape 46"/>
          <p:cNvSpPr/>
          <p:nvPr/>
        </p:nvSpPr>
        <p:spPr>
          <a:xfrm>
            <a:off x="10344240" y="7808760"/>
            <a:ext cx="587052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Text 47"/>
          <p:cNvSpPr/>
          <p:nvPr/>
        </p:nvSpPr>
        <p:spPr>
          <a:xfrm>
            <a:off x="16878240" y="78037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1" u="none" strike="noStrike">
                <a:solidFill>
                  <a:srgbClr val="6E7174"/>
                </a:solidFill>
                <a:effectLst/>
                <a:uFillTx/>
                <a:latin typeface="Open Sans"/>
                <a:ea typeface="Open Sans"/>
              </a:rPr>
              <a:t>11 kt</a:t>
            </a:r>
            <a:endParaRPr lang="en-US" sz="1500" b="0" u="none" strike="noStrike">
              <a:solidFill>
                <a:srgbClr val="000000"/>
              </a:solidFill>
              <a:effectLst/>
              <a:uFillTx/>
              <a:latin typeface="Arial"/>
            </a:endParaRPr>
          </a:p>
        </p:txBody>
      </p:sp>
      <p:sp>
        <p:nvSpPr>
          <p:cNvPr id="213" name="Text 48"/>
          <p:cNvSpPr/>
          <p:nvPr/>
        </p:nvSpPr>
        <p:spPr>
          <a:xfrm>
            <a:off x="9372600" y="822276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trike="noStrike">
                <a:solidFill>
                  <a:srgbClr val="E58520"/>
                </a:solidFill>
                <a:effectLst/>
                <a:uFillTx/>
                <a:latin typeface="Open Sans"/>
                <a:ea typeface="Open Sans"/>
              </a:rPr>
              <a:t>2050</a:t>
            </a:r>
            <a:endParaRPr lang="en-US" sz="1150" b="0" u="none" strike="noStrike">
              <a:solidFill>
                <a:srgbClr val="000000"/>
              </a:solidFill>
              <a:effectLst/>
              <a:uFillTx/>
              <a:latin typeface="Arial"/>
            </a:endParaRPr>
          </a:p>
        </p:txBody>
      </p:sp>
      <p:sp>
        <p:nvSpPr>
          <p:cNvPr id="214" name="Shape 49"/>
          <p:cNvSpPr/>
          <p:nvPr/>
        </p:nvSpPr>
        <p:spPr>
          <a:xfrm>
            <a:off x="10344240" y="81943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5" name="Shape 50"/>
          <p:cNvSpPr/>
          <p:nvPr/>
        </p:nvSpPr>
        <p:spPr>
          <a:xfrm>
            <a:off x="10344240" y="8194320"/>
            <a:ext cx="159480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6" name="Text 51"/>
          <p:cNvSpPr/>
          <p:nvPr/>
        </p:nvSpPr>
        <p:spPr>
          <a:xfrm>
            <a:off x="16878240" y="81468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50" b="1" u="none" strike="noStrike">
                <a:solidFill>
                  <a:srgbClr val="2E2E2E"/>
                </a:solidFill>
                <a:effectLst/>
                <a:uFillTx/>
                <a:latin typeface="Open Sans"/>
                <a:ea typeface="Open Sans"/>
              </a:rPr>
              <a:t>3 kt</a:t>
            </a:r>
            <a:endParaRPr lang="en-US" sz="1950" b="0" u="none" strike="noStrike">
              <a:solidFill>
                <a:srgbClr val="000000"/>
              </a:solidFill>
              <a:effectLst/>
              <a:uFillTx/>
              <a:latin typeface="Arial"/>
            </a:endParaRPr>
          </a:p>
        </p:txBody>
      </p:sp>
      <p:sp>
        <p:nvSpPr>
          <p:cNvPr id="217" name="Text 52"/>
          <p:cNvSpPr/>
          <p:nvPr/>
        </p:nvSpPr>
        <p:spPr>
          <a:xfrm>
            <a:off x="609480" y="956304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20" strike="noStrike">
                <a:solidFill>
                  <a:srgbClr val="A9ABAE"/>
                </a:solidFill>
                <a:effectLst/>
                <a:uFillTx/>
                <a:latin typeface="Open Sans"/>
                <a:ea typeface="Open Sans"/>
              </a:rPr>
              <a:t>Indicators: Japan Energy Database (Tohoku University, CC BY-NC). Mitsue values illustrative — confirm via Future Energy Simulator. </a:t>
            </a:r>
            <a:r>
              <a:rPr lang="zh-CN" sz="1000" b="1" u="none" spc="20" strike="noStrike">
                <a:solidFill>
                  <a:srgbClr val="A9ABAE"/>
                </a:solidFill>
                <a:effectLst/>
                <a:uFillTx/>
                <a:latin typeface="Open Sans"/>
                <a:ea typeface="Open Sans"/>
              </a:rPr>
              <a:t>出典：地域エネルギー需給データベース／数値は試算</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9"/>
        </a:solidFill>
      </p:bgPr>
    </p:bg>
    <p:spTree>
      <p:nvGrpSpPr>
        <p:cNvPr id="1" name=""/>
        <p:cNvGrpSpPr/>
        <p:nvPr/>
      </p:nvGrpSpPr>
      <p:grpSpPr>
        <a:xfrm>
          <a:off x="0" y="0"/>
          <a:ext cx="0" cy="0"/>
          <a:chOff x="0" y="0"/>
          <a:chExt cx="0" cy="0"/>
        </a:xfrm>
      </p:grpSpPr>
      <p:sp>
        <p:nvSpPr>
          <p:cNvPr id="218"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219"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220" name="Text 2"/>
          <p:cNvSpPr/>
          <p:nvPr/>
        </p:nvSpPr>
        <p:spPr>
          <a:xfrm>
            <a:off x="1181160" y="800280"/>
            <a:ext cx="37245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FIVE RETURNS · </a:t>
            </a:r>
            <a:r>
              <a:rPr lang="zh-CN" sz="1300" b="1" u="none" spc="204" strike="noStrike">
                <a:solidFill>
                  <a:srgbClr val="9B9DA0"/>
                </a:solidFill>
                <a:effectLst/>
                <a:uFillTx/>
                <a:latin typeface="Open Sans"/>
                <a:ea typeface="Open Sans"/>
              </a:rPr>
              <a:t>五つのリターン </a:t>
            </a:r>
            <a:r>
              <a:rPr lang="en-US" sz="1300" b="1" u="none" spc="204" strike="noStrike">
                <a:solidFill>
                  <a:srgbClr val="9B9DA0"/>
                </a:solidFill>
                <a:effectLst/>
                <a:uFillTx/>
                <a:latin typeface="Open Sans"/>
                <a:ea typeface="Open Sans"/>
              </a:rPr>
              <a:t>· 09</a:t>
            </a:r>
            <a:endParaRPr lang="en-US" sz="1300" b="0" u="none" strike="noStrike">
              <a:solidFill>
                <a:srgbClr val="000000"/>
              </a:solidFill>
              <a:effectLst/>
              <a:uFillTx/>
              <a:latin typeface="Arial"/>
            </a:endParaRPr>
          </a:p>
        </p:txBody>
      </p:sp>
      <p:sp>
        <p:nvSpPr>
          <p:cNvPr id="221" name="Text 3"/>
          <p:cNvSpPr/>
          <p:nvPr/>
        </p:nvSpPr>
        <p:spPr>
          <a:xfrm>
            <a:off x="609480" y="1247760"/>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pPr>
            <a:r>
              <a:rPr lang="en-US" sz="4800" b="1" u="none" spc="-48" strike="noStrike">
                <a:solidFill>
                  <a:srgbClr val="2E2E2E"/>
                </a:solidFill>
                <a:effectLst/>
                <a:uFillTx/>
                <a:latin typeface="Sora"/>
                <a:ea typeface="Sora"/>
              </a:rPr>
              <a:t>One investment, five returns</a:t>
            </a:r>
            <a:endParaRPr lang="en-US" sz="4800" b="0" u="none" strike="noStrike">
              <a:solidFill>
                <a:srgbClr val="000000"/>
              </a:solidFill>
              <a:effectLst/>
              <a:uFillTx/>
              <a:latin typeface="Arial"/>
            </a:endParaRPr>
          </a:p>
        </p:txBody>
      </p:sp>
      <p:sp>
        <p:nvSpPr>
          <p:cNvPr id="222" name="Text 4"/>
          <p:cNvSpPr/>
          <p:nvPr/>
        </p:nvSpPr>
        <p:spPr>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0" u="none" strike="noStrike">
                <a:solidFill>
                  <a:srgbClr val="6E7174"/>
                </a:solidFill>
                <a:effectLst/>
                <a:uFillTx/>
                <a:latin typeface="Noto Sans JP"/>
                <a:ea typeface="Noto Sans JP"/>
              </a:rPr>
              <a:t>一つの投資が、五つのリターンを生む。</a:t>
            </a:r>
            <a:endParaRPr lang="en-US" sz="1950" b="0" u="none" strike="noStrike">
              <a:solidFill>
                <a:srgbClr val="000000"/>
              </a:solidFill>
              <a:effectLst/>
              <a:uFillTx/>
              <a:latin typeface="Arial"/>
            </a:endParaRPr>
          </a:p>
        </p:txBody>
      </p:sp>
      <p:sp>
        <p:nvSpPr>
          <p:cNvPr id="223" name="Shape 5"/>
          <p:cNvSpPr/>
          <p:nvPr/>
        </p:nvSpPr>
        <p:spPr>
          <a:xfrm>
            <a:off x="609480" y="276624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4" name="Shape 6"/>
          <p:cNvSpPr/>
          <p:nvPr/>
        </p:nvSpPr>
        <p:spPr>
          <a:xfrm>
            <a:off x="6094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25" name="Shape 7"/>
          <p:cNvSpPr/>
          <p:nvPr/>
        </p:nvSpPr>
        <p:spPr>
          <a:xfrm>
            <a:off x="609480" y="2742480"/>
            <a:ext cx="3249360" cy="46800"/>
          </a:xfrm>
          <a:prstGeom prst="rect">
            <a:avLst/>
          </a:prstGeom>
          <a:solidFill>
            <a:srgbClr val="3C4A2E"/>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226" name="Shape 8"/>
          <p:cNvSpPr/>
          <p:nvPr/>
        </p:nvSpPr>
        <p:spPr>
          <a:xfrm>
            <a:off x="6094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27" name="Shape 9"/>
          <p:cNvSpPr/>
          <p:nvPr/>
        </p:nvSpPr>
        <p:spPr>
          <a:xfrm>
            <a:off x="38498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28" name="Text 10"/>
          <p:cNvSpPr/>
          <p:nvPr/>
        </p:nvSpPr>
        <p:spPr>
          <a:xfrm>
            <a:off x="866880" y="3094920"/>
            <a:ext cx="300852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Sora"/>
                <a:ea typeface="Sora"/>
              </a:rPr>
              <a:t>Ecological</a:t>
            </a:r>
            <a:endParaRPr lang="en-US" sz="1900" b="0" u="none" strike="noStrike">
              <a:solidFill>
                <a:srgbClr val="000000"/>
              </a:solidFill>
              <a:effectLst/>
              <a:uFillTx/>
              <a:latin typeface="Arial"/>
            </a:endParaRPr>
          </a:p>
        </p:txBody>
      </p:sp>
      <p:sp>
        <p:nvSpPr>
          <p:cNvPr id="229" name="Text 11"/>
          <p:cNvSpPr/>
          <p:nvPr/>
        </p:nvSpPr>
        <p:spPr>
          <a:xfrm>
            <a:off x="866880" y="3437640"/>
            <a:ext cx="3008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300" b="1" u="none" strike="noStrike">
                <a:solidFill>
                  <a:srgbClr val="9B9DA0"/>
                </a:solidFill>
                <a:effectLst/>
                <a:uFillTx/>
                <a:latin typeface="Noto Sans JP"/>
                <a:ea typeface="Noto Sans JP"/>
              </a:rPr>
              <a:t>生態系</a:t>
            </a:r>
            <a:endParaRPr lang="en-US" sz="1300" b="0" u="none" strike="noStrike">
              <a:solidFill>
                <a:srgbClr val="000000"/>
              </a:solidFill>
              <a:effectLst/>
              <a:uFillTx/>
              <a:latin typeface="Arial"/>
            </a:endParaRPr>
          </a:p>
        </p:txBody>
      </p:sp>
      <p:sp>
        <p:nvSpPr>
          <p:cNvPr id="230" name="Text 12"/>
          <p:cNvSpPr/>
          <p:nvPr/>
        </p:nvSpPr>
        <p:spPr>
          <a:xfrm>
            <a:off x="866880" y="8458200"/>
            <a:ext cx="2817000" cy="866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en-US" sz="1500" b="0" u="none" strike="noStrike">
                <a:solidFill>
                  <a:srgbClr val="4A4A4A"/>
                </a:solidFill>
                <a:effectLst/>
                <a:uFillTx/>
                <a:latin typeface="Open Sans"/>
                <a:ea typeface="Open Sans"/>
              </a:rPr>
              <a:t>Restored watershed, biodiversity, carbon drawdown.</a:t>
            </a:r>
            <a:endParaRPr lang="en-US" sz="1500" b="0" u="none" strike="noStrike">
              <a:solidFill>
                <a:srgbClr val="000000"/>
              </a:solidFill>
              <a:effectLst/>
              <a:uFillTx/>
              <a:latin typeface="Arial"/>
            </a:endParaRPr>
          </a:p>
        </p:txBody>
      </p:sp>
      <p:sp>
        <p:nvSpPr>
          <p:cNvPr id="231" name="Shape 13"/>
          <p:cNvSpPr/>
          <p:nvPr/>
        </p:nvSpPr>
        <p:spPr>
          <a:xfrm>
            <a:off x="40690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2" name="Shape 14"/>
          <p:cNvSpPr/>
          <p:nvPr/>
        </p:nvSpPr>
        <p:spPr>
          <a:xfrm>
            <a:off x="40690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33" name="Shape 15"/>
          <p:cNvSpPr/>
          <p:nvPr/>
        </p:nvSpPr>
        <p:spPr>
          <a:xfrm>
            <a:off x="4069080" y="2742480"/>
            <a:ext cx="3249360" cy="46800"/>
          </a:xfrm>
          <a:prstGeom prst="rect">
            <a:avLst/>
          </a:prstGeom>
          <a:solidFill>
            <a:srgbClr val="6E7174"/>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234" name="Shape 16"/>
          <p:cNvSpPr/>
          <p:nvPr/>
        </p:nvSpPr>
        <p:spPr>
          <a:xfrm>
            <a:off x="40690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35" name="Shape 17"/>
          <p:cNvSpPr/>
          <p:nvPr/>
        </p:nvSpPr>
        <p:spPr>
          <a:xfrm>
            <a:off x="73094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36" name="Text 18"/>
          <p:cNvSpPr/>
          <p:nvPr/>
        </p:nvSpPr>
        <p:spPr>
          <a:xfrm>
            <a:off x="4326120" y="3094920"/>
            <a:ext cx="300852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Sora"/>
                <a:ea typeface="Sora"/>
              </a:rPr>
              <a:t>Energy</a:t>
            </a:r>
            <a:endParaRPr lang="en-US" sz="1900" b="0" u="none" strike="noStrike">
              <a:solidFill>
                <a:srgbClr val="000000"/>
              </a:solidFill>
              <a:effectLst/>
              <a:uFillTx/>
              <a:latin typeface="Arial"/>
            </a:endParaRPr>
          </a:p>
        </p:txBody>
      </p:sp>
      <p:sp>
        <p:nvSpPr>
          <p:cNvPr id="237" name="Text 19"/>
          <p:cNvSpPr/>
          <p:nvPr/>
        </p:nvSpPr>
        <p:spPr>
          <a:xfrm>
            <a:off x="4326120" y="3437640"/>
            <a:ext cx="3008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300" b="1" u="none" strike="noStrike">
                <a:solidFill>
                  <a:srgbClr val="9B9DA0"/>
                </a:solidFill>
                <a:effectLst/>
                <a:uFillTx/>
                <a:latin typeface="Noto Sans JP"/>
                <a:ea typeface="Noto Sans JP"/>
              </a:rPr>
              <a:t>エネルギー</a:t>
            </a:r>
            <a:endParaRPr lang="en-US" sz="1300" b="0" u="none" strike="noStrike">
              <a:solidFill>
                <a:srgbClr val="000000"/>
              </a:solidFill>
              <a:effectLst/>
              <a:uFillTx/>
              <a:latin typeface="Arial"/>
            </a:endParaRPr>
          </a:p>
        </p:txBody>
      </p:sp>
      <p:sp>
        <p:nvSpPr>
          <p:cNvPr id="238" name="Text 20"/>
          <p:cNvSpPr/>
          <p:nvPr/>
        </p:nvSpPr>
        <p:spPr>
          <a:xfrm>
            <a:off x="43261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500" b="0" u="none" strike="noStrike">
                <a:solidFill>
                  <a:srgbClr val="4A4A4A"/>
                </a:solidFill>
                <a:effectLst/>
                <a:uFillTx/>
                <a:latin typeface="Open Sans"/>
                <a:ea typeface="Open Sans"/>
              </a:rPr>
              <a:t>Self-supply and an end to exported cash.</a:t>
            </a:r>
            <a:endParaRPr lang="en-US" sz="1500" b="0" u="none" strike="noStrike">
              <a:solidFill>
                <a:srgbClr val="000000"/>
              </a:solidFill>
              <a:effectLst/>
              <a:uFillTx/>
              <a:latin typeface="Arial"/>
            </a:endParaRPr>
          </a:p>
        </p:txBody>
      </p:sp>
      <p:sp>
        <p:nvSpPr>
          <p:cNvPr id="239" name="Shape 21"/>
          <p:cNvSpPr/>
          <p:nvPr/>
        </p:nvSpPr>
        <p:spPr>
          <a:xfrm>
            <a:off x="75448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0" name="Shape 22"/>
          <p:cNvSpPr/>
          <p:nvPr/>
        </p:nvSpPr>
        <p:spPr>
          <a:xfrm>
            <a:off x="75286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41" name="Shape 23"/>
          <p:cNvSpPr/>
          <p:nvPr/>
        </p:nvSpPr>
        <p:spPr>
          <a:xfrm>
            <a:off x="7528680" y="2742480"/>
            <a:ext cx="3249360" cy="46800"/>
          </a:xfrm>
          <a:prstGeom prst="rect">
            <a:avLst/>
          </a:prstGeom>
          <a:solidFill>
            <a:srgbClr val="2E2E2E"/>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242" name="Shape 24"/>
          <p:cNvSpPr/>
          <p:nvPr/>
        </p:nvSpPr>
        <p:spPr>
          <a:xfrm>
            <a:off x="75286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43" name="Shape 25"/>
          <p:cNvSpPr/>
          <p:nvPr/>
        </p:nvSpPr>
        <p:spPr>
          <a:xfrm>
            <a:off x="107690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44" name="Text 26"/>
          <p:cNvSpPr/>
          <p:nvPr/>
        </p:nvSpPr>
        <p:spPr>
          <a:xfrm>
            <a:off x="7785720" y="3094920"/>
            <a:ext cx="300852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Sora"/>
                <a:ea typeface="Sora"/>
              </a:rPr>
              <a:t>Economic</a:t>
            </a:r>
            <a:endParaRPr lang="en-US" sz="1900" b="0" u="none" strike="noStrike">
              <a:solidFill>
                <a:srgbClr val="000000"/>
              </a:solidFill>
              <a:effectLst/>
              <a:uFillTx/>
              <a:latin typeface="Arial"/>
            </a:endParaRPr>
          </a:p>
        </p:txBody>
      </p:sp>
      <p:sp>
        <p:nvSpPr>
          <p:cNvPr id="245" name="Text 27"/>
          <p:cNvSpPr/>
          <p:nvPr/>
        </p:nvSpPr>
        <p:spPr>
          <a:xfrm>
            <a:off x="7785720" y="3437640"/>
            <a:ext cx="3008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300" b="1" u="none" strike="noStrike">
                <a:solidFill>
                  <a:srgbClr val="9B9DA0"/>
                </a:solidFill>
                <a:effectLst/>
                <a:uFillTx/>
                <a:latin typeface="Noto Sans JP"/>
                <a:ea typeface="Noto Sans JP"/>
              </a:rPr>
              <a:t>経済</a:t>
            </a:r>
            <a:endParaRPr lang="en-US" sz="1300" b="0" u="none" strike="noStrike">
              <a:solidFill>
                <a:srgbClr val="000000"/>
              </a:solidFill>
              <a:effectLst/>
              <a:uFillTx/>
              <a:latin typeface="Arial"/>
            </a:endParaRPr>
          </a:p>
        </p:txBody>
      </p:sp>
      <p:sp>
        <p:nvSpPr>
          <p:cNvPr id="246" name="Text 28"/>
          <p:cNvSpPr/>
          <p:nvPr/>
        </p:nvSpPr>
        <p:spPr>
          <a:xfrm>
            <a:off x="77857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500" b="0" u="none" strike="noStrike">
                <a:solidFill>
                  <a:srgbClr val="4A4A4A"/>
                </a:solidFill>
                <a:effectLst/>
                <a:uFillTx/>
                <a:latin typeface="Open Sans"/>
                <a:ea typeface="Open Sans"/>
              </a:rPr>
              <a:t>Jobs in forestry, operations and hosting.</a:t>
            </a:r>
            <a:endParaRPr lang="en-US" sz="1500" b="0" u="none" strike="noStrike">
              <a:solidFill>
                <a:srgbClr val="000000"/>
              </a:solidFill>
              <a:effectLst/>
              <a:uFillTx/>
              <a:latin typeface="Arial"/>
            </a:endParaRPr>
          </a:p>
        </p:txBody>
      </p:sp>
      <p:sp>
        <p:nvSpPr>
          <p:cNvPr id="247" name="Shape 29"/>
          <p:cNvSpPr/>
          <p:nvPr/>
        </p:nvSpPr>
        <p:spPr>
          <a:xfrm>
            <a:off x="110044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Shape 30"/>
          <p:cNvSpPr/>
          <p:nvPr/>
        </p:nvSpPr>
        <p:spPr>
          <a:xfrm>
            <a:off x="1098792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249" name="Shape 31"/>
          <p:cNvSpPr/>
          <p:nvPr/>
        </p:nvSpPr>
        <p:spPr>
          <a:xfrm>
            <a:off x="10987920" y="2742480"/>
            <a:ext cx="3249360" cy="46800"/>
          </a:xfrm>
          <a:prstGeom prst="rect">
            <a:avLst/>
          </a:prstGeom>
          <a:solidFill>
            <a:srgbClr val="6E7174"/>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250" name="Shape 32"/>
          <p:cNvSpPr/>
          <p:nvPr/>
        </p:nvSpPr>
        <p:spPr>
          <a:xfrm>
            <a:off x="1098792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51" name="Shape 33"/>
          <p:cNvSpPr/>
          <p:nvPr/>
        </p:nvSpPr>
        <p:spPr>
          <a:xfrm>
            <a:off x="142282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52" name="Text 34"/>
          <p:cNvSpPr/>
          <p:nvPr/>
        </p:nvSpPr>
        <p:spPr>
          <a:xfrm>
            <a:off x="11245320" y="3094920"/>
            <a:ext cx="300852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2E2E2E"/>
                </a:solidFill>
                <a:effectLst/>
                <a:uFillTx/>
                <a:latin typeface="Sora"/>
                <a:ea typeface="Sora"/>
              </a:rPr>
              <a:t>Digital</a:t>
            </a:r>
            <a:endParaRPr lang="en-US" sz="1900" b="0" u="none" strike="noStrike">
              <a:solidFill>
                <a:srgbClr val="000000"/>
              </a:solidFill>
              <a:effectLst/>
              <a:uFillTx/>
              <a:latin typeface="Arial"/>
            </a:endParaRPr>
          </a:p>
        </p:txBody>
      </p:sp>
      <p:sp>
        <p:nvSpPr>
          <p:cNvPr id="253" name="Text 35"/>
          <p:cNvSpPr/>
          <p:nvPr/>
        </p:nvSpPr>
        <p:spPr>
          <a:xfrm>
            <a:off x="11245320" y="3437640"/>
            <a:ext cx="3008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300" b="1" u="none" strike="noStrike">
                <a:solidFill>
                  <a:srgbClr val="9B9DA0"/>
                </a:solidFill>
                <a:effectLst/>
                <a:uFillTx/>
                <a:latin typeface="Noto Sans JP"/>
                <a:ea typeface="Noto Sans JP"/>
              </a:rPr>
              <a:t>デジタル</a:t>
            </a:r>
            <a:endParaRPr lang="en-US" sz="1300" b="0" u="none" strike="noStrike">
              <a:solidFill>
                <a:srgbClr val="000000"/>
              </a:solidFill>
              <a:effectLst/>
              <a:uFillTx/>
              <a:latin typeface="Arial"/>
            </a:endParaRPr>
          </a:p>
        </p:txBody>
      </p:sp>
      <p:sp>
        <p:nvSpPr>
          <p:cNvPr id="254" name="Text 36"/>
          <p:cNvSpPr/>
          <p:nvPr/>
        </p:nvSpPr>
        <p:spPr>
          <a:xfrm>
            <a:off x="112453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500" b="0" u="none" strike="noStrike">
                <a:solidFill>
                  <a:srgbClr val="4A4A4A"/>
                </a:solidFill>
                <a:effectLst/>
                <a:uFillTx/>
                <a:latin typeface="Open Sans"/>
                <a:ea typeface="Open Sans"/>
              </a:rPr>
              <a:t>Edge compute &amp; connectivity for rural Japan.</a:t>
            </a:r>
            <a:endParaRPr lang="en-US" sz="1500" b="0" u="none" strike="noStrike">
              <a:solidFill>
                <a:srgbClr val="000000"/>
              </a:solidFill>
              <a:effectLst/>
              <a:uFillTx/>
              <a:latin typeface="Arial"/>
            </a:endParaRPr>
          </a:p>
        </p:txBody>
      </p:sp>
      <p:sp>
        <p:nvSpPr>
          <p:cNvPr id="255" name="Shape 37"/>
          <p:cNvSpPr/>
          <p:nvPr/>
        </p:nvSpPr>
        <p:spPr>
          <a:xfrm>
            <a:off x="14447520" y="2732760"/>
            <a:ext cx="3230280" cy="6858000"/>
          </a:xfrm>
          <a:prstGeom prst="rect">
            <a:avLst/>
          </a:prstGeom>
          <a:solidFill>
            <a:srgbClr val="2E2E2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6" name="Shape 38"/>
          <p:cNvSpPr/>
          <p:nvPr/>
        </p:nvSpPr>
        <p:spPr>
          <a:xfrm>
            <a:off x="14447520" y="2742480"/>
            <a:ext cx="323028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257" name="Text 39"/>
          <p:cNvSpPr/>
          <p:nvPr/>
        </p:nvSpPr>
        <p:spPr>
          <a:xfrm>
            <a:off x="14695200" y="3094920"/>
            <a:ext cx="300852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900" b="1" u="none" strike="noStrike">
                <a:solidFill>
                  <a:srgbClr val="F4B872"/>
                </a:solidFill>
                <a:effectLst/>
                <a:uFillTx/>
                <a:latin typeface="Sora"/>
                <a:ea typeface="Sora"/>
              </a:rPr>
              <a:t>Knowledge</a:t>
            </a:r>
            <a:endParaRPr lang="en-US" sz="1900" b="0" u="none" strike="noStrike">
              <a:solidFill>
                <a:srgbClr val="000000"/>
              </a:solidFill>
              <a:effectLst/>
              <a:uFillTx/>
              <a:latin typeface="Arial"/>
            </a:endParaRPr>
          </a:p>
        </p:txBody>
      </p:sp>
      <p:sp>
        <p:nvSpPr>
          <p:cNvPr id="258" name="Text 40"/>
          <p:cNvSpPr/>
          <p:nvPr/>
        </p:nvSpPr>
        <p:spPr>
          <a:xfrm>
            <a:off x="14695200" y="3437640"/>
            <a:ext cx="3008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300" b="1" u="none" strike="noStrike">
                <a:solidFill>
                  <a:srgbClr val="E58520"/>
                </a:solidFill>
                <a:effectLst/>
                <a:uFillTx/>
                <a:latin typeface="Noto Sans JP"/>
                <a:ea typeface="Noto Sans JP"/>
              </a:rPr>
              <a:t>知識（公開）</a:t>
            </a:r>
            <a:endParaRPr lang="en-US" sz="1300" b="0" u="none" strike="noStrike">
              <a:solidFill>
                <a:srgbClr val="000000"/>
              </a:solidFill>
              <a:effectLst/>
              <a:uFillTx/>
              <a:latin typeface="Arial"/>
            </a:endParaRPr>
          </a:p>
        </p:txBody>
      </p:sp>
      <p:sp>
        <p:nvSpPr>
          <p:cNvPr id="259" name="Text 41"/>
          <p:cNvSpPr/>
          <p:nvPr/>
        </p:nvSpPr>
        <p:spPr>
          <a:xfrm>
            <a:off x="14695200" y="874404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pPr>
            <a:r>
              <a:rPr lang="en-US" sz="1500" b="0" u="none" strike="noStrike">
                <a:solidFill>
                  <a:srgbClr val="E3E4E2"/>
                </a:solidFill>
                <a:effectLst/>
                <a:uFillTx/>
                <a:latin typeface="Open Sans"/>
                <a:ea typeface="Open Sans"/>
              </a:rPr>
              <a:t>Open-licensed — the multiplier other villages copy.</a:t>
            </a:r>
            <a:endParaRPr lang="en-US" sz="1500" b="0" u="none" strike="noStrike">
              <a:solidFill>
                <a:srgbClr val="000000"/>
              </a:solidFill>
              <a:effectLst/>
              <a:uFillTx/>
              <a:latin typeface="Arial"/>
            </a:endParaRPr>
          </a:p>
        </p:txBody>
      </p:sp>
      <p:pic>
        <p:nvPicPr>
          <p:cNvPr id="260" name=""/>
          <p:cNvPicPr/>
          <p:nvPr/>
        </p:nvPicPr>
        <p:blipFill>
          <a:blip r:embed="rId1"/>
          <a:srcRect l="0" t="0" r="38482" b="0"/>
          <a:stretch/>
        </p:blipFill>
        <p:spPr>
          <a:xfrm>
            <a:off x="4419360" y="3881160"/>
            <a:ext cx="2548440" cy="3107160"/>
          </a:xfrm>
          <a:prstGeom prst="rect">
            <a:avLst/>
          </a:prstGeom>
          <a:noFill/>
          <a:ln w="0">
            <a:noFill/>
          </a:ln>
        </p:spPr>
      </p:pic>
      <p:pic>
        <p:nvPicPr>
          <p:cNvPr id="261" name=""/>
          <p:cNvPicPr/>
          <p:nvPr/>
        </p:nvPicPr>
        <p:blipFill>
          <a:blip r:embed="rId2"/>
          <a:srcRect l="37531" t="0" r="-13705" b="0"/>
          <a:stretch/>
        </p:blipFill>
        <p:spPr>
          <a:xfrm>
            <a:off x="866880" y="3881160"/>
            <a:ext cx="3640680" cy="3107160"/>
          </a:xfrm>
          <a:prstGeom prst="rect">
            <a:avLst/>
          </a:prstGeom>
          <a:noFill/>
          <a:ln w="0">
            <a:noFill/>
          </a:ln>
        </p:spPr>
      </p:pic>
      <p:pic>
        <p:nvPicPr>
          <p:cNvPr id="262" name=""/>
          <p:cNvPicPr/>
          <p:nvPr/>
        </p:nvPicPr>
        <p:blipFill>
          <a:blip r:embed="rId3"/>
          <a:srcRect l="24646" t="0" r="18731" b="0"/>
          <a:stretch/>
        </p:blipFill>
        <p:spPr>
          <a:xfrm>
            <a:off x="7715160" y="3881160"/>
            <a:ext cx="2856600" cy="3107160"/>
          </a:xfrm>
          <a:prstGeom prst="rect">
            <a:avLst/>
          </a:prstGeom>
          <a:noFill/>
          <a:ln w="0">
            <a:noFill/>
          </a:ln>
        </p:spPr>
      </p:pic>
      <p:pic>
        <p:nvPicPr>
          <p:cNvPr id="263" name=""/>
          <p:cNvPicPr/>
          <p:nvPr/>
        </p:nvPicPr>
        <p:blipFill>
          <a:blip r:embed="rId4"/>
          <a:stretch/>
        </p:blipFill>
        <p:spPr>
          <a:xfrm>
            <a:off x="11185200" y="3859920"/>
            <a:ext cx="3128400" cy="3128400"/>
          </a:xfrm>
          <a:prstGeom prst="rect">
            <a:avLst/>
          </a:prstGeom>
          <a:noFill/>
          <a:ln w="0">
            <a:noFill/>
          </a:ln>
        </p:spPr>
      </p:pic>
      <p:pic>
        <p:nvPicPr>
          <p:cNvPr id="264" name=""/>
          <p:cNvPicPr/>
          <p:nvPr/>
        </p:nvPicPr>
        <p:blipFill>
          <a:blip r:embed="rId5"/>
          <a:stretch/>
        </p:blipFill>
        <p:spPr>
          <a:xfrm>
            <a:off x="14559120" y="3859920"/>
            <a:ext cx="3031200" cy="31284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5"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266"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267" name="Text 2"/>
          <p:cNvSpPr/>
          <p:nvPr/>
        </p:nvSpPr>
        <p:spPr>
          <a:xfrm>
            <a:off x="1181160" y="800280"/>
            <a:ext cx="39531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PHASED EXECUTION · </a:t>
            </a:r>
            <a:r>
              <a:rPr lang="zh-CN" sz="1300" b="1" u="none" spc="204" strike="noStrike">
                <a:solidFill>
                  <a:srgbClr val="9B9DA0"/>
                </a:solidFill>
                <a:effectLst/>
                <a:uFillTx/>
                <a:latin typeface="Open Sans"/>
                <a:ea typeface="Open Sans"/>
              </a:rPr>
              <a:t>段階的実行 </a:t>
            </a:r>
            <a:r>
              <a:rPr lang="en-US" sz="1300" b="1" u="none" spc="204" strike="noStrike">
                <a:solidFill>
                  <a:srgbClr val="9B9DA0"/>
                </a:solidFill>
                <a:effectLst/>
                <a:uFillTx/>
                <a:latin typeface="Open Sans"/>
                <a:ea typeface="Open Sans"/>
              </a:rPr>
              <a:t>· 10</a:t>
            </a:r>
            <a:endParaRPr lang="en-US" sz="1300" b="0" u="none" strike="noStrike">
              <a:solidFill>
                <a:srgbClr val="000000"/>
              </a:solidFill>
              <a:effectLst/>
              <a:uFillTx/>
              <a:latin typeface="Arial"/>
            </a:endParaRPr>
          </a:p>
        </p:txBody>
      </p:sp>
      <p:sp>
        <p:nvSpPr>
          <p:cNvPr id="268" name="Text 3"/>
          <p:cNvSpPr/>
          <p:nvPr/>
        </p:nvSpPr>
        <p:spPr>
          <a:xfrm>
            <a:off x="609480" y="1228680"/>
            <a:ext cx="18775080" cy="626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pPr>
            <a:r>
              <a:rPr lang="en-US" sz="4500" b="1" u="none" spc="-45" strike="noStrike">
                <a:solidFill>
                  <a:srgbClr val="2E2E2E"/>
                </a:solidFill>
                <a:effectLst/>
                <a:uFillTx/>
                <a:latin typeface="Sora"/>
                <a:ea typeface="Sora"/>
              </a:rPr>
              <a:t>Five phases, gated by funding</a:t>
            </a:r>
            <a:endParaRPr lang="en-US" sz="4500" b="0" u="none" strike="noStrike">
              <a:solidFill>
                <a:srgbClr val="000000"/>
              </a:solidFill>
              <a:effectLst/>
              <a:uFillTx/>
              <a:latin typeface="Arial"/>
            </a:endParaRPr>
          </a:p>
        </p:txBody>
      </p:sp>
      <p:sp>
        <p:nvSpPr>
          <p:cNvPr id="269" name="Text 4"/>
          <p:cNvSpPr/>
          <p:nvPr/>
        </p:nvSpPr>
        <p:spPr>
          <a:xfrm>
            <a:off x="609480" y="18936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00" b="0" u="none" strike="noStrike">
                <a:solidFill>
                  <a:srgbClr val="6E7174"/>
                </a:solidFill>
                <a:effectLst/>
                <a:uFillTx/>
                <a:latin typeface="Noto Sans JP"/>
                <a:ea typeface="Noto Sans JP"/>
              </a:rPr>
              <a:t>資金ゲートで区切られた五段階 — 早すぎる拡大はしない。</a:t>
            </a:r>
            <a:endParaRPr lang="en-US" sz="1900" b="0" u="none" strike="noStrike">
              <a:solidFill>
                <a:srgbClr val="000000"/>
              </a:solidFill>
              <a:effectLst/>
              <a:uFillTx/>
              <a:latin typeface="Arial"/>
            </a:endParaRPr>
          </a:p>
        </p:txBody>
      </p:sp>
      <p:sp>
        <p:nvSpPr>
          <p:cNvPr id="270" name="Shape 5"/>
          <p:cNvSpPr/>
          <p:nvPr/>
        </p:nvSpPr>
        <p:spPr>
          <a:xfrm>
            <a:off x="609480" y="4680720"/>
            <a:ext cx="2818800" cy="216396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1" name="Text 6"/>
          <p:cNvSpPr/>
          <p:nvPr/>
        </p:nvSpPr>
        <p:spPr>
          <a:xfrm>
            <a:off x="819000" y="4928400"/>
            <a:ext cx="2639520"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600" b="1" u="none" strike="noStrike">
                <a:solidFill>
                  <a:srgbClr val="FFFFFF"/>
                </a:solidFill>
                <a:effectLst/>
                <a:uFillTx/>
                <a:latin typeface="Sora"/>
                <a:ea typeface="Sora"/>
              </a:rPr>
              <a:t>Phase 0</a:t>
            </a:r>
            <a:endParaRPr lang="en-US" sz="1600" b="0" u="none" strike="noStrike">
              <a:solidFill>
                <a:srgbClr val="000000"/>
              </a:solidFill>
              <a:effectLst/>
              <a:uFillTx/>
              <a:latin typeface="Arial"/>
            </a:endParaRPr>
          </a:p>
        </p:txBody>
      </p:sp>
      <p:sp>
        <p:nvSpPr>
          <p:cNvPr id="272" name="Text 7"/>
          <p:cNvSpPr/>
          <p:nvPr/>
        </p:nvSpPr>
        <p:spPr>
          <a:xfrm>
            <a:off x="819000" y="5195160"/>
            <a:ext cx="263952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FCE6CC"/>
                </a:solidFill>
                <a:effectLst/>
                <a:uFillTx/>
                <a:latin typeface="Open Sans"/>
                <a:ea typeface="Open Sans"/>
              </a:rPr>
              <a:t>Pre-foundation</a:t>
            </a:r>
            <a:endParaRPr lang="en-US" sz="1200" b="0" u="none" strike="noStrike">
              <a:solidFill>
                <a:srgbClr val="000000"/>
              </a:solidFill>
              <a:effectLst/>
              <a:uFillTx/>
              <a:latin typeface="Arial"/>
            </a:endParaRPr>
          </a:p>
        </p:txBody>
      </p:sp>
      <p:sp>
        <p:nvSpPr>
          <p:cNvPr id="273" name="Text 8"/>
          <p:cNvSpPr/>
          <p:nvPr/>
        </p:nvSpPr>
        <p:spPr>
          <a:xfrm>
            <a:off x="819000" y="5537880"/>
            <a:ext cx="263952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0" u="none" strike="noStrike">
                <a:solidFill>
                  <a:srgbClr val="FBE6CC"/>
                </a:solidFill>
                <a:effectLst/>
                <a:uFillTx/>
                <a:latin typeface="Open Sans"/>
                <a:ea typeface="Open Sans"/>
              </a:rPr>
              <a:t>Months 1–3</a:t>
            </a:r>
            <a:endParaRPr lang="en-US" sz="1150" b="0" u="none" strike="noStrike">
              <a:solidFill>
                <a:srgbClr val="000000"/>
              </a:solidFill>
              <a:effectLst/>
              <a:uFillTx/>
              <a:latin typeface="Arial"/>
            </a:endParaRPr>
          </a:p>
        </p:txBody>
      </p:sp>
      <p:sp>
        <p:nvSpPr>
          <p:cNvPr id="274" name="Text 9"/>
          <p:cNvSpPr/>
          <p:nvPr/>
        </p:nvSpPr>
        <p:spPr>
          <a:xfrm>
            <a:off x="819000" y="5785560"/>
            <a:ext cx="2639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FFFFFF"/>
                </a:solidFill>
                <a:effectLst/>
                <a:uFillTx/>
                <a:latin typeface="Open Sans"/>
                <a:ea typeface="Open Sans"/>
              </a:rPr>
              <a:t>¥0–0.5M</a:t>
            </a:r>
            <a:endParaRPr lang="en-US" sz="1350" b="0" u="none" strike="noStrike">
              <a:solidFill>
                <a:srgbClr val="000000"/>
              </a:solidFill>
              <a:effectLst/>
              <a:uFillTx/>
              <a:latin typeface="Arial"/>
            </a:endParaRPr>
          </a:p>
        </p:txBody>
      </p:sp>
      <p:sp>
        <p:nvSpPr>
          <p:cNvPr id="275" name="Text 10"/>
          <p:cNvSpPr/>
          <p:nvPr/>
        </p:nvSpPr>
        <p:spPr>
          <a:xfrm>
            <a:off x="819000" y="6138000"/>
            <a:ext cx="2639520"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pPr>
            <a:r>
              <a:rPr lang="en-US" sz="1150" b="0" u="none" strike="noStrike">
                <a:solidFill>
                  <a:srgbClr val="FBE6CC"/>
                </a:solidFill>
                <a:effectLst/>
                <a:uFillTx/>
                <a:latin typeface="Open Sans"/>
                <a:ea typeface="Open Sans"/>
              </a:rPr>
              <a:t>Trust, founding team, charter</a:t>
            </a:r>
            <a:endParaRPr lang="en-US" sz="1150" b="0" u="none" strike="noStrike">
              <a:solidFill>
                <a:srgbClr val="000000"/>
              </a:solidFill>
              <a:effectLst/>
              <a:uFillTx/>
              <a:latin typeface="Arial"/>
            </a:endParaRPr>
          </a:p>
        </p:txBody>
      </p:sp>
      <p:sp>
        <p:nvSpPr>
          <p:cNvPr id="276" name="Shape 11"/>
          <p:cNvSpPr/>
          <p:nvPr/>
        </p:nvSpPr>
        <p:spPr>
          <a:xfrm>
            <a:off x="819000" y="6330960"/>
            <a:ext cx="1332000" cy="266040"/>
          </a:xfrm>
          <a:prstGeom prst="rect">
            <a:avLst/>
          </a:prstGeom>
          <a:solidFill>
            <a:srgbClr val="FFFFFF">
              <a:alpha val="18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Text 12"/>
          <p:cNvSpPr/>
          <p:nvPr/>
        </p:nvSpPr>
        <p:spPr>
          <a:xfrm>
            <a:off x="895320" y="6378480"/>
            <a:ext cx="1256040" cy="208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pPr>
            <a:r>
              <a:rPr lang="en-US" sz="1000" b="1" u="none" spc="99" strike="noStrike">
                <a:solidFill>
                  <a:srgbClr val="FFFFFF"/>
                </a:solidFill>
                <a:effectLst/>
                <a:uFillTx/>
                <a:latin typeface="Open Sans"/>
                <a:ea typeface="Open Sans"/>
              </a:rPr>
              <a:t>◀ YOU ARE HERE</a:t>
            </a:r>
            <a:endParaRPr lang="en-US" sz="1000" b="0" u="none" strike="noStrike">
              <a:solidFill>
                <a:srgbClr val="000000"/>
              </a:solidFill>
              <a:effectLst/>
              <a:uFillTx/>
              <a:latin typeface="Arial"/>
            </a:endParaRPr>
          </a:p>
        </p:txBody>
      </p:sp>
      <p:sp>
        <p:nvSpPr>
          <p:cNvPr id="278" name="Shape 13"/>
          <p:cNvSpPr/>
          <p:nvPr/>
        </p:nvSpPr>
        <p:spPr>
          <a:xfrm>
            <a:off x="342900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9" name="Shape 14"/>
          <p:cNvSpPr/>
          <p:nvPr/>
        </p:nvSpPr>
        <p:spPr>
          <a:xfrm>
            <a:off x="342900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80" name="Shape 15"/>
          <p:cNvSpPr/>
          <p:nvPr/>
        </p:nvSpPr>
        <p:spPr>
          <a:xfrm>
            <a:off x="416232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81" name="Text 16"/>
          <p:cNvSpPr/>
          <p:nvPr/>
        </p:nvSpPr>
        <p:spPr>
          <a:xfrm>
            <a:off x="3698280" y="5411880"/>
            <a:ext cx="27972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300" b="1" u="none" strike="noStrike">
                <a:solidFill>
                  <a:srgbClr val="2E2E2E"/>
                </a:solidFill>
                <a:effectLst/>
                <a:uFillTx/>
                <a:latin typeface="Sora"/>
                <a:ea typeface="Sora"/>
              </a:rPr>
              <a:t>G1</a:t>
            </a:r>
            <a:endParaRPr lang="en-US" sz="1300" b="0" u="none" strike="noStrike">
              <a:solidFill>
                <a:srgbClr val="000000"/>
              </a:solidFill>
              <a:effectLst/>
              <a:uFillTx/>
              <a:latin typeface="Arial"/>
            </a:endParaRPr>
          </a:p>
        </p:txBody>
      </p:sp>
      <p:sp>
        <p:nvSpPr>
          <p:cNvPr id="282" name="Text 17"/>
          <p:cNvSpPr/>
          <p:nvPr/>
        </p:nvSpPr>
        <p:spPr>
          <a:xfrm>
            <a:off x="3709800" y="5668920"/>
            <a:ext cx="256680" cy="482760"/>
          </a:xfrm>
          <a:prstGeom prst="rect">
            <a:avLst/>
          </a:prstGeom>
          <a:noFill/>
          <a:ln w="0">
            <a:noFill/>
          </a:ln>
        </p:spPr>
        <p:style>
          <a:lnRef idx="0"/>
          <a:fillRef idx="0"/>
          <a:effectRef idx="0"/>
          <a:fontRef idx="minor"/>
        </p:style>
        <p:txBody>
          <a:bodyPr lIns="25560" tIns="25560" rIns="25560" bIns="25560" anchor="t" vert="eaVert">
            <a:normAutofit/>
          </a:bodyPr>
          <a:p>
            <a:pPr defTabSz="914400">
              <a:lnSpc>
                <a:spcPct val="100000"/>
              </a:lnSpc>
              <a:tabLst>
                <a:tab pos="0" algn="l"/>
              </a:tabLst>
            </a:pPr>
            <a:r>
              <a:rPr lang="en-US" sz="1050" b="0" u="none" spc="51" strike="noStrike">
                <a:solidFill>
                  <a:srgbClr val="6E7174"/>
                </a:solidFill>
                <a:effectLst/>
                <a:uFillTx/>
                <a:latin typeface="Open Sans"/>
                <a:ea typeface="Open Sans"/>
              </a:rPr>
              <a:t>¥3–8M</a:t>
            </a:r>
            <a:endParaRPr lang="en-US" sz="1050" b="0" u="none" strike="noStrike">
              <a:solidFill>
                <a:srgbClr val="000000"/>
              </a:solidFill>
              <a:effectLst/>
              <a:uFillTx/>
              <a:latin typeface="Arial"/>
            </a:endParaRPr>
          </a:p>
        </p:txBody>
      </p:sp>
      <p:sp>
        <p:nvSpPr>
          <p:cNvPr id="283" name="Shape 18"/>
          <p:cNvSpPr/>
          <p:nvPr/>
        </p:nvSpPr>
        <p:spPr>
          <a:xfrm>
            <a:off x="417204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4" name="Text 19"/>
          <p:cNvSpPr/>
          <p:nvPr/>
        </p:nvSpPr>
        <p:spPr>
          <a:xfrm>
            <a:off x="4381560" y="4928400"/>
            <a:ext cx="2639520"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600" b="1" u="none" strike="noStrike">
                <a:solidFill>
                  <a:srgbClr val="2E2E2E"/>
                </a:solidFill>
                <a:effectLst/>
                <a:uFillTx/>
                <a:latin typeface="Sora"/>
                <a:ea typeface="Sora"/>
              </a:rPr>
              <a:t>Phase 1</a:t>
            </a:r>
            <a:endParaRPr lang="en-US" sz="1600" b="0" u="none" strike="noStrike">
              <a:solidFill>
                <a:srgbClr val="000000"/>
              </a:solidFill>
              <a:effectLst/>
              <a:uFillTx/>
              <a:latin typeface="Arial"/>
            </a:endParaRPr>
          </a:p>
        </p:txBody>
      </p:sp>
      <p:sp>
        <p:nvSpPr>
          <p:cNvPr id="285" name="Text 20"/>
          <p:cNvSpPr/>
          <p:nvPr/>
        </p:nvSpPr>
        <p:spPr>
          <a:xfrm>
            <a:off x="4381560" y="5195160"/>
            <a:ext cx="263952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9B9DA0"/>
                </a:solidFill>
                <a:effectLst/>
                <a:uFillTx/>
                <a:latin typeface="Open Sans"/>
                <a:ea typeface="Open Sans"/>
              </a:rPr>
              <a:t>Foundation</a:t>
            </a:r>
            <a:endParaRPr lang="en-US" sz="1200" b="0" u="none" strike="noStrike">
              <a:solidFill>
                <a:srgbClr val="000000"/>
              </a:solidFill>
              <a:effectLst/>
              <a:uFillTx/>
              <a:latin typeface="Arial"/>
            </a:endParaRPr>
          </a:p>
        </p:txBody>
      </p:sp>
      <p:sp>
        <p:nvSpPr>
          <p:cNvPr id="286" name="Text 21"/>
          <p:cNvSpPr/>
          <p:nvPr/>
        </p:nvSpPr>
        <p:spPr>
          <a:xfrm>
            <a:off x="4381560" y="5537880"/>
            <a:ext cx="263952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0" u="none" strike="noStrike">
                <a:solidFill>
                  <a:srgbClr val="9B9DA0"/>
                </a:solidFill>
                <a:effectLst/>
                <a:uFillTx/>
                <a:latin typeface="Open Sans"/>
                <a:ea typeface="Open Sans"/>
              </a:rPr>
              <a:t>Months 4–9</a:t>
            </a:r>
            <a:endParaRPr lang="en-US" sz="1150" b="0" u="none" strike="noStrike">
              <a:solidFill>
                <a:srgbClr val="000000"/>
              </a:solidFill>
              <a:effectLst/>
              <a:uFillTx/>
              <a:latin typeface="Arial"/>
            </a:endParaRPr>
          </a:p>
        </p:txBody>
      </p:sp>
      <p:sp>
        <p:nvSpPr>
          <p:cNvPr id="287" name="Text 22"/>
          <p:cNvSpPr/>
          <p:nvPr/>
        </p:nvSpPr>
        <p:spPr>
          <a:xfrm>
            <a:off x="4381560" y="5785560"/>
            <a:ext cx="2639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2E2E2E"/>
                </a:solidFill>
                <a:effectLst/>
                <a:uFillTx/>
                <a:latin typeface="Open Sans"/>
                <a:ea typeface="Open Sans"/>
              </a:rPr>
              <a:t>¥3–8M</a:t>
            </a:r>
            <a:endParaRPr lang="en-US" sz="1350" b="0" u="none" strike="noStrike">
              <a:solidFill>
                <a:srgbClr val="000000"/>
              </a:solidFill>
              <a:effectLst/>
              <a:uFillTx/>
              <a:latin typeface="Arial"/>
            </a:endParaRPr>
          </a:p>
        </p:txBody>
      </p:sp>
      <p:sp>
        <p:nvSpPr>
          <p:cNvPr id="288" name="Text 23"/>
          <p:cNvSpPr/>
          <p:nvPr/>
        </p:nvSpPr>
        <p:spPr>
          <a:xfrm>
            <a:off x="4381560" y="6138000"/>
            <a:ext cx="2639520"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pPr>
            <a:r>
              <a:rPr lang="en-US" sz="1150" b="0" u="none" strike="noStrike">
                <a:solidFill>
                  <a:srgbClr val="6E7174"/>
                </a:solidFill>
                <a:effectLst/>
                <a:uFillTx/>
                <a:latin typeface="Open Sans"/>
                <a:ea typeface="Open Sans"/>
              </a:rPr>
              <a:t>Legal entity, feasibility, advisors</a:t>
            </a:r>
            <a:endParaRPr lang="en-US" sz="1150" b="0" u="none" strike="noStrike">
              <a:solidFill>
                <a:srgbClr val="000000"/>
              </a:solidFill>
              <a:effectLst/>
              <a:uFillTx/>
              <a:latin typeface="Arial"/>
            </a:endParaRPr>
          </a:p>
        </p:txBody>
      </p:sp>
      <p:sp>
        <p:nvSpPr>
          <p:cNvPr id="289" name="Shape 24"/>
          <p:cNvSpPr/>
          <p:nvPr/>
        </p:nvSpPr>
        <p:spPr>
          <a:xfrm>
            <a:off x="699120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0" name="Shape 25"/>
          <p:cNvSpPr/>
          <p:nvPr/>
        </p:nvSpPr>
        <p:spPr>
          <a:xfrm>
            <a:off x="699120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91" name="Shape 26"/>
          <p:cNvSpPr/>
          <p:nvPr/>
        </p:nvSpPr>
        <p:spPr>
          <a:xfrm>
            <a:off x="772488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292" name="Text 27"/>
          <p:cNvSpPr/>
          <p:nvPr/>
        </p:nvSpPr>
        <p:spPr>
          <a:xfrm>
            <a:off x="7243920" y="5329080"/>
            <a:ext cx="31284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300" b="1" u="none" strike="noStrike">
                <a:solidFill>
                  <a:srgbClr val="2E2E2E"/>
                </a:solidFill>
                <a:effectLst/>
                <a:uFillTx/>
                <a:latin typeface="Sora"/>
                <a:ea typeface="Sora"/>
              </a:rPr>
              <a:t>G2</a:t>
            </a:r>
            <a:endParaRPr lang="en-US" sz="1300" b="0" u="none" strike="noStrike">
              <a:solidFill>
                <a:srgbClr val="000000"/>
              </a:solidFill>
              <a:effectLst/>
              <a:uFillTx/>
              <a:latin typeface="Arial"/>
            </a:endParaRPr>
          </a:p>
        </p:txBody>
      </p:sp>
      <p:sp>
        <p:nvSpPr>
          <p:cNvPr id="293" name="Text 28"/>
          <p:cNvSpPr/>
          <p:nvPr/>
        </p:nvSpPr>
        <p:spPr>
          <a:xfrm>
            <a:off x="7272000" y="5586120"/>
            <a:ext cx="256680" cy="648360"/>
          </a:xfrm>
          <a:prstGeom prst="rect">
            <a:avLst/>
          </a:prstGeom>
          <a:noFill/>
          <a:ln w="0">
            <a:noFill/>
          </a:ln>
        </p:spPr>
        <p:style>
          <a:lnRef idx="0"/>
          <a:fillRef idx="0"/>
          <a:effectRef idx="0"/>
          <a:fontRef idx="minor"/>
        </p:style>
        <p:txBody>
          <a:bodyPr lIns="25560" tIns="25560" rIns="25560" bIns="25560" anchor="t" vert="eaVert">
            <a:normAutofit/>
          </a:bodyPr>
          <a:p>
            <a:pPr defTabSz="914400">
              <a:lnSpc>
                <a:spcPct val="100000"/>
              </a:lnSpc>
              <a:tabLst>
                <a:tab pos="0" algn="l"/>
              </a:tabLst>
            </a:pPr>
            <a:r>
              <a:rPr lang="en-US" sz="1050" b="0" u="none" spc="51" strike="noStrike">
                <a:solidFill>
                  <a:srgbClr val="6E7174"/>
                </a:solidFill>
                <a:effectLst/>
                <a:uFillTx/>
                <a:latin typeface="Open Sans"/>
                <a:ea typeface="Open Sans"/>
              </a:rPr>
              <a:t>¥30–50M</a:t>
            </a:r>
            <a:endParaRPr lang="en-US" sz="1050" b="0" u="none" strike="noStrike">
              <a:solidFill>
                <a:srgbClr val="000000"/>
              </a:solidFill>
              <a:effectLst/>
              <a:uFillTx/>
              <a:latin typeface="Arial"/>
            </a:endParaRPr>
          </a:p>
        </p:txBody>
      </p:sp>
      <p:sp>
        <p:nvSpPr>
          <p:cNvPr id="294" name="Shape 29"/>
          <p:cNvSpPr/>
          <p:nvPr/>
        </p:nvSpPr>
        <p:spPr>
          <a:xfrm>
            <a:off x="773424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5" name="Text 30"/>
          <p:cNvSpPr/>
          <p:nvPr/>
        </p:nvSpPr>
        <p:spPr>
          <a:xfrm>
            <a:off x="7943760" y="4928400"/>
            <a:ext cx="2639520"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600" b="1" u="none" strike="noStrike">
                <a:solidFill>
                  <a:srgbClr val="2E2E2E"/>
                </a:solidFill>
                <a:effectLst/>
                <a:uFillTx/>
                <a:latin typeface="Sora"/>
                <a:ea typeface="Sora"/>
              </a:rPr>
              <a:t>Phase 2</a:t>
            </a:r>
            <a:endParaRPr lang="en-US" sz="1600" b="0" u="none" strike="noStrike">
              <a:solidFill>
                <a:srgbClr val="000000"/>
              </a:solidFill>
              <a:effectLst/>
              <a:uFillTx/>
              <a:latin typeface="Arial"/>
            </a:endParaRPr>
          </a:p>
        </p:txBody>
      </p:sp>
      <p:sp>
        <p:nvSpPr>
          <p:cNvPr id="296" name="Text 31"/>
          <p:cNvSpPr/>
          <p:nvPr/>
        </p:nvSpPr>
        <p:spPr>
          <a:xfrm>
            <a:off x="7943760" y="5195160"/>
            <a:ext cx="263952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9B9DA0"/>
                </a:solidFill>
                <a:effectLst/>
                <a:uFillTx/>
                <a:latin typeface="Open Sans"/>
                <a:ea typeface="Open Sans"/>
              </a:rPr>
              <a:t>Pilot design</a:t>
            </a:r>
            <a:endParaRPr lang="en-US" sz="1200" b="0" u="none" strike="noStrike">
              <a:solidFill>
                <a:srgbClr val="000000"/>
              </a:solidFill>
              <a:effectLst/>
              <a:uFillTx/>
              <a:latin typeface="Arial"/>
            </a:endParaRPr>
          </a:p>
        </p:txBody>
      </p:sp>
      <p:sp>
        <p:nvSpPr>
          <p:cNvPr id="297" name="Text 32"/>
          <p:cNvSpPr/>
          <p:nvPr/>
        </p:nvSpPr>
        <p:spPr>
          <a:xfrm>
            <a:off x="7943760" y="5537880"/>
            <a:ext cx="263952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0" u="none" strike="noStrike">
                <a:solidFill>
                  <a:srgbClr val="9B9DA0"/>
                </a:solidFill>
                <a:effectLst/>
                <a:uFillTx/>
                <a:latin typeface="Open Sans"/>
                <a:ea typeface="Open Sans"/>
              </a:rPr>
              <a:t>Months 10–18</a:t>
            </a:r>
            <a:endParaRPr lang="en-US" sz="1150" b="0" u="none" strike="noStrike">
              <a:solidFill>
                <a:srgbClr val="000000"/>
              </a:solidFill>
              <a:effectLst/>
              <a:uFillTx/>
              <a:latin typeface="Arial"/>
            </a:endParaRPr>
          </a:p>
        </p:txBody>
      </p:sp>
      <p:sp>
        <p:nvSpPr>
          <p:cNvPr id="298" name="Text 33"/>
          <p:cNvSpPr/>
          <p:nvPr/>
        </p:nvSpPr>
        <p:spPr>
          <a:xfrm>
            <a:off x="7943760" y="5785560"/>
            <a:ext cx="2639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2E2E2E"/>
                </a:solidFill>
                <a:effectLst/>
                <a:uFillTx/>
                <a:latin typeface="Open Sans"/>
                <a:ea typeface="Open Sans"/>
              </a:rPr>
              <a:t>¥15–30M</a:t>
            </a:r>
            <a:endParaRPr lang="en-US" sz="1350" b="0" u="none" strike="noStrike">
              <a:solidFill>
                <a:srgbClr val="000000"/>
              </a:solidFill>
              <a:effectLst/>
              <a:uFillTx/>
              <a:latin typeface="Arial"/>
            </a:endParaRPr>
          </a:p>
        </p:txBody>
      </p:sp>
      <p:sp>
        <p:nvSpPr>
          <p:cNvPr id="299" name="Text 34"/>
          <p:cNvSpPr/>
          <p:nvPr/>
        </p:nvSpPr>
        <p:spPr>
          <a:xfrm>
            <a:off x="7943760" y="6138000"/>
            <a:ext cx="2639520"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pPr>
            <a:r>
              <a:rPr lang="en-US" sz="1150" b="0" u="none" strike="noStrike">
                <a:solidFill>
                  <a:srgbClr val="6E7174"/>
                </a:solidFill>
                <a:effectLst/>
                <a:uFillTx/>
                <a:latin typeface="Open Sans"/>
                <a:ea typeface="Open Sans"/>
              </a:rPr>
              <a:t>Engineering, partners, permits</a:t>
            </a:r>
            <a:endParaRPr lang="en-US" sz="1150" b="0" u="none" strike="noStrike">
              <a:solidFill>
                <a:srgbClr val="000000"/>
              </a:solidFill>
              <a:effectLst/>
              <a:uFillTx/>
              <a:latin typeface="Arial"/>
            </a:endParaRPr>
          </a:p>
        </p:txBody>
      </p:sp>
      <p:sp>
        <p:nvSpPr>
          <p:cNvPr id="300" name="Shape 35"/>
          <p:cNvSpPr/>
          <p:nvPr/>
        </p:nvSpPr>
        <p:spPr>
          <a:xfrm>
            <a:off x="1055376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Shape 36"/>
          <p:cNvSpPr/>
          <p:nvPr/>
        </p:nvSpPr>
        <p:spPr>
          <a:xfrm>
            <a:off x="1055376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302" name="Shape 37"/>
          <p:cNvSpPr/>
          <p:nvPr/>
        </p:nvSpPr>
        <p:spPr>
          <a:xfrm>
            <a:off x="1128708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303" name="Text 38"/>
          <p:cNvSpPr/>
          <p:nvPr/>
        </p:nvSpPr>
        <p:spPr>
          <a:xfrm>
            <a:off x="10806480" y="5287320"/>
            <a:ext cx="31284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300" b="1" u="none" strike="noStrike">
                <a:solidFill>
                  <a:srgbClr val="2E2E2E"/>
                </a:solidFill>
                <a:effectLst/>
                <a:uFillTx/>
                <a:latin typeface="Sora"/>
                <a:ea typeface="Sora"/>
              </a:rPr>
              <a:t>G3</a:t>
            </a:r>
            <a:endParaRPr lang="en-US" sz="1300" b="0" u="none" strike="noStrike">
              <a:solidFill>
                <a:srgbClr val="000000"/>
              </a:solidFill>
              <a:effectLst/>
              <a:uFillTx/>
              <a:latin typeface="Arial"/>
            </a:endParaRPr>
          </a:p>
        </p:txBody>
      </p:sp>
      <p:sp>
        <p:nvSpPr>
          <p:cNvPr id="304" name="Text 39"/>
          <p:cNvSpPr/>
          <p:nvPr/>
        </p:nvSpPr>
        <p:spPr>
          <a:xfrm>
            <a:off x="10834560" y="5544720"/>
            <a:ext cx="256680" cy="731160"/>
          </a:xfrm>
          <a:prstGeom prst="rect">
            <a:avLst/>
          </a:prstGeom>
          <a:noFill/>
          <a:ln w="0">
            <a:noFill/>
          </a:ln>
        </p:spPr>
        <p:style>
          <a:lnRef idx="0"/>
          <a:fillRef idx="0"/>
          <a:effectRef idx="0"/>
          <a:fontRef idx="minor"/>
        </p:style>
        <p:txBody>
          <a:bodyPr lIns="25560" tIns="25560" rIns="25560" bIns="25560" anchor="t" vert="eaVert">
            <a:normAutofit/>
          </a:bodyPr>
          <a:p>
            <a:pPr defTabSz="914400">
              <a:lnSpc>
                <a:spcPct val="100000"/>
              </a:lnSpc>
              <a:tabLst>
                <a:tab pos="0" algn="l"/>
              </a:tabLst>
            </a:pPr>
            <a:r>
              <a:rPr lang="en-US" sz="1050" b="0" u="none" spc="51" strike="noStrike">
                <a:solidFill>
                  <a:srgbClr val="6E7174"/>
                </a:solidFill>
                <a:effectLst/>
                <a:uFillTx/>
                <a:latin typeface="Open Sans"/>
                <a:ea typeface="Open Sans"/>
              </a:rPr>
              <a:t>¥80–200M</a:t>
            </a:r>
            <a:endParaRPr lang="en-US" sz="1050" b="0" u="none" strike="noStrike">
              <a:solidFill>
                <a:srgbClr val="000000"/>
              </a:solidFill>
              <a:effectLst/>
              <a:uFillTx/>
              <a:latin typeface="Arial"/>
            </a:endParaRPr>
          </a:p>
        </p:txBody>
      </p:sp>
      <p:sp>
        <p:nvSpPr>
          <p:cNvPr id="305" name="Shape 40"/>
          <p:cNvSpPr/>
          <p:nvPr/>
        </p:nvSpPr>
        <p:spPr>
          <a:xfrm>
            <a:off x="1129680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6" name="Text 41"/>
          <p:cNvSpPr/>
          <p:nvPr/>
        </p:nvSpPr>
        <p:spPr>
          <a:xfrm>
            <a:off x="11506320" y="4928400"/>
            <a:ext cx="2639520"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600" b="1" u="none" strike="noStrike">
                <a:solidFill>
                  <a:srgbClr val="2E2E2E"/>
                </a:solidFill>
                <a:effectLst/>
                <a:uFillTx/>
                <a:latin typeface="Sora"/>
                <a:ea typeface="Sora"/>
              </a:rPr>
              <a:t>Phase 3</a:t>
            </a:r>
            <a:endParaRPr lang="en-US" sz="1600" b="0" u="none" strike="noStrike">
              <a:solidFill>
                <a:srgbClr val="000000"/>
              </a:solidFill>
              <a:effectLst/>
              <a:uFillTx/>
              <a:latin typeface="Arial"/>
            </a:endParaRPr>
          </a:p>
        </p:txBody>
      </p:sp>
      <p:sp>
        <p:nvSpPr>
          <p:cNvPr id="307" name="Text 42"/>
          <p:cNvSpPr/>
          <p:nvPr/>
        </p:nvSpPr>
        <p:spPr>
          <a:xfrm>
            <a:off x="11506320" y="5195160"/>
            <a:ext cx="263952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9B9DA0"/>
                </a:solidFill>
                <a:effectLst/>
                <a:uFillTx/>
                <a:latin typeface="Open Sans"/>
                <a:ea typeface="Open Sans"/>
              </a:rPr>
              <a:t>Pilot build</a:t>
            </a:r>
            <a:endParaRPr lang="en-US" sz="1200" b="0" u="none" strike="noStrike">
              <a:solidFill>
                <a:srgbClr val="000000"/>
              </a:solidFill>
              <a:effectLst/>
              <a:uFillTx/>
              <a:latin typeface="Arial"/>
            </a:endParaRPr>
          </a:p>
        </p:txBody>
      </p:sp>
      <p:sp>
        <p:nvSpPr>
          <p:cNvPr id="308" name="Text 43"/>
          <p:cNvSpPr/>
          <p:nvPr/>
        </p:nvSpPr>
        <p:spPr>
          <a:xfrm>
            <a:off x="11506320" y="5537880"/>
            <a:ext cx="263952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0" u="none" strike="noStrike">
                <a:solidFill>
                  <a:srgbClr val="9B9DA0"/>
                </a:solidFill>
                <a:effectLst/>
                <a:uFillTx/>
                <a:latin typeface="Open Sans"/>
                <a:ea typeface="Open Sans"/>
              </a:rPr>
              <a:t>Months 19–30</a:t>
            </a:r>
            <a:endParaRPr lang="en-US" sz="1150" b="0" u="none" strike="noStrike">
              <a:solidFill>
                <a:srgbClr val="000000"/>
              </a:solidFill>
              <a:effectLst/>
              <a:uFillTx/>
              <a:latin typeface="Arial"/>
            </a:endParaRPr>
          </a:p>
        </p:txBody>
      </p:sp>
      <p:sp>
        <p:nvSpPr>
          <p:cNvPr id="309" name="Text 44"/>
          <p:cNvSpPr/>
          <p:nvPr/>
        </p:nvSpPr>
        <p:spPr>
          <a:xfrm>
            <a:off x="11506320" y="5785560"/>
            <a:ext cx="2639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2E2E2E"/>
                </a:solidFill>
                <a:effectLst/>
                <a:uFillTx/>
                <a:latin typeface="Open Sans"/>
                <a:ea typeface="Open Sans"/>
              </a:rPr>
              <a:t>¥80–200M</a:t>
            </a:r>
            <a:endParaRPr lang="en-US" sz="1350" b="0" u="none" strike="noStrike">
              <a:solidFill>
                <a:srgbClr val="000000"/>
              </a:solidFill>
              <a:effectLst/>
              <a:uFillTx/>
              <a:latin typeface="Arial"/>
            </a:endParaRPr>
          </a:p>
        </p:txBody>
      </p:sp>
      <p:sp>
        <p:nvSpPr>
          <p:cNvPr id="310" name="Text 45"/>
          <p:cNvSpPr/>
          <p:nvPr/>
        </p:nvSpPr>
        <p:spPr>
          <a:xfrm>
            <a:off x="11506320" y="6138000"/>
            <a:ext cx="2639520"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pPr>
            <a:r>
              <a:rPr lang="en-US" sz="1150" b="0" u="none" strike="noStrike">
                <a:solidFill>
                  <a:srgbClr val="6E7174"/>
                </a:solidFill>
                <a:effectLst/>
                <a:uFillTx/>
                <a:latin typeface="Open Sans"/>
                <a:ea typeface="Open Sans"/>
              </a:rPr>
              <a:t>First-stage build, commissioning</a:t>
            </a:r>
            <a:endParaRPr lang="en-US" sz="1150" b="0" u="none" strike="noStrike">
              <a:solidFill>
                <a:srgbClr val="000000"/>
              </a:solidFill>
              <a:effectLst/>
              <a:uFillTx/>
              <a:latin typeface="Arial"/>
            </a:endParaRPr>
          </a:p>
        </p:txBody>
      </p:sp>
      <p:sp>
        <p:nvSpPr>
          <p:cNvPr id="311" name="Shape 46"/>
          <p:cNvSpPr/>
          <p:nvPr/>
        </p:nvSpPr>
        <p:spPr>
          <a:xfrm>
            <a:off x="1411596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Shape 47"/>
          <p:cNvSpPr/>
          <p:nvPr/>
        </p:nvSpPr>
        <p:spPr>
          <a:xfrm>
            <a:off x="1411596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313" name="Shape 48"/>
          <p:cNvSpPr/>
          <p:nvPr/>
        </p:nvSpPr>
        <p:spPr>
          <a:xfrm>
            <a:off x="1484964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endParaRPr lang="en-US" sz="1800" b="0" u="none" strike="noStrike">
              <a:solidFill>
                <a:srgbClr val="000000"/>
              </a:solidFill>
              <a:effectLst/>
              <a:uFillTx/>
              <a:latin typeface="Arial"/>
            </a:endParaRPr>
          </a:p>
        </p:txBody>
      </p:sp>
      <p:sp>
        <p:nvSpPr>
          <p:cNvPr id="314" name="Text 49"/>
          <p:cNvSpPr/>
          <p:nvPr/>
        </p:nvSpPr>
        <p:spPr>
          <a:xfrm>
            <a:off x="14365440" y="5365080"/>
            <a:ext cx="31932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300" b="1" u="none" strike="noStrike">
                <a:solidFill>
                  <a:srgbClr val="2E2E2E"/>
                </a:solidFill>
                <a:effectLst/>
                <a:uFillTx/>
                <a:latin typeface="Sora"/>
                <a:ea typeface="Sora"/>
              </a:rPr>
              <a:t>G4</a:t>
            </a:r>
            <a:endParaRPr lang="en-US" sz="1300" b="0" u="none" strike="noStrike">
              <a:solidFill>
                <a:srgbClr val="000000"/>
              </a:solidFill>
              <a:effectLst/>
              <a:uFillTx/>
              <a:latin typeface="Arial"/>
            </a:endParaRPr>
          </a:p>
        </p:txBody>
      </p:sp>
      <p:sp>
        <p:nvSpPr>
          <p:cNvPr id="315" name="Text 50"/>
          <p:cNvSpPr/>
          <p:nvPr/>
        </p:nvSpPr>
        <p:spPr>
          <a:xfrm>
            <a:off x="14401800" y="5622120"/>
            <a:ext cx="246960" cy="576000"/>
          </a:xfrm>
          <a:prstGeom prst="rect">
            <a:avLst/>
          </a:prstGeom>
          <a:noFill/>
          <a:ln w="0">
            <a:noFill/>
          </a:ln>
        </p:spPr>
        <p:style>
          <a:lnRef idx="0"/>
          <a:fillRef idx="0"/>
          <a:effectRef idx="0"/>
          <a:fontRef idx="minor"/>
        </p:style>
        <p:txBody>
          <a:bodyPr lIns="25560" tIns="25560" rIns="25560" bIns="25560" anchor="t" vert="eaVert">
            <a:normAutofit/>
          </a:bodyPr>
          <a:p>
            <a:pPr defTabSz="914400">
              <a:lnSpc>
                <a:spcPct val="100000"/>
              </a:lnSpc>
              <a:tabLst>
                <a:tab pos="0" algn="l"/>
              </a:tabLst>
            </a:pPr>
            <a:r>
              <a:rPr lang="en-US" sz="1000" b="0" u="none" spc="48" strike="noStrike">
                <a:solidFill>
                  <a:srgbClr val="6E7174"/>
                </a:solidFill>
                <a:effectLst/>
                <a:uFillTx/>
                <a:latin typeface="Open Sans"/>
                <a:ea typeface="Open Sans"/>
              </a:rPr>
              <a:t>Revenue</a:t>
            </a:r>
            <a:endParaRPr lang="en-US" sz="1000" b="0" u="none" strike="noStrike">
              <a:solidFill>
                <a:srgbClr val="000000"/>
              </a:solidFill>
              <a:effectLst/>
              <a:uFillTx/>
              <a:latin typeface="Arial"/>
            </a:endParaRPr>
          </a:p>
        </p:txBody>
      </p:sp>
      <p:sp>
        <p:nvSpPr>
          <p:cNvPr id="316" name="Shape 51"/>
          <p:cNvSpPr/>
          <p:nvPr/>
        </p:nvSpPr>
        <p:spPr>
          <a:xfrm>
            <a:off x="14859000" y="4680720"/>
            <a:ext cx="2818800" cy="2163960"/>
          </a:xfrm>
          <a:prstGeom prst="rect">
            <a:avLst/>
          </a:prstGeom>
          <a:solidFill>
            <a:srgbClr val="2E2E2E"/>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7" name="Text 52"/>
          <p:cNvSpPr/>
          <p:nvPr/>
        </p:nvSpPr>
        <p:spPr>
          <a:xfrm>
            <a:off x="15068520" y="4928400"/>
            <a:ext cx="2639520"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600" b="1" u="none" strike="noStrike">
                <a:solidFill>
                  <a:srgbClr val="FFFFFF"/>
                </a:solidFill>
                <a:effectLst/>
                <a:uFillTx/>
                <a:latin typeface="Sora"/>
                <a:ea typeface="Sora"/>
              </a:rPr>
              <a:t>Phase 4</a:t>
            </a:r>
            <a:endParaRPr lang="en-US" sz="1600" b="0" u="none" strike="noStrike">
              <a:solidFill>
                <a:srgbClr val="000000"/>
              </a:solidFill>
              <a:effectLst/>
              <a:uFillTx/>
              <a:latin typeface="Arial"/>
            </a:endParaRPr>
          </a:p>
        </p:txBody>
      </p:sp>
      <p:sp>
        <p:nvSpPr>
          <p:cNvPr id="318" name="Text 53"/>
          <p:cNvSpPr/>
          <p:nvPr/>
        </p:nvSpPr>
        <p:spPr>
          <a:xfrm>
            <a:off x="15068520" y="5195160"/>
            <a:ext cx="263952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C7C9CB"/>
                </a:solidFill>
                <a:effectLst/>
                <a:uFillTx/>
                <a:latin typeface="Open Sans"/>
                <a:ea typeface="Open Sans"/>
              </a:rPr>
              <a:t>Operate &amp; scale</a:t>
            </a:r>
            <a:endParaRPr lang="en-US" sz="1200" b="0" u="none" strike="noStrike">
              <a:solidFill>
                <a:srgbClr val="000000"/>
              </a:solidFill>
              <a:effectLst/>
              <a:uFillTx/>
              <a:latin typeface="Arial"/>
            </a:endParaRPr>
          </a:p>
        </p:txBody>
      </p:sp>
      <p:sp>
        <p:nvSpPr>
          <p:cNvPr id="319" name="Text 54"/>
          <p:cNvSpPr/>
          <p:nvPr/>
        </p:nvSpPr>
        <p:spPr>
          <a:xfrm>
            <a:off x="15068520" y="5537880"/>
            <a:ext cx="263952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0" u="none" strike="noStrike">
                <a:solidFill>
                  <a:srgbClr val="C7C9CB"/>
                </a:solidFill>
                <a:effectLst/>
                <a:uFillTx/>
                <a:latin typeface="Open Sans"/>
                <a:ea typeface="Open Sans"/>
              </a:rPr>
              <a:t>Months 31+</a:t>
            </a:r>
            <a:endParaRPr lang="en-US" sz="1150" b="0" u="none" strike="noStrike">
              <a:solidFill>
                <a:srgbClr val="000000"/>
              </a:solidFill>
              <a:effectLst/>
              <a:uFillTx/>
              <a:latin typeface="Arial"/>
            </a:endParaRPr>
          </a:p>
        </p:txBody>
      </p:sp>
      <p:sp>
        <p:nvSpPr>
          <p:cNvPr id="320" name="Text 55"/>
          <p:cNvSpPr/>
          <p:nvPr/>
        </p:nvSpPr>
        <p:spPr>
          <a:xfrm>
            <a:off x="15068520" y="5785560"/>
            <a:ext cx="2639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FFFFFF"/>
                </a:solidFill>
                <a:effectLst/>
                <a:uFillTx/>
                <a:latin typeface="Open Sans"/>
                <a:ea typeface="Open Sans"/>
              </a:rPr>
              <a:t>Variable</a:t>
            </a:r>
            <a:endParaRPr lang="en-US" sz="1350" b="0" u="none" strike="noStrike">
              <a:solidFill>
                <a:srgbClr val="000000"/>
              </a:solidFill>
              <a:effectLst/>
              <a:uFillTx/>
              <a:latin typeface="Arial"/>
            </a:endParaRPr>
          </a:p>
        </p:txBody>
      </p:sp>
      <p:sp>
        <p:nvSpPr>
          <p:cNvPr id="321" name="Text 56"/>
          <p:cNvSpPr/>
          <p:nvPr/>
        </p:nvSpPr>
        <p:spPr>
          <a:xfrm>
            <a:off x="15068520" y="6138000"/>
            <a:ext cx="2639520"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pPr>
            <a:r>
              <a:rPr lang="en-US" sz="1150" b="0" u="none" strike="noStrike">
                <a:solidFill>
                  <a:srgbClr val="C7C9CB"/>
                </a:solidFill>
                <a:effectLst/>
                <a:uFillTx/>
                <a:latin typeface="Open Sans"/>
                <a:ea typeface="Open Sans"/>
              </a:rPr>
              <a:t>Operations, monitoring, replication</a:t>
            </a:r>
            <a:endParaRPr lang="en-US" sz="1150" b="0" u="none" strike="noStrike">
              <a:solidFill>
                <a:srgbClr val="000000"/>
              </a:solidFill>
              <a:effectLst/>
              <a:uFillTx/>
              <a:latin typeface="Arial"/>
            </a:endParaRPr>
          </a:p>
        </p:txBody>
      </p:sp>
      <p:sp>
        <p:nvSpPr>
          <p:cNvPr id="322" name="Shape 57"/>
          <p:cNvSpPr/>
          <p:nvPr/>
        </p:nvSpPr>
        <p:spPr>
          <a:xfrm>
            <a:off x="609480" y="9051480"/>
            <a:ext cx="17067960" cy="549000"/>
          </a:xfrm>
          <a:prstGeom prst="rect">
            <a:avLst/>
          </a:prstGeom>
          <a:solidFill>
            <a:srgbClr val="FBEF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3" name="Shape 58"/>
          <p:cNvSpPr/>
          <p:nvPr/>
        </p:nvSpPr>
        <p:spPr>
          <a:xfrm>
            <a:off x="609480" y="9051480"/>
            <a:ext cx="37440" cy="549000"/>
          </a:xfrm>
          <a:prstGeom prst="rect">
            <a:avLst/>
          </a:prstGeom>
          <a:solidFill>
            <a:srgbClr val="E58520"/>
          </a:solidFill>
          <a:ln w="0">
            <a:noFill/>
          </a:ln>
        </p:spPr>
        <p:style>
          <a:lnRef idx="0"/>
          <a:fillRef idx="0"/>
          <a:effectRef idx="0"/>
          <a:fontRef idx="minor"/>
        </p:style>
        <p:txBody>
          <a:bodyPr lIns="18720" tIns="45000" rIns="18720" bIns="45000" anchor="t">
            <a:noAutofit/>
          </a:bodyPr>
          <a:p>
            <a:endParaRPr lang="en-US" sz="1800" b="0" u="none" strike="noStrike">
              <a:solidFill>
                <a:srgbClr val="FFFFFF"/>
              </a:solidFill>
              <a:effectLst/>
              <a:uFillTx/>
              <a:latin typeface="Arial"/>
            </a:endParaRPr>
          </a:p>
        </p:txBody>
      </p:sp>
      <p:sp>
        <p:nvSpPr>
          <p:cNvPr id="324" name="Text 59"/>
          <p:cNvSpPr/>
          <p:nvPr/>
        </p:nvSpPr>
        <p:spPr>
          <a:xfrm>
            <a:off x="857160" y="9204120"/>
            <a:ext cx="17123040" cy="2822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0000"/>
              </a:lnSpc>
              <a:tabLst>
                <a:tab pos="0" algn="l"/>
              </a:tabLst>
            </a:pPr>
            <a:r>
              <a:rPr lang="en-US" sz="1350" b="0" u="none" strike="noStrike">
                <a:solidFill>
                  <a:srgbClr val="6E7174"/>
                </a:solidFill>
                <a:effectLst/>
                <a:highlight>
                  <a:srgbClr val="FBEFE0"/>
                </a:highlight>
                <a:uFillTx/>
                <a:latin typeface="Open Sans"/>
                <a:ea typeface="Open Sans"/>
              </a:rPr>
              <a:t>Miss a gate → </a:t>
            </a:r>
            <a:r>
              <a:rPr lang="en-US" sz="1350" b="1" u="none" strike="noStrike">
                <a:solidFill>
                  <a:srgbClr val="6E7174"/>
                </a:solidFill>
                <a:effectLst/>
                <a:uFillTx/>
                <a:latin typeface="Open Sans"/>
                <a:ea typeface="Open Sans"/>
              </a:rPr>
              <a:t>hold &amp; re-pitch </a:t>
            </a:r>
            <a:r>
              <a:rPr lang="en-US" sz="1350" b="0" u="none" strike="noStrike">
                <a:solidFill>
                  <a:srgbClr val="6E7174"/>
                </a:solidFill>
                <a:effectLst/>
                <a:highlight>
                  <a:srgbClr val="FBEFE0"/>
                </a:highlight>
                <a:uFillTx/>
                <a:latin typeface="Open Sans"/>
                <a:ea typeface="Open Sans"/>
              </a:rPr>
              <a:t>or descope. Never accelerate into an under-resourced phase. </a:t>
            </a:r>
            <a:r>
              <a:rPr lang="zh-CN" sz="1350" b="0" u="none" strike="noStrike">
                <a:solidFill>
                  <a:srgbClr val="9B9DA0"/>
                </a:solidFill>
                <a:effectLst/>
                <a:uFillTx/>
                <a:latin typeface="Noto Sans JP"/>
                <a:ea typeface="Noto Sans JP"/>
              </a:rPr>
              <a:t>ゲート未達なら保留・縮小。</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5"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326"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327" name="Text 2"/>
          <p:cNvSpPr/>
          <p:nvPr/>
        </p:nvSpPr>
        <p:spPr>
          <a:xfrm>
            <a:off x="1181160" y="800280"/>
            <a:ext cx="33436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FUNDING STACK · </a:t>
            </a:r>
            <a:r>
              <a:rPr lang="zh-CN" sz="1300" b="1" u="none" spc="204" strike="noStrike">
                <a:solidFill>
                  <a:srgbClr val="9B9DA0"/>
                </a:solidFill>
                <a:effectLst/>
                <a:uFillTx/>
                <a:latin typeface="Open Sans"/>
                <a:ea typeface="Open Sans"/>
              </a:rPr>
              <a:t>資金構成 </a:t>
            </a:r>
            <a:r>
              <a:rPr lang="en-US" sz="1300" b="1" u="none" spc="204" strike="noStrike">
                <a:solidFill>
                  <a:srgbClr val="9B9DA0"/>
                </a:solidFill>
                <a:effectLst/>
                <a:uFillTx/>
                <a:latin typeface="Open Sans"/>
                <a:ea typeface="Open Sans"/>
              </a:rPr>
              <a:t>· 11</a:t>
            </a:r>
            <a:endParaRPr lang="en-US" sz="1300" b="0" u="none" strike="noStrike">
              <a:solidFill>
                <a:srgbClr val="000000"/>
              </a:solidFill>
              <a:effectLst/>
              <a:uFillTx/>
              <a:latin typeface="Arial"/>
            </a:endParaRPr>
          </a:p>
        </p:txBody>
      </p:sp>
      <p:sp>
        <p:nvSpPr>
          <p:cNvPr id="328" name="Text 3"/>
          <p:cNvSpPr/>
          <p:nvPr/>
        </p:nvSpPr>
        <p:spPr>
          <a:xfrm>
            <a:off x="609480" y="1228680"/>
            <a:ext cx="11005560" cy="620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pPr>
            <a:r>
              <a:rPr lang="en-US" sz="4500" b="1" u="none" spc="-45" strike="noStrike">
                <a:solidFill>
                  <a:srgbClr val="2E2E2E"/>
                </a:solidFill>
                <a:effectLst/>
                <a:uFillTx/>
                <a:latin typeface="Sora"/>
                <a:ea typeface="Sora"/>
              </a:rPr>
              <a:t>Five layers, staged over three years</a:t>
            </a:r>
            <a:endParaRPr lang="en-US" sz="4500" b="0" u="none" strike="noStrike">
              <a:solidFill>
                <a:srgbClr val="000000"/>
              </a:solidFill>
              <a:effectLst/>
              <a:uFillTx/>
              <a:latin typeface="Arial"/>
            </a:endParaRPr>
          </a:p>
        </p:txBody>
      </p:sp>
      <p:sp>
        <p:nvSpPr>
          <p:cNvPr id="329" name="Text 4"/>
          <p:cNvSpPr/>
          <p:nvPr/>
        </p:nvSpPr>
        <p:spPr>
          <a:xfrm>
            <a:off x="609480" y="1887840"/>
            <a:ext cx="1100556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00" b="0" u="none" strike="noStrike">
                <a:solidFill>
                  <a:srgbClr val="6E7174"/>
                </a:solidFill>
                <a:effectLst/>
                <a:uFillTx/>
                <a:latin typeface="Noto Sans JP"/>
                <a:ea typeface="Noto Sans JP"/>
              </a:rPr>
              <a:t>五層の資金 — 単一財源に依存しない。</a:t>
            </a:r>
            <a:endParaRPr lang="en-US" sz="1900" b="0" u="none" strike="noStrike">
              <a:solidFill>
                <a:srgbClr val="000000"/>
              </a:solidFill>
              <a:effectLst/>
              <a:uFillTx/>
              <a:latin typeface="Arial"/>
            </a:endParaRPr>
          </a:p>
        </p:txBody>
      </p:sp>
      <p:sp>
        <p:nvSpPr>
          <p:cNvPr id="330" name="Text 5"/>
          <p:cNvSpPr/>
          <p:nvPr/>
        </p:nvSpPr>
        <p:spPr>
          <a:xfrm>
            <a:off x="14694840" y="1468800"/>
            <a:ext cx="298296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pc="136" strike="noStrike">
                <a:solidFill>
                  <a:srgbClr val="A9ABAE"/>
                </a:solidFill>
                <a:effectLst/>
                <a:uFillTx/>
                <a:latin typeface="Open Sans"/>
                <a:ea typeface="Open Sans"/>
              </a:rPr>
              <a:t>YEAR 1 → YEAR 3</a:t>
            </a:r>
            <a:endParaRPr lang="en-US" sz="1150" b="0" u="none" strike="noStrike">
              <a:solidFill>
                <a:srgbClr val="000000"/>
              </a:solidFill>
              <a:effectLst/>
              <a:uFillTx/>
              <a:latin typeface="Arial"/>
            </a:endParaRPr>
          </a:p>
        </p:txBody>
      </p:sp>
      <p:sp>
        <p:nvSpPr>
          <p:cNvPr id="331" name="Text 6"/>
          <p:cNvSpPr/>
          <p:nvPr/>
        </p:nvSpPr>
        <p:spPr>
          <a:xfrm>
            <a:off x="14694840" y="1697400"/>
            <a:ext cx="2982960" cy="5230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3000" b="1" u="none" strike="noStrike">
                <a:solidFill>
                  <a:srgbClr val="2E2E2E"/>
                </a:solidFill>
                <a:effectLst/>
                <a:uFillTx/>
                <a:latin typeface="Sora"/>
                <a:ea typeface="Sora"/>
              </a:rPr>
              <a:t>¥11M </a:t>
            </a:r>
            <a:r>
              <a:rPr lang="en-US" sz="3000" b="1" u="none" strike="noStrike">
                <a:solidFill>
                  <a:srgbClr val="E58520"/>
                </a:solidFill>
                <a:effectLst/>
                <a:uFillTx/>
                <a:latin typeface="Sora"/>
                <a:ea typeface="Sora"/>
              </a:rPr>
              <a:t>→ </a:t>
            </a:r>
            <a:r>
              <a:rPr lang="en-US" sz="3000" b="1" u="none" strike="noStrike">
                <a:solidFill>
                  <a:srgbClr val="2E2E2E"/>
                </a:solidFill>
                <a:effectLst/>
                <a:uFillTx/>
                <a:latin typeface="Sora"/>
                <a:ea typeface="Sora"/>
              </a:rPr>
              <a:t>¥134M</a:t>
            </a:r>
            <a:endParaRPr lang="en-US" sz="3000" b="0" u="none" strike="noStrike">
              <a:solidFill>
                <a:srgbClr val="000000"/>
              </a:solidFill>
              <a:effectLst/>
              <a:uFillTx/>
              <a:latin typeface="Arial"/>
            </a:endParaRPr>
          </a:p>
        </p:txBody>
      </p:sp>
      <p:sp>
        <p:nvSpPr>
          <p:cNvPr id="332" name="Shape 7"/>
          <p:cNvSpPr/>
          <p:nvPr/>
        </p:nvSpPr>
        <p:spPr>
          <a:xfrm>
            <a:off x="609480" y="4558680"/>
            <a:ext cx="17067960" cy="18360"/>
          </a:xfrm>
          <a:prstGeom prst="rect">
            <a:avLst/>
          </a:prstGeom>
          <a:solidFill>
            <a:srgbClr val="2E2E2E"/>
          </a:solidFill>
          <a:ln w="0">
            <a:noFill/>
          </a:ln>
        </p:spPr>
        <p:style>
          <a:lnRef idx="0"/>
          <a:fillRef idx="0"/>
          <a:effectRef idx="0"/>
          <a:fontRef idx="minor"/>
        </p:style>
        <p:txBody>
          <a:bodyPr lIns="90000" tIns="-25920" rIns="90000" bIns="-25920" anchor="t">
            <a:noAutofit/>
          </a:bodyPr>
          <a:p>
            <a:endParaRPr lang="en-US" sz="1800" b="0" u="none" strike="noStrike">
              <a:solidFill>
                <a:srgbClr val="FFFFFF"/>
              </a:solidFill>
              <a:effectLst/>
              <a:uFillTx/>
              <a:latin typeface="Arial"/>
            </a:endParaRPr>
          </a:p>
        </p:txBody>
      </p:sp>
      <p:sp>
        <p:nvSpPr>
          <p:cNvPr id="333" name="Text 8"/>
          <p:cNvSpPr/>
          <p:nvPr/>
        </p:nvSpPr>
        <p:spPr>
          <a:xfrm>
            <a:off x="1390680" y="4206240"/>
            <a:ext cx="1177596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1" u="none" spc="113" strike="noStrike">
                <a:solidFill>
                  <a:srgbClr val="A9ABAE"/>
                </a:solidFill>
                <a:effectLst/>
                <a:uFillTx/>
                <a:latin typeface="Open Sans"/>
                <a:ea typeface="Open Sans"/>
              </a:rPr>
              <a:t>SOURCE · </a:t>
            </a:r>
            <a:r>
              <a:rPr lang="zh-CN" sz="1150" b="1" u="none" spc="113" strike="noStrike">
                <a:solidFill>
                  <a:srgbClr val="A9ABAE"/>
                </a:solidFill>
                <a:effectLst/>
                <a:uFillTx/>
                <a:latin typeface="Open Sans"/>
                <a:ea typeface="Open Sans"/>
              </a:rPr>
              <a:t>財源</a:t>
            </a:r>
            <a:endParaRPr lang="en-US" sz="1150" b="0" u="none" strike="noStrike">
              <a:solidFill>
                <a:srgbClr val="000000"/>
              </a:solidFill>
              <a:effectLst/>
              <a:uFillTx/>
              <a:latin typeface="Arial"/>
            </a:endParaRPr>
          </a:p>
        </p:txBody>
      </p:sp>
      <p:sp>
        <p:nvSpPr>
          <p:cNvPr id="334" name="Text 9"/>
          <p:cNvSpPr/>
          <p:nvPr/>
        </p:nvSpPr>
        <p:spPr>
          <a:xfrm>
            <a:off x="14468400" y="4220640"/>
            <a:ext cx="157104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pc="113" strike="noStrike">
                <a:solidFill>
                  <a:srgbClr val="A9ABAE"/>
                </a:solidFill>
                <a:effectLst/>
                <a:uFillTx/>
                <a:latin typeface="Open Sans"/>
                <a:ea typeface="Open Sans"/>
              </a:rPr>
              <a:t>YEAR 1</a:t>
            </a:r>
            <a:endParaRPr lang="en-US" sz="1150" b="0" u="none" strike="noStrike">
              <a:solidFill>
                <a:srgbClr val="000000"/>
              </a:solidFill>
              <a:effectLst/>
              <a:uFillTx/>
              <a:latin typeface="Arial"/>
            </a:endParaRPr>
          </a:p>
        </p:txBody>
      </p:sp>
      <p:sp>
        <p:nvSpPr>
          <p:cNvPr id="335" name="Text 10"/>
          <p:cNvSpPr/>
          <p:nvPr/>
        </p:nvSpPr>
        <p:spPr>
          <a:xfrm>
            <a:off x="16106760" y="4220640"/>
            <a:ext cx="157104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150" b="1" u="none" spc="113" strike="noStrike">
                <a:solidFill>
                  <a:srgbClr val="A9ABAE"/>
                </a:solidFill>
                <a:effectLst/>
                <a:uFillTx/>
                <a:latin typeface="Open Sans"/>
                <a:ea typeface="Open Sans"/>
              </a:rPr>
              <a:t>YEAR 3</a:t>
            </a:r>
            <a:endParaRPr lang="en-US" sz="1150" b="0" u="none" strike="noStrike">
              <a:solidFill>
                <a:srgbClr val="000000"/>
              </a:solidFill>
              <a:effectLst/>
              <a:uFillTx/>
              <a:latin typeface="Arial"/>
            </a:endParaRPr>
          </a:p>
        </p:txBody>
      </p:sp>
      <p:sp>
        <p:nvSpPr>
          <p:cNvPr id="336" name="Shape 11"/>
          <p:cNvSpPr/>
          <p:nvPr/>
        </p:nvSpPr>
        <p:spPr>
          <a:xfrm>
            <a:off x="609480" y="51872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37" name="Text 12"/>
          <p:cNvSpPr/>
          <p:nvPr/>
        </p:nvSpPr>
        <p:spPr>
          <a:xfrm>
            <a:off x="609480" y="478260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1" u="none" strike="noStrike">
                <a:solidFill>
                  <a:srgbClr val="9B9DA0"/>
                </a:solidFill>
                <a:effectLst/>
                <a:uFillTx/>
                <a:latin typeface="Sora"/>
                <a:ea typeface="Sora"/>
              </a:rPr>
              <a:t>L1</a:t>
            </a:r>
            <a:endParaRPr lang="en-US" sz="1200" b="0" u="none" strike="noStrike">
              <a:solidFill>
                <a:srgbClr val="000000"/>
              </a:solidFill>
              <a:effectLst/>
              <a:uFillTx/>
              <a:latin typeface="Arial"/>
            </a:endParaRPr>
          </a:p>
        </p:txBody>
      </p:sp>
      <p:sp>
        <p:nvSpPr>
          <p:cNvPr id="338" name="Text 13"/>
          <p:cNvSpPr/>
          <p:nvPr/>
        </p:nvSpPr>
        <p:spPr>
          <a:xfrm>
            <a:off x="1390680" y="473976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2E2E2E"/>
                </a:solidFill>
                <a:effectLst/>
                <a:uFillTx/>
                <a:latin typeface="Open Sans"/>
                <a:ea typeface="Open Sans"/>
              </a:rPr>
              <a:t>Founder / private capital </a:t>
            </a:r>
            <a:r>
              <a:rPr lang="zh-CN" sz="1200" b="1" u="none" strike="noStrike">
                <a:solidFill>
                  <a:srgbClr val="9B9DA0"/>
                </a:solidFill>
                <a:effectLst/>
                <a:uFillTx/>
                <a:latin typeface="Noto Sans JP"/>
                <a:ea typeface="Noto Sans JP"/>
              </a:rPr>
              <a:t>自己資金</a:t>
            </a:r>
            <a:endParaRPr lang="en-US" sz="1200" b="0" u="none" strike="noStrike">
              <a:solidFill>
                <a:srgbClr val="000000"/>
              </a:solidFill>
              <a:effectLst/>
              <a:uFillTx/>
              <a:latin typeface="Arial"/>
            </a:endParaRPr>
          </a:p>
        </p:txBody>
      </p:sp>
      <p:sp>
        <p:nvSpPr>
          <p:cNvPr id="339" name="Shape 14"/>
          <p:cNvSpPr/>
          <p:nvPr/>
        </p:nvSpPr>
        <p:spPr>
          <a:xfrm>
            <a:off x="12306240" y="48157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0" name="Shape 15"/>
          <p:cNvSpPr/>
          <p:nvPr/>
        </p:nvSpPr>
        <p:spPr>
          <a:xfrm>
            <a:off x="12306240" y="4815720"/>
            <a:ext cx="167040" cy="132480"/>
          </a:xfrm>
          <a:prstGeom prst="rect">
            <a:avLst/>
          </a:prstGeom>
          <a:solidFill>
            <a:srgbClr val="C7C9CB"/>
          </a:solidFill>
          <a:ln w="0">
            <a:noFill/>
          </a:ln>
        </p:spPr>
        <p:style>
          <a:lnRef idx="0"/>
          <a:fillRef idx="0"/>
          <a:effectRef idx="0"/>
          <a:fontRef idx="minor"/>
        </p:style>
        <p:txBody>
          <a:bodyPr lIns="83520" tIns="45000" rIns="83520" bIns="45000" anchor="t">
            <a:noAutofit/>
          </a:bodyPr>
          <a:p>
            <a:endParaRPr lang="en-US" sz="1800" b="0" u="none" strike="noStrike">
              <a:solidFill>
                <a:srgbClr val="000000"/>
              </a:solidFill>
              <a:effectLst/>
              <a:uFillTx/>
              <a:latin typeface="Arial"/>
            </a:endParaRPr>
          </a:p>
        </p:txBody>
      </p:sp>
      <p:sp>
        <p:nvSpPr>
          <p:cNvPr id="341" name="Text 16"/>
          <p:cNvSpPr/>
          <p:nvPr/>
        </p:nvSpPr>
        <p:spPr>
          <a:xfrm>
            <a:off x="14468400" y="47538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500" b="1" u="none" strike="noStrike">
                <a:solidFill>
                  <a:srgbClr val="6E7174"/>
                </a:solidFill>
                <a:effectLst/>
                <a:uFillTx/>
                <a:latin typeface="Open Sans"/>
                <a:ea typeface="Open Sans"/>
              </a:rPr>
              <a:t>¥3M</a:t>
            </a:r>
            <a:endParaRPr lang="en-US" sz="1500" b="0" u="none" strike="noStrike">
              <a:solidFill>
                <a:srgbClr val="000000"/>
              </a:solidFill>
              <a:effectLst/>
              <a:uFillTx/>
              <a:latin typeface="Arial"/>
            </a:endParaRPr>
          </a:p>
        </p:txBody>
      </p:sp>
      <p:sp>
        <p:nvSpPr>
          <p:cNvPr id="342" name="Text 17"/>
          <p:cNvSpPr/>
          <p:nvPr/>
        </p:nvSpPr>
        <p:spPr>
          <a:xfrm>
            <a:off x="16106760" y="473976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650" b="1" u="none" strike="noStrike">
                <a:solidFill>
                  <a:srgbClr val="2E2E2E"/>
                </a:solidFill>
                <a:effectLst/>
                <a:uFillTx/>
                <a:latin typeface="Open Sans"/>
                <a:ea typeface="Open Sans"/>
              </a:rPr>
              <a:t>¥1M</a:t>
            </a:r>
            <a:endParaRPr lang="en-US" sz="1650" b="0" u="none" strike="noStrike">
              <a:solidFill>
                <a:srgbClr val="000000"/>
              </a:solidFill>
              <a:effectLst/>
              <a:uFillTx/>
              <a:latin typeface="Arial"/>
            </a:endParaRPr>
          </a:p>
        </p:txBody>
      </p:sp>
      <p:sp>
        <p:nvSpPr>
          <p:cNvPr id="343" name="Shape 18"/>
          <p:cNvSpPr/>
          <p:nvPr/>
        </p:nvSpPr>
        <p:spPr>
          <a:xfrm>
            <a:off x="609480" y="58064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44" name="Text 19"/>
          <p:cNvSpPr/>
          <p:nvPr/>
        </p:nvSpPr>
        <p:spPr>
          <a:xfrm>
            <a:off x="609480" y="540180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1" u="none" strike="noStrike">
                <a:solidFill>
                  <a:srgbClr val="9B9DA0"/>
                </a:solidFill>
                <a:effectLst/>
                <a:uFillTx/>
                <a:latin typeface="Sora"/>
                <a:ea typeface="Sora"/>
              </a:rPr>
              <a:t>L2</a:t>
            </a:r>
            <a:endParaRPr lang="en-US" sz="1200" b="0" u="none" strike="noStrike">
              <a:solidFill>
                <a:srgbClr val="000000"/>
              </a:solidFill>
              <a:effectLst/>
              <a:uFillTx/>
              <a:latin typeface="Arial"/>
            </a:endParaRPr>
          </a:p>
        </p:txBody>
      </p:sp>
      <p:sp>
        <p:nvSpPr>
          <p:cNvPr id="345" name="Text 20"/>
          <p:cNvSpPr/>
          <p:nvPr/>
        </p:nvSpPr>
        <p:spPr>
          <a:xfrm>
            <a:off x="1390680" y="53586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2E2E2E"/>
                </a:solidFill>
                <a:effectLst/>
                <a:uFillTx/>
                <a:latin typeface="Open Sans"/>
                <a:ea typeface="Open Sans"/>
              </a:rPr>
              <a:t>Government grants </a:t>
            </a:r>
            <a:r>
              <a:rPr lang="zh-CN" sz="1200" b="1" u="none" strike="noStrike">
                <a:solidFill>
                  <a:srgbClr val="9B9DA0"/>
                </a:solidFill>
                <a:effectLst/>
                <a:uFillTx/>
                <a:latin typeface="Noto Sans JP"/>
                <a:ea typeface="Noto Sans JP"/>
              </a:rPr>
              <a:t>補助金（</a:t>
            </a:r>
            <a:r>
              <a:rPr lang="en-US" sz="1200" b="1" u="none" strike="noStrike">
                <a:solidFill>
                  <a:srgbClr val="9B9DA0"/>
                </a:solidFill>
                <a:effectLst/>
                <a:uFillTx/>
                <a:latin typeface="Noto Sans JP"/>
                <a:ea typeface="Noto Sans JP"/>
              </a:rPr>
              <a:t>NEDO</a:t>
            </a:r>
            <a:r>
              <a:rPr lang="zh-CN" sz="1200" b="1" u="none" strike="noStrike">
                <a:solidFill>
                  <a:srgbClr val="9B9DA0"/>
                </a:solidFill>
                <a:effectLst/>
                <a:uFillTx/>
                <a:latin typeface="Noto Sans JP"/>
                <a:ea typeface="Noto Sans JP"/>
              </a:rPr>
              <a:t>・</a:t>
            </a:r>
            <a:r>
              <a:rPr lang="en-US" sz="1200" b="1" u="none" strike="noStrike">
                <a:solidFill>
                  <a:srgbClr val="9B9DA0"/>
                </a:solidFill>
                <a:effectLst/>
                <a:uFillTx/>
                <a:latin typeface="Noto Sans JP"/>
                <a:ea typeface="Noto Sans JP"/>
              </a:rPr>
              <a:t>METI</a:t>
            </a:r>
            <a:r>
              <a:rPr lang="zh-CN" sz="1200" b="1" u="none" strike="noStrike">
                <a:solidFill>
                  <a:srgbClr val="9B9DA0"/>
                </a:solidFill>
                <a:effectLst/>
                <a:uFillTx/>
                <a:latin typeface="Noto Sans JP"/>
                <a:ea typeface="Noto Sans JP"/>
              </a:rPr>
              <a:t>・奈良県・村）</a:t>
            </a:r>
            <a:endParaRPr lang="en-US" sz="1200" b="0" u="none" strike="noStrike">
              <a:solidFill>
                <a:srgbClr val="000000"/>
              </a:solidFill>
              <a:effectLst/>
              <a:uFillTx/>
              <a:latin typeface="Arial"/>
            </a:endParaRPr>
          </a:p>
        </p:txBody>
      </p:sp>
      <p:sp>
        <p:nvSpPr>
          <p:cNvPr id="346" name="Shape 21"/>
          <p:cNvSpPr/>
          <p:nvPr/>
        </p:nvSpPr>
        <p:spPr>
          <a:xfrm>
            <a:off x="12306240" y="54349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7" name="Shape 22"/>
          <p:cNvSpPr/>
          <p:nvPr/>
        </p:nvSpPr>
        <p:spPr>
          <a:xfrm>
            <a:off x="12306240" y="5434920"/>
            <a:ext cx="1256760" cy="13248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8" name="Text 23"/>
          <p:cNvSpPr/>
          <p:nvPr/>
        </p:nvSpPr>
        <p:spPr>
          <a:xfrm>
            <a:off x="14468400" y="53730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500" b="1" u="none" strike="noStrike">
                <a:solidFill>
                  <a:srgbClr val="6E7174"/>
                </a:solidFill>
                <a:effectLst/>
                <a:uFillTx/>
                <a:latin typeface="Open Sans"/>
                <a:ea typeface="Open Sans"/>
              </a:rPr>
              <a:t>¥5M</a:t>
            </a:r>
            <a:endParaRPr lang="en-US" sz="1500" b="0" u="none" strike="noStrike">
              <a:solidFill>
                <a:srgbClr val="000000"/>
              </a:solidFill>
              <a:effectLst/>
              <a:uFillTx/>
              <a:latin typeface="Arial"/>
            </a:endParaRPr>
          </a:p>
        </p:txBody>
      </p:sp>
      <p:sp>
        <p:nvSpPr>
          <p:cNvPr id="349" name="Text 24"/>
          <p:cNvSpPr/>
          <p:nvPr/>
        </p:nvSpPr>
        <p:spPr>
          <a:xfrm>
            <a:off x="16106760" y="53586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650" b="1" u="none" strike="noStrike">
                <a:solidFill>
                  <a:srgbClr val="C26A12"/>
                </a:solidFill>
                <a:effectLst/>
                <a:uFillTx/>
                <a:latin typeface="Open Sans"/>
                <a:ea typeface="Open Sans"/>
              </a:rPr>
              <a:t>¥80M</a:t>
            </a:r>
            <a:endParaRPr lang="en-US" sz="1650" b="0" u="none" strike="noStrike">
              <a:solidFill>
                <a:srgbClr val="000000"/>
              </a:solidFill>
              <a:effectLst/>
              <a:uFillTx/>
              <a:latin typeface="Arial"/>
            </a:endParaRPr>
          </a:p>
        </p:txBody>
      </p:sp>
      <p:sp>
        <p:nvSpPr>
          <p:cNvPr id="350" name="Shape 25"/>
          <p:cNvSpPr/>
          <p:nvPr/>
        </p:nvSpPr>
        <p:spPr>
          <a:xfrm>
            <a:off x="609480" y="64256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51" name="Text 26"/>
          <p:cNvSpPr/>
          <p:nvPr/>
        </p:nvSpPr>
        <p:spPr>
          <a:xfrm>
            <a:off x="609480" y="602064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1" u="none" strike="noStrike">
                <a:solidFill>
                  <a:srgbClr val="9B9DA0"/>
                </a:solidFill>
                <a:effectLst/>
                <a:uFillTx/>
                <a:latin typeface="Sora"/>
                <a:ea typeface="Sora"/>
              </a:rPr>
              <a:t>L3</a:t>
            </a:r>
            <a:endParaRPr lang="en-US" sz="1200" b="0" u="none" strike="noStrike">
              <a:solidFill>
                <a:srgbClr val="000000"/>
              </a:solidFill>
              <a:effectLst/>
              <a:uFillTx/>
              <a:latin typeface="Arial"/>
            </a:endParaRPr>
          </a:p>
        </p:txBody>
      </p:sp>
      <p:sp>
        <p:nvSpPr>
          <p:cNvPr id="352" name="Text 27"/>
          <p:cNvSpPr/>
          <p:nvPr/>
        </p:nvSpPr>
        <p:spPr>
          <a:xfrm>
            <a:off x="1390680" y="59778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2E2E2E"/>
                </a:solidFill>
                <a:effectLst/>
                <a:uFillTx/>
                <a:latin typeface="Open Sans"/>
                <a:ea typeface="Open Sans"/>
              </a:rPr>
              <a:t>Foundations </a:t>
            </a:r>
            <a:r>
              <a:rPr lang="zh-CN" sz="1200" b="1" u="none" strike="noStrike">
                <a:solidFill>
                  <a:srgbClr val="9B9DA0"/>
                </a:solidFill>
                <a:effectLst/>
                <a:uFillTx/>
                <a:latin typeface="Noto Sans JP"/>
                <a:ea typeface="Noto Sans JP"/>
              </a:rPr>
              <a:t>財団（日本財団 ほか）</a:t>
            </a:r>
            <a:endParaRPr lang="en-US" sz="1200" b="0" u="none" strike="noStrike">
              <a:solidFill>
                <a:srgbClr val="000000"/>
              </a:solidFill>
              <a:effectLst/>
              <a:uFillTx/>
              <a:latin typeface="Arial"/>
            </a:endParaRPr>
          </a:p>
        </p:txBody>
      </p:sp>
      <p:sp>
        <p:nvSpPr>
          <p:cNvPr id="353" name="Shape 28"/>
          <p:cNvSpPr/>
          <p:nvPr/>
        </p:nvSpPr>
        <p:spPr>
          <a:xfrm>
            <a:off x="12306240" y="60541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4" name="Shape 29"/>
          <p:cNvSpPr/>
          <p:nvPr/>
        </p:nvSpPr>
        <p:spPr>
          <a:xfrm>
            <a:off x="12306240" y="6054120"/>
            <a:ext cx="313560" cy="132480"/>
          </a:xfrm>
          <a:prstGeom prst="rect">
            <a:avLst/>
          </a:prstGeom>
          <a:solidFill>
            <a:srgbClr val="C7C9CB"/>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5" name="Text 30"/>
          <p:cNvSpPr/>
          <p:nvPr/>
        </p:nvSpPr>
        <p:spPr>
          <a:xfrm>
            <a:off x="14468400" y="59922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500" b="1" u="none" strike="noStrike">
                <a:solidFill>
                  <a:srgbClr val="6E7174"/>
                </a:solidFill>
                <a:effectLst/>
                <a:uFillTx/>
                <a:latin typeface="Open Sans"/>
                <a:ea typeface="Open Sans"/>
              </a:rPr>
              <a:t>¥3M</a:t>
            </a:r>
            <a:endParaRPr lang="en-US" sz="1500" b="0" u="none" strike="noStrike">
              <a:solidFill>
                <a:srgbClr val="000000"/>
              </a:solidFill>
              <a:effectLst/>
              <a:uFillTx/>
              <a:latin typeface="Arial"/>
            </a:endParaRPr>
          </a:p>
        </p:txBody>
      </p:sp>
      <p:sp>
        <p:nvSpPr>
          <p:cNvPr id="356" name="Text 31"/>
          <p:cNvSpPr/>
          <p:nvPr/>
        </p:nvSpPr>
        <p:spPr>
          <a:xfrm>
            <a:off x="16106760" y="59778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650" b="1" u="none" strike="noStrike">
                <a:solidFill>
                  <a:srgbClr val="2E2E2E"/>
                </a:solidFill>
                <a:effectLst/>
                <a:uFillTx/>
                <a:latin typeface="Open Sans"/>
                <a:ea typeface="Open Sans"/>
              </a:rPr>
              <a:t>¥20M</a:t>
            </a:r>
            <a:endParaRPr lang="en-US" sz="1650" b="0" u="none" strike="noStrike">
              <a:solidFill>
                <a:srgbClr val="000000"/>
              </a:solidFill>
              <a:effectLst/>
              <a:uFillTx/>
              <a:latin typeface="Arial"/>
            </a:endParaRPr>
          </a:p>
        </p:txBody>
      </p:sp>
      <p:sp>
        <p:nvSpPr>
          <p:cNvPr id="357" name="Shape 32"/>
          <p:cNvSpPr/>
          <p:nvPr/>
        </p:nvSpPr>
        <p:spPr>
          <a:xfrm>
            <a:off x="609480" y="70448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58" name="Text 33"/>
          <p:cNvSpPr/>
          <p:nvPr/>
        </p:nvSpPr>
        <p:spPr>
          <a:xfrm>
            <a:off x="609480" y="663984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1" u="none" strike="noStrike">
                <a:solidFill>
                  <a:srgbClr val="9B9DA0"/>
                </a:solidFill>
                <a:effectLst/>
                <a:uFillTx/>
                <a:latin typeface="Sora"/>
                <a:ea typeface="Sora"/>
              </a:rPr>
              <a:t>L4</a:t>
            </a:r>
            <a:endParaRPr lang="en-US" sz="1200" b="0" u="none" strike="noStrike">
              <a:solidFill>
                <a:srgbClr val="000000"/>
              </a:solidFill>
              <a:effectLst/>
              <a:uFillTx/>
              <a:latin typeface="Arial"/>
            </a:endParaRPr>
          </a:p>
        </p:txBody>
      </p:sp>
      <p:sp>
        <p:nvSpPr>
          <p:cNvPr id="359" name="Text 34"/>
          <p:cNvSpPr/>
          <p:nvPr/>
        </p:nvSpPr>
        <p:spPr>
          <a:xfrm>
            <a:off x="1390680" y="65970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2E2E2E"/>
                </a:solidFill>
                <a:effectLst/>
                <a:uFillTx/>
                <a:latin typeface="Open Sans"/>
                <a:ea typeface="Open Sans"/>
              </a:rPr>
              <a:t>Corporate partnerships </a:t>
            </a:r>
            <a:r>
              <a:rPr lang="zh-CN" sz="1200" b="1" u="none" strike="noStrike">
                <a:solidFill>
                  <a:srgbClr val="9B9DA0"/>
                </a:solidFill>
                <a:effectLst/>
                <a:uFillTx/>
                <a:latin typeface="Noto Sans JP"/>
                <a:ea typeface="Noto Sans JP"/>
              </a:rPr>
              <a:t>企業連携（</a:t>
            </a:r>
            <a:r>
              <a:rPr lang="en-US" sz="1200" b="1" u="none" strike="noStrike">
                <a:solidFill>
                  <a:srgbClr val="9B9DA0"/>
                </a:solidFill>
                <a:effectLst/>
                <a:uFillTx/>
                <a:latin typeface="Noto Sans JP"/>
                <a:ea typeface="Noto Sans JP"/>
              </a:rPr>
              <a:t>CSR</a:t>
            </a:r>
            <a:r>
              <a:rPr lang="zh-CN" sz="1200" b="1" u="none" strike="noStrike">
                <a:solidFill>
                  <a:srgbClr val="9B9DA0"/>
                </a:solidFill>
                <a:effectLst/>
                <a:uFillTx/>
                <a:latin typeface="Noto Sans JP"/>
                <a:ea typeface="Noto Sans JP"/>
              </a:rPr>
              <a:t>・蘭日）</a:t>
            </a:r>
            <a:endParaRPr lang="en-US" sz="1200" b="0" u="none" strike="noStrike">
              <a:solidFill>
                <a:srgbClr val="000000"/>
              </a:solidFill>
              <a:effectLst/>
              <a:uFillTx/>
              <a:latin typeface="Arial"/>
            </a:endParaRPr>
          </a:p>
        </p:txBody>
      </p:sp>
      <p:sp>
        <p:nvSpPr>
          <p:cNvPr id="360" name="Shape 35"/>
          <p:cNvSpPr/>
          <p:nvPr/>
        </p:nvSpPr>
        <p:spPr>
          <a:xfrm>
            <a:off x="12306240" y="66733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1" name="Shape 36"/>
          <p:cNvSpPr/>
          <p:nvPr/>
        </p:nvSpPr>
        <p:spPr>
          <a:xfrm>
            <a:off x="12306240" y="6673320"/>
            <a:ext cx="460440" cy="132480"/>
          </a:xfrm>
          <a:prstGeom prst="rect">
            <a:avLst/>
          </a:prstGeom>
          <a:solidFill>
            <a:srgbClr val="C7C9CB"/>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2" name="Text 37"/>
          <p:cNvSpPr/>
          <p:nvPr/>
        </p:nvSpPr>
        <p:spPr>
          <a:xfrm>
            <a:off x="14468400" y="66114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500" b="1" u="none" strike="noStrike">
                <a:solidFill>
                  <a:srgbClr val="6E7174"/>
                </a:solidFill>
                <a:effectLst/>
                <a:uFillTx/>
                <a:latin typeface="Open Sans"/>
                <a:ea typeface="Open Sans"/>
              </a:rPr>
              <a:t>—</a:t>
            </a:r>
            <a:endParaRPr lang="en-US" sz="1500" b="0" u="none" strike="noStrike">
              <a:solidFill>
                <a:srgbClr val="000000"/>
              </a:solidFill>
              <a:effectLst/>
              <a:uFillTx/>
              <a:latin typeface="Arial"/>
            </a:endParaRPr>
          </a:p>
        </p:txBody>
      </p:sp>
      <p:sp>
        <p:nvSpPr>
          <p:cNvPr id="363" name="Text 38"/>
          <p:cNvSpPr/>
          <p:nvPr/>
        </p:nvSpPr>
        <p:spPr>
          <a:xfrm>
            <a:off x="16106760" y="65970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650" b="1" u="none" strike="noStrike">
                <a:solidFill>
                  <a:srgbClr val="2E2E2E"/>
                </a:solidFill>
                <a:effectLst/>
                <a:uFillTx/>
                <a:latin typeface="Open Sans"/>
                <a:ea typeface="Open Sans"/>
              </a:rPr>
              <a:t>¥30M</a:t>
            </a:r>
            <a:endParaRPr lang="en-US" sz="1650" b="0" u="none" strike="noStrike">
              <a:solidFill>
                <a:srgbClr val="000000"/>
              </a:solidFill>
              <a:effectLst/>
              <a:uFillTx/>
              <a:latin typeface="Arial"/>
            </a:endParaRPr>
          </a:p>
        </p:txBody>
      </p:sp>
      <p:sp>
        <p:nvSpPr>
          <p:cNvPr id="364" name="Shape 39"/>
          <p:cNvSpPr/>
          <p:nvPr/>
        </p:nvSpPr>
        <p:spPr>
          <a:xfrm>
            <a:off x="609480" y="766368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endParaRPr lang="en-US" sz="1800" b="0" u="none" strike="noStrike">
              <a:solidFill>
                <a:srgbClr val="000000"/>
              </a:solidFill>
              <a:effectLst/>
              <a:uFillTx/>
              <a:latin typeface="Arial"/>
            </a:endParaRPr>
          </a:p>
        </p:txBody>
      </p:sp>
      <p:sp>
        <p:nvSpPr>
          <p:cNvPr id="365" name="Text 40"/>
          <p:cNvSpPr/>
          <p:nvPr/>
        </p:nvSpPr>
        <p:spPr>
          <a:xfrm>
            <a:off x="609480" y="725904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1" u="none" strike="noStrike">
                <a:solidFill>
                  <a:srgbClr val="E58520"/>
                </a:solidFill>
                <a:effectLst/>
                <a:uFillTx/>
                <a:latin typeface="Sora"/>
                <a:ea typeface="Sora"/>
              </a:rPr>
              <a:t>L5</a:t>
            </a:r>
            <a:endParaRPr lang="en-US" sz="1200" b="0" u="none" strike="noStrike">
              <a:solidFill>
                <a:srgbClr val="000000"/>
              </a:solidFill>
              <a:effectLst/>
              <a:uFillTx/>
              <a:latin typeface="Arial"/>
            </a:endParaRPr>
          </a:p>
        </p:txBody>
      </p:sp>
      <p:sp>
        <p:nvSpPr>
          <p:cNvPr id="366" name="Text 41"/>
          <p:cNvSpPr/>
          <p:nvPr/>
        </p:nvSpPr>
        <p:spPr>
          <a:xfrm>
            <a:off x="1390680" y="72162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50" b="1" u="none" strike="noStrike">
                <a:solidFill>
                  <a:srgbClr val="2E2E2E"/>
                </a:solidFill>
                <a:effectLst/>
                <a:uFillTx/>
                <a:latin typeface="Open Sans"/>
                <a:ea typeface="Open Sans"/>
              </a:rPr>
              <a:t>Operating revenue </a:t>
            </a:r>
            <a:r>
              <a:rPr lang="zh-CN" sz="1200" b="1" u="none" strike="noStrike">
                <a:solidFill>
                  <a:srgbClr val="9B9DA0"/>
                </a:solidFill>
                <a:effectLst/>
                <a:uFillTx/>
                <a:latin typeface="Noto Sans JP"/>
                <a:ea typeface="Noto Sans JP"/>
              </a:rPr>
              <a:t>事業収益（ホスティング・</a:t>
            </a:r>
            <a:r>
              <a:rPr lang="en-US" sz="1200" b="1" u="none" strike="noStrike">
                <a:solidFill>
                  <a:srgbClr val="9B9DA0"/>
                </a:solidFill>
                <a:effectLst/>
                <a:uFillTx/>
                <a:latin typeface="Noto Sans JP"/>
                <a:ea typeface="Noto Sans JP"/>
              </a:rPr>
              <a:t>FIT</a:t>
            </a:r>
            <a:r>
              <a:rPr lang="zh-CN" sz="1200" b="1" u="none" strike="noStrike">
                <a:solidFill>
                  <a:srgbClr val="9B9DA0"/>
                </a:solidFill>
                <a:effectLst/>
                <a:uFillTx/>
                <a:latin typeface="Noto Sans JP"/>
                <a:ea typeface="Noto Sans JP"/>
              </a:rPr>
              <a:t>・</a:t>
            </a:r>
            <a:r>
              <a:rPr lang="en-US" sz="1200" b="1" u="none" strike="noStrike">
                <a:solidFill>
                  <a:srgbClr val="9B9DA0"/>
                </a:solidFill>
                <a:effectLst/>
                <a:uFillTx/>
                <a:latin typeface="Noto Sans JP"/>
                <a:ea typeface="Noto Sans JP"/>
              </a:rPr>
              <a:t>EV</a:t>
            </a:r>
            <a:r>
              <a:rPr lang="zh-CN" sz="1200" b="1" u="none" strike="noStrike">
                <a:solidFill>
                  <a:srgbClr val="9B9DA0"/>
                </a:solidFill>
                <a:effectLst/>
                <a:uFillTx/>
                <a:latin typeface="Noto Sans JP"/>
                <a:ea typeface="Noto Sans JP"/>
              </a:rPr>
              <a:t>・</a:t>
            </a:r>
            <a:r>
              <a:rPr lang="en-US" sz="1200" b="1" u="none" strike="noStrike">
                <a:solidFill>
                  <a:srgbClr val="9B9DA0"/>
                </a:solidFill>
                <a:effectLst/>
                <a:uFillTx/>
                <a:latin typeface="Noto Sans JP"/>
                <a:ea typeface="Noto Sans JP"/>
              </a:rPr>
              <a:t>J</a:t>
            </a:r>
            <a:r>
              <a:rPr lang="zh-CN" sz="1200" b="1" u="none" strike="noStrike">
                <a:solidFill>
                  <a:srgbClr val="9B9DA0"/>
                </a:solidFill>
                <a:effectLst/>
                <a:uFillTx/>
                <a:latin typeface="Noto Sans JP"/>
                <a:ea typeface="Noto Sans JP"/>
              </a:rPr>
              <a:t>クレジット）</a:t>
            </a:r>
            <a:endParaRPr lang="en-US" sz="1200" b="0" u="none" strike="noStrike">
              <a:solidFill>
                <a:srgbClr val="000000"/>
              </a:solidFill>
              <a:effectLst/>
              <a:uFillTx/>
              <a:latin typeface="Arial"/>
            </a:endParaRPr>
          </a:p>
        </p:txBody>
      </p:sp>
      <p:sp>
        <p:nvSpPr>
          <p:cNvPr id="367" name="Shape 42"/>
          <p:cNvSpPr/>
          <p:nvPr/>
        </p:nvSpPr>
        <p:spPr>
          <a:xfrm>
            <a:off x="12306240" y="72925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8" name="Shape 43"/>
          <p:cNvSpPr/>
          <p:nvPr/>
        </p:nvSpPr>
        <p:spPr>
          <a:xfrm>
            <a:off x="12306240" y="7292520"/>
            <a:ext cx="62280" cy="132480"/>
          </a:xfrm>
          <a:prstGeom prst="rect">
            <a:avLst/>
          </a:prstGeom>
          <a:solidFill>
            <a:srgbClr val="C7C9CB"/>
          </a:solidFill>
          <a:ln w="0">
            <a:noFill/>
          </a:ln>
        </p:spPr>
        <p:style>
          <a:lnRef idx="0"/>
          <a:fillRef idx="0"/>
          <a:effectRef idx="0"/>
          <a:fontRef idx="minor"/>
        </p:style>
        <p:txBody>
          <a:bodyPr lIns="31320" tIns="45000" rIns="31320" bIns="45000" anchor="t">
            <a:noAutofit/>
          </a:bodyPr>
          <a:p>
            <a:endParaRPr lang="en-US" sz="1800" b="0" u="none" strike="noStrike">
              <a:solidFill>
                <a:srgbClr val="000000"/>
              </a:solidFill>
              <a:effectLst/>
              <a:uFillTx/>
              <a:latin typeface="Arial"/>
            </a:endParaRPr>
          </a:p>
        </p:txBody>
      </p:sp>
      <p:sp>
        <p:nvSpPr>
          <p:cNvPr id="369" name="Text 44"/>
          <p:cNvSpPr/>
          <p:nvPr/>
        </p:nvSpPr>
        <p:spPr>
          <a:xfrm>
            <a:off x="14468400" y="72306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500" b="1" u="none" strike="noStrike">
                <a:solidFill>
                  <a:srgbClr val="6E7174"/>
                </a:solidFill>
                <a:effectLst/>
                <a:uFillTx/>
                <a:latin typeface="Open Sans"/>
                <a:ea typeface="Open Sans"/>
              </a:rPr>
              <a:t>—</a:t>
            </a:r>
            <a:endParaRPr lang="en-US" sz="1500" b="0" u="none" strike="noStrike">
              <a:solidFill>
                <a:srgbClr val="000000"/>
              </a:solidFill>
              <a:effectLst/>
              <a:uFillTx/>
              <a:latin typeface="Arial"/>
            </a:endParaRPr>
          </a:p>
        </p:txBody>
      </p:sp>
      <p:sp>
        <p:nvSpPr>
          <p:cNvPr id="370" name="Text 45"/>
          <p:cNvSpPr/>
          <p:nvPr/>
        </p:nvSpPr>
        <p:spPr>
          <a:xfrm>
            <a:off x="16106760" y="72162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pPr>
            <a:r>
              <a:rPr lang="en-US" sz="1650" b="1" u="none" strike="noStrike">
                <a:solidFill>
                  <a:srgbClr val="2E2E2E"/>
                </a:solidFill>
                <a:effectLst/>
                <a:uFillTx/>
                <a:latin typeface="Open Sans"/>
                <a:ea typeface="Open Sans"/>
              </a:rPr>
              <a:t>¥3M</a:t>
            </a:r>
            <a:endParaRPr lang="en-US" sz="1650" b="0" u="none" strike="noStrike">
              <a:solidFill>
                <a:srgbClr val="000000"/>
              </a:solidFill>
              <a:effectLst/>
              <a:uFillTx/>
              <a:latin typeface="Arial"/>
            </a:endParaRPr>
          </a:p>
        </p:txBody>
      </p:sp>
      <p:sp>
        <p:nvSpPr>
          <p:cNvPr id="371" name="Text 46"/>
          <p:cNvSpPr/>
          <p:nvPr/>
        </p:nvSpPr>
        <p:spPr>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20" strike="noStrike">
                <a:solidFill>
                  <a:srgbClr val="A9ABAE"/>
                </a:solidFill>
                <a:effectLst/>
                <a:uFillTx/>
                <a:latin typeface="Open Sans"/>
                <a:ea typeface="Open Sans"/>
              </a:rPr>
              <a:t>Illustrative planning targets, not commitments. Actual mix depends on grant outcomes &amp; partnerships in Phases 1–2. </a:t>
            </a:r>
            <a:r>
              <a:rPr lang="zh-CN" sz="1000" b="1" u="none" spc="20" strike="noStrike">
                <a:solidFill>
                  <a:srgbClr val="A9ABAE"/>
                </a:solidFill>
                <a:effectLst/>
                <a:uFillTx/>
                <a:latin typeface="Open Sans"/>
                <a:ea typeface="Open Sans"/>
              </a:rPr>
              <a:t>計画上の目標値（確約ではない）。</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E2E"/>
        </a:solidFill>
      </p:bgPr>
    </p:bg>
    <p:spTree>
      <p:nvGrpSpPr>
        <p:cNvPr id="1" name=""/>
        <p:cNvGrpSpPr/>
        <p:nvPr/>
      </p:nvGrpSpPr>
      <p:grpSpPr>
        <a:xfrm>
          <a:off x="0" y="0"/>
          <a:ext cx="0" cy="0"/>
          <a:chOff x="0" y="0"/>
          <a:chExt cx="0" cy="0"/>
        </a:xfrm>
      </p:grpSpPr>
      <p:sp>
        <p:nvSpPr>
          <p:cNvPr id="372" name="Shape 0"/>
          <p:cNvSpPr/>
          <p:nvPr/>
        </p:nvSpPr>
        <p:spPr>
          <a:xfrm>
            <a:off x="0" y="0"/>
            <a:ext cx="18287280" cy="75600"/>
          </a:xfrm>
          <a:prstGeom prst="rect">
            <a:avLst/>
          </a:prstGeom>
          <a:solidFill>
            <a:srgbClr val="E5852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373"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374" name="Text 2"/>
          <p:cNvSpPr/>
          <p:nvPr/>
        </p:nvSpPr>
        <p:spPr>
          <a:xfrm>
            <a:off x="1181160" y="800280"/>
            <a:ext cx="4223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LONG-TERM RETURN · </a:t>
            </a:r>
            <a:r>
              <a:rPr lang="zh-CN" sz="1300" b="1" u="none" spc="204" strike="noStrike">
                <a:solidFill>
                  <a:srgbClr val="9B9DA0"/>
                </a:solidFill>
                <a:effectLst/>
                <a:uFillTx/>
                <a:latin typeface="Open Sans"/>
                <a:ea typeface="Open Sans"/>
              </a:rPr>
              <a:t>長期リターン </a:t>
            </a:r>
            <a:r>
              <a:rPr lang="en-US" sz="1300" b="1" u="none" spc="204" strike="noStrike">
                <a:solidFill>
                  <a:srgbClr val="9B9DA0"/>
                </a:solidFill>
                <a:effectLst/>
                <a:uFillTx/>
                <a:latin typeface="Open Sans"/>
                <a:ea typeface="Open Sans"/>
              </a:rPr>
              <a:t>· 12</a:t>
            </a:r>
            <a:endParaRPr lang="en-US" sz="1300" b="0" u="none" strike="noStrike">
              <a:solidFill>
                <a:srgbClr val="FFFFFF"/>
              </a:solidFill>
              <a:effectLst/>
              <a:uFillTx/>
              <a:latin typeface="Arial"/>
            </a:endParaRPr>
          </a:p>
        </p:txBody>
      </p:sp>
      <p:sp>
        <p:nvSpPr>
          <p:cNvPr id="375" name="Text 3"/>
          <p:cNvSpPr/>
          <p:nvPr/>
        </p:nvSpPr>
        <p:spPr>
          <a:xfrm>
            <a:off x="609480" y="1228680"/>
            <a:ext cx="18775080" cy="6458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pPr>
            <a:r>
              <a:rPr lang="en-US" sz="4650" b="1" u="none" spc="-45" strike="noStrike">
                <a:solidFill>
                  <a:srgbClr val="F4F1EC"/>
                </a:solidFill>
                <a:effectLst/>
                <a:uFillTx/>
                <a:latin typeface="Sora"/>
                <a:ea typeface="Sora"/>
              </a:rPr>
              <a:t>An asset, not an expense</a:t>
            </a:r>
            <a:endParaRPr lang="en-US" sz="4650" b="0" u="none" strike="noStrike">
              <a:solidFill>
                <a:srgbClr val="FFFFFF"/>
              </a:solidFill>
              <a:effectLst/>
              <a:uFillTx/>
              <a:latin typeface="Arial"/>
            </a:endParaRPr>
          </a:p>
        </p:txBody>
      </p:sp>
      <p:sp>
        <p:nvSpPr>
          <p:cNvPr id="376" name="Text 4"/>
          <p:cNvSpPr/>
          <p:nvPr/>
        </p:nvSpPr>
        <p:spPr>
          <a:xfrm>
            <a:off x="609480" y="19134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00" b="0" u="none" strike="noStrike">
                <a:solidFill>
                  <a:srgbClr val="B9BBBD"/>
                </a:solidFill>
                <a:effectLst/>
                <a:uFillTx/>
                <a:latin typeface="Noto Sans JP"/>
                <a:ea typeface="Noto Sans JP"/>
              </a:rPr>
              <a:t>一度きりの支出ではなく、</a:t>
            </a:r>
            <a:r>
              <a:rPr lang="en-US" sz="1900" b="0" u="none" strike="noStrike">
                <a:solidFill>
                  <a:srgbClr val="B9BBBD"/>
                </a:solidFill>
                <a:effectLst/>
                <a:uFillTx/>
                <a:latin typeface="Noto Sans JP"/>
                <a:ea typeface="Noto Sans JP"/>
              </a:rPr>
              <a:t>25</a:t>
            </a:r>
            <a:r>
              <a:rPr lang="zh-CN" sz="1900" b="0" u="none" strike="noStrike">
                <a:solidFill>
                  <a:srgbClr val="B9BBBD"/>
                </a:solidFill>
                <a:effectLst/>
                <a:uFillTx/>
                <a:latin typeface="Noto Sans JP"/>
                <a:ea typeface="Noto Sans JP"/>
              </a:rPr>
              <a:t>年生み続ける資産。</a:t>
            </a:r>
            <a:endParaRPr lang="en-US" sz="1900" b="0" u="none" strike="noStrike">
              <a:solidFill>
                <a:srgbClr val="FFFFFF"/>
              </a:solidFill>
              <a:effectLst/>
              <a:uFillTx/>
              <a:latin typeface="Arial"/>
            </a:endParaRPr>
          </a:p>
        </p:txBody>
      </p:sp>
      <p:sp>
        <p:nvSpPr>
          <p:cNvPr id="377" name="Text 5"/>
          <p:cNvSpPr/>
          <p:nvPr/>
        </p:nvSpPr>
        <p:spPr>
          <a:xfrm>
            <a:off x="609480" y="4342680"/>
            <a:ext cx="1368288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1" u="none" spc="181" strike="noStrike">
                <a:solidFill>
                  <a:srgbClr val="9B9DA0"/>
                </a:solidFill>
                <a:effectLst/>
                <a:uFillTx/>
                <a:latin typeface="Open Sans"/>
                <a:ea typeface="Open Sans"/>
              </a:rPr>
              <a:t>THE FUNDING MIX INVERTS · </a:t>
            </a:r>
            <a:r>
              <a:rPr lang="zh-CN" sz="1500" b="1" u="none" spc="181" strike="noStrike">
                <a:solidFill>
                  <a:srgbClr val="9B9DA0"/>
                </a:solidFill>
                <a:effectLst/>
                <a:uFillTx/>
                <a:latin typeface="Open Sans"/>
                <a:ea typeface="Open Sans"/>
              </a:rPr>
              <a:t>財源は反転する</a:t>
            </a:r>
            <a:endParaRPr lang="en-US" sz="1500" b="0" u="none" strike="noStrike">
              <a:solidFill>
                <a:srgbClr val="FFFFFF"/>
              </a:solidFill>
              <a:effectLst/>
              <a:uFillTx/>
              <a:latin typeface="Arial"/>
            </a:endParaRPr>
          </a:p>
        </p:txBody>
      </p:sp>
      <p:sp>
        <p:nvSpPr>
          <p:cNvPr id="378" name="Text 6"/>
          <p:cNvSpPr/>
          <p:nvPr/>
        </p:nvSpPr>
        <p:spPr>
          <a:xfrm>
            <a:off x="60948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1" u="none" strike="noStrike">
                <a:solidFill>
                  <a:srgbClr val="B9BBBD"/>
                </a:solidFill>
                <a:effectLst/>
                <a:uFillTx/>
                <a:latin typeface="Open Sans"/>
                <a:ea typeface="Open Sans"/>
              </a:rPr>
              <a:t>Year 1</a:t>
            </a:r>
            <a:endParaRPr lang="en-US" sz="1450" b="0" u="none" strike="noStrike">
              <a:solidFill>
                <a:srgbClr val="FFFFFF"/>
              </a:solidFill>
              <a:effectLst/>
              <a:uFillTx/>
              <a:latin typeface="Arial"/>
            </a:endParaRPr>
          </a:p>
        </p:txBody>
      </p:sp>
      <p:sp>
        <p:nvSpPr>
          <p:cNvPr id="379" name="Shape 7"/>
          <p:cNvSpPr/>
          <p:nvPr/>
        </p:nvSpPr>
        <p:spPr>
          <a:xfrm>
            <a:off x="60948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0" name="Shape 8"/>
          <p:cNvSpPr/>
          <p:nvPr/>
        </p:nvSpPr>
        <p:spPr>
          <a:xfrm>
            <a:off x="609480" y="5482080"/>
            <a:ext cx="3955320" cy="1927080"/>
          </a:xfrm>
          <a:prstGeom prst="rect">
            <a:avLst/>
          </a:prstGeom>
          <a:solidFill>
            <a:srgbClr val="6E717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1" name="Text 9"/>
          <p:cNvSpPr/>
          <p:nvPr/>
        </p:nvSpPr>
        <p:spPr>
          <a:xfrm>
            <a:off x="550080" y="5577120"/>
            <a:ext cx="4074120" cy="186984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pPr>
            <a:r>
              <a:rPr lang="en-US" sz="1200" b="1" u="none" strike="noStrike">
                <a:solidFill>
                  <a:srgbClr val="FFFFFF"/>
                </a:solidFill>
                <a:effectLst/>
                <a:uFillTx/>
                <a:latin typeface="Open Sans"/>
                <a:ea typeface="Open Sans"/>
              </a:rPr>
              <a:t>Grants</a:t>
            </a:r>
            <a:endParaRPr lang="en-US" sz="1200" b="0" u="none" strike="noStrike">
              <a:solidFill>
                <a:srgbClr val="FFFFFF"/>
              </a:solidFill>
              <a:effectLst/>
              <a:uFillTx/>
              <a:latin typeface="Arial"/>
            </a:endParaRPr>
          </a:p>
        </p:txBody>
      </p:sp>
      <p:sp>
        <p:nvSpPr>
          <p:cNvPr id="382" name="Text 10"/>
          <p:cNvSpPr/>
          <p:nvPr/>
        </p:nvSpPr>
        <p:spPr>
          <a:xfrm>
            <a:off x="60948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9B9DA0"/>
                </a:solidFill>
                <a:effectLst/>
                <a:uFillTx/>
                <a:latin typeface="Open Sans"/>
                <a:ea typeface="Open Sans"/>
              </a:rPr>
              <a:t>~Grant-dependent</a:t>
            </a:r>
            <a:endParaRPr lang="en-US" sz="1200" b="0" u="none" strike="noStrike">
              <a:solidFill>
                <a:srgbClr val="FFFFFF"/>
              </a:solidFill>
              <a:effectLst/>
              <a:uFillTx/>
              <a:latin typeface="Arial"/>
            </a:endParaRPr>
          </a:p>
        </p:txBody>
      </p:sp>
      <p:sp>
        <p:nvSpPr>
          <p:cNvPr id="383" name="Text 11"/>
          <p:cNvSpPr/>
          <p:nvPr/>
        </p:nvSpPr>
        <p:spPr>
          <a:xfrm>
            <a:off x="485136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1" u="none" strike="noStrike">
                <a:solidFill>
                  <a:srgbClr val="B9BBBD"/>
                </a:solidFill>
                <a:effectLst/>
                <a:uFillTx/>
                <a:latin typeface="Open Sans"/>
                <a:ea typeface="Open Sans"/>
              </a:rPr>
              <a:t>Year 3</a:t>
            </a:r>
            <a:endParaRPr lang="en-US" sz="1450" b="0" u="none" strike="noStrike">
              <a:solidFill>
                <a:srgbClr val="FFFFFF"/>
              </a:solidFill>
              <a:effectLst/>
              <a:uFillTx/>
              <a:latin typeface="Arial"/>
            </a:endParaRPr>
          </a:p>
        </p:txBody>
      </p:sp>
      <p:sp>
        <p:nvSpPr>
          <p:cNvPr id="384" name="Shape 12"/>
          <p:cNvSpPr/>
          <p:nvPr/>
        </p:nvSpPr>
        <p:spPr>
          <a:xfrm>
            <a:off x="485136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5" name="Shape 13"/>
          <p:cNvSpPr/>
          <p:nvPr/>
        </p:nvSpPr>
        <p:spPr>
          <a:xfrm>
            <a:off x="4851360" y="5218920"/>
            <a:ext cx="3955320" cy="1357560"/>
          </a:xfrm>
          <a:prstGeom prst="rect">
            <a:avLst/>
          </a:prstGeom>
          <a:solidFill>
            <a:srgbClr val="6E717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6" name="Text 14"/>
          <p:cNvSpPr/>
          <p:nvPr/>
        </p:nvSpPr>
        <p:spPr>
          <a:xfrm>
            <a:off x="4791960" y="5314320"/>
            <a:ext cx="4074120" cy="130032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pPr>
            <a:r>
              <a:rPr lang="en-US" sz="1200" b="1" u="none" strike="noStrike">
                <a:solidFill>
                  <a:srgbClr val="FFFFFF"/>
                </a:solidFill>
                <a:effectLst/>
                <a:uFillTx/>
                <a:latin typeface="Open Sans"/>
                <a:ea typeface="Open Sans"/>
              </a:rPr>
              <a:t>Grants</a:t>
            </a:r>
            <a:endParaRPr lang="en-US" sz="1200" b="0" u="none" strike="noStrike">
              <a:solidFill>
                <a:srgbClr val="FFFFFF"/>
              </a:solidFill>
              <a:effectLst/>
              <a:uFillTx/>
              <a:latin typeface="Arial"/>
            </a:endParaRPr>
          </a:p>
        </p:txBody>
      </p:sp>
      <p:sp>
        <p:nvSpPr>
          <p:cNvPr id="387" name="Shape 15"/>
          <p:cNvSpPr/>
          <p:nvPr/>
        </p:nvSpPr>
        <p:spPr>
          <a:xfrm>
            <a:off x="4851360" y="6577200"/>
            <a:ext cx="3955320" cy="83160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8" name="Text 16"/>
          <p:cNvSpPr/>
          <p:nvPr/>
        </p:nvSpPr>
        <p:spPr>
          <a:xfrm>
            <a:off x="4791960" y="6577200"/>
            <a:ext cx="4074120" cy="86976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00000"/>
              </a:lnSpc>
              <a:tabLst>
                <a:tab pos="0" algn="l"/>
              </a:tabLst>
            </a:pPr>
            <a:r>
              <a:rPr lang="en-US" sz="1200" b="1" u="none" strike="noStrike">
                <a:solidFill>
                  <a:srgbClr val="FFFFFF"/>
                </a:solidFill>
                <a:effectLst/>
                <a:uFillTx/>
                <a:latin typeface="Open Sans"/>
                <a:ea typeface="Open Sans"/>
              </a:rPr>
              <a:t>Revenue + partners</a:t>
            </a:r>
            <a:endParaRPr lang="en-US" sz="1200" b="0" u="none" strike="noStrike">
              <a:solidFill>
                <a:srgbClr val="FFFFFF"/>
              </a:solidFill>
              <a:effectLst/>
              <a:uFillTx/>
              <a:latin typeface="Arial"/>
            </a:endParaRPr>
          </a:p>
        </p:txBody>
      </p:sp>
      <p:sp>
        <p:nvSpPr>
          <p:cNvPr id="389" name="Text 17"/>
          <p:cNvSpPr/>
          <p:nvPr/>
        </p:nvSpPr>
        <p:spPr>
          <a:xfrm>
            <a:off x="485136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9B9DA0"/>
                </a:solidFill>
                <a:effectLst/>
                <a:uFillTx/>
                <a:latin typeface="Open Sans"/>
                <a:ea typeface="Open Sans"/>
              </a:rPr>
              <a:t>Revenue begins to carry it</a:t>
            </a:r>
            <a:endParaRPr lang="en-US" sz="1200" b="0" u="none" strike="noStrike">
              <a:solidFill>
                <a:srgbClr val="FFFFFF"/>
              </a:solidFill>
              <a:effectLst/>
              <a:uFillTx/>
              <a:latin typeface="Arial"/>
            </a:endParaRPr>
          </a:p>
        </p:txBody>
      </p:sp>
      <p:sp>
        <p:nvSpPr>
          <p:cNvPr id="390" name="Text 18"/>
          <p:cNvSpPr/>
          <p:nvPr/>
        </p:nvSpPr>
        <p:spPr>
          <a:xfrm>
            <a:off x="909324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1" u="none" strike="noStrike">
                <a:solidFill>
                  <a:srgbClr val="F4B872"/>
                </a:solidFill>
                <a:effectLst/>
                <a:uFillTx/>
                <a:latin typeface="Open Sans"/>
                <a:ea typeface="Open Sans"/>
              </a:rPr>
              <a:t>Year 25</a:t>
            </a:r>
            <a:endParaRPr lang="en-US" sz="1450" b="0" u="none" strike="noStrike">
              <a:solidFill>
                <a:srgbClr val="FFFFFF"/>
              </a:solidFill>
              <a:effectLst/>
              <a:uFillTx/>
              <a:latin typeface="Arial"/>
            </a:endParaRPr>
          </a:p>
        </p:txBody>
      </p:sp>
      <p:sp>
        <p:nvSpPr>
          <p:cNvPr id="391" name="Shape 19"/>
          <p:cNvSpPr/>
          <p:nvPr/>
        </p:nvSpPr>
        <p:spPr>
          <a:xfrm>
            <a:off x="909324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2" name="Shape 20"/>
          <p:cNvSpPr/>
          <p:nvPr/>
        </p:nvSpPr>
        <p:spPr>
          <a:xfrm>
            <a:off x="9093240" y="5218920"/>
            <a:ext cx="3955320" cy="393480"/>
          </a:xfrm>
          <a:prstGeom prst="rect">
            <a:avLst/>
          </a:prstGeom>
          <a:solidFill>
            <a:srgbClr val="6E7174"/>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3" name="Shape 21"/>
          <p:cNvSpPr/>
          <p:nvPr/>
        </p:nvSpPr>
        <p:spPr>
          <a:xfrm>
            <a:off x="9093240" y="5613480"/>
            <a:ext cx="3955320" cy="179568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4" name="Text 22"/>
          <p:cNvSpPr/>
          <p:nvPr/>
        </p:nvSpPr>
        <p:spPr>
          <a:xfrm>
            <a:off x="9033840" y="5613480"/>
            <a:ext cx="4074120" cy="183384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30000"/>
              </a:lnSpc>
              <a:tabLst>
                <a:tab pos="0" algn="l"/>
              </a:tabLst>
            </a:pPr>
            <a:r>
              <a:rPr lang="en-US" sz="1200" b="1" u="none" strike="noStrike">
                <a:solidFill>
                  <a:srgbClr val="FFFFFF"/>
                </a:solidFill>
                <a:effectLst/>
                <a:uFillTx/>
                <a:latin typeface="Open Sans"/>
                <a:ea typeface="Open Sans"/>
              </a:rPr>
              <a:t>Self- sustaining</a:t>
            </a:r>
            <a:endParaRPr lang="en-US" sz="1200" b="0" u="none" strike="noStrike">
              <a:solidFill>
                <a:srgbClr val="FFFFFF"/>
              </a:solidFill>
              <a:effectLst/>
              <a:uFillTx/>
              <a:latin typeface="Arial"/>
            </a:endParaRPr>
          </a:p>
        </p:txBody>
      </p:sp>
      <p:sp>
        <p:nvSpPr>
          <p:cNvPr id="395" name="Text 23"/>
          <p:cNvSpPr/>
          <p:nvPr/>
        </p:nvSpPr>
        <p:spPr>
          <a:xfrm>
            <a:off x="909324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rgbClr val="9B9DA0"/>
                </a:solidFill>
                <a:effectLst/>
                <a:uFillTx/>
                <a:latin typeface="Open Sans"/>
                <a:ea typeface="Open Sans"/>
              </a:rPr>
              <a:t>Operating revenue carries it</a:t>
            </a:r>
            <a:endParaRPr lang="en-US" sz="1200" b="0" u="none" strike="noStrike">
              <a:solidFill>
                <a:srgbClr val="FFFFFF"/>
              </a:solidFill>
              <a:effectLst/>
              <a:uFillTx/>
              <a:latin typeface="Arial"/>
            </a:endParaRPr>
          </a:p>
        </p:txBody>
      </p:sp>
      <p:sp>
        <p:nvSpPr>
          <p:cNvPr id="396" name="Text 24"/>
          <p:cNvSpPr/>
          <p:nvPr/>
        </p:nvSpPr>
        <p:spPr>
          <a:xfrm>
            <a:off x="13582800" y="4352400"/>
            <a:ext cx="450468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500" b="1" u="none" spc="181" strike="noStrike">
                <a:solidFill>
                  <a:srgbClr val="9B9DA0"/>
                </a:solidFill>
                <a:effectLst/>
                <a:uFillTx/>
                <a:latin typeface="Open Sans"/>
                <a:ea typeface="Open Sans"/>
              </a:rPr>
              <a:t>FOUR RECURRING STREAMS · </a:t>
            </a:r>
            <a:r>
              <a:rPr lang="zh-CN" sz="1500" b="1" u="none" spc="181" strike="noStrike">
                <a:solidFill>
                  <a:srgbClr val="9B9DA0"/>
                </a:solidFill>
                <a:effectLst/>
                <a:uFillTx/>
                <a:latin typeface="Open Sans"/>
                <a:ea typeface="Open Sans"/>
              </a:rPr>
              <a:t>収益源</a:t>
            </a:r>
            <a:endParaRPr lang="en-US" sz="1500" b="0" u="none" strike="noStrike">
              <a:solidFill>
                <a:srgbClr val="FFFFFF"/>
              </a:solidFill>
              <a:effectLst/>
              <a:uFillTx/>
              <a:latin typeface="Arial"/>
            </a:endParaRPr>
          </a:p>
        </p:txBody>
      </p:sp>
      <p:sp>
        <p:nvSpPr>
          <p:cNvPr id="397" name="Shape 25"/>
          <p:cNvSpPr/>
          <p:nvPr/>
        </p:nvSpPr>
        <p:spPr>
          <a:xfrm>
            <a:off x="13582800" y="519984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398" name="Shape 26"/>
          <p:cNvSpPr/>
          <p:nvPr/>
        </p:nvSpPr>
        <p:spPr>
          <a:xfrm>
            <a:off x="13582800" y="487152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endParaRPr lang="en-US" sz="1800" b="0" u="none" strike="noStrike">
              <a:solidFill>
                <a:srgbClr val="FFFFFF"/>
              </a:solidFill>
              <a:effectLst/>
              <a:uFillTx/>
              <a:latin typeface="Arial"/>
            </a:endParaRPr>
          </a:p>
        </p:txBody>
      </p:sp>
      <p:sp>
        <p:nvSpPr>
          <p:cNvPr id="399" name="Text 27"/>
          <p:cNvSpPr/>
          <p:nvPr/>
        </p:nvSpPr>
        <p:spPr>
          <a:xfrm>
            <a:off x="13830480" y="4790520"/>
            <a:ext cx="29469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F4F1EC"/>
                </a:solidFill>
                <a:effectLst/>
                <a:uFillTx/>
                <a:latin typeface="Open Sans"/>
                <a:ea typeface="Open Sans"/>
              </a:rPr>
              <a:t>Compute hosting </a:t>
            </a:r>
            <a:r>
              <a:rPr lang="zh-CN" sz="1300" b="1" u="none" strike="noStrike">
                <a:solidFill>
                  <a:srgbClr val="9B9DA0"/>
                </a:solidFill>
                <a:effectLst/>
                <a:uFillTx/>
                <a:latin typeface="Open Sans"/>
                <a:ea typeface="Open Sans"/>
              </a:rPr>
              <a:t>ホスティング</a:t>
            </a:r>
            <a:endParaRPr lang="en-US" sz="1300" b="0" u="none" strike="noStrike">
              <a:solidFill>
                <a:srgbClr val="FFFFFF"/>
              </a:solidFill>
              <a:effectLst/>
              <a:uFillTx/>
              <a:latin typeface="Arial"/>
            </a:endParaRPr>
          </a:p>
        </p:txBody>
      </p:sp>
      <p:sp>
        <p:nvSpPr>
          <p:cNvPr id="400" name="Shape 28"/>
          <p:cNvSpPr/>
          <p:nvPr/>
        </p:nvSpPr>
        <p:spPr>
          <a:xfrm>
            <a:off x="13582800" y="577152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401" name="Shape 29"/>
          <p:cNvSpPr/>
          <p:nvPr/>
        </p:nvSpPr>
        <p:spPr>
          <a:xfrm>
            <a:off x="13582800" y="544284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endParaRPr lang="en-US" sz="1800" b="0" u="none" strike="noStrike">
              <a:solidFill>
                <a:srgbClr val="FFFFFF"/>
              </a:solidFill>
              <a:effectLst/>
              <a:uFillTx/>
              <a:latin typeface="Arial"/>
            </a:endParaRPr>
          </a:p>
        </p:txBody>
      </p:sp>
      <p:sp>
        <p:nvSpPr>
          <p:cNvPr id="402" name="Text 30"/>
          <p:cNvSpPr/>
          <p:nvPr/>
        </p:nvSpPr>
        <p:spPr>
          <a:xfrm>
            <a:off x="13830480" y="5361840"/>
            <a:ext cx="28461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F4F1EC"/>
                </a:solidFill>
                <a:effectLst/>
                <a:uFillTx/>
                <a:latin typeface="Open Sans"/>
                <a:ea typeface="Open Sans"/>
              </a:rPr>
              <a:t>Energy feed-in (FIT/FIP) </a:t>
            </a:r>
            <a:r>
              <a:rPr lang="zh-CN" sz="1300" b="1" u="none" strike="noStrike">
                <a:solidFill>
                  <a:srgbClr val="9B9DA0"/>
                </a:solidFill>
                <a:effectLst/>
                <a:uFillTx/>
                <a:latin typeface="Open Sans"/>
                <a:ea typeface="Open Sans"/>
              </a:rPr>
              <a:t>売電</a:t>
            </a:r>
            <a:endParaRPr lang="en-US" sz="1300" b="0" u="none" strike="noStrike">
              <a:solidFill>
                <a:srgbClr val="FFFFFF"/>
              </a:solidFill>
              <a:effectLst/>
              <a:uFillTx/>
              <a:latin typeface="Arial"/>
            </a:endParaRPr>
          </a:p>
        </p:txBody>
      </p:sp>
      <p:sp>
        <p:nvSpPr>
          <p:cNvPr id="403" name="Shape 31"/>
          <p:cNvSpPr/>
          <p:nvPr/>
        </p:nvSpPr>
        <p:spPr>
          <a:xfrm>
            <a:off x="13582800" y="634284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404" name="Shape 32"/>
          <p:cNvSpPr/>
          <p:nvPr/>
        </p:nvSpPr>
        <p:spPr>
          <a:xfrm>
            <a:off x="13582800" y="601452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endParaRPr lang="en-US" sz="1800" b="0" u="none" strike="noStrike">
              <a:solidFill>
                <a:srgbClr val="FFFFFF"/>
              </a:solidFill>
              <a:effectLst/>
              <a:uFillTx/>
              <a:latin typeface="Arial"/>
            </a:endParaRPr>
          </a:p>
        </p:txBody>
      </p:sp>
      <p:sp>
        <p:nvSpPr>
          <p:cNvPr id="405" name="Text 33"/>
          <p:cNvSpPr/>
          <p:nvPr/>
        </p:nvSpPr>
        <p:spPr>
          <a:xfrm>
            <a:off x="13830480" y="5933520"/>
            <a:ext cx="185652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F4F1EC"/>
                </a:solidFill>
                <a:effectLst/>
                <a:uFillTx/>
                <a:latin typeface="Open Sans"/>
                <a:ea typeface="Open Sans"/>
              </a:rPr>
              <a:t>EV charging </a:t>
            </a:r>
            <a:r>
              <a:rPr lang="en-US" sz="1300" b="1" u="none" strike="noStrike">
                <a:solidFill>
                  <a:srgbClr val="9B9DA0"/>
                </a:solidFill>
                <a:effectLst/>
                <a:uFillTx/>
                <a:latin typeface="Open Sans"/>
                <a:ea typeface="Open Sans"/>
              </a:rPr>
              <a:t>EV</a:t>
            </a:r>
            <a:r>
              <a:rPr lang="zh-CN" sz="1300" b="1" u="none" strike="noStrike">
                <a:solidFill>
                  <a:srgbClr val="9B9DA0"/>
                </a:solidFill>
                <a:effectLst/>
                <a:uFillTx/>
                <a:latin typeface="Open Sans"/>
                <a:ea typeface="Open Sans"/>
              </a:rPr>
              <a:t>充電</a:t>
            </a:r>
            <a:endParaRPr lang="en-US" sz="1300" b="0" u="none" strike="noStrike">
              <a:solidFill>
                <a:srgbClr val="FFFFFF"/>
              </a:solidFill>
              <a:effectLst/>
              <a:uFillTx/>
              <a:latin typeface="Arial"/>
            </a:endParaRPr>
          </a:p>
        </p:txBody>
      </p:sp>
      <p:sp>
        <p:nvSpPr>
          <p:cNvPr id="406" name="Shape 34"/>
          <p:cNvSpPr/>
          <p:nvPr/>
        </p:nvSpPr>
        <p:spPr>
          <a:xfrm>
            <a:off x="13582800" y="658584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endParaRPr lang="en-US" sz="1800" b="0" u="none" strike="noStrike">
              <a:solidFill>
                <a:srgbClr val="FFFFFF"/>
              </a:solidFill>
              <a:effectLst/>
              <a:uFillTx/>
              <a:latin typeface="Arial"/>
            </a:endParaRPr>
          </a:p>
        </p:txBody>
      </p:sp>
      <p:sp>
        <p:nvSpPr>
          <p:cNvPr id="407" name="Text 35"/>
          <p:cNvSpPr/>
          <p:nvPr/>
        </p:nvSpPr>
        <p:spPr>
          <a:xfrm>
            <a:off x="13830480" y="6504840"/>
            <a:ext cx="36406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F4F1EC"/>
                </a:solidFill>
                <a:effectLst/>
                <a:uFillTx/>
                <a:latin typeface="Open Sans"/>
                <a:ea typeface="Open Sans"/>
              </a:rPr>
              <a:t>Carbon credits (J-Credits) </a:t>
            </a:r>
            <a:r>
              <a:rPr lang="en-US" sz="1300" b="1" u="none" strike="noStrike">
                <a:solidFill>
                  <a:srgbClr val="9B9DA0"/>
                </a:solidFill>
                <a:effectLst/>
                <a:uFillTx/>
                <a:latin typeface="Open Sans"/>
                <a:ea typeface="Open Sans"/>
              </a:rPr>
              <a:t>J</a:t>
            </a:r>
            <a:r>
              <a:rPr lang="zh-CN" sz="1300" b="1" u="none" strike="noStrike">
                <a:solidFill>
                  <a:srgbClr val="9B9DA0"/>
                </a:solidFill>
                <a:effectLst/>
                <a:uFillTx/>
                <a:latin typeface="Open Sans"/>
                <a:ea typeface="Open Sans"/>
              </a:rPr>
              <a:t>クレジット</a:t>
            </a:r>
            <a:endParaRPr lang="en-US" sz="1300" b="0" u="none" strike="noStrike">
              <a:solidFill>
                <a:srgbClr val="FFFFFF"/>
              </a:solidFill>
              <a:effectLst/>
              <a:uFillTx/>
              <a:latin typeface="Arial"/>
            </a:endParaRPr>
          </a:p>
        </p:txBody>
      </p:sp>
      <p:sp>
        <p:nvSpPr>
          <p:cNvPr id="408" name="Shape 36"/>
          <p:cNvSpPr/>
          <p:nvPr/>
        </p:nvSpPr>
        <p:spPr>
          <a:xfrm>
            <a:off x="13582800" y="700992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409" name="Text 37"/>
          <p:cNvSpPr/>
          <p:nvPr/>
        </p:nvSpPr>
        <p:spPr>
          <a:xfrm>
            <a:off x="13582800" y="7171560"/>
            <a:ext cx="4217760" cy="5518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pPr>
            <a:r>
              <a:rPr lang="en-US" sz="1350" b="0" u="none" strike="noStrike">
                <a:solidFill>
                  <a:srgbClr val="B9BBBD"/>
                </a:solidFill>
                <a:effectLst/>
                <a:uFillTx/>
                <a:latin typeface="Open Sans"/>
                <a:ea typeface="Open Sans"/>
              </a:rPr>
              <a:t>A 25-year horizon — the bridge to localized small-scale power generation.</a:t>
            </a:r>
            <a:endParaRPr lang="en-US" sz="13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0"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411"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412" name="Text 2"/>
          <p:cNvSpPr/>
          <p:nvPr/>
        </p:nvSpPr>
        <p:spPr>
          <a:xfrm>
            <a:off x="1181160" y="800280"/>
            <a:ext cx="46746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GOVERNANCE &amp; ADVISORS · </a:t>
            </a:r>
            <a:r>
              <a:rPr lang="zh-CN" sz="1300" b="1" u="none" spc="204" strike="noStrike">
                <a:solidFill>
                  <a:srgbClr val="9B9DA0"/>
                </a:solidFill>
                <a:effectLst/>
                <a:uFillTx/>
                <a:latin typeface="Open Sans"/>
                <a:ea typeface="Open Sans"/>
              </a:rPr>
              <a:t>体制と顧問 </a:t>
            </a:r>
            <a:r>
              <a:rPr lang="en-US" sz="1300" b="1" u="none" spc="204" strike="noStrike">
                <a:solidFill>
                  <a:srgbClr val="9B9DA0"/>
                </a:solidFill>
                <a:effectLst/>
                <a:uFillTx/>
                <a:latin typeface="Open Sans"/>
                <a:ea typeface="Open Sans"/>
              </a:rPr>
              <a:t>· 13</a:t>
            </a:r>
            <a:endParaRPr lang="en-US" sz="1300" b="0" u="none" strike="noStrike">
              <a:solidFill>
                <a:srgbClr val="000000"/>
              </a:solidFill>
              <a:effectLst/>
              <a:uFillTx/>
              <a:latin typeface="Arial"/>
            </a:endParaRPr>
          </a:p>
        </p:txBody>
      </p:sp>
      <p:sp>
        <p:nvSpPr>
          <p:cNvPr id="413" name="Text 3"/>
          <p:cNvSpPr/>
          <p:nvPr/>
        </p:nvSpPr>
        <p:spPr>
          <a:xfrm>
            <a:off x="609480" y="1228680"/>
            <a:ext cx="18775080" cy="626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pPr>
            <a:r>
              <a:rPr lang="en-US" sz="4500" b="1" u="none" spc="-45" strike="noStrike">
                <a:solidFill>
                  <a:srgbClr val="2E2E2E"/>
                </a:solidFill>
                <a:effectLst/>
                <a:uFillTx/>
                <a:latin typeface="Sora"/>
                <a:ea typeface="Sora"/>
              </a:rPr>
              <a:t>Small team, serious people, open books</a:t>
            </a:r>
            <a:endParaRPr lang="en-US" sz="4500" b="0" u="none" strike="noStrike">
              <a:solidFill>
                <a:srgbClr val="000000"/>
              </a:solidFill>
              <a:effectLst/>
              <a:uFillTx/>
              <a:latin typeface="Arial"/>
            </a:endParaRPr>
          </a:p>
        </p:txBody>
      </p:sp>
      <p:sp>
        <p:nvSpPr>
          <p:cNvPr id="414" name="Text 4"/>
          <p:cNvSpPr/>
          <p:nvPr/>
        </p:nvSpPr>
        <p:spPr>
          <a:xfrm>
            <a:off x="609480" y="18936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00" b="0" u="none" strike="noStrike">
                <a:solidFill>
                  <a:srgbClr val="6E7174"/>
                </a:solidFill>
                <a:effectLst/>
                <a:uFillTx/>
                <a:latin typeface="Noto Sans JP"/>
                <a:ea typeface="Noto Sans JP"/>
              </a:rPr>
              <a:t>少人数・確かな顔ぶれ・公開された会計。</a:t>
            </a:r>
            <a:endParaRPr lang="en-US" sz="1900" b="0" u="none" strike="noStrike">
              <a:solidFill>
                <a:srgbClr val="000000"/>
              </a:solidFill>
              <a:effectLst/>
              <a:uFillTx/>
              <a:latin typeface="Arial"/>
            </a:endParaRPr>
          </a:p>
        </p:txBody>
      </p:sp>
      <p:pic>
        <p:nvPicPr>
          <p:cNvPr id="415" name="Image 0" descr="preencoded.png"/>
          <p:cNvPicPr/>
          <p:nvPr/>
        </p:nvPicPr>
        <p:blipFill>
          <a:blip r:embed="rId1"/>
          <a:stretch/>
        </p:blipFill>
        <p:spPr>
          <a:xfrm>
            <a:off x="609480" y="2588760"/>
            <a:ext cx="4437000" cy="4795200"/>
          </a:xfrm>
          <a:prstGeom prst="rect">
            <a:avLst/>
          </a:prstGeom>
          <a:noFill/>
          <a:ln w="0">
            <a:noFill/>
          </a:ln>
        </p:spPr>
      </p:pic>
      <p:sp>
        <p:nvSpPr>
          <p:cNvPr id="416" name="Text 6"/>
          <p:cNvSpPr/>
          <p:nvPr/>
        </p:nvSpPr>
        <p:spPr>
          <a:xfrm>
            <a:off x="609480" y="7467840"/>
            <a:ext cx="4420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136" strike="noStrike">
                <a:solidFill>
                  <a:srgbClr val="F4B872"/>
                </a:solidFill>
                <a:effectLst/>
                <a:uFillTx/>
                <a:latin typeface="Open Sans"/>
                <a:ea typeface="Open Sans"/>
              </a:rPr>
              <a:t>PROJECT LEAD · </a:t>
            </a:r>
            <a:r>
              <a:rPr lang="zh-CN" sz="1000" b="1" u="none" spc="136" strike="noStrike">
                <a:solidFill>
                  <a:srgbClr val="F4B872"/>
                </a:solidFill>
                <a:effectLst/>
                <a:uFillTx/>
                <a:latin typeface="Open Sans"/>
                <a:ea typeface="Open Sans"/>
              </a:rPr>
              <a:t>代表</a:t>
            </a:r>
            <a:endParaRPr lang="en-US" sz="1000" b="0" u="none" strike="noStrike">
              <a:solidFill>
                <a:srgbClr val="000000"/>
              </a:solidFill>
              <a:effectLst/>
              <a:uFillTx/>
              <a:latin typeface="Arial"/>
            </a:endParaRPr>
          </a:p>
        </p:txBody>
      </p:sp>
      <p:sp>
        <p:nvSpPr>
          <p:cNvPr id="417" name="Text 7"/>
          <p:cNvSpPr/>
          <p:nvPr/>
        </p:nvSpPr>
        <p:spPr>
          <a:xfrm>
            <a:off x="609480" y="7734600"/>
            <a:ext cx="4420080" cy="32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10000"/>
              </a:lnSpc>
              <a:tabLst>
                <a:tab pos="0" algn="l"/>
              </a:tabLst>
            </a:pPr>
            <a:r>
              <a:rPr lang="en-US" sz="2050" b="1" u="none" strike="noStrike">
                <a:solidFill>
                  <a:schemeClr val="dk1"/>
                </a:solidFill>
                <a:effectLst/>
                <a:uFillTx/>
                <a:latin typeface="Sora"/>
                <a:ea typeface="Sora"/>
              </a:rPr>
              <a:t>Rob Oudendijk</a:t>
            </a:r>
            <a:endParaRPr lang="en-US" sz="2050" b="0" u="none" strike="noStrike">
              <a:solidFill>
                <a:srgbClr val="000000"/>
              </a:solidFill>
              <a:effectLst/>
              <a:uFillTx/>
              <a:latin typeface="Arial"/>
            </a:endParaRPr>
          </a:p>
        </p:txBody>
      </p:sp>
      <p:sp>
        <p:nvSpPr>
          <p:cNvPr id="418" name="Text 8"/>
          <p:cNvSpPr/>
          <p:nvPr/>
        </p:nvSpPr>
        <p:spPr>
          <a:xfrm>
            <a:off x="609480" y="8065080"/>
            <a:ext cx="442008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0" u="none" strike="noStrike">
                <a:solidFill>
                  <a:schemeClr val="dk1">
                    <a:lumMod val="65000"/>
                    <a:lumOff val="35000"/>
                  </a:schemeClr>
                </a:solidFill>
                <a:effectLst/>
                <a:uFillTx/>
                <a:latin typeface="Open Sans"/>
                <a:ea typeface="Open Sans"/>
              </a:rPr>
              <a:t>YR-Design · Safecast</a:t>
            </a:r>
            <a:endParaRPr lang="en-US" sz="1200" b="0" u="none" strike="noStrike">
              <a:solidFill>
                <a:srgbClr val="000000"/>
              </a:solidFill>
              <a:effectLst/>
              <a:uFillTx/>
              <a:latin typeface="Arial"/>
            </a:endParaRPr>
          </a:p>
        </p:txBody>
      </p:sp>
      <p:sp>
        <p:nvSpPr>
          <p:cNvPr id="419" name="Shape 9"/>
          <p:cNvSpPr/>
          <p:nvPr/>
        </p:nvSpPr>
        <p:spPr>
          <a:xfrm>
            <a:off x="609480" y="8587800"/>
            <a:ext cx="4437000" cy="1012680"/>
          </a:xfrm>
          <a:prstGeom prst="rect">
            <a:avLst/>
          </a:prstGeom>
          <a:solidFill>
            <a:srgbClr val="F6F6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0" name="Text 10"/>
          <p:cNvSpPr/>
          <p:nvPr/>
        </p:nvSpPr>
        <p:spPr>
          <a:xfrm>
            <a:off x="819000" y="8740080"/>
            <a:ext cx="4420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00" b="1" u="none" spc="108" strike="noStrike">
                <a:solidFill>
                  <a:srgbClr val="9B9DA0"/>
                </a:solidFill>
                <a:effectLst/>
                <a:uFillTx/>
                <a:latin typeface="Open Sans"/>
                <a:ea typeface="Open Sans"/>
              </a:rPr>
              <a:t>LEGAL PATH · </a:t>
            </a:r>
            <a:r>
              <a:rPr lang="zh-CN" sz="1000" b="1" u="none" spc="108" strike="noStrike">
                <a:solidFill>
                  <a:srgbClr val="9B9DA0"/>
                </a:solidFill>
                <a:effectLst/>
                <a:uFillTx/>
                <a:latin typeface="Open Sans"/>
                <a:ea typeface="Open Sans"/>
              </a:rPr>
              <a:t>法人形態</a:t>
            </a:r>
            <a:endParaRPr lang="en-US" sz="1000" b="0" u="none" strike="noStrike">
              <a:solidFill>
                <a:srgbClr val="000000"/>
              </a:solidFill>
              <a:effectLst/>
              <a:uFillTx/>
              <a:latin typeface="Arial"/>
            </a:endParaRPr>
          </a:p>
        </p:txBody>
      </p:sp>
      <p:sp>
        <p:nvSpPr>
          <p:cNvPr id="421" name="Text 11"/>
          <p:cNvSpPr/>
          <p:nvPr/>
        </p:nvSpPr>
        <p:spPr>
          <a:xfrm>
            <a:off x="819000" y="9006840"/>
            <a:ext cx="4138560" cy="4795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pPr>
            <a:r>
              <a:rPr lang="zh-CN" sz="1200" b="0" u="none" strike="noStrike">
                <a:solidFill>
                  <a:srgbClr val="4A4A4A"/>
                </a:solidFill>
                <a:effectLst/>
                <a:uFillTx/>
                <a:latin typeface="Open Sans"/>
                <a:ea typeface="Open Sans"/>
              </a:rPr>
              <a:t>一般社団法人 → </a:t>
            </a:r>
            <a:r>
              <a:rPr lang="en-US" sz="1200" b="0" u="none" strike="noStrike">
                <a:solidFill>
                  <a:srgbClr val="4A4A4A"/>
                </a:solidFill>
                <a:effectLst/>
                <a:uFillTx/>
                <a:latin typeface="Open Sans"/>
                <a:ea typeface="Open Sans"/>
              </a:rPr>
              <a:t>NPO → </a:t>
            </a:r>
            <a:r>
              <a:rPr lang="zh-CN" sz="1200" b="0" u="none" strike="noStrike">
                <a:solidFill>
                  <a:srgbClr val="4A4A4A"/>
                </a:solidFill>
                <a:effectLst/>
                <a:uFillTx/>
                <a:latin typeface="Open Sans"/>
                <a:ea typeface="Open Sans"/>
              </a:rPr>
              <a:t>認定</a:t>
            </a:r>
            <a:r>
              <a:rPr lang="en-US" sz="1200" b="0" u="none" strike="noStrike">
                <a:solidFill>
                  <a:srgbClr val="4A4A4A"/>
                </a:solidFill>
                <a:effectLst/>
                <a:uFillTx/>
                <a:latin typeface="Open Sans"/>
                <a:ea typeface="Open Sans"/>
              </a:rPr>
              <a:t>NPO — tax-deductible status.</a:t>
            </a:r>
            <a:endParaRPr lang="en-US" sz="1200" b="0" u="none" strike="noStrike">
              <a:solidFill>
                <a:srgbClr val="000000"/>
              </a:solidFill>
              <a:effectLst/>
              <a:uFillTx/>
              <a:latin typeface="Arial"/>
            </a:endParaRPr>
          </a:p>
        </p:txBody>
      </p:sp>
      <p:sp>
        <p:nvSpPr>
          <p:cNvPr id="422" name="Text 12"/>
          <p:cNvSpPr/>
          <p:nvPr/>
        </p:nvSpPr>
        <p:spPr>
          <a:xfrm>
            <a:off x="5371200" y="2588760"/>
            <a:ext cx="1353708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50" b="1" u="none" spc="147" strike="noStrike">
                <a:solidFill>
                  <a:srgbClr val="9B9DA0"/>
                </a:solidFill>
                <a:effectLst/>
                <a:uFillTx/>
                <a:latin typeface="Open Sans"/>
                <a:ea typeface="Open Sans"/>
              </a:rPr>
              <a:t>ADVISORY BOARD · </a:t>
            </a:r>
            <a:r>
              <a:rPr lang="zh-CN" sz="1050" b="1" u="none" spc="147" strike="noStrike">
                <a:solidFill>
                  <a:srgbClr val="9B9DA0"/>
                </a:solidFill>
                <a:effectLst/>
                <a:uFillTx/>
                <a:latin typeface="Open Sans"/>
                <a:ea typeface="Open Sans"/>
              </a:rPr>
              <a:t>顧問</a:t>
            </a:r>
            <a:endParaRPr lang="en-US" sz="1050" b="0" u="none" strike="noStrike">
              <a:solidFill>
                <a:srgbClr val="000000"/>
              </a:solidFill>
              <a:effectLst/>
              <a:uFillTx/>
              <a:latin typeface="Arial"/>
            </a:endParaRPr>
          </a:p>
        </p:txBody>
      </p:sp>
      <p:pic>
        <p:nvPicPr>
          <p:cNvPr id="423" name="Image 1" descr="preencoded.png"/>
          <p:cNvPicPr/>
          <p:nvPr/>
        </p:nvPicPr>
        <p:blipFill>
          <a:blip r:embed="rId2"/>
          <a:stretch/>
        </p:blipFill>
        <p:spPr>
          <a:xfrm>
            <a:off x="5371200" y="2931840"/>
            <a:ext cx="2354040" cy="2423880"/>
          </a:xfrm>
          <a:prstGeom prst="rect">
            <a:avLst/>
          </a:prstGeom>
          <a:noFill/>
          <a:ln w="0">
            <a:noFill/>
          </a:ln>
        </p:spPr>
      </p:pic>
      <p:sp>
        <p:nvSpPr>
          <p:cNvPr id="424" name="Shape 13"/>
          <p:cNvSpPr/>
          <p:nvPr/>
        </p:nvSpPr>
        <p:spPr>
          <a:xfrm>
            <a:off x="5428440" y="5512680"/>
            <a:ext cx="2354040" cy="27720"/>
          </a:xfrm>
          <a:prstGeom prst="rect">
            <a:avLst/>
          </a:prstGeom>
          <a:solidFill>
            <a:srgbClr val="E58520"/>
          </a:solidFill>
          <a:ln w="0">
            <a:noFill/>
          </a:ln>
        </p:spPr>
        <p:style>
          <a:lnRef idx="0"/>
          <a:fillRef idx="0"/>
          <a:effectRef idx="0"/>
          <a:fontRef idx="minor"/>
        </p:style>
        <p:txBody>
          <a:bodyPr lIns="90000" tIns="-16560" rIns="90000" bIns="-16560" anchor="t">
            <a:noAutofit/>
          </a:bodyPr>
          <a:p>
            <a:endParaRPr lang="en-US" sz="1800" b="0" u="none" strike="noStrike">
              <a:solidFill>
                <a:srgbClr val="FFFFFF"/>
              </a:solidFill>
              <a:effectLst/>
              <a:uFillTx/>
              <a:latin typeface="Arial"/>
            </a:endParaRPr>
          </a:p>
        </p:txBody>
      </p:sp>
      <p:sp>
        <p:nvSpPr>
          <p:cNvPr id="425" name="Text 14"/>
          <p:cNvSpPr/>
          <p:nvPr/>
        </p:nvSpPr>
        <p:spPr>
          <a:xfrm>
            <a:off x="5428440" y="565560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450" b="1" u="none" strike="noStrike">
                <a:solidFill>
                  <a:srgbClr val="2E2E2E"/>
                </a:solidFill>
                <a:effectLst/>
                <a:uFillTx/>
                <a:latin typeface="Sora"/>
                <a:ea typeface="Sora"/>
              </a:rPr>
              <a:t>Ray Ozzie</a:t>
            </a:r>
            <a:endParaRPr lang="en-US" sz="1450" b="0" u="none" strike="noStrike">
              <a:solidFill>
                <a:srgbClr val="000000"/>
              </a:solidFill>
              <a:effectLst/>
              <a:uFillTx/>
              <a:latin typeface="Arial"/>
            </a:endParaRPr>
          </a:p>
        </p:txBody>
      </p:sp>
      <p:sp>
        <p:nvSpPr>
          <p:cNvPr id="426" name="Text 15"/>
          <p:cNvSpPr/>
          <p:nvPr/>
        </p:nvSpPr>
        <p:spPr>
          <a:xfrm>
            <a:off x="5428440" y="5912640"/>
            <a:ext cx="25894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0" u="none" strike="noStrike">
                <a:solidFill>
                  <a:srgbClr val="6E7174"/>
                </a:solidFill>
                <a:effectLst/>
                <a:uFillTx/>
                <a:latin typeface="Open Sans"/>
                <a:ea typeface="Open Sans"/>
              </a:rPr>
              <a:t>Executive Chair, Blues</a:t>
            </a:r>
            <a:endParaRPr lang="en-US" sz="1150" b="0" u="none" strike="noStrike">
              <a:solidFill>
                <a:srgbClr val="000000"/>
              </a:solidFill>
              <a:effectLst/>
              <a:uFillTx/>
              <a:latin typeface="Arial"/>
            </a:endParaRPr>
          </a:p>
        </p:txBody>
      </p:sp>
      <p:pic>
        <p:nvPicPr>
          <p:cNvPr id="427" name="Image 2" descr="preencoded.png"/>
          <p:cNvPicPr/>
          <p:nvPr/>
        </p:nvPicPr>
        <p:blipFill>
          <a:blip r:embed="rId3"/>
          <a:stretch/>
        </p:blipFill>
        <p:spPr>
          <a:xfrm>
            <a:off x="7859520" y="2931840"/>
            <a:ext cx="2354040" cy="2423880"/>
          </a:xfrm>
          <a:prstGeom prst="rect">
            <a:avLst/>
          </a:prstGeom>
          <a:noFill/>
          <a:ln w="0">
            <a:noFill/>
          </a:ln>
        </p:spPr>
      </p:pic>
      <p:sp>
        <p:nvSpPr>
          <p:cNvPr id="428" name="Shape 16"/>
          <p:cNvSpPr/>
          <p:nvPr/>
        </p:nvSpPr>
        <p:spPr>
          <a:xfrm>
            <a:off x="7916400" y="551268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endParaRPr lang="en-US" sz="1800" b="0" u="none" strike="noStrike">
              <a:solidFill>
                <a:srgbClr val="000000"/>
              </a:solidFill>
              <a:effectLst/>
              <a:uFillTx/>
              <a:latin typeface="Arial"/>
            </a:endParaRPr>
          </a:p>
        </p:txBody>
      </p:sp>
      <p:sp>
        <p:nvSpPr>
          <p:cNvPr id="429" name="Text 17"/>
          <p:cNvSpPr/>
          <p:nvPr/>
        </p:nvSpPr>
        <p:spPr>
          <a:xfrm>
            <a:off x="7905960" y="57038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450" b="1" u="none" strike="noStrike">
                <a:solidFill>
                  <a:srgbClr val="2E2E2E"/>
                </a:solidFill>
                <a:effectLst/>
                <a:uFillTx/>
                <a:latin typeface="Sora"/>
                <a:ea typeface="Sora"/>
              </a:rPr>
              <a:t>San Poisson</a:t>
            </a:r>
            <a:endParaRPr lang="en-US" sz="1450" b="0" u="none" strike="noStrike">
              <a:solidFill>
                <a:srgbClr val="000000"/>
              </a:solidFill>
              <a:effectLst/>
              <a:uFillTx/>
              <a:latin typeface="Arial"/>
            </a:endParaRPr>
          </a:p>
        </p:txBody>
      </p:sp>
      <p:sp>
        <p:nvSpPr>
          <p:cNvPr id="430" name="Text 18"/>
          <p:cNvSpPr/>
          <p:nvPr/>
        </p:nvSpPr>
        <p:spPr>
          <a:xfrm>
            <a:off x="7905960" y="5961240"/>
            <a:ext cx="25894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150" b="0" u="none" strike="noStrike">
                <a:solidFill>
                  <a:srgbClr val="6E7174"/>
                </a:solidFill>
                <a:effectLst/>
                <a:uFillTx/>
                <a:latin typeface="Open Sans"/>
                <a:ea typeface="Open Sans"/>
              </a:rPr>
              <a:t>Project Manager</a:t>
            </a:r>
            <a:endParaRPr lang="en-US" sz="1150" b="0" u="none" strike="noStrike">
              <a:solidFill>
                <a:srgbClr val="000000"/>
              </a:solidFill>
              <a:effectLst/>
              <a:uFillTx/>
              <a:latin typeface="Arial"/>
            </a:endParaRPr>
          </a:p>
        </p:txBody>
      </p:sp>
      <p:pic>
        <p:nvPicPr>
          <p:cNvPr id="431" name="Image 3" descr="preencoded.png"/>
          <p:cNvPicPr/>
          <p:nvPr/>
        </p:nvPicPr>
        <p:blipFill>
          <a:blip r:embed="rId4"/>
          <a:stretch/>
        </p:blipFill>
        <p:spPr>
          <a:xfrm>
            <a:off x="10347480" y="2946240"/>
            <a:ext cx="2354040" cy="2409480"/>
          </a:xfrm>
          <a:prstGeom prst="rect">
            <a:avLst/>
          </a:prstGeom>
          <a:noFill/>
          <a:ln w="0">
            <a:noFill/>
          </a:ln>
        </p:spPr>
      </p:pic>
      <p:sp>
        <p:nvSpPr>
          <p:cNvPr id="432" name="Shape 19"/>
          <p:cNvSpPr/>
          <p:nvPr/>
        </p:nvSpPr>
        <p:spPr>
          <a:xfrm>
            <a:off x="1040472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endParaRPr lang="en-US" sz="1800" b="0" u="none" strike="noStrike">
              <a:solidFill>
                <a:srgbClr val="000000"/>
              </a:solidFill>
              <a:effectLst/>
              <a:uFillTx/>
              <a:latin typeface="Arial"/>
            </a:endParaRPr>
          </a:p>
        </p:txBody>
      </p:sp>
      <p:sp>
        <p:nvSpPr>
          <p:cNvPr id="433" name="Text 20"/>
          <p:cNvSpPr/>
          <p:nvPr/>
        </p:nvSpPr>
        <p:spPr>
          <a:xfrm>
            <a:off x="1040472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450" b="1" u="none" strike="noStrike">
                <a:solidFill>
                  <a:srgbClr val="2E2E2E"/>
                </a:solidFill>
                <a:effectLst/>
                <a:uFillTx/>
                <a:latin typeface="Sora"/>
                <a:ea typeface="Sora"/>
              </a:rPr>
              <a:t>Takuo Dome</a:t>
            </a:r>
            <a:endParaRPr lang="en-US" sz="1450" b="0" u="none" strike="noStrike">
              <a:solidFill>
                <a:srgbClr val="000000"/>
              </a:solidFill>
              <a:effectLst/>
              <a:uFillTx/>
              <a:latin typeface="Arial"/>
            </a:endParaRPr>
          </a:p>
        </p:txBody>
      </p:sp>
      <p:sp>
        <p:nvSpPr>
          <p:cNvPr id="434" name="Text 21"/>
          <p:cNvSpPr/>
          <p:nvPr/>
        </p:nvSpPr>
        <p:spPr>
          <a:xfrm>
            <a:off x="10404720" y="5927040"/>
            <a:ext cx="2430360" cy="4089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pPr>
            <a:r>
              <a:rPr lang="en-US" sz="1150" b="0" u="none" strike="noStrike">
                <a:solidFill>
                  <a:srgbClr val="6E7174"/>
                </a:solidFill>
                <a:effectLst/>
                <a:uFillTx/>
                <a:latin typeface="Open Sans"/>
                <a:ea typeface="Open Sans"/>
              </a:rPr>
              <a:t>Prof. Emeritus, Osaka Univ. Director, Inochi Forum</a:t>
            </a:r>
            <a:endParaRPr lang="en-US" sz="1150" b="0" u="none" strike="noStrike">
              <a:solidFill>
                <a:srgbClr val="000000"/>
              </a:solidFill>
              <a:effectLst/>
              <a:uFillTx/>
              <a:latin typeface="Arial"/>
            </a:endParaRPr>
          </a:p>
        </p:txBody>
      </p:sp>
      <p:pic>
        <p:nvPicPr>
          <p:cNvPr id="435" name="Image 4" descr="preencoded.png"/>
          <p:cNvPicPr/>
          <p:nvPr/>
        </p:nvPicPr>
        <p:blipFill>
          <a:blip r:embed="rId5"/>
          <a:stretch/>
        </p:blipFill>
        <p:spPr>
          <a:xfrm>
            <a:off x="12835440" y="2931840"/>
            <a:ext cx="2354040" cy="2423880"/>
          </a:xfrm>
          <a:prstGeom prst="rect">
            <a:avLst/>
          </a:prstGeom>
          <a:noFill/>
          <a:ln w="0">
            <a:noFill/>
          </a:ln>
        </p:spPr>
      </p:pic>
      <p:sp>
        <p:nvSpPr>
          <p:cNvPr id="436" name="Shape 22"/>
          <p:cNvSpPr/>
          <p:nvPr/>
        </p:nvSpPr>
        <p:spPr>
          <a:xfrm>
            <a:off x="1289268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endParaRPr lang="en-US" sz="1800" b="0" u="none" strike="noStrike">
              <a:solidFill>
                <a:srgbClr val="000000"/>
              </a:solidFill>
              <a:effectLst/>
              <a:uFillTx/>
              <a:latin typeface="Arial"/>
            </a:endParaRPr>
          </a:p>
        </p:txBody>
      </p:sp>
      <p:sp>
        <p:nvSpPr>
          <p:cNvPr id="437" name="Text 23"/>
          <p:cNvSpPr/>
          <p:nvPr/>
        </p:nvSpPr>
        <p:spPr>
          <a:xfrm>
            <a:off x="1289268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450" b="1" u="none" strike="noStrike">
                <a:solidFill>
                  <a:srgbClr val="2E2E2E"/>
                </a:solidFill>
                <a:effectLst/>
                <a:uFillTx/>
                <a:latin typeface="Sora"/>
                <a:ea typeface="Sora"/>
              </a:rPr>
              <a:t>Evin Zoet</a:t>
            </a:r>
            <a:endParaRPr lang="en-US" sz="1450" b="0" u="none" strike="noStrike">
              <a:solidFill>
                <a:srgbClr val="000000"/>
              </a:solidFill>
              <a:effectLst/>
              <a:uFillTx/>
              <a:latin typeface="Arial"/>
            </a:endParaRPr>
          </a:p>
        </p:txBody>
      </p:sp>
      <p:sp>
        <p:nvSpPr>
          <p:cNvPr id="438" name="Text 24"/>
          <p:cNvSpPr/>
          <p:nvPr/>
        </p:nvSpPr>
        <p:spPr>
          <a:xfrm>
            <a:off x="12892680" y="5927040"/>
            <a:ext cx="2430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pPr>
            <a:r>
              <a:rPr lang="en-US" sz="1150" b="0" u="none" strike="noStrike">
                <a:solidFill>
                  <a:srgbClr val="6E7174"/>
                </a:solidFill>
                <a:effectLst/>
                <a:uFillTx/>
                <a:latin typeface="Open Sans"/>
                <a:ea typeface="Open Sans"/>
              </a:rPr>
              <a:t>Co-Rep. Director, Transom</a:t>
            </a:r>
            <a:endParaRPr lang="en-US" sz="1150" b="0" u="none" strike="noStrike">
              <a:solidFill>
                <a:srgbClr val="000000"/>
              </a:solidFill>
              <a:effectLst/>
              <a:uFillTx/>
              <a:latin typeface="Arial"/>
            </a:endParaRPr>
          </a:p>
        </p:txBody>
      </p:sp>
      <p:pic>
        <p:nvPicPr>
          <p:cNvPr id="439" name="Image 5" descr="preencoded.png"/>
          <p:cNvPicPr/>
          <p:nvPr/>
        </p:nvPicPr>
        <p:blipFill>
          <a:blip r:embed="rId6"/>
          <a:stretch/>
        </p:blipFill>
        <p:spPr>
          <a:xfrm>
            <a:off x="15323760" y="2931840"/>
            <a:ext cx="2354040" cy="2423880"/>
          </a:xfrm>
          <a:prstGeom prst="rect">
            <a:avLst/>
          </a:prstGeom>
          <a:noFill/>
          <a:ln w="0">
            <a:noFill/>
          </a:ln>
        </p:spPr>
      </p:pic>
      <p:sp>
        <p:nvSpPr>
          <p:cNvPr id="440" name="Shape 25"/>
          <p:cNvSpPr/>
          <p:nvPr/>
        </p:nvSpPr>
        <p:spPr>
          <a:xfrm>
            <a:off x="1538064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endParaRPr lang="en-US" sz="1800" b="0" u="none" strike="noStrike">
              <a:solidFill>
                <a:srgbClr val="000000"/>
              </a:solidFill>
              <a:effectLst/>
              <a:uFillTx/>
              <a:latin typeface="Arial"/>
            </a:endParaRPr>
          </a:p>
        </p:txBody>
      </p:sp>
      <p:sp>
        <p:nvSpPr>
          <p:cNvPr id="441" name="Text 26"/>
          <p:cNvSpPr/>
          <p:nvPr/>
        </p:nvSpPr>
        <p:spPr>
          <a:xfrm>
            <a:off x="1538064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pPr>
            <a:r>
              <a:rPr lang="en-US" sz="1450" b="1" u="none" strike="noStrike">
                <a:solidFill>
                  <a:srgbClr val="2E2E2E"/>
                </a:solidFill>
                <a:effectLst/>
                <a:uFillTx/>
                <a:latin typeface="Sora"/>
                <a:ea typeface="Sora"/>
              </a:rPr>
              <a:t>Yoshiko Zoet-Suzuki</a:t>
            </a:r>
            <a:endParaRPr lang="en-US" sz="1450" b="0" u="none" strike="noStrike">
              <a:solidFill>
                <a:srgbClr val="000000"/>
              </a:solidFill>
              <a:effectLst/>
              <a:uFillTx/>
              <a:latin typeface="Arial"/>
            </a:endParaRPr>
          </a:p>
        </p:txBody>
      </p:sp>
      <p:sp>
        <p:nvSpPr>
          <p:cNvPr id="442" name="Text 27"/>
          <p:cNvSpPr/>
          <p:nvPr/>
        </p:nvSpPr>
        <p:spPr>
          <a:xfrm>
            <a:off x="15380640" y="5927040"/>
            <a:ext cx="2430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pPr>
            <a:r>
              <a:rPr lang="en-US" sz="1150" b="0" u="none" strike="noStrike">
                <a:solidFill>
                  <a:srgbClr val="6E7174"/>
                </a:solidFill>
                <a:effectLst/>
                <a:uFillTx/>
                <a:latin typeface="Open Sans"/>
                <a:ea typeface="Open Sans"/>
              </a:rPr>
              <a:t>Co-Rep. Director, Transom</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9"/>
        </a:solidFill>
      </p:bgPr>
    </p:bg>
    <p:spTree>
      <p:nvGrpSpPr>
        <p:cNvPr id="1" name=""/>
        <p:cNvGrpSpPr/>
        <p:nvPr/>
      </p:nvGrpSpPr>
      <p:grpSpPr>
        <a:xfrm>
          <a:off x="0" y="0"/>
          <a:ext cx="0" cy="0"/>
          <a:chOff x="0" y="0"/>
          <a:chExt cx="0" cy="0"/>
        </a:xfrm>
      </p:grpSpPr>
      <p:sp>
        <p:nvSpPr>
          <p:cNvPr id="443" name="Shape 0"/>
          <p:cNvSpPr/>
          <p:nvPr/>
        </p:nvSpPr>
        <p:spPr>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444" name="Shape 1"/>
          <p:cNvSpPr/>
          <p:nvPr/>
        </p:nvSpPr>
        <p:spPr>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445" name="Text 2"/>
          <p:cNvSpPr/>
          <p:nvPr/>
        </p:nvSpPr>
        <p:spPr>
          <a:xfrm>
            <a:off x="1181160" y="800280"/>
            <a:ext cx="28098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REPLICATION · </a:t>
            </a:r>
            <a:r>
              <a:rPr lang="zh-CN" sz="1300" b="1" u="none" spc="204" strike="noStrike">
                <a:solidFill>
                  <a:srgbClr val="9B9DA0"/>
                </a:solidFill>
                <a:effectLst/>
                <a:uFillTx/>
                <a:latin typeface="Open Sans"/>
                <a:ea typeface="Open Sans"/>
              </a:rPr>
              <a:t>横展開 </a:t>
            </a:r>
            <a:r>
              <a:rPr lang="en-US" sz="1300" b="1" u="none" spc="204" strike="noStrike">
                <a:solidFill>
                  <a:srgbClr val="9B9DA0"/>
                </a:solidFill>
                <a:effectLst/>
                <a:uFillTx/>
                <a:latin typeface="Open Sans"/>
                <a:ea typeface="Open Sans"/>
              </a:rPr>
              <a:t>· 14</a:t>
            </a:r>
            <a:endParaRPr lang="en-US" sz="1300" b="0" u="none" strike="noStrike">
              <a:solidFill>
                <a:srgbClr val="000000"/>
              </a:solidFill>
              <a:effectLst/>
              <a:uFillTx/>
              <a:latin typeface="Arial"/>
            </a:endParaRPr>
          </a:p>
        </p:txBody>
      </p:sp>
      <p:sp>
        <p:nvSpPr>
          <p:cNvPr id="446" name="Text 3"/>
          <p:cNvSpPr/>
          <p:nvPr/>
        </p:nvSpPr>
        <p:spPr>
          <a:xfrm>
            <a:off x="609480" y="1247760"/>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pPr>
            <a:r>
              <a:rPr lang="en-US" sz="4800" b="1" u="none" spc="-48" strike="noStrike">
                <a:solidFill>
                  <a:srgbClr val="2E2E2E"/>
                </a:solidFill>
                <a:effectLst/>
                <a:uFillTx/>
                <a:latin typeface="Sora"/>
                <a:ea typeface="Sora"/>
              </a:rPr>
              <a:t>One village, an open blueprint</a:t>
            </a:r>
            <a:endParaRPr lang="en-US" sz="4800" b="0" u="none" strike="noStrike">
              <a:solidFill>
                <a:srgbClr val="000000"/>
              </a:solidFill>
              <a:effectLst/>
              <a:uFillTx/>
              <a:latin typeface="Arial"/>
            </a:endParaRPr>
          </a:p>
        </p:txBody>
      </p:sp>
      <p:sp>
        <p:nvSpPr>
          <p:cNvPr id="447" name="Text 4"/>
          <p:cNvSpPr/>
          <p:nvPr/>
        </p:nvSpPr>
        <p:spPr>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1950" b="0" u="none" strike="noStrike">
                <a:solidFill>
                  <a:srgbClr val="6E7174"/>
                </a:solidFill>
                <a:effectLst/>
                <a:uFillTx/>
                <a:latin typeface="Noto Sans JP"/>
                <a:ea typeface="Noto Sans JP"/>
              </a:rPr>
              <a:t>御杖は終着点ではなく、原型。公開された設計図。</a:t>
            </a:r>
            <a:endParaRPr lang="en-US" sz="1950" b="0" u="none" strike="noStrike">
              <a:solidFill>
                <a:srgbClr val="000000"/>
              </a:solidFill>
              <a:effectLst/>
              <a:uFillTx/>
              <a:latin typeface="Arial"/>
            </a:endParaRPr>
          </a:p>
        </p:txBody>
      </p:sp>
      <p:sp>
        <p:nvSpPr>
          <p:cNvPr id="448" name="Text 5"/>
          <p:cNvSpPr/>
          <p:nvPr/>
        </p:nvSpPr>
        <p:spPr>
          <a:xfrm>
            <a:off x="487080" y="4843080"/>
            <a:ext cx="168264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4800" b="1" u="none" strike="noStrike">
                <a:solidFill>
                  <a:srgbClr val="E58520"/>
                </a:solidFill>
                <a:effectLst/>
                <a:uFillTx/>
                <a:latin typeface="Sora"/>
                <a:ea typeface="Sora"/>
              </a:rPr>
              <a:t>100s</a:t>
            </a:r>
            <a:endParaRPr lang="en-US" sz="4800" b="0" u="none" strike="noStrike">
              <a:solidFill>
                <a:srgbClr val="000000"/>
              </a:solidFill>
              <a:effectLst/>
              <a:uFillTx/>
              <a:latin typeface="Arial"/>
            </a:endParaRPr>
          </a:p>
        </p:txBody>
      </p:sp>
      <p:sp>
        <p:nvSpPr>
          <p:cNvPr id="449" name="Text 6"/>
          <p:cNvSpPr/>
          <p:nvPr/>
        </p:nvSpPr>
        <p:spPr>
          <a:xfrm>
            <a:off x="2207880" y="5113800"/>
            <a:ext cx="6021720" cy="6508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0000"/>
              </a:lnSpc>
              <a:tabLst>
                <a:tab pos="0" algn="l"/>
              </a:tabLst>
            </a:pPr>
            <a:r>
              <a:rPr lang="en-US" sz="1750" b="0" u="none" strike="noStrike">
                <a:solidFill>
                  <a:srgbClr val="4A4A4A"/>
                </a:solidFill>
                <a:effectLst/>
                <a:uFillTx/>
                <a:latin typeface="Open Sans"/>
                <a:ea typeface="Open Sans"/>
              </a:rPr>
              <a:t>of depopulating municipalities share the same four raw materials. </a:t>
            </a:r>
            <a:r>
              <a:rPr lang="zh-CN" sz="1750" b="0" u="none" strike="noStrike">
                <a:solidFill>
                  <a:srgbClr val="4A4A4A"/>
                </a:solidFill>
                <a:effectLst/>
                <a:uFillTx/>
                <a:latin typeface="Open Sans"/>
                <a:ea typeface="Open Sans"/>
              </a:rPr>
              <a:t>同じ条件を持つ自治体は数百。</a:t>
            </a:r>
            <a:endParaRPr lang="en-US" sz="1750" b="0" u="none" strike="noStrike">
              <a:solidFill>
                <a:srgbClr val="000000"/>
              </a:solidFill>
              <a:effectLst/>
              <a:uFillTx/>
              <a:latin typeface="Arial"/>
            </a:endParaRPr>
          </a:p>
        </p:txBody>
      </p:sp>
      <p:sp>
        <p:nvSpPr>
          <p:cNvPr id="450" name="Text 8"/>
          <p:cNvSpPr/>
          <p:nvPr/>
        </p:nvSpPr>
        <p:spPr>
          <a:xfrm>
            <a:off x="487080" y="6155640"/>
            <a:ext cx="7056720" cy="7232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en-US" sz="1800" b="0" u="none" strike="noStrike">
                <a:solidFill>
                  <a:srgbClr val="3A3A3A"/>
                </a:solidFill>
                <a:effectLst/>
                <a:uFillTx/>
                <a:latin typeface="Open Sans"/>
                <a:ea typeface="Open Sans"/>
              </a:rPr>
              <a:t>Every method, dataset and financial record is released under </a:t>
            </a:r>
            <a:r>
              <a:rPr lang="en-US" sz="1800" b="1" u="none" strike="noStrike">
                <a:solidFill>
                  <a:srgbClr val="3A3A3A"/>
                </a:solidFill>
                <a:effectLst/>
                <a:uFillTx/>
                <a:latin typeface="Open Sans"/>
                <a:ea typeface="Open Sans"/>
              </a:rPr>
              <a:t>open licences </a:t>
            </a:r>
            <a:r>
              <a:rPr lang="en-US" sz="1800" b="0" u="none" strike="noStrike">
                <a:solidFill>
                  <a:srgbClr val="3A3A3A"/>
                </a:solidFill>
                <a:effectLst/>
                <a:uFillTx/>
                <a:latin typeface="Open Sans"/>
                <a:ea typeface="Open Sans"/>
              </a:rPr>
              <a:t>. The deliverable isn't the data center — it's the </a:t>
            </a:r>
            <a:r>
              <a:rPr lang="en-US" sz="1800" b="1" u="none" strike="noStrike">
                <a:solidFill>
                  <a:srgbClr val="3A3A3A"/>
                </a:solidFill>
                <a:effectLst/>
                <a:uFillTx/>
                <a:latin typeface="Open Sans"/>
                <a:ea typeface="Open Sans"/>
              </a:rPr>
              <a:t>repeatable playbook</a:t>
            </a:r>
            <a:r>
              <a:rPr lang="en-US" sz="1800" b="0" u="none" strike="noStrike">
                <a:solidFill>
                  <a:srgbClr val="3A3A3A"/>
                </a:solidFill>
                <a:effectLst/>
                <a:uFillTx/>
                <a:latin typeface="Open Sans"/>
                <a:ea typeface="Open Sans"/>
              </a:rPr>
              <a:t>.</a:t>
            </a:r>
            <a:endParaRPr lang="en-US" sz="1800" b="0" u="none" strike="noStrike">
              <a:solidFill>
                <a:srgbClr val="000000"/>
              </a:solidFill>
              <a:effectLst/>
              <a:uFillTx/>
              <a:latin typeface="Arial"/>
            </a:endParaRPr>
          </a:p>
        </p:txBody>
      </p:sp>
      <p:sp>
        <p:nvSpPr>
          <p:cNvPr id="451" name="Text 9"/>
          <p:cNvSpPr/>
          <p:nvPr/>
        </p:nvSpPr>
        <p:spPr>
          <a:xfrm>
            <a:off x="487080" y="7014960"/>
            <a:ext cx="9373680" cy="344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70000"/>
              </a:lnSpc>
              <a:tabLst>
                <a:tab pos="0" algn="l"/>
              </a:tabLst>
            </a:pPr>
            <a:r>
              <a:rPr lang="zh-CN" sz="1450" b="0" u="none" strike="noStrike">
                <a:solidFill>
                  <a:srgbClr val="85888C"/>
                </a:solidFill>
                <a:effectLst/>
                <a:uFillTx/>
                <a:latin typeface="Noto Sans JP"/>
                <a:ea typeface="Noto Sans JP"/>
              </a:rPr>
              <a:t>手法・データ・会計をすべて公開。成果物はデータセンターではなく、再現可能な「型」。</a:t>
            </a:r>
            <a:endParaRPr lang="en-US" sz="1450" b="0" u="none" strike="noStrike">
              <a:solidFill>
                <a:srgbClr val="000000"/>
              </a:solidFill>
              <a:effectLst/>
              <a:uFillTx/>
              <a:latin typeface="Arial"/>
            </a:endParaRPr>
          </a:p>
        </p:txBody>
      </p:sp>
      <p:pic>
        <p:nvPicPr>
          <p:cNvPr id="452" name="Image 6" descr="preencoded.png"/>
          <p:cNvPicPr/>
          <p:nvPr/>
        </p:nvPicPr>
        <p:blipFill>
          <a:blip r:embed="rId1"/>
          <a:stretch/>
        </p:blipFill>
        <p:spPr>
          <a:xfrm>
            <a:off x="8339400" y="2743200"/>
            <a:ext cx="9343080" cy="5257800"/>
          </a:xfrm>
          <a:prstGeom prst="rect">
            <a:avLst/>
          </a:prstGeom>
          <a:noFill/>
          <a:ln w="0">
            <a:noFill/>
          </a:ln>
        </p:spPr>
      </p:pic>
      <p:sp>
        <p:nvSpPr>
          <p:cNvPr id="453" name="Shape 3"/>
          <p:cNvSpPr/>
          <p:nvPr/>
        </p:nvSpPr>
        <p:spPr>
          <a:xfrm>
            <a:off x="8339400" y="5230440"/>
            <a:ext cx="4550400" cy="2559600"/>
          </a:xfrm>
          <a:prstGeom prst="rect">
            <a:avLst/>
          </a:prstGeom>
          <a:gradFill rotWithShape="0">
            <a:gsLst>
              <a:gs pos="0">
                <a:srgbClr val="141414">
                  <a:alpha val="94000"/>
                </a:srgbClr>
              </a:gs>
              <a:gs pos="50000">
                <a:srgbClr val="141414">
                  <a:alpha val="50000"/>
                </a:srgbClr>
              </a:gs>
              <a:gs pos="100000">
                <a:srgbClr val="141414">
                  <a:alpha val="10000"/>
                </a:srgbClr>
              </a:gs>
            </a:gsLst>
            <a:lin ang="16200000"/>
          </a:gra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4" name="Text 1"/>
          <p:cNvSpPr/>
          <p:nvPr/>
        </p:nvSpPr>
        <p:spPr>
          <a:xfrm>
            <a:off x="8718840" y="600516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E58520"/>
                </a:solidFill>
                <a:effectLst/>
                <a:uFillTx/>
                <a:latin typeface="Sora"/>
                <a:ea typeface="Sora"/>
              </a:rPr>
              <a:t>01</a:t>
            </a:r>
            <a:endParaRPr lang="en-US" sz="1350" b="0" u="none" strike="noStrike">
              <a:solidFill>
                <a:srgbClr val="000000"/>
              </a:solidFill>
              <a:effectLst/>
              <a:uFillTx/>
              <a:latin typeface="Arial"/>
            </a:endParaRPr>
          </a:p>
        </p:txBody>
      </p:sp>
      <p:sp>
        <p:nvSpPr>
          <p:cNvPr id="455" name="Text 57"/>
          <p:cNvSpPr/>
          <p:nvPr/>
        </p:nvSpPr>
        <p:spPr>
          <a:xfrm>
            <a:off x="9240120" y="5987160"/>
            <a:ext cx="3526560" cy="35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0" u="none" strike="noStrike">
                <a:solidFill>
                  <a:srgbClr val="FFFFFF"/>
                </a:solidFill>
                <a:effectLst/>
                <a:uFillTx/>
                <a:latin typeface="Open Sans"/>
                <a:ea typeface="Open Sans"/>
              </a:rPr>
              <a:t>Restoration &amp; energy methods</a:t>
            </a:r>
            <a:endParaRPr lang="en-US" sz="1450" b="0" u="none" strike="noStrike">
              <a:solidFill>
                <a:srgbClr val="000000"/>
              </a:solidFill>
              <a:effectLst/>
              <a:uFillTx/>
              <a:latin typeface="Arial"/>
            </a:endParaRPr>
          </a:p>
        </p:txBody>
      </p:sp>
      <p:sp>
        <p:nvSpPr>
          <p:cNvPr id="456" name="Text 58"/>
          <p:cNvSpPr/>
          <p:nvPr/>
        </p:nvSpPr>
        <p:spPr>
          <a:xfrm>
            <a:off x="8718840" y="645516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E58520"/>
                </a:solidFill>
                <a:effectLst/>
                <a:uFillTx/>
                <a:latin typeface="Sora"/>
                <a:ea typeface="Sora"/>
              </a:rPr>
              <a:t>02</a:t>
            </a:r>
            <a:endParaRPr lang="en-US" sz="1350" b="0" u="none" strike="noStrike">
              <a:solidFill>
                <a:srgbClr val="000000"/>
              </a:solidFill>
              <a:effectLst/>
              <a:uFillTx/>
              <a:latin typeface="Arial"/>
            </a:endParaRPr>
          </a:p>
        </p:txBody>
      </p:sp>
      <p:sp>
        <p:nvSpPr>
          <p:cNvPr id="457" name="Text 60"/>
          <p:cNvSpPr/>
          <p:nvPr/>
        </p:nvSpPr>
        <p:spPr>
          <a:xfrm>
            <a:off x="9240120" y="6437520"/>
            <a:ext cx="380628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0" u="none" strike="noStrike">
                <a:solidFill>
                  <a:srgbClr val="FFFFFF"/>
                </a:solidFill>
                <a:effectLst/>
                <a:uFillTx/>
                <a:latin typeface="Open Sans"/>
                <a:ea typeface="Open Sans"/>
              </a:rPr>
              <a:t>Financial model &amp; open accounts</a:t>
            </a:r>
            <a:endParaRPr lang="en-US" sz="1450" b="0" u="none" strike="noStrike">
              <a:solidFill>
                <a:srgbClr val="000000"/>
              </a:solidFill>
              <a:effectLst/>
              <a:uFillTx/>
              <a:latin typeface="Arial"/>
            </a:endParaRPr>
          </a:p>
        </p:txBody>
      </p:sp>
      <p:sp>
        <p:nvSpPr>
          <p:cNvPr id="458" name="Text 61"/>
          <p:cNvSpPr/>
          <p:nvPr/>
        </p:nvSpPr>
        <p:spPr>
          <a:xfrm>
            <a:off x="8718840" y="690552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E58520"/>
                </a:solidFill>
                <a:effectLst/>
                <a:uFillTx/>
                <a:latin typeface="Sora"/>
                <a:ea typeface="Sora"/>
              </a:rPr>
              <a:t>03</a:t>
            </a:r>
            <a:endParaRPr lang="en-US" sz="1350" b="0" u="none" strike="noStrike">
              <a:solidFill>
                <a:srgbClr val="000000"/>
              </a:solidFill>
              <a:effectLst/>
              <a:uFillTx/>
              <a:latin typeface="Arial"/>
            </a:endParaRPr>
          </a:p>
        </p:txBody>
      </p:sp>
      <p:sp>
        <p:nvSpPr>
          <p:cNvPr id="459" name="Text 62"/>
          <p:cNvSpPr/>
          <p:nvPr/>
        </p:nvSpPr>
        <p:spPr>
          <a:xfrm>
            <a:off x="9240120" y="6887880"/>
            <a:ext cx="3454200" cy="35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0" u="none" strike="noStrike">
                <a:solidFill>
                  <a:srgbClr val="FFFFFF"/>
                </a:solidFill>
                <a:effectLst/>
                <a:uFillTx/>
                <a:latin typeface="Open Sans"/>
                <a:ea typeface="Open Sans"/>
              </a:rPr>
              <a:t>Governance &amp; legal templates</a:t>
            </a:r>
            <a:endParaRPr lang="en-US" sz="1450" b="0" u="none" strike="noStrike">
              <a:solidFill>
                <a:srgbClr val="000000"/>
              </a:solidFill>
              <a:effectLst/>
              <a:uFillTx/>
              <a:latin typeface="Arial"/>
            </a:endParaRPr>
          </a:p>
        </p:txBody>
      </p:sp>
      <p:sp>
        <p:nvSpPr>
          <p:cNvPr id="460" name="Text 63"/>
          <p:cNvSpPr/>
          <p:nvPr/>
        </p:nvSpPr>
        <p:spPr>
          <a:xfrm>
            <a:off x="8718840" y="735588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50" b="1" u="none" strike="noStrike">
                <a:solidFill>
                  <a:srgbClr val="E58520"/>
                </a:solidFill>
                <a:effectLst/>
                <a:uFillTx/>
                <a:latin typeface="Sora"/>
                <a:ea typeface="Sora"/>
              </a:rPr>
              <a:t>04</a:t>
            </a:r>
            <a:endParaRPr lang="en-US" sz="1350" b="0" u="none" strike="noStrike">
              <a:solidFill>
                <a:srgbClr val="000000"/>
              </a:solidFill>
              <a:effectLst/>
              <a:uFillTx/>
              <a:latin typeface="Arial"/>
            </a:endParaRPr>
          </a:p>
        </p:txBody>
      </p:sp>
      <p:sp>
        <p:nvSpPr>
          <p:cNvPr id="461" name="Text 64"/>
          <p:cNvSpPr/>
          <p:nvPr/>
        </p:nvSpPr>
        <p:spPr>
          <a:xfrm>
            <a:off x="9240120" y="7338240"/>
            <a:ext cx="336312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0" u="none" strike="noStrike">
                <a:solidFill>
                  <a:srgbClr val="FFFFFF"/>
                </a:solidFill>
                <a:effectLst/>
                <a:uFillTx/>
                <a:latin typeface="Open Sans"/>
                <a:ea typeface="Open Sans"/>
              </a:rPr>
              <a:t>Environmental &amp; energy data</a:t>
            </a:r>
            <a:endParaRPr lang="en-US" sz="1450" b="0" u="none" strike="noStrike">
              <a:solidFill>
                <a:srgbClr val="000000"/>
              </a:solidFill>
              <a:effectLst/>
              <a:uFillTx/>
              <a:latin typeface="Arial"/>
            </a:endParaRPr>
          </a:p>
        </p:txBody>
      </p:sp>
      <p:sp>
        <p:nvSpPr>
          <p:cNvPr id="462" name="Text 65"/>
          <p:cNvSpPr/>
          <p:nvPr/>
        </p:nvSpPr>
        <p:spPr>
          <a:xfrm>
            <a:off x="8560080" y="5514840"/>
            <a:ext cx="9312840" cy="3308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1" u="none" spc="167" strike="noStrike">
                <a:solidFill>
                  <a:srgbClr val="9B9DA0"/>
                </a:solidFill>
                <a:effectLst/>
                <a:uFillTx/>
                <a:latin typeface="Open Sans"/>
                <a:ea typeface="Open Sans"/>
              </a:rPr>
              <a:t>THE OPEN PLAYBOOK · </a:t>
            </a:r>
            <a:r>
              <a:rPr lang="zh-CN" sz="1200" b="1" u="none" spc="167" strike="noStrike">
                <a:solidFill>
                  <a:srgbClr val="9B9DA0"/>
                </a:solidFill>
                <a:effectLst/>
                <a:uFillTx/>
                <a:latin typeface="Open Sans"/>
                <a:ea typeface="Open Sans"/>
              </a:rPr>
              <a:t>公開設計図</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E2E"/>
        </a:solidFill>
      </p:bgPr>
    </p:bg>
    <p:spTree>
      <p:nvGrpSpPr>
        <p:cNvPr id="1" name=""/>
        <p:cNvGrpSpPr/>
        <p:nvPr/>
      </p:nvGrpSpPr>
      <p:grpSpPr>
        <a:xfrm>
          <a:off x="0" y="0"/>
          <a:ext cx="0" cy="0"/>
          <a:chOff x="0" y="0"/>
          <a:chExt cx="0" cy="0"/>
        </a:xfrm>
      </p:grpSpPr>
      <p:sp>
        <p:nvSpPr>
          <p:cNvPr id="463" name="Shape 0"/>
          <p:cNvSpPr/>
          <p:nvPr/>
        </p:nvSpPr>
        <p:spPr>
          <a:xfrm>
            <a:off x="0" y="0"/>
            <a:ext cx="18287280" cy="75600"/>
          </a:xfrm>
          <a:prstGeom prst="rect">
            <a:avLst/>
          </a:prstGeom>
          <a:solidFill>
            <a:srgbClr val="E58520"/>
          </a:solidFill>
          <a:ln w="0">
            <a:noFill/>
          </a:ln>
        </p:spPr>
        <p:style>
          <a:lnRef idx="0"/>
          <a:fillRef idx="0"/>
          <a:effectRef idx="0"/>
          <a:fontRef idx="minor"/>
        </p:style>
        <p:txBody>
          <a:bodyPr lIns="90000" tIns="31320" rIns="90000" bIns="31320" anchor="t">
            <a:noAutofit/>
          </a:bodyPr>
          <a:p>
            <a:endParaRPr lang="en-US" sz="1800" b="0" u="none" strike="noStrike">
              <a:solidFill>
                <a:srgbClr val="FFFFFF"/>
              </a:solidFill>
              <a:effectLst/>
              <a:uFillTx/>
              <a:latin typeface="Arial"/>
            </a:endParaRPr>
          </a:p>
        </p:txBody>
      </p:sp>
      <p:sp>
        <p:nvSpPr>
          <p:cNvPr id="464" name="Shape 1"/>
          <p:cNvSpPr/>
          <p:nvPr/>
        </p:nvSpPr>
        <p:spPr>
          <a:xfrm>
            <a:off x="609480" y="93348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endParaRPr lang="en-US" sz="1800" b="0" u="none" strike="noStrike">
              <a:solidFill>
                <a:srgbClr val="FFFFFF"/>
              </a:solidFill>
              <a:effectLst/>
              <a:uFillTx/>
              <a:latin typeface="Arial"/>
            </a:endParaRPr>
          </a:p>
        </p:txBody>
      </p:sp>
      <p:sp>
        <p:nvSpPr>
          <p:cNvPr id="465" name="Text 2"/>
          <p:cNvSpPr/>
          <p:nvPr/>
        </p:nvSpPr>
        <p:spPr>
          <a:xfrm>
            <a:off x="1181160" y="838080"/>
            <a:ext cx="31600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300" b="1" u="none" spc="204" strike="noStrike">
                <a:solidFill>
                  <a:srgbClr val="9B9DA0"/>
                </a:solidFill>
                <a:effectLst/>
                <a:uFillTx/>
                <a:latin typeface="Open Sans"/>
                <a:ea typeface="Open Sans"/>
              </a:rPr>
              <a:t>THE INVITATION · </a:t>
            </a:r>
            <a:r>
              <a:rPr lang="zh-CN" sz="1300" b="1" u="none" spc="204" strike="noStrike">
                <a:solidFill>
                  <a:srgbClr val="9B9DA0"/>
                </a:solidFill>
                <a:effectLst/>
                <a:uFillTx/>
                <a:latin typeface="Open Sans"/>
                <a:ea typeface="Open Sans"/>
              </a:rPr>
              <a:t>ご提案 </a:t>
            </a:r>
            <a:r>
              <a:rPr lang="en-US" sz="1300" b="1" u="none" spc="204" strike="noStrike">
                <a:solidFill>
                  <a:srgbClr val="9B9DA0"/>
                </a:solidFill>
                <a:effectLst/>
                <a:uFillTx/>
                <a:latin typeface="Open Sans"/>
                <a:ea typeface="Open Sans"/>
              </a:rPr>
              <a:t>· 15</a:t>
            </a:r>
            <a:endParaRPr lang="en-US" sz="1300" b="0" u="none" strike="noStrike">
              <a:solidFill>
                <a:srgbClr val="FFFFFF"/>
              </a:solidFill>
              <a:effectLst/>
              <a:uFillTx/>
              <a:latin typeface="Arial"/>
            </a:endParaRPr>
          </a:p>
        </p:txBody>
      </p:sp>
      <p:sp>
        <p:nvSpPr>
          <p:cNvPr id="466" name="Text 3"/>
          <p:cNvSpPr/>
          <p:nvPr/>
        </p:nvSpPr>
        <p:spPr>
          <a:xfrm>
            <a:off x="609480" y="3321720"/>
            <a:ext cx="14715360" cy="17474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pPr>
            <a:r>
              <a:rPr lang="en-US" sz="6600" b="1" u="none" spc="-99" strike="noStrike">
                <a:solidFill>
                  <a:srgbClr val="F4F1EC"/>
                </a:solidFill>
                <a:effectLst/>
                <a:uFillTx/>
                <a:latin typeface="Sora"/>
                <a:ea typeface="Sora"/>
              </a:rPr>
              <a:t>Help write the blueprint, not just fund a village.</a:t>
            </a:r>
            <a:endParaRPr lang="en-US" sz="6600" b="0" u="none" strike="noStrike">
              <a:solidFill>
                <a:srgbClr val="FFFFFF"/>
              </a:solidFill>
              <a:effectLst/>
              <a:uFillTx/>
              <a:latin typeface="Arial"/>
            </a:endParaRPr>
          </a:p>
        </p:txBody>
      </p:sp>
      <p:sp>
        <p:nvSpPr>
          <p:cNvPr id="467" name="Text 4"/>
          <p:cNvSpPr/>
          <p:nvPr/>
        </p:nvSpPr>
        <p:spPr>
          <a:xfrm>
            <a:off x="609480" y="5241240"/>
            <a:ext cx="18775080" cy="456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zh-CN" sz="2250" b="0" u="none" strike="noStrike">
                <a:solidFill>
                  <a:srgbClr val="B9BBBD"/>
                </a:solidFill>
                <a:effectLst/>
                <a:uFillTx/>
                <a:latin typeface="Noto Sans JP"/>
                <a:ea typeface="Noto Sans JP"/>
              </a:rPr>
              <a:t>一つの村への出資ではなく、地方再生の設計図づくりに参加を。</a:t>
            </a:r>
            <a:endParaRPr lang="en-US" sz="2250" b="0" u="none" strike="noStrike">
              <a:solidFill>
                <a:srgbClr val="FFFFFF"/>
              </a:solidFill>
              <a:effectLst/>
              <a:uFillTx/>
              <a:latin typeface="Arial"/>
            </a:endParaRPr>
          </a:p>
        </p:txBody>
      </p:sp>
      <p:sp>
        <p:nvSpPr>
          <p:cNvPr id="468" name="Shape 5"/>
          <p:cNvSpPr/>
          <p:nvPr/>
        </p:nvSpPr>
        <p:spPr>
          <a:xfrm>
            <a:off x="609480" y="7905600"/>
            <a:ext cx="3903840" cy="1694880"/>
          </a:xfrm>
          <a:prstGeom prst="rect">
            <a:avLst/>
          </a:prstGeom>
          <a:solidFill>
            <a:srgbClr val="E5852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9" name="Text 6"/>
          <p:cNvSpPr/>
          <p:nvPr/>
        </p:nvSpPr>
        <p:spPr>
          <a:xfrm>
            <a:off x="971640" y="8191440"/>
            <a:ext cx="3497760" cy="266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200" b="1" u="none" spc="167" strike="noStrike">
                <a:solidFill>
                  <a:srgbClr val="FCE6CC"/>
                </a:solidFill>
                <a:effectLst/>
                <a:uFillTx/>
                <a:latin typeface="Open Sans"/>
                <a:ea typeface="Open Sans"/>
              </a:rPr>
              <a:t>NOW SEEKING · GATE 1 · </a:t>
            </a:r>
            <a:r>
              <a:rPr lang="zh-CN" sz="1200" b="1" u="none" spc="167" strike="noStrike">
                <a:solidFill>
                  <a:srgbClr val="FCE6CC"/>
                </a:solidFill>
                <a:effectLst/>
                <a:uFillTx/>
                <a:latin typeface="Open Sans"/>
                <a:ea typeface="Open Sans"/>
              </a:rPr>
              <a:t>現在募集中</a:t>
            </a:r>
            <a:endParaRPr lang="en-US" sz="1200" b="0" u="none" strike="noStrike">
              <a:solidFill>
                <a:srgbClr val="FFFFFF"/>
              </a:solidFill>
              <a:effectLst/>
              <a:uFillTx/>
              <a:latin typeface="Arial"/>
            </a:endParaRPr>
          </a:p>
        </p:txBody>
      </p:sp>
      <p:sp>
        <p:nvSpPr>
          <p:cNvPr id="470" name="Text 7"/>
          <p:cNvSpPr/>
          <p:nvPr/>
        </p:nvSpPr>
        <p:spPr>
          <a:xfrm>
            <a:off x="971640" y="8496360"/>
            <a:ext cx="3497760" cy="532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pPr>
            <a:r>
              <a:rPr lang="en-US" sz="3900" b="1" u="none" strike="noStrike">
                <a:solidFill>
                  <a:srgbClr val="FFFFFF"/>
                </a:solidFill>
                <a:effectLst/>
                <a:uFillTx/>
                <a:latin typeface="Sora"/>
                <a:ea typeface="Sora"/>
              </a:rPr>
              <a:t>¥3–8M</a:t>
            </a:r>
            <a:endParaRPr lang="en-US" sz="3900" b="0" u="none" strike="noStrike">
              <a:solidFill>
                <a:srgbClr val="FFFFFF"/>
              </a:solidFill>
              <a:effectLst/>
              <a:uFillTx/>
              <a:latin typeface="Arial"/>
            </a:endParaRPr>
          </a:p>
        </p:txBody>
      </p:sp>
      <p:sp>
        <p:nvSpPr>
          <p:cNvPr id="471" name="Text 8"/>
          <p:cNvSpPr/>
          <p:nvPr/>
        </p:nvSpPr>
        <p:spPr>
          <a:xfrm>
            <a:off x="971640" y="9067680"/>
            <a:ext cx="34977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450" b="0" u="none" strike="noStrike">
                <a:solidFill>
                  <a:srgbClr val="FBE6CC"/>
                </a:solidFill>
                <a:effectLst/>
                <a:uFillTx/>
                <a:latin typeface="Open Sans"/>
                <a:ea typeface="Open Sans"/>
              </a:rPr>
              <a:t>Phase 1: entity · feasibility · advisors</a:t>
            </a:r>
            <a:endParaRPr lang="en-US" sz="1450" b="0" u="none" strike="noStrike">
              <a:solidFill>
                <a:srgbClr val="FFFFFF"/>
              </a:solidFill>
              <a:effectLst/>
              <a:uFillTx/>
              <a:latin typeface="Arial"/>
            </a:endParaRPr>
          </a:p>
        </p:txBody>
      </p:sp>
      <p:sp>
        <p:nvSpPr>
          <p:cNvPr id="472" name="Text 9"/>
          <p:cNvSpPr/>
          <p:nvPr/>
        </p:nvSpPr>
        <p:spPr>
          <a:xfrm>
            <a:off x="4894920" y="8282160"/>
            <a:ext cx="14060880" cy="366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pPr>
            <a:r>
              <a:rPr lang="en-US" sz="1750" b="0" u="none" strike="noStrike">
                <a:solidFill>
                  <a:srgbClr val="E3E4E2"/>
                </a:solidFill>
                <a:effectLst/>
                <a:uFillTx/>
                <a:latin typeface="Open Sans"/>
                <a:ea typeface="Open Sans"/>
              </a:rPr>
              <a:t>Founding partners welcome — government, foundation, corporate, and impact investors. Open books from day one.</a:t>
            </a:r>
            <a:endParaRPr lang="en-US" sz="1750" b="0" u="none" strike="noStrike">
              <a:solidFill>
                <a:srgbClr val="FFFFFF"/>
              </a:solidFill>
              <a:effectLst/>
              <a:uFillTx/>
              <a:latin typeface="Arial"/>
            </a:endParaRPr>
          </a:p>
        </p:txBody>
      </p:sp>
      <p:sp>
        <p:nvSpPr>
          <p:cNvPr id="473" name="Shape 10"/>
          <p:cNvSpPr/>
          <p:nvPr/>
        </p:nvSpPr>
        <p:spPr>
          <a:xfrm>
            <a:off x="4894920" y="8858160"/>
            <a:ext cx="12782520" cy="8640"/>
          </a:xfrm>
          <a:prstGeom prst="rect">
            <a:avLst/>
          </a:prstGeom>
          <a:solidFill>
            <a:srgbClr val="4A4A4A"/>
          </a:solidFill>
          <a:ln w="0">
            <a:noFill/>
          </a:ln>
        </p:spPr>
        <p:style>
          <a:lnRef idx="0"/>
          <a:fillRef idx="0"/>
          <a:effectRef idx="0"/>
          <a:fontRef idx="minor"/>
        </p:style>
        <p:txBody>
          <a:bodyPr lIns="90000" tIns="-35640" rIns="90000" bIns="-35640" anchor="t">
            <a:noAutofit/>
          </a:bodyPr>
          <a:p>
            <a:endParaRPr lang="en-US" sz="1800" b="0" u="none" strike="noStrike">
              <a:solidFill>
                <a:srgbClr val="FFFFFF"/>
              </a:solidFill>
              <a:effectLst/>
              <a:uFillTx/>
              <a:latin typeface="Arial"/>
            </a:endParaRPr>
          </a:p>
        </p:txBody>
      </p:sp>
      <p:sp>
        <p:nvSpPr>
          <p:cNvPr id="474" name="Text 11"/>
          <p:cNvSpPr/>
          <p:nvPr/>
        </p:nvSpPr>
        <p:spPr>
          <a:xfrm>
            <a:off x="4894920" y="9077400"/>
            <a:ext cx="156996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50" b="1" u="none" spc="125" strike="noStrike">
                <a:solidFill>
                  <a:srgbClr val="9B9DA0"/>
                </a:solidFill>
                <a:effectLst/>
                <a:uFillTx/>
                <a:latin typeface="Open Sans"/>
                <a:ea typeface="Open Sans"/>
              </a:rPr>
              <a:t>LEAD</a:t>
            </a:r>
            <a:endParaRPr lang="en-US" sz="1050" b="0" u="none" strike="noStrike">
              <a:solidFill>
                <a:srgbClr val="FFFFFF"/>
              </a:solidFill>
              <a:effectLst/>
              <a:uFillTx/>
              <a:latin typeface="Arial"/>
            </a:endParaRPr>
          </a:p>
        </p:txBody>
      </p:sp>
      <p:sp>
        <p:nvSpPr>
          <p:cNvPr id="475" name="Text 12"/>
          <p:cNvSpPr/>
          <p:nvPr/>
        </p:nvSpPr>
        <p:spPr>
          <a:xfrm>
            <a:off x="4894920" y="9296280"/>
            <a:ext cx="15699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F4F1EC"/>
                </a:solidFill>
                <a:effectLst/>
                <a:uFillTx/>
                <a:latin typeface="Open Sans"/>
                <a:ea typeface="Open Sans"/>
              </a:rPr>
              <a:t>Rob Oudendijk</a:t>
            </a:r>
            <a:endParaRPr lang="en-US" sz="1600" b="0" u="none" strike="noStrike">
              <a:solidFill>
                <a:srgbClr val="FFFFFF"/>
              </a:solidFill>
              <a:effectLst/>
              <a:uFillTx/>
              <a:latin typeface="Arial"/>
            </a:endParaRPr>
          </a:p>
        </p:txBody>
      </p:sp>
      <p:sp>
        <p:nvSpPr>
          <p:cNvPr id="476" name="Text 13"/>
          <p:cNvSpPr/>
          <p:nvPr/>
        </p:nvSpPr>
        <p:spPr>
          <a:xfrm>
            <a:off x="6780240" y="9077400"/>
            <a:ext cx="211932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50" b="1" u="none" spc="125" strike="noStrike">
                <a:solidFill>
                  <a:srgbClr val="9B9DA0"/>
                </a:solidFill>
                <a:effectLst/>
                <a:uFillTx/>
                <a:latin typeface="Open Sans"/>
                <a:ea typeface="Open Sans"/>
              </a:rPr>
              <a:t>ORG</a:t>
            </a:r>
            <a:endParaRPr lang="en-US" sz="1050" b="0" u="none" strike="noStrike">
              <a:solidFill>
                <a:srgbClr val="FFFFFF"/>
              </a:solidFill>
              <a:effectLst/>
              <a:uFillTx/>
              <a:latin typeface="Arial"/>
            </a:endParaRPr>
          </a:p>
        </p:txBody>
      </p:sp>
      <p:sp>
        <p:nvSpPr>
          <p:cNvPr id="477" name="Text 14"/>
          <p:cNvSpPr/>
          <p:nvPr/>
        </p:nvSpPr>
        <p:spPr>
          <a:xfrm>
            <a:off x="6780240" y="9296280"/>
            <a:ext cx="211932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F4F1EC"/>
                </a:solidFill>
                <a:effectLst/>
                <a:uFillTx/>
                <a:latin typeface="Open Sans"/>
                <a:ea typeface="Open Sans"/>
              </a:rPr>
              <a:t>YR-Design · Safecast</a:t>
            </a:r>
            <a:endParaRPr lang="en-US" sz="1600" b="0" u="none" strike="noStrike">
              <a:solidFill>
                <a:srgbClr val="FFFFFF"/>
              </a:solidFill>
              <a:effectLst/>
              <a:uFillTx/>
              <a:latin typeface="Arial"/>
            </a:endParaRPr>
          </a:p>
        </p:txBody>
      </p:sp>
      <p:sp>
        <p:nvSpPr>
          <p:cNvPr id="478" name="Text 15"/>
          <p:cNvSpPr/>
          <p:nvPr/>
        </p:nvSpPr>
        <p:spPr>
          <a:xfrm>
            <a:off x="9164520" y="9077400"/>
            <a:ext cx="219816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050" b="1" u="none" spc="125" strike="noStrike">
                <a:solidFill>
                  <a:srgbClr val="9B9DA0"/>
                </a:solidFill>
                <a:effectLst/>
                <a:uFillTx/>
                <a:latin typeface="Open Sans"/>
                <a:ea typeface="Open Sans"/>
              </a:rPr>
              <a:t>LOCATION</a:t>
            </a:r>
            <a:endParaRPr lang="en-US" sz="1050" b="0" u="none" strike="noStrike">
              <a:solidFill>
                <a:srgbClr val="FFFFFF"/>
              </a:solidFill>
              <a:effectLst/>
              <a:uFillTx/>
              <a:latin typeface="Arial"/>
            </a:endParaRPr>
          </a:p>
        </p:txBody>
      </p:sp>
      <p:sp>
        <p:nvSpPr>
          <p:cNvPr id="479" name="Text 16"/>
          <p:cNvSpPr/>
          <p:nvPr/>
        </p:nvSpPr>
        <p:spPr>
          <a:xfrm>
            <a:off x="9164520" y="9296280"/>
            <a:ext cx="219816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pPr>
            <a:r>
              <a:rPr lang="en-US" sz="1600" b="1" u="none" strike="noStrike">
                <a:solidFill>
                  <a:srgbClr val="F4F1EC"/>
                </a:solidFill>
                <a:effectLst/>
                <a:uFillTx/>
                <a:latin typeface="Open Sans"/>
                <a:ea typeface="Open Sans"/>
              </a:rPr>
              <a:t>Mitsue, Nara · </a:t>
            </a:r>
            <a:r>
              <a:rPr lang="zh-CN" sz="1600" b="1" u="none" strike="noStrike">
                <a:solidFill>
                  <a:srgbClr val="F4F1EC"/>
                </a:solidFill>
                <a:effectLst/>
                <a:uFillTx/>
                <a:latin typeface="Open Sans"/>
                <a:ea typeface="Open Sans"/>
              </a:rPr>
              <a:t>御杖村</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LibreOffice/26.2.3.2$Linux_X86_64 LibreOffice_project/70e089b17412e4cb7773e41413306b17a2328c34</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2026-06-18T06:55:34Z</dcterms:created>
  <dc:creator>PptxGenJS</dc:creator>
  <dc:description/>
  <dc:language>en-US</dc:language>
  <cp:lastModifiedBy/>
  <dcterms:modified xsi:type="dcterms:W3CDTF">2026-06-19T13:45:00Z</dcterms:modified>
  <cp:revision>6</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16</vt:i4>
  </property>
  <property fmtid="{D5CDD505-2E9C-101B-9397-08002B2CF9AE}" pid="4" name="PresentationFormat">
    <vt:lpwstr>On-screen Show (4:3)</vt:lpwstr>
  </property>
  <property fmtid="{D5CDD505-2E9C-101B-9397-08002B2CF9AE}" pid="5" name="Slides">
    <vt:i4>16</vt:i4>
  </property>
</Properties>
</file>