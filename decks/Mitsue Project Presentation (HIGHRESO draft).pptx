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16"/>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18288000" cy="10287000"/>
  <p:notesSz cx="10287000" cy="18288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0" d="6"/>
          <a:sy n="0" d="2"/>
        </p:scale>
        <p:origin x="1212807120" y="0"/>
      </p:cViewPr>
      <p:guideLst>
        <p:guide pos="5760"/>
        <p:guide pos="3240"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tableStyles" Target="tableStyles.xml"/><Relationship Id="rId1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spTree>
      <p:nvGrpSpPr>
        <p:cNvPr id="1" name=""/>
        <p:cNvGrpSpPr/>
        <p:nvPr/>
      </p:nvGrpSpPr>
      <p:grpSpPr bwMode="auto">
        <a:xfrm>
          <a:off x="0" y="0"/>
          <a:ext cx="0" cy="0"/>
          <a:chOff x="0" y="0"/>
          <a:chExt cx="0" cy="0"/>
        </a:xfrm>
      </p:grpSpPr>
      <p:sp>
        <p:nvSpPr>
          <p:cNvPr id="1587821322" name="PlaceHolder 1"/>
          <p:cNvSpPr>
            <a:spLocks noGrp="1"/>
          </p:cNvSpPr>
          <p:nvPr>
            <p:ph type="sldImg"/>
          </p:nvPr>
        </p:nvSpPr>
        <p:spPr bwMode="auto">
          <a:xfrm>
            <a:off x="216000" y="812520"/>
            <a:ext cx="7127280" cy="4008960"/>
          </a:xfrm>
          <a:prstGeom prst="rect">
            <a:avLst/>
          </a:prstGeom>
          <a:noFill/>
          <a:ln w="0">
            <a:noFill/>
          </a:ln>
        </p:spPr>
        <p:txBody>
          <a:bodyPr lIns="0" tIns="0" rIns="0" bIns="0" anchor="ctr">
            <a:noAutofit/>
          </a:bodyPr>
          <a:p>
            <a:pPr>
              <a:defRPr/>
            </a:pPr>
            <a:r>
              <a:rPr lang="en-US" sz="1800" b="0" u="none" strike="noStrike">
                <a:solidFill>
                  <a:schemeClr val="dk1"/>
                </a:solidFill>
                <a:latin typeface="Calibri"/>
              </a:rPr>
              <a:t>Click to move the slide</a:t>
            </a:r>
            <a:endParaRPr lang="en-US" sz="1800" b="0" u="none" strike="noStrike">
              <a:solidFill>
                <a:schemeClr val="dk1"/>
              </a:solidFill>
              <a:latin typeface="Calibri"/>
            </a:endParaRPr>
          </a:p>
        </p:txBody>
      </p:sp>
      <p:sp>
        <p:nvSpPr>
          <p:cNvPr id="1060402697" name="PlaceHolder 2"/>
          <p:cNvSpPr>
            <a:spLocks noGrp="1"/>
          </p:cNvSpPr>
          <p:nvPr>
            <p:ph type="body"/>
          </p:nvPr>
        </p:nvSpPr>
        <p:spPr bwMode="auto">
          <a:xfrm>
            <a:off x="756000" y="5078520"/>
            <a:ext cx="6047640" cy="4811039"/>
          </a:xfrm>
          <a:prstGeom prst="rect">
            <a:avLst/>
          </a:prstGeom>
          <a:noFill/>
          <a:ln w="0">
            <a:noFill/>
          </a:ln>
        </p:spPr>
        <p:txBody>
          <a:bodyPr lIns="0" tIns="0" rIns="0" bIns="0" anchor="t">
            <a:noAutofit/>
          </a:bodyPr>
          <a:p>
            <a:pPr indent="0" algn="l">
              <a:buNone/>
              <a:defRPr/>
            </a:pPr>
            <a:r>
              <a:rPr lang="en-US" sz="2000" b="0" u="none" strike="noStrike">
                <a:solidFill>
                  <a:srgbClr val="000000"/>
                </a:solidFill>
                <a:latin typeface="Arial"/>
              </a:rPr>
              <a:t>Click to edit the </a:t>
            </a:r>
            <a:r>
              <a:rPr lang="en-US" sz="2000" b="0" u="none" strike="noStrike">
                <a:solidFill>
                  <a:srgbClr val="000000"/>
                </a:solidFill>
                <a:latin typeface="Arial"/>
              </a:rPr>
              <a:t>notes format</a:t>
            </a:r>
            <a:endParaRPr lang="en-US" sz="2000" b="0" u="none" strike="noStrike">
              <a:solidFill>
                <a:srgbClr val="000000"/>
              </a:solidFill>
              <a:latin typeface="Arial"/>
            </a:endParaRPr>
          </a:p>
        </p:txBody>
      </p:sp>
      <p:sp>
        <p:nvSpPr>
          <p:cNvPr id="1023206737" name="PlaceHolder 3"/>
          <p:cNvSpPr>
            <a:spLocks noGrp="1"/>
          </p:cNvSpPr>
          <p:nvPr>
            <p:ph type="hdr"/>
          </p:nvPr>
        </p:nvSpPr>
        <p:spPr bwMode="auto">
          <a:xfrm>
            <a:off x="0" y="0"/>
            <a:ext cx="3280680" cy="534240"/>
          </a:xfrm>
          <a:prstGeom prst="rect">
            <a:avLst/>
          </a:prstGeom>
          <a:noFill/>
          <a:ln w="0">
            <a:noFill/>
          </a:ln>
        </p:spPr>
        <p:txBody>
          <a:bodyPr lIns="0" tIns="0" rIns="0" bIns="0" anchor="t">
            <a:noAutofit/>
          </a:bodyPr>
          <a:p>
            <a:pPr indent="0" algn="l">
              <a:buNone/>
              <a:defRPr/>
            </a:pPr>
            <a:r>
              <a:rPr lang="en-US" sz="1400" b="0" u="none" strike="noStrike">
                <a:solidFill>
                  <a:srgbClr val="000000"/>
                </a:solidFill>
                <a:latin typeface="Times New Roman"/>
              </a:rPr>
              <a:t> </a:t>
            </a:r>
            <a:endParaRPr lang="en-US" sz="1400" b="0" u="none" strike="noStrike">
              <a:solidFill>
                <a:srgbClr val="000000"/>
              </a:solidFill>
              <a:latin typeface="Times New Roman"/>
            </a:endParaRPr>
          </a:p>
        </p:txBody>
      </p:sp>
      <p:sp>
        <p:nvSpPr>
          <p:cNvPr id="431624879" name="PlaceHolder 4"/>
          <p:cNvSpPr>
            <a:spLocks noGrp="1"/>
          </p:cNvSpPr>
          <p:nvPr>
            <p:ph type="dt" idx="1"/>
          </p:nvPr>
        </p:nvSpPr>
        <p:spPr bwMode="auto">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latin typeface="Times New Roman"/>
              </a:defRPr>
            </a:lvl1pPr>
          </a:lstStyle>
          <a:p>
            <a:pPr indent="0" algn="r">
              <a:buNone/>
              <a:defRPr/>
            </a:pPr>
            <a:r>
              <a:rPr lang="en-US" sz="1400" b="0" u="none" strike="noStrike">
                <a:solidFill>
                  <a:srgbClr val="000000"/>
                </a:solidFill>
                <a:latin typeface="Times New Roman"/>
              </a:rPr>
              <a:t> </a:t>
            </a:r>
            <a:endParaRPr lang="en-US" sz="1400" b="0" u="none" strike="noStrike">
              <a:solidFill>
                <a:srgbClr val="000000"/>
              </a:solidFill>
              <a:latin typeface="Times New Roman"/>
            </a:endParaRPr>
          </a:p>
        </p:txBody>
      </p:sp>
      <p:sp>
        <p:nvSpPr>
          <p:cNvPr id="726064838" name="PlaceHolder 5"/>
          <p:cNvSpPr>
            <a:spLocks noGrp="1"/>
          </p:cNvSpPr>
          <p:nvPr>
            <p:ph type="ftr" idx="2"/>
          </p:nvPr>
        </p:nvSpPr>
        <p:spPr bwMode="auto">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latin typeface="Times New Roman"/>
              </a:defRPr>
            </a:lvl1pPr>
          </a:lstStyle>
          <a:p>
            <a:pPr indent="0" algn="l">
              <a:buNone/>
              <a:defRPr/>
            </a:pPr>
            <a:r>
              <a:rPr lang="en-US" sz="1400" b="0" u="none" strike="noStrike">
                <a:solidFill>
                  <a:srgbClr val="000000"/>
                </a:solidFill>
                <a:latin typeface="Times New Roman"/>
              </a:rPr>
              <a:t> </a:t>
            </a:r>
            <a:endParaRPr lang="en-US" sz="1400" b="0" u="none" strike="noStrike">
              <a:solidFill>
                <a:srgbClr val="000000"/>
              </a:solidFill>
              <a:latin typeface="Times New Roman"/>
            </a:endParaRPr>
          </a:p>
        </p:txBody>
      </p:sp>
      <p:sp>
        <p:nvSpPr>
          <p:cNvPr id="1642301917" name="PlaceHolder 6"/>
          <p:cNvSpPr>
            <a:spLocks noGrp="1"/>
          </p:cNvSpPr>
          <p:nvPr>
            <p:ph type="sldNum" idx="3"/>
          </p:nvPr>
        </p:nvSpPr>
        <p:spPr bwMode="auto">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latin typeface="Times New Roman"/>
              </a:defRPr>
            </a:lvl1pPr>
          </a:lstStyle>
          <a:p>
            <a:pPr indent="0" algn="r">
              <a:buNone/>
              <a:defRPr/>
            </a:pPr>
            <a:fld id="{D3CFB75A-811A-4B4A-8D8D-529027194582}" type="slidenum">
              <a:rPr lang="en-US" sz="1400" b="0" u="none" strike="noStrike">
                <a:solidFill>
                  <a:srgbClr val="000000"/>
                </a:solidFill>
                <a:latin typeface="Times New Roman"/>
              </a:rPr>
              <a:t>1</a:t>
            </a:fld>
            <a:endParaRPr lang="en-US" sz="1400" b="0" u="none" strike="noStrike">
              <a:solidFill>
                <a:srgbClr val="000000"/>
              </a:solidFill>
              <a:latin typeface="Times New Roman"/>
            </a:endParaRPr>
          </a:p>
        </p:txBody>
      </p:sp>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64883192" name="PlaceHolder 1"/>
          <p:cNvSpPr>
            <a:spLocks noGrp="1"/>
          </p:cNvSpPr>
          <p:nvPr>
            <p:ph type="sldImg"/>
          </p:nvPr>
        </p:nvSpPr>
        <p:spPr bwMode="auto">
          <a:xfrm>
            <a:off x="685800" y="1143000"/>
            <a:ext cx="5485680" cy="3085560"/>
          </a:xfrm>
          <a:prstGeom prst="rect">
            <a:avLst/>
          </a:prstGeom>
          <a:ln w="0">
            <a:noFill/>
          </a:ln>
        </p:spPr>
      </p:sp>
      <p:sp>
        <p:nvSpPr>
          <p:cNvPr id="388577349"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Good afternoon. Thank you for making time. I'm going to walk you through the Mitsue Project — a 25-year initiative in rural Japan. Twenty-five years is a long horizon, so I'll keep this short: about ten minutes. The very short version is on this slide: forest, EV power, and a tiny community-owned data center, all in one mountain village in Nara Prefecture. Three things that sound unrelated. They're not.</a:t>
            </a:r>
            <a:endParaRPr lang="en-US" sz="2000" b="0" u="none" strike="noStrike">
              <a:solidFill>
                <a:srgbClr val="000000"/>
              </a:solidFill>
              <a:latin typeface="Arial"/>
            </a:endParaRPr>
          </a:p>
        </p:txBody>
      </p:sp>
      <p:sp>
        <p:nvSpPr>
          <p:cNvPr id="705662927" name="PlaceHolder 3"/>
          <p:cNvSpPr>
            <a:spLocks noGrp="1"/>
          </p:cNvSpPr>
          <p:nvPr>
            <p:ph type="sldNum" idx="4"/>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7E99B006-4D73-41F3-9242-38B7786BC3E0}" type="slidenum">
              <a:rPr lang="en-US" sz="1200" b="0" u="none" strike="noStrike">
                <a:solidFill>
                  <a:schemeClr val="dk1"/>
                </a:solidFill>
                <a:latin typeface="+mn-lt"/>
                <a:ea typeface="+mn-ea"/>
              </a:rPr>
              <a:t>12</a:t>
            </a:fld>
            <a:endParaRPr lang="en-US" sz="1200" b="0" u="none" strike="noStrike">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26518000" name="PlaceHolder 1"/>
          <p:cNvSpPr>
            <a:spLocks noGrp="1"/>
          </p:cNvSpPr>
          <p:nvPr>
            <p:ph type="sldImg"/>
          </p:nvPr>
        </p:nvSpPr>
        <p:spPr bwMode="auto">
          <a:xfrm>
            <a:off x="685800" y="1143000"/>
            <a:ext cx="5485680" cy="3085560"/>
          </a:xfrm>
          <a:prstGeom prst="rect">
            <a:avLst/>
          </a:prstGeom>
          <a:ln w="0">
            <a:noFill/>
          </a:ln>
        </p:spPr>
      </p:sp>
      <p:sp>
        <p:nvSpPr>
          <p:cNvPr id="1818240946"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Mitsue Village sits in the mountains of Nara Prefecture. Population is shrinking. The elementary school closed. The cedar plantations around the village are aging. The grid is fragile. None of that is unique to Mitsue — that's actually the point. Whatever works here should work in a thousand other villages with the same pattern. We're in Phase 0: pre-foundation. No pres</a:t>
            </a:r>
            <a:r>
              <a:rPr lang="en-US" sz="2000" b="0" u="none" strike="noStrike">
                <a:solidFill>
                  <a:srgbClr val="000000"/>
                </a:solidFill>
                <a:latin typeface="Arial"/>
              </a:rPr>
              <a:t>s, event. Just trust-building, charter drafting, and assembling the founding team.</a:t>
            </a:r>
            <a:endParaRPr lang="en-US" sz="2000" b="0" u="none" strike="noStrike">
              <a:solidFill>
                <a:srgbClr val="000000"/>
              </a:solidFill>
              <a:latin typeface="Arial"/>
            </a:endParaRPr>
          </a:p>
        </p:txBody>
      </p:sp>
      <p:sp>
        <p:nvSpPr>
          <p:cNvPr id="1606374804" name="PlaceHolder 3"/>
          <p:cNvSpPr>
            <a:spLocks noGrp="1"/>
          </p:cNvSpPr>
          <p:nvPr>
            <p:ph type="sldNum" idx="5"/>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D1129D0D-DA53-49F9-9B7A-2DA8B697D4A1}" type="slidenum">
              <a:rPr lang="en-US" sz="1200" b="0" u="none" strike="noStrike">
                <a:solidFill>
                  <a:schemeClr val="dk1"/>
                </a:solidFill>
                <a:latin typeface="+mn-lt"/>
                <a:ea typeface="+mn-ea"/>
              </a:rPr>
              <a:t>12</a:t>
            </a:fld>
            <a:endParaRPr lang="en-US" sz="1200" b="0" u="none" strike="noStrike">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21768835" name="PlaceHolder 1"/>
          <p:cNvSpPr>
            <a:spLocks noGrp="1"/>
          </p:cNvSpPr>
          <p:nvPr>
            <p:ph type="sldImg"/>
          </p:nvPr>
        </p:nvSpPr>
        <p:spPr bwMode="auto">
          <a:xfrm>
            <a:off x="685800" y="1143000"/>
            <a:ext cx="5485680" cy="3085560"/>
          </a:xfrm>
          <a:prstGeom prst="rect">
            <a:avLst/>
          </a:prstGeom>
          <a:ln w="0">
            <a:noFill/>
          </a:ln>
        </p:spPr>
      </p:sp>
      <p:sp>
        <p:nvSpPr>
          <p:cNvPr id="2035958398"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Four problems are converging on rural Japan at the same time. Cedar plantations are no longer managed — they cause pollen, biodiversity loss, landslides. </a:t>
            </a:r>
            <a:r>
              <a:rPr lang="en-US" sz="2000" b="0" u="none" strike="noStrike">
                <a:solidFill>
                  <a:srgbClr val="000000"/>
                </a:solidFill>
                <a:latin typeface="Arial"/>
              </a:rPr>
              <a:t>The Japanese passenger cars will be electric soon, and rural grids aren't ready. Closed schools cost municipalities money to maintain. And rural broadband and edge compute lag the cities. Each problem alone is expensive. The Mitsue thesis is that they're cheaper to solve together than separately.</a:t>
            </a:r>
            <a:endParaRPr lang="en-US" sz="2000" b="0" u="none" strike="noStrike">
              <a:solidFill>
                <a:srgbClr val="000000"/>
              </a:solidFill>
              <a:latin typeface="Arial"/>
            </a:endParaRPr>
          </a:p>
        </p:txBody>
      </p:sp>
      <p:sp>
        <p:nvSpPr>
          <p:cNvPr id="157099112" name="PlaceHolder 3"/>
          <p:cNvSpPr>
            <a:spLocks noGrp="1"/>
          </p:cNvSpPr>
          <p:nvPr>
            <p:ph type="sldNum" idx="6"/>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BE72C9DA-4793-41A7-9CD0-88C10A52A55A}" type="slidenum">
              <a:rPr lang="en-US" sz="1200" b="0" u="none" strike="noStrike">
                <a:solidFill>
                  <a:schemeClr val="dk1"/>
                </a:solidFill>
                <a:latin typeface="+mn-lt"/>
                <a:ea typeface="+mn-ea"/>
              </a:rPr>
              <a:t>12</a:t>
            </a:fld>
            <a:endParaRPr lang="en-US" sz="1200" b="0" u="none" strike="noStrike">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89866120" name="PlaceHolder 1"/>
          <p:cNvSpPr>
            <a:spLocks noGrp="1"/>
          </p:cNvSpPr>
          <p:nvPr>
            <p:ph type="sldImg"/>
          </p:nvPr>
        </p:nvSpPr>
        <p:spPr bwMode="auto">
          <a:xfrm>
            <a:off x="685800" y="1143000"/>
            <a:ext cx="5485680" cy="3085560"/>
          </a:xfrm>
          <a:prstGeom prst="rect">
            <a:avLst/>
          </a:prstGeom>
          <a:ln w="0">
            <a:noFill/>
          </a:ln>
        </p:spPr>
      </p:sp>
      <p:sp>
        <p:nvSpPr>
          <p:cNvPr id="1559598896"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So: three integrated activities under one coordinating body. Forest restoration. Distributed renewable energy and EV charging. A small, community-owned data center. The </a:t>
            </a:r>
            <a:r>
              <a:rPr lang="en-US" sz="2000" b="0" u="none" strike="noStrike">
                <a:solidFill>
                  <a:srgbClr val="000000"/>
                </a:solidFill>
                <a:latin typeface="Arial"/>
              </a:rPr>
              <a:t>cedar we remove to make way for the native forest becomes the biomass that powers the data center and the cars — the conversion fuels the conversion. The data center anchors the closed school back into village life. They share a single 25-year ledger of methods, finances, and outcomes — published openly.</a:t>
            </a:r>
            <a:endParaRPr lang="en-US" sz="2000" b="0" u="none" strike="noStrike">
              <a:solidFill>
                <a:srgbClr val="000000"/>
              </a:solidFill>
              <a:latin typeface="Arial"/>
            </a:endParaRPr>
          </a:p>
        </p:txBody>
      </p:sp>
      <p:sp>
        <p:nvSpPr>
          <p:cNvPr id="1746693159" name="PlaceHolder 3"/>
          <p:cNvSpPr>
            <a:spLocks noGrp="1"/>
          </p:cNvSpPr>
          <p:nvPr>
            <p:ph type="sldNum" idx="7"/>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124A28D8-90F5-4628-BAA7-6F66BBAB725D}" type="slidenum">
              <a:rPr lang="en-US" sz="1200" b="0" u="none" strike="noStrike">
                <a:solidFill>
                  <a:schemeClr val="dk1"/>
                </a:solidFill>
                <a:latin typeface="+mn-lt"/>
                <a:ea typeface="+mn-ea"/>
              </a:rPr>
              <a:t>12</a:t>
            </a:fld>
            <a:endParaRPr lang="en-US" sz="1200" b="0" u="none" strike="noStrike">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0809413" name="PlaceHolder 1"/>
          <p:cNvSpPr>
            <a:spLocks noGrp="1"/>
          </p:cNvSpPr>
          <p:nvPr>
            <p:ph type="sldImg"/>
          </p:nvPr>
        </p:nvSpPr>
        <p:spPr bwMode="auto">
          <a:xfrm>
            <a:off x="685800" y="1143000"/>
            <a:ext cx="5485680" cy="3085560"/>
          </a:xfrm>
          <a:prstGeom prst="rect">
            <a:avLst/>
          </a:prstGeom>
          <a:ln w="0">
            <a:noFill/>
          </a:ln>
        </p:spPr>
      </p:sp>
      <p:sp>
        <p:nvSpPr>
          <p:cNvPr id="250125382"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On forests: phased replacement of aged cedar with native broadleaf — oak, chestnut, konara. The 25-year arc is the ecological clock, not the funding cycle. The community benefit is concrete: less pollen, fewer landslides, a forest that looks and behaves like a forest again. Crucially, the </a:t>
            </a:r>
            <a:r>
              <a:rPr lang="en-US" sz="2000" b="0" u="none" strike="noStrike">
                <a:solidFill>
                  <a:srgbClr val="000000"/>
                </a:solidFill>
                <a:latin typeface="Arial"/>
              </a:rPr>
              <a:t>cedar we remove doesn't go to waste — it becomes biomass fuel for the village's energy system. And when the broadleaf forest produces acorns, the bears, boar, and deer find their winter food in the forest instead of in the village vegetable patch.</a:t>
            </a:r>
            <a:endParaRPr lang="en-US" sz="2000" b="0" u="none" strike="noStrike">
              <a:solidFill>
                <a:srgbClr val="000000"/>
              </a:solidFill>
              <a:latin typeface="Arial"/>
            </a:endParaRPr>
          </a:p>
        </p:txBody>
      </p:sp>
      <p:sp>
        <p:nvSpPr>
          <p:cNvPr id="1569462522" name="PlaceHolder 3"/>
          <p:cNvSpPr>
            <a:spLocks noGrp="1"/>
          </p:cNvSpPr>
          <p:nvPr>
            <p:ph type="sldNum" idx="8"/>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7D446A9A-4EF1-4B6D-B6DF-5DE9DA9CB5D9}" type="slidenum">
              <a:rPr lang="en-US" sz="1200" b="0" u="none" strike="noStrike">
                <a:solidFill>
                  <a:schemeClr val="dk1"/>
                </a:solidFill>
                <a:latin typeface="+mn-lt"/>
                <a:ea typeface="+mn-ea"/>
              </a:rPr>
              <a:t>12</a:t>
            </a:fld>
            <a:endParaRPr lang="en-US" sz="1200" b="0" u="none" strike="noStrike">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35865552" name="PlaceHolder 1"/>
          <p:cNvSpPr>
            <a:spLocks noGrp="1"/>
          </p:cNvSpPr>
          <p:nvPr>
            <p:ph type="sldImg"/>
          </p:nvPr>
        </p:nvSpPr>
        <p:spPr bwMode="auto">
          <a:xfrm>
            <a:off x="685800" y="1143000"/>
            <a:ext cx="5485680" cy="3085560"/>
          </a:xfrm>
          <a:prstGeom prst="rect">
            <a:avLst/>
          </a:prstGeom>
          <a:ln w="0">
            <a:noFill/>
          </a:ln>
        </p:spPr>
      </p:sp>
      <p:sp>
        <p:nvSpPr>
          <p:cNvPr id="770333059"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One unified electrical system. The sugi removed during the forest conversion is the primary fuel — a biomass plant on a shared village bus. Local solar tops it up. A community battery rides through the dark hours. The grid is backup only. EV chargers tie to local generation instead of waiting on grid extension. And — this is the part the village cares about most — on-site generation keeps the school, the clinic, and emergency facilities running through blackouts. Aging distribution lines make outages a real and growing risk. Resilience is built in, not bolted on.</a:t>
            </a:r>
            <a:endParaRPr lang="en-US" sz="2000" b="0" u="none" strike="noStrike">
              <a:solidFill>
                <a:srgbClr val="000000"/>
              </a:solidFill>
              <a:latin typeface="Arial"/>
            </a:endParaRPr>
          </a:p>
        </p:txBody>
      </p:sp>
      <p:sp>
        <p:nvSpPr>
          <p:cNvPr id="575292519" name="PlaceHolder 3"/>
          <p:cNvSpPr>
            <a:spLocks noGrp="1"/>
          </p:cNvSpPr>
          <p:nvPr>
            <p:ph type="sldNum" idx="9"/>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FFFD885A-18A4-49F3-A9D0-5FBD5D1D5777}" type="slidenum">
              <a:rPr lang="en-US" sz="1200" b="0" u="none" strike="noStrike">
                <a:solidFill>
                  <a:schemeClr val="dk1"/>
                </a:solidFill>
                <a:latin typeface="+mn-lt"/>
                <a:ea typeface="+mn-ea"/>
              </a:rPr>
              <a:t>12</a:t>
            </a:fld>
            <a:endParaRPr lang="en-US" sz="1200" b="0" u="none" strike="noStrike">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10980789" name="PlaceHolder 1"/>
          <p:cNvSpPr>
            <a:spLocks noGrp="1"/>
          </p:cNvSpPr>
          <p:nvPr>
            <p:ph type="sldImg"/>
          </p:nvPr>
        </p:nvSpPr>
        <p:spPr bwMode="auto">
          <a:xfrm>
            <a:off x="685800" y="1143000"/>
            <a:ext cx="5485680" cy="3085560"/>
          </a:xfrm>
          <a:prstGeom prst="rect">
            <a:avLst/>
          </a:prstGeom>
          <a:ln w="0">
            <a:noFill/>
          </a:ln>
        </p:spPr>
      </p:sp>
      <p:sp>
        <p:nvSpPr>
          <p:cNvPr id="1652698671"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The closed</a:t>
            </a:r>
            <a:r>
              <a:rPr lang="en-US" sz="2000" b="0" u="none" strike="noStrike">
                <a:solidFill>
                  <a:srgbClr val="000000"/>
                </a:solidFill>
                <a:latin typeface="Arial"/>
              </a:rPr>
              <a:t> school building or empty factory, repurposed as a small, energy-efficient edge-compute facility. Powered entirely by locally generated renewable energy. Sized for accountability — not hyperscale. The hyperscalers are not the model. The model is: small enough that the village owns it, audits it, and can explain what it does. Heat from the servers can warm greenhouses or community buildings. If it works in Mitsue, the design is published openly so the next village can copy it.</a:t>
            </a:r>
            <a:endParaRPr lang="en-US" sz="2000" b="0" u="none" strike="noStrike">
              <a:solidFill>
                <a:srgbClr val="000000"/>
              </a:solidFill>
              <a:latin typeface="Arial"/>
            </a:endParaRPr>
          </a:p>
        </p:txBody>
      </p:sp>
      <p:sp>
        <p:nvSpPr>
          <p:cNvPr id="770155183" name="PlaceHolder 3"/>
          <p:cNvSpPr>
            <a:spLocks noGrp="1"/>
          </p:cNvSpPr>
          <p:nvPr>
            <p:ph type="sldNum" idx="10"/>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2A8DDE9C-CDA4-4B89-ACCD-11B700F96F76}" type="slidenum">
              <a:rPr lang="en-US" sz="1200" b="0" u="none" strike="noStrike">
                <a:solidFill>
                  <a:schemeClr val="dk1"/>
                </a:solidFill>
                <a:latin typeface="+mn-lt"/>
                <a:ea typeface="+mn-ea"/>
              </a:rPr>
              <a:t>12</a:t>
            </a:fld>
            <a:endParaRPr lang="en-US" sz="1200" b="0" u="none" strike="noStrike">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07388506" name="PlaceHolder 1"/>
          <p:cNvSpPr>
            <a:spLocks noGrp="1"/>
          </p:cNvSpPr>
          <p:nvPr>
            <p:ph type="sldImg"/>
          </p:nvPr>
        </p:nvSpPr>
        <p:spPr bwMode="auto">
          <a:xfrm>
            <a:off x="685800" y="1143000"/>
            <a:ext cx="5485680" cy="3085560"/>
          </a:xfrm>
          <a:prstGeom prst="rect">
            <a:avLst/>
          </a:prstGeom>
          <a:ln w="0">
            <a:noFill/>
          </a:ln>
        </p:spPr>
      </p:sp>
      <p:sp>
        <p:nvSpPr>
          <p:cNvPr id="272819793"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This is the part I want you to remember. The benefits don't depend on the data center being a commercial home run. Forest restoration happens regardless. Wildlife pressure on farms drops. The school building stops bleeding maintenance money. EV charging is in place before the cars need it. Resilience to blackouts is a permanent infrastructure upgrade. The community keeps the upside; we documented everything; other villages get the playbook for free.</a:t>
            </a:r>
            <a:endParaRPr lang="en-US" sz="2000" b="0" u="none" strike="noStrike">
              <a:solidFill>
                <a:srgbClr val="000000"/>
              </a:solidFill>
              <a:latin typeface="Arial"/>
            </a:endParaRPr>
          </a:p>
        </p:txBody>
      </p:sp>
      <p:sp>
        <p:nvSpPr>
          <p:cNvPr id="898648635" name="PlaceHolder 3"/>
          <p:cNvSpPr>
            <a:spLocks noGrp="1"/>
          </p:cNvSpPr>
          <p:nvPr>
            <p:ph type="sldNum" idx="11"/>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FD9E78C7-CBF8-44D4-A702-70646A24E1D7}" type="slidenum">
              <a:rPr lang="en-US" sz="1200" b="0" u="none" strike="noStrike">
                <a:solidFill>
                  <a:schemeClr val="dk1"/>
                </a:solidFill>
                <a:latin typeface="+mn-lt"/>
                <a:ea typeface="+mn-ea"/>
              </a:rPr>
              <a:t>12</a:t>
            </a:fld>
            <a:endParaRPr lang="en-US" sz="1200" b="0" u="none" strike="noStrike">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9878641" name="PlaceHolder 1"/>
          <p:cNvSpPr>
            <a:spLocks noGrp="1"/>
          </p:cNvSpPr>
          <p:nvPr>
            <p:ph type="sldImg"/>
          </p:nvPr>
        </p:nvSpPr>
        <p:spPr bwMode="auto">
          <a:xfrm>
            <a:off x="685800" y="1143000"/>
            <a:ext cx="5485680" cy="3085560"/>
          </a:xfrm>
          <a:prstGeom prst="rect">
            <a:avLst/>
          </a:prstGeom>
          <a:ln w="0">
            <a:noFill/>
          </a:ln>
        </p:spPr>
      </p:sp>
      <p:sp>
        <p:nvSpPr>
          <p:cNvPr id="1915749029"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Where we are today, September 2026. Phase 0, intentionally quiet. Meetings with the Vice Mayor, a local forestry partner, Mitsue Kanko, and more trees/Tenkawa are done. The charter, implementation plan, and EVM plan are drafted. A GX地域共創 decarbonization subsidy inquiry is submitted. T</a:t>
            </a:r>
            <a:r>
              <a:rPr lang="en-US" sz="2000" b="0" u="none" strike="noStrike">
                <a:solidFill>
                  <a:srgbClr val="000000"/>
                </a:solidFill>
                <a:latin typeface="Arial"/>
              </a:rPr>
              <a:t>he advisory board has grown to eleven, including three pro bono legal advisors — among them Ray Ozzie and Takuo Dome. We're keeping the Village Mayor informed by dropping off project documents, not holding a formal meeting, and a NAIST seminar is confirmed for January 13, 2027. Next: close the Japanese co-founder search, finalize the 一般社団法人Mitsue-it bylaws, and apply to the GX地域共創 Round 2 by November 30th.</a:t>
            </a:r>
            <a:endParaRPr lang="en-US" sz="2000" b="0" u="none" strike="noStrike">
              <a:solidFill>
                <a:srgbClr val="000000"/>
              </a:solidFill>
              <a:latin typeface="Arial"/>
            </a:endParaRPr>
          </a:p>
        </p:txBody>
      </p:sp>
      <p:sp>
        <p:nvSpPr>
          <p:cNvPr id="1813368268" name="PlaceHolder 3"/>
          <p:cNvSpPr>
            <a:spLocks noGrp="1"/>
          </p:cNvSpPr>
          <p:nvPr>
            <p:ph type="sldNum" idx="12"/>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4BFB03E7-88E6-41E8-859B-AA1375368CE3}" type="slidenum">
              <a:rPr lang="en-US" sz="1200" b="0" u="none" strike="noStrike">
                <a:solidFill>
                  <a:schemeClr val="dk1"/>
                </a:solidFill>
                <a:latin typeface="+mn-lt"/>
                <a:ea typeface="+mn-ea"/>
              </a:rPr>
              <a:t>12</a:t>
            </a:fld>
            <a:endParaRPr lang="en-US" sz="1200" b="0" u="none" strike="noStrike">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44254768" name="PlaceHolder 1"/>
          <p:cNvSpPr>
            <a:spLocks noGrp="1"/>
          </p:cNvSpPr>
          <p:nvPr>
            <p:ph type="sldImg"/>
          </p:nvPr>
        </p:nvSpPr>
        <p:spPr bwMode="auto">
          <a:xfrm>
            <a:off x="685800" y="1143000"/>
            <a:ext cx="5485680" cy="3085560"/>
          </a:xfrm>
          <a:prstGeom prst="rect">
            <a:avLst/>
          </a:prstGeom>
          <a:ln w="0">
            <a:noFill/>
          </a:ln>
        </p:spPr>
      </p:sp>
      <p:sp>
        <p:nvSpPr>
          <p:cNvPr id="1694656735"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Five phases, four explicit funding gates. If a gate isn't cleared, we hold and re-pitch — we don't accelerate into an under-resourced phase. The funding stack is five layers: founder capital, government grants, foundations, corporate partners, operating revenue. By Year 3 the illustrative total is around 134 million yen. These are planning targets, not commitments. The point of the gates is that we never bet the village on a phase we can't afford.</a:t>
            </a:r>
            <a:endParaRPr lang="en-US" sz="2000" b="0" u="none" strike="noStrike">
              <a:solidFill>
                <a:srgbClr val="000000"/>
              </a:solidFill>
              <a:latin typeface="Arial"/>
            </a:endParaRPr>
          </a:p>
        </p:txBody>
      </p:sp>
      <p:sp>
        <p:nvSpPr>
          <p:cNvPr id="1980201305" name="PlaceHolder 3"/>
          <p:cNvSpPr>
            <a:spLocks noGrp="1"/>
          </p:cNvSpPr>
          <p:nvPr>
            <p:ph type="sldNum" idx="13"/>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544B33AE-FBCF-46B6-84DE-8E1B65B01AEF}" type="slidenum">
              <a:rPr lang="en-US" sz="1200" b="0" u="none" strike="noStrike">
                <a:solidFill>
                  <a:schemeClr val="dk1"/>
                </a:solidFill>
                <a:latin typeface="+mn-lt"/>
                <a:ea typeface="+mn-ea"/>
              </a:rPr>
              <a:t>12</a:t>
            </a:fld>
            <a:endParaRPr lang="en-US" sz="1200" b="0" u="none" strike="noStrike">
              <a:solidFill>
                <a:srgbClr val="000000"/>
              </a:solidFill>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58687424" name="PlaceHolder 1"/>
          <p:cNvSpPr>
            <a:spLocks noGrp="1"/>
          </p:cNvSpPr>
          <p:nvPr>
            <p:ph type="sldImg"/>
          </p:nvPr>
        </p:nvSpPr>
        <p:spPr bwMode="auto">
          <a:xfrm>
            <a:off x="216000" y="812520"/>
            <a:ext cx="7126920" cy="4008600"/>
          </a:xfrm>
          <a:prstGeom prst="rect">
            <a:avLst/>
          </a:prstGeom>
          <a:ln w="0">
            <a:noFill/>
          </a:ln>
        </p:spPr>
      </p:sp>
      <p:sp>
        <p:nvSpPr>
          <p:cNvPr id="1579727826" name="PlaceHolder 2"/>
          <p:cNvSpPr>
            <a:spLocks noGrp="1"/>
          </p:cNvSpPr>
          <p:nvPr>
            <p:ph type="body"/>
          </p:nvPr>
        </p:nvSpPr>
        <p:spPr bwMode="auto">
          <a:xfrm>
            <a:off x="756000" y="5078520"/>
            <a:ext cx="6047280" cy="4810680"/>
          </a:xfrm>
          <a:prstGeom prst="rect">
            <a:avLst/>
          </a:prstGeom>
          <a:noFill/>
          <a:ln w="0">
            <a:noFill/>
          </a:ln>
        </p:spPr>
        <p:txBody>
          <a:bodyPr lIns="0" tIns="0" rIns="0" bIns="0" anchor="t">
            <a:noAutofit/>
          </a:bodyPr>
          <a:p>
            <a:pPr indent="0" algn="l">
              <a:buNone/>
              <a:defRPr/>
            </a:pPr>
            <a:endParaRPr lang="en-US" sz="1800" b="0" u="none" strike="noStrike">
              <a:solidFill>
                <a:srgbClr val="000000"/>
              </a:solidFill>
              <a:latin typeface="Arial"/>
            </a:endParaRPr>
          </a:p>
        </p:txBody>
      </p:sp>
      <p:sp>
        <p:nvSpPr>
          <p:cNvPr id="844841386" name="PlaceHolder 3"/>
          <p:cNvSpPr>
            <a:spLocks noGrp="1"/>
          </p:cNvSpPr>
          <p:nvPr>
            <p:ph type="sldNum" idx="14"/>
          </p:nvPr>
        </p:nvSpPr>
        <p:spPr bwMode="auto">
          <a:xfrm>
            <a:off x="4278960" y="10157400"/>
            <a:ext cx="3280320" cy="533880"/>
          </a:xfrm>
          <a:prstGeom prst="rect">
            <a:avLst/>
          </a:prstGeom>
          <a:noFill/>
          <a:ln w="0">
            <a:noFill/>
          </a:ln>
        </p:spPr>
        <p:txBody>
          <a:bodyPr lIns="0" tIns="0" rIns="0" bIns="0" anchor="b">
            <a:noAutofit/>
          </a:bodyPr>
          <a:p>
            <a:pPr indent="0" algn="l">
              <a:buNone/>
              <a:defRPr/>
            </a:pPr>
            <a:endParaRPr lang="en-US" sz="1400" b="0" u="none" strike="noStrike">
              <a:solidFill>
                <a:srgbClr val="000000"/>
              </a:solidFill>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04223810" name="PlaceHolder 1"/>
          <p:cNvSpPr>
            <a:spLocks noGrp="1"/>
          </p:cNvSpPr>
          <p:nvPr>
            <p:ph type="sldImg"/>
          </p:nvPr>
        </p:nvSpPr>
        <p:spPr bwMode="auto">
          <a:xfrm>
            <a:off x="685800" y="1143000"/>
            <a:ext cx="5485680" cy="3085560"/>
          </a:xfrm>
          <a:prstGeom prst="rect">
            <a:avLst/>
          </a:prstGeom>
          <a:ln w="0">
            <a:noFill/>
          </a:ln>
        </p:spPr>
      </p:sp>
      <p:sp>
        <p:nvSpPr>
          <p:cNvPr id="1527882862"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What we're looking for from this room. Patient capital — people who think in decades, not quarters. Introductions to Japanese co-founders with rural credibility. Advisory partners for forestry, edge compute, and Japanese nonprofit law. And honest critique: tell us where the thesis is wrong. The documents are all on Codeberg under open licenses. The project lives at mitsue.it. Thank you — happy to take questions.</a:t>
            </a:r>
            <a:endParaRPr lang="en-US" sz="2000" b="0" u="none" strike="noStrike">
              <a:solidFill>
                <a:srgbClr val="000000"/>
              </a:solidFill>
              <a:latin typeface="Arial"/>
            </a:endParaRPr>
          </a:p>
        </p:txBody>
      </p:sp>
      <p:sp>
        <p:nvSpPr>
          <p:cNvPr id="82749516" name="PlaceHolder 3"/>
          <p:cNvSpPr>
            <a:spLocks noGrp="1"/>
          </p:cNvSpPr>
          <p:nvPr>
            <p:ph type="sldNum" idx="15"/>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E96DB6FB-C349-4983-A7D4-BEFEEA087113}" type="slidenum">
              <a:rPr lang="en-US" sz="1200" b="0" u="none" strike="noStrike">
                <a:solidFill>
                  <a:schemeClr val="dk1"/>
                </a:solidFill>
                <a:latin typeface="+mn-lt"/>
                <a:ea typeface="+mn-ea"/>
              </a:rPr>
              <a:t>&lt;number&gt;</a:t>
            </a:fld>
            <a:endParaRPr lang="en-US" sz="1200" b="0" u="none" strike="noStrike">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DEFAULT">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rgbClr val="FFFFFF"/>
        </a:solidFill>
      </p:bgPr>
    </p:bg>
    <p:spTree>
      <p:nvGrpSpPr>
        <p:cNvPr id="1" name=""/>
        <p:cNvGrpSpPr/>
        <p:nvPr/>
      </p:nvGrpSpPr>
      <p:grpSpPr bwMode="auto">
        <a:xfrm>
          <a:off x="0" y="0"/>
          <a:ext cx="0" cy="0"/>
          <a:chOff x="0" y="0"/>
          <a:chExt cx="0" cy="0"/>
        </a:xfrm>
      </p:grpSpPr>
      <p:sp>
        <p:nvSpPr>
          <p:cNvPr id="217461729" name="PlaceHolder 1"/>
          <p:cNvSpPr>
            <a:spLocks noGrp="1"/>
          </p:cNvSpPr>
          <p:nvPr>
            <p:ph type="title"/>
          </p:nvPr>
        </p:nvSpPr>
        <p:spPr bwMode="auto">
          <a:xfrm>
            <a:off x="914400" y="410400"/>
            <a:ext cx="16458840" cy="1717560"/>
          </a:xfrm>
          <a:prstGeom prst="rect">
            <a:avLst/>
          </a:prstGeom>
          <a:noFill/>
          <a:ln w="0">
            <a:noFill/>
          </a:ln>
        </p:spPr>
        <p:txBody>
          <a:bodyPr lIns="0" tIns="0" rIns="0" bIns="0" anchor="ctr">
            <a:noAutofit/>
          </a:bodyPr>
          <a:lstStyle>
            <a:lvl1pPr indent="0" algn="l">
              <a:buNone/>
              <a:tabLst>
                <a:tab pos="0" algn="l"/>
              </a:tabLst>
              <a:defRPr lang="en-US" sz="1800" b="0" u="none" strike="noStrike">
                <a:solidFill>
                  <a:schemeClr val="dk1"/>
                </a:solidFill>
                <a:latin typeface="Calibri"/>
              </a:defRPr>
            </a:lvl1pPr>
          </a:lstStyle>
          <a:p>
            <a:pPr indent="0" algn="l">
              <a:buNone/>
              <a:tabLst>
                <a:tab pos="0" algn="l"/>
              </a:tabLst>
              <a:defRPr/>
            </a:pPr>
            <a:r>
              <a:rPr lang="en-US" sz="1800" b="0" u="none" strike="noStrike">
                <a:solidFill>
                  <a:schemeClr val="dk1"/>
                </a:solidFill>
                <a:latin typeface="Calibri"/>
              </a:rPr>
              <a:t>Click to edit the </a:t>
            </a:r>
            <a:r>
              <a:rPr lang="en-US" sz="1800" b="0" u="none" strike="noStrike">
                <a:solidFill>
                  <a:schemeClr val="dk1"/>
                </a:solidFill>
                <a:latin typeface="Calibri"/>
              </a:rPr>
              <a:t>title text format</a:t>
            </a:r>
            <a:endParaRPr lang="en-US" sz="1800" b="0" u="none" strike="noStrike">
              <a:solidFill>
                <a:schemeClr val="dk1"/>
              </a:solidFill>
              <a:latin typeface="Calibri"/>
            </a:endParaRPr>
          </a:p>
        </p:txBody>
      </p:sp>
      <p:sp>
        <p:nvSpPr>
          <p:cNvPr id="1944315250" name="PlaceHolder 2"/>
          <p:cNvSpPr>
            <a:spLocks noGrp="1"/>
          </p:cNvSpPr>
          <p:nvPr>
            <p:ph type="body"/>
          </p:nvPr>
        </p:nvSpPr>
        <p:spPr bwMode="auto">
          <a:xfrm>
            <a:off x="914400" y="2406960"/>
            <a:ext cx="16458840" cy="5965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a:buChar char=""/>
              <a:defRPr lang="en-US" sz="3200" b="0" u="none" strike="noStrike">
                <a:solidFill>
                  <a:schemeClr val="dk1"/>
                </a:solidFill>
                <a:latin typeface="Calibri"/>
              </a:defRPr>
            </a:lvl1pPr>
            <a:lvl2pPr lvl="1" algn="l">
              <a:spcBef>
                <a:spcPts val="1134"/>
              </a:spcBef>
              <a:buClr>
                <a:srgbClr val="000000"/>
              </a:buClr>
              <a:buSzPct val="75000"/>
              <a:buFont typeface="Symbol"/>
              <a:buChar char=""/>
              <a:defRPr lang="en-US" sz="2400" b="0" u="none" strike="noStrike">
                <a:solidFill>
                  <a:schemeClr val="dk1"/>
                </a:solidFill>
                <a:latin typeface="Calibri"/>
              </a:defRPr>
            </a:lvl2pPr>
            <a:lvl3pPr lvl="2" algn="l">
              <a:spcBef>
                <a:spcPts val="850"/>
              </a:spcBef>
              <a:buClr>
                <a:srgbClr val="000000"/>
              </a:buClr>
              <a:buSzPct val="45000"/>
              <a:buFont typeface="Wingdings"/>
              <a:buChar char=""/>
              <a:defRPr lang="en-US" sz="2000" b="0" u="none" strike="noStrike">
                <a:solidFill>
                  <a:schemeClr val="dk1"/>
                </a:solidFill>
                <a:latin typeface="Calibri"/>
              </a:defRPr>
            </a:lvl3pPr>
            <a:lvl4pPr lvl="3" algn="l">
              <a:spcBef>
                <a:spcPts val="567"/>
              </a:spcBef>
              <a:buClr>
                <a:srgbClr val="000000"/>
              </a:buClr>
              <a:buSzPct val="75000"/>
              <a:buFont typeface="Symbol"/>
              <a:buChar char=""/>
              <a:defRPr lang="en-US" sz="2000" b="0" u="none" strike="noStrike">
                <a:solidFill>
                  <a:schemeClr val="dk1"/>
                </a:solidFill>
                <a:latin typeface="Calibri"/>
              </a:defRPr>
            </a:lvl4pPr>
            <a:lvl5pPr lvl="4" algn="l">
              <a:spcBef>
                <a:spcPts val="283"/>
              </a:spcBef>
              <a:buClr>
                <a:srgbClr val="000000"/>
              </a:buClr>
              <a:buSzPct val="45000"/>
              <a:buFont typeface="Wingdings"/>
              <a:buChar char=""/>
              <a:defRPr lang="en-US" sz="2000" b="0" u="none" strike="noStrike">
                <a:solidFill>
                  <a:schemeClr val="dk1"/>
                </a:solidFill>
                <a:latin typeface="Calibri"/>
              </a:defRPr>
            </a:lvl5pPr>
            <a:lvl6pPr lvl="5" algn="l">
              <a:spcBef>
                <a:spcPts val="283"/>
              </a:spcBef>
              <a:buClr>
                <a:srgbClr val="000000"/>
              </a:buClr>
              <a:buSzPct val="45000"/>
              <a:buFont typeface="Wingdings"/>
              <a:buChar char=""/>
              <a:defRPr lang="en-US" sz="2000" b="0" u="none" strike="noStrike">
                <a:solidFill>
                  <a:schemeClr val="dk1"/>
                </a:solidFill>
                <a:latin typeface="Calibri"/>
              </a:defRPr>
            </a:lvl6pPr>
            <a:lvl7pPr lvl="6" algn="l">
              <a:spcBef>
                <a:spcPts val="283"/>
              </a:spcBef>
              <a:buClr>
                <a:srgbClr val="000000"/>
              </a:buClr>
              <a:buSzPct val="45000"/>
              <a:buFont typeface="Wingdings"/>
              <a:buChar char=""/>
              <a:defRPr lang="en-US" sz="2000" b="0" u="none" strike="noStrike">
                <a:solidFill>
                  <a:schemeClr val="dk1"/>
                </a:solidFill>
                <a:latin typeface="Calibri"/>
              </a:defRPr>
            </a:lvl7pPr>
          </a:lstStyle>
          <a:p>
            <a:pPr indent="-324000" algn="l">
              <a:spcBef>
                <a:spcPts val="1417"/>
              </a:spcBef>
              <a:buClr>
                <a:srgbClr val="000000"/>
              </a:buClr>
              <a:buSzPct val="45000"/>
              <a:buFont typeface="Wingdings"/>
              <a:buChar char=""/>
              <a:defRPr/>
            </a:pPr>
            <a:r>
              <a:rPr lang="en-US" sz="3200" b="0" u="none" strike="noStrike">
                <a:solidFill>
                  <a:schemeClr val="dk1"/>
                </a:solidFill>
                <a:latin typeface="Calibri"/>
              </a:rPr>
              <a:t>Click to edit the outline text format</a:t>
            </a:r>
            <a:endParaRPr lang="en-US" sz="3200" b="0" u="none" strike="noStrike">
              <a:solidFill>
                <a:schemeClr val="dk1"/>
              </a:solidFill>
              <a:latin typeface="Calibri"/>
            </a:endParaRPr>
          </a:p>
          <a:p>
            <a:pPr marL="864000" lvl="1" indent="-324000" algn="l">
              <a:spcBef>
                <a:spcPts val="1134"/>
              </a:spcBef>
              <a:buClr>
                <a:srgbClr val="000000"/>
              </a:buClr>
              <a:buSzPct val="75000"/>
              <a:buFont typeface="Symbol"/>
              <a:buChar char=""/>
              <a:defRPr/>
            </a:pPr>
            <a:r>
              <a:rPr lang="en-US" sz="2400" b="0" u="none" strike="noStrike">
                <a:solidFill>
                  <a:schemeClr val="dk1"/>
                </a:solidFill>
                <a:latin typeface="Calibri"/>
              </a:rPr>
              <a:t>Second Outline Level</a:t>
            </a:r>
            <a:endParaRPr lang="en-US" sz="2400" b="0" u="none" strike="noStrike">
              <a:solidFill>
                <a:schemeClr val="dk1"/>
              </a:solidFill>
              <a:latin typeface="Calibri"/>
            </a:endParaRPr>
          </a:p>
          <a:p>
            <a:pPr marL="1296000" lvl="2" indent="-288000" algn="l">
              <a:spcBef>
                <a:spcPts val="850"/>
              </a:spcBef>
              <a:buClr>
                <a:srgbClr val="000000"/>
              </a:buClr>
              <a:buSzPct val="45000"/>
              <a:buFont typeface="Wingdings"/>
              <a:buChar char=""/>
              <a:defRPr/>
            </a:pPr>
            <a:r>
              <a:rPr lang="en-US" sz="2000" b="0" u="none" strike="noStrike">
                <a:solidFill>
                  <a:schemeClr val="dk1"/>
                </a:solidFill>
                <a:latin typeface="Calibri"/>
              </a:rPr>
              <a:t>Third Outline Level</a:t>
            </a:r>
            <a:endParaRPr lang="en-US" sz="2000" b="0" u="none" strike="noStrike">
              <a:solidFill>
                <a:schemeClr val="dk1"/>
              </a:solidFill>
              <a:latin typeface="Calibri"/>
            </a:endParaRPr>
          </a:p>
          <a:p>
            <a:pPr marL="1728000" lvl="3" indent="-216000" algn="l">
              <a:spcBef>
                <a:spcPts val="567"/>
              </a:spcBef>
              <a:buClr>
                <a:srgbClr val="000000"/>
              </a:buClr>
              <a:buSzPct val="75000"/>
              <a:buFont typeface="Symbol"/>
              <a:buChar char=""/>
              <a:defRPr/>
            </a:pPr>
            <a:r>
              <a:rPr lang="en-US" sz="2000" b="0" u="none" strike="noStrike">
                <a:solidFill>
                  <a:schemeClr val="dk1"/>
                </a:solidFill>
                <a:latin typeface="Calibri"/>
              </a:rPr>
              <a:t>Fourth Outline Level</a:t>
            </a:r>
            <a:endParaRPr lang="en-US" sz="2000" b="0" u="none" strike="noStrike">
              <a:solidFill>
                <a:schemeClr val="dk1"/>
              </a:solidFill>
              <a:latin typeface="Calibri"/>
            </a:endParaRPr>
          </a:p>
          <a:p>
            <a:pPr marL="2160000" lvl="4" indent="-216000" algn="l">
              <a:spcBef>
                <a:spcPts val="283"/>
              </a:spcBef>
              <a:buClr>
                <a:srgbClr val="000000"/>
              </a:buClr>
              <a:buSzPct val="45000"/>
              <a:buFont typeface="Wingdings"/>
              <a:buChar char=""/>
              <a:defRPr/>
            </a:pPr>
            <a:r>
              <a:rPr lang="en-US" sz="2000" b="0" u="none" strike="noStrike">
                <a:solidFill>
                  <a:schemeClr val="dk1"/>
                </a:solidFill>
                <a:latin typeface="Calibri"/>
              </a:rPr>
              <a:t>Fifth Outline Level</a:t>
            </a:r>
            <a:endParaRPr lang="en-US" sz="2000" b="0" u="none" strike="noStrike">
              <a:solidFill>
                <a:schemeClr val="dk1"/>
              </a:solidFill>
              <a:latin typeface="Calibri"/>
            </a:endParaRPr>
          </a:p>
          <a:p>
            <a:pPr marL="2592000" lvl="5" indent="-216000" algn="l">
              <a:spcBef>
                <a:spcPts val="283"/>
              </a:spcBef>
              <a:buClr>
                <a:srgbClr val="000000"/>
              </a:buClr>
              <a:buSzPct val="45000"/>
              <a:buFont typeface="Wingdings"/>
              <a:buChar char=""/>
              <a:defRPr/>
            </a:pPr>
            <a:r>
              <a:rPr lang="en-US" sz="2000" b="0" u="none" strike="noStrike">
                <a:solidFill>
                  <a:schemeClr val="dk1"/>
                </a:solidFill>
                <a:latin typeface="Calibri"/>
              </a:rPr>
              <a:t>Sixth Outline Level</a:t>
            </a:r>
            <a:endParaRPr lang="en-US" sz="2000" b="0" u="none" strike="noStrike">
              <a:solidFill>
                <a:schemeClr val="dk1"/>
              </a:solidFill>
              <a:latin typeface="Calibri"/>
            </a:endParaRPr>
          </a:p>
          <a:p>
            <a:pPr marL="3024000" lvl="6" indent="-216000" algn="l">
              <a:spcBef>
                <a:spcPts val="283"/>
              </a:spcBef>
              <a:buClr>
                <a:srgbClr val="000000"/>
              </a:buClr>
              <a:buSzPct val="45000"/>
              <a:buFont typeface="Wingdings"/>
              <a:buChar char=""/>
              <a:defRPr/>
            </a:pPr>
            <a:r>
              <a:rPr lang="en-US" sz="2000" b="0" u="none" strike="noStrike">
                <a:solidFill>
                  <a:schemeClr val="dk1"/>
                </a:solidFill>
                <a:latin typeface="Calibri"/>
              </a:rPr>
              <a:t>Seventh Outline Level</a:t>
            </a:r>
            <a:endParaRPr lang="en-US" sz="2000" b="0" u="none" strike="noStrike">
              <a:solidFill>
                <a:schemeClr val="dk1"/>
              </a:solidFill>
              <a:latin typeface="Calibri"/>
            </a:endParaRPr>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3ECE0"/>
        </a:solidFill>
      </p:bgPr>
    </p:bg>
    <p:spTree>
      <p:nvGrpSpPr>
        <p:cNvPr id="1" name=""/>
        <p:cNvGrpSpPr/>
        <p:nvPr/>
      </p:nvGrpSpPr>
      <p:grpSpPr bwMode="auto">
        <a:xfrm>
          <a:off x="0" y="0"/>
          <a:ext cx="0" cy="0"/>
          <a:chOff x="0" y="0"/>
          <a:chExt cx="0" cy="0"/>
        </a:xfrm>
      </p:grpSpPr>
      <p:sp>
        <p:nvSpPr>
          <p:cNvPr id="88033948" name="Shape 0"/>
          <p:cNvSpPr/>
          <p:nvPr/>
        </p:nvSpPr>
        <p:spPr bwMode="auto">
          <a:xfrm>
            <a:off x="1047600" y="762120"/>
            <a:ext cx="532800" cy="532800"/>
          </a:xfrm>
          <a:prstGeom prst="ellipse">
            <a:avLst/>
          </a:prstGeom>
          <a:solidFill>
            <a:srgbClr val="2F4A37"/>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612539021" name="Text 1"/>
          <p:cNvSpPr/>
          <p:nvPr/>
        </p:nvSpPr>
        <p:spPr bwMode="auto">
          <a:xfrm>
            <a:off x="1047600" y="762120"/>
            <a:ext cx="608760" cy="570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2100" b="1" u="none" strike="noStrike" spc="145">
                <a:solidFill>
                  <a:srgbClr val="F3ECE0"/>
                </a:solidFill>
                <a:latin typeface="Noto Serif JP"/>
                <a:ea typeface="Noto Serif JP"/>
              </a:rPr>
              <a:t>御</a:t>
            </a:r>
            <a:endParaRPr lang="en-US" sz="2100" b="0" u="none" strike="noStrike">
              <a:solidFill>
                <a:srgbClr val="000000"/>
              </a:solidFill>
              <a:latin typeface="Arial"/>
            </a:endParaRPr>
          </a:p>
        </p:txBody>
      </p:sp>
      <p:sp>
        <p:nvSpPr>
          <p:cNvPr id="1729225923" name="Text 2"/>
          <p:cNvSpPr/>
          <p:nvPr/>
        </p:nvSpPr>
        <p:spPr bwMode="auto">
          <a:xfrm>
            <a:off x="1714680" y="895320"/>
            <a:ext cx="22420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MITSUE PROJECT</a:t>
            </a:r>
            <a:endParaRPr lang="en-US" sz="1800" b="0" u="none" strike="noStrike">
              <a:solidFill>
                <a:srgbClr val="000000"/>
              </a:solidFill>
              <a:latin typeface="Arial"/>
            </a:endParaRPr>
          </a:p>
        </p:txBody>
      </p:sp>
      <p:sp>
        <p:nvSpPr>
          <p:cNvPr id="1769960389" name="Text 3"/>
          <p:cNvSpPr/>
          <p:nvPr/>
        </p:nvSpPr>
        <p:spPr bwMode="auto">
          <a:xfrm>
            <a:off x="11809800" y="762120"/>
            <a:ext cx="55926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PHASE 0 · PRE-</a:t>
            </a:r>
            <a:r>
              <a:rPr lang="en-US" sz="1800" b="0" u="none" strike="noStrike" spc="145">
                <a:solidFill>
                  <a:srgbClr val="4C554F"/>
                </a:solidFill>
                <a:latin typeface="Courier New"/>
                <a:ea typeface="Courier New"/>
              </a:rPr>
              <a:t>FOUNDATION · SEP </a:t>
            </a:r>
            <a:r>
              <a:rPr lang="en-US" sz="1800" b="0" u="none" strike="noStrike" spc="145">
                <a:solidFill>
                  <a:srgbClr val="4C554F"/>
                </a:solidFill>
                <a:latin typeface="Courier New"/>
                <a:ea typeface="Courier New"/>
              </a:rPr>
              <a:t>2026</a:t>
            </a:r>
            <a:endParaRPr lang="en-US" sz="1800" b="0" u="none" strike="noStrike">
              <a:solidFill>
                <a:srgbClr val="000000"/>
              </a:solidFill>
              <a:latin typeface="Arial"/>
            </a:endParaRPr>
          </a:p>
        </p:txBody>
      </p:sp>
      <p:sp>
        <p:nvSpPr>
          <p:cNvPr id="4723405" name="Text 4"/>
          <p:cNvSpPr/>
          <p:nvPr/>
        </p:nvSpPr>
        <p:spPr bwMode="auto">
          <a:xfrm>
            <a:off x="1047600" y="1866960"/>
            <a:ext cx="8829000" cy="380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0" u="none" strike="noStrike" spc="215">
                <a:solidFill>
                  <a:srgbClr val="4C554F"/>
                </a:solidFill>
                <a:latin typeface="Courier New"/>
                <a:ea typeface="Courier New"/>
              </a:rPr>
              <a:t>A 25-YEAR INITIATIVE · </a:t>
            </a:r>
            <a:r>
              <a:rPr lang="zh-CN" sz="1800" b="0" u="none" strike="noStrike" spc="215">
                <a:solidFill>
                  <a:srgbClr val="4C554F"/>
                </a:solidFill>
                <a:latin typeface="Courier New"/>
                <a:ea typeface="Courier New"/>
              </a:rPr>
              <a:t>二十五年計画</a:t>
            </a:r>
            <a:endParaRPr lang="en-US" sz="1800" b="0" u="none" strike="noStrike">
              <a:solidFill>
                <a:srgbClr val="000000"/>
              </a:solidFill>
              <a:latin typeface="Arial"/>
            </a:endParaRPr>
          </a:p>
        </p:txBody>
      </p:sp>
      <p:sp>
        <p:nvSpPr>
          <p:cNvPr id="127700994" name="Text 5"/>
          <p:cNvSpPr/>
          <p:nvPr/>
        </p:nvSpPr>
        <p:spPr bwMode="auto">
          <a:xfrm>
            <a:off x="1047600" y="2476440"/>
            <a:ext cx="8829000" cy="482580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97000"/>
              </a:lnSpc>
              <a:tabLst>
                <a:tab pos="0" algn="l"/>
              </a:tabLst>
              <a:defRPr/>
            </a:pPr>
            <a:r>
              <a:rPr lang="en-US" sz="9600" b="0" u="none" strike="noStrike" spc="-95">
                <a:solidFill>
                  <a:srgbClr val="1F2A24"/>
                </a:solidFill>
                <a:latin typeface="Georgia"/>
                <a:ea typeface="Georgia"/>
              </a:rPr>
              <a:t>A modest </a:t>
            </a:r>
            <a:r>
              <a:rPr lang="en-US" sz="9600" b="0" u="none" strike="noStrike" spc="-95">
                <a:solidFill>
                  <a:srgbClr val="1F2A24"/>
                </a:solidFill>
                <a:latin typeface="Georgia"/>
                <a:ea typeface="Georgia"/>
              </a:rPr>
              <a:t>plan for a </a:t>
            </a:r>
            <a:r>
              <a:rPr lang="en-US" sz="9600" b="0" u="none" strike="noStrike" spc="-95">
                <a:solidFill>
                  <a:srgbClr val="1F2A24"/>
                </a:solidFill>
                <a:latin typeface="Georgia"/>
                <a:ea typeface="Georgia"/>
              </a:rPr>
              <a:t>small </a:t>
            </a:r>
            <a:r>
              <a:rPr lang="en-US" sz="9600" b="0" u="none" strike="noStrike" spc="-95">
                <a:solidFill>
                  <a:srgbClr val="1F2A24"/>
                </a:solidFill>
                <a:latin typeface="Georgia"/>
                <a:ea typeface="Georgia"/>
              </a:rPr>
              <a:t>village in </a:t>
            </a:r>
            <a:r>
              <a:rPr lang="en-US" sz="9600" b="0" u="none" strike="noStrike" spc="-95">
                <a:solidFill>
                  <a:srgbClr val="1F2A24"/>
                </a:solidFill>
                <a:latin typeface="Georgia"/>
                <a:ea typeface="Georgia"/>
              </a:rPr>
              <a:t>the </a:t>
            </a:r>
            <a:r>
              <a:rPr lang="en-US" sz="9600" b="0" i="1" u="none" strike="noStrike" spc="-95">
                <a:solidFill>
                  <a:srgbClr val="C4663A"/>
                </a:solidFill>
                <a:latin typeface="Georgia"/>
                <a:ea typeface="Georgia"/>
              </a:rPr>
              <a:t>mountain</a:t>
            </a:r>
            <a:r>
              <a:rPr lang="en-US" sz="9600" b="0" i="1" u="none" strike="noStrike" spc="-95">
                <a:solidFill>
                  <a:srgbClr val="C4663A"/>
                </a:solidFill>
                <a:latin typeface="Georgia"/>
                <a:ea typeface="Georgia"/>
              </a:rPr>
              <a:t>s.</a:t>
            </a:r>
            <a:endParaRPr lang="en-US" sz="9600" b="0" u="none" strike="noStrike">
              <a:solidFill>
                <a:srgbClr val="000000"/>
              </a:solidFill>
              <a:latin typeface="Arial"/>
            </a:endParaRPr>
          </a:p>
        </p:txBody>
      </p:sp>
      <p:sp>
        <p:nvSpPr>
          <p:cNvPr id="627960202" name="Text 6"/>
          <p:cNvSpPr/>
          <p:nvPr/>
        </p:nvSpPr>
        <p:spPr bwMode="auto">
          <a:xfrm>
            <a:off x="1047600" y="7607880"/>
            <a:ext cx="4591440" cy="1237680"/>
          </a:xfrm>
          <a:prstGeom prst="rect">
            <a:avLst/>
          </a:prstGeom>
          <a:noFill/>
          <a:ln w="0">
            <a:noFill/>
          </a:ln>
        </p:spPr>
        <p:style>
          <a:lnRef idx="0"/>
          <a:fillRef idx="0"/>
          <a:effectRef idx="0"/>
          <a:fontRef idx="minor"/>
        </p:style>
        <p:txBody>
          <a:bodyPr lIns="25560" tIns="25560" rIns="25560" bIns="25560" anchor="t">
            <a:normAutofit/>
          </a:bodyPr>
          <a:p>
            <a:pPr defTabSz="914400">
              <a:lnSpc>
                <a:spcPct val="140000"/>
              </a:lnSpc>
              <a:tabLst>
                <a:tab pos="0" algn="l"/>
              </a:tabLst>
              <a:defRPr/>
            </a:pPr>
            <a:r>
              <a:rPr lang="zh-CN" sz="2250" b="0" u="none" strike="noStrike">
                <a:solidFill>
                  <a:srgbClr val="4C554F"/>
                </a:solidFill>
                <a:latin typeface="Noto Serif JP"/>
                <a:ea typeface="Noto Serif JP"/>
              </a:rPr>
              <a:t>奈良県御杖村 森林・分散型エネルギー・地域に根ざした小規模データセンター</a:t>
            </a:r>
            <a:endParaRPr lang="en-US" sz="2250" b="0" u="none" strike="noStrike">
              <a:solidFill>
                <a:srgbClr val="000000"/>
              </a:solidFill>
              <a:latin typeface="Arial"/>
            </a:endParaRPr>
          </a:p>
        </p:txBody>
      </p:sp>
      <p:pic>
        <p:nvPicPr>
          <p:cNvPr id="750516610" name="Image 0" descr="preencoded.png"/>
          <p:cNvPicPr/>
          <p:nvPr/>
        </p:nvPicPr>
        <p:blipFill rotWithShape="1">
          <a:blip r:embed="rId3"/>
          <a:stretch/>
        </p:blipFill>
        <p:spPr bwMode="auto">
          <a:xfrm>
            <a:off x="10382400" y="1866960"/>
            <a:ext cx="6857280" cy="6095160"/>
          </a:xfrm>
          <a:prstGeom prst="rect">
            <a:avLst/>
          </a:prstGeom>
          <a:noFill/>
          <a:ln w="0">
            <a:noFill/>
          </a:ln>
        </p:spPr>
      </p:pic>
      <p:sp>
        <p:nvSpPr>
          <p:cNvPr id="1560426425" name="Text 7"/>
          <p:cNvSpPr/>
          <p:nvPr/>
        </p:nvSpPr>
        <p:spPr bwMode="auto">
          <a:xfrm>
            <a:off x="1047600" y="9258480"/>
            <a:ext cx="11541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01 / 12</a:t>
            </a:r>
            <a:endParaRPr lang="en-US" sz="1800" b="0" u="none" strike="noStrike">
              <a:solidFill>
                <a:srgbClr val="000000"/>
              </a:solidFill>
              <a:latin typeface="Arial"/>
            </a:endParaRPr>
          </a:p>
        </p:txBody>
      </p:sp>
      <p:sp>
        <p:nvSpPr>
          <p:cNvPr id="838390516" name="Text 8"/>
          <p:cNvSpPr/>
          <p:nvPr/>
        </p:nvSpPr>
        <p:spPr bwMode="auto">
          <a:xfrm>
            <a:off x="13830480" y="9258480"/>
            <a:ext cx="351144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FOREST · BIOMASS </a:t>
            </a:r>
            <a:r>
              <a:rPr lang="en-US" sz="1800" b="0" u="none" strike="noStrike" spc="145">
                <a:solidFill>
                  <a:srgbClr val="4C554F"/>
                </a:solidFill>
                <a:latin typeface="Courier New"/>
                <a:ea typeface="Courier New"/>
              </a:rPr>
              <a:t>CHP · AI</a:t>
            </a:r>
            <a:endParaRPr lang="en-US" sz="1800" b="0" u="none" strike="noStrike">
              <a:solidFill>
                <a:srgbClr val="000000"/>
              </a:solidFill>
              <a:latin typeface="Arial"/>
            </a:endParaRPr>
          </a:p>
        </p:txBody>
      </p:sp>
      <p:sp>
        <p:nvSpPr>
          <p:cNvPr id="1769960390" name="TextBox 1769960389"/>
          <p:cNvSpPr txBox="1"/>
          <p:nvPr/>
        </p:nvSpPr>
        <p:spPr>
          <a:xfrm>
            <a:off x="0" y="8987000"/>
            <a:ext cx="18288000" cy="1100000"/>
          </a:xfrm>
          <a:prstGeom prst="rect">
            <a:avLst/>
          </a:prstGeom>
          <a:noFill/>
        </p:spPr>
        <p:txBody>
          <a:bodyPr wrap="square">
            <a:spAutoFit/>
          </a:bodyPr>
          <a:lstStyle/>
          <a:p>
            <a:pPr algn="ctr"/>
            <a:r>
              <a:rPr i="1" sz="1300">
                <a:solidFill>
                  <a:srgbClr val="3A7A5A"/>
                </a:solidFill>
              </a:rPr>
              <a:t>"The forest our ancestors planted — powering the village they built."</a:t>
            </a:r>
          </a:p>
          <a:p>
            <a:pPr algn="ctr"/>
            <a:r>
              <a:rPr i="1" sz="1100">
                <a:solidFill>
                  <a:srgbClr val="3A7A5A"/>
                </a:solidFill>
              </a:rPr>
              <a:t>先人が植えた森が、今、村に豊かさをもたらす。</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3ECE0"/>
        </a:solidFill>
      </p:bgPr>
    </p:bg>
    <p:spTree>
      <p:nvGrpSpPr>
        <p:cNvPr id="1" name=""/>
        <p:cNvGrpSpPr/>
        <p:nvPr/>
      </p:nvGrpSpPr>
      <p:grpSpPr bwMode="auto">
        <a:xfrm>
          <a:off x="0" y="0"/>
          <a:ext cx="0" cy="0"/>
          <a:chOff x="0" y="0"/>
          <a:chExt cx="0" cy="0"/>
        </a:xfrm>
      </p:grpSpPr>
      <p:sp>
        <p:nvSpPr>
          <p:cNvPr id="1823665798" name="Shape 0"/>
          <p:cNvSpPr/>
          <p:nvPr/>
        </p:nvSpPr>
        <p:spPr bwMode="auto">
          <a:xfrm>
            <a:off x="1047600" y="762120"/>
            <a:ext cx="456480" cy="456480"/>
          </a:xfrm>
          <a:prstGeom prst="ellipse">
            <a:avLst/>
          </a:prstGeom>
          <a:solidFill>
            <a:srgbClr val="2F4A37"/>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392674882" name="Text 1"/>
          <p:cNvSpPr/>
          <p:nvPr/>
        </p:nvSpPr>
        <p:spPr bwMode="auto">
          <a:xfrm>
            <a:off x="1047600" y="762120"/>
            <a:ext cx="532800" cy="494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1" u="none" strike="noStrike" spc="145">
                <a:solidFill>
                  <a:srgbClr val="F3ECE0"/>
                </a:solidFill>
                <a:latin typeface="Noto Serif JP"/>
                <a:ea typeface="Noto Serif JP"/>
              </a:rPr>
              <a:t>御</a:t>
            </a:r>
            <a:endParaRPr lang="en-US" sz="1950" b="0" u="none" strike="noStrike">
              <a:solidFill>
                <a:srgbClr val="000000"/>
              </a:solidFill>
              <a:latin typeface="Arial"/>
            </a:endParaRPr>
          </a:p>
        </p:txBody>
      </p:sp>
      <p:sp>
        <p:nvSpPr>
          <p:cNvPr id="143215559" name="Text 2"/>
          <p:cNvSpPr/>
          <p:nvPr/>
        </p:nvSpPr>
        <p:spPr bwMode="auto">
          <a:xfrm>
            <a:off x="1638360" y="857160"/>
            <a:ext cx="22420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MITSUE PROJECT</a:t>
            </a:r>
            <a:endParaRPr lang="en-US" sz="1800" b="0" u="none" strike="noStrike">
              <a:solidFill>
                <a:srgbClr val="000000"/>
              </a:solidFill>
              <a:latin typeface="Arial"/>
            </a:endParaRPr>
          </a:p>
        </p:txBody>
      </p:sp>
      <p:sp>
        <p:nvSpPr>
          <p:cNvPr id="530228129" name="Text 3"/>
          <p:cNvSpPr/>
          <p:nvPr/>
        </p:nvSpPr>
        <p:spPr bwMode="auto">
          <a:xfrm>
            <a:off x="14451840" y="762120"/>
            <a:ext cx="28713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 01 · THE </a:t>
            </a:r>
            <a:r>
              <a:rPr lang="en-US" sz="1800" b="0" u="none" strike="noStrike" spc="145">
                <a:solidFill>
                  <a:srgbClr val="4C554F"/>
                </a:solidFill>
                <a:latin typeface="Courier New"/>
                <a:ea typeface="Courier New"/>
              </a:rPr>
              <a:t>SETTING</a:t>
            </a:r>
            <a:endParaRPr lang="en-US" sz="1800" b="0" u="none" strike="noStrike">
              <a:solidFill>
                <a:srgbClr val="000000"/>
              </a:solidFill>
              <a:latin typeface="Arial"/>
            </a:endParaRPr>
          </a:p>
        </p:txBody>
      </p:sp>
      <p:sp>
        <p:nvSpPr>
          <p:cNvPr id="1134955933" name="Text 4"/>
          <p:cNvSpPr/>
          <p:nvPr/>
        </p:nvSpPr>
        <p:spPr bwMode="auto">
          <a:xfrm>
            <a:off x="1047600" y="1695600"/>
            <a:ext cx="7945920" cy="380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0" u="none" strike="noStrike" spc="215">
                <a:solidFill>
                  <a:srgbClr val="4C554F"/>
                </a:solidFill>
                <a:latin typeface="Courier New"/>
                <a:ea typeface="Courier New"/>
              </a:rPr>
              <a:t>MITSUE VILLAGE · </a:t>
            </a:r>
            <a:r>
              <a:rPr lang="zh-CN" sz="1800" b="0" u="none" strike="noStrike" spc="215">
                <a:solidFill>
                  <a:srgbClr val="4C554F"/>
                </a:solidFill>
                <a:latin typeface="Courier New"/>
                <a:ea typeface="Courier New"/>
              </a:rPr>
              <a:t>奈良県御杖村</a:t>
            </a:r>
            <a:endParaRPr lang="en-US" sz="1800" b="0" u="none" strike="noStrike">
              <a:solidFill>
                <a:srgbClr val="000000"/>
              </a:solidFill>
              <a:latin typeface="Arial"/>
            </a:endParaRPr>
          </a:p>
        </p:txBody>
      </p:sp>
      <p:sp>
        <p:nvSpPr>
          <p:cNvPr id="38240548" name="Text 5"/>
          <p:cNvSpPr/>
          <p:nvPr/>
        </p:nvSpPr>
        <p:spPr bwMode="auto">
          <a:xfrm flipH="0" flipV="0">
            <a:off x="1047600" y="2182320"/>
            <a:ext cx="7945920" cy="3747238"/>
          </a:xfrm>
          <a:prstGeom prst="rect">
            <a:avLst/>
          </a:prstGeom>
          <a:noFill/>
          <a:ln w="0">
            <a:noFill/>
          </a:ln>
        </p:spPr>
        <p:style>
          <a:lnRef idx="0"/>
          <a:fillRef idx="0"/>
          <a:effectRef idx="0"/>
          <a:fontRef idx="minor"/>
        </p:style>
        <p:txBody>
          <a:bodyPr vertOverflow="overflow" horzOverflow="overflow" vert="horz" wrap="square" lIns="25560" tIns="25560" rIns="25560" bIns="25560" numCol="1" spcCol="0" rtlCol="0" fromWordArt="0" anchor="t" anchorCtr="0" forceAA="0" upright="0" compatLnSpc="0">
            <a:normAutofit fontScale="85000" lnSpcReduction="3000"/>
          </a:bodyPr>
          <a:p>
            <a:pPr defTabSz="914400">
              <a:lnSpc>
                <a:spcPct val="98000"/>
              </a:lnSpc>
              <a:tabLst>
                <a:tab pos="0" algn="l"/>
              </a:tabLst>
              <a:defRPr/>
            </a:pPr>
            <a:r>
              <a:rPr lang="en-US" sz="7200" b="0" u="none" strike="noStrike" spc="-85">
                <a:solidFill>
                  <a:srgbClr val="1F2A24"/>
                </a:solidFill>
                <a:latin typeface="Georgia"/>
                <a:ea typeface="Georgia"/>
              </a:rPr>
              <a:t>One vacant school building. One </a:t>
            </a:r>
            <a:r>
              <a:rPr lang="en-US" sz="7200" b="0" i="1" u="none" strike="noStrike" spc="-85">
                <a:solidFill>
                  <a:srgbClr val="C4663A"/>
                </a:solidFill>
                <a:latin typeface="Georgia"/>
                <a:ea typeface="Georgia"/>
              </a:rPr>
              <a:t>tired </a:t>
            </a:r>
            <a:r>
              <a:rPr lang="en-US" sz="7200" b="0" i="1" u="none" strike="noStrike" spc="-85">
                <a:solidFill>
                  <a:srgbClr val="C4663A"/>
                </a:solidFill>
                <a:latin typeface="Georgia"/>
                <a:ea typeface="Georgia"/>
              </a:rPr>
              <a:t>forest. </a:t>
            </a:r>
            <a:r>
              <a:rPr lang="en-US" sz="7200" b="0" u="none" strike="noStrike" spc="-85">
                <a:solidFill>
                  <a:srgbClr val="1F2A24"/>
                </a:solidFill>
                <a:latin typeface="Georgia"/>
                <a:ea typeface="Georgia"/>
              </a:rPr>
              <a:t>One short list of ideas.</a:t>
            </a:r>
            <a:endParaRPr lang="en-US" sz="7200" b="0" u="none" strike="noStrike">
              <a:solidFill>
                <a:srgbClr val="000000"/>
              </a:solidFill>
              <a:latin typeface="Arial"/>
            </a:endParaRPr>
          </a:p>
        </p:txBody>
      </p:sp>
      <p:sp>
        <p:nvSpPr>
          <p:cNvPr id="430092792" name="Text 6"/>
          <p:cNvSpPr/>
          <p:nvPr/>
        </p:nvSpPr>
        <p:spPr bwMode="auto">
          <a:xfrm>
            <a:off x="1102320" y="6118200"/>
            <a:ext cx="7945920" cy="1584360"/>
          </a:xfrm>
          <a:prstGeom prst="rect">
            <a:avLst/>
          </a:prstGeom>
          <a:noFill/>
          <a:ln w="0">
            <a:noFill/>
          </a:ln>
        </p:spPr>
        <p:style>
          <a:lnRef idx="0"/>
          <a:fillRef idx="0"/>
          <a:effectRef idx="0"/>
          <a:fontRef idx="minor"/>
        </p:style>
        <p:txBody>
          <a:bodyPr lIns="25560" tIns="25560" rIns="25560" bIns="25560" anchor="t">
            <a:normAutofit fontScale="77500" lnSpcReduction="19999"/>
          </a:bodyPr>
          <a:p>
            <a:pPr defTabSz="914400">
              <a:lnSpc>
                <a:spcPct val="145000"/>
              </a:lnSpc>
              <a:tabLst>
                <a:tab pos="0" algn="l"/>
              </a:tabLst>
              <a:defRPr/>
            </a:pPr>
            <a:r>
              <a:rPr lang="en-US" sz="2100" b="0" u="none" strike="noStrike">
                <a:solidFill>
                  <a:srgbClr val="1F2A24"/>
                </a:solidFill>
                <a:latin typeface="Arial"/>
                <a:ea typeface="Arial"/>
              </a:rPr>
              <a:t>Mitsue is a mountain village in Nara Prefecture. In 2021, the elementary school merged with the junior high </a:t>
            </a:r>
            <a:r>
              <a:rPr lang="en-US" sz="2100" b="0" u="none" strike="noStrike">
                <a:solidFill>
                  <a:srgbClr val="1F2A24"/>
                </a:solidFill>
                <a:latin typeface="Arial"/>
                <a:ea typeface="Arial"/>
              </a:rPr>
              <a:t>and moved to a new building — the old building sits empty. The cedar plantations around it are old and </a:t>
            </a:r>
            <a:r>
              <a:rPr lang="en-US" sz="2100" b="0" u="none" strike="noStrike">
                <a:solidFill>
                  <a:srgbClr val="1F2A24"/>
                </a:solidFill>
                <a:latin typeface="Arial"/>
                <a:ea typeface="Arial"/>
              </a:rPr>
              <a:t>unmanaged. The grid is fragile. None of this is unusual in rural Japan — that's the whole point.</a:t>
            </a:r>
            <a:endParaRPr lang="en-US" sz="2100" b="0" u="none" strike="noStrike">
              <a:solidFill>
                <a:srgbClr val="000000"/>
              </a:solidFill>
              <a:latin typeface="Arial"/>
            </a:endParaRPr>
          </a:p>
        </p:txBody>
      </p:sp>
      <p:sp>
        <p:nvSpPr>
          <p:cNvPr id="274282241" name="Text 7"/>
          <p:cNvSpPr/>
          <p:nvPr/>
        </p:nvSpPr>
        <p:spPr bwMode="auto">
          <a:xfrm>
            <a:off x="1143000" y="8229600"/>
            <a:ext cx="7945920" cy="81072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defRPr/>
            </a:pPr>
            <a:r>
              <a:rPr lang="en-US" sz="2100" b="0" u="none" strike="noStrike">
                <a:solidFill>
                  <a:srgbClr val="4C554F"/>
                </a:solidFill>
                <a:latin typeface="Arial"/>
                <a:ea typeface="Arial"/>
              </a:rPr>
              <a:t>If a small, careful intervention works here, it should be copy-pasteable into a </a:t>
            </a:r>
            <a:r>
              <a:rPr lang="en-US" sz="2100" b="0" u="none" strike="noStrike">
                <a:solidFill>
                  <a:srgbClr val="4C554F"/>
                </a:solidFill>
                <a:latin typeface="Arial"/>
                <a:ea typeface="Arial"/>
              </a:rPr>
              <a:t>thousand other villages with the same pattern.</a:t>
            </a:r>
            <a:endParaRPr lang="en-US" sz="2100" b="0" u="none" strike="noStrike">
              <a:solidFill>
                <a:srgbClr val="000000"/>
              </a:solidFill>
              <a:latin typeface="Arial"/>
            </a:endParaRPr>
          </a:p>
        </p:txBody>
      </p:sp>
      <p:sp>
        <p:nvSpPr>
          <p:cNvPr id="1698984298" name="Shape 8"/>
          <p:cNvSpPr/>
          <p:nvPr/>
        </p:nvSpPr>
        <p:spPr bwMode="auto">
          <a:xfrm>
            <a:off x="9655920" y="2391480"/>
            <a:ext cx="7714440" cy="509436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960027905" name="Text 9"/>
          <p:cNvSpPr/>
          <p:nvPr/>
        </p:nvSpPr>
        <p:spPr bwMode="auto">
          <a:xfrm>
            <a:off x="10008360" y="2743920"/>
            <a:ext cx="7220160" cy="380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0" u="none" strike="noStrike" spc="215">
                <a:solidFill>
                  <a:srgbClr val="4C554F"/>
                </a:solidFill>
                <a:latin typeface="Courier New"/>
                <a:ea typeface="Courier New"/>
              </a:rPr>
              <a:t>COORDINATES · </a:t>
            </a:r>
            <a:r>
              <a:rPr lang="zh-CN" sz="1800" b="0" u="none" strike="noStrike" spc="215">
                <a:solidFill>
                  <a:srgbClr val="4C554F"/>
                </a:solidFill>
                <a:latin typeface="Courier New"/>
                <a:ea typeface="Courier New"/>
              </a:rPr>
              <a:t>座標</a:t>
            </a:r>
            <a:endParaRPr lang="en-US" sz="1800" b="0" u="none" strike="noStrike">
              <a:solidFill>
                <a:srgbClr val="000000"/>
              </a:solidFill>
              <a:latin typeface="Arial"/>
            </a:endParaRPr>
          </a:p>
        </p:txBody>
      </p:sp>
      <p:sp>
        <p:nvSpPr>
          <p:cNvPr id="226498309" name="Text 10"/>
          <p:cNvSpPr/>
          <p:nvPr/>
        </p:nvSpPr>
        <p:spPr bwMode="auto">
          <a:xfrm>
            <a:off x="10008360" y="3258360"/>
            <a:ext cx="7220160" cy="156132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00000"/>
              </a:lnSpc>
              <a:tabLst>
                <a:tab pos="0" algn="l"/>
              </a:tabLst>
              <a:defRPr/>
            </a:pPr>
            <a:r>
              <a:rPr lang="en-US" sz="6000" b="0" u="none" strike="noStrike" spc="-60">
                <a:solidFill>
                  <a:srgbClr val="1F2A24"/>
                </a:solidFill>
                <a:latin typeface="Georgia"/>
                <a:ea typeface="Georgia"/>
              </a:rPr>
              <a:t>34.4194° N 136.0511° E</a:t>
            </a:r>
            <a:endParaRPr lang="en-US" sz="6000" b="0" u="none" strike="noStrike">
              <a:solidFill>
                <a:srgbClr val="000000"/>
              </a:solidFill>
              <a:latin typeface="Arial"/>
            </a:endParaRPr>
          </a:p>
        </p:txBody>
      </p:sp>
      <p:sp>
        <p:nvSpPr>
          <p:cNvPr id="1701075448" name="Shape 11"/>
          <p:cNvSpPr/>
          <p:nvPr/>
        </p:nvSpPr>
        <p:spPr bwMode="auto">
          <a:xfrm>
            <a:off x="10008360" y="5087160"/>
            <a:ext cx="7009560" cy="8640"/>
          </a:xfrm>
          <a:prstGeom prst="rect">
            <a:avLst/>
          </a:prstGeom>
          <a:solidFill>
            <a:srgbClr val="1F2A24">
              <a:alpha val="50000"/>
            </a:srgbClr>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FFFFFF"/>
              </a:solidFill>
              <a:latin typeface="Arial"/>
            </a:endParaRPr>
          </a:p>
        </p:txBody>
      </p:sp>
      <p:sp>
        <p:nvSpPr>
          <p:cNvPr id="1919625306" name="Text 12"/>
          <p:cNvSpPr/>
          <p:nvPr/>
        </p:nvSpPr>
        <p:spPr bwMode="auto">
          <a:xfrm>
            <a:off x="10008360" y="5401440"/>
            <a:ext cx="34920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POPULATION</a:t>
            </a:r>
            <a:endParaRPr lang="en-US" sz="1800" b="0" u="none" strike="noStrike">
              <a:solidFill>
                <a:srgbClr val="000000"/>
              </a:solidFill>
              <a:latin typeface="Arial"/>
            </a:endParaRPr>
          </a:p>
        </p:txBody>
      </p:sp>
      <p:sp>
        <p:nvSpPr>
          <p:cNvPr id="2096594506" name="Text 13"/>
          <p:cNvSpPr/>
          <p:nvPr/>
        </p:nvSpPr>
        <p:spPr bwMode="auto">
          <a:xfrm>
            <a:off x="10008360" y="5668200"/>
            <a:ext cx="3492000" cy="5227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defRPr/>
            </a:pPr>
            <a:r>
              <a:rPr lang="en-US" sz="3900" b="0" u="none" strike="noStrike" spc="-40">
                <a:solidFill>
                  <a:srgbClr val="1F2A24"/>
                </a:solidFill>
                <a:latin typeface="Georgia"/>
                <a:ea typeface="Georgia"/>
              </a:rPr>
              <a:t>≈ 1,400</a:t>
            </a:r>
            <a:endParaRPr lang="en-US" sz="3900" b="0" u="none" strike="noStrike">
              <a:solidFill>
                <a:srgbClr val="000000"/>
              </a:solidFill>
              <a:latin typeface="Arial"/>
            </a:endParaRPr>
          </a:p>
        </p:txBody>
      </p:sp>
      <p:sp>
        <p:nvSpPr>
          <p:cNvPr id="1544615274" name="Text 14"/>
          <p:cNvSpPr/>
          <p:nvPr/>
        </p:nvSpPr>
        <p:spPr bwMode="auto">
          <a:xfrm>
            <a:off x="13627800" y="5401440"/>
            <a:ext cx="34920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SCHOOL RELOCATED</a:t>
            </a:r>
            <a:endParaRPr lang="en-US" sz="1800" b="0" u="none" strike="noStrike">
              <a:solidFill>
                <a:srgbClr val="000000"/>
              </a:solidFill>
              <a:latin typeface="Arial"/>
            </a:endParaRPr>
          </a:p>
        </p:txBody>
      </p:sp>
      <p:sp>
        <p:nvSpPr>
          <p:cNvPr id="195900908" name="Text 15"/>
          <p:cNvSpPr/>
          <p:nvPr/>
        </p:nvSpPr>
        <p:spPr bwMode="auto">
          <a:xfrm>
            <a:off x="13627800" y="5668200"/>
            <a:ext cx="3492000" cy="5227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defRPr/>
            </a:pPr>
            <a:r>
              <a:rPr lang="en-US" sz="3900" b="0" u="none" strike="noStrike" spc="-40">
                <a:solidFill>
                  <a:srgbClr val="1F2A24"/>
                </a:solidFill>
                <a:latin typeface="Georgia"/>
                <a:ea typeface="Georgia"/>
              </a:rPr>
              <a:t>2020</a:t>
            </a:r>
            <a:endParaRPr lang="en-US" sz="3900" b="0" u="none" strike="noStrike">
              <a:solidFill>
                <a:srgbClr val="000000"/>
              </a:solidFill>
              <a:latin typeface="Arial"/>
            </a:endParaRPr>
          </a:p>
        </p:txBody>
      </p:sp>
      <p:sp>
        <p:nvSpPr>
          <p:cNvPr id="574355336" name="Text 16"/>
          <p:cNvSpPr/>
          <p:nvPr/>
        </p:nvSpPr>
        <p:spPr bwMode="auto">
          <a:xfrm>
            <a:off x="10008360" y="6382080"/>
            <a:ext cx="34920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FOREST COVER</a:t>
            </a:r>
            <a:endParaRPr lang="en-US" sz="1800" b="0" u="none" strike="noStrike">
              <a:solidFill>
                <a:srgbClr val="000000"/>
              </a:solidFill>
              <a:latin typeface="Arial"/>
            </a:endParaRPr>
          </a:p>
        </p:txBody>
      </p:sp>
      <p:sp>
        <p:nvSpPr>
          <p:cNvPr id="457478355" name="Text 17"/>
          <p:cNvSpPr/>
          <p:nvPr/>
        </p:nvSpPr>
        <p:spPr bwMode="auto">
          <a:xfrm>
            <a:off x="10008360" y="6648840"/>
            <a:ext cx="3492000" cy="5227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defRPr/>
            </a:pPr>
            <a:r>
              <a:rPr lang="en-US" sz="3900" b="0" u="none" strike="noStrike" spc="-40">
                <a:solidFill>
                  <a:srgbClr val="1F2A24"/>
                </a:solidFill>
                <a:latin typeface="Georgia"/>
                <a:ea typeface="Georgia"/>
              </a:rPr>
              <a:t>≈ 93%</a:t>
            </a:r>
            <a:endParaRPr lang="en-US" sz="3900" b="0" u="none" strike="noStrike">
              <a:solidFill>
                <a:srgbClr val="000000"/>
              </a:solidFill>
              <a:latin typeface="Arial"/>
            </a:endParaRPr>
          </a:p>
        </p:txBody>
      </p:sp>
      <p:sp>
        <p:nvSpPr>
          <p:cNvPr id="2038025932" name="Text 18"/>
          <p:cNvSpPr/>
          <p:nvPr/>
        </p:nvSpPr>
        <p:spPr bwMode="auto">
          <a:xfrm>
            <a:off x="13627800" y="6382080"/>
            <a:ext cx="34920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PROJECT HORIZON</a:t>
            </a:r>
            <a:endParaRPr lang="en-US" sz="1800" b="0" u="none" strike="noStrike">
              <a:solidFill>
                <a:srgbClr val="000000"/>
              </a:solidFill>
              <a:latin typeface="Arial"/>
            </a:endParaRPr>
          </a:p>
        </p:txBody>
      </p:sp>
      <p:sp>
        <p:nvSpPr>
          <p:cNvPr id="61531151" name="Text 19"/>
          <p:cNvSpPr/>
          <p:nvPr/>
        </p:nvSpPr>
        <p:spPr bwMode="auto">
          <a:xfrm>
            <a:off x="13627800" y="6648840"/>
            <a:ext cx="3492000" cy="5227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defRPr/>
            </a:pPr>
            <a:r>
              <a:rPr lang="en-US" sz="3900" b="0" u="none" strike="noStrike" spc="-40">
                <a:solidFill>
                  <a:srgbClr val="1F2A24"/>
                </a:solidFill>
                <a:latin typeface="Georgia"/>
                <a:ea typeface="Georgia"/>
              </a:rPr>
              <a:t>25 yr</a:t>
            </a:r>
            <a:endParaRPr lang="en-US" sz="3900" b="0" u="none" strike="noStrike">
              <a:solidFill>
                <a:srgbClr val="000000"/>
              </a:solidFill>
              <a:latin typeface="Arial"/>
            </a:endParaRPr>
          </a:p>
        </p:txBody>
      </p:sp>
      <p:sp>
        <p:nvSpPr>
          <p:cNvPr id="1895369323" name="Text 20"/>
          <p:cNvSpPr/>
          <p:nvPr/>
        </p:nvSpPr>
        <p:spPr bwMode="auto">
          <a:xfrm>
            <a:off x="8993880" y="9565200"/>
            <a:ext cx="794592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RURAL REVITALIZATION, BUT </a:t>
            </a:r>
            <a:r>
              <a:rPr lang="en-US" sz="1800" b="0" u="none" strike="noStrike" spc="215">
                <a:solidFill>
                  <a:srgbClr val="4C554F"/>
                </a:solidFill>
                <a:latin typeface="Courier New"/>
                <a:ea typeface="Courier New"/>
              </a:rPr>
              <a:t>QUIETLY.</a:t>
            </a:r>
            <a:endParaRPr lang="en-US" sz="1800" b="0" u="none" strike="noStrike">
              <a:solidFill>
                <a:srgbClr val="000000"/>
              </a:solidFill>
              <a:latin typeface="Arial"/>
            </a:endParaRPr>
          </a:p>
        </p:txBody>
      </p:sp>
      <p:sp>
        <p:nvSpPr>
          <p:cNvPr id="611105037" name="Text 21"/>
          <p:cNvSpPr/>
          <p:nvPr/>
        </p:nvSpPr>
        <p:spPr bwMode="auto">
          <a:xfrm>
            <a:off x="1143000" y="9525240"/>
            <a:ext cx="11541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02 / 12</a:t>
            </a:r>
            <a:endParaRPr lang="en-US" sz="1800" b="0" u="none" strike="noStrike">
              <a:solidFill>
                <a:srgbClr val="000000"/>
              </a:solidFill>
              <a:latin typeface="Arial"/>
            </a:endParaRPr>
          </a:p>
        </p:txBody>
      </p:sp>
      <p:sp>
        <p:nvSpPr>
          <p:cNvPr id="160005435" name="Text 22"/>
          <p:cNvSpPr/>
          <p:nvPr/>
        </p:nvSpPr>
        <p:spPr bwMode="auto">
          <a:xfrm>
            <a:off x="16137000" y="9525240"/>
            <a:ext cx="146484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MITSUE.IT</a:t>
            </a:r>
            <a:endParaRPr lang="en-US" sz="180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3ECE0"/>
        </a:solidFill>
      </p:bgPr>
    </p:bg>
    <p:spTree>
      <p:nvGrpSpPr>
        <p:cNvPr id="1" name=""/>
        <p:cNvGrpSpPr/>
        <p:nvPr/>
      </p:nvGrpSpPr>
      <p:grpSpPr bwMode="auto">
        <a:xfrm>
          <a:off x="0" y="0"/>
          <a:ext cx="0" cy="0"/>
          <a:chOff x="0" y="0"/>
          <a:chExt cx="0" cy="0"/>
        </a:xfrm>
      </p:grpSpPr>
      <p:sp>
        <p:nvSpPr>
          <p:cNvPr id="1969513403" name="Shape 0"/>
          <p:cNvSpPr/>
          <p:nvPr/>
        </p:nvSpPr>
        <p:spPr bwMode="auto">
          <a:xfrm>
            <a:off x="1047600" y="762120"/>
            <a:ext cx="456480" cy="456480"/>
          </a:xfrm>
          <a:prstGeom prst="ellipse">
            <a:avLst/>
          </a:prstGeom>
          <a:solidFill>
            <a:srgbClr val="2F4A37"/>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2050379304" name="Text 1"/>
          <p:cNvSpPr/>
          <p:nvPr/>
        </p:nvSpPr>
        <p:spPr bwMode="auto">
          <a:xfrm>
            <a:off x="1047600" y="762120"/>
            <a:ext cx="532800" cy="494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1" u="none" strike="noStrike" spc="145">
                <a:solidFill>
                  <a:srgbClr val="F3ECE0"/>
                </a:solidFill>
                <a:latin typeface="Noto Serif JP"/>
                <a:ea typeface="Noto Serif JP"/>
              </a:rPr>
              <a:t>御</a:t>
            </a:r>
            <a:endParaRPr lang="en-US" sz="1950" b="0" u="none" strike="noStrike">
              <a:solidFill>
                <a:srgbClr val="000000"/>
              </a:solidFill>
              <a:latin typeface="Arial"/>
            </a:endParaRPr>
          </a:p>
        </p:txBody>
      </p:sp>
      <p:sp>
        <p:nvSpPr>
          <p:cNvPr id="1841453361" name="Text 2"/>
          <p:cNvSpPr/>
          <p:nvPr/>
        </p:nvSpPr>
        <p:spPr bwMode="auto">
          <a:xfrm>
            <a:off x="1638360" y="857160"/>
            <a:ext cx="22420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MITSUE PROJECT</a:t>
            </a:r>
            <a:endParaRPr lang="en-US" sz="1800" b="0" u="none" strike="noStrike">
              <a:solidFill>
                <a:srgbClr val="000000"/>
              </a:solidFill>
              <a:latin typeface="Arial"/>
            </a:endParaRPr>
          </a:p>
        </p:txBody>
      </p:sp>
      <p:sp>
        <p:nvSpPr>
          <p:cNvPr id="371229567" name="Text 3"/>
          <p:cNvSpPr/>
          <p:nvPr/>
        </p:nvSpPr>
        <p:spPr bwMode="auto">
          <a:xfrm>
            <a:off x="11188079" y="762120"/>
            <a:ext cx="6233039"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 02 · FOUR PRESSURES, ONE RURAL </a:t>
            </a:r>
            <a:r>
              <a:rPr lang="en-US" sz="1800" b="0" u="none" strike="noStrike" spc="145">
                <a:solidFill>
                  <a:srgbClr val="4C554F"/>
                </a:solidFill>
                <a:latin typeface="Courier New"/>
                <a:ea typeface="Courier New"/>
              </a:rPr>
              <a:t>ANSWER</a:t>
            </a:r>
            <a:endParaRPr lang="en-US" sz="1800" b="0" u="none" strike="noStrike">
              <a:solidFill>
                <a:srgbClr val="000000"/>
              </a:solidFill>
              <a:latin typeface="Arial"/>
            </a:endParaRPr>
          </a:p>
        </p:txBody>
      </p:sp>
      <p:sp>
        <p:nvSpPr>
          <p:cNvPr id="584469057" name="Text 4"/>
          <p:cNvSpPr/>
          <p:nvPr/>
        </p:nvSpPr>
        <p:spPr bwMode="auto">
          <a:xfrm>
            <a:off x="1047600" y="1619280"/>
            <a:ext cx="13871520" cy="18392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defRPr/>
            </a:pPr>
            <a:r>
              <a:rPr lang="en-US" sz="7200" b="0" u="none" strike="noStrike" spc="-71">
                <a:solidFill>
                  <a:srgbClr val="1F2A24"/>
                </a:solidFill>
                <a:latin typeface="Georgia"/>
                <a:ea typeface="Georgia"/>
              </a:rPr>
              <a:t>Four expensive </a:t>
            </a:r>
            <a:r>
              <a:rPr lang="en-US" sz="7200" b="0" u="none" strike="noStrike" spc="-71">
                <a:solidFill>
                  <a:srgbClr val="1F2A24"/>
                </a:solidFill>
                <a:latin typeface="Georgia"/>
                <a:ea typeface="Georgia"/>
              </a:rPr>
              <a:t>problems that turn out </a:t>
            </a:r>
            <a:r>
              <a:rPr lang="en-US" sz="7200" b="0" u="none" strike="noStrike" spc="-71">
                <a:solidFill>
                  <a:srgbClr val="1F2A24"/>
                </a:solidFill>
                <a:latin typeface="Georgia"/>
                <a:ea typeface="Georgia"/>
              </a:rPr>
              <a:t>to be </a:t>
            </a:r>
            <a:r>
              <a:rPr lang="en-US" sz="7200" b="0" i="1" u="none" strike="noStrike" spc="-71">
                <a:solidFill>
                  <a:srgbClr val="C4663A"/>
                </a:solidFill>
                <a:latin typeface="Georgia"/>
                <a:ea typeface="Georgia"/>
              </a:rPr>
              <a:t>cheaper together.</a:t>
            </a:r>
            <a:endParaRPr lang="en-US" sz="7200" b="0" u="none" strike="noStrike">
              <a:solidFill>
                <a:srgbClr val="000000"/>
              </a:solidFill>
              <a:latin typeface="Arial"/>
            </a:endParaRPr>
          </a:p>
        </p:txBody>
      </p:sp>
      <p:sp>
        <p:nvSpPr>
          <p:cNvPr id="1829950530" name="Text 5"/>
          <p:cNvSpPr/>
          <p:nvPr/>
        </p:nvSpPr>
        <p:spPr bwMode="auto">
          <a:xfrm>
            <a:off x="1047600" y="3554280"/>
            <a:ext cx="16677720" cy="437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2100" b="0" u="none" strike="noStrike">
                <a:solidFill>
                  <a:srgbClr val="4C554F"/>
                </a:solidFill>
                <a:latin typeface="Noto Serif JP"/>
                <a:ea typeface="Noto Serif JP"/>
              </a:rPr>
              <a:t>四つの構造</a:t>
            </a:r>
            <a:r>
              <a:rPr lang="zh-CN" sz="2100" b="0" u="none" strike="noStrike">
                <a:solidFill>
                  <a:srgbClr val="4C554F"/>
                </a:solidFill>
                <a:latin typeface="Noto Serif JP"/>
                <a:ea typeface="Noto Serif JP"/>
              </a:rPr>
              <a:t>的圧力、ひ</a:t>
            </a:r>
            <a:r>
              <a:rPr lang="zh-CN" sz="2100" b="0" u="none" strike="noStrike">
                <a:solidFill>
                  <a:srgbClr val="4C554F"/>
                </a:solidFill>
                <a:latin typeface="Noto Serif JP"/>
                <a:ea typeface="Noto Serif JP"/>
              </a:rPr>
              <a:t>とつの農村</a:t>
            </a:r>
            <a:r>
              <a:rPr lang="zh-CN" sz="2100" b="0" u="none" strike="noStrike">
                <a:solidFill>
                  <a:srgbClr val="4C554F"/>
                </a:solidFill>
                <a:latin typeface="Noto Serif JP"/>
                <a:ea typeface="Noto Serif JP"/>
              </a:rPr>
              <a:t>型解答</a:t>
            </a:r>
            <a:endParaRPr lang="en-US" sz="2100" b="0" u="none" strike="noStrike">
              <a:solidFill>
                <a:srgbClr val="000000"/>
              </a:solidFill>
              <a:latin typeface="Arial"/>
            </a:endParaRPr>
          </a:p>
        </p:txBody>
      </p:sp>
      <p:sp>
        <p:nvSpPr>
          <p:cNvPr id="760780902" name="Shape 6"/>
          <p:cNvSpPr/>
          <p:nvPr/>
        </p:nvSpPr>
        <p:spPr bwMode="auto">
          <a:xfrm>
            <a:off x="1047600" y="4335480"/>
            <a:ext cx="3832920" cy="18360"/>
          </a:xfrm>
          <a:prstGeom prst="rect">
            <a:avLst/>
          </a:prstGeom>
          <a:solidFill>
            <a:srgbClr val="1F2A24"/>
          </a:solidFill>
          <a:ln w="0">
            <a:noFill/>
          </a:ln>
        </p:spPr>
        <p:style>
          <a:lnRef idx="0"/>
          <a:fillRef idx="0"/>
          <a:effectRef idx="0"/>
          <a:fontRef idx="minor"/>
        </p:style>
        <p:txBody>
          <a:bodyPr lIns="90000" tIns="-25920" rIns="90000" bIns="-25920" anchor="t">
            <a:noAutofit/>
          </a:bodyPr>
          <a:p>
            <a:pPr>
              <a:defRPr/>
            </a:pPr>
            <a:endParaRPr lang="en-US" sz="1800" b="0" u="none" strike="noStrike">
              <a:solidFill>
                <a:srgbClr val="FFFFFF"/>
              </a:solidFill>
              <a:latin typeface="Arial"/>
            </a:endParaRPr>
          </a:p>
        </p:txBody>
      </p:sp>
      <p:sp>
        <p:nvSpPr>
          <p:cNvPr id="1869829031" name="Text 7"/>
          <p:cNvSpPr/>
          <p:nvPr/>
        </p:nvSpPr>
        <p:spPr bwMode="auto">
          <a:xfrm>
            <a:off x="1047600" y="4621320"/>
            <a:ext cx="394812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01 · ENERGY</a:t>
            </a:r>
            <a:endParaRPr lang="en-US" sz="1800" b="0" u="none" strike="noStrike">
              <a:solidFill>
                <a:srgbClr val="000000"/>
              </a:solidFill>
              <a:latin typeface="Arial"/>
            </a:endParaRPr>
          </a:p>
        </p:txBody>
      </p:sp>
      <p:pic>
        <p:nvPicPr>
          <p:cNvPr id="935371361" name="Image 0" descr="preencoded.png"/>
          <p:cNvPicPr/>
          <p:nvPr/>
        </p:nvPicPr>
        <p:blipFill rotWithShape="1">
          <a:blip r:embed="rId3"/>
          <a:stretch/>
        </p:blipFill>
        <p:spPr bwMode="auto">
          <a:xfrm>
            <a:off x="1047600" y="5078520"/>
            <a:ext cx="3832920" cy="1142280"/>
          </a:xfrm>
          <a:prstGeom prst="rect">
            <a:avLst/>
          </a:prstGeom>
          <a:noFill/>
          <a:ln w="0">
            <a:noFill/>
          </a:ln>
        </p:spPr>
      </p:pic>
      <p:sp>
        <p:nvSpPr>
          <p:cNvPr id="1357370725" name="Text 8"/>
          <p:cNvSpPr/>
          <p:nvPr/>
        </p:nvSpPr>
        <p:spPr bwMode="auto">
          <a:xfrm>
            <a:off x="1047600" y="6411960"/>
            <a:ext cx="3948120" cy="4374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5000"/>
              </a:lnSpc>
              <a:tabLst>
                <a:tab pos="0" algn="l"/>
              </a:tabLst>
              <a:defRPr/>
            </a:pPr>
            <a:r>
              <a:rPr lang="en-US" sz="3000" b="0" u="none" strike="noStrike" spc="-31">
                <a:solidFill>
                  <a:srgbClr val="1F2A24"/>
                </a:solidFill>
                <a:latin typeface="Georgia"/>
                <a:ea typeface="Georgia"/>
              </a:rPr>
              <a:t>Japan targets 100% electrified new car sales by 2035.</a:t>
            </a:r>
            <a:endParaRPr lang="en-US" sz="3000" b="0" u="none" strike="noStrike">
              <a:solidFill>
                <a:srgbClr val="000000"/>
              </a:solidFill>
              <a:latin typeface="Arial"/>
            </a:endParaRPr>
          </a:p>
        </p:txBody>
      </p:sp>
      <p:sp>
        <p:nvSpPr>
          <p:cNvPr id="1430463210" name="Text 9"/>
          <p:cNvSpPr/>
          <p:nvPr/>
        </p:nvSpPr>
        <p:spPr bwMode="auto">
          <a:xfrm>
            <a:off x="1047600" y="7269840"/>
            <a:ext cx="3948120" cy="10584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4C554F"/>
                </a:solidFill>
                <a:latin typeface="Arial"/>
                <a:ea typeface="Arial"/>
              </a:rPr>
              <a:t>In the EVs, PHEVs and FCVs — not pure-EV. Rural grids need distributed generation and charging; extension is slow and expensive.</a:t>
            </a:r>
            <a:endParaRPr lang="en-US" sz="1800" b="0" u="none" strike="noStrike">
              <a:solidFill>
                <a:srgbClr val="000000"/>
              </a:solidFill>
              <a:latin typeface="Arial"/>
            </a:endParaRPr>
          </a:p>
        </p:txBody>
      </p:sp>
      <p:sp>
        <p:nvSpPr>
          <p:cNvPr id="665961781" name="Shape 10"/>
          <p:cNvSpPr/>
          <p:nvPr/>
        </p:nvSpPr>
        <p:spPr bwMode="auto">
          <a:xfrm>
            <a:off x="5167440" y="4335480"/>
            <a:ext cx="3832920" cy="18360"/>
          </a:xfrm>
          <a:prstGeom prst="rect">
            <a:avLst/>
          </a:prstGeom>
          <a:solidFill>
            <a:srgbClr val="1F2A24"/>
          </a:solidFill>
          <a:ln w="0">
            <a:noFill/>
          </a:ln>
        </p:spPr>
        <p:style>
          <a:lnRef idx="0"/>
          <a:fillRef idx="0"/>
          <a:effectRef idx="0"/>
          <a:fontRef idx="minor"/>
        </p:style>
        <p:txBody>
          <a:bodyPr lIns="90000" tIns="-25920" rIns="90000" bIns="-25920" anchor="t">
            <a:noAutofit/>
          </a:bodyPr>
          <a:p>
            <a:pPr>
              <a:defRPr/>
            </a:pPr>
            <a:endParaRPr lang="en-US" sz="1800" b="0" u="none" strike="noStrike">
              <a:solidFill>
                <a:srgbClr val="FFFFFF"/>
              </a:solidFill>
              <a:latin typeface="Arial"/>
            </a:endParaRPr>
          </a:p>
        </p:txBody>
      </p:sp>
      <p:sp>
        <p:nvSpPr>
          <p:cNvPr id="429591118" name="Text 11"/>
          <p:cNvSpPr/>
          <p:nvPr/>
        </p:nvSpPr>
        <p:spPr bwMode="auto">
          <a:xfrm>
            <a:off x="5167440" y="4621320"/>
            <a:ext cx="394812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02 · FOREST</a:t>
            </a:r>
            <a:endParaRPr lang="en-US" sz="1800" b="0" u="none" strike="noStrike">
              <a:solidFill>
                <a:srgbClr val="000000"/>
              </a:solidFill>
              <a:latin typeface="Arial"/>
            </a:endParaRPr>
          </a:p>
        </p:txBody>
      </p:sp>
      <p:pic>
        <p:nvPicPr>
          <p:cNvPr id="1129453831" name="Image 1" descr="preencoded.png"/>
          <p:cNvPicPr/>
          <p:nvPr/>
        </p:nvPicPr>
        <p:blipFill rotWithShape="1">
          <a:blip r:embed="rId4"/>
          <a:stretch/>
        </p:blipFill>
        <p:spPr bwMode="auto">
          <a:xfrm>
            <a:off x="5167440" y="5078520"/>
            <a:ext cx="3832920" cy="1142280"/>
          </a:xfrm>
          <a:prstGeom prst="rect">
            <a:avLst/>
          </a:prstGeom>
          <a:noFill/>
          <a:ln w="0">
            <a:noFill/>
          </a:ln>
        </p:spPr>
      </p:pic>
      <p:sp>
        <p:nvSpPr>
          <p:cNvPr id="698931401" name="Text 12"/>
          <p:cNvSpPr/>
          <p:nvPr/>
        </p:nvSpPr>
        <p:spPr bwMode="auto">
          <a:xfrm>
            <a:off x="5167440" y="6411960"/>
            <a:ext cx="3948120" cy="8373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5000"/>
              </a:lnSpc>
              <a:tabLst>
                <a:tab pos="0" algn="l"/>
              </a:tabLst>
              <a:defRPr/>
            </a:pPr>
            <a:r>
              <a:rPr lang="en-US" sz="3000" b="0" u="none" strike="noStrike" spc="-31">
                <a:solidFill>
                  <a:srgbClr val="1F2A24"/>
                </a:solidFill>
                <a:latin typeface="Georgia"/>
                <a:ea typeface="Georgia"/>
              </a:rPr>
              <a:t>Cedar is a liability — and a fuel.</a:t>
            </a:r>
            <a:endParaRPr lang="en-US" sz="3000" b="0" u="none" strike="noStrike">
              <a:solidFill>
                <a:srgbClr val="000000"/>
              </a:solidFill>
              <a:latin typeface="Arial"/>
            </a:endParaRPr>
          </a:p>
        </p:txBody>
      </p:sp>
      <p:sp>
        <p:nvSpPr>
          <p:cNvPr id="1564755667" name="Text 13"/>
          <p:cNvSpPr/>
          <p:nvPr/>
        </p:nvSpPr>
        <p:spPr bwMode="auto">
          <a:xfrm>
            <a:off x="5167440" y="7249680"/>
            <a:ext cx="3948120" cy="13633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4C554F"/>
                </a:solidFill>
                <a:latin typeface="Arial"/>
                <a:ea typeface="Arial"/>
              </a:rPr>
              <a:t>Aged sugi plantations: pollen, biodiversity loss, landslide risk. Removing them powers the village; replacing them rebuilds the forest.</a:t>
            </a:r>
            <a:endParaRPr lang="en-US" sz="1800" b="0" u="none" strike="noStrike">
              <a:solidFill>
                <a:srgbClr val="000000"/>
              </a:solidFill>
              <a:latin typeface="Arial"/>
            </a:endParaRPr>
          </a:p>
        </p:txBody>
      </p:sp>
      <p:sp>
        <p:nvSpPr>
          <p:cNvPr id="1071908816" name="Shape 14"/>
          <p:cNvSpPr/>
          <p:nvPr/>
        </p:nvSpPr>
        <p:spPr bwMode="auto">
          <a:xfrm>
            <a:off x="9286920" y="4335480"/>
            <a:ext cx="3832920" cy="18360"/>
          </a:xfrm>
          <a:prstGeom prst="rect">
            <a:avLst/>
          </a:prstGeom>
          <a:solidFill>
            <a:srgbClr val="1F2A24"/>
          </a:solidFill>
          <a:ln w="0">
            <a:noFill/>
          </a:ln>
        </p:spPr>
        <p:style>
          <a:lnRef idx="0"/>
          <a:fillRef idx="0"/>
          <a:effectRef idx="0"/>
          <a:fontRef idx="minor"/>
        </p:style>
        <p:txBody>
          <a:bodyPr lIns="90000" tIns="-25920" rIns="90000" bIns="-25920" anchor="t">
            <a:noAutofit/>
          </a:bodyPr>
          <a:p>
            <a:pPr>
              <a:defRPr/>
            </a:pPr>
            <a:endParaRPr lang="en-US" sz="1800" b="0" u="none" strike="noStrike">
              <a:solidFill>
                <a:srgbClr val="FFFFFF"/>
              </a:solidFill>
              <a:latin typeface="Arial"/>
            </a:endParaRPr>
          </a:p>
        </p:txBody>
      </p:sp>
      <p:sp>
        <p:nvSpPr>
          <p:cNvPr id="128082850" name="Text 15"/>
          <p:cNvSpPr/>
          <p:nvPr/>
        </p:nvSpPr>
        <p:spPr bwMode="auto">
          <a:xfrm>
            <a:off x="9286920" y="4621320"/>
            <a:ext cx="394812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03 · STRANDED</a:t>
            </a:r>
            <a:endParaRPr lang="en-US" sz="1800" b="0" u="none" strike="noStrike">
              <a:solidFill>
                <a:srgbClr val="000000"/>
              </a:solidFill>
              <a:latin typeface="Arial"/>
            </a:endParaRPr>
          </a:p>
        </p:txBody>
      </p:sp>
      <p:pic>
        <p:nvPicPr>
          <p:cNvPr id="1271893856" name="Image 2" descr="preencoded.png"/>
          <p:cNvPicPr/>
          <p:nvPr/>
        </p:nvPicPr>
        <p:blipFill rotWithShape="1">
          <a:blip r:embed="rId5"/>
          <a:stretch/>
        </p:blipFill>
        <p:spPr bwMode="auto">
          <a:xfrm>
            <a:off x="9286920" y="5078520"/>
            <a:ext cx="3832920" cy="1142280"/>
          </a:xfrm>
          <a:prstGeom prst="rect">
            <a:avLst/>
          </a:prstGeom>
          <a:noFill/>
          <a:ln w="0">
            <a:noFill/>
          </a:ln>
        </p:spPr>
      </p:pic>
      <p:sp>
        <p:nvSpPr>
          <p:cNvPr id="32696254" name="Text 16"/>
          <p:cNvSpPr/>
          <p:nvPr/>
        </p:nvSpPr>
        <p:spPr bwMode="auto">
          <a:xfrm>
            <a:off x="9286920" y="6411960"/>
            <a:ext cx="3948120" cy="8373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5000"/>
              </a:lnSpc>
              <a:tabLst>
                <a:tab pos="0" algn="l"/>
              </a:tabLst>
              <a:defRPr/>
            </a:pPr>
            <a:r>
              <a:rPr lang="en-US" sz="3000" b="0" u="none" strike="noStrike" spc="-31">
                <a:solidFill>
                  <a:srgbClr val="1F2A24"/>
                </a:solidFill>
                <a:latin typeface="Georgia"/>
                <a:ea typeface="Georgia"/>
              </a:rPr>
              <a:t>Vacant village buildings just sit there.</a:t>
            </a:r>
            <a:endParaRPr lang="en-US" sz="3000" b="0" u="none" strike="noStrike">
              <a:solidFill>
                <a:srgbClr val="000000"/>
              </a:solidFill>
              <a:latin typeface="Arial"/>
            </a:endParaRPr>
          </a:p>
        </p:txBody>
      </p:sp>
      <p:sp>
        <p:nvSpPr>
          <p:cNvPr id="974097186" name="Text 17"/>
          <p:cNvSpPr/>
          <p:nvPr/>
        </p:nvSpPr>
        <p:spPr bwMode="auto">
          <a:xfrm>
            <a:off x="9286920" y="7249680"/>
            <a:ext cx="3948120" cy="13633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4C554F"/>
                </a:solidFill>
                <a:latin typeface="Arial"/>
                <a:ea typeface="Arial"/>
              </a:rPr>
              <a:t>Vacant schools and factories cost shrinking municipalities money to maintain. Productive reuse turns them into community anchors.</a:t>
            </a:r>
            <a:endParaRPr lang="en-US" sz="1800" b="0" u="none" strike="noStrike">
              <a:solidFill>
                <a:srgbClr val="000000"/>
              </a:solidFill>
              <a:latin typeface="Arial"/>
            </a:endParaRPr>
          </a:p>
        </p:txBody>
      </p:sp>
      <p:sp>
        <p:nvSpPr>
          <p:cNvPr id="81387572" name="Shape 18"/>
          <p:cNvSpPr/>
          <p:nvPr/>
        </p:nvSpPr>
        <p:spPr bwMode="auto">
          <a:xfrm>
            <a:off x="13406400" y="4335480"/>
            <a:ext cx="3832920" cy="18360"/>
          </a:xfrm>
          <a:prstGeom prst="rect">
            <a:avLst/>
          </a:prstGeom>
          <a:solidFill>
            <a:srgbClr val="1F2A24"/>
          </a:solidFill>
          <a:ln w="0">
            <a:noFill/>
          </a:ln>
        </p:spPr>
        <p:style>
          <a:lnRef idx="0"/>
          <a:fillRef idx="0"/>
          <a:effectRef idx="0"/>
          <a:fontRef idx="minor"/>
        </p:style>
        <p:txBody>
          <a:bodyPr lIns="90000" tIns="-25920" rIns="90000" bIns="-25920" anchor="t">
            <a:noAutofit/>
          </a:bodyPr>
          <a:p>
            <a:pPr>
              <a:defRPr/>
            </a:pPr>
            <a:endParaRPr lang="en-US" sz="1800" b="0" u="none" strike="noStrike">
              <a:solidFill>
                <a:srgbClr val="FFFFFF"/>
              </a:solidFill>
              <a:latin typeface="Arial"/>
            </a:endParaRPr>
          </a:p>
        </p:txBody>
      </p:sp>
      <p:sp>
        <p:nvSpPr>
          <p:cNvPr id="765870567" name="Text 19"/>
          <p:cNvSpPr/>
          <p:nvPr/>
        </p:nvSpPr>
        <p:spPr bwMode="auto">
          <a:xfrm>
            <a:off x="13406400" y="4621320"/>
            <a:ext cx="394812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04 · DIGITAL</a:t>
            </a:r>
            <a:endParaRPr lang="en-US" sz="1800" b="0" u="none" strike="noStrike">
              <a:solidFill>
                <a:srgbClr val="000000"/>
              </a:solidFill>
              <a:latin typeface="Arial"/>
            </a:endParaRPr>
          </a:p>
        </p:txBody>
      </p:sp>
      <p:pic>
        <p:nvPicPr>
          <p:cNvPr id="1799452687" name="Image 3" descr="preencoded.png"/>
          <p:cNvPicPr/>
          <p:nvPr/>
        </p:nvPicPr>
        <p:blipFill rotWithShape="1">
          <a:blip r:embed="rId6"/>
          <a:stretch/>
        </p:blipFill>
        <p:spPr bwMode="auto">
          <a:xfrm>
            <a:off x="13406400" y="5078520"/>
            <a:ext cx="3832920" cy="1142280"/>
          </a:xfrm>
          <a:prstGeom prst="rect">
            <a:avLst/>
          </a:prstGeom>
          <a:noFill/>
          <a:ln w="0">
            <a:noFill/>
          </a:ln>
        </p:spPr>
      </p:pic>
      <p:sp>
        <p:nvSpPr>
          <p:cNvPr id="651254532" name="Text 20"/>
          <p:cNvSpPr/>
          <p:nvPr/>
        </p:nvSpPr>
        <p:spPr bwMode="auto">
          <a:xfrm>
            <a:off x="13406400" y="6411960"/>
            <a:ext cx="3948120" cy="4374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5000"/>
              </a:lnSpc>
              <a:tabLst>
                <a:tab pos="0" algn="l"/>
              </a:tabLst>
              <a:defRPr/>
            </a:pPr>
            <a:r>
              <a:rPr lang="en-US" sz="3000" b="0" u="none" strike="noStrike" spc="-31">
                <a:solidFill>
                  <a:srgbClr val="1F2A24"/>
                </a:solidFill>
                <a:latin typeface="Georgia"/>
                <a:ea typeface="Georgia"/>
              </a:rPr>
              <a:t>Rural compute is thin.</a:t>
            </a:r>
            <a:endParaRPr lang="en-US" sz="3000" b="0" u="none" strike="noStrike">
              <a:solidFill>
                <a:srgbClr val="000000"/>
              </a:solidFill>
              <a:latin typeface="Arial"/>
            </a:endParaRPr>
          </a:p>
        </p:txBody>
      </p:sp>
      <p:sp>
        <p:nvSpPr>
          <p:cNvPr id="958904689" name="Text 21"/>
          <p:cNvSpPr/>
          <p:nvPr/>
        </p:nvSpPr>
        <p:spPr bwMode="auto">
          <a:xfrm>
            <a:off x="13425120" y="7251120"/>
            <a:ext cx="3948120" cy="13633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4C554F"/>
                </a:solidFill>
                <a:latin typeface="Arial"/>
                <a:ea typeface="Arial"/>
              </a:rPr>
              <a:t>Broadband and edge-compute capacity lag urban Japan. A small data center closes both gaps at once, on local power.</a:t>
            </a:r>
            <a:endParaRPr lang="en-US" sz="1800" b="0" u="none" strike="noStrike">
              <a:solidFill>
                <a:srgbClr val="000000"/>
              </a:solidFill>
              <a:latin typeface="Arial"/>
            </a:endParaRPr>
          </a:p>
        </p:txBody>
      </p:sp>
      <p:sp>
        <p:nvSpPr>
          <p:cNvPr id="2004727227" name="Text 22"/>
          <p:cNvSpPr/>
          <p:nvPr/>
        </p:nvSpPr>
        <p:spPr bwMode="auto">
          <a:xfrm>
            <a:off x="1047600" y="9258480"/>
            <a:ext cx="11541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03 / 12</a:t>
            </a:r>
            <a:endParaRPr lang="en-US" sz="1800" b="0" u="none" strike="noStrike">
              <a:solidFill>
                <a:srgbClr val="000000"/>
              </a:solidFill>
              <a:latin typeface="Arial"/>
            </a:endParaRPr>
          </a:p>
        </p:txBody>
      </p:sp>
      <p:sp>
        <p:nvSpPr>
          <p:cNvPr id="420149401" name="Text 23"/>
          <p:cNvSpPr/>
          <p:nvPr/>
        </p:nvSpPr>
        <p:spPr bwMode="auto">
          <a:xfrm>
            <a:off x="10411200" y="9258480"/>
            <a:ext cx="703332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INDIVIDUALLY EXPENSIVE · JOINTLY ADDRESSABLE</a:t>
            </a:r>
            <a:endParaRPr lang="en-US" sz="180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2F4A37"/>
        </a:solidFill>
      </p:bgPr>
    </p:bg>
    <p:spTree>
      <p:nvGrpSpPr>
        <p:cNvPr id="1" name=""/>
        <p:cNvGrpSpPr/>
        <p:nvPr/>
      </p:nvGrpSpPr>
      <p:grpSpPr bwMode="auto">
        <a:xfrm>
          <a:off x="0" y="0"/>
          <a:ext cx="0" cy="0"/>
          <a:chOff x="0" y="0"/>
          <a:chExt cx="0" cy="0"/>
        </a:xfrm>
      </p:grpSpPr>
      <p:sp>
        <p:nvSpPr>
          <p:cNvPr id="1080061206" name="Shape 0"/>
          <p:cNvSpPr/>
          <p:nvPr/>
        </p:nvSpPr>
        <p:spPr bwMode="auto">
          <a:xfrm>
            <a:off x="1047600" y="762120"/>
            <a:ext cx="456480" cy="456480"/>
          </a:xfrm>
          <a:prstGeom prst="ellipse">
            <a:avLst/>
          </a:prstGeom>
          <a:solidFill>
            <a:srgbClr val="F3ECE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839564914" name="Text 1"/>
          <p:cNvSpPr/>
          <p:nvPr/>
        </p:nvSpPr>
        <p:spPr bwMode="auto">
          <a:xfrm>
            <a:off x="1047600" y="762120"/>
            <a:ext cx="532800" cy="494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1" u="none" strike="noStrike" spc="145">
                <a:solidFill>
                  <a:srgbClr val="2F4A37"/>
                </a:solidFill>
                <a:latin typeface="Noto Serif JP"/>
                <a:ea typeface="Noto Serif JP"/>
              </a:rPr>
              <a:t>御</a:t>
            </a:r>
            <a:endParaRPr lang="en-US" sz="1950" b="0" u="none" strike="noStrike">
              <a:solidFill>
                <a:srgbClr val="FFFFFF"/>
              </a:solidFill>
              <a:latin typeface="Arial"/>
            </a:endParaRPr>
          </a:p>
        </p:txBody>
      </p:sp>
      <p:sp>
        <p:nvSpPr>
          <p:cNvPr id="956661563" name="Text 2"/>
          <p:cNvSpPr/>
          <p:nvPr/>
        </p:nvSpPr>
        <p:spPr bwMode="auto">
          <a:xfrm>
            <a:off x="1638360" y="857160"/>
            <a:ext cx="22420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MITSUE PROJECT</a:t>
            </a:r>
            <a:endParaRPr lang="en-US" sz="1800" b="0" u="none" strike="noStrike">
              <a:solidFill>
                <a:srgbClr val="FFFFFF"/>
              </a:solidFill>
              <a:latin typeface="Arial"/>
            </a:endParaRPr>
          </a:p>
        </p:txBody>
      </p:sp>
      <p:sp>
        <p:nvSpPr>
          <p:cNvPr id="1795841891" name="Text 3"/>
          <p:cNvSpPr/>
          <p:nvPr/>
        </p:nvSpPr>
        <p:spPr bwMode="auto">
          <a:xfrm>
            <a:off x="14918040" y="762120"/>
            <a:ext cx="23976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 03 · THE IDEA</a:t>
            </a:r>
            <a:endParaRPr lang="en-US" sz="1800" b="0" u="none" strike="noStrike">
              <a:solidFill>
                <a:srgbClr val="FFFFFF"/>
              </a:solidFill>
              <a:latin typeface="Arial"/>
            </a:endParaRPr>
          </a:p>
        </p:txBody>
      </p:sp>
      <p:sp>
        <p:nvSpPr>
          <p:cNvPr id="333062610" name="Text 4"/>
          <p:cNvSpPr/>
          <p:nvPr/>
        </p:nvSpPr>
        <p:spPr bwMode="auto">
          <a:xfrm>
            <a:off x="1047600" y="1219320"/>
            <a:ext cx="1667772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THREE ACTIVITIES · ONE COORDINATING BODY</a:t>
            </a:r>
            <a:endParaRPr lang="en-US" sz="1800" b="0" u="none" strike="noStrike">
              <a:solidFill>
                <a:srgbClr val="FFFFFF"/>
              </a:solidFill>
              <a:latin typeface="Arial"/>
            </a:endParaRPr>
          </a:p>
        </p:txBody>
      </p:sp>
      <p:sp>
        <p:nvSpPr>
          <p:cNvPr id="1923230073" name="Text 5"/>
          <p:cNvSpPr/>
          <p:nvPr/>
        </p:nvSpPr>
        <p:spPr bwMode="auto">
          <a:xfrm>
            <a:off x="1047600" y="1790640"/>
            <a:ext cx="16677720" cy="3675960"/>
          </a:xfrm>
          <a:prstGeom prst="rect">
            <a:avLst/>
          </a:prstGeom>
          <a:noFill/>
          <a:ln w="0">
            <a:noFill/>
          </a:ln>
        </p:spPr>
        <p:style>
          <a:lnRef idx="0"/>
          <a:fillRef idx="0"/>
          <a:effectRef idx="0"/>
          <a:fontRef idx="minor"/>
        </p:style>
        <p:txBody>
          <a:bodyPr vertOverflow="overflow" horzOverflow="overflow" vert="horz" wrap="square" lIns="25560" tIns="25560" rIns="25560" bIns="25560" numCol="1" spcCol="0" rtlCol="0" fromWordArt="0" anchor="t" anchorCtr="0" forceAA="0" upright="0" compatLnSpc="0">
            <a:normAutofit fontScale="90000" lnSpcReduction="2000"/>
          </a:bodyPr>
          <a:p>
            <a:pPr defTabSz="914400">
              <a:lnSpc>
                <a:spcPct val="95000"/>
              </a:lnSpc>
              <a:tabLst>
                <a:tab pos="0" algn="l"/>
              </a:tabLst>
              <a:defRPr/>
            </a:pPr>
            <a:r>
              <a:rPr lang="en-US" sz="14000" b="0" u="none" strike="noStrike" spc="-150" baseline="-25000">
                <a:solidFill>
                  <a:srgbClr val="F3ECE0"/>
                </a:solidFill>
                <a:latin typeface="Georgia"/>
                <a:ea typeface="Georgia"/>
              </a:rPr>
              <a:t>Forest. Power. Compute. </a:t>
            </a:r>
            <a:r>
              <a:rPr lang="en-US" sz="14000" b="0" i="1" u="none" strike="noStrike" spc="-150" baseline="-25000">
                <a:solidFill>
                  <a:srgbClr val="F3B486"/>
                </a:solidFill>
                <a:latin typeface="Georgia"/>
                <a:ea typeface="Georgia"/>
              </a:rPr>
              <a:t>One ledger.</a:t>
            </a:r>
            <a:endParaRPr lang="en-US" sz="14000" b="0" u="none" strike="noStrike">
              <a:solidFill>
                <a:srgbClr val="FFFFFF"/>
              </a:solidFill>
              <a:latin typeface="Arial"/>
            </a:endParaRPr>
          </a:p>
        </p:txBody>
      </p:sp>
      <p:sp>
        <p:nvSpPr>
          <p:cNvPr id="1890078306" name="Text 6"/>
          <p:cNvSpPr/>
          <p:nvPr/>
        </p:nvSpPr>
        <p:spPr bwMode="auto">
          <a:xfrm>
            <a:off x="1047600" y="5829480"/>
            <a:ext cx="16677720" cy="542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2700" b="0" u="none" strike="noStrike">
                <a:solidFill>
                  <a:srgbClr val="F3ECE0">
                    <a:alpha val="57000"/>
                  </a:srgbClr>
                </a:solidFill>
                <a:latin typeface="Noto Serif JP"/>
                <a:ea typeface="Noto Serif JP"/>
              </a:rPr>
              <a:t>森林再生・分散型再生可能エネルギー・地域に根ざしたデータセンター — 一つの台帳で。</a:t>
            </a:r>
            <a:endParaRPr lang="en-US" sz="2700" b="0" u="none" strike="noStrike">
              <a:solidFill>
                <a:srgbClr val="FFFFFF"/>
              </a:solidFill>
              <a:latin typeface="Arial"/>
            </a:endParaRPr>
          </a:p>
        </p:txBody>
      </p:sp>
      <p:sp>
        <p:nvSpPr>
          <p:cNvPr id="1184002908" name="Text 7"/>
          <p:cNvSpPr/>
          <p:nvPr/>
        </p:nvSpPr>
        <p:spPr bwMode="auto">
          <a:xfrm>
            <a:off x="1047600" y="7095960"/>
            <a:ext cx="51663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I</a:t>
            </a:r>
            <a:endParaRPr lang="en-US" sz="1800" b="0" u="none" strike="noStrike">
              <a:solidFill>
                <a:srgbClr val="FFFFFF"/>
              </a:solidFill>
              <a:latin typeface="Arial"/>
            </a:endParaRPr>
          </a:p>
        </p:txBody>
      </p:sp>
      <p:sp>
        <p:nvSpPr>
          <p:cNvPr id="250303048" name="Text 8"/>
          <p:cNvSpPr/>
          <p:nvPr/>
        </p:nvSpPr>
        <p:spPr bwMode="auto">
          <a:xfrm>
            <a:off x="1047600" y="7439039"/>
            <a:ext cx="5166360" cy="6469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en-US" sz="4800" b="0" u="none" strike="noStrike" spc="-47">
                <a:solidFill>
                  <a:srgbClr val="F3ECE0"/>
                </a:solidFill>
                <a:latin typeface="Georgia"/>
                <a:ea typeface="Georgia"/>
              </a:rPr>
              <a:t>Forest restoration</a:t>
            </a:r>
            <a:endParaRPr lang="en-US" sz="4800" b="0" u="none" strike="noStrike">
              <a:solidFill>
                <a:srgbClr val="FFFFFF"/>
              </a:solidFill>
              <a:latin typeface="Arial"/>
            </a:endParaRPr>
          </a:p>
        </p:txBody>
      </p:sp>
      <p:sp>
        <p:nvSpPr>
          <p:cNvPr id="1651766513" name="Text 9"/>
          <p:cNvSpPr/>
          <p:nvPr/>
        </p:nvSpPr>
        <p:spPr bwMode="auto">
          <a:xfrm>
            <a:off x="1047600" y="8182080"/>
            <a:ext cx="5166360" cy="7002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F3ECE0">
                    <a:alpha val="85000"/>
                  </a:srgbClr>
                </a:solidFill>
                <a:latin typeface="Arial"/>
                <a:ea typeface="Arial"/>
              </a:rPr>
              <a:t>Aged cedar → native broadleaf, on the ecological clock.</a:t>
            </a:r>
            <a:endParaRPr lang="en-US" sz="1800" b="0" u="none" strike="noStrike">
              <a:solidFill>
                <a:srgbClr val="FFFFFF"/>
              </a:solidFill>
              <a:latin typeface="Arial"/>
            </a:endParaRPr>
          </a:p>
        </p:txBody>
      </p:sp>
      <p:sp>
        <p:nvSpPr>
          <p:cNvPr id="1959914260" name="Text 10"/>
          <p:cNvSpPr/>
          <p:nvPr/>
        </p:nvSpPr>
        <p:spPr bwMode="auto">
          <a:xfrm>
            <a:off x="6635880" y="7095960"/>
            <a:ext cx="51663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II</a:t>
            </a:r>
            <a:endParaRPr lang="en-US" sz="1800" b="0" u="none" strike="noStrike">
              <a:solidFill>
                <a:srgbClr val="FFFFFF"/>
              </a:solidFill>
              <a:latin typeface="Arial"/>
            </a:endParaRPr>
          </a:p>
        </p:txBody>
      </p:sp>
      <p:sp>
        <p:nvSpPr>
          <p:cNvPr id="1940004361" name="Text 11"/>
          <p:cNvSpPr/>
          <p:nvPr/>
        </p:nvSpPr>
        <p:spPr bwMode="auto">
          <a:xfrm>
            <a:off x="6635880" y="7439039"/>
            <a:ext cx="5166360" cy="6469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en-US" sz="4800" b="0" u="none" strike="noStrike" spc="-47">
                <a:solidFill>
                  <a:srgbClr val="F3ECE0"/>
                </a:solidFill>
                <a:latin typeface="Georgia"/>
                <a:ea typeface="Georgia"/>
              </a:rPr>
              <a:t>Local energy + EV</a:t>
            </a:r>
            <a:endParaRPr lang="en-US" sz="4800" b="0" u="none" strike="noStrike">
              <a:solidFill>
                <a:srgbClr val="FFFFFF"/>
              </a:solidFill>
              <a:latin typeface="Arial"/>
            </a:endParaRPr>
          </a:p>
        </p:txBody>
      </p:sp>
      <p:sp>
        <p:nvSpPr>
          <p:cNvPr id="648189147" name="Text 12"/>
          <p:cNvSpPr/>
          <p:nvPr/>
        </p:nvSpPr>
        <p:spPr bwMode="auto">
          <a:xfrm>
            <a:off x="6635880" y="8182080"/>
            <a:ext cx="5166360" cy="103176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defRPr/>
            </a:pPr>
            <a:r>
              <a:rPr lang="en-US" sz="1800" b="0" u="none" strike="noStrike">
                <a:solidFill>
                  <a:srgbClr val="F3ECE0">
                    <a:alpha val="85000"/>
                  </a:srgbClr>
                </a:solidFill>
                <a:latin typeface="Arial"/>
                <a:ea typeface="Arial"/>
              </a:rPr>
              <a:t>Sugi biomass CHP (the trees we remove) leads; solar and EV charging complement. Blackout resilience built in.</a:t>
            </a:r>
            <a:endParaRPr lang="en-US" sz="1800" b="0" u="none" strike="noStrike">
              <a:solidFill>
                <a:srgbClr val="FFFFFF"/>
              </a:solidFill>
              <a:latin typeface="Arial"/>
            </a:endParaRPr>
          </a:p>
        </p:txBody>
      </p:sp>
      <p:sp>
        <p:nvSpPr>
          <p:cNvPr id="1259359964" name="Text 13"/>
          <p:cNvSpPr/>
          <p:nvPr/>
        </p:nvSpPr>
        <p:spPr bwMode="auto">
          <a:xfrm>
            <a:off x="12223800" y="7095960"/>
            <a:ext cx="51663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III</a:t>
            </a:r>
            <a:endParaRPr lang="en-US" sz="1800" b="0" u="none" strike="noStrike">
              <a:solidFill>
                <a:srgbClr val="FFFFFF"/>
              </a:solidFill>
              <a:latin typeface="Arial"/>
            </a:endParaRPr>
          </a:p>
        </p:txBody>
      </p:sp>
      <p:sp>
        <p:nvSpPr>
          <p:cNvPr id="1915930006" name="Text 14"/>
          <p:cNvSpPr/>
          <p:nvPr/>
        </p:nvSpPr>
        <p:spPr bwMode="auto">
          <a:xfrm>
            <a:off x="12223800" y="7439039"/>
            <a:ext cx="5166360" cy="6469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en-US" sz="4800" b="0" u="none" strike="noStrike" spc="-47">
                <a:solidFill>
                  <a:srgbClr val="F3ECE0"/>
                </a:solidFill>
                <a:latin typeface="Georgia"/>
                <a:ea typeface="Georgia"/>
              </a:rPr>
              <a:t>Edge data center</a:t>
            </a:r>
            <a:endParaRPr lang="en-US" sz="4800" b="0" u="none" strike="noStrike">
              <a:solidFill>
                <a:srgbClr val="FFFFFF"/>
              </a:solidFill>
              <a:latin typeface="Arial"/>
            </a:endParaRPr>
          </a:p>
        </p:txBody>
      </p:sp>
      <p:sp>
        <p:nvSpPr>
          <p:cNvPr id="649028904" name="Text 15"/>
          <p:cNvSpPr/>
          <p:nvPr/>
        </p:nvSpPr>
        <p:spPr bwMode="auto">
          <a:xfrm>
            <a:off x="12223800" y="8182080"/>
            <a:ext cx="5166360" cy="7002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F3ECE0">
                    <a:alpha val="85000"/>
                  </a:srgbClr>
                </a:solidFill>
                <a:latin typeface="Arial"/>
                <a:ea typeface="Arial"/>
              </a:rPr>
              <a:t>A small, community-rooted site — location under research.</a:t>
            </a:r>
            <a:endParaRPr lang="en-US" sz="1800" b="0" u="none" strike="noStrike">
              <a:solidFill>
                <a:srgbClr val="FFFFFF"/>
              </a:solidFill>
              <a:latin typeface="Arial"/>
            </a:endParaRPr>
          </a:p>
        </p:txBody>
      </p:sp>
      <p:sp>
        <p:nvSpPr>
          <p:cNvPr id="948514489" name="Text 16"/>
          <p:cNvSpPr/>
          <p:nvPr/>
        </p:nvSpPr>
        <p:spPr bwMode="auto">
          <a:xfrm>
            <a:off x="1047600" y="9405000"/>
            <a:ext cx="11541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04 / 12</a:t>
            </a:r>
            <a:endParaRPr lang="en-US" sz="1800" b="0" u="none" strike="noStrike">
              <a:solidFill>
                <a:srgbClr val="FFFFFF"/>
              </a:solidFill>
              <a:latin typeface="Arial"/>
            </a:endParaRPr>
          </a:p>
        </p:txBody>
      </p:sp>
      <p:sp>
        <p:nvSpPr>
          <p:cNvPr id="48347046" name="Text 17"/>
          <p:cNvSpPr/>
          <p:nvPr/>
        </p:nvSpPr>
        <p:spPr bwMode="auto">
          <a:xfrm>
            <a:off x="7458120" y="9405000"/>
            <a:ext cx="100746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EACH REINFORCES THE OTHER. MODEST IN SCALE, PATIENT IN HORIZON.</a:t>
            </a:r>
            <a:endParaRPr lang="en-US" sz="1800" b="0" u="none" strike="noStrike">
              <a:solidFill>
                <a:srgbClr val="FFFFFF"/>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3ECE0"/>
        </a:solidFill>
      </p:bgPr>
    </p:bg>
    <p:spTree>
      <p:nvGrpSpPr>
        <p:cNvPr id="1" name=""/>
        <p:cNvGrpSpPr/>
        <p:nvPr/>
      </p:nvGrpSpPr>
      <p:grpSpPr bwMode="auto">
        <a:xfrm>
          <a:off x="0" y="0"/>
          <a:ext cx="0" cy="0"/>
          <a:chOff x="0" y="0"/>
          <a:chExt cx="0" cy="0"/>
        </a:xfrm>
      </p:grpSpPr>
      <p:sp>
        <p:nvSpPr>
          <p:cNvPr id="1777918588" name="Shape 0"/>
          <p:cNvSpPr/>
          <p:nvPr/>
        </p:nvSpPr>
        <p:spPr bwMode="auto">
          <a:xfrm>
            <a:off x="1047600" y="762120"/>
            <a:ext cx="456480" cy="456480"/>
          </a:xfrm>
          <a:prstGeom prst="ellipse">
            <a:avLst/>
          </a:prstGeom>
          <a:solidFill>
            <a:srgbClr val="2F4A37"/>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292331162" name="Text 1"/>
          <p:cNvSpPr/>
          <p:nvPr/>
        </p:nvSpPr>
        <p:spPr bwMode="auto">
          <a:xfrm>
            <a:off x="1047600" y="762120"/>
            <a:ext cx="532800" cy="494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1" u="none" strike="noStrike" spc="145">
                <a:solidFill>
                  <a:srgbClr val="F3ECE0"/>
                </a:solidFill>
                <a:latin typeface="Noto Serif JP"/>
                <a:ea typeface="Noto Serif JP"/>
              </a:rPr>
              <a:t>御</a:t>
            </a:r>
            <a:endParaRPr lang="en-US" sz="1950" b="0" u="none" strike="noStrike">
              <a:solidFill>
                <a:srgbClr val="000000"/>
              </a:solidFill>
              <a:latin typeface="Arial"/>
            </a:endParaRPr>
          </a:p>
        </p:txBody>
      </p:sp>
      <p:sp>
        <p:nvSpPr>
          <p:cNvPr id="1166348492" name="Text 2"/>
          <p:cNvSpPr/>
          <p:nvPr/>
        </p:nvSpPr>
        <p:spPr bwMode="auto">
          <a:xfrm>
            <a:off x="1638360" y="857160"/>
            <a:ext cx="22420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MITSUE PROJECT</a:t>
            </a:r>
            <a:endParaRPr lang="en-US" sz="1800" b="0" u="none" strike="noStrike">
              <a:solidFill>
                <a:srgbClr val="000000"/>
              </a:solidFill>
              <a:latin typeface="Arial"/>
            </a:endParaRPr>
          </a:p>
        </p:txBody>
      </p:sp>
      <p:sp>
        <p:nvSpPr>
          <p:cNvPr id="1600442508" name="Text 3"/>
          <p:cNvSpPr/>
          <p:nvPr/>
        </p:nvSpPr>
        <p:spPr bwMode="auto">
          <a:xfrm>
            <a:off x="12376800" y="762120"/>
            <a:ext cx="5008680" cy="380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0" u="none" strike="noStrike" spc="145">
                <a:solidFill>
                  <a:srgbClr val="4C554F"/>
                </a:solidFill>
                <a:latin typeface="Courier New"/>
                <a:ea typeface="Courier New"/>
              </a:rPr>
              <a:t>I · FOREST RESTORATION · </a:t>
            </a:r>
            <a:r>
              <a:rPr lang="zh-CN" sz="1800" b="0" u="none" strike="noStrike" spc="145">
                <a:solidFill>
                  <a:srgbClr val="4C554F"/>
                </a:solidFill>
                <a:latin typeface="Courier New"/>
                <a:ea typeface="Courier New"/>
              </a:rPr>
              <a:t>森林再生</a:t>
            </a:r>
            <a:endParaRPr lang="en-US" sz="1800" b="0" u="none" strike="noStrike">
              <a:solidFill>
                <a:srgbClr val="000000"/>
              </a:solidFill>
              <a:latin typeface="Arial"/>
            </a:endParaRPr>
          </a:p>
        </p:txBody>
      </p:sp>
      <p:sp>
        <p:nvSpPr>
          <p:cNvPr id="1233878157" name="Text 4"/>
          <p:cNvSpPr/>
          <p:nvPr/>
        </p:nvSpPr>
        <p:spPr bwMode="auto">
          <a:xfrm>
            <a:off x="1047600" y="1695600"/>
            <a:ext cx="8324280" cy="2511000"/>
          </a:xfrm>
          <a:prstGeom prst="rect">
            <a:avLst/>
          </a:prstGeom>
          <a:noFill/>
          <a:ln w="0">
            <a:noFill/>
          </a:ln>
        </p:spPr>
        <p:style>
          <a:lnRef idx="0"/>
          <a:fillRef idx="0"/>
          <a:effectRef idx="0"/>
          <a:fontRef idx="minor"/>
        </p:style>
        <p:txBody>
          <a:bodyPr lIns="25560" tIns="25560" rIns="25560" bIns="25560" anchor="t">
            <a:normAutofit/>
          </a:bodyPr>
          <a:p>
            <a:pPr defTabSz="914400">
              <a:lnSpc>
                <a:spcPct val="97000"/>
              </a:lnSpc>
              <a:tabLst>
                <a:tab pos="0" algn="l"/>
              </a:tabLst>
              <a:defRPr/>
            </a:pPr>
            <a:r>
              <a:rPr lang="en-US" sz="6600" b="0" u="none" strike="noStrike" spc="-65">
                <a:solidFill>
                  <a:srgbClr val="1F2A24"/>
                </a:solidFill>
                <a:latin typeface="Georgia"/>
                <a:ea typeface="Georgia"/>
              </a:rPr>
              <a:t>We feed the bears, so the bears </a:t>
            </a:r>
            <a:r>
              <a:rPr lang="en-US" sz="6600" b="0" i="1" u="none" strike="noStrike" spc="-65">
                <a:solidFill>
                  <a:srgbClr val="C4663A"/>
                </a:solidFill>
                <a:latin typeface="Georgia"/>
                <a:ea typeface="Georgia"/>
              </a:rPr>
              <a:t>stop visiting.</a:t>
            </a:r>
            <a:endParaRPr lang="en-US" sz="6600" b="0" u="none" strike="noStrike">
              <a:solidFill>
                <a:srgbClr val="000000"/>
              </a:solidFill>
              <a:latin typeface="Arial"/>
            </a:endParaRPr>
          </a:p>
        </p:txBody>
      </p:sp>
      <p:sp>
        <p:nvSpPr>
          <p:cNvPr id="2050839179" name="Text 5"/>
          <p:cNvSpPr/>
          <p:nvPr/>
        </p:nvSpPr>
        <p:spPr bwMode="auto">
          <a:xfrm>
            <a:off x="1047600" y="4340520"/>
            <a:ext cx="8324280" cy="158436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defRPr/>
            </a:pPr>
            <a:r>
              <a:rPr lang="en-US" sz="2100" b="0" u="none" strike="noStrike">
                <a:solidFill>
                  <a:srgbClr val="1F2A24"/>
                </a:solidFill>
                <a:latin typeface="Arial"/>
                <a:ea typeface="Arial"/>
              </a:rPr>
              <a:t>Phased replacement of aged sugi (cedar) plantations with native broadleaf — oak, chestnut, konara. Done with local landowners and the Forestry Agency. The 25-year arc is the ecological clock, not the funding cycle.</a:t>
            </a:r>
            <a:endParaRPr lang="en-US" sz="2100" b="0" u="none" strike="noStrike">
              <a:solidFill>
                <a:srgbClr val="000000"/>
              </a:solidFill>
              <a:latin typeface="Arial"/>
            </a:endParaRPr>
          </a:p>
        </p:txBody>
      </p:sp>
      <p:sp>
        <p:nvSpPr>
          <p:cNvPr id="1760411215" name="Text 6"/>
          <p:cNvSpPr/>
          <p:nvPr/>
        </p:nvSpPr>
        <p:spPr bwMode="auto">
          <a:xfrm>
            <a:off x="1047600" y="6154200"/>
            <a:ext cx="8324280" cy="81072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defRPr/>
            </a:pPr>
            <a:r>
              <a:rPr lang="en-US" sz="2100" b="0" u="none" strike="noStrike">
                <a:solidFill>
                  <a:srgbClr val="1F2A24"/>
                </a:solidFill>
                <a:latin typeface="Arial"/>
                <a:ea typeface="Arial"/>
              </a:rPr>
              <a:t>The sugi we remove doesn't go to waste — it fuels biomass CHP + the data center. That revenue funds higher landowner payouts and the co-op's mechanized equipment.</a:t>
            </a:r>
            <a:endParaRPr lang="en-US" sz="2100" b="0" u="none" strike="noStrike">
              <a:solidFill>
                <a:srgbClr val="000000"/>
              </a:solidFill>
              <a:latin typeface="Arial"/>
            </a:endParaRPr>
          </a:p>
        </p:txBody>
      </p:sp>
      <p:sp>
        <p:nvSpPr>
          <p:cNvPr id="567455502" name="Text 7"/>
          <p:cNvSpPr/>
          <p:nvPr/>
        </p:nvSpPr>
        <p:spPr bwMode="auto">
          <a:xfrm>
            <a:off x="1047600" y="7194240"/>
            <a:ext cx="8324280" cy="119736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defRPr/>
            </a:pPr>
            <a:r>
              <a:rPr lang="en-US" sz="2100" b="0" u="none" strike="noStrike">
                <a:solidFill>
                  <a:srgbClr val="1F2A24"/>
                </a:solidFill>
                <a:latin typeface="Arial"/>
                <a:ea typeface="Arial"/>
              </a:rPr>
              <a:t>Broadleaf trees produce acorns and nuts that sustain deer, wild boar, and bear through winter. When the forest feeds them, they stay there — and out of the village vegetable patch.</a:t>
            </a:r>
            <a:endParaRPr lang="en-US" sz="2100" b="0" u="none" strike="noStrike">
              <a:solidFill>
                <a:srgbClr val="000000"/>
              </a:solidFill>
              <a:latin typeface="Arial"/>
            </a:endParaRPr>
          </a:p>
        </p:txBody>
      </p:sp>
      <p:sp>
        <p:nvSpPr>
          <p:cNvPr id="427316009" name="Text 9"/>
          <p:cNvSpPr/>
          <p:nvPr/>
        </p:nvSpPr>
        <p:spPr bwMode="auto">
          <a:xfrm>
            <a:off x="1047600" y="8458200"/>
            <a:ext cx="257904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POLLEN</a:t>
            </a:r>
            <a:endParaRPr lang="en-US" sz="1800" b="0" u="none" strike="noStrike">
              <a:solidFill>
                <a:srgbClr val="000000"/>
              </a:solidFill>
              <a:latin typeface="Arial"/>
            </a:endParaRPr>
          </a:p>
        </p:txBody>
      </p:sp>
      <p:sp>
        <p:nvSpPr>
          <p:cNvPr id="1044903909" name="Text 10"/>
          <p:cNvSpPr/>
          <p:nvPr/>
        </p:nvSpPr>
        <p:spPr bwMode="auto">
          <a:xfrm>
            <a:off x="1047600" y="8724960"/>
            <a:ext cx="2579040" cy="5040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defRPr/>
            </a:pPr>
            <a:r>
              <a:rPr lang="en-US" sz="3750" b="0" u="none" strike="noStrike" spc="-37">
                <a:solidFill>
                  <a:srgbClr val="1F2A24"/>
                </a:solidFill>
                <a:latin typeface="Georgia"/>
                <a:ea typeface="Georgia"/>
              </a:rPr>
              <a:t>↓ down</a:t>
            </a:r>
            <a:endParaRPr lang="en-US" sz="3750" b="0" u="none" strike="noStrike">
              <a:solidFill>
                <a:srgbClr val="000000"/>
              </a:solidFill>
              <a:latin typeface="Arial"/>
            </a:endParaRPr>
          </a:p>
        </p:txBody>
      </p:sp>
      <p:sp>
        <p:nvSpPr>
          <p:cNvPr id="576785506" name="Text 11"/>
          <p:cNvSpPr/>
          <p:nvPr/>
        </p:nvSpPr>
        <p:spPr bwMode="auto">
          <a:xfrm>
            <a:off x="3837240" y="8458200"/>
            <a:ext cx="257904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LANDSLIDE RISK</a:t>
            </a:r>
            <a:endParaRPr lang="en-US" sz="1800" b="0" u="none" strike="noStrike">
              <a:solidFill>
                <a:srgbClr val="000000"/>
              </a:solidFill>
              <a:latin typeface="Arial"/>
            </a:endParaRPr>
          </a:p>
        </p:txBody>
      </p:sp>
      <p:sp>
        <p:nvSpPr>
          <p:cNvPr id="2054802533" name="Text 12"/>
          <p:cNvSpPr/>
          <p:nvPr/>
        </p:nvSpPr>
        <p:spPr bwMode="auto">
          <a:xfrm>
            <a:off x="3837240" y="8724960"/>
            <a:ext cx="2579040" cy="5040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defRPr/>
            </a:pPr>
            <a:r>
              <a:rPr lang="en-US" sz="3750" b="0" u="none" strike="noStrike" spc="-37">
                <a:solidFill>
                  <a:srgbClr val="1F2A24"/>
                </a:solidFill>
                <a:latin typeface="Georgia"/>
                <a:ea typeface="Georgia"/>
              </a:rPr>
              <a:t>↓ down</a:t>
            </a:r>
            <a:endParaRPr lang="en-US" sz="3750" b="0" u="none" strike="noStrike">
              <a:solidFill>
                <a:srgbClr val="000000"/>
              </a:solidFill>
              <a:latin typeface="Arial"/>
            </a:endParaRPr>
          </a:p>
        </p:txBody>
      </p:sp>
      <p:sp>
        <p:nvSpPr>
          <p:cNvPr id="804985917" name="Text 13"/>
          <p:cNvSpPr/>
          <p:nvPr/>
        </p:nvSpPr>
        <p:spPr bwMode="auto">
          <a:xfrm>
            <a:off x="6626520" y="8458200"/>
            <a:ext cx="257904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NATIVE CANOPY</a:t>
            </a:r>
            <a:endParaRPr lang="en-US" sz="1800" b="0" u="none" strike="noStrike">
              <a:solidFill>
                <a:srgbClr val="000000"/>
              </a:solidFill>
              <a:latin typeface="Arial"/>
            </a:endParaRPr>
          </a:p>
        </p:txBody>
      </p:sp>
      <p:sp>
        <p:nvSpPr>
          <p:cNvPr id="977277054" name="Text 14"/>
          <p:cNvSpPr/>
          <p:nvPr/>
        </p:nvSpPr>
        <p:spPr bwMode="auto">
          <a:xfrm>
            <a:off x="6626520" y="8724960"/>
            <a:ext cx="2579040" cy="5040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defRPr/>
            </a:pPr>
            <a:r>
              <a:rPr lang="en-US" sz="3750" b="0" u="none" strike="noStrike" spc="-37">
                <a:solidFill>
                  <a:srgbClr val="1F2A24"/>
                </a:solidFill>
                <a:latin typeface="Georgia"/>
                <a:ea typeface="Georgia"/>
              </a:rPr>
              <a:t>↑ up</a:t>
            </a:r>
            <a:endParaRPr lang="en-US" sz="3750" b="0" u="none" strike="noStrike">
              <a:solidFill>
                <a:srgbClr val="000000"/>
              </a:solidFill>
              <a:latin typeface="Arial"/>
            </a:endParaRPr>
          </a:p>
        </p:txBody>
      </p:sp>
      <p:sp>
        <p:nvSpPr>
          <p:cNvPr id="106232255" name="Shape 15"/>
          <p:cNvSpPr/>
          <p:nvPr/>
        </p:nvSpPr>
        <p:spPr bwMode="auto">
          <a:xfrm>
            <a:off x="9892440" y="1695600"/>
            <a:ext cx="7347240" cy="333324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944784085" name="Text 16"/>
          <p:cNvSpPr/>
          <p:nvPr/>
        </p:nvSpPr>
        <p:spPr bwMode="auto">
          <a:xfrm>
            <a:off x="10168560" y="1971720"/>
            <a:ext cx="6998760" cy="380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0" u="none" strike="noStrike" spc="215">
                <a:solidFill>
                  <a:srgbClr val="4C554F"/>
                </a:solidFill>
                <a:latin typeface="Courier New"/>
                <a:ea typeface="Courier New"/>
              </a:rPr>
              <a:t>BEFORE · </a:t>
            </a:r>
            <a:r>
              <a:rPr lang="zh-CN" sz="1800" b="0" u="none" strike="noStrike" spc="215">
                <a:solidFill>
                  <a:srgbClr val="4C554F"/>
                </a:solidFill>
                <a:latin typeface="Courier New"/>
                <a:ea typeface="Courier New"/>
              </a:rPr>
              <a:t>杉人工林</a:t>
            </a:r>
            <a:endParaRPr lang="en-US" sz="1800" b="0" u="none" strike="noStrike">
              <a:solidFill>
                <a:srgbClr val="000000"/>
              </a:solidFill>
              <a:latin typeface="Arial"/>
            </a:endParaRPr>
          </a:p>
        </p:txBody>
      </p:sp>
      <p:pic>
        <p:nvPicPr>
          <p:cNvPr id="1545940214" name="Image 0" descr="preencoded.png"/>
          <p:cNvPicPr/>
          <p:nvPr/>
        </p:nvPicPr>
        <p:blipFill rotWithShape="1">
          <a:blip r:embed="rId3"/>
          <a:stretch/>
        </p:blipFill>
        <p:spPr bwMode="auto">
          <a:xfrm>
            <a:off x="10168560" y="2486160"/>
            <a:ext cx="6794640" cy="1523160"/>
          </a:xfrm>
          <a:prstGeom prst="rect">
            <a:avLst/>
          </a:prstGeom>
          <a:noFill/>
          <a:ln w="0">
            <a:noFill/>
          </a:ln>
        </p:spPr>
      </p:pic>
      <p:sp>
        <p:nvSpPr>
          <p:cNvPr id="1763979951" name="Text 17"/>
          <p:cNvSpPr/>
          <p:nvPr/>
        </p:nvSpPr>
        <p:spPr bwMode="auto">
          <a:xfrm>
            <a:off x="10168560" y="4048200"/>
            <a:ext cx="6998760" cy="3690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4C554F"/>
                </a:solidFill>
                <a:latin typeface="Arial"/>
                <a:ea typeface="Arial"/>
              </a:rPr>
              <a:t>Monoculture. Pollen. Quiet ground.</a:t>
            </a:r>
            <a:endParaRPr lang="en-US" sz="1800" b="0" u="none" strike="noStrike">
              <a:solidFill>
                <a:srgbClr val="000000"/>
              </a:solidFill>
              <a:latin typeface="Arial"/>
            </a:endParaRPr>
          </a:p>
        </p:txBody>
      </p:sp>
      <p:sp>
        <p:nvSpPr>
          <p:cNvPr id="878671556" name="Shape 18"/>
          <p:cNvSpPr/>
          <p:nvPr/>
        </p:nvSpPr>
        <p:spPr bwMode="auto">
          <a:xfrm>
            <a:off x="9892440" y="5729760"/>
            <a:ext cx="7347240" cy="318528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165512276" name="Text 19"/>
          <p:cNvSpPr/>
          <p:nvPr/>
        </p:nvSpPr>
        <p:spPr bwMode="auto">
          <a:xfrm>
            <a:off x="10168560" y="6005880"/>
            <a:ext cx="6998760" cy="380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0" u="none" strike="noStrike" spc="215">
                <a:solidFill>
                  <a:srgbClr val="4C554F"/>
                </a:solidFill>
                <a:latin typeface="Courier New"/>
                <a:ea typeface="Courier New"/>
              </a:rPr>
              <a:t>AFTER · </a:t>
            </a:r>
            <a:r>
              <a:rPr lang="zh-CN" sz="1800" b="0" u="none" strike="noStrike" spc="215">
                <a:solidFill>
                  <a:srgbClr val="4C554F"/>
                </a:solidFill>
                <a:latin typeface="Courier New"/>
                <a:ea typeface="Courier New"/>
              </a:rPr>
              <a:t>在来広葉樹</a:t>
            </a:r>
            <a:endParaRPr lang="en-US" sz="1800" b="0" u="none" strike="noStrike">
              <a:solidFill>
                <a:srgbClr val="000000"/>
              </a:solidFill>
              <a:latin typeface="Arial"/>
            </a:endParaRPr>
          </a:p>
        </p:txBody>
      </p:sp>
      <p:pic>
        <p:nvPicPr>
          <p:cNvPr id="39085578" name="Image 1" descr="preencoded.png"/>
          <p:cNvPicPr/>
          <p:nvPr/>
        </p:nvPicPr>
        <p:blipFill rotWithShape="1">
          <a:blip r:embed="rId4"/>
          <a:stretch/>
        </p:blipFill>
        <p:spPr bwMode="auto">
          <a:xfrm>
            <a:off x="10168560" y="6520320"/>
            <a:ext cx="6794640" cy="1523160"/>
          </a:xfrm>
          <a:prstGeom prst="rect">
            <a:avLst/>
          </a:prstGeom>
          <a:noFill/>
          <a:ln w="0">
            <a:noFill/>
          </a:ln>
        </p:spPr>
      </p:pic>
      <p:sp>
        <p:nvSpPr>
          <p:cNvPr id="556946829" name="Text 20"/>
          <p:cNvSpPr/>
          <p:nvPr/>
        </p:nvSpPr>
        <p:spPr bwMode="auto">
          <a:xfrm>
            <a:off x="10168560" y="8082360"/>
            <a:ext cx="6998760" cy="3690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4C554F"/>
                </a:solidFill>
                <a:latin typeface="Arial"/>
                <a:ea typeface="Arial"/>
              </a:rPr>
              <a:t>Mixed canopy. Acorns. Deer eats here, not your daikon.</a:t>
            </a:r>
            <a:endParaRPr lang="en-US" sz="1800" b="0" u="none" strike="noStrike">
              <a:solidFill>
                <a:srgbClr val="000000"/>
              </a:solidFill>
              <a:latin typeface="Arial"/>
            </a:endParaRPr>
          </a:p>
        </p:txBody>
      </p:sp>
      <p:sp>
        <p:nvSpPr>
          <p:cNvPr id="184090481" name="Text 21"/>
          <p:cNvSpPr/>
          <p:nvPr/>
        </p:nvSpPr>
        <p:spPr bwMode="auto">
          <a:xfrm>
            <a:off x="1047600" y="9535320"/>
            <a:ext cx="11541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05 / 12</a:t>
            </a:r>
            <a:endParaRPr lang="en-US" sz="1800" b="0" u="none" strike="noStrike">
              <a:solidFill>
                <a:srgbClr val="000000"/>
              </a:solidFill>
              <a:latin typeface="Arial"/>
            </a:endParaRPr>
          </a:p>
        </p:txBody>
      </p:sp>
      <p:sp>
        <p:nvSpPr>
          <p:cNvPr id="1665388593" name="Text 22"/>
          <p:cNvSpPr/>
          <p:nvPr/>
        </p:nvSpPr>
        <p:spPr bwMode="auto">
          <a:xfrm>
            <a:off x="9323280" y="9535320"/>
            <a:ext cx="815364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SUGI → BROADLEAF · 25-YEAR CYCLE · WILDLIFE BALANCE</a:t>
            </a:r>
            <a:endParaRPr lang="en-US" sz="180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3ECE0"/>
        </a:solidFill>
      </p:bgPr>
    </p:bg>
    <p:spTree>
      <p:nvGrpSpPr>
        <p:cNvPr id="1" name=""/>
        <p:cNvGrpSpPr/>
        <p:nvPr/>
      </p:nvGrpSpPr>
      <p:grpSpPr bwMode="auto">
        <a:xfrm>
          <a:off x="0" y="0"/>
          <a:ext cx="0" cy="0"/>
          <a:chOff x="0" y="0"/>
          <a:chExt cx="0" cy="0"/>
        </a:xfrm>
      </p:grpSpPr>
      <p:sp>
        <p:nvSpPr>
          <p:cNvPr id="230755712" name="Shape 0"/>
          <p:cNvSpPr/>
          <p:nvPr/>
        </p:nvSpPr>
        <p:spPr bwMode="auto">
          <a:xfrm>
            <a:off x="1047600" y="762120"/>
            <a:ext cx="456480" cy="456480"/>
          </a:xfrm>
          <a:prstGeom prst="ellipse">
            <a:avLst/>
          </a:prstGeom>
          <a:solidFill>
            <a:srgbClr val="2F4A37"/>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2060379300" name="Text 1"/>
          <p:cNvSpPr/>
          <p:nvPr/>
        </p:nvSpPr>
        <p:spPr bwMode="auto">
          <a:xfrm>
            <a:off x="1047600" y="762120"/>
            <a:ext cx="532800" cy="494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1" u="none" strike="noStrike" spc="145">
                <a:solidFill>
                  <a:srgbClr val="F3ECE0"/>
                </a:solidFill>
                <a:latin typeface="Noto Serif JP"/>
                <a:ea typeface="Noto Serif JP"/>
              </a:rPr>
              <a:t>御</a:t>
            </a:r>
            <a:endParaRPr lang="en-US" sz="1950" b="0" u="none" strike="noStrike">
              <a:solidFill>
                <a:srgbClr val="000000"/>
              </a:solidFill>
              <a:latin typeface="Arial"/>
            </a:endParaRPr>
          </a:p>
        </p:txBody>
      </p:sp>
      <p:sp>
        <p:nvSpPr>
          <p:cNvPr id="1186173797" name="Text 2"/>
          <p:cNvSpPr/>
          <p:nvPr/>
        </p:nvSpPr>
        <p:spPr bwMode="auto">
          <a:xfrm>
            <a:off x="1638360" y="857160"/>
            <a:ext cx="22420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MITSUE PROJECT</a:t>
            </a:r>
            <a:endParaRPr lang="en-US" sz="1800" b="0" u="none" strike="noStrike">
              <a:solidFill>
                <a:srgbClr val="000000"/>
              </a:solidFill>
              <a:latin typeface="Arial"/>
            </a:endParaRPr>
          </a:p>
        </p:txBody>
      </p:sp>
      <p:sp>
        <p:nvSpPr>
          <p:cNvPr id="715017798" name="Text 3"/>
          <p:cNvSpPr/>
          <p:nvPr/>
        </p:nvSpPr>
        <p:spPr bwMode="auto">
          <a:xfrm>
            <a:off x="12129840" y="762120"/>
            <a:ext cx="5263200" cy="380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0" u="none" strike="noStrike" spc="145">
                <a:solidFill>
                  <a:srgbClr val="4C554F"/>
                </a:solidFill>
                <a:latin typeface="Courier New"/>
                <a:ea typeface="Courier New"/>
              </a:rPr>
              <a:t>II · LOCAL ENERGY &amp; EV · </a:t>
            </a:r>
            <a:r>
              <a:rPr lang="zh-CN" sz="1800" b="0" u="none" strike="noStrike" spc="145">
                <a:solidFill>
                  <a:srgbClr val="4C554F"/>
                </a:solidFill>
                <a:latin typeface="Courier New"/>
                <a:ea typeface="Courier New"/>
              </a:rPr>
              <a:t>エネルギー</a:t>
            </a:r>
            <a:endParaRPr lang="en-US" sz="1800" b="0" u="none" strike="noStrike">
              <a:solidFill>
                <a:srgbClr val="000000"/>
              </a:solidFill>
              <a:latin typeface="Arial"/>
            </a:endParaRPr>
          </a:p>
        </p:txBody>
      </p:sp>
      <p:sp>
        <p:nvSpPr>
          <p:cNvPr id="878002428" name="Text 4"/>
          <p:cNvSpPr/>
          <p:nvPr/>
        </p:nvSpPr>
        <p:spPr bwMode="auto">
          <a:xfrm>
            <a:off x="1047600" y="1695600"/>
            <a:ext cx="15027840" cy="18392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defRPr/>
            </a:pPr>
            <a:r>
              <a:rPr lang="en-US" sz="7200" b="0" u="none" strike="noStrike" spc="-71">
                <a:solidFill>
                  <a:srgbClr val="1F2A24"/>
                </a:solidFill>
                <a:latin typeface="Georgia"/>
                <a:ea typeface="Georgia"/>
              </a:rPr>
              <a:t>The forest powers the village. </a:t>
            </a:r>
            <a:r>
              <a:rPr lang="en-US" sz="7200" b="0" i="1" u="none" strike="noStrike" spc="-71">
                <a:solidFill>
                  <a:srgbClr val="C4663A"/>
                </a:solidFill>
                <a:latin typeface="Georgia"/>
                <a:ea typeface="Georgia"/>
              </a:rPr>
              <a:t>Lights stay on </a:t>
            </a:r>
            <a:r>
              <a:rPr lang="en-US" sz="7200" b="0" u="none" strike="noStrike" spc="-71">
                <a:solidFill>
                  <a:srgbClr val="1F2A24"/>
                </a:solidFill>
                <a:latin typeface="Georgia"/>
                <a:ea typeface="Georgia"/>
              </a:rPr>
              <a:t>when the grid blinks.</a:t>
            </a:r>
            <a:endParaRPr lang="en-US" sz="7200" b="0" u="none" strike="noStrike">
              <a:solidFill>
                <a:srgbClr val="000000"/>
              </a:solidFill>
              <a:latin typeface="Arial"/>
            </a:endParaRPr>
          </a:p>
        </p:txBody>
      </p:sp>
      <p:sp>
        <p:nvSpPr>
          <p:cNvPr id="674851238" name="Text 5"/>
          <p:cNvSpPr/>
          <p:nvPr/>
        </p:nvSpPr>
        <p:spPr bwMode="auto">
          <a:xfrm>
            <a:off x="1047600" y="3935519"/>
            <a:ext cx="12216960" cy="197100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defRPr/>
            </a:pPr>
            <a:r>
              <a:rPr lang="en-US" sz="2100" b="0" u="none" strike="noStrike">
                <a:solidFill>
                  <a:srgbClr val="1F2A24"/>
                </a:solidFill>
                <a:latin typeface="Arial"/>
                <a:ea typeface="Arial"/>
              </a:rPr>
              <a:t>The sugi we remove during forest restoration fuels a biomass CHP plant that powers a small compute site and EV chargers. We plan to scale in two stages: a ~50 kWe prototype first, then a full-scale CHP of about 1.2 MWe. Solar tops it up; the grid is backup.</a:t>
            </a:r>
            <a:endParaRPr lang="en-US" sz="2100" b="0" u="none" strike="noStrike">
              <a:solidFill>
                <a:srgbClr val="000000"/>
              </a:solidFill>
              <a:latin typeface="Arial"/>
            </a:endParaRPr>
          </a:p>
        </p:txBody>
      </p:sp>
      <p:sp>
        <p:nvSpPr>
          <p:cNvPr id="754196127" name="Shape 6"/>
          <p:cNvSpPr/>
          <p:nvPr/>
        </p:nvSpPr>
        <p:spPr bwMode="auto">
          <a:xfrm>
            <a:off x="952920" y="5640840"/>
            <a:ext cx="16191720" cy="281700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pic>
        <p:nvPicPr>
          <p:cNvPr id="711841968" name="Image 0" descr="preencoded.png"/>
          <p:cNvPicPr/>
          <p:nvPr/>
        </p:nvPicPr>
        <p:blipFill rotWithShape="1">
          <a:blip r:embed="rId3"/>
          <a:stretch/>
        </p:blipFill>
        <p:spPr bwMode="auto">
          <a:xfrm>
            <a:off x="1305360" y="5993280"/>
            <a:ext cx="15486840" cy="2112120"/>
          </a:xfrm>
          <a:prstGeom prst="rect">
            <a:avLst/>
          </a:prstGeom>
          <a:noFill/>
          <a:ln w="0">
            <a:noFill/>
          </a:ln>
        </p:spPr>
      </p:pic>
      <p:sp>
        <p:nvSpPr>
          <p:cNvPr id="2087396952" name="Text 7"/>
          <p:cNvSpPr/>
          <p:nvPr/>
        </p:nvSpPr>
        <p:spPr bwMode="auto">
          <a:xfrm>
            <a:off x="1047600" y="9258480"/>
            <a:ext cx="11541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06 / 12</a:t>
            </a:r>
            <a:endParaRPr lang="en-US" sz="1800" b="0" u="none" strike="noStrike">
              <a:solidFill>
                <a:srgbClr val="000000"/>
              </a:solidFill>
              <a:latin typeface="Arial"/>
            </a:endParaRPr>
          </a:p>
        </p:txBody>
      </p:sp>
      <p:sp>
        <p:nvSpPr>
          <p:cNvPr id="1931515640" name="Text 8"/>
          <p:cNvSpPr/>
          <p:nvPr/>
        </p:nvSpPr>
        <p:spPr bwMode="auto">
          <a:xfrm>
            <a:off x="8546040" y="9258480"/>
            <a:ext cx="89542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SUGI BIOMASS · SOLAR · EV CHARGING · BLACKOUT RESILIENCE</a:t>
            </a:r>
            <a:endParaRPr lang="en-US" sz="180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3ECE0"/>
        </a:solidFill>
      </p:bgPr>
    </p:bg>
    <p:spTree>
      <p:nvGrpSpPr>
        <p:cNvPr id="1" name=""/>
        <p:cNvGrpSpPr/>
        <p:nvPr/>
      </p:nvGrpSpPr>
      <p:grpSpPr bwMode="auto">
        <a:xfrm>
          <a:off x="0" y="0"/>
          <a:ext cx="0" cy="0"/>
          <a:chOff x="0" y="0"/>
          <a:chExt cx="0" cy="0"/>
        </a:xfrm>
      </p:grpSpPr>
      <p:sp>
        <p:nvSpPr>
          <p:cNvPr id="1999596881" name="Shape 0"/>
          <p:cNvSpPr/>
          <p:nvPr/>
        </p:nvSpPr>
        <p:spPr bwMode="auto">
          <a:xfrm>
            <a:off x="1047600" y="762120"/>
            <a:ext cx="456480" cy="456480"/>
          </a:xfrm>
          <a:prstGeom prst="ellipse">
            <a:avLst/>
          </a:prstGeom>
          <a:solidFill>
            <a:srgbClr val="2F4A37"/>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10643411" name="Text 1"/>
          <p:cNvSpPr/>
          <p:nvPr/>
        </p:nvSpPr>
        <p:spPr bwMode="auto">
          <a:xfrm>
            <a:off x="1047600" y="762120"/>
            <a:ext cx="532800" cy="494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1" u="none" strike="noStrike" spc="145">
                <a:solidFill>
                  <a:srgbClr val="F3ECE0"/>
                </a:solidFill>
                <a:latin typeface="Noto Serif JP"/>
                <a:ea typeface="Noto Serif JP"/>
              </a:rPr>
              <a:t>御</a:t>
            </a:r>
            <a:endParaRPr lang="en-US" sz="1950" b="0" u="none" strike="noStrike">
              <a:solidFill>
                <a:srgbClr val="000000"/>
              </a:solidFill>
              <a:latin typeface="Arial"/>
            </a:endParaRPr>
          </a:p>
        </p:txBody>
      </p:sp>
      <p:sp>
        <p:nvSpPr>
          <p:cNvPr id="857928369" name="Text 2"/>
          <p:cNvSpPr/>
          <p:nvPr/>
        </p:nvSpPr>
        <p:spPr bwMode="auto">
          <a:xfrm>
            <a:off x="1638360" y="857160"/>
            <a:ext cx="22420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MITSUE PROJECT</a:t>
            </a:r>
            <a:endParaRPr lang="en-US" sz="1800" b="0" u="none" strike="noStrike">
              <a:solidFill>
                <a:srgbClr val="000000"/>
              </a:solidFill>
              <a:latin typeface="Arial"/>
            </a:endParaRPr>
          </a:p>
        </p:txBody>
      </p:sp>
      <p:sp>
        <p:nvSpPr>
          <p:cNvPr id="983970349" name="Text 3"/>
          <p:cNvSpPr/>
          <p:nvPr/>
        </p:nvSpPr>
        <p:spPr bwMode="auto">
          <a:xfrm>
            <a:off x="10859040" y="762120"/>
            <a:ext cx="6572160" cy="380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0" u="none" strike="noStrike" spc="145">
                <a:solidFill>
                  <a:srgbClr val="4C554F"/>
                </a:solidFill>
                <a:latin typeface="Courier New"/>
                <a:ea typeface="Courier New"/>
              </a:rPr>
              <a:t>III · COMMUNITY DATA CENTER · </a:t>
            </a:r>
            <a:r>
              <a:rPr lang="zh-CN" sz="1800" b="0" u="none" strike="noStrike" spc="145">
                <a:solidFill>
                  <a:srgbClr val="4C554F"/>
                </a:solidFill>
                <a:latin typeface="Courier New"/>
                <a:ea typeface="Courier New"/>
              </a:rPr>
              <a:t>データセンター</a:t>
            </a:r>
            <a:endParaRPr lang="en-US" sz="1800" b="0" u="none" strike="noStrike">
              <a:solidFill>
                <a:srgbClr val="000000"/>
              </a:solidFill>
              <a:latin typeface="Arial"/>
            </a:endParaRPr>
          </a:p>
        </p:txBody>
      </p:sp>
      <p:sp>
        <p:nvSpPr>
          <p:cNvPr id="1928682043" name="Text 4"/>
          <p:cNvSpPr/>
          <p:nvPr/>
        </p:nvSpPr>
        <p:spPr bwMode="auto">
          <a:xfrm>
            <a:off x="1047600" y="1695600"/>
            <a:ext cx="7945920" cy="26233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defRPr/>
            </a:pPr>
            <a:r>
              <a:rPr lang="en-US" sz="6900" b="0" u="none" strike="noStrike" spc="-68">
                <a:solidFill>
                  <a:srgbClr val="1F2A24"/>
                </a:solidFill>
                <a:latin typeface="Georgia"/>
                <a:ea typeface="Georgia"/>
              </a:rPr>
              <a:t>A data center </a:t>
            </a:r>
            <a:r>
              <a:rPr lang="en-US" sz="6900" b="0" i="1" u="none" strike="noStrike" spc="-68">
                <a:solidFill>
                  <a:srgbClr val="C4663A"/>
                </a:solidFill>
                <a:latin typeface="Georgia"/>
                <a:ea typeface="Georgia"/>
              </a:rPr>
              <a:t>powered by the forest.</a:t>
            </a:r>
            <a:endParaRPr lang="en-US" sz="6900" b="0" u="none" strike="noStrike">
              <a:solidFill>
                <a:srgbClr val="000000"/>
              </a:solidFill>
              <a:latin typeface="Arial"/>
            </a:endParaRPr>
          </a:p>
        </p:txBody>
      </p:sp>
      <p:sp>
        <p:nvSpPr>
          <p:cNvPr id="1470310615" name="Text 5"/>
          <p:cNvSpPr/>
          <p:nvPr/>
        </p:nvSpPr>
        <p:spPr bwMode="auto">
          <a:xfrm>
            <a:off x="1047600" y="3710880"/>
            <a:ext cx="7945920" cy="1983960"/>
          </a:xfrm>
          <a:prstGeom prst="rect">
            <a:avLst/>
          </a:prstGeom>
          <a:noFill/>
          <a:ln w="0">
            <a:noFill/>
          </a:ln>
        </p:spPr>
        <p:style>
          <a:lnRef idx="0"/>
          <a:fillRef idx="0"/>
          <a:effectRef idx="0"/>
          <a:fontRef idx="minor"/>
        </p:style>
        <p:txBody>
          <a:bodyPr horzOverflow="overflow" lIns="25560" tIns="25560" rIns="25560" bIns="25560" numCol="1" spcCol="0" anchor="t">
            <a:normAutofit lnSpcReduction="9999"/>
          </a:bodyPr>
          <a:p>
            <a:pPr>
              <a:lnSpc>
                <a:spcPct val="100000"/>
              </a:lnSpc>
              <a:defRPr/>
            </a:pPr>
            <a:r>
              <a:rPr lang="en-US" sz="1900" b="0" u="none" strike="noStrike">
                <a:solidFill>
                  <a:srgbClr val="1F2A24"/>
                </a:solidFill>
                <a:latin typeface="Arial"/>
                <a:ea typeface="Arial"/>
              </a:rPr>
              <a:t>"A small data center powered by the forest."</a:t>
            </a:r>
            <a:endParaRPr lang="en-US" sz="1900" b="0" u="none" strike="noStrike">
              <a:solidFill>
                <a:srgbClr val="000000"/>
              </a:solidFill>
              <a:latin typeface="Arial"/>
            </a:endParaRPr>
          </a:p>
          <a:p>
            <a:pPr defTabSz="914400">
              <a:lnSpc>
                <a:spcPct val="145000"/>
              </a:lnSpc>
              <a:tabLst>
                <a:tab pos="0" algn="l"/>
              </a:tabLst>
              <a:defRPr/>
            </a:pPr>
            <a:r>
              <a:rPr lang="en-US" sz="1900" b="0" u="none" strike="noStrike">
                <a:solidFill>
                  <a:srgbClr val="1F2A24"/>
                </a:solidFill>
                <a:latin typeface="Arial"/>
                <a:ea typeface="Arial"/>
              </a:rPr>
              <a:t>"For the prototype, our current idea is a site belonging to the local forestry cooperative (not confirmed); the location of the full-scale plant is still being researched. It will be a small, energy-efficient edge-compute facility."</a:t>
            </a:r>
            <a:endParaRPr lang="en-US" sz="1900" b="0" u="none" strike="noStrike">
              <a:solidFill>
                <a:srgbClr val="000000"/>
              </a:solidFill>
              <a:latin typeface="Arial"/>
            </a:endParaRPr>
          </a:p>
        </p:txBody>
      </p:sp>
      <p:sp>
        <p:nvSpPr>
          <p:cNvPr id="1006911488" name="Text 6"/>
          <p:cNvSpPr/>
          <p:nvPr/>
        </p:nvSpPr>
        <p:spPr bwMode="auto">
          <a:xfrm>
            <a:off x="1047600" y="6017760"/>
            <a:ext cx="7945920" cy="197100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defRPr/>
            </a:pPr>
            <a:r>
              <a:rPr lang="en-US" sz="2100" b="0" u="none" strike="noStrike">
                <a:solidFill>
                  <a:srgbClr val="1F2A24"/>
                </a:solidFill>
                <a:latin typeface="Arial"/>
                <a:ea typeface="Arial"/>
              </a:rPr>
              <a:t>Sized for accountability, not hyperscale economics. Small enough for the community to audit and explain what it does. Heat re-use (e.g. drying, heating) is under consideration. Designed to be replicated by other depopulating municipalities — the blueprint is open.</a:t>
            </a:r>
            <a:endParaRPr lang="en-US" sz="2100" b="0" u="none" strike="noStrike">
              <a:solidFill>
                <a:srgbClr val="000000"/>
              </a:solidFill>
              <a:latin typeface="Arial"/>
            </a:endParaRPr>
          </a:p>
        </p:txBody>
      </p:sp>
      <p:sp>
        <p:nvSpPr>
          <p:cNvPr id="1826533774" name="Shape 7"/>
          <p:cNvSpPr/>
          <p:nvPr/>
        </p:nvSpPr>
        <p:spPr bwMode="auto">
          <a:xfrm>
            <a:off x="1047600" y="8251560"/>
            <a:ext cx="7714440" cy="8640"/>
          </a:xfrm>
          <a:prstGeom prst="rect">
            <a:avLst/>
          </a:prstGeom>
          <a:solidFill>
            <a:srgbClr val="1F2A24">
              <a:alpha val="50000"/>
            </a:srgbClr>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FFFFFF"/>
              </a:solidFill>
              <a:latin typeface="Arial"/>
            </a:endParaRPr>
          </a:p>
        </p:txBody>
      </p:sp>
      <p:sp>
        <p:nvSpPr>
          <p:cNvPr id="615595066" name="Text 8"/>
          <p:cNvSpPr/>
          <p:nvPr/>
        </p:nvSpPr>
        <p:spPr bwMode="auto">
          <a:xfrm>
            <a:off x="1047600" y="8470440"/>
            <a:ext cx="24948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SCALE</a:t>
            </a:r>
            <a:endParaRPr lang="en-US" sz="1800" b="0" u="none" strike="noStrike">
              <a:solidFill>
                <a:srgbClr val="000000"/>
              </a:solidFill>
              <a:latin typeface="Arial"/>
            </a:endParaRPr>
          </a:p>
        </p:txBody>
      </p:sp>
      <p:sp>
        <p:nvSpPr>
          <p:cNvPr id="1270126778" name="Text 9"/>
          <p:cNvSpPr/>
          <p:nvPr/>
        </p:nvSpPr>
        <p:spPr bwMode="auto">
          <a:xfrm>
            <a:off x="1047600" y="8737200"/>
            <a:ext cx="2494800" cy="485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defRPr/>
            </a:pPr>
            <a:r>
              <a:rPr lang="en-US" sz="3600" b="0" u="none" strike="noStrike" spc="-37">
                <a:solidFill>
                  <a:srgbClr val="1F2A24"/>
                </a:solidFill>
                <a:latin typeface="Georgia"/>
                <a:ea typeface="Georgia"/>
              </a:rPr>
              <a:t>Edge</a:t>
            </a:r>
            <a:endParaRPr lang="en-US" sz="3600" b="0" u="none" strike="noStrike">
              <a:solidFill>
                <a:srgbClr val="000000"/>
              </a:solidFill>
              <a:latin typeface="Arial"/>
            </a:endParaRPr>
          </a:p>
        </p:txBody>
      </p:sp>
      <p:sp>
        <p:nvSpPr>
          <p:cNvPr id="328626872" name="Text 10"/>
          <p:cNvSpPr/>
          <p:nvPr/>
        </p:nvSpPr>
        <p:spPr bwMode="auto">
          <a:xfrm>
            <a:off x="3695760" y="8470440"/>
            <a:ext cx="24948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POWER</a:t>
            </a:r>
            <a:endParaRPr lang="en-US" sz="1800" b="0" u="none" strike="noStrike">
              <a:solidFill>
                <a:srgbClr val="000000"/>
              </a:solidFill>
              <a:latin typeface="Arial"/>
            </a:endParaRPr>
          </a:p>
        </p:txBody>
      </p:sp>
      <p:sp>
        <p:nvSpPr>
          <p:cNvPr id="2121976212" name="Text 11"/>
          <p:cNvSpPr/>
          <p:nvPr/>
        </p:nvSpPr>
        <p:spPr bwMode="auto">
          <a:xfrm>
            <a:off x="3695760" y="8737200"/>
            <a:ext cx="2494800" cy="485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defRPr/>
            </a:pPr>
            <a:r>
              <a:rPr lang="en-US" sz="3600" b="0" u="none" strike="noStrike" spc="-37">
                <a:solidFill>
                  <a:srgbClr val="1F2A24"/>
                </a:solidFill>
                <a:latin typeface="Georgia"/>
                <a:ea typeface="Georgia"/>
              </a:rPr>
              <a:t>Wood CHP-led</a:t>
            </a:r>
            <a:endParaRPr lang="en-US" sz="3600" b="0" u="none" strike="noStrike">
              <a:solidFill>
                <a:srgbClr val="000000"/>
              </a:solidFill>
              <a:latin typeface="Arial"/>
            </a:endParaRPr>
          </a:p>
        </p:txBody>
      </p:sp>
      <p:sp>
        <p:nvSpPr>
          <p:cNvPr id="976663992" name="Text 12"/>
          <p:cNvSpPr/>
          <p:nvPr/>
        </p:nvSpPr>
        <p:spPr bwMode="auto">
          <a:xfrm>
            <a:off x="6343560" y="8470440"/>
            <a:ext cx="24948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OPERATION</a:t>
            </a:r>
            <a:endParaRPr lang="en-US" sz="1800" b="0" u="none" strike="noStrike">
              <a:solidFill>
                <a:srgbClr val="000000"/>
              </a:solidFill>
              <a:latin typeface="Arial"/>
            </a:endParaRPr>
          </a:p>
        </p:txBody>
      </p:sp>
      <p:sp>
        <p:nvSpPr>
          <p:cNvPr id="1867475575" name="Text 13"/>
          <p:cNvSpPr/>
          <p:nvPr/>
        </p:nvSpPr>
        <p:spPr bwMode="auto">
          <a:xfrm>
            <a:off x="6343560" y="8737200"/>
            <a:ext cx="2494800" cy="485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defRPr/>
            </a:pPr>
            <a:r>
              <a:rPr lang="en-US" sz="3600" b="0" u="none" strike="noStrike" spc="-37">
                <a:solidFill>
                  <a:srgbClr val="1F2A24"/>
                </a:solidFill>
                <a:latin typeface="Georgia"/>
                <a:ea typeface="Georgia"/>
              </a:rPr>
              <a:t>Community-led</a:t>
            </a:r>
            <a:endParaRPr lang="en-US" sz="3600" b="0" u="none" strike="noStrike">
              <a:solidFill>
                <a:srgbClr val="000000"/>
              </a:solidFill>
              <a:latin typeface="Arial"/>
            </a:endParaRPr>
          </a:p>
        </p:txBody>
      </p:sp>
      <p:sp>
        <p:nvSpPr>
          <p:cNvPr id="1847193330" name="Shape 14"/>
          <p:cNvSpPr/>
          <p:nvPr/>
        </p:nvSpPr>
        <p:spPr bwMode="auto">
          <a:xfrm>
            <a:off x="9524880" y="1695600"/>
            <a:ext cx="7714440" cy="6513840"/>
          </a:xfrm>
          <a:prstGeom prst="rect">
            <a:avLst/>
          </a:prstGeom>
          <a:solidFill>
            <a:srgbClr val="2F4A37"/>
          </a:solidFill>
          <a:ln w="9525">
            <a:solidFill>
              <a:srgbClr val="1F2A24"/>
            </a:solidFill>
            <a:round/>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732405298" name="Text 15"/>
          <p:cNvSpPr/>
          <p:nvPr/>
        </p:nvSpPr>
        <p:spPr bwMode="auto">
          <a:xfrm>
            <a:off x="10010880" y="2181240"/>
            <a:ext cx="694512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FROM FOREST TO COMPUTE</a:t>
            </a:r>
            <a:endParaRPr lang="en-US" sz="1800" b="0" u="none" strike="noStrike">
              <a:solidFill>
                <a:srgbClr val="000000"/>
              </a:solidFill>
              <a:latin typeface="Arial"/>
            </a:endParaRPr>
          </a:p>
        </p:txBody>
      </p:sp>
      <p:pic>
        <p:nvPicPr>
          <p:cNvPr id="908766300" name="Image 0" descr="preencoded.png"/>
          <p:cNvPicPr/>
          <p:nvPr/>
        </p:nvPicPr>
        <p:blipFill rotWithShape="1">
          <a:blip r:embed="rId3"/>
          <a:stretch/>
        </p:blipFill>
        <p:spPr bwMode="auto">
          <a:xfrm>
            <a:off x="10010880" y="2676600"/>
            <a:ext cx="6743160" cy="5009039"/>
          </a:xfrm>
          <a:prstGeom prst="rect">
            <a:avLst/>
          </a:prstGeom>
          <a:noFill/>
          <a:ln w="0">
            <a:noFill/>
          </a:ln>
        </p:spPr>
      </p:pic>
      <p:sp>
        <p:nvSpPr>
          <p:cNvPr id="160612037" name="Text 16"/>
          <p:cNvSpPr/>
          <p:nvPr/>
        </p:nvSpPr>
        <p:spPr bwMode="auto">
          <a:xfrm>
            <a:off x="1047600" y="9258480"/>
            <a:ext cx="11541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07 / 12</a:t>
            </a:r>
            <a:endParaRPr lang="en-US" sz="1800" b="0" u="none" strike="noStrike">
              <a:solidFill>
                <a:srgbClr val="000000"/>
              </a:solidFill>
              <a:latin typeface="Arial"/>
            </a:endParaRPr>
          </a:p>
        </p:txBody>
      </p:sp>
      <p:sp>
        <p:nvSpPr>
          <p:cNvPr id="994453907" name="Text 17"/>
          <p:cNvSpPr/>
          <p:nvPr/>
        </p:nvSpPr>
        <p:spPr bwMode="auto">
          <a:xfrm>
            <a:off x="6836400" y="9258480"/>
            <a:ext cx="1071504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EDGE COMPUTE · HEAT RE-USE · REPLICABLE · PROGRESS + SUSTAINABILITY</a:t>
            </a:r>
            <a:endParaRPr lang="en-US" sz="180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2F4A37"/>
        </a:solidFill>
      </p:bgPr>
    </p:bg>
    <p:spTree>
      <p:nvGrpSpPr>
        <p:cNvPr id="1" name=""/>
        <p:cNvGrpSpPr/>
        <p:nvPr/>
      </p:nvGrpSpPr>
      <p:grpSpPr bwMode="auto">
        <a:xfrm>
          <a:off x="0" y="0"/>
          <a:ext cx="0" cy="0"/>
          <a:chOff x="0" y="0"/>
          <a:chExt cx="0" cy="0"/>
        </a:xfrm>
      </p:grpSpPr>
      <p:sp>
        <p:nvSpPr>
          <p:cNvPr id="55514637" name="Shape 0"/>
          <p:cNvSpPr/>
          <p:nvPr/>
        </p:nvSpPr>
        <p:spPr bwMode="auto">
          <a:xfrm>
            <a:off x="1047600" y="762120"/>
            <a:ext cx="456480" cy="456480"/>
          </a:xfrm>
          <a:prstGeom prst="ellipse">
            <a:avLst/>
          </a:prstGeom>
          <a:solidFill>
            <a:srgbClr val="F3ECE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918989533" name="Text 1"/>
          <p:cNvSpPr/>
          <p:nvPr/>
        </p:nvSpPr>
        <p:spPr bwMode="auto">
          <a:xfrm>
            <a:off x="1047600" y="762120"/>
            <a:ext cx="532800" cy="494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1" u="none" strike="noStrike" spc="145">
                <a:solidFill>
                  <a:srgbClr val="2F4A37"/>
                </a:solidFill>
                <a:latin typeface="Noto Serif JP"/>
                <a:ea typeface="Noto Serif JP"/>
              </a:rPr>
              <a:t>御</a:t>
            </a:r>
            <a:endParaRPr lang="en-US" sz="1950" b="0" u="none" strike="noStrike">
              <a:solidFill>
                <a:srgbClr val="FFFFFF"/>
              </a:solidFill>
              <a:latin typeface="Arial"/>
            </a:endParaRPr>
          </a:p>
        </p:txBody>
      </p:sp>
      <p:sp>
        <p:nvSpPr>
          <p:cNvPr id="1068814809" name="Text 2"/>
          <p:cNvSpPr/>
          <p:nvPr/>
        </p:nvSpPr>
        <p:spPr bwMode="auto">
          <a:xfrm>
            <a:off x="1638360" y="857160"/>
            <a:ext cx="22420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MITSUE PROJECT</a:t>
            </a:r>
            <a:endParaRPr lang="en-US" sz="1800" b="0" u="none" strike="noStrike">
              <a:solidFill>
                <a:srgbClr val="FFFFFF"/>
              </a:solidFill>
              <a:latin typeface="Arial"/>
            </a:endParaRPr>
          </a:p>
        </p:txBody>
      </p:sp>
      <p:sp>
        <p:nvSpPr>
          <p:cNvPr id="1207279293" name="Text 3"/>
          <p:cNvSpPr/>
          <p:nvPr/>
        </p:nvSpPr>
        <p:spPr bwMode="auto">
          <a:xfrm>
            <a:off x="10877400" y="762120"/>
            <a:ext cx="65530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 07 · BENEFITS — COMMUNITY &amp; ENVIRONMENT</a:t>
            </a:r>
            <a:endParaRPr lang="en-US" sz="1800" b="0" u="none" strike="noStrike">
              <a:solidFill>
                <a:srgbClr val="FFFFFF"/>
              </a:solidFill>
              <a:latin typeface="Arial"/>
            </a:endParaRPr>
          </a:p>
        </p:txBody>
      </p:sp>
      <p:sp>
        <p:nvSpPr>
          <p:cNvPr id="1232678384" name="Text 4"/>
          <p:cNvSpPr/>
          <p:nvPr/>
        </p:nvSpPr>
        <p:spPr bwMode="auto">
          <a:xfrm>
            <a:off x="1047600" y="1790640"/>
            <a:ext cx="16677720" cy="233280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00000"/>
              </a:lnSpc>
              <a:tabLst>
                <a:tab pos="0" algn="l"/>
              </a:tabLst>
              <a:defRPr/>
            </a:pPr>
            <a:r>
              <a:rPr lang="en-US" sz="9000" b="0" u="none" strike="noStrike" spc="-91">
                <a:solidFill>
                  <a:srgbClr val="F3ECE0"/>
                </a:solidFill>
                <a:latin typeface="Georgia"/>
                <a:ea typeface="Georgia"/>
              </a:rPr>
              <a:t>The win doesn't depend on the data center being a </a:t>
            </a:r>
            <a:r>
              <a:rPr lang="en-US" sz="9000" b="0" i="1" u="none" strike="noStrike" spc="-91">
                <a:solidFill>
                  <a:srgbClr val="F3B486"/>
                </a:solidFill>
                <a:latin typeface="Georgia"/>
                <a:ea typeface="Georgia"/>
              </a:rPr>
              <a:t>commercial hit.</a:t>
            </a:r>
            <a:endParaRPr lang="en-US" sz="9000" b="0" u="none" strike="noStrike">
              <a:solidFill>
                <a:srgbClr val="FFFFFF"/>
              </a:solidFill>
              <a:latin typeface="Arial"/>
            </a:endParaRPr>
          </a:p>
        </p:txBody>
      </p:sp>
      <p:sp>
        <p:nvSpPr>
          <p:cNvPr id="1107107847" name="Text 5"/>
          <p:cNvSpPr/>
          <p:nvPr/>
        </p:nvSpPr>
        <p:spPr bwMode="auto">
          <a:xfrm>
            <a:off x="1047600" y="4486320"/>
            <a:ext cx="12216960" cy="4240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2100" b="0" u="none" strike="noStrike">
                <a:solidFill>
                  <a:srgbClr val="F3ECE0">
                    <a:alpha val="85000"/>
                  </a:srgbClr>
                </a:solidFill>
                <a:latin typeface="Arial"/>
                <a:ea typeface="Arial"/>
              </a:rPr>
              <a:t>Most benefits accrue to the village whether the compute side breaks even or not. That's the design.</a:t>
            </a:r>
            <a:endParaRPr lang="en-US" sz="2100" b="0" u="none" strike="noStrike">
              <a:solidFill>
                <a:srgbClr val="FFFFFF"/>
              </a:solidFill>
              <a:latin typeface="Arial"/>
            </a:endParaRPr>
          </a:p>
        </p:txBody>
      </p:sp>
      <p:sp>
        <p:nvSpPr>
          <p:cNvPr id="1336406185" name="Shape 6"/>
          <p:cNvSpPr/>
          <p:nvPr/>
        </p:nvSpPr>
        <p:spPr bwMode="auto">
          <a:xfrm>
            <a:off x="1047600" y="5349240"/>
            <a:ext cx="5142960" cy="18360"/>
          </a:xfrm>
          <a:prstGeom prst="rect">
            <a:avLst/>
          </a:prstGeom>
          <a:solidFill>
            <a:srgbClr val="F3ECE0"/>
          </a:solidFill>
          <a:ln w="0">
            <a:noFill/>
          </a:ln>
        </p:spPr>
        <p:style>
          <a:lnRef idx="0"/>
          <a:fillRef idx="0"/>
          <a:effectRef idx="0"/>
          <a:fontRef idx="minor"/>
        </p:style>
        <p:txBody>
          <a:bodyPr lIns="90000" tIns="-25920" rIns="90000" bIns="-25920" anchor="t">
            <a:noAutofit/>
          </a:bodyPr>
          <a:p>
            <a:pPr>
              <a:defRPr/>
            </a:pPr>
            <a:endParaRPr lang="en-US" sz="1800" b="0" u="none" strike="noStrike">
              <a:solidFill>
                <a:srgbClr val="000000"/>
              </a:solidFill>
              <a:latin typeface="Arial"/>
            </a:endParaRPr>
          </a:p>
        </p:txBody>
      </p:sp>
      <p:sp>
        <p:nvSpPr>
          <p:cNvPr id="465776926" name="Text 7"/>
          <p:cNvSpPr/>
          <p:nvPr/>
        </p:nvSpPr>
        <p:spPr bwMode="auto">
          <a:xfrm>
            <a:off x="1047600" y="5596920"/>
            <a:ext cx="5297039"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COMMUNITY</a:t>
            </a:r>
            <a:endParaRPr lang="en-US" sz="1800" b="0" u="none" strike="noStrike">
              <a:solidFill>
                <a:srgbClr val="FFFFFF"/>
              </a:solidFill>
              <a:latin typeface="Arial"/>
            </a:endParaRPr>
          </a:p>
        </p:txBody>
      </p:sp>
      <p:sp>
        <p:nvSpPr>
          <p:cNvPr id="956016087" name="Text 8"/>
          <p:cNvSpPr/>
          <p:nvPr/>
        </p:nvSpPr>
        <p:spPr bwMode="auto">
          <a:xfrm>
            <a:off x="861120" y="6092280"/>
            <a:ext cx="5405760" cy="203760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50000"/>
              </a:lnSpc>
              <a:tabLst>
                <a:tab pos="0" algn="l"/>
              </a:tabLst>
              <a:defRPr/>
            </a:pPr>
            <a:r>
              <a:rPr lang="en-US" sz="2100" b="0" u="none" strike="noStrike">
                <a:solidFill>
                  <a:srgbClr val="F3ECE0"/>
                </a:solidFill>
                <a:latin typeface="Arial"/>
                <a:ea typeface="Arial"/>
              </a:rPr>
              <a:t>↳ Paid forestry work + co-op equipment upgrades</a:t>
            </a:r>
            <a:endParaRPr lang="en-US" sz="2100" b="0" u="none" strike="noStrike">
              <a:solidFill>
                <a:srgbClr val="FFFFFF"/>
              </a:solidFill>
              <a:latin typeface="Arial"/>
            </a:endParaRPr>
          </a:p>
          <a:p>
            <a:pPr defTabSz="914400">
              <a:lnSpc>
                <a:spcPct val="150000"/>
              </a:lnSpc>
              <a:tabLst>
                <a:tab pos="0" algn="l"/>
              </a:tabLst>
              <a:defRPr/>
            </a:pPr>
            <a:r>
              <a:rPr lang="en-US" sz="2100" b="0" u="none" strike="noStrike">
                <a:solidFill>
                  <a:srgbClr val="F3ECE0"/>
                </a:solidFill>
                <a:latin typeface="Arial"/>
                <a:ea typeface="Arial"/>
              </a:rPr>
              <a:t>↳ EV charging for residents &amp; visitors</a:t>
            </a:r>
            <a:endParaRPr lang="en-US" sz="2100" b="0" u="none" strike="noStrike">
              <a:solidFill>
                <a:srgbClr val="FFFFFF"/>
              </a:solidFill>
              <a:latin typeface="Arial"/>
            </a:endParaRPr>
          </a:p>
          <a:p>
            <a:pPr defTabSz="914400">
              <a:lnSpc>
                <a:spcPct val="150000"/>
              </a:lnSpc>
              <a:tabLst>
                <a:tab pos="0" algn="l"/>
              </a:tabLst>
              <a:defRPr/>
            </a:pPr>
            <a:r>
              <a:rPr lang="en-US" sz="2100" b="0" u="none" strike="noStrike">
                <a:solidFill>
                  <a:srgbClr val="F3ECE0"/>
                </a:solidFill>
                <a:latin typeface="Arial"/>
                <a:ea typeface="Arial"/>
              </a:rPr>
              <a:t>↳ A new income stream from local resources</a:t>
            </a:r>
            <a:endParaRPr lang="en-US" sz="2100" b="0" u="none" strike="noStrike">
              <a:solidFill>
                <a:srgbClr val="FFFFFF"/>
              </a:solidFill>
              <a:latin typeface="Arial"/>
            </a:endParaRPr>
          </a:p>
          <a:p>
            <a:pPr defTabSz="914400">
              <a:lnSpc>
                <a:spcPct val="150000"/>
              </a:lnSpc>
              <a:tabLst>
                <a:tab pos="0" algn="l"/>
              </a:tabLst>
              <a:defRPr/>
            </a:pPr>
            <a:r>
              <a:rPr lang="en-US" sz="2100" b="0" u="none" strike="noStrike">
                <a:solidFill>
                  <a:srgbClr val="F3ECE0"/>
                </a:solidFill>
                <a:latin typeface="Arial"/>
                <a:ea typeface="Arial"/>
              </a:rPr>
              <a:t>↳ Blackout-resilient clinic + comms</a:t>
            </a:r>
            <a:endParaRPr lang="en-US" sz="2100" b="0" u="none" strike="noStrike">
              <a:solidFill>
                <a:srgbClr val="FFFFFF"/>
              </a:solidFill>
              <a:latin typeface="Arial"/>
            </a:endParaRPr>
          </a:p>
          <a:p>
            <a:pPr defTabSz="914400">
              <a:lnSpc>
                <a:spcPct val="150000"/>
              </a:lnSpc>
              <a:tabLst>
                <a:tab pos="0" algn="l"/>
              </a:tabLst>
              <a:defRPr/>
            </a:pPr>
            <a:r>
              <a:rPr lang="en-US" sz="2100" b="0" u="none" strike="noStrike">
                <a:solidFill>
                  <a:srgbClr val="F3ECE0"/>
                </a:solidFill>
                <a:latin typeface="Arial"/>
                <a:ea typeface="Arial"/>
              </a:rPr>
              <a:t>↳ Landowner payouts + a buyer for C/D-grade wood</a:t>
            </a:r>
            <a:endParaRPr lang="en-US" sz="2100" b="0" u="none" strike="noStrike">
              <a:solidFill>
                <a:srgbClr val="FFFFFF"/>
              </a:solidFill>
              <a:latin typeface="Arial"/>
            </a:endParaRPr>
          </a:p>
        </p:txBody>
      </p:sp>
      <p:sp>
        <p:nvSpPr>
          <p:cNvPr id="303220032" name="Shape 9"/>
          <p:cNvSpPr/>
          <p:nvPr/>
        </p:nvSpPr>
        <p:spPr bwMode="auto">
          <a:xfrm>
            <a:off x="6572160" y="5349240"/>
            <a:ext cx="5142960" cy="18360"/>
          </a:xfrm>
          <a:prstGeom prst="rect">
            <a:avLst/>
          </a:prstGeom>
          <a:solidFill>
            <a:srgbClr val="F3ECE0"/>
          </a:solidFill>
          <a:ln w="0">
            <a:noFill/>
          </a:ln>
        </p:spPr>
        <p:style>
          <a:lnRef idx="0"/>
          <a:fillRef idx="0"/>
          <a:effectRef idx="0"/>
          <a:fontRef idx="minor"/>
        </p:style>
        <p:txBody>
          <a:bodyPr lIns="90000" tIns="-25920" rIns="90000" bIns="-25920" anchor="t">
            <a:noAutofit/>
          </a:bodyPr>
          <a:p>
            <a:pPr>
              <a:defRPr/>
            </a:pPr>
            <a:endParaRPr lang="en-US" sz="1800" b="0" u="none" strike="noStrike">
              <a:solidFill>
                <a:srgbClr val="000000"/>
              </a:solidFill>
              <a:latin typeface="Arial"/>
            </a:endParaRPr>
          </a:p>
        </p:txBody>
      </p:sp>
      <p:sp>
        <p:nvSpPr>
          <p:cNvPr id="867249334" name="Text 10"/>
          <p:cNvSpPr/>
          <p:nvPr/>
        </p:nvSpPr>
        <p:spPr bwMode="auto">
          <a:xfrm>
            <a:off x="6572160" y="5596920"/>
            <a:ext cx="5297039"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ENVIRONMENT</a:t>
            </a:r>
            <a:endParaRPr lang="en-US" sz="1800" b="0" u="none" strike="noStrike">
              <a:solidFill>
                <a:srgbClr val="FFFFFF"/>
              </a:solidFill>
              <a:latin typeface="Arial"/>
            </a:endParaRPr>
          </a:p>
        </p:txBody>
      </p:sp>
      <p:sp>
        <p:nvSpPr>
          <p:cNvPr id="1293647505" name="Text 11"/>
          <p:cNvSpPr/>
          <p:nvPr/>
        </p:nvSpPr>
        <p:spPr bwMode="auto">
          <a:xfrm>
            <a:off x="6385680" y="6092280"/>
            <a:ext cx="5405760" cy="203760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50000"/>
              </a:lnSpc>
              <a:tabLst>
                <a:tab pos="0" algn="l"/>
              </a:tabLst>
              <a:defRPr/>
            </a:pPr>
            <a:r>
              <a:rPr lang="en-US" sz="2100" b="0" u="none" strike="noStrike">
                <a:solidFill>
                  <a:srgbClr val="F3ECE0"/>
                </a:solidFill>
                <a:latin typeface="Arial"/>
                <a:ea typeface="Arial"/>
              </a:rPr>
              <a:t>↳ Native broadleaf returns at scale</a:t>
            </a:r>
            <a:endParaRPr lang="en-US" sz="2100" b="0" u="none" strike="noStrike">
              <a:solidFill>
                <a:srgbClr val="FFFFFF"/>
              </a:solidFill>
              <a:latin typeface="Arial"/>
            </a:endParaRPr>
          </a:p>
          <a:p>
            <a:pPr defTabSz="914400">
              <a:lnSpc>
                <a:spcPct val="150000"/>
              </a:lnSpc>
              <a:tabLst>
                <a:tab pos="0" algn="l"/>
              </a:tabLst>
              <a:defRPr/>
            </a:pPr>
            <a:r>
              <a:rPr lang="en-US" sz="2100" b="0" u="none" strike="noStrike">
                <a:solidFill>
                  <a:srgbClr val="F3ECE0"/>
                </a:solidFill>
                <a:latin typeface="Arial"/>
                <a:ea typeface="Arial"/>
              </a:rPr>
              <a:t>↳ Cedar pollen burden goes down</a:t>
            </a:r>
            <a:endParaRPr lang="en-US" sz="2100" b="0" u="none" strike="noStrike">
              <a:solidFill>
                <a:srgbClr val="FFFFFF"/>
              </a:solidFill>
              <a:latin typeface="Arial"/>
            </a:endParaRPr>
          </a:p>
          <a:p>
            <a:pPr defTabSz="914400">
              <a:lnSpc>
                <a:spcPct val="150000"/>
              </a:lnSpc>
              <a:tabLst>
                <a:tab pos="0" algn="l"/>
              </a:tabLst>
              <a:defRPr/>
            </a:pPr>
            <a:r>
              <a:rPr lang="en-US" sz="2100" b="0" u="none" strike="noStrike">
                <a:solidFill>
                  <a:srgbClr val="F3ECE0"/>
                </a:solidFill>
                <a:latin typeface="Arial"/>
                <a:ea typeface="Arial"/>
              </a:rPr>
              <a:t>↳ Wildlife pressure on farms drops</a:t>
            </a:r>
            <a:endParaRPr lang="en-US" sz="2100" b="0" u="none" strike="noStrike">
              <a:solidFill>
                <a:srgbClr val="FFFFFF"/>
              </a:solidFill>
              <a:latin typeface="Arial"/>
            </a:endParaRPr>
          </a:p>
          <a:p>
            <a:pPr defTabSz="914400">
              <a:lnSpc>
                <a:spcPct val="150000"/>
              </a:lnSpc>
              <a:tabLst>
                <a:tab pos="0" algn="l"/>
              </a:tabLst>
              <a:defRPr/>
            </a:pPr>
            <a:r>
              <a:rPr lang="en-US" sz="2100" b="0" u="none" strike="noStrike">
                <a:solidFill>
                  <a:srgbClr val="F3ECE0"/>
                </a:solidFill>
                <a:latin typeface="Arial"/>
                <a:ea typeface="Arial"/>
              </a:rPr>
              <a:t>↳ Landslide risk reduces with age</a:t>
            </a:r>
            <a:endParaRPr lang="en-US" sz="2100" b="0" u="none" strike="noStrike">
              <a:solidFill>
                <a:srgbClr val="FFFFFF"/>
              </a:solidFill>
              <a:latin typeface="Arial"/>
            </a:endParaRPr>
          </a:p>
          <a:p>
            <a:pPr defTabSz="914400">
              <a:lnSpc>
                <a:spcPct val="150000"/>
              </a:lnSpc>
              <a:tabLst>
                <a:tab pos="0" algn="l"/>
              </a:tabLst>
              <a:defRPr/>
            </a:pPr>
            <a:r>
              <a:rPr lang="en-US" sz="2100" b="0" u="none" strike="noStrike">
                <a:solidFill>
                  <a:srgbClr val="F3ECE0"/>
                </a:solidFill>
                <a:latin typeface="Arial"/>
                <a:ea typeface="Arial"/>
              </a:rPr>
              <a:t>↳ Local woody biomass as the main power source</a:t>
            </a:r>
            <a:endParaRPr lang="en-US" sz="2100" b="0" u="none" strike="noStrike">
              <a:solidFill>
                <a:srgbClr val="FFFFFF"/>
              </a:solidFill>
              <a:latin typeface="Arial"/>
            </a:endParaRPr>
          </a:p>
        </p:txBody>
      </p:sp>
      <p:sp>
        <p:nvSpPr>
          <p:cNvPr id="82132355" name="Shape 12"/>
          <p:cNvSpPr/>
          <p:nvPr/>
        </p:nvSpPr>
        <p:spPr bwMode="auto">
          <a:xfrm>
            <a:off x="12096720" y="5349240"/>
            <a:ext cx="5142960" cy="18360"/>
          </a:xfrm>
          <a:prstGeom prst="rect">
            <a:avLst/>
          </a:prstGeom>
          <a:solidFill>
            <a:srgbClr val="F3ECE0"/>
          </a:solidFill>
          <a:ln w="0">
            <a:noFill/>
          </a:ln>
        </p:spPr>
        <p:style>
          <a:lnRef idx="0"/>
          <a:fillRef idx="0"/>
          <a:effectRef idx="0"/>
          <a:fontRef idx="minor"/>
        </p:style>
        <p:txBody>
          <a:bodyPr lIns="90000" tIns="-25920" rIns="90000" bIns="-25920" anchor="t">
            <a:noAutofit/>
          </a:bodyPr>
          <a:p>
            <a:pPr>
              <a:defRPr/>
            </a:pPr>
            <a:endParaRPr lang="en-US" sz="1800" b="0" u="none" strike="noStrike">
              <a:solidFill>
                <a:srgbClr val="000000"/>
              </a:solidFill>
              <a:latin typeface="Arial"/>
            </a:endParaRPr>
          </a:p>
        </p:txBody>
      </p:sp>
      <p:sp>
        <p:nvSpPr>
          <p:cNvPr id="805499520" name="Text 13"/>
          <p:cNvSpPr/>
          <p:nvPr/>
        </p:nvSpPr>
        <p:spPr bwMode="auto">
          <a:xfrm>
            <a:off x="12096720" y="5596920"/>
            <a:ext cx="5297039"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BEYOND MITSUE</a:t>
            </a:r>
            <a:endParaRPr lang="en-US" sz="1800" b="0" u="none" strike="noStrike">
              <a:solidFill>
                <a:srgbClr val="FFFFFF"/>
              </a:solidFill>
              <a:latin typeface="Arial"/>
            </a:endParaRPr>
          </a:p>
        </p:txBody>
      </p:sp>
      <p:sp>
        <p:nvSpPr>
          <p:cNvPr id="1795136970" name="Text 14"/>
          <p:cNvSpPr/>
          <p:nvPr/>
        </p:nvSpPr>
        <p:spPr bwMode="auto">
          <a:xfrm>
            <a:off x="11910240" y="6092280"/>
            <a:ext cx="5405760" cy="203760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50000"/>
              </a:lnSpc>
              <a:tabLst>
                <a:tab pos="0" algn="l"/>
              </a:tabLst>
              <a:defRPr/>
            </a:pPr>
            <a:r>
              <a:rPr lang="en-US" sz="2100" b="0" u="none" strike="noStrike">
                <a:solidFill>
                  <a:srgbClr val="F3ECE0"/>
                </a:solidFill>
                <a:latin typeface="Arial"/>
                <a:ea typeface="Arial"/>
              </a:rPr>
              <a:t>↳ Methods + data published openly</a:t>
            </a:r>
            <a:endParaRPr lang="en-US" sz="2100" b="0" u="none" strike="noStrike">
              <a:solidFill>
                <a:srgbClr val="FFFFFF"/>
              </a:solidFill>
              <a:latin typeface="Arial"/>
            </a:endParaRPr>
          </a:p>
          <a:p>
            <a:pPr defTabSz="914400">
              <a:lnSpc>
                <a:spcPct val="150000"/>
              </a:lnSpc>
              <a:tabLst>
                <a:tab pos="0" algn="l"/>
              </a:tabLst>
              <a:defRPr/>
            </a:pPr>
            <a:r>
              <a:rPr lang="en-US" sz="2100" b="0" u="none" strike="noStrike">
                <a:solidFill>
                  <a:srgbClr val="F3ECE0"/>
                </a:solidFill>
                <a:latin typeface="Arial"/>
                <a:ea typeface="Arial"/>
              </a:rPr>
              <a:t>↳ A replicable rural template</a:t>
            </a:r>
            <a:endParaRPr lang="en-US" sz="2100" b="0" u="none" strike="noStrike">
              <a:solidFill>
                <a:srgbClr val="FFFFFF"/>
              </a:solidFill>
              <a:latin typeface="Arial"/>
            </a:endParaRPr>
          </a:p>
          <a:p>
            <a:pPr defTabSz="914400">
              <a:lnSpc>
                <a:spcPct val="150000"/>
              </a:lnSpc>
              <a:tabLst>
                <a:tab pos="0" algn="l"/>
              </a:tabLst>
              <a:defRPr/>
            </a:pPr>
            <a:r>
              <a:rPr lang="en-US" sz="2100" b="0" u="none" strike="noStrike">
                <a:solidFill>
                  <a:srgbClr val="F3ECE0"/>
                </a:solidFill>
                <a:latin typeface="Arial"/>
                <a:ea typeface="Arial"/>
              </a:rPr>
              <a:t>↳ CC-BY documents, open licences</a:t>
            </a:r>
            <a:endParaRPr lang="en-US" sz="2100" b="0" u="none" strike="noStrike">
              <a:solidFill>
                <a:srgbClr val="FFFFFF"/>
              </a:solidFill>
              <a:latin typeface="Arial"/>
            </a:endParaRPr>
          </a:p>
          <a:p>
            <a:pPr defTabSz="914400">
              <a:lnSpc>
                <a:spcPct val="150000"/>
              </a:lnSpc>
              <a:tabLst>
                <a:tab pos="0" algn="l"/>
              </a:tabLst>
              <a:defRPr/>
            </a:pPr>
            <a:r>
              <a:rPr lang="en-US" sz="2100" b="0" u="none" strike="noStrike">
                <a:solidFill>
                  <a:srgbClr val="F3ECE0"/>
                </a:solidFill>
                <a:latin typeface="Arial"/>
                <a:ea typeface="Arial"/>
              </a:rPr>
              <a:t>↳ Designed to be copied, not franchised</a:t>
            </a:r>
            <a:endParaRPr lang="en-US" sz="2100" b="0" u="none" strike="noStrike">
              <a:solidFill>
                <a:srgbClr val="FFFFFF"/>
              </a:solidFill>
              <a:latin typeface="Arial"/>
            </a:endParaRPr>
          </a:p>
          <a:p>
            <a:pPr defTabSz="914400">
              <a:lnSpc>
                <a:spcPct val="150000"/>
              </a:lnSpc>
              <a:tabLst>
                <a:tab pos="0" algn="l"/>
              </a:tabLst>
              <a:defRPr/>
            </a:pPr>
            <a:r>
              <a:rPr lang="en-US" sz="2100" b="0" u="none" strike="noStrike">
                <a:solidFill>
                  <a:srgbClr val="F3ECE0"/>
                </a:solidFill>
                <a:latin typeface="Arial"/>
                <a:ea typeface="Arial"/>
              </a:rPr>
              <a:t>↳ A bridge to small-scale fusion era</a:t>
            </a:r>
            <a:endParaRPr lang="en-US" sz="2100" b="0" u="none" strike="noStrike">
              <a:solidFill>
                <a:srgbClr val="FFFFFF"/>
              </a:solidFill>
              <a:latin typeface="Arial"/>
            </a:endParaRPr>
          </a:p>
        </p:txBody>
      </p:sp>
      <p:sp>
        <p:nvSpPr>
          <p:cNvPr id="337470506" name="Text 15"/>
          <p:cNvSpPr/>
          <p:nvPr/>
        </p:nvSpPr>
        <p:spPr bwMode="auto">
          <a:xfrm>
            <a:off x="1047600" y="9258480"/>
            <a:ext cx="11541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08 / 12</a:t>
            </a:r>
            <a:endParaRPr lang="en-US" sz="1800" b="0" u="none" strike="noStrike">
              <a:solidFill>
                <a:srgbClr val="FFFFFF"/>
              </a:solidFill>
              <a:latin typeface="Arial"/>
            </a:endParaRPr>
          </a:p>
        </p:txBody>
      </p:sp>
      <p:sp>
        <p:nvSpPr>
          <p:cNvPr id="1955705268" name="Text 16"/>
          <p:cNvSpPr/>
          <p:nvPr/>
        </p:nvSpPr>
        <p:spPr bwMode="auto">
          <a:xfrm>
            <a:off x="8235360" y="9258480"/>
            <a:ext cx="927432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LOCAL FIRST · OPEN AND TRANSPARENT · PATIENT AND LONG-TERM</a:t>
            </a:r>
            <a:endParaRPr lang="en-US" sz="1800" b="0" u="none" strike="noStrike">
              <a:solidFill>
                <a:srgbClr val="FFFFFF"/>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3ECE0"/>
        </a:solidFill>
      </p:bgPr>
    </p:bg>
    <p:spTree>
      <p:nvGrpSpPr>
        <p:cNvPr id="1" name=""/>
        <p:cNvGrpSpPr/>
        <p:nvPr/>
      </p:nvGrpSpPr>
      <p:grpSpPr bwMode="auto">
        <a:xfrm>
          <a:off x="0" y="0"/>
          <a:ext cx="0" cy="0"/>
          <a:chOff x="0" y="0"/>
          <a:chExt cx="0" cy="0"/>
        </a:xfrm>
      </p:grpSpPr>
      <p:sp>
        <p:nvSpPr>
          <p:cNvPr id="242382326" name="Shape 0"/>
          <p:cNvSpPr/>
          <p:nvPr/>
        </p:nvSpPr>
        <p:spPr bwMode="auto">
          <a:xfrm>
            <a:off x="1047600" y="762120"/>
            <a:ext cx="456480" cy="456480"/>
          </a:xfrm>
          <a:prstGeom prst="ellipse">
            <a:avLst/>
          </a:prstGeom>
          <a:solidFill>
            <a:srgbClr val="2F4A37"/>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805320728" name="Text 1"/>
          <p:cNvSpPr/>
          <p:nvPr/>
        </p:nvSpPr>
        <p:spPr bwMode="auto">
          <a:xfrm>
            <a:off x="1047600" y="762120"/>
            <a:ext cx="532800" cy="494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1" u="none" strike="noStrike" spc="145">
                <a:solidFill>
                  <a:srgbClr val="F3ECE0"/>
                </a:solidFill>
                <a:latin typeface="Noto Serif JP"/>
                <a:ea typeface="Noto Serif JP"/>
              </a:rPr>
              <a:t>御</a:t>
            </a:r>
            <a:endParaRPr lang="en-US" sz="1950" b="0" u="none" strike="noStrike">
              <a:solidFill>
                <a:srgbClr val="000000"/>
              </a:solidFill>
              <a:latin typeface="Arial"/>
            </a:endParaRPr>
          </a:p>
        </p:txBody>
      </p:sp>
      <p:sp>
        <p:nvSpPr>
          <p:cNvPr id="1368179670" name="Text 2"/>
          <p:cNvSpPr/>
          <p:nvPr/>
        </p:nvSpPr>
        <p:spPr bwMode="auto">
          <a:xfrm>
            <a:off x="1638360" y="857160"/>
            <a:ext cx="22420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MITSUE PROJECT</a:t>
            </a:r>
            <a:endParaRPr lang="en-US" sz="1800" b="0" u="none" strike="noStrike">
              <a:solidFill>
                <a:srgbClr val="000000"/>
              </a:solidFill>
              <a:latin typeface="Arial"/>
            </a:endParaRPr>
          </a:p>
        </p:txBody>
      </p:sp>
      <p:sp>
        <p:nvSpPr>
          <p:cNvPr id="1816954103" name="Text 3"/>
          <p:cNvSpPr/>
          <p:nvPr/>
        </p:nvSpPr>
        <p:spPr bwMode="auto">
          <a:xfrm>
            <a:off x="11654640" y="762120"/>
            <a:ext cx="57528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 08 · WHERE WE ARE TODAY · SEP 2026</a:t>
            </a:r>
            <a:endParaRPr lang="en-US" sz="1800" b="0" u="none" strike="noStrike">
              <a:solidFill>
                <a:srgbClr val="000000"/>
              </a:solidFill>
              <a:latin typeface="Arial"/>
            </a:endParaRPr>
          </a:p>
        </p:txBody>
      </p:sp>
      <p:sp>
        <p:nvSpPr>
          <p:cNvPr id="1453090325" name="Text 4"/>
          <p:cNvSpPr/>
          <p:nvPr/>
        </p:nvSpPr>
        <p:spPr bwMode="auto">
          <a:xfrm>
            <a:off x="1047600" y="1657440"/>
            <a:ext cx="8324280" cy="380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0" u="none" strike="noStrike" spc="215">
                <a:solidFill>
                  <a:srgbClr val="4C554F"/>
                </a:solidFill>
                <a:latin typeface="Courier New"/>
                <a:ea typeface="Courier New"/>
              </a:rPr>
              <a:t>PHASE 0 · PRE-FOUNDATION · </a:t>
            </a:r>
            <a:r>
              <a:rPr lang="zh-CN" sz="1800" b="0" u="none" strike="noStrike" spc="215">
                <a:solidFill>
                  <a:srgbClr val="4C554F"/>
                </a:solidFill>
                <a:latin typeface="Courier New"/>
                <a:ea typeface="Courier New"/>
              </a:rPr>
              <a:t>準備期</a:t>
            </a:r>
            <a:endParaRPr lang="en-US" sz="1800" b="0" u="none" strike="noStrike">
              <a:solidFill>
                <a:srgbClr val="000000"/>
              </a:solidFill>
              <a:latin typeface="Arial"/>
            </a:endParaRPr>
          </a:p>
        </p:txBody>
      </p:sp>
      <p:sp>
        <p:nvSpPr>
          <p:cNvPr id="82458211" name="Text 5"/>
          <p:cNvSpPr/>
          <p:nvPr/>
        </p:nvSpPr>
        <p:spPr bwMode="auto">
          <a:xfrm>
            <a:off x="1047600" y="2133720"/>
            <a:ext cx="8324280" cy="5000039"/>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7800" b="0" u="none" strike="noStrike" spc="-77">
                <a:solidFill>
                  <a:srgbClr val="1F2A24"/>
                </a:solidFill>
                <a:latin typeface="Georgia"/>
                <a:ea typeface="Georgia"/>
              </a:rPr>
              <a:t>Quiet on purpose. </a:t>
            </a:r>
            <a:r>
              <a:rPr lang="en-US" sz="7800" b="0" i="1" u="none" strike="noStrike" spc="-77">
                <a:solidFill>
                  <a:srgbClr val="C4663A"/>
                </a:solidFill>
                <a:latin typeface="Georgia"/>
                <a:ea typeface="Georgia"/>
              </a:rPr>
              <a:t>No press, </a:t>
            </a:r>
            <a:r>
              <a:rPr lang="en-US" sz="7800" b="0" u="none" strike="noStrike" spc="-77">
                <a:solidFill>
                  <a:srgbClr val="1F2A24"/>
                </a:solidFill>
                <a:latin typeface="Georgia"/>
                <a:ea typeface="Georgia"/>
              </a:rPr>
              <a:t>no founder hoodies.</a:t>
            </a:r>
            <a:endParaRPr lang="en-US" sz="7800" b="0" u="none" strike="noStrike">
              <a:solidFill>
                <a:srgbClr val="000000"/>
              </a:solidFill>
              <a:latin typeface="Arial"/>
            </a:endParaRPr>
          </a:p>
        </p:txBody>
      </p:sp>
      <p:sp>
        <p:nvSpPr>
          <p:cNvPr id="1137641924" name="Text 6"/>
          <p:cNvSpPr/>
          <p:nvPr/>
        </p:nvSpPr>
        <p:spPr bwMode="auto">
          <a:xfrm>
            <a:off x="1047600" y="5850720"/>
            <a:ext cx="8246160" cy="119736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defRPr/>
            </a:pPr>
            <a:r>
              <a:rPr lang="en-US" sz="2100" b="0" u="none" strike="noStrike">
                <a:solidFill>
                  <a:srgbClr val="1F2A24"/>
                </a:solidFill>
                <a:latin typeface="Arial"/>
                <a:ea typeface="Arial"/>
              </a:rPr>
              <a:t>Phase 0 is local trust-building, advisory-board building, and funding-track scouting. Self-funded, ¥0–0.25M. The work that matters right now is meetings, not announcements.</a:t>
            </a:r>
            <a:endParaRPr lang="en-US" sz="2100" b="0" u="none" strike="noStrike">
              <a:solidFill>
                <a:srgbClr val="000000"/>
              </a:solidFill>
              <a:latin typeface="Arial"/>
            </a:endParaRPr>
          </a:p>
        </p:txBody>
      </p:sp>
      <p:sp>
        <p:nvSpPr>
          <p:cNvPr id="466410382" name="Shape 7"/>
          <p:cNvSpPr/>
          <p:nvPr/>
        </p:nvSpPr>
        <p:spPr bwMode="auto">
          <a:xfrm>
            <a:off x="1047600" y="7353720"/>
            <a:ext cx="8082000" cy="8640"/>
          </a:xfrm>
          <a:prstGeom prst="rect">
            <a:avLst/>
          </a:prstGeom>
          <a:solidFill>
            <a:srgbClr val="1F2A24">
              <a:alpha val="50000"/>
            </a:srgbClr>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FFFFFF"/>
              </a:solidFill>
              <a:latin typeface="Arial"/>
            </a:endParaRPr>
          </a:p>
        </p:txBody>
      </p:sp>
      <p:sp>
        <p:nvSpPr>
          <p:cNvPr id="228580544" name="Text 8"/>
          <p:cNvSpPr/>
          <p:nvPr/>
        </p:nvSpPr>
        <p:spPr bwMode="auto">
          <a:xfrm>
            <a:off x="1047600" y="7340600"/>
            <a:ext cx="83242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ADVISORY COMMITMENTS</a:t>
            </a:r>
            <a:endParaRPr lang="en-US" sz="1800" b="0" u="none" strike="noStrike">
              <a:solidFill>
                <a:srgbClr val="000000"/>
              </a:solidFill>
              <a:latin typeface="Arial"/>
            </a:endParaRPr>
          </a:p>
        </p:txBody>
      </p:sp>
      <p:sp>
        <p:nvSpPr>
          <p:cNvPr id="696495354" name="Text 11"/>
          <p:cNvSpPr/>
          <p:nvPr/>
        </p:nvSpPr>
        <p:spPr bwMode="auto">
          <a:xfrm>
            <a:off x="1066800" y="7772400"/>
            <a:ext cx="3810000" cy="3048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en-US" sz="1700" b="0" u="none" strike="noStrike" spc="-40">
                <a:solidFill>
                  <a:srgbClr val="1F2A24"/>
                </a:solidFill>
                <a:latin typeface="Georgia"/>
                <a:ea typeface="Georgia"/>
              </a:rPr>
              <a:t>Ray Ozzie</a:t>
            </a:r>
            <a:endParaRPr lang="en-US" sz="3900" b="0" u="none" strike="noStrike">
              <a:solidFill>
                <a:srgbClr val="000000"/>
              </a:solidFill>
              <a:latin typeface="Arial"/>
            </a:endParaRPr>
          </a:p>
        </p:txBody>
      </p:sp>
      <p:sp>
        <p:nvSpPr>
          <p:cNvPr id="1718714885" name="Text 12"/>
          <p:cNvSpPr/>
          <p:nvPr/>
        </p:nvSpPr>
        <p:spPr bwMode="auto">
          <a:xfrm>
            <a:off x="1066800" y="8064500"/>
            <a:ext cx="3810000" cy="228600"/>
          </a:xfrm>
          <a:prstGeom prst="rect">
            <a:avLst/>
          </a:prstGeom>
          <a:noFill/>
          <a:ln w="0">
            <a:noFill/>
          </a:ln>
        </p:spPr>
        <p:style>
          <a:lnRef idx="0"/>
          <a:fillRef idx="0"/>
          <a:effectRef idx="0"/>
          <a:fontRef idx="minor"/>
        </p:style>
        <p:txBody>
          <a:bodyPr horzOverflow="overflow" lIns="25560" tIns="25560" rIns="25560" bIns="25560" numCol="1" spcCol="0" anchor="t">
            <a:normAutofit lnSpcReduction="9999"/>
          </a:bodyPr>
          <a:p>
            <a:pPr defTabSz="914400">
              <a:lnSpc>
                <a:spcPct val="145000"/>
              </a:lnSpc>
              <a:tabLst>
                <a:tab pos="0" algn="l"/>
              </a:tabLst>
              <a:defRPr/>
            </a:pPr>
            <a:r>
              <a:rPr lang="en-US" sz="1200" b="0" u="none" strike="noStrike">
                <a:solidFill>
                  <a:srgbClr val="4C554F"/>
                </a:solidFill>
                <a:latin typeface="Arial"/>
                <a:ea typeface="Arial"/>
              </a:rPr>
              <a:t>Software pioneer · ex-Microsoft CSA</a:t>
            </a:r>
            <a:endParaRPr lang="en-US" sz="1800" b="0" u="none" strike="noStrike">
              <a:solidFill>
                <a:srgbClr val="000000"/>
              </a:solidFill>
              <a:latin typeface="Arial"/>
            </a:endParaRPr>
          </a:p>
        </p:txBody>
      </p:sp>
      <p:sp>
        <p:nvSpPr>
          <p:cNvPr id="1388643071" name="Shape 13"/>
          <p:cNvSpPr/>
          <p:nvPr/>
        </p:nvSpPr>
        <p:spPr bwMode="auto">
          <a:xfrm>
            <a:off x="9892440" y="1657440"/>
            <a:ext cx="7347240" cy="275724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868525620" name="Text 14"/>
          <p:cNvSpPr/>
          <p:nvPr/>
        </p:nvSpPr>
        <p:spPr bwMode="auto">
          <a:xfrm>
            <a:off x="10187640" y="1914480"/>
            <a:ext cx="6959520" cy="332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0" u="none" strike="noStrike" spc="215">
                <a:solidFill>
                  <a:srgbClr val="2F4A37"/>
                </a:solidFill>
                <a:latin typeface="Courier New"/>
                <a:ea typeface="Courier New"/>
              </a:rPr>
              <a:t>✓ COMPLETED</a:t>
            </a:r>
            <a:endParaRPr lang="en-US" sz="1800" b="0" u="none" strike="noStrike">
              <a:solidFill>
                <a:srgbClr val="000000"/>
              </a:solidFill>
              <a:latin typeface="Arial"/>
            </a:endParaRPr>
          </a:p>
        </p:txBody>
      </p:sp>
      <p:sp>
        <p:nvSpPr>
          <p:cNvPr id="2119513788" name="Text 15"/>
          <p:cNvSpPr/>
          <p:nvPr/>
        </p:nvSpPr>
        <p:spPr bwMode="auto">
          <a:xfrm>
            <a:off x="10237320" y="2343240"/>
            <a:ext cx="6783480" cy="1708920"/>
          </a:xfrm>
          <a:prstGeom prst="rect">
            <a:avLst/>
          </a:prstGeom>
          <a:noFill/>
          <a:ln w="0">
            <a:noFill/>
          </a:ln>
        </p:spPr>
        <p:style>
          <a:lnRef idx="0"/>
          <a:fillRef idx="0"/>
          <a:effectRef idx="0"/>
          <a:fontRef idx="minor"/>
        </p:style>
        <p:txBody>
          <a:bodyPr lIns="25560" tIns="25560" rIns="25560" bIns="25560" anchor="t">
            <a:normAutofit fontScale="92500" lnSpcReduction="9999"/>
          </a:bodyPr>
          <a:p>
            <a:pPr marL="160200" indent="-160200" defTabSz="914400">
              <a:lnSpc>
                <a:spcPct val="140000"/>
              </a:lnSpc>
              <a:buClr>
                <a:srgbClr val="1F2A24"/>
              </a:buClr>
              <a:buFont typeface="Symbol"/>
              <a:buChar char=""/>
              <a:tabLst>
                <a:tab pos="160200" algn="l"/>
              </a:tabLst>
              <a:defRPr/>
            </a:pPr>
            <a:r>
              <a:rPr lang="en-US" sz="1800" b="0" u="none" strike="noStrike">
                <a:solidFill>
                  <a:srgbClr val="1F2A24"/>
                </a:solidFill>
                <a:latin typeface="Arial"/>
                <a:ea typeface="Arial"/>
              </a:rPr>
              <a:t>Initial meeting with Vice Mayor of Mitsue (late 2025)</a:t>
            </a:r>
            <a:endParaRPr lang="en-US" sz="1800" b="0" u="none" strike="noStrike">
              <a:solidFill>
                <a:srgbClr val="000000"/>
              </a:solidFill>
              <a:latin typeface="Arial"/>
            </a:endParaRPr>
          </a:p>
          <a:p>
            <a:pPr marL="160200" indent="-160200" defTabSz="914400">
              <a:lnSpc>
                <a:spcPct val="140000"/>
              </a:lnSpc>
              <a:buClr>
                <a:srgbClr val="1F2A24"/>
              </a:buClr>
              <a:buFont typeface="Symbol"/>
              <a:buChar char=""/>
              <a:tabLst>
                <a:tab pos="160200" algn="l"/>
              </a:tabLst>
              <a:defRPr/>
            </a:pPr>
            <a:r>
              <a:rPr lang="en-US" sz="1800" b="0" u="none" strike="noStrike">
                <a:solidFill>
                  <a:srgbClr val="1F2A24"/>
                </a:solidFill>
                <a:latin typeface="Arial"/>
                <a:ea typeface="Arial"/>
              </a:rPr>
              <a:t>Mitsue Kanko, local forestry partner, more trees/Tenkawa meetings (May–Aug 2026)</a:t>
            </a:r>
            <a:endParaRPr lang="en-US" sz="1800" b="0" u="none" strike="noStrike">
              <a:solidFill>
                <a:srgbClr val="000000"/>
              </a:solidFill>
              <a:latin typeface="Arial"/>
            </a:endParaRPr>
          </a:p>
          <a:p>
            <a:pPr marL="160200" indent="-160200" defTabSz="914400">
              <a:lnSpc>
                <a:spcPct val="140000"/>
              </a:lnSpc>
              <a:buClr>
                <a:srgbClr val="1F2A24"/>
              </a:buClr>
              <a:buFont typeface="Symbol"/>
              <a:buChar char=""/>
              <a:tabLst>
                <a:tab pos="160200" algn="l"/>
              </a:tabLst>
              <a:defRPr/>
            </a:pPr>
            <a:r>
              <a:rPr lang="en-US" sz="1800" b="0" u="none" strike="noStrike">
                <a:solidFill>
                  <a:srgbClr val="1F2A24"/>
                </a:solidFill>
                <a:latin typeface="Arial"/>
                <a:ea typeface="Arial"/>
              </a:rPr>
              <a:t>Founding charter, implementation &amp; EVM plans drafted (BAC ¥220M)</a:t>
            </a:r>
            <a:endParaRPr lang="en-US" sz="1800" b="0" u="none" strike="noStrike">
              <a:solidFill>
                <a:srgbClr val="000000"/>
              </a:solidFill>
              <a:latin typeface="Arial"/>
            </a:endParaRPr>
          </a:p>
          <a:p>
            <a:pPr marL="160200" indent="-160200" defTabSz="914400">
              <a:lnSpc>
                <a:spcPct val="140000"/>
              </a:lnSpc>
              <a:buClr>
                <a:srgbClr val="1F2A24"/>
              </a:buClr>
              <a:buFont typeface="Symbol"/>
              <a:buChar char=""/>
              <a:tabLst>
                <a:tab pos="160200" algn="l"/>
              </a:tabLst>
              <a:defRPr/>
            </a:pPr>
            <a:r>
              <a:rPr lang="en-US" sz="1800" b="0" u="none" strike="noStrike">
                <a:solidFill>
                  <a:srgbClr val="1F2A24"/>
                </a:solidFill>
                <a:latin typeface="Arial"/>
                <a:ea typeface="Arial"/>
              </a:rPr>
              <a:t>GX地域共創 decarbonization subsidy inquiry submitted (Aug 2026)</a:t>
            </a:r>
            <a:endParaRPr lang="en-US" sz="1800" b="0" u="none" strike="noStrike">
              <a:solidFill>
                <a:srgbClr val="000000"/>
              </a:solidFill>
              <a:latin typeface="Arial"/>
            </a:endParaRPr>
          </a:p>
          <a:p>
            <a:pPr marL="160200" indent="-160200" defTabSz="914400">
              <a:lnSpc>
                <a:spcPct val="140000"/>
              </a:lnSpc>
              <a:buClr>
                <a:srgbClr val="1F2A24"/>
              </a:buClr>
              <a:buFont typeface="Symbol"/>
              <a:buChar char=""/>
              <a:tabLst>
                <a:tab pos="160200" algn="l"/>
              </a:tabLst>
              <a:defRPr/>
            </a:pPr>
            <a:r>
              <a:rPr lang="en-US" sz="1800" b="0" u="none" strike="noStrike">
                <a:solidFill>
                  <a:srgbClr val="1F2A24"/>
                </a:solidFill>
                <a:latin typeface="Arial"/>
                <a:ea typeface="Arial"/>
              </a:rPr>
              <a:t>Advisory board grown to 11, incl. 3 pro bono legal advisors</a:t>
            </a:r>
            <a:endParaRPr lang="en-US" sz="1800" b="0" u="none" strike="noStrike">
              <a:solidFill>
                <a:srgbClr val="000000"/>
              </a:solidFill>
              <a:latin typeface="Arial"/>
            </a:endParaRPr>
          </a:p>
        </p:txBody>
      </p:sp>
      <p:sp>
        <p:nvSpPr>
          <p:cNvPr id="477508849" name="Shape 16"/>
          <p:cNvSpPr/>
          <p:nvPr/>
        </p:nvSpPr>
        <p:spPr bwMode="auto">
          <a:xfrm>
            <a:off x="9892440" y="4624560"/>
            <a:ext cx="7347240" cy="2423519"/>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7263312" name="Text 17"/>
          <p:cNvSpPr/>
          <p:nvPr/>
        </p:nvSpPr>
        <p:spPr bwMode="auto">
          <a:xfrm>
            <a:off x="10187640" y="4881960"/>
            <a:ext cx="695952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C4663A"/>
                </a:solidFill>
                <a:latin typeface="Courier New"/>
                <a:ea typeface="Courier New"/>
              </a:rPr>
              <a:t>→ IN PROGRESS</a:t>
            </a:r>
            <a:endParaRPr lang="en-US" sz="1800" b="0" u="none" strike="noStrike">
              <a:solidFill>
                <a:srgbClr val="000000"/>
              </a:solidFill>
              <a:latin typeface="Arial"/>
            </a:endParaRPr>
          </a:p>
        </p:txBody>
      </p:sp>
      <p:sp>
        <p:nvSpPr>
          <p:cNvPr id="581245486" name="Text 18"/>
          <p:cNvSpPr/>
          <p:nvPr/>
        </p:nvSpPr>
        <p:spPr bwMode="auto">
          <a:xfrm>
            <a:off x="10237320" y="5281920"/>
            <a:ext cx="6783480" cy="1374840"/>
          </a:xfrm>
          <a:prstGeom prst="rect">
            <a:avLst/>
          </a:prstGeom>
          <a:noFill/>
          <a:ln w="0">
            <a:noFill/>
          </a:ln>
        </p:spPr>
        <p:style>
          <a:lnRef idx="0"/>
          <a:fillRef idx="0"/>
          <a:effectRef idx="0"/>
          <a:fontRef idx="minor"/>
        </p:style>
        <p:txBody>
          <a:bodyPr lIns="25560" tIns="25560" rIns="25560" bIns="25560" anchor="t">
            <a:normAutofit fontScale="92500" lnSpcReduction="9999"/>
          </a:bodyPr>
          <a:p>
            <a:pPr marL="160200" indent="-160200" defTabSz="914400">
              <a:lnSpc>
                <a:spcPct val="140000"/>
              </a:lnSpc>
              <a:buClr>
                <a:srgbClr val="1F2A24"/>
              </a:buClr>
              <a:buFont typeface="Symbol"/>
              <a:buChar char=""/>
              <a:tabLst>
                <a:tab pos="160200" algn="l"/>
              </a:tabLst>
              <a:defRPr/>
            </a:pPr>
            <a:r>
              <a:rPr lang="en-US" sz="1800" b="0" u="none" strike="noStrike">
                <a:solidFill>
                  <a:srgbClr val="1F2A24"/>
                </a:solidFill>
                <a:latin typeface="Arial"/>
                <a:ea typeface="Arial"/>
              </a:rPr>
              <a:t>Identifying a Japanese co-founder with rural credibility</a:t>
            </a:r>
            <a:endParaRPr lang="en-US" sz="1800" b="0" u="none" strike="noStrike">
              <a:solidFill>
                <a:srgbClr val="000000"/>
              </a:solidFill>
              <a:latin typeface="Arial"/>
            </a:endParaRPr>
          </a:p>
          <a:p>
            <a:pPr marL="160200" indent="-160200" defTabSz="914400">
              <a:lnSpc>
                <a:spcPct val="140000"/>
              </a:lnSpc>
              <a:buClr>
                <a:srgbClr val="1F2A24"/>
              </a:buClr>
              <a:buFont typeface="Symbol"/>
              <a:buChar char=""/>
              <a:tabLst>
                <a:tab pos="160200" algn="l"/>
              </a:tabLst>
              <a:defRPr/>
            </a:pPr>
            <a:r>
              <a:rPr lang="en-US" sz="1800" b="0" u="none" strike="noStrike">
                <a:solidFill>
                  <a:srgbClr val="1F2A24"/>
                </a:solidFill>
                <a:latin typeface="Arial"/>
                <a:ea typeface="Arial"/>
              </a:rPr>
              <a:t>Keeping the Village Mayor informed with project documents</a:t>
            </a:r>
            <a:endParaRPr lang="en-US" sz="1800" b="0" u="none" strike="noStrike">
              <a:solidFill>
                <a:srgbClr val="000000"/>
              </a:solidFill>
              <a:latin typeface="Arial"/>
            </a:endParaRPr>
          </a:p>
          <a:p>
            <a:pPr marL="160200" indent="-160200" defTabSz="914400">
              <a:lnSpc>
                <a:spcPct val="140000"/>
              </a:lnSpc>
              <a:buClr>
                <a:srgbClr val="1F2A24"/>
              </a:buClr>
              <a:buFont typeface="Symbol"/>
              <a:buChar char=""/>
              <a:tabLst>
                <a:tab pos="160200" algn="l"/>
              </a:tabLst>
              <a:defRPr/>
            </a:pPr>
            <a:r>
              <a:rPr lang="en-US" sz="1800" b="0" u="none" strike="noStrike">
                <a:solidFill>
                  <a:srgbClr val="1F2A24"/>
                </a:solidFill>
                <a:latin typeface="Arial"/>
                <a:ea typeface="Arial"/>
              </a:rPr>
              <a:t>Drafting bylaws for a </a:t>
            </a:r>
            <a:r>
              <a:rPr lang="zh-CN" sz="1800" b="0" u="none" strike="noStrike">
                <a:solidFill>
                  <a:srgbClr val="1F2A24"/>
                </a:solidFill>
                <a:latin typeface="Arial"/>
                <a:ea typeface="Arial"/>
              </a:rPr>
              <a:t>一般社団法人Mitsue-it</a:t>
            </a:r>
            <a:endParaRPr lang="en-US" sz="1800" b="0" u="none" strike="noStrike">
              <a:solidFill>
                <a:srgbClr val="000000"/>
              </a:solidFill>
              <a:latin typeface="Arial"/>
            </a:endParaRPr>
          </a:p>
          <a:p>
            <a:pPr marL="160200" indent="-160200" defTabSz="914400">
              <a:lnSpc>
                <a:spcPct val="140000"/>
              </a:lnSpc>
              <a:buClr>
                <a:srgbClr val="1F2A24"/>
              </a:buClr>
              <a:buFont typeface="Symbol"/>
              <a:buChar char=""/>
              <a:tabLst>
                <a:tab pos="160200" algn="l"/>
              </a:tabLst>
              <a:defRPr/>
            </a:pPr>
            <a:r>
              <a:rPr lang="en-US" sz="1800" b="0" u="none" strike="noStrike">
                <a:solidFill>
                  <a:srgbClr val="1F2A24"/>
                </a:solidFill>
                <a:latin typeface="Arial"/>
                <a:ea typeface="Arial"/>
              </a:rPr>
              <a:t>Engaging a </a:t>
            </a:r>
            <a:r>
              <a:rPr lang="zh-CN" sz="1800" b="0" u="none" strike="noStrike">
                <a:solidFill>
                  <a:srgbClr val="1F2A24"/>
                </a:solidFill>
                <a:latin typeface="Arial"/>
                <a:ea typeface="Arial"/>
              </a:rPr>
              <a:t>行政書士 </a:t>
            </a:r>
            <a:r>
              <a:rPr lang="en-US" sz="1800" b="0" u="none" strike="noStrike">
                <a:solidFill>
                  <a:srgbClr val="1F2A24"/>
                </a:solidFill>
                <a:latin typeface="Arial"/>
                <a:ea typeface="Arial"/>
              </a:rPr>
              <a:t>(administrative scrivener) in Nara</a:t>
            </a:r>
            <a:endParaRPr lang="en-US" sz="1800" b="0" u="none" strike="noStrike">
              <a:solidFill>
                <a:srgbClr val="000000"/>
              </a:solidFill>
              <a:latin typeface="Arial"/>
            </a:endParaRPr>
          </a:p>
        </p:txBody>
      </p:sp>
      <p:sp>
        <p:nvSpPr>
          <p:cNvPr id="773296721" name="Shape 19"/>
          <p:cNvSpPr/>
          <p:nvPr/>
        </p:nvSpPr>
        <p:spPr bwMode="auto">
          <a:xfrm>
            <a:off x="9892440" y="7230240"/>
            <a:ext cx="7347240" cy="227016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2074567887" name="Text 20"/>
          <p:cNvSpPr/>
          <p:nvPr/>
        </p:nvSpPr>
        <p:spPr bwMode="auto">
          <a:xfrm>
            <a:off x="10187640" y="7516080"/>
            <a:ext cx="6959520" cy="332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0" u="none" strike="noStrike" spc="215">
                <a:solidFill>
                  <a:srgbClr val="4C554F"/>
                </a:solidFill>
                <a:latin typeface="Courier New"/>
                <a:ea typeface="Courier New"/>
              </a:rPr>
              <a:t>◌ NEXT 30 DAYS</a:t>
            </a:r>
            <a:endParaRPr lang="en-US" sz="1800" b="0" u="none" strike="noStrike">
              <a:solidFill>
                <a:srgbClr val="000000"/>
              </a:solidFill>
              <a:latin typeface="Arial"/>
            </a:endParaRPr>
          </a:p>
        </p:txBody>
      </p:sp>
      <p:sp>
        <p:nvSpPr>
          <p:cNvPr id="1056346172" name="Text 21"/>
          <p:cNvSpPr/>
          <p:nvPr/>
        </p:nvSpPr>
        <p:spPr bwMode="auto">
          <a:xfrm>
            <a:off x="10237320" y="7944840"/>
            <a:ext cx="6783480" cy="1374840"/>
          </a:xfrm>
          <a:prstGeom prst="rect">
            <a:avLst/>
          </a:prstGeom>
          <a:noFill/>
          <a:ln w="0">
            <a:noFill/>
          </a:ln>
        </p:spPr>
        <p:style>
          <a:lnRef idx="0"/>
          <a:fillRef idx="0"/>
          <a:effectRef idx="0"/>
          <a:fontRef idx="minor"/>
        </p:style>
        <p:txBody>
          <a:bodyPr lIns="25560" tIns="25560" rIns="25560" bIns="25560" anchor="t">
            <a:normAutofit fontScale="92500" lnSpcReduction="9999"/>
          </a:bodyPr>
          <a:p>
            <a:pPr marL="160200" indent="-160200" defTabSz="914400">
              <a:lnSpc>
                <a:spcPct val="140000"/>
              </a:lnSpc>
              <a:buClr>
                <a:srgbClr val="1F2A24"/>
              </a:buClr>
              <a:buFont typeface="Symbol"/>
              <a:buChar char=""/>
              <a:tabLst>
                <a:tab pos="160200" algn="l"/>
              </a:tabLst>
              <a:defRPr/>
            </a:pPr>
            <a:r>
              <a:rPr lang="en-US" sz="1800" b="0" u="none" strike="noStrike">
                <a:solidFill>
                  <a:srgbClr val="1F2A24"/>
                </a:solidFill>
                <a:latin typeface="Arial"/>
                <a:ea typeface="Arial"/>
              </a:rPr>
              <a:t>Approach candidate Japanese co-founder</a:t>
            </a:r>
            <a:endParaRPr lang="en-US" sz="1800" b="0" u="none" strike="noStrike">
              <a:solidFill>
                <a:srgbClr val="000000"/>
              </a:solidFill>
              <a:latin typeface="Arial"/>
            </a:endParaRPr>
          </a:p>
          <a:p>
            <a:pPr marL="160200" indent="-160200" defTabSz="914400">
              <a:lnSpc>
                <a:spcPct val="140000"/>
              </a:lnSpc>
              <a:buClr>
                <a:srgbClr val="1F2A24"/>
              </a:buClr>
              <a:buFont typeface="Symbol"/>
              <a:buChar char=""/>
              <a:tabLst>
                <a:tab pos="160200" algn="l"/>
              </a:tabLst>
              <a:defRPr/>
            </a:pPr>
            <a:r>
              <a:rPr lang="en-US" sz="1800" b="0" u="none" strike="noStrike">
                <a:solidFill>
                  <a:srgbClr val="1F2A24"/>
                </a:solidFill>
                <a:latin typeface="Arial"/>
                <a:ea typeface="Arial"/>
              </a:rPr>
              <a:t>Continue quiet outreach with village hall</a:t>
            </a:r>
            <a:endParaRPr lang="en-US" sz="1800" b="0" u="none" strike="noStrike">
              <a:solidFill>
                <a:srgbClr val="000000"/>
              </a:solidFill>
              <a:latin typeface="Arial"/>
            </a:endParaRPr>
          </a:p>
          <a:p>
            <a:pPr marL="160200" indent="-160200" defTabSz="914400">
              <a:lnSpc>
                <a:spcPct val="140000"/>
              </a:lnSpc>
              <a:buClr>
                <a:srgbClr val="1F2A24"/>
              </a:buClr>
              <a:buFont typeface="Symbol"/>
              <a:buChar char=""/>
              <a:tabLst>
                <a:tab pos="160200" algn="l"/>
              </a:tabLst>
              <a:defRPr/>
            </a:pPr>
            <a:r>
              <a:rPr lang="en-US" sz="1800" b="0" u="none" strike="noStrike">
                <a:solidFill>
                  <a:srgbClr val="1F2A24"/>
                </a:solidFill>
                <a:latin typeface="Arial"/>
                <a:ea typeface="Arial"/>
              </a:rPr>
              <a:t>GX地域共創 Round 2 application (deadline Nov 30, 2026)</a:t>
            </a:r>
            <a:endParaRPr lang="en-US" sz="1800" b="0" u="none" strike="noStrike">
              <a:solidFill>
                <a:srgbClr val="000000"/>
              </a:solidFill>
              <a:latin typeface="Arial"/>
            </a:endParaRPr>
          </a:p>
          <a:p>
            <a:pPr marL="160200" indent="-160200" defTabSz="914400">
              <a:lnSpc>
                <a:spcPct val="140000"/>
              </a:lnSpc>
              <a:buClr>
                <a:srgbClr val="1F2A24"/>
              </a:buClr>
              <a:buFont typeface="Symbol"/>
              <a:buChar char=""/>
              <a:tabLst>
                <a:tab pos="160200" algn="l"/>
              </a:tabLst>
              <a:defRPr/>
            </a:pPr>
            <a:r>
              <a:rPr lang="en-US" sz="1800" b="0" u="none" strike="noStrike">
                <a:solidFill>
                  <a:srgbClr val="1F2A24"/>
                </a:solidFill>
                <a:latin typeface="Arial"/>
                <a:ea typeface="Arial"/>
              </a:rPr>
              <a:t>Prep NAIST seminar (confirmed, Jan 13, 2027)</a:t>
            </a:r>
            <a:endParaRPr lang="en-US" sz="1800" b="0" u="none" strike="noStrike">
              <a:solidFill>
                <a:srgbClr val="000000"/>
              </a:solidFill>
              <a:latin typeface="Arial"/>
            </a:endParaRPr>
          </a:p>
        </p:txBody>
      </p:sp>
      <p:sp>
        <p:nvSpPr>
          <p:cNvPr id="1702503335" name="Text 22"/>
          <p:cNvSpPr/>
          <p:nvPr/>
        </p:nvSpPr>
        <p:spPr bwMode="auto">
          <a:xfrm>
            <a:off x="1061280" y="9759600"/>
            <a:ext cx="11541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09 / 12</a:t>
            </a:r>
            <a:endParaRPr lang="en-US" sz="1800" b="0" u="none" strike="noStrike">
              <a:solidFill>
                <a:srgbClr val="000000"/>
              </a:solidFill>
              <a:latin typeface="Arial"/>
            </a:endParaRPr>
          </a:p>
        </p:txBody>
      </p:sp>
      <p:sp>
        <p:nvSpPr>
          <p:cNvPr id="1753262371" name="Text 23"/>
          <p:cNvSpPr/>
          <p:nvPr/>
        </p:nvSpPr>
        <p:spPr bwMode="auto">
          <a:xfrm>
            <a:off x="11486880" y="9759600"/>
            <a:ext cx="57528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PHASE 0 · MONTHS 01–06 · SELF-FUNDED</a:t>
            </a:r>
            <a:endParaRPr lang="en-US" sz="1800" b="0" u="none" strike="noStrike">
              <a:solidFill>
                <a:srgbClr val="000000"/>
              </a:solidFill>
              <a:latin typeface="Arial"/>
            </a:endParaRPr>
          </a:p>
        </p:txBody>
      </p:sp>
      <p:sp>
        <p:nvSpPr>
          <p:cNvPr id="9002" name="Text 11"/>
          <p:cNvSpPr/>
          <p:nvPr/>
        </p:nvSpPr>
        <p:spPr bwMode="auto">
          <a:xfrm>
            <a:off x="5016500" y="7772400"/>
            <a:ext cx="3810000" cy="3048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en-US" sz="1700" b="0" u="none" strike="noStrike" spc="-40">
                <a:solidFill>
                  <a:srgbClr val="1F2A24"/>
                </a:solidFill>
                <a:latin typeface="Georgia"/>
                <a:ea typeface="Georgia"/>
              </a:rPr>
              <a:t>Takuo Dome</a:t>
            </a:r>
            <a:endParaRPr lang="en-US" sz="3900" b="0" u="none" strike="noStrike">
              <a:solidFill>
                <a:srgbClr val="000000"/>
              </a:solidFill>
              <a:latin typeface="Arial"/>
            </a:endParaRPr>
          </a:p>
        </p:txBody>
      </p:sp>
      <p:sp>
        <p:nvSpPr>
          <p:cNvPr id="9003" name="Text 12"/>
          <p:cNvSpPr/>
          <p:nvPr/>
        </p:nvSpPr>
        <p:spPr bwMode="auto">
          <a:xfrm>
            <a:off x="5016500" y="8064500"/>
            <a:ext cx="3810000" cy="228600"/>
          </a:xfrm>
          <a:prstGeom prst="rect">
            <a:avLst/>
          </a:prstGeom>
          <a:noFill/>
          <a:ln w="0">
            <a:noFill/>
          </a:ln>
        </p:spPr>
        <p:style>
          <a:lnRef idx="0"/>
          <a:fillRef idx="0"/>
          <a:effectRef idx="0"/>
          <a:fontRef idx="minor"/>
        </p:style>
        <p:txBody>
          <a:bodyPr horzOverflow="overflow" lIns="25560" tIns="25560" rIns="25560" bIns="25560" numCol="1" spcCol="0" anchor="t">
            <a:normAutofit lnSpcReduction="9999"/>
          </a:bodyPr>
          <a:p>
            <a:pPr defTabSz="914400">
              <a:lnSpc>
                <a:spcPct val="145000"/>
              </a:lnSpc>
              <a:tabLst>
                <a:tab pos="0" algn="l"/>
              </a:tabLst>
              <a:defRPr/>
            </a:pPr>
            <a:r>
              <a:rPr lang="en-US" sz="1200" b="0" u="none" strike="noStrike">
                <a:solidFill>
                  <a:srgbClr val="4C554F"/>
                </a:solidFill>
                <a:latin typeface="Arial"/>
                <a:ea typeface="Arial"/>
              </a:rPr>
              <a:t>Professor, Osaka Univ. · Rep. Director, Inochi Forum</a:t>
            </a:r>
            <a:endParaRPr lang="en-US" sz="1800" b="0" u="none" strike="noStrike">
              <a:solidFill>
                <a:srgbClr val="000000"/>
              </a:solidFill>
              <a:latin typeface="Arial"/>
            </a:endParaRPr>
          </a:p>
        </p:txBody>
      </p:sp>
      <p:sp>
        <p:nvSpPr>
          <p:cNvPr id="9004" name="Text 11"/>
          <p:cNvSpPr/>
          <p:nvPr/>
        </p:nvSpPr>
        <p:spPr bwMode="auto">
          <a:xfrm>
            <a:off x="1066800" y="8407400"/>
            <a:ext cx="3810000" cy="3048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en-US" sz="1700" b="0" u="none" strike="noStrike" spc="-40">
                <a:solidFill>
                  <a:srgbClr val="1F2A24"/>
                </a:solidFill>
                <a:latin typeface="Georgia"/>
                <a:ea typeface="Georgia"/>
              </a:rPr>
              <a:t>Henry Takata</a:t>
            </a:r>
            <a:endParaRPr lang="en-US" sz="3900" b="0" u="none" strike="noStrike">
              <a:solidFill>
                <a:srgbClr val="000000"/>
              </a:solidFill>
              <a:latin typeface="Arial"/>
            </a:endParaRPr>
          </a:p>
        </p:txBody>
      </p:sp>
      <p:sp>
        <p:nvSpPr>
          <p:cNvPr id="9005" name="Text 12"/>
          <p:cNvSpPr/>
          <p:nvPr/>
        </p:nvSpPr>
        <p:spPr bwMode="auto">
          <a:xfrm>
            <a:off x="1066800" y="8699500"/>
            <a:ext cx="3810000" cy="228600"/>
          </a:xfrm>
          <a:prstGeom prst="rect">
            <a:avLst/>
          </a:prstGeom>
          <a:noFill/>
          <a:ln w="0">
            <a:noFill/>
          </a:ln>
        </p:spPr>
        <p:style>
          <a:lnRef idx="0"/>
          <a:fillRef idx="0"/>
          <a:effectRef idx="0"/>
          <a:fontRef idx="minor"/>
        </p:style>
        <p:txBody>
          <a:bodyPr horzOverflow="overflow" lIns="25560" tIns="25560" rIns="25560" bIns="25560" numCol="1" spcCol="0" anchor="t">
            <a:normAutofit lnSpcReduction="9999"/>
          </a:bodyPr>
          <a:p>
            <a:pPr defTabSz="914400">
              <a:lnSpc>
                <a:spcPct val="145000"/>
              </a:lnSpc>
              <a:tabLst>
                <a:tab pos="0" algn="l"/>
              </a:tabLst>
              <a:defRPr/>
            </a:pPr>
            <a:r>
              <a:rPr lang="en-US" sz="1200" b="0" u="none" strike="noStrike">
                <a:solidFill>
                  <a:srgbClr val="4C554F"/>
                </a:solidFill>
                <a:latin typeface="Arial"/>
                <a:ea typeface="Arial"/>
              </a:rPr>
              <a:t>Rep. Director, SynTech Japan · biomass CHP</a:t>
            </a:r>
            <a:endParaRPr lang="en-US" sz="1800" b="0" u="none" strike="noStrike">
              <a:solidFill>
                <a:srgbClr val="000000"/>
              </a:solidFill>
              <a:latin typeface="Arial"/>
            </a:endParaRPr>
          </a:p>
        </p:txBody>
      </p:sp>
      <p:sp>
        <p:nvSpPr>
          <p:cNvPr id="9006" name="Text 11"/>
          <p:cNvSpPr/>
          <p:nvPr/>
        </p:nvSpPr>
        <p:spPr bwMode="auto">
          <a:xfrm>
            <a:off x="5016500" y="8407400"/>
            <a:ext cx="3810000" cy="3048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en-US" sz="1700" b="0" u="none" strike="noStrike" spc="-40">
                <a:solidFill>
                  <a:srgbClr val="1F2A24"/>
                </a:solidFill>
                <a:latin typeface="Georgia"/>
                <a:ea typeface="Georgia"/>
              </a:rPr>
              <a:t>Evin Zoet &amp; Yoshiko Zoet-Suzuki</a:t>
            </a:r>
            <a:endParaRPr lang="en-US" sz="3900" b="0" u="none" strike="noStrike">
              <a:solidFill>
                <a:srgbClr val="000000"/>
              </a:solidFill>
              <a:latin typeface="Arial"/>
            </a:endParaRPr>
          </a:p>
        </p:txBody>
      </p:sp>
      <p:sp>
        <p:nvSpPr>
          <p:cNvPr id="9007" name="Text 12"/>
          <p:cNvSpPr/>
          <p:nvPr/>
        </p:nvSpPr>
        <p:spPr bwMode="auto">
          <a:xfrm>
            <a:off x="5016500" y="8699500"/>
            <a:ext cx="3810000" cy="228600"/>
          </a:xfrm>
          <a:prstGeom prst="rect">
            <a:avLst/>
          </a:prstGeom>
          <a:noFill/>
          <a:ln w="0">
            <a:noFill/>
          </a:ln>
        </p:spPr>
        <p:style>
          <a:lnRef idx="0"/>
          <a:fillRef idx="0"/>
          <a:effectRef idx="0"/>
          <a:fontRef idx="minor"/>
        </p:style>
        <p:txBody>
          <a:bodyPr horzOverflow="overflow" lIns="25560" tIns="25560" rIns="25560" bIns="25560" numCol="1" spcCol="0" anchor="t">
            <a:normAutofit lnSpcReduction="9999"/>
          </a:bodyPr>
          <a:p>
            <a:pPr defTabSz="914400">
              <a:lnSpc>
                <a:spcPct val="145000"/>
              </a:lnSpc>
              <a:tabLst>
                <a:tab pos="0" algn="l"/>
              </a:tabLst>
              <a:defRPr/>
            </a:pPr>
            <a:r>
              <a:rPr lang="en-US" sz="1200" b="0" u="none" strike="noStrike">
                <a:solidFill>
                  <a:srgbClr val="4C554F"/>
                </a:solidFill>
                <a:latin typeface="Arial"/>
                <a:ea typeface="Arial"/>
              </a:rPr>
              <a:t>Co-Representative Directors, Transom</a:t>
            </a:r>
            <a:endParaRPr lang="en-US" sz="1800" b="0" u="none" strike="noStrike">
              <a:solidFill>
                <a:srgbClr val="000000"/>
              </a:solidFill>
              <a:latin typeface="Arial"/>
            </a:endParaRPr>
          </a:p>
        </p:txBody>
      </p:sp>
      <p:sp>
        <p:nvSpPr>
          <p:cNvPr id="9008" name="Text 11"/>
          <p:cNvSpPr/>
          <p:nvPr/>
        </p:nvSpPr>
        <p:spPr bwMode="auto">
          <a:xfrm>
            <a:off x="1066800" y="9042400"/>
            <a:ext cx="3810000" cy="3048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en-US" sz="1700" b="0" u="none" strike="noStrike" spc="-40">
                <a:solidFill>
                  <a:srgbClr val="1F2A24"/>
                </a:solidFill>
                <a:latin typeface="Georgia"/>
                <a:ea typeface="Georgia"/>
              </a:rPr>
              <a:t>James Hill</a:t>
            </a:r>
            <a:endParaRPr lang="en-US" sz="3900" b="0" u="none" strike="noStrike">
              <a:solidFill>
                <a:srgbClr val="000000"/>
              </a:solidFill>
              <a:latin typeface="Arial"/>
            </a:endParaRPr>
          </a:p>
        </p:txBody>
      </p:sp>
      <p:sp>
        <p:nvSpPr>
          <p:cNvPr id="9009" name="Text 12"/>
          <p:cNvSpPr/>
          <p:nvPr/>
        </p:nvSpPr>
        <p:spPr bwMode="auto">
          <a:xfrm>
            <a:off x="1066800" y="9334500"/>
            <a:ext cx="3810000" cy="228600"/>
          </a:xfrm>
          <a:prstGeom prst="rect">
            <a:avLst/>
          </a:prstGeom>
          <a:noFill/>
          <a:ln w="0">
            <a:noFill/>
          </a:ln>
        </p:spPr>
        <p:style>
          <a:lnRef idx="0"/>
          <a:fillRef idx="0"/>
          <a:effectRef idx="0"/>
          <a:fontRef idx="minor"/>
        </p:style>
        <p:txBody>
          <a:bodyPr horzOverflow="overflow" lIns="25560" tIns="25560" rIns="25560" bIns="25560" numCol="1" spcCol="0" anchor="t">
            <a:normAutofit lnSpcReduction="9999"/>
          </a:bodyPr>
          <a:p>
            <a:pPr defTabSz="914400">
              <a:lnSpc>
                <a:spcPct val="145000"/>
              </a:lnSpc>
              <a:tabLst>
                <a:tab pos="0" algn="l"/>
              </a:tabLst>
              <a:defRPr/>
            </a:pPr>
            <a:r>
              <a:rPr lang="en-US" sz="1200" b="0" u="none" strike="noStrike">
                <a:solidFill>
                  <a:srgbClr val="4C554F"/>
                </a:solidFill>
                <a:latin typeface="Arial"/>
                <a:ea typeface="Arial"/>
              </a:rPr>
              <a:t>Osaka Metropolitan Univ. · palaeoecology</a:t>
            </a:r>
            <a:endParaRPr lang="en-US" sz="1800" b="0" u="none" strike="noStrike">
              <a:solidFill>
                <a:srgbClr val="000000"/>
              </a:solidFill>
              <a:latin typeface="Arial"/>
            </a:endParaRPr>
          </a:p>
        </p:txBody>
      </p:sp>
      <p:sp>
        <p:nvSpPr>
          <p:cNvPr id="9010" name="Text 11"/>
          <p:cNvSpPr/>
          <p:nvPr/>
        </p:nvSpPr>
        <p:spPr bwMode="auto">
          <a:xfrm>
            <a:off x="5016500" y="9042400"/>
            <a:ext cx="3810000" cy="3048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en-US" sz="1700" b="0" u="none" strike="noStrike" spc="-40">
                <a:solidFill>
                  <a:srgbClr val="1F2A24"/>
                </a:solidFill>
                <a:latin typeface="Georgia"/>
                <a:ea typeface="Georgia"/>
              </a:rPr>
              <a:t>Legal advisors (3)</a:t>
            </a:r>
            <a:endParaRPr lang="en-US" sz="3900" b="0" u="none" strike="noStrike">
              <a:solidFill>
                <a:srgbClr val="000000"/>
              </a:solidFill>
              <a:latin typeface="Arial"/>
            </a:endParaRPr>
          </a:p>
        </p:txBody>
      </p:sp>
      <p:sp>
        <p:nvSpPr>
          <p:cNvPr id="9011" name="Text 12"/>
          <p:cNvSpPr/>
          <p:nvPr/>
        </p:nvSpPr>
        <p:spPr bwMode="auto">
          <a:xfrm>
            <a:off x="5016500" y="9334500"/>
            <a:ext cx="3810000" cy="228600"/>
          </a:xfrm>
          <a:prstGeom prst="rect">
            <a:avLst/>
          </a:prstGeom>
          <a:noFill/>
          <a:ln w="0">
            <a:noFill/>
          </a:ln>
        </p:spPr>
        <p:style>
          <a:lnRef idx="0"/>
          <a:fillRef idx="0"/>
          <a:effectRef idx="0"/>
          <a:fontRef idx="minor"/>
        </p:style>
        <p:txBody>
          <a:bodyPr horzOverflow="overflow" lIns="25560" tIns="25560" rIns="25560" bIns="25560" numCol="1" spcCol="0" anchor="t">
            <a:normAutofit lnSpcReduction="9999"/>
          </a:bodyPr>
          <a:p>
            <a:pPr defTabSz="914400">
              <a:lnSpc>
                <a:spcPct val="145000"/>
              </a:lnSpc>
              <a:tabLst>
                <a:tab pos="0" algn="l"/>
              </a:tabLst>
              <a:defRPr/>
            </a:pPr>
            <a:r>
              <a:rPr lang="en-US" sz="1200" b="0" u="none" strike="noStrike">
                <a:solidFill>
                  <a:srgbClr val="4C554F"/>
                </a:solidFill>
                <a:latin typeface="Arial"/>
                <a:ea typeface="Arial"/>
              </a:rPr>
              <a:t>Pro bono · entity structure &amp; nonprofit law</a:t>
            </a:r>
            <a:endParaRPr lang="en-US" sz="180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3ECE0"/>
        </a:solidFill>
      </p:bgPr>
    </p:bg>
    <p:spTree>
      <p:nvGrpSpPr>
        <p:cNvPr id="1" name=""/>
        <p:cNvGrpSpPr/>
        <p:nvPr/>
      </p:nvGrpSpPr>
      <p:grpSpPr bwMode="auto">
        <a:xfrm>
          <a:off x="0" y="0"/>
          <a:ext cx="0" cy="0"/>
          <a:chOff x="0" y="0"/>
          <a:chExt cx="0" cy="0"/>
        </a:xfrm>
      </p:grpSpPr>
      <p:sp>
        <p:nvSpPr>
          <p:cNvPr id="534545394" name="Shape 0"/>
          <p:cNvSpPr/>
          <p:nvPr/>
        </p:nvSpPr>
        <p:spPr bwMode="auto">
          <a:xfrm>
            <a:off x="1047600" y="762120"/>
            <a:ext cx="456480" cy="456480"/>
          </a:xfrm>
          <a:prstGeom prst="ellipse">
            <a:avLst/>
          </a:prstGeom>
          <a:solidFill>
            <a:srgbClr val="2F4A37"/>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1967819907" name="Text 1"/>
          <p:cNvSpPr/>
          <p:nvPr/>
        </p:nvSpPr>
        <p:spPr bwMode="auto">
          <a:xfrm>
            <a:off x="1047600" y="762120"/>
            <a:ext cx="532800" cy="494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1" u="none" strike="noStrike" spc="145">
                <a:solidFill>
                  <a:srgbClr val="F3ECE0"/>
                </a:solidFill>
                <a:latin typeface="Noto Serif JP"/>
                <a:ea typeface="Noto Serif JP"/>
              </a:rPr>
              <a:t>御</a:t>
            </a:r>
            <a:endParaRPr lang="en-US" sz="1950" b="0" u="none" strike="noStrike">
              <a:solidFill>
                <a:srgbClr val="000000"/>
              </a:solidFill>
              <a:latin typeface="Arial"/>
            </a:endParaRPr>
          </a:p>
        </p:txBody>
      </p:sp>
      <p:sp>
        <p:nvSpPr>
          <p:cNvPr id="1759947848" name="Text 2"/>
          <p:cNvSpPr/>
          <p:nvPr/>
        </p:nvSpPr>
        <p:spPr bwMode="auto">
          <a:xfrm>
            <a:off x="1638360" y="857160"/>
            <a:ext cx="22420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MITSUE PROJECT</a:t>
            </a:r>
            <a:endParaRPr lang="en-US" sz="1800" b="0" u="none" strike="noStrike">
              <a:solidFill>
                <a:srgbClr val="000000"/>
              </a:solidFill>
              <a:latin typeface="Arial"/>
            </a:endParaRPr>
          </a:p>
        </p:txBody>
      </p:sp>
      <p:sp>
        <p:nvSpPr>
          <p:cNvPr id="519873370" name="Text 3"/>
          <p:cNvSpPr/>
          <p:nvPr/>
        </p:nvSpPr>
        <p:spPr bwMode="auto">
          <a:xfrm>
            <a:off x="13985640" y="762120"/>
            <a:ext cx="33516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 09 · PHASES &amp; GATES</a:t>
            </a:r>
            <a:endParaRPr lang="en-US" sz="1800" b="0" u="none" strike="noStrike">
              <a:solidFill>
                <a:srgbClr val="000000"/>
              </a:solidFill>
              <a:latin typeface="Arial"/>
            </a:endParaRPr>
          </a:p>
        </p:txBody>
      </p:sp>
      <p:sp>
        <p:nvSpPr>
          <p:cNvPr id="1943844609" name="Text 4"/>
          <p:cNvSpPr/>
          <p:nvPr/>
        </p:nvSpPr>
        <p:spPr bwMode="auto">
          <a:xfrm>
            <a:off x="1047600" y="1428840"/>
            <a:ext cx="11560320" cy="154044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98000"/>
              </a:lnSpc>
              <a:tabLst>
                <a:tab pos="0" algn="l"/>
              </a:tabLst>
              <a:defRPr/>
            </a:pPr>
            <a:r>
              <a:rPr lang="en-US" sz="6000" b="0" u="none" strike="noStrike" spc="-60">
                <a:solidFill>
                  <a:srgbClr val="1F2A24"/>
                </a:solidFill>
                <a:latin typeface="Georgia"/>
                <a:ea typeface="Georgia"/>
              </a:rPr>
              <a:t>Five phases. Four </a:t>
            </a:r>
            <a:r>
              <a:rPr lang="en-US" sz="6000" b="0" i="1" u="none" strike="noStrike" spc="-60">
                <a:solidFill>
                  <a:srgbClr val="C4663A"/>
                </a:solidFill>
                <a:latin typeface="Georgia"/>
                <a:ea typeface="Georgia"/>
              </a:rPr>
              <a:t>real </a:t>
            </a:r>
            <a:r>
              <a:rPr lang="en-US" sz="6000" b="0" u="none" strike="noStrike" spc="-60">
                <a:solidFill>
                  <a:srgbClr val="1F2A24"/>
                </a:solidFill>
                <a:latin typeface="Georgia"/>
                <a:ea typeface="Georgia"/>
              </a:rPr>
              <a:t>funding gates.</a:t>
            </a:r>
            <a:endParaRPr lang="en-US" sz="6000" b="0" u="none" strike="noStrike">
              <a:solidFill>
                <a:srgbClr val="000000"/>
              </a:solidFill>
              <a:latin typeface="Arial"/>
            </a:endParaRPr>
          </a:p>
        </p:txBody>
      </p:sp>
      <p:sp>
        <p:nvSpPr>
          <p:cNvPr id="1244000049" name="Text 5"/>
          <p:cNvSpPr/>
          <p:nvPr/>
        </p:nvSpPr>
        <p:spPr bwMode="auto">
          <a:xfrm>
            <a:off x="1047600" y="3255480"/>
            <a:ext cx="10477079" cy="10317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1F2A24"/>
                </a:solidFill>
                <a:latin typeface="Arial"/>
                <a:ea typeface="Arial"/>
              </a:rPr>
              <a:t>Each gate is a checkpoint. Miss one and we hold and re-pitch — we don't accelerate into an under-resourced phase. The funding stack has five layers, deliberately, so no single source can stall the project early.</a:t>
            </a:r>
            <a:endParaRPr lang="en-US" sz="1800" b="0" u="none" strike="noStrike">
              <a:solidFill>
                <a:srgbClr val="000000"/>
              </a:solidFill>
              <a:latin typeface="Arial"/>
            </a:endParaRPr>
          </a:p>
        </p:txBody>
      </p:sp>
      <p:sp>
        <p:nvSpPr>
          <p:cNvPr id="234308425" name="Shape 6"/>
          <p:cNvSpPr/>
          <p:nvPr/>
        </p:nvSpPr>
        <p:spPr bwMode="auto">
          <a:xfrm>
            <a:off x="1047600" y="4726440"/>
            <a:ext cx="3131280" cy="1315800"/>
          </a:xfrm>
          <a:prstGeom prst="rect">
            <a:avLst/>
          </a:prstGeom>
          <a:solidFill>
            <a:srgbClr val="C4663A"/>
          </a:solidFill>
          <a:ln w="9525">
            <a:solidFill>
              <a:srgbClr val="1F2A24"/>
            </a:solidFill>
            <a:round/>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63158570" name="Text 7"/>
          <p:cNvSpPr/>
          <p:nvPr/>
        </p:nvSpPr>
        <p:spPr bwMode="auto">
          <a:xfrm>
            <a:off x="1209600" y="4888080"/>
            <a:ext cx="2891519"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80000"/>
                  </a:srgbClr>
                </a:solidFill>
                <a:latin typeface="Courier New"/>
                <a:ea typeface="Courier New"/>
              </a:rPr>
              <a:t>PHASE 0 · NOW</a:t>
            </a:r>
            <a:endParaRPr lang="en-US" sz="1800" b="0" u="none" strike="noStrike">
              <a:solidFill>
                <a:srgbClr val="000000"/>
              </a:solidFill>
              <a:latin typeface="Arial"/>
            </a:endParaRPr>
          </a:p>
        </p:txBody>
      </p:sp>
      <p:sp>
        <p:nvSpPr>
          <p:cNvPr id="1311139927" name="Text 8"/>
          <p:cNvSpPr/>
          <p:nvPr/>
        </p:nvSpPr>
        <p:spPr bwMode="auto">
          <a:xfrm>
            <a:off x="1209600" y="5212080"/>
            <a:ext cx="2891519" cy="3175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98000"/>
              </a:lnSpc>
              <a:tabLst>
                <a:tab pos="0" algn="l"/>
              </a:tabLst>
              <a:defRPr/>
            </a:pPr>
            <a:r>
              <a:rPr lang="en-US" sz="2250" b="0" u="none" strike="noStrike" spc="-23">
                <a:solidFill>
                  <a:srgbClr val="F3ECE0"/>
                </a:solidFill>
                <a:latin typeface="Georgia"/>
                <a:ea typeface="Georgia"/>
              </a:rPr>
              <a:t>Pre-Foundation</a:t>
            </a:r>
            <a:endParaRPr lang="en-US" sz="2250" b="0" u="none" strike="noStrike">
              <a:solidFill>
                <a:srgbClr val="000000"/>
              </a:solidFill>
              <a:latin typeface="Arial"/>
            </a:endParaRPr>
          </a:p>
        </p:txBody>
      </p:sp>
      <p:sp>
        <p:nvSpPr>
          <p:cNvPr id="1348518450" name="Text 9"/>
          <p:cNvSpPr/>
          <p:nvPr/>
        </p:nvSpPr>
        <p:spPr bwMode="auto">
          <a:xfrm>
            <a:off x="1209600" y="5549400"/>
            <a:ext cx="2891519" cy="3690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F3ECE0">
                    <a:alpha val="90000"/>
                  </a:srgbClr>
                </a:solidFill>
                <a:latin typeface="Arial"/>
                <a:ea typeface="Arial"/>
              </a:rPr>
              <a:t>M 1–3 · ¥0.25M</a:t>
            </a:r>
            <a:endParaRPr lang="en-US" sz="1800" b="0" u="none" strike="noStrike">
              <a:solidFill>
                <a:srgbClr val="000000"/>
              </a:solidFill>
              <a:latin typeface="Arial"/>
            </a:endParaRPr>
          </a:p>
        </p:txBody>
      </p:sp>
      <p:sp>
        <p:nvSpPr>
          <p:cNvPr id="186026385" name="Shape 10"/>
          <p:cNvSpPr/>
          <p:nvPr/>
        </p:nvSpPr>
        <p:spPr bwMode="auto">
          <a:xfrm>
            <a:off x="4312800" y="4726440"/>
            <a:ext cx="3131280" cy="131580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228881617" name="Text 11"/>
          <p:cNvSpPr/>
          <p:nvPr/>
        </p:nvSpPr>
        <p:spPr bwMode="auto">
          <a:xfrm>
            <a:off x="4474800" y="4888080"/>
            <a:ext cx="2891519"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PHASE 1</a:t>
            </a:r>
            <a:endParaRPr lang="en-US" sz="1800" b="0" u="none" strike="noStrike">
              <a:solidFill>
                <a:srgbClr val="000000"/>
              </a:solidFill>
              <a:latin typeface="Arial"/>
            </a:endParaRPr>
          </a:p>
        </p:txBody>
      </p:sp>
      <p:sp>
        <p:nvSpPr>
          <p:cNvPr id="189111382" name="Text 12"/>
          <p:cNvSpPr/>
          <p:nvPr/>
        </p:nvSpPr>
        <p:spPr bwMode="auto">
          <a:xfrm>
            <a:off x="4474800" y="5212080"/>
            <a:ext cx="2891519" cy="3175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98000"/>
              </a:lnSpc>
              <a:tabLst>
                <a:tab pos="0" algn="l"/>
              </a:tabLst>
              <a:defRPr/>
            </a:pPr>
            <a:r>
              <a:rPr lang="en-US" sz="2250" b="0" u="none" strike="noStrike" spc="-23">
                <a:solidFill>
                  <a:srgbClr val="1F2A24"/>
                </a:solidFill>
                <a:latin typeface="Georgia"/>
                <a:ea typeface="Georgia"/>
              </a:rPr>
              <a:t>Foundation</a:t>
            </a:r>
            <a:endParaRPr lang="en-US" sz="2250" b="0" u="none" strike="noStrike">
              <a:solidFill>
                <a:srgbClr val="000000"/>
              </a:solidFill>
              <a:latin typeface="Arial"/>
            </a:endParaRPr>
          </a:p>
        </p:txBody>
      </p:sp>
      <p:sp>
        <p:nvSpPr>
          <p:cNvPr id="94711882" name="Text 13"/>
          <p:cNvSpPr/>
          <p:nvPr/>
        </p:nvSpPr>
        <p:spPr bwMode="auto">
          <a:xfrm>
            <a:off x="4474800" y="5549400"/>
            <a:ext cx="2891519" cy="3690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4C554F"/>
                </a:solidFill>
                <a:latin typeface="Arial"/>
                <a:ea typeface="Arial"/>
              </a:rPr>
              <a:t>M 4–9 · ¥5.5M</a:t>
            </a:r>
            <a:endParaRPr lang="en-US" sz="1800" b="0" u="none" strike="noStrike">
              <a:solidFill>
                <a:srgbClr val="000000"/>
              </a:solidFill>
              <a:latin typeface="Arial"/>
            </a:endParaRPr>
          </a:p>
        </p:txBody>
      </p:sp>
      <p:sp>
        <p:nvSpPr>
          <p:cNvPr id="267022583" name="Shape 14"/>
          <p:cNvSpPr/>
          <p:nvPr/>
        </p:nvSpPr>
        <p:spPr bwMode="auto">
          <a:xfrm>
            <a:off x="7578000" y="4726440"/>
            <a:ext cx="3131280" cy="131580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394365118" name="Text 15"/>
          <p:cNvSpPr/>
          <p:nvPr/>
        </p:nvSpPr>
        <p:spPr bwMode="auto">
          <a:xfrm>
            <a:off x="7740000" y="4888080"/>
            <a:ext cx="2891519"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PHASE 2</a:t>
            </a:r>
            <a:endParaRPr lang="en-US" sz="1800" b="0" u="none" strike="noStrike">
              <a:solidFill>
                <a:srgbClr val="000000"/>
              </a:solidFill>
              <a:latin typeface="Arial"/>
            </a:endParaRPr>
          </a:p>
        </p:txBody>
      </p:sp>
      <p:sp>
        <p:nvSpPr>
          <p:cNvPr id="431793207" name="Text 16"/>
          <p:cNvSpPr/>
          <p:nvPr/>
        </p:nvSpPr>
        <p:spPr bwMode="auto">
          <a:xfrm>
            <a:off x="7740000" y="5212080"/>
            <a:ext cx="2891519" cy="3175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98000"/>
              </a:lnSpc>
              <a:tabLst>
                <a:tab pos="0" algn="l"/>
              </a:tabLst>
              <a:defRPr/>
            </a:pPr>
            <a:r>
              <a:rPr lang="en-US" sz="2250" b="0" u="none" strike="noStrike" spc="-23">
                <a:solidFill>
                  <a:srgbClr val="1F2A24"/>
                </a:solidFill>
                <a:latin typeface="Georgia"/>
                <a:ea typeface="Georgia"/>
              </a:rPr>
              <a:t>Pilot Design</a:t>
            </a:r>
            <a:endParaRPr lang="en-US" sz="2250" b="0" u="none" strike="noStrike">
              <a:solidFill>
                <a:srgbClr val="000000"/>
              </a:solidFill>
              <a:latin typeface="Arial"/>
            </a:endParaRPr>
          </a:p>
        </p:txBody>
      </p:sp>
      <p:sp>
        <p:nvSpPr>
          <p:cNvPr id="1761461289" name="Text 17"/>
          <p:cNvSpPr/>
          <p:nvPr/>
        </p:nvSpPr>
        <p:spPr bwMode="auto">
          <a:xfrm>
            <a:off x="7740000" y="5549400"/>
            <a:ext cx="2891519" cy="3690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4C554F"/>
                </a:solidFill>
                <a:latin typeface="Arial"/>
                <a:ea typeface="Arial"/>
              </a:rPr>
              <a:t>M 10–18 · ¥22.25M</a:t>
            </a:r>
            <a:endParaRPr lang="en-US" sz="1800" b="0" u="none" strike="noStrike">
              <a:solidFill>
                <a:srgbClr val="000000"/>
              </a:solidFill>
              <a:latin typeface="Arial"/>
            </a:endParaRPr>
          </a:p>
        </p:txBody>
      </p:sp>
      <p:sp>
        <p:nvSpPr>
          <p:cNvPr id="587032343" name="Shape 18"/>
          <p:cNvSpPr/>
          <p:nvPr/>
        </p:nvSpPr>
        <p:spPr bwMode="auto">
          <a:xfrm>
            <a:off x="10843200" y="4726440"/>
            <a:ext cx="3131280" cy="131580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962763331" name="Text 19"/>
          <p:cNvSpPr/>
          <p:nvPr/>
        </p:nvSpPr>
        <p:spPr bwMode="auto">
          <a:xfrm>
            <a:off x="11005200" y="4888080"/>
            <a:ext cx="2891519"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PHASE 3</a:t>
            </a:r>
            <a:endParaRPr lang="en-US" sz="1800" b="0" u="none" strike="noStrike">
              <a:solidFill>
                <a:srgbClr val="000000"/>
              </a:solidFill>
              <a:latin typeface="Arial"/>
            </a:endParaRPr>
          </a:p>
        </p:txBody>
      </p:sp>
      <p:sp>
        <p:nvSpPr>
          <p:cNvPr id="1240342922" name="Text 20"/>
          <p:cNvSpPr/>
          <p:nvPr/>
        </p:nvSpPr>
        <p:spPr bwMode="auto">
          <a:xfrm>
            <a:off x="11005200" y="5212080"/>
            <a:ext cx="2891519" cy="3175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98000"/>
              </a:lnSpc>
              <a:tabLst>
                <a:tab pos="0" algn="l"/>
              </a:tabLst>
              <a:defRPr/>
            </a:pPr>
            <a:r>
              <a:rPr lang="en-US" sz="2250" b="0" u="none" strike="noStrike" spc="-23">
                <a:solidFill>
                  <a:srgbClr val="1F2A24"/>
                </a:solidFill>
                <a:latin typeface="Georgia"/>
                <a:ea typeface="Georgia"/>
              </a:rPr>
              <a:t>Pilot Build</a:t>
            </a:r>
            <a:endParaRPr lang="en-US" sz="2250" b="0" u="none" strike="noStrike">
              <a:solidFill>
                <a:srgbClr val="000000"/>
              </a:solidFill>
              <a:latin typeface="Arial"/>
            </a:endParaRPr>
          </a:p>
        </p:txBody>
      </p:sp>
      <p:sp>
        <p:nvSpPr>
          <p:cNvPr id="539243268" name="Text 21"/>
          <p:cNvSpPr/>
          <p:nvPr/>
        </p:nvSpPr>
        <p:spPr bwMode="auto">
          <a:xfrm>
            <a:off x="11005200" y="5549400"/>
            <a:ext cx="2891519" cy="3690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4C554F"/>
                </a:solidFill>
                <a:latin typeface="Arial"/>
                <a:ea typeface="Arial"/>
              </a:rPr>
              <a:t>M 19–30 · ¥177M</a:t>
            </a:r>
            <a:endParaRPr lang="en-US" sz="1800" b="0" u="none" strike="noStrike">
              <a:solidFill>
                <a:srgbClr val="000000"/>
              </a:solidFill>
              <a:latin typeface="Arial"/>
            </a:endParaRPr>
          </a:p>
        </p:txBody>
      </p:sp>
      <p:sp>
        <p:nvSpPr>
          <p:cNvPr id="1885418180" name="Shape 22"/>
          <p:cNvSpPr/>
          <p:nvPr/>
        </p:nvSpPr>
        <p:spPr bwMode="auto">
          <a:xfrm>
            <a:off x="14108400" y="4726440"/>
            <a:ext cx="3131280" cy="131580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44341818" name="Text 23"/>
          <p:cNvSpPr/>
          <p:nvPr/>
        </p:nvSpPr>
        <p:spPr bwMode="auto">
          <a:xfrm>
            <a:off x="14270400" y="4888080"/>
            <a:ext cx="2891519"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PHASE 4</a:t>
            </a:r>
            <a:endParaRPr lang="en-US" sz="1800" b="0" u="none" strike="noStrike">
              <a:solidFill>
                <a:srgbClr val="000000"/>
              </a:solidFill>
              <a:latin typeface="Arial"/>
            </a:endParaRPr>
          </a:p>
        </p:txBody>
      </p:sp>
      <p:sp>
        <p:nvSpPr>
          <p:cNvPr id="698829229" name="Text 24"/>
          <p:cNvSpPr/>
          <p:nvPr/>
        </p:nvSpPr>
        <p:spPr bwMode="auto">
          <a:xfrm>
            <a:off x="14270400" y="5212080"/>
            <a:ext cx="2891519" cy="3175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98000"/>
              </a:lnSpc>
              <a:tabLst>
                <a:tab pos="0" algn="l"/>
              </a:tabLst>
              <a:defRPr/>
            </a:pPr>
            <a:r>
              <a:rPr lang="en-US" sz="2250" b="0" u="none" strike="noStrike" spc="-23">
                <a:solidFill>
                  <a:srgbClr val="1F2A24"/>
                </a:solidFill>
                <a:latin typeface="Georgia"/>
                <a:ea typeface="Georgia"/>
              </a:rPr>
              <a:t>Operate &amp; Scale</a:t>
            </a:r>
            <a:endParaRPr lang="en-US" sz="2250" b="0" u="none" strike="noStrike">
              <a:solidFill>
                <a:srgbClr val="000000"/>
              </a:solidFill>
              <a:latin typeface="Arial"/>
            </a:endParaRPr>
          </a:p>
        </p:txBody>
      </p:sp>
      <p:sp>
        <p:nvSpPr>
          <p:cNvPr id="641425734" name="Text 25"/>
          <p:cNvSpPr/>
          <p:nvPr/>
        </p:nvSpPr>
        <p:spPr bwMode="auto">
          <a:xfrm>
            <a:off x="14270400" y="5549400"/>
            <a:ext cx="2891519" cy="3690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4C554F"/>
                </a:solidFill>
                <a:latin typeface="Arial"/>
                <a:ea typeface="Arial"/>
              </a:rPr>
              <a:t>M 31+ · revenue-led</a:t>
            </a:r>
            <a:endParaRPr lang="en-US" sz="1800" b="0" u="none" strike="noStrike">
              <a:solidFill>
                <a:srgbClr val="000000"/>
              </a:solidFill>
              <a:latin typeface="Arial"/>
            </a:endParaRPr>
          </a:p>
        </p:txBody>
      </p:sp>
      <p:sp>
        <p:nvSpPr>
          <p:cNvPr id="1891691227" name="Text 26"/>
          <p:cNvSpPr/>
          <p:nvPr/>
        </p:nvSpPr>
        <p:spPr bwMode="auto">
          <a:xfrm>
            <a:off x="4266000" y="6118920"/>
            <a:ext cx="3224880" cy="304200"/>
          </a:xfrm>
          <a:prstGeom prst="rect">
            <a:avLst/>
          </a:prstGeom>
          <a:noFill/>
          <a:ln w="0">
            <a:noFill/>
          </a:ln>
        </p:spPr>
        <p:style>
          <a:lnRef idx="0"/>
          <a:fillRef idx="0"/>
          <a:effectRef idx="0"/>
          <a:fontRef idx="minor"/>
        </p:style>
        <p:txBody>
          <a:bodyPr lIns="25560" tIns="25560" rIns="25560" bIns="25560" anchor="t">
            <a:normAutofit lnSpcReduction="9999"/>
          </a:bodyPr>
          <a:p>
            <a:pPr algn="ctr" defTabSz="914400">
              <a:lnSpc>
                <a:spcPct val="100000"/>
              </a:lnSpc>
              <a:tabLst>
                <a:tab pos="0" algn="l"/>
              </a:tabLst>
              <a:defRPr/>
            </a:pPr>
            <a:r>
              <a:rPr lang="en-US" sz="1800" b="0" u="none" strike="noStrike" spc="215">
                <a:solidFill>
                  <a:srgbClr val="4C554F"/>
                </a:solidFill>
                <a:latin typeface="Courier New"/>
                <a:ea typeface="Courier New"/>
              </a:rPr>
              <a:t>G1 · ¥3–8M</a:t>
            </a:r>
            <a:endParaRPr lang="en-US" sz="1800" b="0" u="none" strike="noStrike">
              <a:solidFill>
                <a:srgbClr val="000000"/>
              </a:solidFill>
              <a:latin typeface="Arial"/>
            </a:endParaRPr>
          </a:p>
        </p:txBody>
      </p:sp>
      <p:sp>
        <p:nvSpPr>
          <p:cNvPr id="926823656" name="Text 27"/>
          <p:cNvSpPr/>
          <p:nvPr/>
        </p:nvSpPr>
        <p:spPr bwMode="auto">
          <a:xfrm>
            <a:off x="7531200" y="6118920"/>
            <a:ext cx="3224880" cy="304200"/>
          </a:xfrm>
          <a:prstGeom prst="rect">
            <a:avLst/>
          </a:prstGeom>
          <a:noFill/>
          <a:ln w="0">
            <a:noFill/>
          </a:ln>
        </p:spPr>
        <p:style>
          <a:lnRef idx="0"/>
          <a:fillRef idx="0"/>
          <a:effectRef idx="0"/>
          <a:fontRef idx="minor"/>
        </p:style>
        <p:txBody>
          <a:bodyPr lIns="25560" tIns="25560" rIns="25560" bIns="25560" anchor="t">
            <a:normAutofit lnSpcReduction="9999"/>
          </a:bodyPr>
          <a:p>
            <a:pPr algn="ctr" defTabSz="914400">
              <a:lnSpc>
                <a:spcPct val="100000"/>
              </a:lnSpc>
              <a:tabLst>
                <a:tab pos="0" algn="l"/>
              </a:tabLst>
              <a:defRPr/>
            </a:pPr>
            <a:r>
              <a:rPr lang="en-US" sz="1800" b="0" u="none" strike="noStrike" spc="215">
                <a:solidFill>
                  <a:srgbClr val="4C554F"/>
                </a:solidFill>
                <a:latin typeface="Courier New"/>
                <a:ea typeface="Courier New"/>
              </a:rPr>
              <a:t>G2 · ¥30–50M</a:t>
            </a:r>
            <a:endParaRPr lang="en-US" sz="1800" b="0" u="none" strike="noStrike">
              <a:solidFill>
                <a:srgbClr val="000000"/>
              </a:solidFill>
              <a:latin typeface="Arial"/>
            </a:endParaRPr>
          </a:p>
        </p:txBody>
      </p:sp>
      <p:sp>
        <p:nvSpPr>
          <p:cNvPr id="551006363" name="Text 28"/>
          <p:cNvSpPr/>
          <p:nvPr/>
        </p:nvSpPr>
        <p:spPr bwMode="auto">
          <a:xfrm>
            <a:off x="10796400" y="6118920"/>
            <a:ext cx="3224880" cy="304200"/>
          </a:xfrm>
          <a:prstGeom prst="rect">
            <a:avLst/>
          </a:prstGeom>
          <a:noFill/>
          <a:ln w="0">
            <a:noFill/>
          </a:ln>
        </p:spPr>
        <p:style>
          <a:lnRef idx="0"/>
          <a:fillRef idx="0"/>
          <a:effectRef idx="0"/>
          <a:fontRef idx="minor"/>
        </p:style>
        <p:txBody>
          <a:bodyPr lIns="25560" tIns="25560" rIns="25560" bIns="25560" anchor="t">
            <a:normAutofit lnSpcReduction="9999"/>
          </a:bodyPr>
          <a:p>
            <a:pPr algn="ctr" defTabSz="914400">
              <a:lnSpc>
                <a:spcPct val="100000"/>
              </a:lnSpc>
              <a:tabLst>
                <a:tab pos="0" algn="l"/>
              </a:tabLst>
              <a:defRPr/>
            </a:pPr>
            <a:r>
              <a:rPr lang="en-US" sz="1800" b="0" u="none" strike="noStrike" spc="215">
                <a:solidFill>
                  <a:srgbClr val="4C554F"/>
                </a:solidFill>
                <a:latin typeface="Courier New"/>
                <a:ea typeface="Courier New"/>
              </a:rPr>
              <a:t>G3 · ¥120–290M</a:t>
            </a:r>
            <a:endParaRPr lang="en-US" sz="1800" b="0" u="none" strike="noStrike">
              <a:solidFill>
                <a:srgbClr val="000000"/>
              </a:solidFill>
              <a:latin typeface="Arial"/>
            </a:endParaRPr>
          </a:p>
        </p:txBody>
      </p:sp>
      <p:sp>
        <p:nvSpPr>
          <p:cNvPr id="1234209117" name="Text 29"/>
          <p:cNvSpPr/>
          <p:nvPr/>
        </p:nvSpPr>
        <p:spPr bwMode="auto">
          <a:xfrm>
            <a:off x="14061600" y="6118920"/>
            <a:ext cx="3224880" cy="304200"/>
          </a:xfrm>
          <a:prstGeom prst="rect">
            <a:avLst/>
          </a:prstGeom>
          <a:noFill/>
          <a:ln w="0">
            <a:noFill/>
          </a:ln>
        </p:spPr>
        <p:style>
          <a:lnRef idx="0"/>
          <a:fillRef idx="0"/>
          <a:effectRef idx="0"/>
          <a:fontRef idx="minor"/>
        </p:style>
        <p:txBody>
          <a:bodyPr lIns="25560" tIns="25560" rIns="25560" bIns="25560" anchor="t">
            <a:normAutofit lnSpcReduction="9999"/>
          </a:bodyPr>
          <a:p>
            <a:pPr algn="ctr" defTabSz="914400">
              <a:lnSpc>
                <a:spcPct val="100000"/>
              </a:lnSpc>
              <a:tabLst>
                <a:tab pos="0" algn="l"/>
              </a:tabLst>
              <a:defRPr/>
            </a:pPr>
            <a:r>
              <a:rPr lang="en-US" sz="1800" b="0" u="none" strike="noStrike" spc="215">
                <a:solidFill>
                  <a:srgbClr val="4C554F"/>
                </a:solidFill>
                <a:latin typeface="Courier New"/>
                <a:ea typeface="Courier New"/>
              </a:rPr>
              <a:t>G4 · REVENUE ONLINE</a:t>
            </a:r>
            <a:endParaRPr lang="en-US" sz="1800" b="0" u="none" strike="noStrike">
              <a:solidFill>
                <a:srgbClr val="000000"/>
              </a:solidFill>
              <a:latin typeface="Arial"/>
            </a:endParaRPr>
          </a:p>
        </p:txBody>
      </p:sp>
      <p:sp>
        <p:nvSpPr>
          <p:cNvPr id="1710811886" name="Text 30"/>
          <p:cNvSpPr/>
          <p:nvPr/>
        </p:nvSpPr>
        <p:spPr bwMode="auto">
          <a:xfrm>
            <a:off x="1047600" y="6557039"/>
            <a:ext cx="94536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FIVE-LAYER FUNDING STACK · TARGET ≈ ¥192M · ¥0 SECURED</a:t>
            </a:r>
            <a:endParaRPr lang="en-US" sz="1800" b="0" u="none" strike="noStrike">
              <a:solidFill>
                <a:srgbClr val="000000"/>
              </a:solidFill>
              <a:latin typeface="Arial"/>
            </a:endParaRPr>
          </a:p>
        </p:txBody>
      </p:sp>
      <p:sp>
        <p:nvSpPr>
          <p:cNvPr id="1430663937" name="Shape 31"/>
          <p:cNvSpPr/>
          <p:nvPr/>
        </p:nvSpPr>
        <p:spPr bwMode="auto">
          <a:xfrm>
            <a:off x="1047600" y="7266600"/>
            <a:ext cx="9178200" cy="8640"/>
          </a:xfrm>
          <a:prstGeom prst="rect">
            <a:avLst/>
          </a:prstGeom>
          <a:solidFill>
            <a:srgbClr val="1F2A24"/>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FFFFFF"/>
              </a:solidFill>
              <a:latin typeface="Arial"/>
            </a:endParaRPr>
          </a:p>
        </p:txBody>
      </p:sp>
      <p:sp>
        <p:nvSpPr>
          <p:cNvPr id="2060341462" name="Text 32"/>
          <p:cNvSpPr/>
          <p:nvPr/>
        </p:nvSpPr>
        <p:spPr bwMode="auto">
          <a:xfrm>
            <a:off x="1123920" y="6937920"/>
            <a:ext cx="1404360" cy="33732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defRPr/>
            </a:pPr>
            <a:r>
              <a:rPr lang="en-US" sz="1800" b="0" u="none" strike="noStrike">
                <a:solidFill>
                  <a:srgbClr val="1F2A24"/>
                </a:solidFill>
                <a:latin typeface="Arial"/>
                <a:ea typeface="Arial"/>
              </a:rPr>
              <a:t>Layer</a:t>
            </a:r>
            <a:endParaRPr lang="en-US" sz="1800" b="0" u="none" strike="noStrike">
              <a:solidFill>
                <a:srgbClr val="000000"/>
              </a:solidFill>
              <a:latin typeface="Arial"/>
            </a:endParaRPr>
          </a:p>
        </p:txBody>
      </p:sp>
      <p:sp>
        <p:nvSpPr>
          <p:cNvPr id="372328742" name="Text 33"/>
          <p:cNvSpPr/>
          <p:nvPr/>
        </p:nvSpPr>
        <p:spPr bwMode="auto">
          <a:xfrm>
            <a:off x="2605320" y="6937920"/>
            <a:ext cx="5093640" cy="33732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defRPr/>
            </a:pPr>
            <a:r>
              <a:rPr lang="en-US" sz="1800" b="0" u="none" strike="noStrike">
                <a:solidFill>
                  <a:srgbClr val="1F2A24"/>
                </a:solidFill>
                <a:latin typeface="Arial"/>
                <a:ea typeface="Arial"/>
              </a:rPr>
              <a:t>Source</a:t>
            </a:r>
            <a:endParaRPr lang="en-US" sz="1800" b="0" u="none" strike="noStrike">
              <a:solidFill>
                <a:srgbClr val="000000"/>
              </a:solidFill>
              <a:latin typeface="Arial"/>
            </a:endParaRPr>
          </a:p>
        </p:txBody>
      </p:sp>
      <p:sp>
        <p:nvSpPr>
          <p:cNvPr id="1891665371" name="Text 34"/>
          <p:cNvSpPr/>
          <p:nvPr/>
        </p:nvSpPr>
        <p:spPr bwMode="auto">
          <a:xfrm>
            <a:off x="7623000" y="6937920"/>
            <a:ext cx="1084320" cy="33732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defRPr/>
            </a:pPr>
            <a:r>
              <a:rPr lang="en-US" sz="1800" b="0" u="none" strike="noStrike">
                <a:solidFill>
                  <a:srgbClr val="1F2A24"/>
                </a:solidFill>
                <a:latin typeface="Arial"/>
                <a:ea typeface="Arial"/>
              </a:rPr>
              <a:t>Target</a:t>
            </a:r>
            <a:endParaRPr lang="en-US" sz="1800" b="0" u="none" strike="noStrike">
              <a:solidFill>
                <a:srgbClr val="000000"/>
              </a:solidFill>
              <a:latin typeface="Arial"/>
            </a:endParaRPr>
          </a:p>
        </p:txBody>
      </p:sp>
      <p:sp>
        <p:nvSpPr>
          <p:cNvPr id="1587457541" name="Text 35"/>
          <p:cNvSpPr/>
          <p:nvPr/>
        </p:nvSpPr>
        <p:spPr bwMode="auto">
          <a:xfrm>
            <a:off x="8784360" y="6937920"/>
            <a:ext cx="1365480" cy="33732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defRPr/>
            </a:pPr>
            <a:r>
              <a:rPr lang="en-US" sz="1800" b="0" u="none" strike="noStrike">
                <a:solidFill>
                  <a:srgbClr val="1F2A24"/>
                </a:solidFill>
                <a:latin typeface="Arial"/>
                <a:ea typeface="Arial"/>
              </a:rPr>
              <a:t>Secured</a:t>
            </a:r>
            <a:endParaRPr lang="en-US" sz="1800" b="0" u="none" strike="noStrike">
              <a:solidFill>
                <a:srgbClr val="000000"/>
              </a:solidFill>
              <a:latin typeface="Arial"/>
            </a:endParaRPr>
          </a:p>
        </p:txBody>
      </p:sp>
      <p:sp>
        <p:nvSpPr>
          <p:cNvPr id="1948649871" name="Shape 36"/>
          <p:cNvSpPr/>
          <p:nvPr/>
        </p:nvSpPr>
        <p:spPr bwMode="auto">
          <a:xfrm>
            <a:off x="1047600" y="7599960"/>
            <a:ext cx="9178200" cy="8640"/>
          </a:xfrm>
          <a:prstGeom prst="rect">
            <a:avLst/>
          </a:prstGeom>
          <a:solidFill>
            <a:srgbClr val="1F2A24">
              <a:alpha val="20000"/>
            </a:srgbClr>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FFFFFF"/>
              </a:solidFill>
              <a:latin typeface="Arial"/>
            </a:endParaRPr>
          </a:p>
        </p:txBody>
      </p:sp>
      <p:sp>
        <p:nvSpPr>
          <p:cNvPr id="1727102866" name="Text 37"/>
          <p:cNvSpPr/>
          <p:nvPr/>
        </p:nvSpPr>
        <p:spPr bwMode="auto">
          <a:xfrm>
            <a:off x="1123920" y="7304760"/>
            <a:ext cx="1404360" cy="313560"/>
          </a:xfrm>
          <a:prstGeom prst="rect">
            <a:avLst/>
          </a:prstGeom>
          <a:noFill/>
          <a:ln w="0">
            <a:noFill/>
          </a:ln>
        </p:spPr>
        <p:style>
          <a:lnRef idx="0"/>
          <a:fillRef idx="0"/>
          <a:effectRef idx="0"/>
          <a:fontRef idx="minor"/>
        </p:style>
        <p:txBody>
          <a:bodyPr lIns="25560" tIns="25560" rIns="25560" bIns="25560" anchor="ctr">
            <a:normAutofit lnSpcReduction="9999"/>
          </a:bodyPr>
          <a:p>
            <a:pPr defTabSz="914400">
              <a:lnSpc>
                <a:spcPct val="100000"/>
              </a:lnSpc>
              <a:tabLst>
                <a:tab pos="0" algn="l"/>
              </a:tabLst>
              <a:defRPr/>
            </a:pPr>
            <a:r>
              <a:rPr lang="en-US" sz="1800" b="0" u="none" strike="noStrike">
                <a:solidFill>
                  <a:srgbClr val="1F2A24"/>
                </a:solidFill>
                <a:latin typeface="Courier New"/>
                <a:ea typeface="Courier New"/>
              </a:rPr>
              <a:t>L1</a:t>
            </a:r>
            <a:endParaRPr lang="en-US" sz="1800" b="0" u="none" strike="noStrike">
              <a:solidFill>
                <a:srgbClr val="000000"/>
              </a:solidFill>
              <a:latin typeface="Arial"/>
            </a:endParaRPr>
          </a:p>
        </p:txBody>
      </p:sp>
      <p:sp>
        <p:nvSpPr>
          <p:cNvPr id="1040174745" name="Text 38"/>
          <p:cNvSpPr/>
          <p:nvPr/>
        </p:nvSpPr>
        <p:spPr bwMode="auto">
          <a:xfrm>
            <a:off x="2538720" y="7285680"/>
            <a:ext cx="5226840" cy="35172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defRPr/>
            </a:pPr>
            <a:r>
              <a:rPr lang="en-US" sz="1800" b="0" u="none" strike="noStrike">
                <a:solidFill>
                  <a:srgbClr val="1F2A24"/>
                </a:solidFill>
                <a:latin typeface="Courier New"/>
                <a:ea typeface="Courier New"/>
              </a:rPr>
              <a:t>Founder / private</a:t>
            </a:r>
            <a:endParaRPr lang="en-US" sz="1800" b="0" u="none" strike="noStrike">
              <a:solidFill>
                <a:srgbClr val="000000"/>
              </a:solidFill>
              <a:latin typeface="Arial"/>
            </a:endParaRPr>
          </a:p>
        </p:txBody>
      </p:sp>
      <p:sp>
        <p:nvSpPr>
          <p:cNvPr id="1232410835" name="Text 39"/>
          <p:cNvSpPr/>
          <p:nvPr/>
        </p:nvSpPr>
        <p:spPr bwMode="auto">
          <a:xfrm>
            <a:off x="7556400" y="7285680"/>
            <a:ext cx="1217880" cy="35172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defRPr/>
            </a:pPr>
            <a:r>
              <a:rPr lang="en-US" sz="1800" b="0" u="none" strike="noStrike">
                <a:solidFill>
                  <a:srgbClr val="1F2A24"/>
                </a:solidFill>
                <a:latin typeface="Courier New"/>
                <a:ea typeface="Courier New"/>
              </a:rPr>
              <a:t>¥6M</a:t>
            </a:r>
            <a:endParaRPr lang="en-US" sz="1800" b="0" u="none" strike="noStrike">
              <a:solidFill>
                <a:srgbClr val="000000"/>
              </a:solidFill>
              <a:latin typeface="Arial"/>
            </a:endParaRPr>
          </a:p>
        </p:txBody>
      </p:sp>
      <p:sp>
        <p:nvSpPr>
          <p:cNvPr id="1545409016" name="Text 40"/>
          <p:cNvSpPr/>
          <p:nvPr/>
        </p:nvSpPr>
        <p:spPr bwMode="auto">
          <a:xfrm>
            <a:off x="8717760" y="7285680"/>
            <a:ext cx="1498680" cy="35172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defRPr/>
            </a:pPr>
            <a:r>
              <a:rPr lang="en-US" sz="1800" b="0" u="none" strike="noStrike">
                <a:solidFill>
                  <a:srgbClr val="1F2A24"/>
                </a:solidFill>
                <a:latin typeface="Courier New"/>
                <a:ea typeface="Courier New"/>
              </a:rPr>
              <a:t>¥0</a:t>
            </a:r>
            <a:endParaRPr lang="en-US" sz="1800" b="0" u="none" strike="noStrike">
              <a:solidFill>
                <a:srgbClr val="000000"/>
              </a:solidFill>
              <a:latin typeface="Arial"/>
            </a:endParaRPr>
          </a:p>
        </p:txBody>
      </p:sp>
      <p:sp>
        <p:nvSpPr>
          <p:cNvPr id="984057492" name="Shape 41"/>
          <p:cNvSpPr/>
          <p:nvPr/>
        </p:nvSpPr>
        <p:spPr bwMode="auto">
          <a:xfrm>
            <a:off x="1047600" y="7933320"/>
            <a:ext cx="9178200" cy="8640"/>
          </a:xfrm>
          <a:prstGeom prst="rect">
            <a:avLst/>
          </a:prstGeom>
          <a:solidFill>
            <a:srgbClr val="1F2A24">
              <a:alpha val="20000"/>
            </a:srgbClr>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FFFFFF"/>
              </a:solidFill>
              <a:latin typeface="Arial"/>
            </a:endParaRPr>
          </a:p>
        </p:txBody>
      </p:sp>
      <p:sp>
        <p:nvSpPr>
          <p:cNvPr id="1925492080" name="Text 42"/>
          <p:cNvSpPr/>
          <p:nvPr/>
        </p:nvSpPr>
        <p:spPr bwMode="auto">
          <a:xfrm>
            <a:off x="1123920" y="7638120"/>
            <a:ext cx="1404360" cy="313560"/>
          </a:xfrm>
          <a:prstGeom prst="rect">
            <a:avLst/>
          </a:prstGeom>
          <a:noFill/>
          <a:ln w="0">
            <a:noFill/>
          </a:ln>
        </p:spPr>
        <p:style>
          <a:lnRef idx="0"/>
          <a:fillRef idx="0"/>
          <a:effectRef idx="0"/>
          <a:fontRef idx="minor"/>
        </p:style>
        <p:txBody>
          <a:bodyPr lIns="25560" tIns="25560" rIns="25560" bIns="25560" anchor="ctr">
            <a:normAutofit lnSpcReduction="9999"/>
          </a:bodyPr>
          <a:p>
            <a:pPr defTabSz="914400">
              <a:lnSpc>
                <a:spcPct val="100000"/>
              </a:lnSpc>
              <a:tabLst>
                <a:tab pos="0" algn="l"/>
              </a:tabLst>
              <a:defRPr/>
            </a:pPr>
            <a:r>
              <a:rPr lang="en-US" sz="1800" b="0" u="none" strike="noStrike">
                <a:solidFill>
                  <a:srgbClr val="1F2A24"/>
                </a:solidFill>
                <a:latin typeface="Courier New"/>
                <a:ea typeface="Courier New"/>
              </a:rPr>
              <a:t>L2</a:t>
            </a:r>
            <a:endParaRPr lang="en-US" sz="1800" b="0" u="none" strike="noStrike">
              <a:solidFill>
                <a:srgbClr val="000000"/>
              </a:solidFill>
              <a:latin typeface="Arial"/>
            </a:endParaRPr>
          </a:p>
        </p:txBody>
      </p:sp>
      <p:sp>
        <p:nvSpPr>
          <p:cNvPr id="20013827" name="Text 43"/>
          <p:cNvSpPr/>
          <p:nvPr/>
        </p:nvSpPr>
        <p:spPr bwMode="auto">
          <a:xfrm>
            <a:off x="2538720" y="7619039"/>
            <a:ext cx="5226840" cy="35172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defRPr/>
            </a:pPr>
            <a:r>
              <a:rPr lang="en-US" sz="1800" b="0" u="none" strike="noStrike">
                <a:solidFill>
                  <a:srgbClr val="1F2A24"/>
                </a:solidFill>
                <a:latin typeface="Courier New"/>
                <a:ea typeface="Courier New"/>
              </a:rPr>
              <a:t>Government grants</a:t>
            </a:r>
            <a:endParaRPr lang="en-US" sz="1800" b="0" u="none" strike="noStrike">
              <a:solidFill>
                <a:srgbClr val="000000"/>
              </a:solidFill>
              <a:latin typeface="Arial"/>
            </a:endParaRPr>
          </a:p>
        </p:txBody>
      </p:sp>
      <p:sp>
        <p:nvSpPr>
          <p:cNvPr id="1784707516" name="Text 44"/>
          <p:cNvSpPr/>
          <p:nvPr/>
        </p:nvSpPr>
        <p:spPr bwMode="auto">
          <a:xfrm>
            <a:off x="7556400" y="7619039"/>
            <a:ext cx="1217880" cy="35172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defRPr/>
            </a:pPr>
            <a:r>
              <a:rPr lang="en-US" sz="1800" b="0" u="none" strike="noStrike">
                <a:solidFill>
                  <a:srgbClr val="1F2A24"/>
                </a:solidFill>
                <a:latin typeface="Courier New"/>
                <a:ea typeface="Courier New"/>
              </a:rPr>
              <a:t>¥115M</a:t>
            </a:r>
            <a:endParaRPr lang="en-US" sz="1800" b="0" u="none" strike="noStrike">
              <a:solidFill>
                <a:srgbClr val="000000"/>
              </a:solidFill>
              <a:latin typeface="Arial"/>
            </a:endParaRPr>
          </a:p>
        </p:txBody>
      </p:sp>
      <p:sp>
        <p:nvSpPr>
          <p:cNvPr id="1997293875" name="Text 45"/>
          <p:cNvSpPr/>
          <p:nvPr/>
        </p:nvSpPr>
        <p:spPr bwMode="auto">
          <a:xfrm>
            <a:off x="8717760" y="7619039"/>
            <a:ext cx="1498680" cy="35172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defRPr/>
            </a:pPr>
            <a:r>
              <a:rPr lang="en-US" sz="1800" b="0" u="none" strike="noStrike">
                <a:solidFill>
                  <a:srgbClr val="1F2A24"/>
                </a:solidFill>
                <a:latin typeface="Courier New"/>
                <a:ea typeface="Courier New"/>
              </a:rPr>
              <a:t>¥0</a:t>
            </a:r>
            <a:endParaRPr lang="en-US" sz="1800" b="0" u="none" strike="noStrike">
              <a:solidFill>
                <a:srgbClr val="000000"/>
              </a:solidFill>
              <a:latin typeface="Arial"/>
            </a:endParaRPr>
          </a:p>
        </p:txBody>
      </p:sp>
      <p:sp>
        <p:nvSpPr>
          <p:cNvPr id="1432365293" name="Shape 46"/>
          <p:cNvSpPr/>
          <p:nvPr/>
        </p:nvSpPr>
        <p:spPr bwMode="auto">
          <a:xfrm>
            <a:off x="1047600" y="8266680"/>
            <a:ext cx="9178200" cy="8640"/>
          </a:xfrm>
          <a:prstGeom prst="rect">
            <a:avLst/>
          </a:prstGeom>
          <a:solidFill>
            <a:srgbClr val="1F2A24">
              <a:alpha val="20000"/>
            </a:srgbClr>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FFFFFF"/>
              </a:solidFill>
              <a:latin typeface="Arial"/>
            </a:endParaRPr>
          </a:p>
        </p:txBody>
      </p:sp>
      <p:sp>
        <p:nvSpPr>
          <p:cNvPr id="156123510" name="Text 47"/>
          <p:cNvSpPr/>
          <p:nvPr/>
        </p:nvSpPr>
        <p:spPr bwMode="auto">
          <a:xfrm>
            <a:off x="1123920" y="7971480"/>
            <a:ext cx="1404360" cy="313560"/>
          </a:xfrm>
          <a:prstGeom prst="rect">
            <a:avLst/>
          </a:prstGeom>
          <a:noFill/>
          <a:ln w="0">
            <a:noFill/>
          </a:ln>
        </p:spPr>
        <p:style>
          <a:lnRef idx="0"/>
          <a:fillRef idx="0"/>
          <a:effectRef idx="0"/>
          <a:fontRef idx="minor"/>
        </p:style>
        <p:txBody>
          <a:bodyPr lIns="25560" tIns="25560" rIns="25560" bIns="25560" anchor="ctr">
            <a:normAutofit lnSpcReduction="9999"/>
          </a:bodyPr>
          <a:p>
            <a:pPr defTabSz="914400">
              <a:lnSpc>
                <a:spcPct val="100000"/>
              </a:lnSpc>
              <a:tabLst>
                <a:tab pos="0" algn="l"/>
              </a:tabLst>
              <a:defRPr/>
            </a:pPr>
            <a:r>
              <a:rPr lang="en-US" sz="1800" b="0" u="none" strike="noStrike">
                <a:solidFill>
                  <a:srgbClr val="1F2A24"/>
                </a:solidFill>
                <a:latin typeface="Courier New"/>
                <a:ea typeface="Courier New"/>
              </a:rPr>
              <a:t>L3</a:t>
            </a:r>
            <a:endParaRPr lang="en-US" sz="1800" b="0" u="none" strike="noStrike">
              <a:solidFill>
                <a:srgbClr val="000000"/>
              </a:solidFill>
              <a:latin typeface="Arial"/>
            </a:endParaRPr>
          </a:p>
        </p:txBody>
      </p:sp>
      <p:sp>
        <p:nvSpPr>
          <p:cNvPr id="2034682146" name="Text 48"/>
          <p:cNvSpPr/>
          <p:nvPr/>
        </p:nvSpPr>
        <p:spPr bwMode="auto">
          <a:xfrm>
            <a:off x="2538720" y="7952400"/>
            <a:ext cx="5226840" cy="35172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defRPr/>
            </a:pPr>
            <a:r>
              <a:rPr lang="en-US" sz="1800" b="0" u="none" strike="noStrike">
                <a:solidFill>
                  <a:srgbClr val="1F2A24"/>
                </a:solidFill>
                <a:latin typeface="Courier New"/>
                <a:ea typeface="Courier New"/>
              </a:rPr>
              <a:t>Foundations</a:t>
            </a:r>
            <a:endParaRPr lang="en-US" sz="1800" b="0" u="none" strike="noStrike">
              <a:solidFill>
                <a:srgbClr val="000000"/>
              </a:solidFill>
              <a:latin typeface="Arial"/>
            </a:endParaRPr>
          </a:p>
        </p:txBody>
      </p:sp>
      <p:sp>
        <p:nvSpPr>
          <p:cNvPr id="1397723324" name="Text 49"/>
          <p:cNvSpPr/>
          <p:nvPr/>
        </p:nvSpPr>
        <p:spPr bwMode="auto">
          <a:xfrm>
            <a:off x="7556400" y="7952400"/>
            <a:ext cx="1217880" cy="35172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defRPr/>
            </a:pPr>
            <a:r>
              <a:rPr lang="en-US" sz="1800" b="0" u="none" strike="noStrike">
                <a:solidFill>
                  <a:srgbClr val="1F2A24"/>
                </a:solidFill>
                <a:latin typeface="Courier New"/>
                <a:ea typeface="Courier New"/>
              </a:rPr>
              <a:t>¥33M</a:t>
            </a:r>
            <a:endParaRPr lang="en-US" sz="1800" b="0" u="none" strike="noStrike">
              <a:solidFill>
                <a:srgbClr val="000000"/>
              </a:solidFill>
              <a:latin typeface="Arial"/>
            </a:endParaRPr>
          </a:p>
        </p:txBody>
      </p:sp>
      <p:sp>
        <p:nvSpPr>
          <p:cNvPr id="1449331221" name="Text 50"/>
          <p:cNvSpPr/>
          <p:nvPr/>
        </p:nvSpPr>
        <p:spPr bwMode="auto">
          <a:xfrm>
            <a:off x="8717760" y="7952400"/>
            <a:ext cx="1498680" cy="35172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defRPr/>
            </a:pPr>
            <a:r>
              <a:rPr lang="en-US" sz="1800" b="0" u="none" strike="noStrike">
                <a:solidFill>
                  <a:srgbClr val="1F2A24"/>
                </a:solidFill>
                <a:latin typeface="Courier New"/>
                <a:ea typeface="Courier New"/>
              </a:rPr>
              <a:t>¥0</a:t>
            </a:r>
            <a:endParaRPr lang="en-US" sz="1800" b="0" u="none" strike="noStrike">
              <a:solidFill>
                <a:srgbClr val="000000"/>
              </a:solidFill>
              <a:latin typeface="Arial"/>
            </a:endParaRPr>
          </a:p>
        </p:txBody>
      </p:sp>
      <p:sp>
        <p:nvSpPr>
          <p:cNvPr id="1655413008" name="Shape 51"/>
          <p:cNvSpPr/>
          <p:nvPr/>
        </p:nvSpPr>
        <p:spPr bwMode="auto">
          <a:xfrm>
            <a:off x="1047600" y="8600040"/>
            <a:ext cx="9178200" cy="8640"/>
          </a:xfrm>
          <a:prstGeom prst="rect">
            <a:avLst/>
          </a:prstGeom>
          <a:solidFill>
            <a:srgbClr val="1F2A24">
              <a:alpha val="20000"/>
            </a:srgbClr>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FFFFFF"/>
              </a:solidFill>
              <a:latin typeface="Arial"/>
            </a:endParaRPr>
          </a:p>
        </p:txBody>
      </p:sp>
      <p:sp>
        <p:nvSpPr>
          <p:cNvPr id="2101218140" name="Text 52"/>
          <p:cNvSpPr/>
          <p:nvPr/>
        </p:nvSpPr>
        <p:spPr bwMode="auto">
          <a:xfrm>
            <a:off x="1123920" y="8304840"/>
            <a:ext cx="1404360" cy="313560"/>
          </a:xfrm>
          <a:prstGeom prst="rect">
            <a:avLst/>
          </a:prstGeom>
          <a:noFill/>
          <a:ln w="0">
            <a:noFill/>
          </a:ln>
        </p:spPr>
        <p:style>
          <a:lnRef idx="0"/>
          <a:fillRef idx="0"/>
          <a:effectRef idx="0"/>
          <a:fontRef idx="minor"/>
        </p:style>
        <p:txBody>
          <a:bodyPr lIns="25560" tIns="25560" rIns="25560" bIns="25560" anchor="ctr">
            <a:normAutofit lnSpcReduction="9999"/>
          </a:bodyPr>
          <a:p>
            <a:pPr defTabSz="914400">
              <a:lnSpc>
                <a:spcPct val="100000"/>
              </a:lnSpc>
              <a:tabLst>
                <a:tab pos="0" algn="l"/>
              </a:tabLst>
              <a:defRPr/>
            </a:pPr>
            <a:r>
              <a:rPr lang="en-US" sz="1800" b="0" u="none" strike="noStrike">
                <a:solidFill>
                  <a:srgbClr val="1F2A24"/>
                </a:solidFill>
                <a:latin typeface="Courier New"/>
                <a:ea typeface="Courier New"/>
              </a:rPr>
              <a:t>L4</a:t>
            </a:r>
            <a:endParaRPr lang="en-US" sz="1800" b="0" u="none" strike="noStrike">
              <a:solidFill>
                <a:srgbClr val="000000"/>
              </a:solidFill>
              <a:latin typeface="Arial"/>
            </a:endParaRPr>
          </a:p>
        </p:txBody>
      </p:sp>
      <p:sp>
        <p:nvSpPr>
          <p:cNvPr id="1798803393" name="Text 53"/>
          <p:cNvSpPr/>
          <p:nvPr/>
        </p:nvSpPr>
        <p:spPr bwMode="auto">
          <a:xfrm>
            <a:off x="2538720" y="8285760"/>
            <a:ext cx="5226840" cy="35172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defRPr/>
            </a:pPr>
            <a:r>
              <a:rPr lang="en-US" sz="1800" b="0" u="none" strike="noStrike">
                <a:solidFill>
                  <a:srgbClr val="1F2A24"/>
                </a:solidFill>
                <a:latin typeface="Courier New"/>
                <a:ea typeface="Courier New"/>
              </a:rPr>
              <a:t>Corporate partners</a:t>
            </a:r>
            <a:endParaRPr lang="en-US" sz="1800" b="0" u="none" strike="noStrike">
              <a:solidFill>
                <a:srgbClr val="000000"/>
              </a:solidFill>
              <a:latin typeface="Arial"/>
            </a:endParaRPr>
          </a:p>
        </p:txBody>
      </p:sp>
      <p:sp>
        <p:nvSpPr>
          <p:cNvPr id="533044694" name="Text 54"/>
          <p:cNvSpPr/>
          <p:nvPr/>
        </p:nvSpPr>
        <p:spPr bwMode="auto">
          <a:xfrm>
            <a:off x="7556400" y="8285760"/>
            <a:ext cx="1217880" cy="35172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defRPr/>
            </a:pPr>
            <a:r>
              <a:rPr lang="en-US" sz="1800" b="0" u="none" strike="noStrike">
                <a:solidFill>
                  <a:srgbClr val="1F2A24"/>
                </a:solidFill>
                <a:latin typeface="Courier New"/>
                <a:ea typeface="Courier New"/>
              </a:rPr>
              <a:t>¥35M</a:t>
            </a:r>
            <a:endParaRPr lang="en-US" sz="1800" b="0" u="none" strike="noStrike">
              <a:solidFill>
                <a:srgbClr val="000000"/>
              </a:solidFill>
              <a:latin typeface="Arial"/>
            </a:endParaRPr>
          </a:p>
        </p:txBody>
      </p:sp>
      <p:sp>
        <p:nvSpPr>
          <p:cNvPr id="1909590312" name="Text 55"/>
          <p:cNvSpPr/>
          <p:nvPr/>
        </p:nvSpPr>
        <p:spPr bwMode="auto">
          <a:xfrm>
            <a:off x="8717760" y="8285760"/>
            <a:ext cx="1498680" cy="35172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defRPr/>
            </a:pPr>
            <a:r>
              <a:rPr lang="en-US" sz="1800" b="0" u="none" strike="noStrike">
                <a:solidFill>
                  <a:srgbClr val="1F2A24"/>
                </a:solidFill>
                <a:latin typeface="Courier New"/>
                <a:ea typeface="Courier New"/>
              </a:rPr>
              <a:t>¥0</a:t>
            </a:r>
            <a:endParaRPr lang="en-US" sz="1800" b="0" u="none" strike="noStrike">
              <a:solidFill>
                <a:srgbClr val="000000"/>
              </a:solidFill>
              <a:latin typeface="Arial"/>
            </a:endParaRPr>
          </a:p>
        </p:txBody>
      </p:sp>
      <p:sp>
        <p:nvSpPr>
          <p:cNvPr id="858890718" name="Shape 56"/>
          <p:cNvSpPr/>
          <p:nvPr/>
        </p:nvSpPr>
        <p:spPr bwMode="auto">
          <a:xfrm>
            <a:off x="1047600" y="8933400"/>
            <a:ext cx="9178200" cy="8640"/>
          </a:xfrm>
          <a:prstGeom prst="rect">
            <a:avLst/>
          </a:prstGeom>
          <a:solidFill>
            <a:srgbClr val="1F2A24">
              <a:alpha val="20000"/>
            </a:srgbClr>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FFFFFF"/>
              </a:solidFill>
              <a:latin typeface="Arial"/>
            </a:endParaRPr>
          </a:p>
        </p:txBody>
      </p:sp>
      <p:sp>
        <p:nvSpPr>
          <p:cNvPr id="968745194" name="Text 57"/>
          <p:cNvSpPr/>
          <p:nvPr/>
        </p:nvSpPr>
        <p:spPr bwMode="auto">
          <a:xfrm>
            <a:off x="1123920" y="8638200"/>
            <a:ext cx="1404360" cy="313560"/>
          </a:xfrm>
          <a:prstGeom prst="rect">
            <a:avLst/>
          </a:prstGeom>
          <a:noFill/>
          <a:ln w="0">
            <a:noFill/>
          </a:ln>
        </p:spPr>
        <p:style>
          <a:lnRef idx="0"/>
          <a:fillRef idx="0"/>
          <a:effectRef idx="0"/>
          <a:fontRef idx="minor"/>
        </p:style>
        <p:txBody>
          <a:bodyPr lIns="25560" tIns="25560" rIns="25560" bIns="25560" anchor="ctr">
            <a:normAutofit lnSpcReduction="9999"/>
          </a:bodyPr>
          <a:p>
            <a:pPr defTabSz="914400">
              <a:lnSpc>
                <a:spcPct val="100000"/>
              </a:lnSpc>
              <a:tabLst>
                <a:tab pos="0" algn="l"/>
              </a:tabLst>
              <a:defRPr/>
            </a:pPr>
            <a:r>
              <a:rPr lang="en-US" sz="1800" b="0" u="none" strike="noStrike">
                <a:solidFill>
                  <a:srgbClr val="1F2A24"/>
                </a:solidFill>
                <a:latin typeface="Courier New"/>
                <a:ea typeface="Courier New"/>
              </a:rPr>
              <a:t>L5</a:t>
            </a:r>
            <a:endParaRPr lang="en-US" sz="1800" b="0" u="none" strike="noStrike">
              <a:solidFill>
                <a:srgbClr val="000000"/>
              </a:solidFill>
              <a:latin typeface="Arial"/>
            </a:endParaRPr>
          </a:p>
        </p:txBody>
      </p:sp>
      <p:sp>
        <p:nvSpPr>
          <p:cNvPr id="1401603885" name="Text 58"/>
          <p:cNvSpPr/>
          <p:nvPr/>
        </p:nvSpPr>
        <p:spPr bwMode="auto">
          <a:xfrm>
            <a:off x="2538720" y="8619120"/>
            <a:ext cx="5226840" cy="35172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defRPr/>
            </a:pPr>
            <a:r>
              <a:rPr lang="en-US" sz="1800" b="0" u="none" strike="noStrike">
                <a:solidFill>
                  <a:srgbClr val="1F2A24"/>
                </a:solidFill>
                <a:latin typeface="Courier New"/>
                <a:ea typeface="Courier New"/>
              </a:rPr>
              <a:t>Operating revenue</a:t>
            </a:r>
            <a:endParaRPr lang="en-US" sz="1800" b="0" u="none" strike="noStrike">
              <a:solidFill>
                <a:srgbClr val="000000"/>
              </a:solidFill>
              <a:latin typeface="Arial"/>
            </a:endParaRPr>
          </a:p>
        </p:txBody>
      </p:sp>
      <p:sp>
        <p:nvSpPr>
          <p:cNvPr id="450442106" name="Text 59"/>
          <p:cNvSpPr/>
          <p:nvPr/>
        </p:nvSpPr>
        <p:spPr bwMode="auto">
          <a:xfrm>
            <a:off x="7556400" y="8619120"/>
            <a:ext cx="1217880" cy="35172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defRPr/>
            </a:pPr>
            <a:r>
              <a:rPr lang="en-US" sz="1800" b="0" u="none" strike="noStrike">
                <a:solidFill>
                  <a:srgbClr val="1F2A24"/>
                </a:solidFill>
                <a:latin typeface="Courier New"/>
                <a:ea typeface="Courier New"/>
              </a:rPr>
              <a:t>¥3M</a:t>
            </a:r>
            <a:endParaRPr lang="en-US" sz="1800" b="0" u="none" strike="noStrike">
              <a:solidFill>
                <a:srgbClr val="000000"/>
              </a:solidFill>
              <a:latin typeface="Arial"/>
            </a:endParaRPr>
          </a:p>
        </p:txBody>
      </p:sp>
      <p:sp>
        <p:nvSpPr>
          <p:cNvPr id="1972663145" name="Text 60"/>
          <p:cNvSpPr/>
          <p:nvPr/>
        </p:nvSpPr>
        <p:spPr bwMode="auto">
          <a:xfrm>
            <a:off x="8717760" y="8619120"/>
            <a:ext cx="1498680" cy="35172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defRPr/>
            </a:pPr>
            <a:r>
              <a:rPr lang="en-US" sz="1800" b="0" u="none" strike="noStrike">
                <a:solidFill>
                  <a:srgbClr val="1F2A24"/>
                </a:solidFill>
                <a:latin typeface="Courier New"/>
                <a:ea typeface="Courier New"/>
              </a:rPr>
              <a:t>¥0</a:t>
            </a:r>
            <a:endParaRPr lang="en-US" sz="1800" b="0" u="none" strike="noStrike">
              <a:solidFill>
                <a:srgbClr val="000000"/>
              </a:solidFill>
              <a:latin typeface="Arial"/>
            </a:endParaRPr>
          </a:p>
        </p:txBody>
      </p:sp>
      <p:sp>
        <p:nvSpPr>
          <p:cNvPr id="238261514" name="Text 61"/>
          <p:cNvSpPr/>
          <p:nvPr/>
        </p:nvSpPr>
        <p:spPr bwMode="auto">
          <a:xfrm>
            <a:off x="1123920" y="8971560"/>
            <a:ext cx="1404360" cy="33732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defRPr/>
            </a:pPr>
            <a:r>
              <a:rPr lang="en-US" sz="1800" b="1" u="none" strike="noStrike">
                <a:solidFill>
                  <a:srgbClr val="1F2A24"/>
                </a:solidFill>
                <a:latin typeface="Courier New"/>
                <a:ea typeface="Courier New"/>
              </a:rPr>
              <a:t>∑</a:t>
            </a:r>
            <a:endParaRPr lang="en-US" sz="1800" b="0" u="none" strike="noStrike">
              <a:solidFill>
                <a:srgbClr val="000000"/>
              </a:solidFill>
              <a:latin typeface="Arial"/>
            </a:endParaRPr>
          </a:p>
        </p:txBody>
      </p:sp>
      <p:sp>
        <p:nvSpPr>
          <p:cNvPr id="859443451" name="Text 62"/>
          <p:cNvSpPr/>
          <p:nvPr/>
        </p:nvSpPr>
        <p:spPr bwMode="auto">
          <a:xfrm>
            <a:off x="2538720" y="8952480"/>
            <a:ext cx="5226840" cy="37548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defRPr/>
            </a:pPr>
            <a:r>
              <a:rPr lang="en-US" sz="1800" b="1" u="none" strike="noStrike">
                <a:solidFill>
                  <a:srgbClr val="1F2A24"/>
                </a:solidFill>
                <a:latin typeface="Courier New"/>
                <a:ea typeface="Courier New"/>
              </a:rPr>
              <a:t>Illustrative total</a:t>
            </a:r>
            <a:endParaRPr lang="en-US" sz="1800" b="0" u="none" strike="noStrike">
              <a:solidFill>
                <a:srgbClr val="000000"/>
              </a:solidFill>
              <a:latin typeface="Arial"/>
            </a:endParaRPr>
          </a:p>
        </p:txBody>
      </p:sp>
      <p:sp>
        <p:nvSpPr>
          <p:cNvPr id="671191302" name="Text 63"/>
          <p:cNvSpPr/>
          <p:nvPr/>
        </p:nvSpPr>
        <p:spPr bwMode="auto">
          <a:xfrm>
            <a:off x="7556400" y="8952480"/>
            <a:ext cx="1217880" cy="3754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defRPr/>
            </a:pPr>
            <a:r>
              <a:rPr lang="en-US" sz="1800" b="1" u="none" strike="noStrike">
                <a:solidFill>
                  <a:srgbClr val="1F2A24"/>
                </a:solidFill>
                <a:latin typeface="Courier New"/>
                <a:ea typeface="Courier New"/>
              </a:rPr>
              <a:t>¥192M</a:t>
            </a:r>
            <a:endParaRPr lang="en-US" sz="1800" b="0" u="none" strike="noStrike">
              <a:solidFill>
                <a:srgbClr val="000000"/>
              </a:solidFill>
              <a:latin typeface="Arial"/>
            </a:endParaRPr>
          </a:p>
        </p:txBody>
      </p:sp>
      <p:sp>
        <p:nvSpPr>
          <p:cNvPr id="1583923385" name="Text 64"/>
          <p:cNvSpPr/>
          <p:nvPr/>
        </p:nvSpPr>
        <p:spPr bwMode="auto">
          <a:xfrm>
            <a:off x="8717760" y="8952480"/>
            <a:ext cx="1498680" cy="3754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defRPr/>
            </a:pPr>
            <a:r>
              <a:rPr lang="en-US" sz="1800" b="1" u="none" strike="noStrike">
                <a:solidFill>
                  <a:srgbClr val="1F2A24"/>
                </a:solidFill>
                <a:latin typeface="Courier New"/>
                <a:ea typeface="Courier New"/>
              </a:rPr>
              <a:t>¥0</a:t>
            </a:r>
            <a:endParaRPr lang="en-US" sz="1800" b="0" u="none" strike="noStrike">
              <a:solidFill>
                <a:srgbClr val="000000"/>
              </a:solidFill>
              <a:latin typeface="Arial"/>
            </a:endParaRPr>
          </a:p>
        </p:txBody>
      </p:sp>
      <p:sp>
        <p:nvSpPr>
          <p:cNvPr id="498685216" name="Text 65"/>
          <p:cNvSpPr/>
          <p:nvPr/>
        </p:nvSpPr>
        <p:spPr bwMode="auto">
          <a:xfrm>
            <a:off x="10683720" y="6557039"/>
            <a:ext cx="675252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SIX OPERATING PRINCIPLES</a:t>
            </a:r>
            <a:endParaRPr lang="en-US" sz="1800" b="0" u="none" strike="noStrike">
              <a:solidFill>
                <a:srgbClr val="000000"/>
              </a:solidFill>
              <a:latin typeface="Arial"/>
            </a:endParaRPr>
          </a:p>
        </p:txBody>
      </p:sp>
      <p:sp>
        <p:nvSpPr>
          <p:cNvPr id="371705203" name="Text 66"/>
          <p:cNvSpPr/>
          <p:nvPr/>
        </p:nvSpPr>
        <p:spPr bwMode="auto">
          <a:xfrm>
            <a:off x="10683720" y="6899760"/>
            <a:ext cx="3238560" cy="334439"/>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0000"/>
              </a:lnSpc>
              <a:tabLst>
                <a:tab pos="0" algn="l"/>
              </a:tabLst>
              <a:defRPr/>
            </a:pPr>
            <a:r>
              <a:rPr lang="en-US" sz="1800" b="0" u="none" strike="noStrike">
                <a:solidFill>
                  <a:srgbClr val="1F2A24"/>
                </a:solidFill>
                <a:latin typeface="Arial"/>
                <a:ea typeface="Arial"/>
              </a:rPr>
              <a:t>I. Local first</a:t>
            </a:r>
            <a:endParaRPr lang="en-US" sz="1800" b="0" u="none" strike="noStrike">
              <a:solidFill>
                <a:srgbClr val="000000"/>
              </a:solidFill>
              <a:latin typeface="Arial"/>
            </a:endParaRPr>
          </a:p>
        </p:txBody>
      </p:sp>
      <p:sp>
        <p:nvSpPr>
          <p:cNvPr id="1957227204" name="Text 67"/>
          <p:cNvSpPr/>
          <p:nvPr/>
        </p:nvSpPr>
        <p:spPr bwMode="auto">
          <a:xfrm>
            <a:off x="14095440" y="6899760"/>
            <a:ext cx="3238560" cy="334439"/>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0000"/>
              </a:lnSpc>
              <a:tabLst>
                <a:tab pos="0" algn="l"/>
              </a:tabLst>
              <a:defRPr/>
            </a:pPr>
            <a:r>
              <a:rPr lang="en-US" sz="1800" b="0" u="none" strike="noStrike">
                <a:solidFill>
                  <a:srgbClr val="1F2A24"/>
                </a:solidFill>
                <a:latin typeface="Arial"/>
                <a:ea typeface="Arial"/>
              </a:rPr>
              <a:t>II. Open &amp; transparent</a:t>
            </a:r>
            <a:endParaRPr lang="en-US" sz="1800" b="0" u="none" strike="noStrike">
              <a:solidFill>
                <a:srgbClr val="000000"/>
              </a:solidFill>
              <a:latin typeface="Arial"/>
            </a:endParaRPr>
          </a:p>
        </p:txBody>
      </p:sp>
      <p:sp>
        <p:nvSpPr>
          <p:cNvPr id="1265025496" name="Text 68"/>
          <p:cNvSpPr/>
          <p:nvPr/>
        </p:nvSpPr>
        <p:spPr bwMode="auto">
          <a:xfrm>
            <a:off x="10683720" y="7292520"/>
            <a:ext cx="3238560" cy="334439"/>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0000"/>
              </a:lnSpc>
              <a:tabLst>
                <a:tab pos="0" algn="l"/>
              </a:tabLst>
              <a:defRPr/>
            </a:pPr>
            <a:r>
              <a:rPr lang="en-US" sz="1800" b="0" u="none" strike="noStrike">
                <a:solidFill>
                  <a:srgbClr val="1F2A24"/>
                </a:solidFill>
                <a:latin typeface="Arial"/>
                <a:ea typeface="Arial"/>
              </a:rPr>
              <a:t>III. Patient, long-term</a:t>
            </a:r>
            <a:endParaRPr lang="en-US" sz="1800" b="0" u="none" strike="noStrike">
              <a:solidFill>
                <a:srgbClr val="000000"/>
              </a:solidFill>
              <a:latin typeface="Arial"/>
            </a:endParaRPr>
          </a:p>
        </p:txBody>
      </p:sp>
      <p:sp>
        <p:nvSpPr>
          <p:cNvPr id="842472608" name="Text 69"/>
          <p:cNvSpPr/>
          <p:nvPr/>
        </p:nvSpPr>
        <p:spPr bwMode="auto">
          <a:xfrm>
            <a:off x="14095440" y="7292520"/>
            <a:ext cx="3238560" cy="334439"/>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0000"/>
              </a:lnSpc>
              <a:tabLst>
                <a:tab pos="0" algn="l"/>
              </a:tabLst>
              <a:defRPr/>
            </a:pPr>
            <a:r>
              <a:rPr lang="en-US" sz="1800" b="0" u="none" strike="noStrike">
                <a:solidFill>
                  <a:srgbClr val="1F2A24"/>
                </a:solidFill>
                <a:latin typeface="Arial"/>
                <a:ea typeface="Arial"/>
              </a:rPr>
              <a:t>IV. Replicable</a:t>
            </a:r>
            <a:endParaRPr lang="en-US" sz="1800" b="0" u="none" strike="noStrike">
              <a:solidFill>
                <a:srgbClr val="000000"/>
              </a:solidFill>
              <a:latin typeface="Arial"/>
            </a:endParaRPr>
          </a:p>
        </p:txBody>
      </p:sp>
      <p:sp>
        <p:nvSpPr>
          <p:cNvPr id="786110422" name="Text 70"/>
          <p:cNvSpPr/>
          <p:nvPr/>
        </p:nvSpPr>
        <p:spPr bwMode="auto">
          <a:xfrm>
            <a:off x="10683720" y="7684920"/>
            <a:ext cx="3238560" cy="334439"/>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0000"/>
              </a:lnSpc>
              <a:tabLst>
                <a:tab pos="0" algn="l"/>
              </a:tabLst>
              <a:defRPr/>
            </a:pPr>
            <a:r>
              <a:rPr lang="en-US" sz="1800" b="0" u="none" strike="noStrike">
                <a:solidFill>
                  <a:srgbClr val="1F2A24"/>
                </a:solidFill>
                <a:latin typeface="Arial"/>
                <a:ea typeface="Arial"/>
              </a:rPr>
              <a:t>V. Modest in scale</a:t>
            </a:r>
            <a:endParaRPr lang="en-US" sz="1800" b="0" u="none" strike="noStrike">
              <a:solidFill>
                <a:srgbClr val="000000"/>
              </a:solidFill>
              <a:latin typeface="Arial"/>
            </a:endParaRPr>
          </a:p>
        </p:txBody>
      </p:sp>
      <p:sp>
        <p:nvSpPr>
          <p:cNvPr id="18619746" name="Text 71"/>
          <p:cNvSpPr/>
          <p:nvPr/>
        </p:nvSpPr>
        <p:spPr bwMode="auto">
          <a:xfrm>
            <a:off x="14095440" y="7684920"/>
            <a:ext cx="3238560" cy="334439"/>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0000"/>
              </a:lnSpc>
              <a:tabLst>
                <a:tab pos="0" algn="l"/>
              </a:tabLst>
              <a:defRPr/>
            </a:pPr>
            <a:r>
              <a:rPr lang="en-US" sz="1800" b="0" u="none" strike="noStrike">
                <a:solidFill>
                  <a:srgbClr val="1F2A24"/>
                </a:solidFill>
                <a:latin typeface="Arial"/>
                <a:ea typeface="Arial"/>
              </a:rPr>
              <a:t>VI. Non-partisan</a:t>
            </a:r>
            <a:endParaRPr lang="en-US" sz="1800" b="0" u="none" strike="noStrike">
              <a:solidFill>
                <a:srgbClr val="000000"/>
              </a:solidFill>
              <a:latin typeface="Arial"/>
            </a:endParaRPr>
          </a:p>
        </p:txBody>
      </p:sp>
      <p:sp>
        <p:nvSpPr>
          <p:cNvPr id="2048722134" name="Text 72"/>
          <p:cNvSpPr/>
          <p:nvPr/>
        </p:nvSpPr>
        <p:spPr bwMode="auto">
          <a:xfrm>
            <a:off x="1047600" y="9258480"/>
            <a:ext cx="11541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10 / 12</a:t>
            </a:r>
            <a:endParaRPr lang="en-US" sz="1800" b="0" u="none" strike="noStrike">
              <a:solidFill>
                <a:srgbClr val="000000"/>
              </a:solidFill>
              <a:latin typeface="Arial"/>
            </a:endParaRPr>
          </a:p>
        </p:txBody>
      </p:sp>
      <p:sp>
        <p:nvSpPr>
          <p:cNvPr id="261079947" name="Text 73"/>
          <p:cNvSpPr/>
          <p:nvPr/>
        </p:nvSpPr>
        <p:spPr bwMode="auto">
          <a:xfrm>
            <a:off x="11965320" y="9258480"/>
            <a:ext cx="54324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25-YEAR HORIZON &gt; ONE HYPE CYCLE</a:t>
            </a:r>
            <a:endParaRPr lang="en-US" sz="180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2F4A37"/>
        </a:solidFill>
      </p:bgPr>
    </p:bg>
    <p:spTree>
      <p:nvGrpSpPr>
        <p:cNvPr id="1" name=""/>
        <p:cNvGrpSpPr/>
        <p:nvPr/>
      </p:nvGrpSpPr>
      <p:grpSpPr bwMode="auto">
        <a:xfrm>
          <a:off x="0" y="0"/>
          <a:ext cx="0" cy="0"/>
          <a:chOff x="0" y="0"/>
          <a:chExt cx="0" cy="0"/>
        </a:xfrm>
      </p:grpSpPr>
      <p:sp>
        <p:nvSpPr>
          <p:cNvPr id="164180175" name="Shape 0"/>
          <p:cNvSpPr/>
          <p:nvPr/>
        </p:nvSpPr>
        <p:spPr bwMode="auto">
          <a:xfrm>
            <a:off x="1047600" y="762120"/>
            <a:ext cx="456480" cy="456480"/>
          </a:xfrm>
          <a:prstGeom prst="ellipse">
            <a:avLst/>
          </a:prstGeom>
          <a:solidFill>
            <a:srgbClr val="F3ECE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969579690" name="Text 1"/>
          <p:cNvSpPr/>
          <p:nvPr/>
        </p:nvSpPr>
        <p:spPr bwMode="auto">
          <a:xfrm>
            <a:off x="1047600" y="762120"/>
            <a:ext cx="532800" cy="494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1" u="none" strike="noStrike" spc="145">
                <a:solidFill>
                  <a:srgbClr val="2F4A37"/>
                </a:solidFill>
                <a:latin typeface="Noto Serif JP"/>
                <a:ea typeface="Noto Serif JP"/>
              </a:rPr>
              <a:t>御</a:t>
            </a:r>
            <a:endParaRPr lang="en-US" sz="1950" b="0" u="none" strike="noStrike">
              <a:solidFill>
                <a:srgbClr val="FFFFFF"/>
              </a:solidFill>
              <a:latin typeface="Arial"/>
            </a:endParaRPr>
          </a:p>
        </p:txBody>
      </p:sp>
      <p:sp>
        <p:nvSpPr>
          <p:cNvPr id="1723068992" name="Text 2"/>
          <p:cNvSpPr/>
          <p:nvPr/>
        </p:nvSpPr>
        <p:spPr bwMode="auto">
          <a:xfrm>
            <a:off x="1638360" y="857160"/>
            <a:ext cx="22420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MITSUE PROJECT</a:t>
            </a:r>
            <a:endParaRPr lang="en-US" sz="1800" b="0" u="none" strike="noStrike">
              <a:solidFill>
                <a:srgbClr val="FFFFFF"/>
              </a:solidFill>
              <a:latin typeface="Arial"/>
            </a:endParaRPr>
          </a:p>
        </p:txBody>
      </p:sp>
      <p:sp>
        <p:nvSpPr>
          <p:cNvPr id="456259051" name="Text 3"/>
          <p:cNvSpPr/>
          <p:nvPr/>
        </p:nvSpPr>
        <p:spPr bwMode="auto">
          <a:xfrm>
            <a:off x="14918040" y="762120"/>
            <a:ext cx="2397600" cy="304200"/>
          </a:xfrm>
          <a:prstGeom prst="rect">
            <a:avLst/>
          </a:prstGeom>
          <a:noFill/>
          <a:ln w="0">
            <a:noFill/>
          </a:ln>
        </p:spPr>
        <p:style>
          <a:lnRef idx="0"/>
          <a:fillRef idx="0"/>
          <a:effectRef idx="0"/>
          <a:fontRef idx="minor"/>
        </p:style>
        <p:txBody>
          <a:bodyPr lIns="25560" tIns="25560" rIns="25560" bIns="25560" anchor="t">
            <a:normAutofit fontScale="62500" lnSpcReduction="1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 10 · VILLAGE RE PLAN</a:t>
            </a:r>
            <a:endParaRPr lang="en-US" sz="1800" b="0" u="none" strike="noStrike">
              <a:solidFill>
                <a:srgbClr val="FFFFFF"/>
              </a:solidFill>
              <a:latin typeface="Arial"/>
            </a:endParaRPr>
          </a:p>
        </p:txBody>
      </p:sp>
      <p:sp>
        <p:nvSpPr>
          <p:cNvPr id="623726337" name="Text 4"/>
          <p:cNvSpPr/>
          <p:nvPr/>
        </p:nvSpPr>
        <p:spPr bwMode="auto">
          <a:xfrm>
            <a:off x="1047600" y="1219320"/>
            <a:ext cx="1667772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ALIGNMENT WITH THE VILLAGE'S RENEWABLE ENERGY PLAN</a:t>
            </a:r>
            <a:endParaRPr lang="en-US" sz="1800" b="0" u="none" strike="noStrike">
              <a:solidFill>
                <a:srgbClr val="FFFFFF"/>
              </a:solidFill>
              <a:latin typeface="Arial"/>
            </a:endParaRPr>
          </a:p>
        </p:txBody>
      </p:sp>
      <p:sp>
        <p:nvSpPr>
          <p:cNvPr id="1266035588" name="Text 6"/>
          <p:cNvSpPr/>
          <p:nvPr/>
        </p:nvSpPr>
        <p:spPr bwMode="auto">
          <a:xfrm>
            <a:off x="1047599" y="6424792"/>
            <a:ext cx="16677720" cy="542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2700" b="0" u="none" strike="noStrike">
                <a:solidFill>
                  <a:srgbClr val="F3ECE0">
                    <a:alpha val="57000"/>
                  </a:srgbClr>
                </a:solidFill>
                <a:latin typeface="Noto Serif JP"/>
                <a:ea typeface="Noto Serif JP"/>
              </a:rPr>
              <a:t>御杖村再エネ導入最大化計画（</a:t>
            </a:r>
            <a:r>
              <a:rPr lang="en-US" sz="2700" b="0" u="none" strike="noStrike">
                <a:solidFill>
                  <a:srgbClr val="F3ECE0">
                    <a:alpha val="57000"/>
                  </a:srgbClr>
                </a:solidFill>
                <a:latin typeface="Noto Serif JP"/>
                <a:ea typeface="Noto Serif JP"/>
              </a:rPr>
              <a:t>2025</a:t>
            </a:r>
            <a:r>
              <a:rPr lang="zh-CN" sz="2700" b="0" u="none" strike="noStrike">
                <a:solidFill>
                  <a:srgbClr val="F3ECE0">
                    <a:alpha val="57000"/>
                  </a:srgbClr>
                </a:solidFill>
                <a:latin typeface="Noto Serif JP"/>
                <a:ea typeface="Noto Serif JP"/>
              </a:rPr>
              <a:t>年・環境省補助）の官民連携 運営体制として実行します。</a:t>
            </a:r>
            <a:endParaRPr lang="en-US" sz="2700" b="0" u="none" strike="noStrike">
              <a:solidFill>
                <a:srgbClr val="FFFFFF"/>
              </a:solidFill>
              <a:latin typeface="Arial"/>
            </a:endParaRPr>
          </a:p>
        </p:txBody>
      </p:sp>
      <p:sp>
        <p:nvSpPr>
          <p:cNvPr id="1595197998" name="Text 7"/>
          <p:cNvSpPr/>
          <p:nvPr/>
        </p:nvSpPr>
        <p:spPr bwMode="auto">
          <a:xfrm>
            <a:off x="1047600" y="7095960"/>
            <a:ext cx="51663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i</a:t>
            </a:r>
            <a:endParaRPr lang="en-US" sz="1800" b="0" u="none" strike="noStrike">
              <a:solidFill>
                <a:srgbClr val="FFFFFF"/>
              </a:solidFill>
              <a:latin typeface="Arial"/>
            </a:endParaRPr>
          </a:p>
        </p:txBody>
      </p:sp>
      <p:sp>
        <p:nvSpPr>
          <p:cNvPr id="1322080150" name="Text 8"/>
          <p:cNvSpPr/>
          <p:nvPr/>
        </p:nvSpPr>
        <p:spPr bwMode="auto">
          <a:xfrm>
            <a:off x="1047600" y="7439039"/>
            <a:ext cx="5166360" cy="6469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en-US" sz="4800" b="0" u="none" strike="noStrike" spc="-47">
                <a:solidFill>
                  <a:srgbClr val="F3ECE0"/>
                </a:solidFill>
                <a:latin typeface="Georgia"/>
                <a:ea typeface="Georgia"/>
              </a:rPr>
              <a:t>One resilient site</a:t>
            </a:r>
            <a:endParaRPr lang="en-US" sz="4800" b="0" u="none" strike="noStrike">
              <a:solidFill>
                <a:srgbClr val="FFFFFF"/>
              </a:solidFill>
              <a:latin typeface="Arial"/>
            </a:endParaRPr>
          </a:p>
        </p:txBody>
      </p:sp>
      <p:sp>
        <p:nvSpPr>
          <p:cNvPr id="236349124" name="Text 9"/>
          <p:cNvSpPr/>
          <p:nvPr/>
        </p:nvSpPr>
        <p:spPr bwMode="auto">
          <a:xfrm>
            <a:off x="1047600" y="8182080"/>
            <a:ext cx="5166360" cy="7002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F3ECE0">
                    <a:alpha val="85000"/>
                  </a:srgbClr>
                </a:solidFill>
                <a:latin typeface="Arial"/>
                <a:ea typeface="Arial"/>
              </a:rPr>
              <a:t>The plan targets one renewable + storage + EV resilient site (now zero). Our data center could be that site.</a:t>
            </a:r>
            <a:endParaRPr lang="en-US" sz="1800" b="0" u="none" strike="noStrike">
              <a:solidFill>
                <a:srgbClr val="FFFFFF"/>
              </a:solidFill>
              <a:latin typeface="Arial"/>
            </a:endParaRPr>
          </a:p>
        </p:txBody>
      </p:sp>
      <p:sp>
        <p:nvSpPr>
          <p:cNvPr id="238984942" name="Text 10"/>
          <p:cNvSpPr/>
          <p:nvPr/>
        </p:nvSpPr>
        <p:spPr bwMode="auto">
          <a:xfrm>
            <a:off x="6635880" y="7095960"/>
            <a:ext cx="51663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ii</a:t>
            </a:r>
            <a:endParaRPr lang="en-US" sz="1800" b="0" u="none" strike="noStrike">
              <a:solidFill>
                <a:srgbClr val="FFFFFF"/>
              </a:solidFill>
              <a:latin typeface="Arial"/>
            </a:endParaRPr>
          </a:p>
        </p:txBody>
      </p:sp>
      <p:sp>
        <p:nvSpPr>
          <p:cNvPr id="696775572" name="Text 11"/>
          <p:cNvSpPr/>
          <p:nvPr/>
        </p:nvSpPr>
        <p:spPr bwMode="auto">
          <a:xfrm>
            <a:off x="6635880" y="7439039"/>
            <a:ext cx="5166360" cy="6469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en-US" sz="4800" b="0" u="none" strike="noStrike" spc="-47">
                <a:solidFill>
                  <a:srgbClr val="F3ECE0"/>
                </a:solidFill>
                <a:latin typeface="Georgia"/>
                <a:ea typeface="Georgia"/>
              </a:rPr>
              <a:t>EV-charging priority</a:t>
            </a:r>
            <a:endParaRPr lang="en-US" sz="4800" b="0" u="none" strike="noStrike">
              <a:solidFill>
                <a:srgbClr val="FFFFFF"/>
              </a:solidFill>
              <a:latin typeface="Arial"/>
            </a:endParaRPr>
          </a:p>
        </p:txBody>
      </p:sp>
      <p:sp>
        <p:nvSpPr>
          <p:cNvPr id="2142076835" name="Text 12"/>
          <p:cNvSpPr/>
          <p:nvPr/>
        </p:nvSpPr>
        <p:spPr bwMode="auto">
          <a:xfrm>
            <a:off x="6635880" y="8182080"/>
            <a:ext cx="5166360" cy="1031760"/>
          </a:xfrm>
          <a:prstGeom prst="rect">
            <a:avLst/>
          </a:prstGeom>
          <a:noFill/>
          <a:ln w="0">
            <a:noFill/>
          </a:ln>
        </p:spPr>
        <p:style>
          <a:lnRef idx="0"/>
          <a:fillRef idx="0"/>
          <a:effectRef idx="0"/>
          <a:fontRef idx="minor"/>
        </p:style>
        <p:txBody>
          <a:bodyPr lIns="25560" tIns="25560" rIns="25560" bIns="25560" anchor="t">
            <a:normAutofit/>
          </a:bodyPr>
          <a:p>
            <a:pPr defTabSz="914400">
              <a:lnSpc>
                <a:spcPct val="145000"/>
              </a:lnSpc>
              <a:tabLst>
                <a:tab pos="0" algn="l"/>
              </a:tabLst>
              <a:defRPr/>
            </a:pPr>
            <a:r>
              <a:rPr lang="en-US" sz="1800" b="0" u="none" strike="noStrike">
                <a:solidFill>
                  <a:srgbClr val="F3ECE0">
                    <a:alpha val="85000"/>
                  </a:srgbClr>
                </a:solidFill>
                <a:latin typeface="Arial"/>
                <a:ea typeface="Arial"/>
              </a:rPr>
              <a:t>Transport = 46% of village emissions. We deliver the plan's priority EV charging at public facilities.</a:t>
            </a:r>
            <a:endParaRPr lang="en-US" sz="1800" b="0" u="none" strike="noStrike">
              <a:solidFill>
                <a:srgbClr val="FFFFFF"/>
              </a:solidFill>
              <a:latin typeface="Arial"/>
            </a:endParaRPr>
          </a:p>
        </p:txBody>
      </p:sp>
      <p:sp>
        <p:nvSpPr>
          <p:cNvPr id="74968163" name="Text 13"/>
          <p:cNvSpPr/>
          <p:nvPr/>
        </p:nvSpPr>
        <p:spPr bwMode="auto">
          <a:xfrm>
            <a:off x="12223800" y="7095960"/>
            <a:ext cx="51663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iii</a:t>
            </a:r>
            <a:endParaRPr lang="en-US" sz="1800" b="0" u="none" strike="noStrike">
              <a:solidFill>
                <a:srgbClr val="FFFFFF"/>
              </a:solidFill>
              <a:latin typeface="Arial"/>
            </a:endParaRPr>
          </a:p>
        </p:txBody>
      </p:sp>
      <p:sp>
        <p:nvSpPr>
          <p:cNvPr id="195230529" name="Text 14"/>
          <p:cNvSpPr/>
          <p:nvPr/>
        </p:nvSpPr>
        <p:spPr bwMode="auto">
          <a:xfrm>
            <a:off x="12223800" y="7439039"/>
            <a:ext cx="5166360" cy="646920"/>
          </a:xfrm>
          <a:prstGeom prst="rect">
            <a:avLst/>
          </a:prstGeom>
          <a:noFill/>
          <a:ln w="0">
            <a:noFill/>
          </a:ln>
        </p:spPr>
        <p:style>
          <a:lnRef idx="0"/>
          <a:fillRef idx="0"/>
          <a:effectRef idx="0"/>
          <a:fontRef idx="minor"/>
        </p:style>
        <p:txBody>
          <a:bodyPr lIns="25560" tIns="25560" rIns="25560" bIns="25560" anchor="t">
            <a:normAutofit fontScale="77500" lnSpcReduction="19999"/>
          </a:bodyPr>
          <a:p>
            <a:pPr defTabSz="914400">
              <a:lnSpc>
                <a:spcPct val="100000"/>
              </a:lnSpc>
              <a:tabLst>
                <a:tab pos="0" algn="l"/>
              </a:tabLst>
              <a:defRPr/>
            </a:pPr>
            <a:r>
              <a:rPr lang="en-US" sz="4800" b="0" u="none" strike="noStrike" spc="-47">
                <a:solidFill>
                  <a:srgbClr val="F3ECE0"/>
                </a:solidFill>
                <a:latin typeface="Georgia"/>
                <a:ea typeface="Georgia"/>
              </a:rPr>
              <a:t>Forest J-Credit + </a:t>
            </a:r>
            <a:r>
              <a:rPr lang="zh-CN" sz="4800" b="0" u="none" strike="noStrike" spc="-47">
                <a:solidFill>
                  <a:srgbClr val="F3ECE0"/>
                </a:solidFill>
                <a:latin typeface="Georgia"/>
                <a:ea typeface="Georgia"/>
              </a:rPr>
              <a:t>交付金</a:t>
            </a:r>
            <a:endParaRPr lang="en-US" sz="4800" b="0" u="none" strike="noStrike">
              <a:solidFill>
                <a:srgbClr val="FFFFFF"/>
              </a:solidFill>
              <a:latin typeface="Arial"/>
            </a:endParaRPr>
          </a:p>
        </p:txBody>
      </p:sp>
      <p:sp>
        <p:nvSpPr>
          <p:cNvPr id="1822121166" name="Text 15"/>
          <p:cNvSpPr/>
          <p:nvPr/>
        </p:nvSpPr>
        <p:spPr bwMode="auto">
          <a:xfrm>
            <a:off x="12223800" y="8182080"/>
            <a:ext cx="5166360" cy="700200"/>
          </a:xfrm>
          <a:prstGeom prst="rect">
            <a:avLst/>
          </a:prstGeom>
          <a:noFill/>
          <a:ln w="0">
            <a:noFill/>
          </a:ln>
        </p:spPr>
        <p:style>
          <a:lnRef idx="0"/>
          <a:fillRef idx="0"/>
          <a:effectRef idx="0"/>
          <a:fontRef idx="minor"/>
        </p:style>
        <p:txBody>
          <a:bodyPr lIns="25560" tIns="25560" rIns="25560" bIns="25560" anchor="t">
            <a:normAutofit fontScale="62500" lnSpcReduction="19999"/>
          </a:bodyPr>
          <a:p>
            <a:pPr defTabSz="914400">
              <a:lnSpc>
                <a:spcPct val="145000"/>
              </a:lnSpc>
              <a:tabLst>
                <a:tab pos="0" algn="l"/>
              </a:tabLst>
              <a:defRPr/>
            </a:pPr>
            <a:r>
              <a:rPr lang="en-US" sz="1800" b="0" u="none" strike="noStrike">
                <a:solidFill>
                  <a:srgbClr val="F3ECE0">
                    <a:alpha val="85000"/>
                  </a:srgbClr>
                </a:solidFill>
                <a:latin typeface="Arial"/>
                <a:ea typeface="Arial"/>
              </a:rPr>
              <a:t>Biomass CHP supplies the forest-carbon/J-Credit mechanism. Unlocks the village-led </a:t>
            </a:r>
            <a:r>
              <a:rPr lang="zh-CN" sz="1800" b="0" u="none" strike="noStrike">
                <a:solidFill>
                  <a:srgbClr val="F3ECE0">
                    <a:alpha val="85000"/>
                  </a:srgbClr>
                </a:solidFill>
                <a:latin typeface="Arial"/>
                <a:ea typeface="Arial"/>
              </a:rPr>
              <a:t>交付金</a:t>
            </a:r>
            <a:r>
              <a:rPr lang="en-US" sz="1800" b="0" u="none" strike="noStrike">
                <a:solidFill>
                  <a:srgbClr val="F3ECE0">
                    <a:alpha val="85000"/>
                  </a:srgbClr>
                </a:solidFill>
                <a:latin typeface="Arial"/>
                <a:ea typeface="Arial"/>
              </a:rPr>
              <a:t>: 2/3-3/4 subsidy on solar/battery/EV, via the village.</a:t>
            </a:r>
            <a:endParaRPr lang="en-US" sz="1800" b="0" u="none" strike="noStrike">
              <a:solidFill>
                <a:srgbClr val="FFFFFF"/>
              </a:solidFill>
              <a:latin typeface="Arial"/>
            </a:endParaRPr>
          </a:p>
        </p:txBody>
      </p:sp>
      <p:sp>
        <p:nvSpPr>
          <p:cNvPr id="270434168" name="Text 16"/>
          <p:cNvSpPr/>
          <p:nvPr/>
        </p:nvSpPr>
        <p:spPr bwMode="auto">
          <a:xfrm>
            <a:off x="1047600" y="9405000"/>
            <a:ext cx="11541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11 / 12</a:t>
            </a:r>
            <a:endParaRPr lang="en-US" sz="1800" b="0" u="none" strike="noStrike">
              <a:solidFill>
                <a:srgbClr val="FFFFFF"/>
              </a:solidFill>
              <a:latin typeface="Arial"/>
            </a:endParaRPr>
          </a:p>
        </p:txBody>
      </p:sp>
      <p:sp>
        <p:nvSpPr>
          <p:cNvPr id="99082569" name="Text 17"/>
          <p:cNvSpPr/>
          <p:nvPr/>
        </p:nvSpPr>
        <p:spPr bwMode="auto">
          <a:xfrm>
            <a:off x="7458120" y="9405000"/>
            <a:ext cx="10074600" cy="304200"/>
          </a:xfrm>
          <a:prstGeom prst="rect">
            <a:avLst/>
          </a:prstGeom>
          <a:noFill/>
          <a:ln w="0">
            <a:noFill/>
          </a:ln>
        </p:spPr>
        <p:style>
          <a:lnRef idx="0"/>
          <a:fillRef idx="0"/>
          <a:effectRef idx="0"/>
          <a:fontRef idx="minor"/>
        </p:style>
        <p:txBody>
          <a:bodyPr lIns="25560" tIns="25560" rIns="25560" bIns="25560" anchor="t">
            <a:normAutofit fontScale="62500" lnSpcReduction="1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BIOMASS CHP STAYS PRIMARY · SOLAR/BATTERY/EV COMPLEMENTARY · FUNDING FLOWS THROUGH THE VILLAGE</a:t>
            </a:r>
            <a:endParaRPr lang="en-US" sz="1800" b="0" u="none" strike="noStrike">
              <a:solidFill>
                <a:srgbClr val="FFFFFF"/>
              </a:solidFill>
              <a:latin typeface="Arial"/>
            </a:endParaRPr>
          </a:p>
        </p:txBody>
      </p:sp>
      <p:sp>
        <p:nvSpPr>
          <p:cNvPr id="1821758436" name="Text 4"/>
          <p:cNvSpPr/>
          <p:nvPr/>
        </p:nvSpPr>
        <p:spPr bwMode="auto">
          <a:xfrm flipH="0" flipV="0">
            <a:off x="1047599" y="1523519"/>
            <a:ext cx="16677720" cy="4117836"/>
          </a:xfrm>
          <a:prstGeom prst="rect">
            <a:avLst/>
          </a:prstGeom>
          <a:noFill/>
          <a:ln w="0">
            <a:noFill/>
          </a:ln>
        </p:spPr>
        <p:style>
          <a:lnRef idx="0"/>
          <a:fillRef idx="0"/>
          <a:effectRef idx="0"/>
          <a:fontRef idx="minor"/>
        </p:style>
        <p:txBody>
          <a:bodyPr vertOverflow="overflow" horzOverflow="overflow" vert="horz" wrap="square" lIns="25560" tIns="25560" rIns="25560" bIns="25560" numCol="1" spcCol="0" rtlCol="0" fromWordArt="0" anchor="t" anchorCtr="0" forceAA="0" upright="0" compatLnSpc="0">
            <a:normAutofit fontScale="55000" lnSpcReduction="9000"/>
          </a:bodyPr>
          <a:p>
            <a:pPr defTabSz="914400">
              <a:lnSpc>
                <a:spcPct val="95000"/>
              </a:lnSpc>
              <a:defRPr/>
            </a:pPr>
            <a:r>
              <a:rPr lang="en-US" sz="21000" b="0" i="0" u="none" strike="noStrike" cap="none" spc="-149" baseline="-25000">
                <a:solidFill>
                  <a:srgbClr val="F3ECE0"/>
                </a:solidFill>
                <a:latin typeface="Georgia"/>
                <a:ea typeface="Georgia"/>
                <a:cs typeface="Georgia"/>
              </a:rPr>
              <a:t>We don't ask the village to adopt a new idea. We run </a:t>
            </a:r>
            <a:r>
              <a:rPr lang="en-US" sz="21000" b="0" i="1" u="none" strike="noStrike" cap="none" spc="-149" baseline="-25000">
                <a:solidFill>
                  <a:srgbClr val="F3B486"/>
                </a:solidFill>
                <a:latin typeface="Georgia"/>
                <a:ea typeface="Georgia"/>
                <a:cs typeface="Georgia"/>
              </a:rPr>
              <a:t>the plan it already wrote.</a:t>
            </a:r>
            <a:endParaRPr sz="9000" b="0" u="none" strike="noStrike">
              <a:solidFill>
                <a:srgbClr val="FFFFFF"/>
              </a:solidFill>
              <a:latin typeface="Arial"/>
            </a:endParaRPr>
          </a:p>
          <a:p>
            <a:pPr defTabSz="914400">
              <a:lnSpc>
                <a:spcPct val="100000"/>
              </a:lnSpc>
              <a:tabLst>
                <a:tab pos="0" algn="l"/>
              </a:tabLst>
              <a:defRPr/>
            </a:pPr>
            <a:endParaRPr lang="en-US" sz="9000" b="0" u="none" strike="noStrike">
              <a:solidFill>
                <a:srgbClr val="FFFFFF"/>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2F4A37"/>
        </a:solidFill>
      </p:bgPr>
    </p:bg>
    <p:spTree>
      <p:nvGrpSpPr>
        <p:cNvPr id="1" name=""/>
        <p:cNvGrpSpPr/>
        <p:nvPr/>
      </p:nvGrpSpPr>
      <p:grpSpPr bwMode="auto">
        <a:xfrm>
          <a:off x="0" y="0"/>
          <a:ext cx="0" cy="0"/>
          <a:chOff x="0" y="0"/>
          <a:chExt cx="0" cy="0"/>
        </a:xfrm>
      </p:grpSpPr>
      <p:sp>
        <p:nvSpPr>
          <p:cNvPr id="1397709920" name="Shape 0"/>
          <p:cNvSpPr/>
          <p:nvPr/>
        </p:nvSpPr>
        <p:spPr bwMode="auto">
          <a:xfrm>
            <a:off x="1047600" y="762120"/>
            <a:ext cx="456480" cy="456480"/>
          </a:xfrm>
          <a:prstGeom prst="ellipse">
            <a:avLst/>
          </a:prstGeom>
          <a:solidFill>
            <a:srgbClr val="F3ECE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268689167" name="Text 1"/>
          <p:cNvSpPr/>
          <p:nvPr/>
        </p:nvSpPr>
        <p:spPr bwMode="auto">
          <a:xfrm>
            <a:off x="1047600" y="762120"/>
            <a:ext cx="532800" cy="494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1" u="none" strike="noStrike" spc="145">
                <a:solidFill>
                  <a:srgbClr val="2F4A37"/>
                </a:solidFill>
                <a:latin typeface="Noto Serif JP"/>
                <a:ea typeface="Noto Serif JP"/>
              </a:rPr>
              <a:t>御</a:t>
            </a:r>
            <a:endParaRPr lang="en-US" sz="1950" b="0" u="none" strike="noStrike">
              <a:solidFill>
                <a:srgbClr val="FFFFFF"/>
              </a:solidFill>
              <a:latin typeface="Arial"/>
            </a:endParaRPr>
          </a:p>
        </p:txBody>
      </p:sp>
      <p:sp>
        <p:nvSpPr>
          <p:cNvPr id="1859905856" name="Text 2"/>
          <p:cNvSpPr/>
          <p:nvPr/>
        </p:nvSpPr>
        <p:spPr bwMode="auto">
          <a:xfrm>
            <a:off x="1638360" y="857160"/>
            <a:ext cx="22420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MITSUE PROJECT</a:t>
            </a:r>
            <a:endParaRPr lang="en-US" sz="1800" b="0" u="none" strike="noStrike">
              <a:solidFill>
                <a:srgbClr val="FFFFFF"/>
              </a:solidFill>
              <a:latin typeface="Arial"/>
            </a:endParaRPr>
          </a:p>
        </p:txBody>
      </p:sp>
      <p:sp>
        <p:nvSpPr>
          <p:cNvPr id="1624235249" name="Text 3"/>
          <p:cNvSpPr/>
          <p:nvPr/>
        </p:nvSpPr>
        <p:spPr bwMode="auto">
          <a:xfrm>
            <a:off x="11343600" y="762120"/>
            <a:ext cx="607284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 11 · FOR PEOPLE WHO THINK IN DECADES</a:t>
            </a:r>
            <a:endParaRPr lang="en-US" sz="1800" b="0" u="none" strike="noStrike">
              <a:solidFill>
                <a:srgbClr val="FFFFFF"/>
              </a:solidFill>
              <a:latin typeface="Arial"/>
            </a:endParaRPr>
          </a:p>
        </p:txBody>
      </p:sp>
      <p:sp>
        <p:nvSpPr>
          <p:cNvPr id="765226167" name="Text 4"/>
          <p:cNvSpPr/>
          <p:nvPr/>
        </p:nvSpPr>
        <p:spPr bwMode="auto">
          <a:xfrm>
            <a:off x="1047600" y="2025000"/>
            <a:ext cx="866844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IF YOUR TIME HORIZON MATCHES OURS…</a:t>
            </a:r>
            <a:endParaRPr lang="en-US" sz="1800" b="0" u="none" strike="noStrike">
              <a:solidFill>
                <a:srgbClr val="FFFFFF"/>
              </a:solidFill>
              <a:latin typeface="Arial"/>
            </a:endParaRPr>
          </a:p>
        </p:txBody>
      </p:sp>
      <p:sp>
        <p:nvSpPr>
          <p:cNvPr id="1312926001" name="Text 5"/>
          <p:cNvSpPr/>
          <p:nvPr/>
        </p:nvSpPr>
        <p:spPr bwMode="auto">
          <a:xfrm>
            <a:off x="1047600" y="2743200"/>
            <a:ext cx="8668440" cy="508716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97000"/>
              </a:lnSpc>
              <a:tabLst>
                <a:tab pos="0" algn="l"/>
              </a:tabLst>
              <a:defRPr/>
            </a:pPr>
            <a:r>
              <a:rPr lang="en-US" sz="8100" b="0" u="none" strike="noStrike" spc="-82">
                <a:solidFill>
                  <a:srgbClr val="F3ECE0"/>
                </a:solidFill>
                <a:latin typeface="Georgia"/>
                <a:ea typeface="Georgia"/>
              </a:rPr>
              <a:t>We're looking for practical know-how, honest critique, and a few </a:t>
            </a:r>
            <a:r>
              <a:rPr lang="en-US" sz="8100" b="0" i="1" u="none" strike="noStrike" spc="-82">
                <a:solidFill>
                  <a:srgbClr val="F3B486"/>
                </a:solidFill>
                <a:latin typeface="Georgia"/>
                <a:ea typeface="Georgia"/>
              </a:rPr>
              <a:t>good neighbors.</a:t>
            </a:r>
            <a:endParaRPr lang="en-US" sz="8100" b="0" u="none" strike="noStrike">
              <a:solidFill>
                <a:srgbClr val="FFFFFF"/>
              </a:solidFill>
              <a:latin typeface="Arial"/>
            </a:endParaRPr>
          </a:p>
        </p:txBody>
      </p:sp>
      <p:sp>
        <p:nvSpPr>
          <p:cNvPr id="1934883266" name="Text 6"/>
          <p:cNvSpPr/>
          <p:nvPr/>
        </p:nvSpPr>
        <p:spPr bwMode="auto">
          <a:xfrm>
            <a:off x="10226520" y="2025000"/>
            <a:ext cx="72237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WHAT HELPS RIGHT NOW</a:t>
            </a:r>
            <a:endParaRPr lang="en-US" sz="1800" b="0" u="none" strike="noStrike">
              <a:solidFill>
                <a:srgbClr val="FFFFFF"/>
              </a:solidFill>
              <a:latin typeface="Arial"/>
            </a:endParaRPr>
          </a:p>
        </p:txBody>
      </p:sp>
      <p:sp>
        <p:nvSpPr>
          <p:cNvPr id="1441063089" name="Text 7"/>
          <p:cNvSpPr/>
          <p:nvPr/>
        </p:nvSpPr>
        <p:spPr bwMode="auto">
          <a:xfrm>
            <a:off x="10053000" y="2424960"/>
            <a:ext cx="7262640" cy="15231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50000"/>
              </a:lnSpc>
              <a:tabLst>
                <a:tab pos="0" algn="l"/>
              </a:tabLst>
              <a:defRPr/>
            </a:pPr>
            <a:r>
              <a:rPr lang="en-US" sz="1950" b="0" u="none" strike="noStrike">
                <a:solidFill>
                  <a:srgbClr val="F3ECE0"/>
                </a:solidFill>
                <a:latin typeface="Arial"/>
                <a:ea typeface="Arial"/>
              </a:rPr>
              <a:t>↳ Introductions: Japanese co-founders with rural credibility</a:t>
            </a:r>
            <a:endParaRPr lang="en-US" sz="1950" b="0" u="none" strike="noStrike">
              <a:solidFill>
                <a:srgbClr val="FFFFFF"/>
              </a:solidFill>
              <a:latin typeface="Arial"/>
            </a:endParaRPr>
          </a:p>
          <a:p>
            <a:pPr defTabSz="914400">
              <a:lnSpc>
                <a:spcPct val="150000"/>
              </a:lnSpc>
              <a:tabLst>
                <a:tab pos="0" algn="l"/>
              </a:tabLst>
              <a:defRPr/>
            </a:pPr>
            <a:r>
              <a:rPr lang="en-US" sz="1950" b="0" u="none" strike="noStrike">
                <a:solidFill>
                  <a:srgbClr val="F3ECE0"/>
                </a:solidFill>
                <a:latin typeface="Arial"/>
                <a:ea typeface="Arial"/>
              </a:rPr>
              <a:t>↳ Advisors: forestry, edge compute, Japanese nonprofit law</a:t>
            </a:r>
            <a:endParaRPr lang="en-US" sz="1950" b="0" u="none" strike="noStrike">
              <a:solidFill>
                <a:srgbClr val="FFFFFF"/>
              </a:solidFill>
              <a:latin typeface="Arial"/>
            </a:endParaRPr>
          </a:p>
          <a:p>
            <a:pPr defTabSz="914400">
              <a:lnSpc>
                <a:spcPct val="150000"/>
              </a:lnSpc>
              <a:tabLst>
                <a:tab pos="0" algn="l"/>
              </a:tabLst>
              <a:defRPr/>
            </a:pPr>
            <a:r>
              <a:rPr lang="en-US" sz="1950" b="0" u="none" strike="noStrike">
                <a:solidFill>
                  <a:srgbClr val="F3ECE0"/>
                </a:solidFill>
                <a:latin typeface="Arial"/>
                <a:ea typeface="Arial"/>
              </a:rPr>
              <a:t>↳ Technical partners: small data-center operations &amp; power design</a:t>
            </a:r>
            <a:endParaRPr lang="en-US" sz="1950" b="0" u="none" strike="noStrike">
              <a:solidFill>
                <a:srgbClr val="FFFFFF"/>
              </a:solidFill>
              <a:latin typeface="Arial"/>
            </a:endParaRPr>
          </a:p>
          <a:p>
            <a:pPr defTabSz="914400">
              <a:lnSpc>
                <a:spcPct val="150000"/>
              </a:lnSpc>
              <a:tabLst>
                <a:tab pos="0" algn="l"/>
              </a:tabLst>
              <a:defRPr/>
            </a:pPr>
            <a:r>
              <a:rPr lang="en-US" sz="1950" b="0" u="none" strike="noStrike">
                <a:solidFill>
                  <a:srgbClr val="F3ECE0"/>
                </a:solidFill>
                <a:latin typeface="Arial"/>
                <a:ea typeface="Arial"/>
              </a:rPr>
              <a:t>↳ Honest critique — tell us where the thesis is wrong</a:t>
            </a:r>
            <a:endParaRPr lang="en-US" sz="1950" b="0" u="none" strike="noStrike">
              <a:solidFill>
                <a:srgbClr val="FFFFFF"/>
              </a:solidFill>
              <a:latin typeface="Arial"/>
            </a:endParaRPr>
          </a:p>
        </p:txBody>
      </p:sp>
      <p:sp>
        <p:nvSpPr>
          <p:cNvPr id="181713667" name="Shape 8"/>
          <p:cNvSpPr/>
          <p:nvPr/>
        </p:nvSpPr>
        <p:spPr bwMode="auto">
          <a:xfrm>
            <a:off x="10226520" y="4196880"/>
            <a:ext cx="7013160" cy="8640"/>
          </a:xfrm>
          <a:prstGeom prst="rect">
            <a:avLst/>
          </a:prstGeom>
          <a:solidFill>
            <a:srgbClr val="F3ECE0">
              <a:alpha val="20000"/>
            </a:srgbClr>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390222186" name="Shape 9"/>
          <p:cNvSpPr/>
          <p:nvPr/>
        </p:nvSpPr>
        <p:spPr bwMode="auto">
          <a:xfrm>
            <a:off x="10226520" y="4415760"/>
            <a:ext cx="1618560" cy="1618560"/>
          </a:xfrm>
          <a:prstGeom prst="rect">
            <a:avLst/>
          </a:prstGeom>
          <a:solidFill>
            <a:srgbClr val="F3ECE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pic>
        <p:nvPicPr>
          <p:cNvPr id="722637734" name="Image 0" descr="preencoded.png"/>
          <p:cNvPicPr/>
          <p:nvPr/>
        </p:nvPicPr>
        <p:blipFill rotWithShape="1">
          <a:blip r:embed="rId3"/>
          <a:stretch/>
        </p:blipFill>
        <p:spPr bwMode="auto">
          <a:xfrm>
            <a:off x="10321560" y="4511160"/>
            <a:ext cx="1428120" cy="1428120"/>
          </a:xfrm>
          <a:prstGeom prst="rect">
            <a:avLst/>
          </a:prstGeom>
          <a:noFill/>
          <a:ln w="0">
            <a:noFill/>
          </a:ln>
        </p:spPr>
      </p:pic>
      <p:sp>
        <p:nvSpPr>
          <p:cNvPr id="23919133" name="Text 10"/>
          <p:cNvSpPr/>
          <p:nvPr/>
        </p:nvSpPr>
        <p:spPr bwMode="auto">
          <a:xfrm>
            <a:off x="12112200" y="4530240"/>
            <a:ext cx="52812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SCAN TO VISIT</a:t>
            </a:r>
            <a:endParaRPr lang="en-US" sz="1800" b="0" u="none" strike="noStrike">
              <a:solidFill>
                <a:srgbClr val="FFFFFF"/>
              </a:solidFill>
              <a:latin typeface="Arial"/>
            </a:endParaRPr>
          </a:p>
        </p:txBody>
      </p:sp>
      <p:sp>
        <p:nvSpPr>
          <p:cNvPr id="423658842" name="Text 11"/>
          <p:cNvSpPr/>
          <p:nvPr/>
        </p:nvSpPr>
        <p:spPr bwMode="auto">
          <a:xfrm>
            <a:off x="12112200" y="4853880"/>
            <a:ext cx="5281200" cy="3708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2250" b="0" u="none" strike="noStrike">
                <a:solidFill>
                  <a:srgbClr val="F3ECE0"/>
                </a:solidFill>
                <a:latin typeface="Courier New"/>
                <a:ea typeface="Courier New"/>
              </a:rPr>
              <a:t>mitsue.it</a:t>
            </a:r>
            <a:endParaRPr lang="en-US" sz="2250" b="0" u="none" strike="noStrike">
              <a:solidFill>
                <a:srgbClr val="FFFFFF"/>
              </a:solidFill>
              <a:latin typeface="Arial"/>
            </a:endParaRPr>
          </a:p>
        </p:txBody>
      </p:sp>
      <p:sp>
        <p:nvSpPr>
          <p:cNvPr id="1028277214" name="Text 12"/>
          <p:cNvSpPr/>
          <p:nvPr/>
        </p:nvSpPr>
        <p:spPr bwMode="auto">
          <a:xfrm>
            <a:off x="12112200" y="5244480"/>
            <a:ext cx="5281200" cy="475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500" b="0" u="none" strike="noStrike">
                <a:solidFill>
                  <a:srgbClr val="F3ECE0">
                    <a:alpha val="70000"/>
                  </a:srgbClr>
                </a:solidFill>
                <a:latin typeface="Courier New"/>
                <a:ea typeface="Courier New"/>
              </a:rPr>
              <a:t>codeberg.org / YR-Design / mitsue-ai-data-center</a:t>
            </a:r>
            <a:endParaRPr lang="en-US" sz="1500" b="0" u="none" strike="noStrike">
              <a:solidFill>
                <a:srgbClr val="FFFFFF"/>
              </a:solidFill>
              <a:latin typeface="Arial"/>
            </a:endParaRPr>
          </a:p>
        </p:txBody>
      </p:sp>
      <p:sp>
        <p:nvSpPr>
          <p:cNvPr id="2018889322" name="Text 13"/>
          <p:cNvSpPr/>
          <p:nvPr/>
        </p:nvSpPr>
        <p:spPr bwMode="auto">
          <a:xfrm>
            <a:off x="12112200" y="5701680"/>
            <a:ext cx="5281200" cy="25632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00000"/>
              </a:lnSpc>
              <a:tabLst>
                <a:tab pos="0" algn="l"/>
              </a:tabLst>
              <a:defRPr/>
            </a:pPr>
            <a:r>
              <a:rPr lang="en-US" sz="1500" b="0" u="none" strike="noStrike">
                <a:solidFill>
                  <a:srgbClr val="F3ECE0">
                    <a:alpha val="70000"/>
                  </a:srgbClr>
                </a:solidFill>
                <a:latin typeface="Courier New"/>
                <a:ea typeface="Courier New"/>
              </a:rPr>
              <a:t>info@mitsue.it</a:t>
            </a:r>
            <a:endParaRPr lang="en-US" sz="1500" b="0" u="none" strike="noStrike">
              <a:solidFill>
                <a:srgbClr val="FFFFFF"/>
              </a:solidFill>
              <a:latin typeface="Arial"/>
            </a:endParaRPr>
          </a:p>
        </p:txBody>
      </p:sp>
      <p:sp>
        <p:nvSpPr>
          <p:cNvPr id="2142240960" name="Shape 14"/>
          <p:cNvSpPr/>
          <p:nvPr/>
        </p:nvSpPr>
        <p:spPr bwMode="auto">
          <a:xfrm>
            <a:off x="10226520" y="6263640"/>
            <a:ext cx="7013160" cy="8640"/>
          </a:xfrm>
          <a:prstGeom prst="rect">
            <a:avLst/>
          </a:prstGeom>
          <a:solidFill>
            <a:srgbClr val="F3ECE0">
              <a:alpha val="20000"/>
            </a:srgbClr>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1384347380" name="Text 16"/>
          <p:cNvSpPr/>
          <p:nvPr/>
        </p:nvSpPr>
        <p:spPr bwMode="auto">
          <a:xfrm>
            <a:off x="10226520" y="6768360"/>
            <a:ext cx="7223760" cy="4669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defRPr/>
            </a:pPr>
            <a:r>
              <a:rPr lang="en-US" sz="3450" b="0" u="none" strike="noStrike" spc="-34">
                <a:solidFill>
                  <a:srgbClr val="F3ECE0"/>
                </a:solidFill>
                <a:latin typeface="Georgia"/>
                <a:ea typeface="Georgia"/>
              </a:rPr>
              <a:t>Rob Oudendijk</a:t>
            </a:r>
            <a:endParaRPr lang="en-US" sz="3450" b="0" u="none" strike="noStrike">
              <a:solidFill>
                <a:srgbClr val="FFFFFF"/>
              </a:solidFill>
              <a:latin typeface="Arial"/>
            </a:endParaRPr>
          </a:p>
        </p:txBody>
      </p:sp>
      <p:sp>
        <p:nvSpPr>
          <p:cNvPr id="1721667082" name="Text 17"/>
          <p:cNvSpPr/>
          <p:nvPr/>
        </p:nvSpPr>
        <p:spPr bwMode="auto">
          <a:xfrm>
            <a:off x="10226520" y="7197840"/>
            <a:ext cx="7200360" cy="341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650" b="0" u="none" strike="noStrike">
                <a:solidFill>
                  <a:srgbClr val="F3ECE0">
                    <a:alpha val="80000"/>
                  </a:srgbClr>
                </a:solidFill>
                <a:latin typeface="Arial"/>
                <a:ea typeface="Arial"/>
              </a:rPr>
              <a:t>YR-Design · Safecast · Mitsue, Nara</a:t>
            </a:r>
            <a:endParaRPr lang="en-US" sz="1650" b="0" u="none" strike="noStrike">
              <a:solidFill>
                <a:srgbClr val="FFFFFF"/>
              </a:solidFill>
              <a:latin typeface="Arial"/>
            </a:endParaRPr>
          </a:p>
        </p:txBody>
      </p:sp>
      <p:sp>
        <p:nvSpPr>
          <p:cNvPr id="626550944" name="Text 18"/>
          <p:cNvSpPr/>
          <p:nvPr/>
        </p:nvSpPr>
        <p:spPr bwMode="auto">
          <a:xfrm>
            <a:off x="1047600" y="9258480"/>
            <a:ext cx="11541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12 / 12</a:t>
            </a:r>
            <a:endParaRPr lang="en-US" sz="1800" b="0" u="none" strike="noStrike">
              <a:solidFill>
                <a:srgbClr val="FFFFFF"/>
              </a:solidFill>
              <a:latin typeface="Arial"/>
            </a:endParaRPr>
          </a:p>
        </p:txBody>
      </p:sp>
      <p:sp>
        <p:nvSpPr>
          <p:cNvPr id="2133226157" name="Text 19"/>
          <p:cNvSpPr/>
          <p:nvPr/>
        </p:nvSpPr>
        <p:spPr bwMode="auto">
          <a:xfrm>
            <a:off x="12916079" y="9182160"/>
            <a:ext cx="4453200" cy="380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THANK YOU · </a:t>
            </a:r>
            <a:r>
              <a:rPr lang="zh-CN" sz="1800" b="0" u="none" strike="noStrike" spc="145">
                <a:solidFill>
                  <a:srgbClr val="F3ECE0">
                    <a:alpha val="67000"/>
                  </a:srgbClr>
                </a:solidFill>
                <a:latin typeface="Courier New"/>
                <a:ea typeface="Courier New"/>
              </a:rPr>
              <a:t>ありがとうございます</a:t>
            </a:r>
            <a:endParaRPr lang="en-US" sz="1800" b="0" u="none" strike="noStrike">
              <a:solidFill>
                <a:srgbClr val="FFFFFF"/>
              </a:solidFill>
              <a:latin typeface="Arial"/>
            </a:endParaRPr>
          </a:p>
        </p:txBody>
      </p:sp>
      <p:sp>
        <p:nvSpPr>
          <p:cNvPr id="1807326520" name="Text 31"/>
          <p:cNvSpPr/>
          <p:nvPr/>
        </p:nvSpPr>
        <p:spPr bwMode="auto">
          <a:xfrm>
            <a:off x="10149840" y="6325200"/>
            <a:ext cx="72237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PROJECT LEADER</a:t>
            </a:r>
            <a:r>
              <a:rPr lang="ja-JP" sz="1800" b="0" u="none" strike="noStrike" spc="214">
                <a:solidFill>
                  <a:srgbClr val="F3ECE0">
                    <a:alpha val="67000"/>
                  </a:srgbClr>
                </a:solidFill>
                <a:latin typeface="Courier New"/>
                <a:ea typeface="Courier New"/>
              </a:rPr>
              <a:t> </a:t>
            </a:r>
            <a:r>
              <a:rPr lang="en-US" sz="1800" b="0" u="none" strike="noStrike" spc="214">
                <a:solidFill>
                  <a:srgbClr val="F3ECE0">
                    <a:alpha val="67000"/>
                  </a:srgbClr>
                </a:solidFill>
                <a:latin typeface="Courier New"/>
                <a:ea typeface="Courier New"/>
              </a:rPr>
              <a:t>NOW</a:t>
            </a:r>
            <a:endParaRPr lang="en-US" sz="1800" b="0" u="none" strike="noStrike">
              <a:solidFill>
                <a:srgbClr val="FFFFFF"/>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
  <TotalTime>0</TotalTime>
  <Words>0</Words>
  <Application>ONLYOFFICE/9.3.1.8</Application>
  <PresentationFormat>On-screen Show (4:3)</PresentationFormat>
  <Paragraphs>0</Paragraphs>
  <Slides>12</Slides>
  <Notes>12</Notes>
  <HiddenSlides>0</HiddenSlides>
  <MMClips>2</MMClips>
  <ScaleCrop>0</ScaleCrop>
  <HeadingPairs>
    <vt:vector size="4" baseType="variant">
      <vt:variant>
        <vt:lpstr>Theme</vt:lpstr>
      </vt:variant>
      <vt:variant>
        <vt:i4>1</vt:i4>
      </vt:variant>
      <vt:variant>
        <vt:lpstr>Slide Titles</vt:lpstr>
      </vt:variant>
      <vt:variant>
        <vt:i4>12</vt:i4>
      </vt:variant>
    </vt:vector>
  </HeadingPairs>
  <TitlesOfParts>
    <vt:vector size="13"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dc:description/>
  <dc:language>en-US</dc:language>
  <cp:lastModifiedBy/>
  <cp:revision>10</cp:revision>
  <dcterms:created xsi:type="dcterms:W3CDTF">2026-05-28T12:44:33Z</dcterms:created>
  <dcterms:modified xsi:type="dcterms:W3CDTF">2026-06-17T21:05:59Z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MClips">
    <vt:i4>2</vt:i4>
  </property>
  <property fmtid="{D5CDD505-2E9C-101B-9397-08002B2CF9AE}" pid="3" name="Notes">
    <vt:i4>12</vt:i4>
  </property>
  <property fmtid="{D5CDD505-2E9C-101B-9397-08002B2CF9AE}" pid="4" name="PresentationFormat">
    <vt:lpwstr>On-screen Show (4:3)</vt:lpwstr>
  </property>
  <property fmtid="{D5CDD505-2E9C-101B-9397-08002B2CF9AE}" pid="5" name="Slides">
    <vt:i4>12</vt:i4>
  </property>
</Properties>
</file>