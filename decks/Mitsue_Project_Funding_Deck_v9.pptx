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s/slide3.xml" ContentType="application/vnd.openxmlformats-officedocument.presentationml.slide+xml"/>
  <Override PartName="/ppt/viewProps.xml" ContentType="application/vnd.openxmlformats-officedocument.presentationml.viewProps+xml"/>
  <Override PartName="/docProps/custom.xml" ContentType="application/vnd.openxmlformats-officedocument.custom-propertie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1216174880" y="0"/>
      </p:cViewPr>
      <p:guideLst>
        <p:guide pos="5760"/>
        <p:guide pos="324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962184237" name="PlaceHolder 1"/>
          <p:cNvSpPr>
            <a:spLocks noGrp="1"/>
          </p:cNvSpPr>
          <p:nvPr>
            <p:ph type="sldImg"/>
          </p:nvPr>
        </p:nvSpPr>
        <p:spPr bwMode="auto">
          <a:xfrm>
            <a:off x="216000" y="812520"/>
            <a:ext cx="7127280" cy="4008960"/>
          </a:xfrm>
          <a:prstGeom prst="rect">
            <a:avLst/>
          </a:prstGeom>
          <a:noFill/>
          <a:ln w="0">
            <a:noFill/>
          </a:ln>
        </p:spPr>
        <p:txBody>
          <a:bodyPr lIns="0" tIns="0" rIns="0" bIns="0" anchor="ctr">
            <a:noAutofit/>
          </a:bodyPr>
          <a:p>
            <a:pPr algn="ctr">
              <a:defRPr/>
            </a:pPr>
            <a:r>
              <a:rPr lang="en-US" sz="4400" b="0" strike="noStrike" spc="-1">
                <a:solidFill>
                  <a:srgbClr val="000000"/>
                </a:solidFill>
                <a:latin typeface="Arial"/>
              </a:rPr>
              <a:t>Click to move the slide</a:t>
            </a:r>
            <a:endParaRPr lang="en-US" sz="4400" b="0" strike="noStrike" spc="-1">
              <a:solidFill>
                <a:srgbClr val="000000"/>
              </a:solidFill>
              <a:latin typeface="Arial"/>
            </a:endParaRPr>
          </a:p>
        </p:txBody>
      </p:sp>
      <p:sp>
        <p:nvSpPr>
          <p:cNvPr id="873119369"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marL="216000" indent="-216000">
              <a:buNone/>
              <a:defRPr/>
            </a:pPr>
            <a:r>
              <a:rPr lang="en-US" sz="2000" b="0" strike="noStrike" spc="-1">
                <a:solidFill>
                  <a:srgbClr val="000000"/>
                </a:solidFill>
                <a:latin typeface="Arial"/>
              </a:rPr>
              <a:t>Click to edit the notes format</a:t>
            </a:r>
            <a:endParaRPr lang="en-US" sz="2000" b="0" strike="noStrike" spc="-1">
              <a:solidFill>
                <a:srgbClr val="000000"/>
              </a:solidFill>
              <a:latin typeface="Arial"/>
            </a:endParaRPr>
          </a:p>
        </p:txBody>
      </p:sp>
      <p:sp>
        <p:nvSpPr>
          <p:cNvPr id="840513915"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buNone/>
              <a:defRPr/>
            </a:pPr>
            <a:r>
              <a:rPr lang="en-US" sz="1400" b="0" strike="noStrike" spc="-1">
                <a:solidFill>
                  <a:srgbClr val="000000"/>
                </a:solidFill>
                <a:latin typeface="Times New Roman"/>
              </a:rPr>
              <a:t>&lt;header&gt;</a:t>
            </a:r>
            <a:endParaRPr lang="en-US" sz="1400" b="0" strike="noStrike" spc="-1">
              <a:solidFill>
                <a:srgbClr val="000000"/>
              </a:solidFill>
              <a:latin typeface="Times New Roman"/>
            </a:endParaRPr>
          </a:p>
        </p:txBody>
      </p:sp>
      <p:sp>
        <p:nvSpPr>
          <p:cNvPr id="1078401494"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defRPr/>
            </a:pPr>
            <a:r>
              <a:rPr lang="en-US" sz="1400" b="0" strike="noStrike" spc="-1">
                <a:solidFill>
                  <a:srgbClr val="000000"/>
                </a:solidFill>
                <a:latin typeface="Times New Roman"/>
              </a:rPr>
              <a:t>&lt;date/time&gt;</a:t>
            </a:r>
            <a:endParaRPr lang="en-US" sz="1400" b="0" strike="noStrike" spc="-1">
              <a:solidFill>
                <a:srgbClr val="000000"/>
              </a:solidFill>
              <a:latin typeface="Times New Roman"/>
            </a:endParaRPr>
          </a:p>
        </p:txBody>
      </p:sp>
      <p:sp>
        <p:nvSpPr>
          <p:cNvPr id="405364266"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defRPr/>
            </a:pPr>
            <a:r>
              <a:rPr lang="en-US" sz="1400" b="0" strike="noStrike" spc="-1">
                <a:solidFill>
                  <a:srgbClr val="000000"/>
                </a:solidFill>
                <a:latin typeface="Times New Roman"/>
              </a:rPr>
              <a:t>&lt;footer&gt;</a:t>
            </a:r>
            <a:endParaRPr lang="en-US" sz="1400" b="0" strike="noStrike" spc="-1">
              <a:solidFill>
                <a:srgbClr val="000000"/>
              </a:solidFill>
              <a:latin typeface="Times New Roman"/>
            </a:endParaRPr>
          </a:p>
        </p:txBody>
      </p:sp>
      <p:sp>
        <p:nvSpPr>
          <p:cNvPr id="471633916"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defRPr/>
            </a:pPr>
            <a:fld id="{8ED11720-7102-4C08-A53C-831377CF43CB}" type="slidenum">
              <a:rPr lang="en-US" sz="1400" b="0" strike="noStrike" spc="-1">
                <a:solidFill>
                  <a:srgbClr val="000000"/>
                </a:solidFill>
                <a:latin typeface="Times New Roman"/>
              </a:rPr>
              <a:t>&lt;number&gt;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0275686" name="PlaceHolder 1"/>
          <p:cNvSpPr>
            <a:spLocks noGrp="1"/>
          </p:cNvSpPr>
          <p:nvPr>
            <p:ph type="sldImg"/>
          </p:nvPr>
        </p:nvSpPr>
        <p:spPr bwMode="auto">
          <a:xfrm>
            <a:off x="685800" y="1143000"/>
            <a:ext cx="5485320" cy="3085200"/>
          </a:xfrm>
          <a:prstGeom prst="rect">
            <a:avLst/>
          </a:prstGeom>
          <a:ln w="0">
            <a:noFill/>
          </a:ln>
        </p:spPr>
      </p:sp>
      <p:sp>
        <p:nvSpPr>
          <p:cNvPr id="721685725"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Morning, everyone — welcome to Mitsue: ninety-three percent forest, under fifteen hundred people, and doing its best impression of a village slowly vanishing into the trees. Over the next ten minutes, I want to convince you this is exactly the place to prove something bigger: that rural decline isn't a one-way street — it can be reversed by a model that pays its own bills, and copy-pasted anywhere else fighting the same slow fade. Consider this your invitation to help fund the proof.</a:t>
            </a:r>
            <a:endParaRPr lang="en-US" sz="2000" b="0" strike="noStrike" spc="-1">
              <a:solidFill>
                <a:srgbClr val="000000"/>
              </a:solidFill>
              <a:latin typeface="Arial"/>
            </a:endParaRPr>
          </a:p>
        </p:txBody>
      </p:sp>
      <p:sp>
        <p:nvSpPr>
          <p:cNvPr id="1121202356" name="PlaceHolder 3"/>
          <p:cNvSpPr>
            <a:spLocks noGrp="1"/>
          </p:cNvSpPr>
          <p:nvPr>
            <p:ph type="sldNum" idx="5"/>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4ED1C140-6662-4562-BB7E-C2DBFF3EC9EB}"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4131241" name="PlaceHolder 1"/>
          <p:cNvSpPr>
            <a:spLocks noGrp="1"/>
          </p:cNvSpPr>
          <p:nvPr>
            <p:ph type="sldImg"/>
          </p:nvPr>
        </p:nvSpPr>
        <p:spPr bwMode="auto">
          <a:xfrm>
            <a:off x="685800" y="1143000"/>
            <a:ext cx="5485320" cy="3085200"/>
          </a:xfrm>
          <a:prstGeom prst="rect">
            <a:avLst/>
          </a:prstGeom>
          <a:ln w="0">
            <a:noFill/>
          </a:ln>
        </p:spPr>
      </p:sp>
      <p:sp>
        <p:nvSpPr>
          <p:cNvPr id="1351496094"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Here's the whole idea, and it's refreshingly simple. Most rural revival plans fail because they run on subsidy forever — like a houseplant that dies the moment you stop watering it. Ours is wired the opposite way: restore the forest, make clean energy, run a small community-owned data center — each one feeding the next, until the loop pays for itself. And here's the twist I really want you to remember: the data center isn't the point. It's the engine. The forest, the jobs, and the village's future — that's the actual return.</a:t>
            </a:r>
            <a:endParaRPr lang="en-US" sz="2000" b="0" strike="noStrike" spc="-1">
              <a:solidFill>
                <a:srgbClr val="000000"/>
              </a:solidFill>
              <a:latin typeface="Arial"/>
            </a:endParaRPr>
          </a:p>
        </p:txBody>
      </p:sp>
      <p:sp>
        <p:nvSpPr>
          <p:cNvPr id="1680768861" name="PlaceHolder 3"/>
          <p:cNvSpPr>
            <a:spLocks noGrp="1"/>
          </p:cNvSpPr>
          <p:nvPr>
            <p:ph type="sldNum" idx="6"/>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95317A31-48C8-4517-9DF0-142E0FDD40A9}"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8197061" name="PlaceHolder 1"/>
          <p:cNvSpPr>
            <a:spLocks noGrp="1"/>
          </p:cNvSpPr>
          <p:nvPr>
            <p:ph type="sldImg"/>
          </p:nvPr>
        </p:nvSpPr>
        <p:spPr bwMode="auto">
          <a:xfrm>
            <a:off x="685800" y="1143000"/>
            <a:ext cx="5485320" cy="3085200"/>
          </a:xfrm>
          <a:prstGeom prst="rect">
            <a:avLst/>
          </a:prstGeom>
          <a:ln w="0">
            <a:noFill/>
          </a:ln>
        </p:spPr>
      </p:sp>
      <p:sp>
        <p:nvSpPr>
          <p:cNvPr id="2078053390"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Let's be honest about the hand we're dealt. Population: under fifteen hundred, heading toward half that, and more than half of who's left qualifies for the senior discount. The mountains are ninety-three percent forest — but it's mostly aging cedar nobody's managing, which is less "majestic woodland" and more "pollen bomb waiting to landslide." The old elementary school shut down and now just costs the village money to sit there empty. And almost every yen we spend on energy leaves town. Four problems — or, if you squint, four raw materials waiting for a use.</a:t>
            </a:r>
            <a:endParaRPr lang="en-US" sz="2000" b="0" strike="noStrike" spc="-1">
              <a:solidFill>
                <a:srgbClr val="000000"/>
              </a:solidFill>
              <a:latin typeface="Arial"/>
            </a:endParaRPr>
          </a:p>
        </p:txBody>
      </p:sp>
      <p:sp>
        <p:nvSpPr>
          <p:cNvPr id="708000806" name="PlaceHolder 3"/>
          <p:cNvSpPr>
            <a:spLocks noGrp="1"/>
          </p:cNvSpPr>
          <p:nvPr>
            <p:ph type="sldNum" idx="7"/>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E2B8AEDC-1C5D-455F-A4FC-93420120635F}"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4639081" name="PlaceHolder 1"/>
          <p:cNvSpPr>
            <a:spLocks noGrp="1"/>
          </p:cNvSpPr>
          <p:nvPr>
            <p:ph type="sldImg"/>
          </p:nvPr>
        </p:nvSpPr>
        <p:spPr bwMode="auto">
          <a:xfrm>
            <a:off x="685800" y="1143000"/>
            <a:ext cx="5485320" cy="3085200"/>
          </a:xfrm>
          <a:prstGeom prst="rect">
            <a:avLst/>
          </a:prstGeom>
          <a:ln w="0">
            <a:noFill/>
          </a:ln>
        </p:spPr>
      </p:sp>
      <p:sp>
        <p:nvSpPr>
          <p:cNvPr id="960185448"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Picture a loop, not a line. The village manages the forest. The forest gives up timber and fuel. That fuel makes heat and power. That energy runs a small data center. The data center earns money. And that money flows back into the forest, the jobs, and the village. Subsidy might give it the first push, but after that the wheel keeps turning on its own — no hamster required.</a:t>
            </a:r>
            <a:endParaRPr lang="en-US" sz="2000" b="0" strike="noStrike" spc="-1">
              <a:solidFill>
                <a:srgbClr val="000000"/>
              </a:solidFill>
              <a:latin typeface="Arial"/>
            </a:endParaRPr>
          </a:p>
        </p:txBody>
      </p:sp>
      <p:sp>
        <p:nvSpPr>
          <p:cNvPr id="275554687" name="PlaceHolder 3"/>
          <p:cNvSpPr>
            <a:spLocks noGrp="1"/>
          </p:cNvSpPr>
          <p:nvPr>
            <p:ph type="sldNum" idx="8"/>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CD6A2504-AB4F-4636-98C5-20147CDD1BE3}"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0808976" name="PlaceHolder 1"/>
          <p:cNvSpPr>
            <a:spLocks noGrp="1"/>
          </p:cNvSpPr>
          <p:nvPr>
            <p:ph type="sldImg"/>
          </p:nvPr>
        </p:nvSpPr>
        <p:spPr bwMode="auto">
          <a:xfrm>
            <a:off x="685800" y="1143000"/>
            <a:ext cx="5485320" cy="3085200"/>
          </a:xfrm>
          <a:prstGeom prst="rect">
            <a:avLst/>
          </a:prstGeom>
          <a:ln w="0">
            <a:noFill/>
          </a:ln>
        </p:spPr>
      </p:sp>
      <p:sp>
        <p:nvSpPr>
          <p:cNvPr id="1537208940"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Now, the engine — the bit that makes this an investment, not a donation. We take the shuttered elementary school and turn it into a small, energy-efficient data center: edge and AI compute, running entirely on local renewable power. It's deliberately small — sized for accountability and community ownership, not some hyperscale monster. But it does something the forest and village can't do alone: it earns recurring revenue, year after year, to fund everything else.</a:t>
            </a:r>
            <a:endParaRPr lang="en-US" sz="2000" b="0" strike="noStrike" spc="-1">
              <a:solidFill>
                <a:srgbClr val="000000"/>
              </a:solidFill>
              <a:latin typeface="Arial"/>
            </a:endParaRPr>
          </a:p>
        </p:txBody>
      </p:sp>
      <p:sp>
        <p:nvSpPr>
          <p:cNvPr id="1767096312" name="PlaceHolder 3"/>
          <p:cNvSpPr>
            <a:spLocks noGrp="1"/>
          </p:cNvSpPr>
          <p:nvPr>
            <p:ph type="sldNum" idx="9"/>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0194D96C-B177-45CE-A009-0FAB144FB047}"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755052" name="PlaceHolder 1"/>
          <p:cNvSpPr>
            <a:spLocks noGrp="1"/>
          </p:cNvSpPr>
          <p:nvPr>
            <p:ph type="sldImg"/>
          </p:nvPr>
        </p:nvSpPr>
        <p:spPr bwMode="auto">
          <a:xfrm>
            <a:off x="685800" y="1143000"/>
            <a:ext cx="5485320" cy="3085200"/>
          </a:xfrm>
          <a:prstGeom prst="rect">
            <a:avLst/>
          </a:prstGeom>
          <a:ln w="0">
            <a:noFill/>
          </a:ln>
        </p:spPr>
      </p:sp>
      <p:sp>
        <p:nvSpPr>
          <p:cNvPr id="384394320"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The forest is where the environmental payoff lives, and it's a proper twenty-five-year project. Postwar Japan planted huge cedar monocultures and then just... walked away. We're swapping them out in phases for native broadleaf trees, working with landowners, the village forestry co-op, and the Forestry Agency. That does three things at once: the old cedar becomes fuel, biodiversity and water retention come back, and we pick up carbon credits along the way. Liability, meet feedstock.</a:t>
            </a:r>
            <a:endParaRPr lang="en-US" sz="2000" b="0" strike="noStrike" spc="-1">
              <a:solidFill>
                <a:srgbClr val="000000"/>
              </a:solidFill>
              <a:latin typeface="Arial"/>
            </a:endParaRPr>
          </a:p>
        </p:txBody>
      </p:sp>
      <p:sp>
        <p:nvSpPr>
          <p:cNvPr id="1676074046" name="PlaceHolder 3"/>
          <p:cNvSpPr>
            <a:spLocks noGrp="1"/>
          </p:cNvSpPr>
          <p:nvPr>
            <p:ph type="sldNum" idx="10"/>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64708AF2-E32F-44D1-AC85-38FE973D2638}"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8108120" name="PlaceHolder 1"/>
          <p:cNvSpPr>
            <a:spLocks noGrp="1"/>
          </p:cNvSpPr>
          <p:nvPr>
            <p:ph type="sldImg"/>
          </p:nvPr>
        </p:nvSpPr>
        <p:spPr bwMode="auto">
          <a:xfrm>
            <a:off x="685800" y="1143000"/>
            <a:ext cx="5485320" cy="3085200"/>
          </a:xfrm>
          <a:prstGeom prst="rect">
            <a:avLst/>
          </a:prstGeom>
          <a:ln w="0">
            <a:noFill/>
          </a:ln>
        </p:spPr>
      </p:sp>
      <p:sp>
        <p:nvSpPr>
          <p:cNvPr id="1677111743"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Priority check, because it drives everything else: power comes first. The whole point is electricity — running the data center and building out EV charging. That's the demand we're chasing. Heat is real, and we'll capture it, but nobody's promised to buy it yet, so we treat it as a bonus, not a foundation. The mix stays simple: biomass for baseload, the village's existing solar by day, grid as backup — biomass isn't a solo act, it's part of a band.</a:t>
            </a:r>
            <a:endParaRPr lang="en-US" sz="2000" b="0" strike="noStrike" spc="-1">
              <a:solidFill>
                <a:srgbClr val="000000"/>
              </a:solidFill>
              <a:latin typeface="Arial"/>
            </a:endParaRPr>
          </a:p>
        </p:txBody>
      </p:sp>
      <p:sp>
        <p:nvSpPr>
          <p:cNvPr id="98078676" name="PlaceHolder 3"/>
          <p:cNvSpPr>
            <a:spLocks noGrp="1"/>
          </p:cNvSpPr>
          <p:nvPr>
            <p:ph type="sldNum" idx="11"/>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F49F393C-5573-46C2-9494-105076381A6B}"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4390882" name="PlaceHolder 1"/>
          <p:cNvSpPr>
            <a:spLocks noGrp="1"/>
          </p:cNvSpPr>
          <p:nvPr>
            <p:ph type="sldImg"/>
          </p:nvPr>
        </p:nvSpPr>
        <p:spPr bwMode="auto">
          <a:xfrm>
            <a:off x="685800" y="1143000"/>
            <a:ext cx="5485320" cy="3085200"/>
          </a:xfrm>
          <a:prstGeom prst="rect">
            <a:avLst/>
          </a:prstGeom>
          <a:ln w="0">
            <a:noFill/>
          </a:ln>
        </p:spPr>
      </p:sp>
      <p:sp>
        <p:nvSpPr>
          <p:cNvPr id="161906715"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Here's the number that should raise eyebrows: 1,967 terajoules of local renewable potential sitting mostly untouched, and wood biomass is by far the biggest slice of that pie. Right now we're basically ignoring it. The Mitsue-kun Project changes that — sugi thinnings feed straight into a CHP unit, making baseload power and heat all year round. Every log we cut to restore the forest becomes fuel. Reforestation and energy independence, solving each other's problem.</a:t>
            </a:r>
            <a:endParaRPr lang="en-US" sz="2000" b="0" strike="noStrike" spc="-1">
              <a:solidFill>
                <a:srgbClr val="000000"/>
              </a:solidFill>
              <a:latin typeface="Arial"/>
            </a:endParaRPr>
          </a:p>
        </p:txBody>
      </p:sp>
      <p:sp>
        <p:nvSpPr>
          <p:cNvPr id="10707031" name="PlaceHolder 3"/>
          <p:cNvSpPr>
            <a:spLocks noGrp="1"/>
          </p:cNvSpPr>
          <p:nvPr>
            <p:ph type="sldNum" idx="12"/>
          </p:nvPr>
        </p:nvSpPr>
        <p:spPr bwMode="auto">
          <a:xfrm>
            <a:off x="3884760" y="8685360"/>
            <a:ext cx="2970720" cy="457560"/>
          </a:xfrm>
          <a:prstGeom prst="rect">
            <a:avLst/>
          </a:prstGeom>
          <a:noFill/>
          <a:ln w="0">
            <a:noFill/>
          </a:ln>
        </p:spPr>
        <p:txBody>
          <a:bodyPr lIns="91440" tIns="45720" rIns="91440" bIns="45720" anchor="b">
            <a:noAutofit/>
          </a:bodyPr>
          <a:p>
            <a:pPr indent="0">
              <a:buNone/>
              <a:defRPr/>
            </a:pPr>
            <a:endParaRPr lang="en-US" sz="14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5816601" name="PlaceHolder 1"/>
          <p:cNvSpPr>
            <a:spLocks noGrp="1"/>
          </p:cNvSpPr>
          <p:nvPr>
            <p:ph type="sldImg"/>
          </p:nvPr>
        </p:nvSpPr>
        <p:spPr bwMode="auto">
          <a:xfrm>
            <a:off x="685800" y="1143000"/>
            <a:ext cx="5485320" cy="3085200"/>
          </a:xfrm>
          <a:prstGeom prst="rect">
            <a:avLst/>
          </a:prstGeom>
          <a:ln w="0">
            <a:noFill/>
          </a:ln>
        </p:spPr>
      </p:sp>
      <p:sp>
        <p:nvSpPr>
          <p:cNvPr id="347966941"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Now the numbers investors actually care about. Today, Mitsue imports about ninety percent of its energy and self-sufficiency sits in the single digits — basically, we're buying electricity like takeout every night. By twenty-fifty, the model flips that: energy self-sufficiency over a hundred percent, import dependency down to a quarter, the trade balance flipped from red to black, and emissions cut by about three-quarters. Illustrative numbers pending the full simulator run — but the direction isn't really in question.</a:t>
            </a:r>
            <a:endParaRPr lang="en-US" sz="2000" b="0" strike="noStrike" spc="-1">
              <a:solidFill>
                <a:srgbClr val="000000"/>
              </a:solidFill>
              <a:latin typeface="Arial"/>
            </a:endParaRPr>
          </a:p>
        </p:txBody>
      </p:sp>
      <p:sp>
        <p:nvSpPr>
          <p:cNvPr id="1423406845" name="PlaceHolder 3"/>
          <p:cNvSpPr>
            <a:spLocks noGrp="1"/>
          </p:cNvSpPr>
          <p:nvPr>
            <p:ph type="sldNum" idx="13"/>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5294D228-62FE-4778-9EA6-2D64AFCD07CE}"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9399647" name="PlaceHolder 1"/>
          <p:cNvSpPr>
            <a:spLocks noGrp="1"/>
          </p:cNvSpPr>
          <p:nvPr>
            <p:ph type="sldImg"/>
          </p:nvPr>
        </p:nvSpPr>
        <p:spPr bwMode="auto">
          <a:xfrm>
            <a:off x="685800" y="1143000"/>
            <a:ext cx="5485320" cy="3085200"/>
          </a:xfrm>
          <a:prstGeom prst="rect">
            <a:avLst/>
          </a:prstGeom>
          <a:ln w="0">
            <a:noFill/>
          </a:ln>
        </p:spPr>
      </p:sp>
      <p:sp>
        <p:nvSpPr>
          <p:cNvPr id="1407107912"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So what does an investor actually walk away with? Not one return — five, and they stack. Ecological: a restored watershed and carbon pulled down. Energy: a village that stops shipping cash out the door. Economic: real jobs in forestry, operations, hosting. Digital: edge compute rural Japan is starving for. And knowledge: because we publish everything openly, every lesson becomes a template someone else can copy — legally, and on purpose. That last one is the real multiplier.</a:t>
            </a:r>
            <a:endParaRPr lang="en-US" sz="2000" b="0" strike="noStrike" spc="-1">
              <a:solidFill>
                <a:srgbClr val="000000"/>
              </a:solidFill>
              <a:latin typeface="Arial"/>
            </a:endParaRPr>
          </a:p>
        </p:txBody>
      </p:sp>
      <p:sp>
        <p:nvSpPr>
          <p:cNvPr id="833389770" name="PlaceHolder 3"/>
          <p:cNvSpPr>
            <a:spLocks noGrp="1"/>
          </p:cNvSpPr>
          <p:nvPr>
            <p:ph type="sldNum" idx="14"/>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B76C15D0-D74D-4976-ABAF-4723DCEF990C}"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8806758" name="PlaceHolder 1"/>
          <p:cNvSpPr>
            <a:spLocks noGrp="1"/>
          </p:cNvSpPr>
          <p:nvPr>
            <p:ph type="sldImg"/>
          </p:nvPr>
        </p:nvSpPr>
        <p:spPr bwMode="auto">
          <a:xfrm>
            <a:off x="685800" y="1143000"/>
            <a:ext cx="5485320" cy="3085200"/>
          </a:xfrm>
          <a:prstGeom prst="rect">
            <a:avLst/>
          </a:prstGeom>
          <a:ln w="0">
            <a:noFill/>
          </a:ln>
        </p:spPr>
      </p:sp>
      <p:sp>
        <p:nvSpPr>
          <p:cNvPr id="284313931"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This is the part that should make a cautious funder relax a little. We're not asking for one giant cheque up front. The first three years break into five phases, each behind its own funding gate — miss a gate, and the plan is honest: we pause and re-pitch, or we scale back, never barrel ahead unfunded. Right now we're in Phase Zero: pre-foundation, self-funded, no press, no flashy website — exactly where a sensible project should be before asking anyone for money.</a:t>
            </a:r>
            <a:endParaRPr lang="en-US" sz="2000" b="0" strike="noStrike" spc="-1">
              <a:solidFill>
                <a:srgbClr val="000000"/>
              </a:solidFill>
              <a:latin typeface="Arial"/>
            </a:endParaRPr>
          </a:p>
        </p:txBody>
      </p:sp>
      <p:sp>
        <p:nvSpPr>
          <p:cNvPr id="1254324573" name="PlaceHolder 3"/>
          <p:cNvSpPr>
            <a:spLocks noGrp="1"/>
          </p:cNvSpPr>
          <p:nvPr>
            <p:ph type="sldNum" idx="15"/>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A344FA70-6138-453C-948E-5643849F220D}"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5173655" name="PlaceHolder 1"/>
          <p:cNvSpPr>
            <a:spLocks noGrp="1"/>
          </p:cNvSpPr>
          <p:nvPr>
            <p:ph type="sldImg"/>
          </p:nvPr>
        </p:nvSpPr>
        <p:spPr bwMode="auto">
          <a:xfrm>
            <a:off x="685800" y="1143000"/>
            <a:ext cx="5485320" cy="3085200"/>
          </a:xfrm>
          <a:prstGeom prst="rect">
            <a:avLst/>
          </a:prstGeom>
          <a:ln w="0">
            <a:noFill/>
          </a:ln>
        </p:spPr>
      </p:sp>
      <p:sp>
        <p:nvSpPr>
          <p:cNvPr id="842248640"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The money is layered just like the phases. Five sources, each unlocked by what came before, so we're never betting everything on a single donor. Founder capital gets it moving. Government grants — NEDO, METI, the prefecture, the village — do the heavy lifting. Foundations and corporate partners add more. And by year three, actual operating revenue starts pulling its own weight. We go from about eleven million yen in year one to roughly one hundred thirty-four million by year three — planning targets, not promises, and we say so out loud.</a:t>
            </a:r>
            <a:endParaRPr lang="en-US" sz="2000" b="0" strike="noStrike" spc="-1">
              <a:solidFill>
                <a:srgbClr val="000000"/>
              </a:solidFill>
              <a:latin typeface="Arial"/>
            </a:endParaRPr>
          </a:p>
        </p:txBody>
      </p:sp>
      <p:sp>
        <p:nvSpPr>
          <p:cNvPr id="1190119052" name="PlaceHolder 3"/>
          <p:cNvSpPr>
            <a:spLocks noGrp="1"/>
          </p:cNvSpPr>
          <p:nvPr>
            <p:ph type="sldNum" idx="16"/>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519A91B9-E95A-4E84-8C8D-524479FCD038}"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2679925" name="PlaceHolder 1"/>
          <p:cNvSpPr>
            <a:spLocks noGrp="1"/>
          </p:cNvSpPr>
          <p:nvPr>
            <p:ph type="sldImg"/>
          </p:nvPr>
        </p:nvSpPr>
        <p:spPr bwMode="auto">
          <a:xfrm>
            <a:off x="685800" y="1143000"/>
            <a:ext cx="5485320" cy="3085200"/>
          </a:xfrm>
          <a:prstGeom prst="rect">
            <a:avLst/>
          </a:prstGeom>
          <a:ln w="0">
            <a:noFill/>
          </a:ln>
        </p:spPr>
      </p:sp>
      <p:sp>
        <p:nvSpPr>
          <p:cNvPr id="1374432317"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Here's the case for patience. A grant gets spent once and then it's gone, like a firework. What we're building keeps producing for twenty-five years and beyond. As the phases mature, the funding mix flips — it starts almost entirely grant-dependent and ends up carried by four recurring revenue streams: compute hosting, energy feed-in, EV charging, carbon credits. Twenty-five years is the bridge between today's rural deficit and the smaller, local power generation we expect down that road. You're not funding an expense — you're seeding something closer to an endowment, just made of forest, energy, and servers instead of stocks and bonds.</a:t>
            </a:r>
            <a:endParaRPr lang="en-US" sz="2000" b="0" strike="noStrike" spc="-1">
              <a:solidFill>
                <a:srgbClr val="000000"/>
              </a:solidFill>
              <a:latin typeface="Arial"/>
            </a:endParaRPr>
          </a:p>
        </p:txBody>
      </p:sp>
      <p:sp>
        <p:nvSpPr>
          <p:cNvPr id="811157692" name="PlaceHolder 3"/>
          <p:cNvSpPr>
            <a:spLocks noGrp="1"/>
          </p:cNvSpPr>
          <p:nvPr>
            <p:ph type="sldNum" idx="17"/>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F0EA3ABF-19F7-4229-8FAF-B3D151EDE18C}"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2812771" name="PlaceHolder 1"/>
          <p:cNvSpPr>
            <a:spLocks noGrp="1"/>
          </p:cNvSpPr>
          <p:nvPr>
            <p:ph type="sldImg"/>
          </p:nvPr>
        </p:nvSpPr>
        <p:spPr bwMode="auto">
          <a:xfrm>
            <a:off x="685800" y="1143000"/>
            <a:ext cx="5485320" cy="3085200"/>
          </a:xfrm>
          <a:prstGeom prst="rect">
            <a:avLst/>
          </a:prstGeom>
          <a:ln w="0">
            <a:noFill/>
          </a:ln>
        </p:spPr>
      </p:sp>
      <p:sp>
        <p:nvSpPr>
          <p:cNvPr id="1198565159"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Quick who's-who. I'm Rob Oudendijk, of YR-Design and Safecast — Safecast being the open environmental-data network that came out of Fukushima, which should tell you how seriously we take transparency. Legally, we're moving from a general incorporated association today toward certified non-profit status, so donations become tax-deductible. And we've got some genuinely heavyweight advisors: Ray Ozzie, San Poisson, Professor Emeritus Takuo Dome, and Evin Zoet and Yoshiko Zoet-Suzuki of Transom. Small team, serious people, and the books are open.</a:t>
            </a:r>
            <a:endParaRPr lang="en-US" sz="2000" b="0" strike="noStrike" spc="-1">
              <a:solidFill>
                <a:srgbClr val="000000"/>
              </a:solidFill>
              <a:latin typeface="Arial"/>
            </a:endParaRPr>
          </a:p>
        </p:txBody>
      </p:sp>
      <p:sp>
        <p:nvSpPr>
          <p:cNvPr id="1519720823" name="PlaceHolder 3"/>
          <p:cNvSpPr>
            <a:spLocks noGrp="1"/>
          </p:cNvSpPr>
          <p:nvPr>
            <p:ph type="sldNum" idx="18"/>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E72729F8-EB06-4921-8626-ABBEA537B801}"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1537023" name="PlaceHolder 1"/>
          <p:cNvSpPr>
            <a:spLocks noGrp="1"/>
          </p:cNvSpPr>
          <p:nvPr>
            <p:ph type="sldImg"/>
          </p:nvPr>
        </p:nvSpPr>
        <p:spPr bwMode="auto">
          <a:xfrm>
            <a:off x="685800" y="1143000"/>
            <a:ext cx="5485320" cy="3085200"/>
          </a:xfrm>
          <a:prstGeom prst="rect">
            <a:avLst/>
          </a:prstGeom>
          <a:ln w="0">
            <a:noFill/>
          </a:ln>
        </p:spPr>
      </p:sp>
      <p:sp>
        <p:nvSpPr>
          <p:cNvPr id="1462431492"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Here's why this is worth more than just one village. Mitsue isn't the destination — it's the prototype. Hundreds of depopulating towns across Japan sit on the exact same raw materials: empty forest, a shuttered school, a fat energy bill, and a shrinking population. Everything we learn — methods, finances, governance — gets published openly. So the real product here isn't the data center. It's the playbook. Fund Mitsue once, and you're quietly funding the template for a few hundred more.</a:t>
            </a:r>
            <a:endParaRPr lang="en-US" sz="2000" b="0" strike="noStrike" spc="-1">
              <a:solidFill>
                <a:srgbClr val="000000"/>
              </a:solidFill>
              <a:latin typeface="Arial"/>
            </a:endParaRPr>
          </a:p>
        </p:txBody>
      </p:sp>
      <p:sp>
        <p:nvSpPr>
          <p:cNvPr id="1598161931" name="PlaceHolder 3"/>
          <p:cNvSpPr>
            <a:spLocks noGrp="1"/>
          </p:cNvSpPr>
          <p:nvPr>
            <p:ph type="sldNum" idx="19"/>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A10CDEC8-5556-40A0-810F-A9B12B0988F1}"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8642893" name="PlaceHolder 1"/>
          <p:cNvSpPr>
            <a:spLocks noGrp="1"/>
          </p:cNvSpPr>
          <p:nvPr>
            <p:ph type="sldImg"/>
          </p:nvPr>
        </p:nvSpPr>
        <p:spPr bwMode="auto">
          <a:xfrm>
            <a:off x="685800" y="1143000"/>
            <a:ext cx="5485320" cy="3085200"/>
          </a:xfrm>
          <a:prstGeom prst="rect">
            <a:avLst/>
          </a:prstGeom>
          <a:ln w="0">
            <a:noFill/>
          </a:ln>
        </p:spPr>
      </p:sp>
      <p:sp>
        <p:nvSpPr>
          <p:cNvPr id="861979559" name="PlaceHolder 2"/>
          <p:cNvSpPr>
            <a:spLocks noGrp="1"/>
          </p:cNvSpPr>
          <p:nvPr>
            <p:ph type="body"/>
          </p:nvPr>
        </p:nvSpPr>
        <p:spPr bwMode="auto">
          <a:xfrm>
            <a:off x="685800" y="4400640"/>
            <a:ext cx="5485320" cy="3599280"/>
          </a:xfrm>
          <a:prstGeom prst="rect">
            <a:avLst/>
          </a:prstGeom>
          <a:noFill/>
          <a:ln w="0">
            <a:noFill/>
          </a:ln>
        </p:spPr>
        <p:txBody>
          <a:bodyPr lIns="91440" tIns="45720" rIns="91440" bIns="45720" anchor="t">
            <a:noAutofit/>
          </a:bodyPr>
          <a:p>
            <a:pPr marL="216000" indent="0">
              <a:lnSpc>
                <a:spcPct val="100000"/>
              </a:lnSpc>
              <a:buNone/>
              <a:defRPr/>
            </a:pPr>
            <a:r>
              <a:rPr lang="en-US" sz="2000" b="0" strike="noStrike" spc="-1">
                <a:solidFill>
                  <a:srgbClr val="000000"/>
                </a:solidFill>
                <a:latin typeface="Arial"/>
              </a:rPr>
              <a:t>So here's the ask. We're in Phase Zero, looking for partners to help us clear Gate One — three to eight million yen to stand up the legal entity, the feasibility work, and proper advisors for the next phase. Come in as a founding partner — government, foundation, corporate, impact investor, doesn't matter which. What you get isn't a logo on a wall. You get a stake in the first fully documented model for reviving rural Japan — and bragging rights for having helped write the blueprint everyone else copies. Thank you. Let's talk.</a:t>
            </a:r>
            <a:endParaRPr lang="en-US" sz="2000" b="0" strike="noStrike" spc="-1">
              <a:solidFill>
                <a:srgbClr val="000000"/>
              </a:solidFill>
              <a:latin typeface="Arial"/>
            </a:endParaRPr>
          </a:p>
        </p:txBody>
      </p:sp>
      <p:sp>
        <p:nvSpPr>
          <p:cNvPr id="227209954" name="PlaceHolder 3"/>
          <p:cNvSpPr>
            <a:spLocks noGrp="1"/>
          </p:cNvSpPr>
          <p:nvPr>
            <p:ph type="sldNum" idx="20"/>
          </p:nvPr>
        </p:nvSpPr>
        <p:spPr bwMode="auto">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defRPr/>
            </a:pPr>
            <a:fld id="{7C638ECE-FBD5-47AD-B710-F10DFBB1C6E7}" type="slidenum">
              <a:rPr lang="en-US" sz="1200" b="0" strike="noStrike" spc="-1">
                <a:solidFill>
                  <a:schemeClr val="dk1"/>
                </a:solidFill>
                <a:latin typeface="+mn-lt"/>
                <a:ea typeface="+mn-ea"/>
              </a:rPr>
              <a:t>&lt;number&gt;</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1229897221" name="PlaceHolder 1"/>
          <p:cNvSpPr>
            <a:spLocks noGrp="1"/>
          </p:cNvSpPr>
          <p:nvPr>
            <p:ph type="title"/>
          </p:nvPr>
        </p:nvSpPr>
        <p:spPr bwMode="auto">
          <a:xfrm>
            <a:off x="914400" y="410400"/>
            <a:ext cx="16458840" cy="1717560"/>
          </a:xfrm>
          <a:prstGeom prst="rect">
            <a:avLst/>
          </a:prstGeom>
          <a:noFill/>
          <a:ln w="0">
            <a:noFill/>
          </a:ln>
        </p:spPr>
        <p:txBody>
          <a:bodyPr lIns="0" tIns="0" rIns="0" bIns="0" anchor="ctr">
            <a:noAutofit/>
          </a:bodyPr>
          <a:p>
            <a:pPr indent="0" algn="ctr">
              <a:buNone/>
              <a:defRPr/>
            </a:pPr>
            <a:r>
              <a:rPr lang="en-US" sz="4400" b="0" strike="noStrike" spc="-1">
                <a:solidFill>
                  <a:srgbClr val="000000"/>
                </a:solidFill>
                <a:latin typeface="Arial"/>
              </a:rPr>
              <a:t>Click to edit the title text format</a:t>
            </a:r>
            <a:endParaRPr lang="en-US" sz="4400" b="0" strike="noStrike" spc="-1">
              <a:solidFill>
                <a:srgbClr val="000000"/>
              </a:solidFill>
              <a:latin typeface="Arial"/>
            </a:endParaRPr>
          </a:p>
        </p:txBody>
      </p:sp>
      <p:sp>
        <p:nvSpPr>
          <p:cNvPr id="1485891876" name="PlaceHolder 2"/>
          <p:cNvSpPr>
            <a:spLocks noGrp="1"/>
          </p:cNvSpPr>
          <p:nvPr>
            <p:ph type="body"/>
          </p:nvPr>
        </p:nvSpPr>
        <p:spPr bwMode="auto">
          <a:xfrm>
            <a:off x="914400" y="2406960"/>
            <a:ext cx="16458840" cy="5965920"/>
          </a:xfrm>
          <a:prstGeom prst="rect">
            <a:avLst/>
          </a:prstGeom>
          <a:noFill/>
          <a:ln w="0">
            <a:noFill/>
          </a:ln>
        </p:spPr>
        <p:txBody>
          <a:bodyPr lIns="0" tIns="0" rIns="0" bIns="0" anchor="t">
            <a:normAutofit/>
          </a:bodyPr>
          <a:p>
            <a:pPr marL="432000" indent="-324000">
              <a:spcBef>
                <a:spcPts val="1417"/>
              </a:spcBef>
              <a:buClr>
                <a:srgbClr val="000000"/>
              </a:buClr>
              <a:buSzPct val="45000"/>
              <a:buFont typeface="Wingdings"/>
              <a:buChar char=""/>
              <a:defRPr/>
            </a:pPr>
            <a:r>
              <a:rPr lang="en-US" sz="3200" b="0" strike="noStrike" spc="-1">
                <a:solidFill>
                  <a:srgbClr val="000000"/>
                </a:solidFill>
                <a:latin typeface="Arial"/>
              </a:rPr>
              <a:t>Click to edit the outline text format</a:t>
            </a:r>
            <a:endParaRPr lang="en-US" sz="3200" b="0" strike="noStrike" spc="-1">
              <a:solidFill>
                <a:srgbClr val="000000"/>
              </a:solidFill>
              <a:latin typeface="Arial"/>
            </a:endParaRPr>
          </a:p>
          <a:p>
            <a:pPr marL="864000" lvl="1" indent="-324000">
              <a:spcBef>
                <a:spcPts val="1134"/>
              </a:spcBef>
              <a:buClr>
                <a:srgbClr val="000000"/>
              </a:buClr>
              <a:buSzPct val="75000"/>
              <a:buFont typeface="Symbol"/>
              <a:buChar char=""/>
              <a:defRPr/>
            </a:pPr>
            <a:r>
              <a:rPr lang="en-US" sz="2800" b="0" strike="noStrike" spc="-1">
                <a:solidFill>
                  <a:srgbClr val="000000"/>
                </a:solidFill>
                <a:latin typeface="Arial"/>
              </a:rPr>
              <a:t>Second Outline Level</a:t>
            </a:r>
            <a:endParaRPr lang="en-US" sz="2800" b="0" strike="noStrike" spc="-1">
              <a:solidFill>
                <a:srgbClr val="000000"/>
              </a:solidFill>
              <a:latin typeface="Arial"/>
            </a:endParaRPr>
          </a:p>
          <a:p>
            <a:pPr marL="1296000" lvl="2" indent="-288000">
              <a:spcBef>
                <a:spcPts val="850"/>
              </a:spcBef>
              <a:buClr>
                <a:srgbClr val="000000"/>
              </a:buClr>
              <a:buSzPct val="45000"/>
              <a:buFont typeface="Wingdings"/>
              <a:buChar char=""/>
              <a:defRPr/>
            </a:pPr>
            <a:r>
              <a:rPr lang="en-US" sz="2400" b="0" strike="noStrike" spc="-1">
                <a:solidFill>
                  <a:srgbClr val="000000"/>
                </a:solidFill>
                <a:latin typeface="Arial"/>
              </a:rPr>
              <a:t>Third Outline Level</a:t>
            </a:r>
            <a:endParaRPr lang="en-US" sz="2400" b="0" strike="noStrike" spc="-1">
              <a:solidFill>
                <a:srgbClr val="000000"/>
              </a:solidFill>
              <a:latin typeface="Arial"/>
            </a:endParaRPr>
          </a:p>
          <a:p>
            <a:pPr marL="1728000" lvl="3" indent="-216000">
              <a:spcBef>
                <a:spcPts val="567"/>
              </a:spcBef>
              <a:buClr>
                <a:srgbClr val="000000"/>
              </a:buClr>
              <a:buSzPct val="75000"/>
              <a:buFont typeface="Symbol"/>
              <a:buChar char=""/>
              <a:defRPr/>
            </a:pPr>
            <a:r>
              <a:rPr lang="en-US" sz="2000" b="0" strike="noStrike" spc="-1">
                <a:solidFill>
                  <a:srgbClr val="000000"/>
                </a:solidFill>
                <a:latin typeface="Arial"/>
              </a:rPr>
              <a:t>Fourth Outline Level</a:t>
            </a:r>
            <a:endParaRPr lang="en-US" sz="2000" b="0" strike="noStrike" spc="-1">
              <a:solidFill>
                <a:srgbClr val="000000"/>
              </a:solidFill>
              <a:latin typeface="Arial"/>
            </a:endParaRPr>
          </a:p>
          <a:p>
            <a:pPr marL="2160000" lvl="4" indent="-216000">
              <a:spcBef>
                <a:spcPts val="283"/>
              </a:spcBef>
              <a:buClr>
                <a:srgbClr val="000000"/>
              </a:buClr>
              <a:buSzPct val="45000"/>
              <a:buFont typeface="Wingdings"/>
              <a:buChar char=""/>
              <a:defRPr/>
            </a:pPr>
            <a:r>
              <a:rPr lang="en-US" sz="2000" b="0" strike="noStrike" spc="-1">
                <a:solidFill>
                  <a:srgbClr val="000000"/>
                </a:solidFill>
                <a:latin typeface="Arial"/>
              </a:rPr>
              <a:t>Fifth Outline Level</a:t>
            </a:r>
            <a:endParaRPr lang="en-US" sz="2000" b="0" strike="noStrike" spc="-1">
              <a:solidFill>
                <a:srgbClr val="000000"/>
              </a:solidFill>
              <a:latin typeface="Arial"/>
            </a:endParaRPr>
          </a:p>
          <a:p>
            <a:pPr marL="2592000" lvl="5" indent="-216000">
              <a:spcBef>
                <a:spcPts val="283"/>
              </a:spcBef>
              <a:buClr>
                <a:srgbClr val="000000"/>
              </a:buClr>
              <a:buSzPct val="45000"/>
              <a:buFont typeface="Wingdings"/>
              <a:buChar char=""/>
              <a:defRPr/>
            </a:pPr>
            <a:r>
              <a:rPr lang="en-US" sz="2000" b="0" strike="noStrike" spc="-1">
                <a:solidFill>
                  <a:srgbClr val="000000"/>
                </a:solidFill>
                <a:latin typeface="Arial"/>
              </a:rPr>
              <a:t>Sixth Outline Level</a:t>
            </a:r>
            <a:endParaRPr lang="en-US" sz="2000" b="0" strike="noStrike" spc="-1">
              <a:solidFill>
                <a:srgbClr val="000000"/>
              </a:solidFill>
              <a:latin typeface="Arial"/>
            </a:endParaRPr>
          </a:p>
          <a:p>
            <a:pPr marL="3024000" lvl="6" indent="-216000">
              <a:spcBef>
                <a:spcPts val="283"/>
              </a:spcBef>
              <a:buClr>
                <a:srgbClr val="000000"/>
              </a:buClr>
              <a:buSzPct val="45000"/>
              <a:buFont typeface="Wingdings"/>
              <a:buChar char=""/>
              <a:defRPr/>
            </a:pPr>
            <a:r>
              <a:rPr lang="en-US" sz="2000" b="0" strike="noStrike" spc="-1">
                <a:solidFill>
                  <a:srgbClr val="000000"/>
                </a:solidFill>
                <a:latin typeface="Arial"/>
              </a:rPr>
              <a:t>Seventh Outline Level</a:t>
            </a:r>
            <a:endParaRPr lang="en-US" sz="20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media1.sv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jpg"/><Relationship Id="rId7" Type="http://schemas.openxmlformats.org/officeDocument/2006/relationships/image" Target="../media/image1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3.jp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36138691"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075065451" name="Shape 1"/>
          <p:cNvSpPr/>
          <p:nvPr/>
        </p:nvSpPr>
        <p:spPr bwMode="auto">
          <a:xfrm>
            <a:off x="0" y="600120"/>
            <a:ext cx="1828692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911044573" name="Text 2"/>
          <p:cNvSpPr/>
          <p:nvPr/>
        </p:nvSpPr>
        <p:spPr bwMode="auto">
          <a:xfrm>
            <a:off x="609480" y="243000"/>
            <a:ext cx="239220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strike="noStrike" spc="245">
                <a:solidFill>
                  <a:srgbClr val="6E7174"/>
                </a:solidFill>
                <a:latin typeface="Open Sans"/>
                <a:ea typeface="Open Sans"/>
              </a:rPr>
              <a:t>YR-DESIGN · SAFECAST</a:t>
            </a:r>
            <a:endParaRPr lang="en-US" sz="1150" b="0" strike="noStrike" spc="-1">
              <a:solidFill>
                <a:srgbClr val="000000"/>
              </a:solidFill>
              <a:latin typeface="Arial"/>
            </a:endParaRPr>
          </a:p>
        </p:txBody>
      </p:sp>
      <p:sp>
        <p:nvSpPr>
          <p:cNvPr id="1678776934" name="Text 3"/>
          <p:cNvSpPr/>
          <p:nvPr/>
        </p:nvSpPr>
        <p:spPr bwMode="auto">
          <a:xfrm>
            <a:off x="6929640" y="228600"/>
            <a:ext cx="5142600" cy="255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strike="noStrike" spc="245">
                <a:solidFill>
                  <a:srgbClr val="9B9DA0"/>
                </a:solidFill>
                <a:latin typeface="Open Sans"/>
                <a:ea typeface="Open Sans"/>
              </a:rPr>
              <a:t>IMPACT INVESTMENT PROSPECTUS · </a:t>
            </a:r>
            <a:r>
              <a:rPr lang="zh-CN" sz="1150" b="1" strike="noStrike" spc="245">
                <a:solidFill>
                  <a:srgbClr val="9B9DA0"/>
                </a:solidFill>
                <a:latin typeface="Open Sans"/>
                <a:ea typeface="Open Sans"/>
              </a:rPr>
              <a:t>インパクト投資</a:t>
            </a:r>
            <a:endParaRPr lang="en-US" sz="1150" b="0" strike="noStrike" spc="-1">
              <a:solidFill>
                <a:srgbClr val="000000"/>
              </a:solidFill>
              <a:latin typeface="Arial"/>
            </a:endParaRPr>
          </a:p>
        </p:txBody>
      </p:sp>
      <p:sp>
        <p:nvSpPr>
          <p:cNvPr id="1622767656" name="Text 4"/>
          <p:cNvSpPr/>
          <p:nvPr/>
        </p:nvSpPr>
        <p:spPr bwMode="auto">
          <a:xfrm>
            <a:off x="15750360" y="243000"/>
            <a:ext cx="212004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strike="noStrike" spc="245">
                <a:solidFill>
                  <a:srgbClr val="E58520"/>
                </a:solidFill>
                <a:latin typeface="Open Sans"/>
                <a:ea typeface="Open Sans"/>
              </a:rPr>
              <a:t>NARA, JAPAN · 2026</a:t>
            </a:r>
            <a:endParaRPr lang="en-US" sz="1150" b="0" strike="noStrike" spc="-1">
              <a:solidFill>
                <a:srgbClr val="000000"/>
              </a:solidFill>
              <a:latin typeface="Arial"/>
            </a:endParaRPr>
          </a:p>
        </p:txBody>
      </p:sp>
      <p:sp>
        <p:nvSpPr>
          <p:cNvPr id="1105083757" name="Shape 5"/>
          <p:cNvSpPr/>
          <p:nvPr/>
        </p:nvSpPr>
        <p:spPr bwMode="auto">
          <a:xfrm>
            <a:off x="609480" y="150984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67905646" name="Text 6"/>
          <p:cNvSpPr/>
          <p:nvPr/>
        </p:nvSpPr>
        <p:spPr bwMode="auto">
          <a:xfrm>
            <a:off x="1200240" y="1409759"/>
            <a:ext cx="525960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40">
                <a:solidFill>
                  <a:srgbClr val="9B9DA0"/>
                </a:solidFill>
                <a:latin typeface="Open Sans"/>
                <a:ea typeface="Open Sans"/>
              </a:rPr>
              <a:t>A 25-YEAR MODEL FOR RURAL REGENERATION</a:t>
            </a:r>
            <a:endParaRPr lang="en-US" sz="1450" b="0" strike="noStrike" spc="-1">
              <a:solidFill>
                <a:srgbClr val="000000"/>
              </a:solidFill>
              <a:latin typeface="Arial"/>
            </a:endParaRPr>
          </a:p>
        </p:txBody>
      </p:sp>
      <p:sp>
        <p:nvSpPr>
          <p:cNvPr id="1888108418" name="Text 7"/>
          <p:cNvSpPr/>
          <p:nvPr/>
        </p:nvSpPr>
        <p:spPr bwMode="auto">
          <a:xfrm>
            <a:off x="609480" y="1943280"/>
            <a:ext cx="8915040" cy="2361240"/>
          </a:xfrm>
          <a:prstGeom prst="rect">
            <a:avLst/>
          </a:prstGeom>
          <a:noFill/>
          <a:ln w="0">
            <a:noFill/>
          </a:ln>
        </p:spPr>
        <p:style>
          <a:lnRef idx="0"/>
          <a:fillRef idx="0"/>
          <a:effectRef idx="0"/>
          <a:fontRef idx="minor"/>
        </p:style>
        <p:txBody>
          <a:bodyPr lIns="25560" tIns="25560" rIns="25560" bIns="25560" anchor="t">
            <a:normAutofit fontScale="94444"/>
          </a:bodyPr>
          <a:p>
            <a:pPr defTabSz="914400">
              <a:lnSpc>
                <a:spcPct val="100000"/>
              </a:lnSpc>
              <a:tabLst>
                <a:tab pos="0" algn="l"/>
              </a:tabLst>
              <a:defRPr/>
            </a:pPr>
            <a:r>
              <a:rPr lang="en-US" sz="8000" b="1" strike="noStrike" spc="-46">
                <a:solidFill>
                  <a:srgbClr val="2E2E2E"/>
                </a:solidFill>
                <a:latin typeface="Arial"/>
                <a:ea typeface="Arial"/>
              </a:rPr>
              <a:t>Mitsue AI Data Center Project</a:t>
            </a:r>
            <a:endParaRPr lang="en-US" sz="8000" b="0" strike="noStrike" spc="-1">
              <a:solidFill>
                <a:srgbClr val="000000"/>
              </a:solidFill>
              <a:latin typeface="Arial"/>
            </a:endParaRPr>
          </a:p>
        </p:txBody>
      </p:sp>
      <p:sp>
        <p:nvSpPr>
          <p:cNvPr id="1719841776" name="Text 8"/>
          <p:cNvSpPr/>
          <p:nvPr/>
        </p:nvSpPr>
        <p:spPr bwMode="auto">
          <a:xfrm>
            <a:off x="609480" y="4476600"/>
            <a:ext cx="9520920" cy="656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3300" b="1" strike="noStrike" spc="62">
                <a:solidFill>
                  <a:srgbClr val="6E7174"/>
                </a:solidFill>
                <a:latin typeface="Noto Sans JP"/>
                <a:ea typeface="Noto Sans JP"/>
              </a:rPr>
              <a:t>御杖</a:t>
            </a:r>
            <a:r>
              <a:rPr lang="en-US" sz="3300" b="1" strike="noStrike" spc="62">
                <a:solidFill>
                  <a:srgbClr val="6E7174"/>
                </a:solidFill>
                <a:latin typeface="Noto Sans JP"/>
                <a:ea typeface="Noto Sans JP"/>
              </a:rPr>
              <a:t>AI</a:t>
            </a:r>
            <a:r>
              <a:rPr lang="zh-CN" sz="3300" b="1" strike="noStrike" spc="62">
                <a:solidFill>
                  <a:srgbClr val="6E7174"/>
                </a:solidFill>
                <a:latin typeface="Noto Sans JP"/>
                <a:ea typeface="Noto Sans JP"/>
              </a:rPr>
              <a:t>データセンタープロジェクト</a:t>
            </a:r>
            <a:endParaRPr lang="en-US" sz="3300" b="0" strike="noStrike" spc="-1">
              <a:solidFill>
                <a:srgbClr val="000000"/>
              </a:solidFill>
              <a:latin typeface="Arial"/>
            </a:endParaRPr>
          </a:p>
        </p:txBody>
      </p:sp>
      <p:sp>
        <p:nvSpPr>
          <p:cNvPr id="476545023" name="Text 9"/>
          <p:cNvSpPr/>
          <p:nvPr/>
        </p:nvSpPr>
        <p:spPr bwMode="auto">
          <a:xfrm>
            <a:off x="609480" y="5754960"/>
            <a:ext cx="6277680" cy="16905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40000"/>
              </a:lnSpc>
              <a:tabLst>
                <a:tab pos="0" algn="l"/>
              </a:tabLst>
              <a:defRPr/>
            </a:pPr>
            <a:r>
              <a:rPr lang="en-US" sz="2350" b="0" strike="noStrike" spc="-1">
                <a:solidFill>
                  <a:srgbClr val="3A3A3A"/>
                </a:solidFill>
                <a:latin typeface="Open Sans"/>
                <a:ea typeface="Open Sans"/>
              </a:rPr>
              <a:t>Restored forest, local clean energy, and a community-owned data center — one integrated system, openly documented for any village to follow.</a:t>
            </a:r>
            <a:endParaRPr lang="en-US" sz="2350" b="0" strike="noStrike" spc="-1">
              <a:solidFill>
                <a:srgbClr val="000000"/>
              </a:solidFill>
              <a:latin typeface="Arial"/>
            </a:endParaRPr>
          </a:p>
        </p:txBody>
      </p:sp>
      <p:sp>
        <p:nvSpPr>
          <p:cNvPr id="2094987857" name="Text 10"/>
          <p:cNvSpPr/>
          <p:nvPr/>
        </p:nvSpPr>
        <p:spPr bwMode="auto">
          <a:xfrm>
            <a:off x="609480" y="7542000"/>
            <a:ext cx="6277680" cy="70380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75000"/>
              </a:lnSpc>
              <a:tabLst>
                <a:tab pos="0" algn="l"/>
              </a:tabLst>
              <a:defRPr/>
            </a:pPr>
            <a:r>
              <a:rPr lang="zh-CN" sz="1500" b="0" strike="noStrike" spc="-1">
                <a:solidFill>
                  <a:srgbClr val="85888C"/>
                </a:solidFill>
                <a:latin typeface="Noto Sans JP"/>
                <a:ea typeface="Noto Sans JP"/>
              </a:rPr>
              <a:t>森林再生・地域エネルギー・コミュニティ所有のデータセンター。どの集落も辿れる、公開された統合モデル。</a:t>
            </a:r>
            <a:endParaRPr lang="en-US" sz="1500" b="0" strike="noStrike" spc="-1">
              <a:solidFill>
                <a:srgbClr val="000000"/>
              </a:solidFill>
              <a:latin typeface="Arial"/>
            </a:endParaRPr>
          </a:p>
        </p:txBody>
      </p:sp>
      <p:sp>
        <p:nvSpPr>
          <p:cNvPr id="994442356" name="Shape 11"/>
          <p:cNvSpPr/>
          <p:nvPr/>
        </p:nvSpPr>
        <p:spPr bwMode="auto">
          <a:xfrm>
            <a:off x="609480" y="8867880"/>
            <a:ext cx="865512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180705309" name="Text 12"/>
          <p:cNvSpPr/>
          <p:nvPr/>
        </p:nvSpPr>
        <p:spPr bwMode="auto">
          <a:xfrm>
            <a:off x="609480" y="9105840"/>
            <a:ext cx="317304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34">
                <a:solidFill>
                  <a:srgbClr val="A9ABAE"/>
                </a:solidFill>
                <a:latin typeface="Open Sans"/>
                <a:ea typeface="Open Sans"/>
              </a:rPr>
              <a:t>HORIZON · </a:t>
            </a:r>
            <a:r>
              <a:rPr lang="zh-CN" sz="1000" b="1" strike="noStrike" spc="134">
                <a:solidFill>
                  <a:srgbClr val="A9ABAE"/>
                </a:solidFill>
                <a:latin typeface="Open Sans"/>
                <a:ea typeface="Open Sans"/>
              </a:rPr>
              <a:t>期間</a:t>
            </a:r>
            <a:endParaRPr lang="en-US" sz="1000" b="0" strike="noStrike" spc="-1">
              <a:solidFill>
                <a:srgbClr val="000000"/>
              </a:solidFill>
              <a:latin typeface="Arial"/>
            </a:endParaRPr>
          </a:p>
        </p:txBody>
      </p:sp>
      <p:sp>
        <p:nvSpPr>
          <p:cNvPr id="1923418792" name="Text 13"/>
          <p:cNvSpPr/>
          <p:nvPr/>
        </p:nvSpPr>
        <p:spPr bwMode="auto">
          <a:xfrm>
            <a:off x="609480" y="9353520"/>
            <a:ext cx="317304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25 years</a:t>
            </a:r>
            <a:endParaRPr lang="en-US" sz="1900" b="0" strike="noStrike" spc="-1">
              <a:solidFill>
                <a:srgbClr val="000000"/>
              </a:solidFill>
              <a:latin typeface="Arial"/>
            </a:endParaRPr>
          </a:p>
        </p:txBody>
      </p:sp>
      <p:sp>
        <p:nvSpPr>
          <p:cNvPr id="1617801355" name="Text 14"/>
          <p:cNvSpPr/>
          <p:nvPr/>
        </p:nvSpPr>
        <p:spPr bwMode="auto">
          <a:xfrm>
            <a:off x="3494880" y="9105840"/>
            <a:ext cx="317304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34">
                <a:solidFill>
                  <a:srgbClr val="A9ABAE"/>
                </a:solidFill>
                <a:latin typeface="Open Sans"/>
                <a:ea typeface="Open Sans"/>
              </a:rPr>
              <a:t>PHASE · </a:t>
            </a:r>
            <a:r>
              <a:rPr lang="zh-CN" sz="1000" b="1" strike="noStrike" spc="134">
                <a:solidFill>
                  <a:srgbClr val="A9ABAE"/>
                </a:solidFill>
                <a:latin typeface="Open Sans"/>
                <a:ea typeface="Open Sans"/>
              </a:rPr>
              <a:t>段階</a:t>
            </a:r>
            <a:endParaRPr lang="en-US" sz="1000" b="0" strike="noStrike" spc="-1">
              <a:solidFill>
                <a:srgbClr val="000000"/>
              </a:solidFill>
              <a:latin typeface="Arial"/>
            </a:endParaRPr>
          </a:p>
        </p:txBody>
      </p:sp>
      <p:sp>
        <p:nvSpPr>
          <p:cNvPr id="1574383464" name="Text 15"/>
          <p:cNvSpPr/>
          <p:nvPr/>
        </p:nvSpPr>
        <p:spPr bwMode="auto">
          <a:xfrm>
            <a:off x="3494880" y="9353520"/>
            <a:ext cx="317304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0 · Pre-foundation</a:t>
            </a:r>
            <a:endParaRPr lang="en-US" sz="1900" b="0" strike="noStrike" spc="-1">
              <a:solidFill>
                <a:srgbClr val="000000"/>
              </a:solidFill>
              <a:latin typeface="Arial"/>
            </a:endParaRPr>
          </a:p>
        </p:txBody>
      </p:sp>
      <p:sp>
        <p:nvSpPr>
          <p:cNvPr id="1534289602" name="Text 16"/>
          <p:cNvSpPr/>
          <p:nvPr/>
        </p:nvSpPr>
        <p:spPr bwMode="auto">
          <a:xfrm>
            <a:off x="6380640" y="9105840"/>
            <a:ext cx="317304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34">
                <a:solidFill>
                  <a:srgbClr val="A9ABAE"/>
                </a:solidFill>
                <a:latin typeface="Open Sans"/>
                <a:ea typeface="Open Sans"/>
              </a:rPr>
              <a:t>ADVISORS · </a:t>
            </a:r>
            <a:r>
              <a:rPr lang="zh-CN" sz="1000" b="1" strike="noStrike" spc="134">
                <a:solidFill>
                  <a:srgbClr val="A9ABAE"/>
                </a:solidFill>
                <a:latin typeface="Open Sans"/>
                <a:ea typeface="Open Sans"/>
              </a:rPr>
              <a:t>顧問</a:t>
            </a:r>
            <a:endParaRPr lang="en-US" sz="1000" b="0" strike="noStrike" spc="-1">
              <a:solidFill>
                <a:srgbClr val="000000"/>
              </a:solidFill>
              <a:latin typeface="Arial"/>
            </a:endParaRPr>
          </a:p>
        </p:txBody>
      </p:sp>
      <p:sp>
        <p:nvSpPr>
          <p:cNvPr id="1241903151" name="Text 17"/>
          <p:cNvSpPr/>
          <p:nvPr/>
        </p:nvSpPr>
        <p:spPr bwMode="auto">
          <a:xfrm>
            <a:off x="6380640" y="9353520"/>
            <a:ext cx="317304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Ozzie · Dome · Takata</a:t>
            </a:r>
            <a:endParaRPr lang="en-US" sz="1900" b="0" strike="noStrike" spc="-1">
              <a:solidFill>
                <a:srgbClr val="000000"/>
              </a:solidFill>
              <a:latin typeface="Arial"/>
            </a:endParaRPr>
          </a:p>
        </p:txBody>
      </p:sp>
      <p:pic>
        <p:nvPicPr>
          <p:cNvPr id="351672032" name="Image 0" descr="preencoded.png"/>
          <p:cNvPicPr/>
          <p:nvPr/>
        </p:nvPicPr>
        <p:blipFill rotWithShape="1">
          <a:blip r:embed="rId3"/>
          <a:srcRect l="29183" t="0" r="29182" b="0"/>
          <a:stretch/>
        </p:blipFill>
        <p:spPr bwMode="auto">
          <a:xfrm>
            <a:off x="9837360" y="2225880"/>
            <a:ext cx="7801920" cy="6836039"/>
          </a:xfrm>
          <a:prstGeom prst="rect">
            <a:avLst/>
          </a:prstGeom>
          <a:ln w="0">
            <a:noFill/>
          </a:ln>
        </p:spPr>
      </p:pic>
      <p:sp>
        <p:nvSpPr>
          <p:cNvPr id="1779425704" name="Shape 18"/>
          <p:cNvSpPr/>
          <p:nvPr/>
        </p:nvSpPr>
        <p:spPr bwMode="auto">
          <a:xfrm>
            <a:off x="9875520" y="8634240"/>
            <a:ext cx="2679480" cy="42768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343956747" name="Text 19"/>
          <p:cNvSpPr/>
          <p:nvPr/>
        </p:nvSpPr>
        <p:spPr bwMode="auto">
          <a:xfrm>
            <a:off x="10046880" y="8739360"/>
            <a:ext cx="2458440" cy="255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strike="noStrike" spc="43">
                <a:solidFill>
                  <a:srgbClr val="FFFFFF"/>
                </a:solidFill>
                <a:latin typeface="Open Sans"/>
                <a:ea typeface="Open Sans"/>
              </a:rPr>
              <a:t>Mitsue Village · </a:t>
            </a:r>
            <a:r>
              <a:rPr lang="zh-CN" sz="1150" b="1" strike="noStrike" spc="43">
                <a:solidFill>
                  <a:srgbClr val="FFFFFF"/>
                </a:solidFill>
                <a:latin typeface="Open Sans"/>
                <a:ea typeface="Open Sans"/>
              </a:rPr>
              <a:t>御杖村</a:t>
            </a:r>
            <a:r>
              <a:rPr lang="en-US" sz="1150" b="1" strike="noStrike" spc="43">
                <a:solidFill>
                  <a:srgbClr val="FFFFFF"/>
                </a:solidFill>
                <a:latin typeface="Open Sans"/>
                <a:ea typeface="Open Sans"/>
              </a:rPr>
              <a:t>, Nara</a:t>
            </a:r>
            <a:endParaRPr lang="en-US" sz="115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25103824"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68191854"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846168126" name="Text 2"/>
          <p:cNvSpPr/>
          <p:nvPr/>
        </p:nvSpPr>
        <p:spPr bwMode="auto">
          <a:xfrm>
            <a:off x="1181160" y="800280"/>
            <a:ext cx="238032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THE THESIS · </a:t>
            </a:r>
            <a:r>
              <a:rPr lang="zh-CN" sz="1300" b="1" strike="noStrike" spc="201">
                <a:solidFill>
                  <a:srgbClr val="9B9DA0"/>
                </a:solidFill>
                <a:latin typeface="Open Sans"/>
                <a:ea typeface="Open Sans"/>
              </a:rPr>
              <a:t>命題 </a:t>
            </a:r>
            <a:r>
              <a:rPr lang="en-US" sz="1300" b="1" strike="noStrike" spc="201">
                <a:solidFill>
                  <a:srgbClr val="9B9DA0"/>
                </a:solidFill>
                <a:latin typeface="Open Sans"/>
                <a:ea typeface="Open Sans"/>
              </a:rPr>
              <a:t>· 02</a:t>
            </a:r>
            <a:endParaRPr lang="en-US" sz="1300" b="0" strike="noStrike" spc="-1">
              <a:solidFill>
                <a:srgbClr val="000000"/>
              </a:solidFill>
              <a:latin typeface="Arial"/>
            </a:endParaRPr>
          </a:p>
        </p:txBody>
      </p:sp>
      <p:sp>
        <p:nvSpPr>
          <p:cNvPr id="1892415060" name="Text 3"/>
          <p:cNvSpPr/>
          <p:nvPr/>
        </p:nvSpPr>
        <p:spPr bwMode="auto">
          <a:xfrm>
            <a:off x="609480" y="1285920"/>
            <a:ext cx="14715000" cy="1477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5000"/>
              </a:lnSpc>
              <a:tabLst>
                <a:tab pos="0" algn="l"/>
              </a:tabLst>
              <a:defRPr/>
            </a:pPr>
            <a:r>
              <a:rPr lang="en-US" sz="5400" b="1" strike="noStrike" spc="-55">
                <a:solidFill>
                  <a:srgbClr val="2E2E2E"/>
                </a:solidFill>
                <a:latin typeface="Sora"/>
                <a:ea typeface="Sora"/>
              </a:rPr>
              <a:t>A replicable model for rural regeneration.</a:t>
            </a:r>
            <a:endParaRPr lang="en-US" sz="5400" b="0" strike="noStrike" spc="-1">
              <a:solidFill>
                <a:srgbClr val="000000"/>
              </a:solidFill>
              <a:latin typeface="Arial"/>
            </a:endParaRPr>
          </a:p>
        </p:txBody>
      </p:sp>
      <p:sp>
        <p:nvSpPr>
          <p:cNvPr id="1082049662" name="Text 4"/>
          <p:cNvSpPr/>
          <p:nvPr/>
        </p:nvSpPr>
        <p:spPr bwMode="auto">
          <a:xfrm>
            <a:off x="609480" y="2859480"/>
            <a:ext cx="18774720" cy="437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0" strike="noStrike" spc="-1">
                <a:solidFill>
                  <a:srgbClr val="6E7174"/>
                </a:solidFill>
                <a:latin typeface="Noto Sans JP"/>
                <a:ea typeface="Noto Sans JP"/>
              </a:rPr>
              <a:t>地方再生の、再現可能なモデル。</a:t>
            </a:r>
            <a:endParaRPr lang="en-US" sz="2100" b="0" strike="noStrike" spc="-1">
              <a:solidFill>
                <a:srgbClr val="000000"/>
              </a:solidFill>
              <a:latin typeface="Arial"/>
            </a:endParaRPr>
          </a:p>
        </p:txBody>
      </p:sp>
      <p:sp>
        <p:nvSpPr>
          <p:cNvPr id="705153941" name="Shape 5"/>
          <p:cNvSpPr/>
          <p:nvPr/>
        </p:nvSpPr>
        <p:spPr bwMode="auto">
          <a:xfrm>
            <a:off x="609480" y="4640760"/>
            <a:ext cx="5485320" cy="2856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779579751" name="Shape 6"/>
          <p:cNvSpPr/>
          <p:nvPr/>
        </p:nvSpPr>
        <p:spPr bwMode="auto">
          <a:xfrm>
            <a:off x="609480" y="4640760"/>
            <a:ext cx="5485320" cy="46440"/>
          </a:xfrm>
          <a:prstGeom prst="rect">
            <a:avLst/>
          </a:prstGeom>
          <a:solidFill>
            <a:srgbClr val="2E2E2E"/>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352372235" name="Text 7"/>
          <p:cNvSpPr/>
          <p:nvPr/>
        </p:nvSpPr>
        <p:spPr bwMode="auto">
          <a:xfrm>
            <a:off x="933480" y="5050440"/>
            <a:ext cx="5321520" cy="398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strike="noStrike" spc="-1">
                <a:solidFill>
                  <a:srgbClr val="2E2E2E"/>
                </a:solidFill>
                <a:latin typeface="Sora"/>
                <a:ea typeface="Sora"/>
              </a:rPr>
              <a:t>Forest</a:t>
            </a:r>
            <a:endParaRPr lang="en-US" sz="2250" b="0" strike="noStrike" spc="-1">
              <a:solidFill>
                <a:srgbClr val="000000"/>
              </a:solidFill>
              <a:latin typeface="Arial"/>
            </a:endParaRPr>
          </a:p>
        </p:txBody>
      </p:sp>
      <p:sp>
        <p:nvSpPr>
          <p:cNvPr id="988348842" name="Text 8"/>
          <p:cNvSpPr/>
          <p:nvPr/>
        </p:nvSpPr>
        <p:spPr bwMode="auto">
          <a:xfrm>
            <a:off x="933480" y="6176160"/>
            <a:ext cx="532152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strike="noStrike" spc="-1">
                <a:solidFill>
                  <a:srgbClr val="9B9DA0"/>
                </a:solidFill>
                <a:latin typeface="Noto Sans JP"/>
                <a:ea typeface="Noto Sans JP"/>
              </a:rPr>
              <a:t>森林再生</a:t>
            </a:r>
            <a:endParaRPr lang="en-US" sz="1450" b="0" strike="noStrike" spc="-1">
              <a:solidFill>
                <a:srgbClr val="000000"/>
              </a:solidFill>
              <a:latin typeface="Arial"/>
            </a:endParaRPr>
          </a:p>
        </p:txBody>
      </p:sp>
      <p:sp>
        <p:nvSpPr>
          <p:cNvPr id="1652966532" name="Text 9"/>
          <p:cNvSpPr/>
          <p:nvPr/>
        </p:nvSpPr>
        <p:spPr bwMode="auto">
          <a:xfrm>
            <a:off x="933480" y="6528600"/>
            <a:ext cx="4982760" cy="64476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650" b="0" strike="noStrike" spc="-1">
                <a:solidFill>
                  <a:srgbClr val="4A4A4A"/>
                </a:solidFill>
                <a:latin typeface="Open Sans"/>
                <a:ea typeface="Open Sans"/>
              </a:rPr>
              <a:t>Aged cedar restored to native broadleaf — turning a liability into feedstock and habitat.</a:t>
            </a:r>
            <a:endParaRPr lang="en-US" sz="1650" b="0" strike="noStrike" spc="-1">
              <a:solidFill>
                <a:srgbClr val="000000"/>
              </a:solidFill>
              <a:latin typeface="Arial"/>
            </a:endParaRPr>
          </a:p>
        </p:txBody>
      </p:sp>
      <p:sp>
        <p:nvSpPr>
          <p:cNvPr id="392435435" name="Shape 10"/>
          <p:cNvSpPr/>
          <p:nvPr/>
        </p:nvSpPr>
        <p:spPr bwMode="auto">
          <a:xfrm>
            <a:off x="6400800" y="4640760"/>
            <a:ext cx="5485320" cy="2856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801603728" name="Shape 11"/>
          <p:cNvSpPr/>
          <p:nvPr/>
        </p:nvSpPr>
        <p:spPr bwMode="auto">
          <a:xfrm>
            <a:off x="6400800" y="4640760"/>
            <a:ext cx="5485320" cy="46440"/>
          </a:xfrm>
          <a:prstGeom prst="rect">
            <a:avLst/>
          </a:prstGeom>
          <a:solidFill>
            <a:srgbClr val="2E2E2E"/>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656551696" name="Text 12"/>
          <p:cNvSpPr/>
          <p:nvPr/>
        </p:nvSpPr>
        <p:spPr bwMode="auto">
          <a:xfrm>
            <a:off x="6724800" y="5050440"/>
            <a:ext cx="5321520" cy="398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strike="noStrike" spc="-1">
                <a:solidFill>
                  <a:srgbClr val="2E2E2E"/>
                </a:solidFill>
                <a:latin typeface="Sora"/>
                <a:ea typeface="Sora"/>
              </a:rPr>
              <a:t>Energy</a:t>
            </a:r>
            <a:endParaRPr lang="en-US" sz="2250" b="0" strike="noStrike" spc="-1">
              <a:solidFill>
                <a:srgbClr val="000000"/>
              </a:solidFill>
              <a:latin typeface="Arial"/>
            </a:endParaRPr>
          </a:p>
        </p:txBody>
      </p:sp>
      <p:sp>
        <p:nvSpPr>
          <p:cNvPr id="292463504" name="Text 13"/>
          <p:cNvSpPr/>
          <p:nvPr/>
        </p:nvSpPr>
        <p:spPr bwMode="auto">
          <a:xfrm>
            <a:off x="6724800" y="6176160"/>
            <a:ext cx="532152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strike="noStrike" spc="-1">
                <a:solidFill>
                  <a:srgbClr val="9B9DA0"/>
                </a:solidFill>
                <a:latin typeface="Noto Sans JP"/>
                <a:ea typeface="Noto Sans JP"/>
              </a:rPr>
              <a:t>地域エネルギー</a:t>
            </a:r>
            <a:endParaRPr lang="en-US" sz="1450" b="0" strike="noStrike" spc="-1">
              <a:solidFill>
                <a:srgbClr val="000000"/>
              </a:solidFill>
              <a:latin typeface="Arial"/>
            </a:endParaRPr>
          </a:p>
        </p:txBody>
      </p:sp>
      <p:sp>
        <p:nvSpPr>
          <p:cNvPr id="908466976" name="Text 14"/>
          <p:cNvSpPr/>
          <p:nvPr/>
        </p:nvSpPr>
        <p:spPr bwMode="auto">
          <a:xfrm>
            <a:off x="6724800" y="6528600"/>
            <a:ext cx="4982760" cy="64476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650" b="0" strike="noStrike" spc="-1">
                <a:solidFill>
                  <a:srgbClr val="4A4A4A"/>
                </a:solidFill>
                <a:latin typeface="Open Sans"/>
                <a:ea typeface="Open Sans"/>
              </a:rPr>
              <a:t>Biomass heat and existing solar — local power, kept local, with the grid as backup.</a:t>
            </a:r>
            <a:endParaRPr lang="en-US" sz="1650" b="0" strike="noStrike" spc="-1">
              <a:solidFill>
                <a:srgbClr val="000000"/>
              </a:solidFill>
              <a:latin typeface="Arial"/>
            </a:endParaRPr>
          </a:p>
        </p:txBody>
      </p:sp>
      <p:sp>
        <p:nvSpPr>
          <p:cNvPr id="325660453" name="Shape 15"/>
          <p:cNvSpPr/>
          <p:nvPr/>
        </p:nvSpPr>
        <p:spPr bwMode="auto">
          <a:xfrm>
            <a:off x="12192120" y="4640760"/>
            <a:ext cx="5485320" cy="2856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747246749" name="Shape 16"/>
          <p:cNvSpPr/>
          <p:nvPr/>
        </p:nvSpPr>
        <p:spPr bwMode="auto">
          <a:xfrm>
            <a:off x="12192120" y="4640760"/>
            <a:ext cx="548532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647448642" name="Text 17"/>
          <p:cNvSpPr/>
          <p:nvPr/>
        </p:nvSpPr>
        <p:spPr bwMode="auto">
          <a:xfrm>
            <a:off x="12515760" y="5050440"/>
            <a:ext cx="5321520" cy="398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strike="noStrike" spc="-1">
                <a:solidFill>
                  <a:srgbClr val="C26A12"/>
                </a:solidFill>
                <a:latin typeface="Sora"/>
                <a:ea typeface="Sora"/>
              </a:rPr>
              <a:t>Compute</a:t>
            </a:r>
            <a:endParaRPr lang="en-US" sz="2250" b="0" strike="noStrike" spc="-1">
              <a:solidFill>
                <a:srgbClr val="000000"/>
              </a:solidFill>
              <a:latin typeface="Arial"/>
            </a:endParaRPr>
          </a:p>
        </p:txBody>
      </p:sp>
      <p:sp>
        <p:nvSpPr>
          <p:cNvPr id="116972754" name="Text 18"/>
          <p:cNvSpPr/>
          <p:nvPr/>
        </p:nvSpPr>
        <p:spPr bwMode="auto">
          <a:xfrm>
            <a:off x="12515760" y="6176160"/>
            <a:ext cx="532152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strike="noStrike" spc="-1">
                <a:solidFill>
                  <a:srgbClr val="E58520"/>
                </a:solidFill>
                <a:latin typeface="Noto Sans JP"/>
                <a:ea typeface="Noto Sans JP"/>
              </a:rPr>
              <a:t>演算 — エンジン</a:t>
            </a:r>
            <a:endParaRPr lang="en-US" sz="1450" b="0" strike="noStrike" spc="-1">
              <a:solidFill>
                <a:srgbClr val="000000"/>
              </a:solidFill>
              <a:latin typeface="Arial"/>
            </a:endParaRPr>
          </a:p>
        </p:txBody>
      </p:sp>
      <p:sp>
        <p:nvSpPr>
          <p:cNvPr id="364078684" name="Text 19"/>
          <p:cNvSpPr/>
          <p:nvPr/>
        </p:nvSpPr>
        <p:spPr bwMode="auto">
          <a:xfrm>
            <a:off x="12515760" y="6528600"/>
            <a:ext cx="4982760" cy="64476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650" b="0" strike="noStrike" spc="-1">
                <a:solidFill>
                  <a:srgbClr val="4A4A4A"/>
                </a:solidFill>
                <a:latin typeface="Open Sans"/>
                <a:ea typeface="Open Sans"/>
              </a:rPr>
              <a:t>A community-owned data center — the revenue engine that finances everything else.</a:t>
            </a:r>
            <a:endParaRPr lang="en-US" sz="1650" b="0" strike="noStrike" spc="-1">
              <a:solidFill>
                <a:srgbClr val="000000"/>
              </a:solidFill>
              <a:latin typeface="Arial"/>
            </a:endParaRPr>
          </a:p>
        </p:txBody>
      </p:sp>
      <p:sp>
        <p:nvSpPr>
          <p:cNvPr id="275963329" name="Shape 20"/>
          <p:cNvSpPr/>
          <p:nvPr/>
        </p:nvSpPr>
        <p:spPr bwMode="auto">
          <a:xfrm>
            <a:off x="609480" y="8784360"/>
            <a:ext cx="17067600" cy="815760"/>
          </a:xfrm>
          <a:prstGeom prst="rect">
            <a:avLst/>
          </a:prstGeom>
          <a:solidFill>
            <a:srgbClr val="2E2E2E"/>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629396369" name="Text 21"/>
          <p:cNvSpPr/>
          <p:nvPr/>
        </p:nvSpPr>
        <p:spPr bwMode="auto">
          <a:xfrm>
            <a:off x="933480" y="9035640"/>
            <a:ext cx="1149120" cy="351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strike="noStrike" spc="-1">
                <a:solidFill>
                  <a:srgbClr val="F4B872"/>
                </a:solidFill>
                <a:latin typeface="Sora"/>
                <a:ea typeface="Sora"/>
              </a:rPr>
              <a:t>Key idea</a:t>
            </a:r>
            <a:endParaRPr lang="en-US" sz="1950" b="0" strike="noStrike" spc="-1">
              <a:solidFill>
                <a:srgbClr val="000000"/>
              </a:solidFill>
              <a:latin typeface="Arial"/>
            </a:endParaRPr>
          </a:p>
        </p:txBody>
      </p:sp>
      <p:sp>
        <p:nvSpPr>
          <p:cNvPr id="2123026786" name="Text 22"/>
          <p:cNvSpPr/>
          <p:nvPr/>
        </p:nvSpPr>
        <p:spPr bwMode="auto">
          <a:xfrm>
            <a:off x="2216880" y="9032040"/>
            <a:ext cx="13813920" cy="3585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35000"/>
              </a:lnSpc>
              <a:tabLst>
                <a:tab pos="0" algn="l"/>
              </a:tabLst>
              <a:defRPr/>
            </a:pPr>
            <a:r>
              <a:rPr lang="en-US" sz="1900" b="1" strike="noStrike" spc="-1">
                <a:solidFill>
                  <a:srgbClr val="FFFFFF"/>
                </a:solidFill>
                <a:latin typeface="Open Sans"/>
                <a:ea typeface="Open Sans"/>
              </a:rPr>
              <a:t>The data center is the engine. The forest and the village are the return. </a:t>
            </a:r>
            <a:r>
              <a:rPr lang="zh-CN" sz="1500" b="0" strike="noStrike" spc="-1">
                <a:solidFill>
                  <a:srgbClr val="C7C9CB"/>
                </a:solidFill>
                <a:latin typeface="Noto Sans JP"/>
                <a:ea typeface="Noto Sans JP"/>
              </a:rPr>
              <a:t>データセンターはエンジン、森と集落がリターン。</a:t>
            </a:r>
            <a:endParaRPr lang="en-US" sz="15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4954542"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834606788"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400601420" name="Text 2"/>
          <p:cNvSpPr/>
          <p:nvPr/>
        </p:nvSpPr>
        <p:spPr bwMode="auto">
          <a:xfrm>
            <a:off x="1181160" y="800280"/>
            <a:ext cx="353808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THE CHALLENGE · </a:t>
            </a:r>
            <a:r>
              <a:rPr lang="zh-CN" sz="1300" b="1" strike="noStrike" spc="201">
                <a:solidFill>
                  <a:srgbClr val="9B9DA0"/>
                </a:solidFill>
                <a:latin typeface="Open Sans"/>
                <a:ea typeface="Open Sans"/>
              </a:rPr>
              <a:t>現状の課題 </a:t>
            </a:r>
            <a:r>
              <a:rPr lang="en-US" sz="1300" b="1" strike="noStrike" spc="201">
                <a:solidFill>
                  <a:srgbClr val="9B9DA0"/>
                </a:solidFill>
                <a:latin typeface="Open Sans"/>
                <a:ea typeface="Open Sans"/>
              </a:rPr>
              <a:t>· 03</a:t>
            </a:r>
            <a:endParaRPr lang="en-US" sz="1300" b="0" strike="noStrike" spc="-1">
              <a:solidFill>
                <a:srgbClr val="000000"/>
              </a:solidFill>
              <a:latin typeface="Arial"/>
            </a:endParaRPr>
          </a:p>
        </p:txBody>
      </p:sp>
      <p:sp>
        <p:nvSpPr>
          <p:cNvPr id="955453029" name="Text 3"/>
          <p:cNvSpPr/>
          <p:nvPr/>
        </p:nvSpPr>
        <p:spPr bwMode="auto">
          <a:xfrm>
            <a:off x="609480" y="1266840"/>
            <a:ext cx="18774720" cy="67104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4000"/>
              </a:lnSpc>
              <a:tabLst>
                <a:tab pos="0" algn="l"/>
              </a:tabLst>
              <a:defRPr/>
            </a:pPr>
            <a:r>
              <a:rPr lang="en-US" sz="4800" b="1" strike="noStrike" spc="-49">
                <a:solidFill>
                  <a:srgbClr val="2E2E2E"/>
                </a:solidFill>
                <a:latin typeface="Sora"/>
                <a:ea typeface="Sora"/>
              </a:rPr>
              <a:t>Four problems — or four raw materials</a:t>
            </a:r>
            <a:endParaRPr lang="en-US" sz="4800" b="0" strike="noStrike" spc="-1">
              <a:solidFill>
                <a:srgbClr val="000000"/>
              </a:solidFill>
              <a:latin typeface="Arial"/>
            </a:endParaRPr>
          </a:p>
        </p:txBody>
      </p:sp>
      <p:sp>
        <p:nvSpPr>
          <p:cNvPr id="1949111706" name="Text 4"/>
          <p:cNvSpPr/>
          <p:nvPr/>
        </p:nvSpPr>
        <p:spPr bwMode="auto">
          <a:xfrm>
            <a:off x="609480" y="2015280"/>
            <a:ext cx="1877472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strike="noStrike" spc="-1">
                <a:solidFill>
                  <a:srgbClr val="6E7174"/>
                </a:solidFill>
                <a:latin typeface="Noto Sans JP"/>
                <a:ea typeface="Noto Sans JP"/>
              </a:rPr>
              <a:t>四つの課題は、見方を変えれば四つの資源。</a:t>
            </a:r>
            <a:endParaRPr lang="en-US" sz="1950" b="0" strike="noStrike" spc="-1">
              <a:solidFill>
                <a:srgbClr val="000000"/>
              </a:solidFill>
              <a:latin typeface="Arial"/>
            </a:endParaRPr>
          </a:p>
        </p:txBody>
      </p:sp>
      <p:sp>
        <p:nvSpPr>
          <p:cNvPr id="818360989" name="Shape 5"/>
          <p:cNvSpPr/>
          <p:nvPr/>
        </p:nvSpPr>
        <p:spPr bwMode="auto">
          <a:xfrm>
            <a:off x="609480" y="2767680"/>
            <a:ext cx="4080240" cy="18000"/>
          </a:xfrm>
          <a:prstGeom prst="rect">
            <a:avLst/>
          </a:prstGeom>
          <a:solidFill>
            <a:srgbClr val="E6E6E2"/>
          </a:solidFill>
          <a:ln w="0">
            <a:noFill/>
          </a:ln>
        </p:spPr>
        <p:style>
          <a:lnRef idx="0"/>
          <a:fillRef idx="0"/>
          <a:effectRef idx="0"/>
          <a:fontRef idx="minor"/>
        </p:style>
        <p:txBody>
          <a:bodyPr lIns="90000" tIns="-25920" rIns="90000" bIns="-25920" anchor="t">
            <a:noAutofit/>
          </a:bodyPr>
          <a:p>
            <a:pPr>
              <a:lnSpc>
                <a:spcPct val="100000"/>
              </a:lnSpc>
              <a:defRPr/>
            </a:pPr>
            <a:endParaRPr lang="en-US" sz="1800" b="0" strike="noStrike" spc="-1">
              <a:solidFill>
                <a:srgbClr val="000000"/>
              </a:solidFill>
              <a:latin typeface="Arial"/>
              <a:ea typeface="Arial"/>
            </a:endParaRPr>
          </a:p>
        </p:txBody>
      </p:sp>
      <p:sp>
        <p:nvSpPr>
          <p:cNvPr id="518775248" name="Text 6"/>
          <p:cNvSpPr/>
          <p:nvPr/>
        </p:nvSpPr>
        <p:spPr bwMode="auto">
          <a:xfrm>
            <a:off x="609480" y="3015360"/>
            <a:ext cx="4488480" cy="60840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0000"/>
              </a:lnSpc>
              <a:tabLst>
                <a:tab pos="0" algn="l"/>
              </a:tabLst>
              <a:defRPr/>
            </a:pPr>
            <a:r>
              <a:rPr lang="en-US" sz="4500" b="1" strike="noStrike" spc="-1">
                <a:solidFill>
                  <a:srgbClr val="2E2E2E"/>
                </a:solidFill>
                <a:latin typeface="Sora"/>
                <a:ea typeface="Sora"/>
              </a:rPr>
              <a:t>&lt;1,500</a:t>
            </a:r>
            <a:endParaRPr lang="en-US" sz="4500" b="0" strike="noStrike" spc="-1">
              <a:solidFill>
                <a:srgbClr val="000000"/>
              </a:solidFill>
              <a:latin typeface="Arial"/>
            </a:endParaRPr>
          </a:p>
        </p:txBody>
      </p:sp>
      <p:sp>
        <p:nvSpPr>
          <p:cNvPr id="279260201" name="Text 7"/>
          <p:cNvSpPr/>
          <p:nvPr/>
        </p:nvSpPr>
        <p:spPr bwMode="auto">
          <a:xfrm>
            <a:off x="609480" y="3720240"/>
            <a:ext cx="448848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strike="noStrike" spc="-1">
                <a:solidFill>
                  <a:srgbClr val="2E2E2E"/>
                </a:solidFill>
                <a:latin typeface="Open Sans"/>
                <a:ea typeface="Open Sans"/>
              </a:rPr>
              <a:t>Residents, and falling</a:t>
            </a:r>
            <a:endParaRPr lang="en-US" sz="1750" b="0" strike="noStrike" spc="-1">
              <a:solidFill>
                <a:srgbClr val="000000"/>
              </a:solidFill>
              <a:latin typeface="Arial"/>
            </a:endParaRPr>
          </a:p>
        </p:txBody>
      </p:sp>
      <p:sp>
        <p:nvSpPr>
          <p:cNvPr id="665392798" name="Text 8"/>
          <p:cNvSpPr/>
          <p:nvPr/>
        </p:nvSpPr>
        <p:spPr bwMode="auto">
          <a:xfrm>
            <a:off x="609480" y="4082040"/>
            <a:ext cx="4488480" cy="29412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50000"/>
              </a:lnSpc>
              <a:tabLst>
                <a:tab pos="0" algn="l"/>
              </a:tabLst>
              <a:defRPr/>
            </a:pPr>
            <a:r>
              <a:rPr lang="zh-CN" sz="1350" b="0" strike="noStrike" spc="-1">
                <a:solidFill>
                  <a:srgbClr val="9B9DA0"/>
                </a:solidFill>
                <a:latin typeface="Noto Sans JP"/>
                <a:ea typeface="Noto Sans JP"/>
              </a:rPr>
              <a:t>人口減少・高齢化（</a:t>
            </a:r>
            <a:r>
              <a:rPr lang="en-US" sz="1350" b="0" strike="noStrike" spc="-1">
                <a:solidFill>
                  <a:srgbClr val="9B9DA0"/>
                </a:solidFill>
                <a:latin typeface="Noto Sans JP"/>
                <a:ea typeface="Noto Sans JP"/>
              </a:rPr>
              <a:t>65</a:t>
            </a:r>
            <a:r>
              <a:rPr lang="zh-CN" sz="1350" b="0" strike="noStrike" spc="-1">
                <a:solidFill>
                  <a:srgbClr val="9B9DA0"/>
                </a:solidFill>
                <a:latin typeface="Noto Sans JP"/>
                <a:ea typeface="Noto Sans JP"/>
              </a:rPr>
              <a:t>歳以上が過半）</a:t>
            </a:r>
            <a:endParaRPr lang="en-US" sz="1350" b="0" strike="noStrike" spc="-1">
              <a:solidFill>
                <a:srgbClr val="000000"/>
              </a:solidFill>
              <a:latin typeface="Arial"/>
            </a:endParaRPr>
          </a:p>
        </p:txBody>
      </p:sp>
      <p:sp>
        <p:nvSpPr>
          <p:cNvPr id="134096773" name="Text 9"/>
          <p:cNvSpPr/>
          <p:nvPr/>
        </p:nvSpPr>
        <p:spPr bwMode="auto">
          <a:xfrm>
            <a:off x="609480" y="8638200"/>
            <a:ext cx="4203000" cy="5619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45000"/>
              </a:lnSpc>
              <a:tabLst>
                <a:tab pos="0" algn="l"/>
              </a:tabLst>
              <a:defRPr/>
            </a:pPr>
            <a:r>
              <a:rPr lang="en-US" sz="1450" b="0" strike="noStrike" spc="-1">
                <a:solidFill>
                  <a:srgbClr val="6E7174"/>
                </a:solidFill>
                <a:latin typeface="Open Sans"/>
                <a:ea typeface="Open Sans"/>
              </a:rPr>
              <a:t>An aging community that needs new work and reasons to stay.</a:t>
            </a:r>
            <a:endParaRPr lang="en-US" sz="1450" b="0" strike="noStrike" spc="-1">
              <a:solidFill>
                <a:srgbClr val="000000"/>
              </a:solidFill>
              <a:latin typeface="Arial"/>
            </a:endParaRPr>
          </a:p>
        </p:txBody>
      </p:sp>
      <p:sp>
        <p:nvSpPr>
          <p:cNvPr id="1481922340" name="Shape 10"/>
          <p:cNvSpPr/>
          <p:nvPr/>
        </p:nvSpPr>
        <p:spPr bwMode="auto">
          <a:xfrm>
            <a:off x="4938840" y="2767680"/>
            <a:ext cx="4080240" cy="18000"/>
          </a:xfrm>
          <a:prstGeom prst="rect">
            <a:avLst/>
          </a:prstGeom>
          <a:solidFill>
            <a:srgbClr val="E6E6E2"/>
          </a:solidFill>
          <a:ln w="0">
            <a:noFill/>
          </a:ln>
        </p:spPr>
        <p:style>
          <a:lnRef idx="0"/>
          <a:fillRef idx="0"/>
          <a:effectRef idx="0"/>
          <a:fontRef idx="minor"/>
        </p:style>
        <p:txBody>
          <a:bodyPr lIns="90000" tIns="-25920" rIns="90000" bIns="-25920" anchor="t">
            <a:noAutofit/>
          </a:bodyPr>
          <a:p>
            <a:pPr>
              <a:lnSpc>
                <a:spcPct val="100000"/>
              </a:lnSpc>
              <a:defRPr/>
            </a:pPr>
            <a:endParaRPr lang="en-US" sz="1800" b="0" strike="noStrike" spc="-1">
              <a:solidFill>
                <a:srgbClr val="000000"/>
              </a:solidFill>
              <a:latin typeface="Arial"/>
              <a:ea typeface="Arial"/>
            </a:endParaRPr>
          </a:p>
        </p:txBody>
      </p:sp>
      <p:sp>
        <p:nvSpPr>
          <p:cNvPr id="253615553" name="Text 11"/>
          <p:cNvSpPr/>
          <p:nvPr/>
        </p:nvSpPr>
        <p:spPr bwMode="auto">
          <a:xfrm>
            <a:off x="4938840" y="3015360"/>
            <a:ext cx="4488480" cy="60840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0000"/>
              </a:lnSpc>
              <a:tabLst>
                <a:tab pos="0" algn="l"/>
              </a:tabLst>
              <a:defRPr/>
            </a:pPr>
            <a:r>
              <a:rPr lang="en-US" sz="4500" b="1" strike="noStrike" spc="-1">
                <a:solidFill>
                  <a:srgbClr val="2E2E2E"/>
                </a:solidFill>
                <a:latin typeface="Sora"/>
                <a:ea typeface="Sora"/>
              </a:rPr>
              <a:t>93%</a:t>
            </a:r>
            <a:endParaRPr lang="en-US" sz="4500" b="0" strike="noStrike" spc="-1">
              <a:solidFill>
                <a:srgbClr val="000000"/>
              </a:solidFill>
              <a:latin typeface="Arial"/>
            </a:endParaRPr>
          </a:p>
        </p:txBody>
      </p:sp>
      <p:sp>
        <p:nvSpPr>
          <p:cNvPr id="1773526524" name="Text 12"/>
          <p:cNvSpPr/>
          <p:nvPr/>
        </p:nvSpPr>
        <p:spPr bwMode="auto">
          <a:xfrm>
            <a:off x="4938840" y="3720240"/>
            <a:ext cx="448848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strike="noStrike" spc="-1">
                <a:solidFill>
                  <a:srgbClr val="2E2E2E"/>
                </a:solidFill>
                <a:latin typeface="Open Sans"/>
                <a:ea typeface="Open Sans"/>
              </a:rPr>
              <a:t>Forest, much unmanaged</a:t>
            </a:r>
            <a:endParaRPr lang="en-US" sz="1750" b="0" strike="noStrike" spc="-1">
              <a:solidFill>
                <a:srgbClr val="000000"/>
              </a:solidFill>
              <a:latin typeface="Arial"/>
            </a:endParaRPr>
          </a:p>
        </p:txBody>
      </p:sp>
      <p:sp>
        <p:nvSpPr>
          <p:cNvPr id="1217713066" name="Text 13"/>
          <p:cNvSpPr/>
          <p:nvPr/>
        </p:nvSpPr>
        <p:spPr bwMode="auto">
          <a:xfrm>
            <a:off x="4938840" y="4082040"/>
            <a:ext cx="4488480" cy="29412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50000"/>
              </a:lnSpc>
              <a:tabLst>
                <a:tab pos="0" algn="l"/>
              </a:tabLst>
              <a:defRPr/>
            </a:pPr>
            <a:r>
              <a:rPr lang="zh-CN" sz="1350" b="0" strike="noStrike" spc="-1">
                <a:solidFill>
                  <a:srgbClr val="9B9DA0"/>
                </a:solidFill>
                <a:latin typeface="Noto Sans JP"/>
                <a:ea typeface="Noto Sans JP"/>
              </a:rPr>
              <a:t>森林率</a:t>
            </a:r>
            <a:r>
              <a:rPr lang="en-US" sz="1350" b="0" strike="noStrike" spc="-1">
                <a:solidFill>
                  <a:srgbClr val="9B9DA0"/>
                </a:solidFill>
                <a:latin typeface="Noto Sans JP"/>
                <a:ea typeface="Noto Sans JP"/>
              </a:rPr>
              <a:t>93%</a:t>
            </a:r>
            <a:r>
              <a:rPr lang="zh-CN" sz="1350" b="0" strike="noStrike" spc="-1">
                <a:solidFill>
                  <a:srgbClr val="9B9DA0"/>
                </a:solidFill>
                <a:latin typeface="Noto Sans JP"/>
                <a:ea typeface="Noto Sans JP"/>
              </a:rPr>
              <a:t>・放置された人工林</a:t>
            </a:r>
            <a:endParaRPr lang="en-US" sz="1350" b="0" strike="noStrike" spc="-1">
              <a:solidFill>
                <a:srgbClr val="000000"/>
              </a:solidFill>
              <a:latin typeface="Arial"/>
            </a:endParaRPr>
          </a:p>
        </p:txBody>
      </p:sp>
      <p:sp>
        <p:nvSpPr>
          <p:cNvPr id="122201563" name="Text 14"/>
          <p:cNvSpPr/>
          <p:nvPr/>
        </p:nvSpPr>
        <p:spPr bwMode="auto">
          <a:xfrm>
            <a:off x="4938840" y="8638200"/>
            <a:ext cx="4203000" cy="5619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45000"/>
              </a:lnSpc>
              <a:tabLst>
                <a:tab pos="0" algn="l"/>
              </a:tabLst>
              <a:defRPr/>
            </a:pPr>
            <a:r>
              <a:rPr lang="en-US" sz="1450" b="0" strike="noStrike" spc="-1">
                <a:solidFill>
                  <a:srgbClr val="6E7174"/>
                </a:solidFill>
                <a:latin typeface="Open Sans"/>
                <a:ea typeface="Open Sans"/>
              </a:rPr>
              <a:t>Aged cedar: a pollen, fire and landslide liability — and a fuel.</a:t>
            </a:r>
            <a:endParaRPr lang="en-US" sz="1450" b="0" strike="noStrike" spc="-1">
              <a:solidFill>
                <a:srgbClr val="000000"/>
              </a:solidFill>
              <a:latin typeface="Arial"/>
            </a:endParaRPr>
          </a:p>
        </p:txBody>
      </p:sp>
      <p:sp>
        <p:nvSpPr>
          <p:cNvPr id="1201754601" name="Shape 15"/>
          <p:cNvSpPr/>
          <p:nvPr/>
        </p:nvSpPr>
        <p:spPr bwMode="auto">
          <a:xfrm>
            <a:off x="9267840" y="2767680"/>
            <a:ext cx="4080240" cy="18000"/>
          </a:xfrm>
          <a:prstGeom prst="rect">
            <a:avLst/>
          </a:prstGeom>
          <a:solidFill>
            <a:srgbClr val="E6E6E2"/>
          </a:solidFill>
          <a:ln w="0">
            <a:noFill/>
          </a:ln>
        </p:spPr>
        <p:style>
          <a:lnRef idx="0"/>
          <a:fillRef idx="0"/>
          <a:effectRef idx="0"/>
          <a:fontRef idx="minor"/>
        </p:style>
        <p:txBody>
          <a:bodyPr lIns="90000" tIns="-25920" rIns="90000" bIns="-25920" anchor="t">
            <a:noAutofit/>
          </a:bodyPr>
          <a:p>
            <a:pPr>
              <a:lnSpc>
                <a:spcPct val="100000"/>
              </a:lnSpc>
              <a:defRPr/>
            </a:pPr>
            <a:endParaRPr lang="en-US" sz="1800" b="0" strike="noStrike" spc="-1">
              <a:solidFill>
                <a:srgbClr val="000000"/>
              </a:solidFill>
              <a:latin typeface="Arial"/>
              <a:ea typeface="Arial"/>
            </a:endParaRPr>
          </a:p>
        </p:txBody>
      </p:sp>
      <p:sp>
        <p:nvSpPr>
          <p:cNvPr id="335514953" name="Text 16"/>
          <p:cNvSpPr/>
          <p:nvPr/>
        </p:nvSpPr>
        <p:spPr bwMode="auto">
          <a:xfrm>
            <a:off x="9267840" y="3015360"/>
            <a:ext cx="4488480" cy="60840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0000"/>
              </a:lnSpc>
              <a:tabLst>
                <a:tab pos="0" algn="l"/>
              </a:tabLst>
              <a:defRPr/>
            </a:pPr>
            <a:r>
              <a:rPr lang="en-US" sz="4500" b="1" strike="noStrike" spc="-1">
                <a:solidFill>
                  <a:srgbClr val="2E2E2E"/>
                </a:solidFill>
                <a:latin typeface="Sora"/>
                <a:ea typeface="Sora"/>
              </a:rPr>
              <a:t>2</a:t>
            </a:r>
            <a:endParaRPr lang="en-US" sz="4500" b="0" strike="noStrike" spc="-1">
              <a:solidFill>
                <a:srgbClr val="000000"/>
              </a:solidFill>
              <a:latin typeface="Arial"/>
            </a:endParaRPr>
          </a:p>
        </p:txBody>
      </p:sp>
      <p:sp>
        <p:nvSpPr>
          <p:cNvPr id="1157498192" name="Text 17"/>
          <p:cNvSpPr/>
          <p:nvPr/>
        </p:nvSpPr>
        <p:spPr bwMode="auto">
          <a:xfrm>
            <a:off x="9267840" y="3720240"/>
            <a:ext cx="448848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strike="noStrike" spc="-1">
                <a:solidFill>
                  <a:srgbClr val="2E2E2E"/>
                </a:solidFill>
                <a:latin typeface="Open Sans"/>
                <a:ea typeface="Open Sans"/>
              </a:rPr>
              <a:t>Closed school /</a:t>
            </a:r>
            <a:r>
              <a:rPr lang="en-US" sz="1750" b="0" strike="noStrike" spc="-1">
                <a:solidFill>
                  <a:srgbClr val="000000"/>
                </a:solidFill>
                <a:latin typeface="Arial"/>
                <a:ea typeface="Arial"/>
              </a:rPr>
              <a:t> unused factories</a:t>
            </a:r>
            <a:endParaRPr lang="en-US" sz="1750" b="0" strike="noStrike" spc="-1">
              <a:solidFill>
                <a:srgbClr val="000000"/>
              </a:solidFill>
              <a:latin typeface="Arial"/>
            </a:endParaRPr>
          </a:p>
        </p:txBody>
      </p:sp>
      <p:sp>
        <p:nvSpPr>
          <p:cNvPr id="1130411829" name="Text 18"/>
          <p:cNvSpPr/>
          <p:nvPr/>
        </p:nvSpPr>
        <p:spPr bwMode="auto">
          <a:xfrm>
            <a:off x="9267840" y="4082040"/>
            <a:ext cx="4488480" cy="29412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50000"/>
              </a:lnSpc>
              <a:tabLst>
                <a:tab pos="0" algn="l"/>
              </a:tabLst>
              <a:defRPr/>
            </a:pPr>
            <a:r>
              <a:rPr lang="zh-CN" sz="1350" b="0" strike="noStrike" spc="-1">
                <a:solidFill>
                  <a:srgbClr val="9B9DA0"/>
                </a:solidFill>
                <a:latin typeface="Noto Sans JP"/>
                <a:ea typeface="Noto Sans JP"/>
              </a:rPr>
              <a:t>旧御杖小学校・遊休工場 — 維持費のかかる遊休資産</a:t>
            </a:r>
            <a:endParaRPr lang="en-US" sz="1350" b="0" strike="noStrike" spc="-1">
              <a:solidFill>
                <a:srgbClr val="000000"/>
              </a:solidFill>
              <a:latin typeface="Arial"/>
            </a:endParaRPr>
          </a:p>
        </p:txBody>
      </p:sp>
      <p:sp>
        <p:nvSpPr>
          <p:cNvPr id="1212002476" name="Text 19"/>
          <p:cNvSpPr/>
          <p:nvPr/>
        </p:nvSpPr>
        <p:spPr bwMode="auto">
          <a:xfrm>
            <a:off x="9267840" y="8638200"/>
            <a:ext cx="4203000" cy="5619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45000"/>
              </a:lnSpc>
              <a:tabLst>
                <a:tab pos="0" algn="l"/>
              </a:tabLst>
              <a:defRPr/>
            </a:pPr>
            <a:r>
              <a:rPr lang="en-US" sz="1450" b="0" strike="noStrike" spc="-1">
                <a:solidFill>
                  <a:srgbClr val="6E7174"/>
                </a:solidFill>
                <a:latin typeface="Open Sans"/>
                <a:ea typeface="Open Sans"/>
              </a:rPr>
              <a:t>A maintained building earning nothing — ready to be repurposed.</a:t>
            </a:r>
            <a:endParaRPr lang="en-US" sz="1450" b="0" strike="noStrike" spc="-1">
              <a:solidFill>
                <a:srgbClr val="000000"/>
              </a:solidFill>
              <a:latin typeface="Arial"/>
            </a:endParaRPr>
          </a:p>
        </p:txBody>
      </p:sp>
      <p:sp>
        <p:nvSpPr>
          <p:cNvPr id="205736460" name="Shape 20"/>
          <p:cNvSpPr/>
          <p:nvPr/>
        </p:nvSpPr>
        <p:spPr bwMode="auto">
          <a:xfrm>
            <a:off x="13596840" y="2767680"/>
            <a:ext cx="4080240" cy="18000"/>
          </a:xfrm>
          <a:prstGeom prst="rect">
            <a:avLst/>
          </a:prstGeom>
          <a:solidFill>
            <a:srgbClr val="E58520"/>
          </a:solidFill>
          <a:ln w="0">
            <a:noFill/>
          </a:ln>
        </p:spPr>
        <p:style>
          <a:lnRef idx="0"/>
          <a:fillRef idx="0"/>
          <a:effectRef idx="0"/>
          <a:fontRef idx="minor"/>
        </p:style>
        <p:txBody>
          <a:bodyPr lIns="90000" tIns="-25920" rIns="90000" bIns="-25920" anchor="t">
            <a:noAutofit/>
          </a:bodyPr>
          <a:p>
            <a:pPr>
              <a:lnSpc>
                <a:spcPct val="100000"/>
              </a:lnSpc>
              <a:defRPr/>
            </a:pPr>
            <a:endParaRPr lang="en-US" sz="1800" b="0" strike="noStrike" spc="-1">
              <a:solidFill>
                <a:srgbClr val="FFFFFF"/>
              </a:solidFill>
              <a:latin typeface="Arial"/>
              <a:ea typeface="Arial"/>
            </a:endParaRPr>
          </a:p>
        </p:txBody>
      </p:sp>
      <p:sp>
        <p:nvSpPr>
          <p:cNvPr id="1200571338" name="Text 21"/>
          <p:cNvSpPr/>
          <p:nvPr/>
        </p:nvSpPr>
        <p:spPr bwMode="auto">
          <a:xfrm>
            <a:off x="13596840" y="3015360"/>
            <a:ext cx="4488480" cy="60840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0000"/>
              </a:lnSpc>
              <a:tabLst>
                <a:tab pos="0" algn="l"/>
              </a:tabLst>
              <a:defRPr/>
            </a:pPr>
            <a:r>
              <a:rPr lang="en-US" sz="4500" b="1" strike="noStrike" spc="-1">
                <a:solidFill>
                  <a:srgbClr val="C26A12"/>
                </a:solidFill>
                <a:latin typeface="Sora"/>
                <a:ea typeface="Sora"/>
              </a:rPr>
              <a:t>~92%</a:t>
            </a:r>
            <a:endParaRPr lang="en-US" sz="4500" b="0" strike="noStrike" spc="-1">
              <a:solidFill>
                <a:srgbClr val="000000"/>
              </a:solidFill>
              <a:latin typeface="Arial"/>
            </a:endParaRPr>
          </a:p>
        </p:txBody>
      </p:sp>
      <p:sp>
        <p:nvSpPr>
          <p:cNvPr id="1728887682" name="Text 22"/>
          <p:cNvSpPr/>
          <p:nvPr/>
        </p:nvSpPr>
        <p:spPr bwMode="auto">
          <a:xfrm>
            <a:off x="13596840" y="3720240"/>
            <a:ext cx="448848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strike="noStrike" spc="-1">
                <a:solidFill>
                  <a:srgbClr val="2E2E2E"/>
                </a:solidFill>
                <a:latin typeface="Open Sans"/>
                <a:ea typeface="Open Sans"/>
              </a:rPr>
              <a:t>Energy imported</a:t>
            </a:r>
            <a:endParaRPr lang="en-US" sz="1750" b="0" strike="noStrike" spc="-1">
              <a:solidFill>
                <a:srgbClr val="000000"/>
              </a:solidFill>
              <a:latin typeface="Arial"/>
            </a:endParaRPr>
          </a:p>
        </p:txBody>
      </p:sp>
      <p:sp>
        <p:nvSpPr>
          <p:cNvPr id="1706735047" name="Text 23"/>
          <p:cNvSpPr/>
          <p:nvPr/>
        </p:nvSpPr>
        <p:spPr bwMode="auto">
          <a:xfrm>
            <a:off x="13596840" y="4082040"/>
            <a:ext cx="4488480" cy="29412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50000"/>
              </a:lnSpc>
              <a:tabLst>
                <a:tab pos="0" algn="l"/>
              </a:tabLst>
              <a:defRPr/>
            </a:pPr>
            <a:r>
              <a:rPr lang="zh-CN" sz="1350" b="0" strike="noStrike" spc="-1">
                <a:solidFill>
                  <a:srgbClr val="E58520"/>
                </a:solidFill>
                <a:latin typeface="Noto Sans JP"/>
                <a:ea typeface="Noto Sans JP"/>
              </a:rPr>
              <a:t>エネルギーの大半を域外に依存</a:t>
            </a:r>
            <a:endParaRPr lang="en-US" sz="1350" b="0" strike="noStrike" spc="-1">
              <a:solidFill>
                <a:srgbClr val="000000"/>
              </a:solidFill>
              <a:latin typeface="Arial"/>
            </a:endParaRPr>
          </a:p>
        </p:txBody>
      </p:sp>
      <p:sp>
        <p:nvSpPr>
          <p:cNvPr id="523249766" name="Text 24"/>
          <p:cNvSpPr/>
          <p:nvPr/>
        </p:nvSpPr>
        <p:spPr bwMode="auto">
          <a:xfrm>
            <a:off x="13596840" y="8638200"/>
            <a:ext cx="4203000" cy="5619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45000"/>
              </a:lnSpc>
              <a:tabLst>
                <a:tab pos="0" algn="l"/>
              </a:tabLst>
              <a:defRPr/>
            </a:pPr>
            <a:r>
              <a:rPr lang="en-US" sz="1450" b="0" strike="noStrike" spc="-1">
                <a:solidFill>
                  <a:srgbClr val="6E7174"/>
                </a:solidFill>
                <a:latin typeface="Open Sans"/>
                <a:ea typeface="Open Sans"/>
              </a:rPr>
              <a:t>Money leaves the village every month to buy power and fuel.</a:t>
            </a:r>
            <a:endParaRPr lang="en-US" sz="1450" b="0" strike="noStrike" spc="-1">
              <a:solidFill>
                <a:srgbClr val="000000"/>
              </a:solidFill>
              <a:latin typeface="Arial"/>
            </a:endParaRPr>
          </a:p>
        </p:txBody>
      </p:sp>
      <p:sp>
        <p:nvSpPr>
          <p:cNvPr id="613069013" name="Text 25"/>
          <p:cNvSpPr/>
          <p:nvPr/>
        </p:nvSpPr>
        <p:spPr bwMode="auto">
          <a:xfrm>
            <a:off x="609480" y="9410760"/>
            <a:ext cx="18774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8">
                <a:solidFill>
                  <a:srgbClr val="A9ABAE"/>
                </a:solidFill>
                <a:latin typeface="Open Sans"/>
                <a:ea typeface="Open Sans"/>
              </a:rPr>
              <a:t>Population &amp; forest: Mitsue Village statistics / Census. Energy import share illustrative — Japan Energy Database indicators. </a:t>
            </a:r>
            <a:r>
              <a:rPr lang="zh-CN" sz="1000" b="1" strike="noStrike" spc="18">
                <a:solidFill>
                  <a:srgbClr val="A9ABAE"/>
                </a:solidFill>
                <a:latin typeface="Open Sans"/>
                <a:ea typeface="Open Sans"/>
              </a:rPr>
              <a:t>出典：御杖村統計・国勢調査／エネルギーは試算</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368682022"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454816213"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077919965" name="Text 2"/>
          <p:cNvSpPr/>
          <p:nvPr/>
        </p:nvSpPr>
        <p:spPr bwMode="auto">
          <a:xfrm>
            <a:off x="1181160" y="800280"/>
            <a:ext cx="420084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THE CIRCULAR MODEL · </a:t>
            </a:r>
            <a:r>
              <a:rPr lang="zh-CN" sz="1300" b="1" strike="noStrike" spc="201">
                <a:solidFill>
                  <a:srgbClr val="9B9DA0"/>
                </a:solidFill>
                <a:latin typeface="Open Sans"/>
                <a:ea typeface="Open Sans"/>
              </a:rPr>
              <a:t>循環モデル </a:t>
            </a:r>
            <a:r>
              <a:rPr lang="en-US" sz="1300" b="1" strike="noStrike" spc="201">
                <a:solidFill>
                  <a:srgbClr val="9B9DA0"/>
                </a:solidFill>
                <a:latin typeface="Open Sans"/>
                <a:ea typeface="Open Sans"/>
              </a:rPr>
              <a:t>· 04</a:t>
            </a:r>
            <a:endParaRPr lang="en-US" sz="1300" b="0" strike="noStrike" spc="-1">
              <a:solidFill>
                <a:srgbClr val="000000"/>
              </a:solidFill>
              <a:latin typeface="Arial"/>
            </a:endParaRPr>
          </a:p>
        </p:txBody>
      </p:sp>
      <p:sp>
        <p:nvSpPr>
          <p:cNvPr id="1751699445" name="Text 3"/>
          <p:cNvSpPr/>
          <p:nvPr/>
        </p:nvSpPr>
        <p:spPr bwMode="auto">
          <a:xfrm>
            <a:off x="609480" y="1247759"/>
            <a:ext cx="5616000" cy="65880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2000"/>
              </a:lnSpc>
              <a:tabLst>
                <a:tab pos="0" algn="l"/>
              </a:tabLst>
              <a:defRPr/>
            </a:pPr>
            <a:r>
              <a:rPr lang="en-US" sz="4800" b="1" strike="noStrike" spc="-49">
                <a:solidFill>
                  <a:srgbClr val="2E2E2E"/>
                </a:solidFill>
                <a:latin typeface="Sora"/>
                <a:ea typeface="Sora"/>
              </a:rPr>
              <a:t>A loop, not a line</a:t>
            </a:r>
            <a:endParaRPr lang="en-US" sz="4800" b="0" strike="noStrike" spc="-1">
              <a:solidFill>
                <a:srgbClr val="000000"/>
              </a:solidFill>
              <a:latin typeface="Arial"/>
            </a:endParaRPr>
          </a:p>
        </p:txBody>
      </p:sp>
      <p:sp>
        <p:nvSpPr>
          <p:cNvPr id="610296070" name="Text 4"/>
          <p:cNvSpPr/>
          <p:nvPr/>
        </p:nvSpPr>
        <p:spPr bwMode="auto">
          <a:xfrm>
            <a:off x="609480" y="1964880"/>
            <a:ext cx="561600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strike="noStrike" spc="-1">
                <a:solidFill>
                  <a:srgbClr val="6E7174"/>
                </a:solidFill>
                <a:latin typeface="Noto Sans JP"/>
                <a:ea typeface="Noto Sans JP"/>
              </a:rPr>
              <a:t>直線ではなく、循環。各段階が次を支える。</a:t>
            </a:r>
            <a:endParaRPr lang="en-US" sz="1950" b="0" strike="noStrike" spc="-1">
              <a:solidFill>
                <a:srgbClr val="000000"/>
              </a:solidFill>
              <a:latin typeface="Arial"/>
            </a:endParaRPr>
          </a:p>
        </p:txBody>
      </p:sp>
      <p:sp>
        <p:nvSpPr>
          <p:cNvPr id="1689620210" name="Text 5"/>
          <p:cNvSpPr/>
          <p:nvPr/>
        </p:nvSpPr>
        <p:spPr bwMode="auto">
          <a:xfrm>
            <a:off x="13912200" y="1369440"/>
            <a:ext cx="3877920" cy="626760"/>
          </a:xfrm>
          <a:prstGeom prst="rect">
            <a:avLst/>
          </a:prstGeom>
          <a:noFill/>
          <a:ln w="0">
            <a:noFill/>
          </a:ln>
        </p:spPr>
        <p:style>
          <a:lnRef idx="0"/>
          <a:fillRef idx="0"/>
          <a:effectRef idx="0"/>
          <a:fontRef idx="minor"/>
        </p:style>
        <p:txBody>
          <a:bodyPr lIns="0" tIns="0" rIns="0" bIns="0" anchor="t">
            <a:normAutofit fontScale="87222"/>
          </a:bodyPr>
          <a:p>
            <a:pPr algn="r" defTabSz="914400">
              <a:lnSpc>
                <a:spcPct val="145000"/>
              </a:lnSpc>
              <a:tabLst>
                <a:tab pos="0" algn="l"/>
              </a:tabLst>
              <a:defRPr/>
            </a:pPr>
            <a:r>
              <a:rPr lang="en-US" sz="1650" b="0" strike="noStrike" spc="-1">
                <a:solidFill>
                  <a:srgbClr val="4A4A4A"/>
                </a:solidFill>
                <a:latin typeface="Open Sans"/>
                <a:ea typeface="Open Sans"/>
              </a:rPr>
              <a:t>Each output is the next input. Revenue returns to the forest and the village.</a:t>
            </a:r>
            <a:endParaRPr lang="en-US" sz="1650" b="0" strike="noStrike" spc="-1">
              <a:solidFill>
                <a:srgbClr val="000000"/>
              </a:solidFill>
              <a:latin typeface="Arial"/>
            </a:endParaRPr>
          </a:p>
        </p:txBody>
      </p:sp>
      <p:sp>
        <p:nvSpPr>
          <p:cNvPr id="379785842" name="Text 6"/>
          <p:cNvSpPr/>
          <p:nvPr/>
        </p:nvSpPr>
        <p:spPr bwMode="auto">
          <a:xfrm>
            <a:off x="13173120" y="2044440"/>
            <a:ext cx="4504320" cy="271800"/>
          </a:xfrm>
          <a:prstGeom prst="rect">
            <a:avLst/>
          </a:prstGeom>
          <a:noFill/>
          <a:ln w="0">
            <a:noFill/>
          </a:ln>
        </p:spPr>
        <p:style>
          <a:lnRef idx="0"/>
          <a:fillRef idx="0"/>
          <a:effectRef idx="0"/>
          <a:fontRef idx="minor"/>
        </p:style>
        <p:txBody>
          <a:bodyPr lIns="25560" tIns="25560" rIns="25560" bIns="25560" anchor="t">
            <a:normAutofit fontScale="75000"/>
          </a:bodyPr>
          <a:p>
            <a:pPr algn="r" defTabSz="914400">
              <a:lnSpc>
                <a:spcPct val="145000"/>
              </a:lnSpc>
              <a:tabLst>
                <a:tab pos="0" algn="l"/>
              </a:tabLst>
              <a:defRPr/>
            </a:pPr>
            <a:r>
              <a:rPr lang="zh-CN" sz="1300" b="0" strike="noStrike" spc="-1">
                <a:solidFill>
                  <a:srgbClr val="9B9DA0"/>
                </a:solidFill>
                <a:latin typeface="Noto Sans JP"/>
                <a:ea typeface="Noto Sans JP"/>
              </a:rPr>
              <a:t>収益は森と集落へ還る。</a:t>
            </a:r>
            <a:endParaRPr lang="en-US" sz="1300" b="0" strike="noStrike" spc="-1">
              <a:solidFill>
                <a:srgbClr val="000000"/>
              </a:solidFill>
              <a:latin typeface="Arial"/>
            </a:endParaRPr>
          </a:p>
        </p:txBody>
      </p:sp>
      <p:pic>
        <p:nvPicPr>
          <p:cNvPr id="1762299147" name="Image 0" descr="preencoded.png"/>
          <p:cNvPicPr/>
          <p:nvPr/>
        </p:nvPicPr>
        <p:blipFill rotWithShape="1">
          <a:blip r:embed="rId3">
            <a:extLst>
              <a:ext uri="{96DAC541-7B7A-43D3-8B79-37D633B846F1}">
                <asvg:svgBlip xmlns:asvg="http://schemas.microsoft.com/office/drawing/2016/SVG/main" r:embed="rId4"/>
              </a:ext>
            </a:extLst>
          </a:blip>
          <a:stretch/>
        </p:blipFill>
        <p:spPr bwMode="auto">
          <a:xfrm>
            <a:off x="609480" y="1000440"/>
            <a:ext cx="17067600" cy="752076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334835772" name="" descr=""/>
          <p:cNvPicPr/>
          <p:nvPr/>
        </p:nvPicPr>
        <p:blipFill rotWithShape="1">
          <a:blip r:embed="rId3"/>
          <a:srcRect l="23550" t="0" r="19768" b="0"/>
          <a:stretch/>
        </p:blipFill>
        <p:spPr bwMode="auto">
          <a:xfrm>
            <a:off x="8438760" y="1332360"/>
            <a:ext cx="8785440" cy="7462080"/>
          </a:xfrm>
          <a:prstGeom prst="rect">
            <a:avLst/>
          </a:prstGeom>
          <a:ln w="0">
            <a:noFill/>
          </a:ln>
        </p:spPr>
      </p:pic>
      <p:sp>
        <p:nvSpPr>
          <p:cNvPr id="1793207026"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252177110" name="Shape 1"/>
          <p:cNvSpPr/>
          <p:nvPr/>
        </p:nvSpPr>
        <p:spPr bwMode="auto">
          <a:xfrm>
            <a:off x="53352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895091937" name="Text 2"/>
          <p:cNvSpPr/>
          <p:nvPr/>
        </p:nvSpPr>
        <p:spPr bwMode="auto">
          <a:xfrm>
            <a:off x="1104840" y="800280"/>
            <a:ext cx="287604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THE ENGINE · </a:t>
            </a:r>
            <a:r>
              <a:rPr lang="zh-CN" sz="1300" b="1" strike="noStrike" spc="201">
                <a:solidFill>
                  <a:srgbClr val="9B9DA0"/>
                </a:solidFill>
                <a:latin typeface="Open Sans"/>
                <a:ea typeface="Open Sans"/>
              </a:rPr>
              <a:t>エンジン </a:t>
            </a:r>
            <a:r>
              <a:rPr lang="en-US" sz="1300" b="1" strike="noStrike" spc="201">
                <a:solidFill>
                  <a:srgbClr val="9B9DA0"/>
                </a:solidFill>
                <a:latin typeface="Open Sans"/>
                <a:ea typeface="Open Sans"/>
              </a:rPr>
              <a:t>· 05</a:t>
            </a:r>
            <a:endParaRPr lang="en-US" sz="1300" b="0" strike="noStrike" spc="-1">
              <a:solidFill>
                <a:srgbClr val="000000"/>
              </a:solidFill>
              <a:latin typeface="Arial"/>
            </a:endParaRPr>
          </a:p>
        </p:txBody>
      </p:sp>
      <p:sp>
        <p:nvSpPr>
          <p:cNvPr id="675530496" name="Text 3"/>
          <p:cNvSpPr/>
          <p:nvPr/>
        </p:nvSpPr>
        <p:spPr bwMode="auto">
          <a:xfrm>
            <a:off x="533520" y="1247759"/>
            <a:ext cx="8318520" cy="1225800"/>
          </a:xfrm>
          <a:prstGeom prst="rect">
            <a:avLst/>
          </a:prstGeom>
          <a:noFill/>
          <a:ln w="0">
            <a:noFill/>
          </a:ln>
        </p:spPr>
        <p:style>
          <a:lnRef idx="0"/>
          <a:fillRef idx="0"/>
          <a:effectRef idx="0"/>
          <a:fontRef idx="minor"/>
        </p:style>
        <p:txBody>
          <a:bodyPr lIns="25560" tIns="25560" rIns="25560" bIns="25560" anchor="t">
            <a:normAutofit fontScale="91111" lnSpcReduction="10000"/>
          </a:bodyPr>
          <a:p>
            <a:pPr defTabSz="914400">
              <a:lnSpc>
                <a:spcPct val="104000"/>
              </a:lnSpc>
              <a:tabLst>
                <a:tab pos="0" algn="l"/>
              </a:tabLst>
              <a:defRPr/>
            </a:pPr>
            <a:r>
              <a:rPr lang="en-US" sz="4500" b="1" strike="noStrike" spc="-46">
                <a:solidFill>
                  <a:srgbClr val="2E2E2E"/>
                </a:solidFill>
                <a:latin typeface="Sora"/>
                <a:ea typeface="Sora"/>
              </a:rPr>
              <a:t>A community-owned data center</a:t>
            </a:r>
            <a:endParaRPr lang="en-US" sz="4500" b="0" strike="noStrike" spc="-1">
              <a:solidFill>
                <a:srgbClr val="000000"/>
              </a:solidFill>
              <a:latin typeface="Arial"/>
            </a:endParaRPr>
          </a:p>
        </p:txBody>
      </p:sp>
      <p:sp>
        <p:nvSpPr>
          <p:cNvPr id="73873081" name="Text 4"/>
          <p:cNvSpPr/>
          <p:nvPr/>
        </p:nvSpPr>
        <p:spPr bwMode="auto">
          <a:xfrm>
            <a:off x="533520" y="2531880"/>
            <a:ext cx="8883720" cy="389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strike="noStrike" spc="-1">
                <a:solidFill>
                  <a:srgbClr val="6E7174"/>
                </a:solidFill>
                <a:latin typeface="Noto Sans JP"/>
                <a:ea typeface="Noto Sans JP"/>
              </a:rPr>
              <a:t>コミュニティ所有の小規模データセンター</a:t>
            </a:r>
            <a:endParaRPr lang="en-US" sz="1900" b="0" strike="noStrike" spc="-1">
              <a:solidFill>
                <a:srgbClr val="000000"/>
              </a:solidFill>
              <a:latin typeface="Arial"/>
            </a:endParaRPr>
          </a:p>
        </p:txBody>
      </p:sp>
      <p:sp>
        <p:nvSpPr>
          <p:cNvPr id="1666537512" name="Text 5"/>
          <p:cNvSpPr/>
          <p:nvPr/>
        </p:nvSpPr>
        <p:spPr bwMode="auto">
          <a:xfrm>
            <a:off x="533520" y="3169800"/>
            <a:ext cx="6277680" cy="140868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50000"/>
              </a:lnSpc>
              <a:tabLst>
                <a:tab pos="0" algn="l"/>
              </a:tabLst>
              <a:defRPr/>
            </a:pPr>
            <a:r>
              <a:rPr lang="en-US" sz="1800" b="0" strike="noStrike" spc="-1">
                <a:solidFill>
                  <a:srgbClr val="3A3A3A"/>
                </a:solidFill>
                <a:latin typeface="Open Sans"/>
                <a:ea typeface="Open Sans"/>
              </a:rPr>
              <a:t>The closed Mitsue Elementary School — or an unused factory site — repurposed as a small, energy-efficient edge &amp; AI compute facility — powered entirely by local renewable energy, owned by the community it serves.</a:t>
            </a:r>
            <a:endParaRPr lang="en-US" sz="1800" b="0" strike="noStrike" spc="-1">
              <a:solidFill>
                <a:srgbClr val="000000"/>
              </a:solidFill>
              <a:latin typeface="Arial"/>
            </a:endParaRPr>
          </a:p>
        </p:txBody>
      </p:sp>
      <p:sp>
        <p:nvSpPr>
          <p:cNvPr id="1066950784" name="Shape 6"/>
          <p:cNvSpPr/>
          <p:nvPr/>
        </p:nvSpPr>
        <p:spPr bwMode="auto">
          <a:xfrm>
            <a:off x="533520" y="7897320"/>
            <a:ext cx="6681240" cy="4536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348247114" name="Text 7"/>
          <p:cNvSpPr/>
          <p:nvPr/>
        </p:nvSpPr>
        <p:spPr bwMode="auto">
          <a:xfrm>
            <a:off x="533520" y="8115480"/>
            <a:ext cx="53244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1" strike="noStrike" spc="-1">
                <a:solidFill>
                  <a:srgbClr val="E58520"/>
                </a:solidFill>
                <a:latin typeface="Sora"/>
                <a:ea typeface="Sora"/>
              </a:rPr>
              <a:t>01</a:t>
            </a:r>
            <a:endParaRPr lang="en-US" sz="1800" b="0" strike="noStrike" spc="-1">
              <a:solidFill>
                <a:srgbClr val="000000"/>
              </a:solidFill>
              <a:latin typeface="Arial"/>
            </a:endParaRPr>
          </a:p>
        </p:txBody>
      </p:sp>
      <p:sp>
        <p:nvSpPr>
          <p:cNvPr id="1862182739" name="Text 8"/>
          <p:cNvSpPr/>
          <p:nvPr/>
        </p:nvSpPr>
        <p:spPr bwMode="auto">
          <a:xfrm>
            <a:off x="1162080" y="8118000"/>
            <a:ext cx="6795360" cy="31716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0000"/>
              </a:lnSpc>
              <a:tabLst>
                <a:tab pos="0" algn="l"/>
              </a:tabLst>
              <a:defRPr/>
            </a:pPr>
            <a:r>
              <a:rPr lang="en-US" sz="1600" b="0" strike="noStrike" spc="-1">
                <a:solidFill>
                  <a:srgbClr val="4A4A4A"/>
                </a:solidFill>
                <a:latin typeface="Open Sans"/>
                <a:ea typeface="Open Sans"/>
              </a:rPr>
              <a:t>Sized for </a:t>
            </a:r>
            <a:r>
              <a:rPr lang="en-US" sz="1600" b="1" strike="noStrike" spc="-1">
                <a:solidFill>
                  <a:srgbClr val="4A4A4A"/>
                </a:solidFill>
                <a:latin typeface="Open Sans"/>
                <a:ea typeface="Open Sans"/>
              </a:rPr>
              <a:t>accountability &amp; ownership</a:t>
            </a:r>
            <a:r>
              <a:rPr lang="en-US" sz="1600" b="0" strike="noStrike" spc="-1">
                <a:solidFill>
                  <a:srgbClr val="4A4A4A"/>
                </a:solidFill>
                <a:latin typeface="Open Sans"/>
                <a:ea typeface="Open Sans"/>
              </a:rPr>
              <a:t>, not hyperscale economics.</a:t>
            </a:r>
            <a:endParaRPr lang="en-US" sz="1600" b="0" strike="noStrike" spc="-1">
              <a:solidFill>
                <a:srgbClr val="000000"/>
              </a:solidFill>
              <a:latin typeface="Arial"/>
            </a:endParaRPr>
          </a:p>
        </p:txBody>
      </p:sp>
      <p:sp>
        <p:nvSpPr>
          <p:cNvPr id="1935531337" name="Shape 9"/>
          <p:cNvSpPr/>
          <p:nvPr/>
        </p:nvSpPr>
        <p:spPr bwMode="auto">
          <a:xfrm>
            <a:off x="533520" y="8535600"/>
            <a:ext cx="6765480" cy="4536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4292276" name="Text 10"/>
          <p:cNvSpPr/>
          <p:nvPr/>
        </p:nvSpPr>
        <p:spPr bwMode="auto">
          <a:xfrm>
            <a:off x="533520" y="8753400"/>
            <a:ext cx="53244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1" strike="noStrike" spc="-1">
                <a:solidFill>
                  <a:srgbClr val="E58520"/>
                </a:solidFill>
                <a:latin typeface="Sora"/>
                <a:ea typeface="Sora"/>
              </a:rPr>
              <a:t>02</a:t>
            </a:r>
            <a:endParaRPr lang="en-US" sz="1800" b="0" strike="noStrike" spc="-1">
              <a:solidFill>
                <a:srgbClr val="000000"/>
              </a:solidFill>
              <a:latin typeface="Arial"/>
            </a:endParaRPr>
          </a:p>
        </p:txBody>
      </p:sp>
      <p:sp>
        <p:nvSpPr>
          <p:cNvPr id="308028380" name="Text 11"/>
          <p:cNvSpPr/>
          <p:nvPr/>
        </p:nvSpPr>
        <p:spPr bwMode="auto">
          <a:xfrm>
            <a:off x="1162080" y="8756280"/>
            <a:ext cx="5816520" cy="31716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0000"/>
              </a:lnSpc>
              <a:tabLst>
                <a:tab pos="0" algn="l"/>
              </a:tabLst>
              <a:defRPr/>
            </a:pPr>
            <a:r>
              <a:rPr lang="en-US" sz="1600" b="0" strike="noStrike" spc="-1">
                <a:solidFill>
                  <a:srgbClr val="4A4A4A"/>
                </a:solidFill>
                <a:latin typeface="Open Sans"/>
                <a:ea typeface="Open Sans"/>
              </a:rPr>
              <a:t>Reuses a </a:t>
            </a:r>
            <a:r>
              <a:rPr lang="en-US" sz="1600" b="1" strike="noStrike" spc="-1">
                <a:solidFill>
                  <a:srgbClr val="4A4A4A"/>
                </a:solidFill>
                <a:latin typeface="Open Sans"/>
                <a:ea typeface="Open Sans"/>
              </a:rPr>
              <a:t>stranded public asset </a:t>
            </a:r>
            <a:r>
              <a:rPr lang="en-US" sz="1600" b="0" strike="noStrike" spc="-1">
                <a:solidFill>
                  <a:srgbClr val="4A4A4A"/>
                </a:solidFill>
                <a:latin typeface="Open Sans"/>
                <a:ea typeface="Open Sans"/>
              </a:rPr>
              <a:t>instead of building new.</a:t>
            </a:r>
            <a:endParaRPr lang="en-US" sz="1600" b="0" strike="noStrike" spc="-1">
              <a:solidFill>
                <a:srgbClr val="000000"/>
              </a:solidFill>
              <a:latin typeface="Arial"/>
            </a:endParaRPr>
          </a:p>
        </p:txBody>
      </p:sp>
      <p:sp>
        <p:nvSpPr>
          <p:cNvPr id="527015054" name="Shape 12"/>
          <p:cNvSpPr/>
          <p:nvPr/>
        </p:nvSpPr>
        <p:spPr bwMode="auto">
          <a:xfrm>
            <a:off x="533520" y="9173520"/>
            <a:ext cx="6765480" cy="4536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751669729" name="Text 13"/>
          <p:cNvSpPr/>
          <p:nvPr/>
        </p:nvSpPr>
        <p:spPr bwMode="auto">
          <a:xfrm>
            <a:off x="533520" y="9391680"/>
            <a:ext cx="53244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1" strike="noStrike" spc="-1">
                <a:solidFill>
                  <a:srgbClr val="E58520"/>
                </a:solidFill>
                <a:latin typeface="Sora"/>
                <a:ea typeface="Sora"/>
              </a:rPr>
              <a:t>03</a:t>
            </a:r>
            <a:endParaRPr lang="en-US" sz="1800" b="0" strike="noStrike" spc="-1">
              <a:solidFill>
                <a:srgbClr val="000000"/>
              </a:solidFill>
              <a:latin typeface="Arial"/>
            </a:endParaRPr>
          </a:p>
        </p:txBody>
      </p:sp>
      <p:sp>
        <p:nvSpPr>
          <p:cNvPr id="891961336" name="Text 14"/>
          <p:cNvSpPr/>
          <p:nvPr/>
        </p:nvSpPr>
        <p:spPr bwMode="auto">
          <a:xfrm>
            <a:off x="1162080" y="9394560"/>
            <a:ext cx="5571720" cy="31716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0000"/>
              </a:lnSpc>
              <a:tabLst>
                <a:tab pos="0" algn="l"/>
              </a:tabLst>
              <a:defRPr/>
            </a:pPr>
            <a:r>
              <a:rPr lang="en-US" sz="1600" b="0" strike="noStrike" spc="-1">
                <a:solidFill>
                  <a:srgbClr val="4A4A4A"/>
                </a:solidFill>
                <a:latin typeface="Open Sans"/>
                <a:ea typeface="Open Sans"/>
              </a:rPr>
              <a:t>Generates the </a:t>
            </a:r>
            <a:r>
              <a:rPr lang="en-US" sz="1600" b="1" strike="noStrike" spc="-1">
                <a:solidFill>
                  <a:srgbClr val="4A4A4A"/>
                </a:solidFill>
                <a:latin typeface="Open Sans"/>
                <a:ea typeface="Open Sans"/>
              </a:rPr>
              <a:t>recurring revenue </a:t>
            </a:r>
            <a:r>
              <a:rPr lang="en-US" sz="1600" b="0" strike="noStrike" spc="-1">
                <a:solidFill>
                  <a:srgbClr val="4A4A4A"/>
                </a:solidFill>
                <a:latin typeface="Open Sans"/>
                <a:ea typeface="Open Sans"/>
              </a:rPr>
              <a:t>that funds the loop.</a:t>
            </a:r>
            <a:endParaRPr lang="en-US" sz="1600" b="0" strike="noStrike" spc="-1">
              <a:solidFill>
                <a:srgbClr val="000000"/>
              </a:solidFill>
              <a:latin typeface="Arial"/>
            </a:endParaRPr>
          </a:p>
        </p:txBody>
      </p:sp>
      <p:sp>
        <p:nvSpPr>
          <p:cNvPr id="194778480" name="Shape 15"/>
          <p:cNvSpPr/>
          <p:nvPr/>
        </p:nvSpPr>
        <p:spPr bwMode="auto">
          <a:xfrm>
            <a:off x="8438760" y="8367120"/>
            <a:ext cx="3360600" cy="427680"/>
          </a:xfrm>
          <a:prstGeom prst="rect">
            <a:avLst/>
          </a:prstGeom>
          <a:solidFill>
            <a:srgbClr val="2E2E2E"/>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979945966" name="Text 16"/>
          <p:cNvSpPr/>
          <p:nvPr/>
        </p:nvSpPr>
        <p:spPr bwMode="auto">
          <a:xfrm>
            <a:off x="8610120" y="8471880"/>
            <a:ext cx="3118680" cy="255960"/>
          </a:xfrm>
          <a:prstGeom prst="rect">
            <a:avLst/>
          </a:prstGeom>
          <a:noFill/>
          <a:ln w="0">
            <a:noFill/>
          </a:ln>
        </p:spPr>
        <p:style>
          <a:lnRef idx="0"/>
          <a:fillRef idx="0"/>
          <a:effectRef idx="0"/>
          <a:fontRef idx="minor"/>
        </p:style>
        <p:txBody>
          <a:bodyPr lIns="25560" tIns="25560" rIns="25560" bIns="25560" anchor="t">
            <a:normAutofit fontScale="75000" lnSpcReduction="20000"/>
          </a:bodyPr>
          <a:p>
            <a:pPr defTabSz="914400">
              <a:lnSpc>
                <a:spcPct val="100000"/>
              </a:lnSpc>
              <a:tabLst>
                <a:tab pos="0" algn="l"/>
              </a:tabLst>
              <a:defRPr/>
            </a:pPr>
            <a:r>
              <a:rPr lang="en-US" sz="1150" b="1" strike="noStrike" spc="32">
                <a:solidFill>
                  <a:srgbClr val="FFFFFF"/>
                </a:solidFill>
                <a:latin typeface="Open Sans"/>
                <a:ea typeface="Open Sans"/>
              </a:rPr>
              <a:t>Former Mitsue Elementary / Unused Factory · </a:t>
            </a:r>
            <a:r>
              <a:rPr lang="zh-CN" sz="1150" b="1" strike="noStrike" spc="32">
                <a:solidFill>
                  <a:srgbClr val="FFFFFF"/>
                </a:solidFill>
                <a:latin typeface="Open Sans"/>
                <a:ea typeface="Open Sans"/>
              </a:rPr>
              <a:t>旧御杖小学校・遊休工場</a:t>
            </a:r>
            <a:endParaRPr lang="en-US" sz="115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1343929132" name="" descr=""/>
          <p:cNvPicPr/>
          <p:nvPr/>
        </p:nvPicPr>
        <p:blipFill rotWithShape="1">
          <a:blip r:embed="rId3"/>
          <a:stretch/>
        </p:blipFill>
        <p:spPr bwMode="auto">
          <a:xfrm>
            <a:off x="7819200" y="1334880"/>
            <a:ext cx="10108079" cy="7191000"/>
          </a:xfrm>
          <a:prstGeom prst="rect">
            <a:avLst/>
          </a:prstGeom>
          <a:ln w="0">
            <a:noFill/>
          </a:ln>
        </p:spPr>
      </p:pic>
      <p:sp>
        <p:nvSpPr>
          <p:cNvPr id="1237239816"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137918879"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714939126" name="Text 2"/>
          <p:cNvSpPr/>
          <p:nvPr/>
        </p:nvSpPr>
        <p:spPr bwMode="auto">
          <a:xfrm>
            <a:off x="1181160" y="800280"/>
            <a:ext cx="399528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FOREST RESTORATION · </a:t>
            </a:r>
            <a:r>
              <a:rPr lang="zh-CN" sz="1300" b="1" strike="noStrike" spc="201">
                <a:solidFill>
                  <a:srgbClr val="9B9DA0"/>
                </a:solidFill>
                <a:latin typeface="Open Sans"/>
                <a:ea typeface="Open Sans"/>
              </a:rPr>
              <a:t>森林再生 </a:t>
            </a:r>
            <a:r>
              <a:rPr lang="en-US" sz="1300" b="1" strike="noStrike" spc="201">
                <a:solidFill>
                  <a:srgbClr val="9B9DA0"/>
                </a:solidFill>
                <a:latin typeface="Open Sans"/>
                <a:ea typeface="Open Sans"/>
              </a:rPr>
              <a:t>· 06</a:t>
            </a:r>
            <a:endParaRPr lang="en-US" sz="1300" b="0" strike="noStrike" spc="-1">
              <a:solidFill>
                <a:srgbClr val="000000"/>
              </a:solidFill>
              <a:latin typeface="Arial"/>
            </a:endParaRPr>
          </a:p>
        </p:txBody>
      </p:sp>
      <p:sp>
        <p:nvSpPr>
          <p:cNvPr id="235662676" name="Text 3"/>
          <p:cNvSpPr/>
          <p:nvPr/>
        </p:nvSpPr>
        <p:spPr bwMode="auto">
          <a:xfrm>
            <a:off x="609480" y="1247759"/>
            <a:ext cx="18774720" cy="66492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2000"/>
              </a:lnSpc>
              <a:tabLst>
                <a:tab pos="0" algn="l"/>
              </a:tabLst>
              <a:defRPr/>
            </a:pPr>
            <a:r>
              <a:rPr lang="en-US" sz="4800" b="1" strike="noStrike" spc="-49">
                <a:solidFill>
                  <a:srgbClr val="2E2E2E"/>
                </a:solidFill>
                <a:latin typeface="Sora"/>
                <a:ea typeface="Sora"/>
              </a:rPr>
              <a:t>From liability to asset</a:t>
            </a:r>
            <a:endParaRPr lang="en-US" sz="4800" b="0" strike="noStrike" spc="-1">
              <a:solidFill>
                <a:srgbClr val="000000"/>
              </a:solidFill>
              <a:latin typeface="Arial"/>
            </a:endParaRPr>
          </a:p>
        </p:txBody>
      </p:sp>
      <p:sp>
        <p:nvSpPr>
          <p:cNvPr id="1098574139" name="Text 4"/>
          <p:cNvSpPr/>
          <p:nvPr/>
        </p:nvSpPr>
        <p:spPr bwMode="auto">
          <a:xfrm>
            <a:off x="609480" y="1971000"/>
            <a:ext cx="1877472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strike="noStrike" spc="-1">
                <a:solidFill>
                  <a:srgbClr val="6E7174"/>
                </a:solidFill>
                <a:latin typeface="Noto Sans JP"/>
                <a:ea typeface="Noto Sans JP"/>
              </a:rPr>
              <a:t>負債から資産へ — </a:t>
            </a:r>
            <a:r>
              <a:rPr lang="en-US" sz="1950" b="0" strike="noStrike" spc="-1">
                <a:solidFill>
                  <a:srgbClr val="6E7174"/>
                </a:solidFill>
                <a:latin typeface="Noto Sans JP"/>
                <a:ea typeface="Noto Sans JP"/>
              </a:rPr>
              <a:t>25</a:t>
            </a:r>
            <a:r>
              <a:rPr lang="zh-CN" sz="1950" b="0" strike="noStrike" spc="-1">
                <a:solidFill>
                  <a:srgbClr val="6E7174"/>
                </a:solidFill>
                <a:latin typeface="Noto Sans JP"/>
                <a:ea typeface="Noto Sans JP"/>
              </a:rPr>
              <a:t>年の生態系再生。</a:t>
            </a:r>
            <a:endParaRPr lang="en-US" sz="1950" b="0" strike="noStrike" spc="-1">
              <a:solidFill>
                <a:srgbClr val="000000"/>
              </a:solidFill>
              <a:latin typeface="Arial"/>
            </a:endParaRPr>
          </a:p>
        </p:txBody>
      </p:sp>
      <p:sp>
        <p:nvSpPr>
          <p:cNvPr id="1106661410" name="Shape 5"/>
          <p:cNvSpPr/>
          <p:nvPr/>
        </p:nvSpPr>
        <p:spPr bwMode="auto">
          <a:xfrm>
            <a:off x="630720" y="5568840"/>
            <a:ext cx="6359400" cy="95760"/>
          </a:xfrm>
          <a:prstGeom prst="rect">
            <a:avLst/>
          </a:prstGeom>
          <a:solidFill>
            <a:srgbClr val="E6E6E2"/>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136527451" name="Text 6"/>
          <p:cNvSpPr/>
          <p:nvPr/>
        </p:nvSpPr>
        <p:spPr bwMode="auto">
          <a:xfrm>
            <a:off x="609480" y="4905000"/>
            <a:ext cx="1570680" cy="351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9B9DA0"/>
                </a:solidFill>
                <a:latin typeface="Open Sans"/>
                <a:ea typeface="Open Sans"/>
              </a:rPr>
              <a:t>Today · </a:t>
            </a:r>
            <a:r>
              <a:rPr lang="zh-CN" sz="1650" b="1" strike="noStrike" spc="-1">
                <a:solidFill>
                  <a:srgbClr val="9B9DA0"/>
                </a:solidFill>
                <a:latin typeface="Open Sans"/>
                <a:ea typeface="Open Sans"/>
              </a:rPr>
              <a:t>現状</a:t>
            </a:r>
            <a:endParaRPr lang="en-US" sz="1650" b="0" strike="noStrike" spc="-1">
              <a:solidFill>
                <a:srgbClr val="000000"/>
              </a:solidFill>
              <a:latin typeface="Arial"/>
            </a:endParaRPr>
          </a:p>
        </p:txBody>
      </p:sp>
      <p:sp>
        <p:nvSpPr>
          <p:cNvPr id="2040613787" name="Text 7"/>
          <p:cNvSpPr/>
          <p:nvPr/>
        </p:nvSpPr>
        <p:spPr bwMode="auto">
          <a:xfrm>
            <a:off x="2266920" y="4728600"/>
            <a:ext cx="4907880" cy="703800"/>
          </a:xfrm>
          <a:prstGeom prst="rect">
            <a:avLst/>
          </a:prstGeom>
          <a:noFill/>
          <a:ln w="0">
            <a:noFill/>
          </a:ln>
        </p:spPr>
        <p:style>
          <a:lnRef idx="0"/>
          <a:fillRef idx="0"/>
          <a:effectRef idx="0"/>
          <a:fontRef idx="minor"/>
        </p:style>
        <p:txBody>
          <a:bodyPr horzOverflow="overflow" lIns="25560" tIns="25560" rIns="25560" bIns="25560" numCol="1" spcCol="0" anchor="t">
            <a:normAutofit fontScale="87222" lnSpcReduction="10000"/>
          </a:bodyPr>
          <a:p>
            <a:pPr defTabSz="914400">
              <a:lnSpc>
                <a:spcPct val="140000"/>
              </a:lnSpc>
              <a:tabLst>
                <a:tab pos="0" algn="l"/>
              </a:tabLst>
              <a:defRPr/>
            </a:pPr>
            <a:r>
              <a:rPr lang="en-US" sz="1900" b="0" strike="noStrike" spc="-1">
                <a:solidFill>
                  <a:srgbClr val="4A4A4A"/>
                </a:solidFill>
                <a:latin typeface="Open Sans"/>
                <a:ea typeface="Open Sans"/>
              </a:rPr>
              <a:t>Aged </a:t>
            </a:r>
            <a:r>
              <a:rPr lang="en-US" sz="1900" b="1" strike="noStrike" spc="-1">
                <a:solidFill>
                  <a:srgbClr val="4A4A4A"/>
                </a:solidFill>
                <a:latin typeface="Open Sans"/>
                <a:ea typeface="Open Sans"/>
              </a:rPr>
              <a:t>sugi cedar </a:t>
            </a:r>
            <a:r>
              <a:rPr lang="en-US" sz="1900" b="0" strike="noStrike" spc="-1">
                <a:solidFill>
                  <a:srgbClr val="4A4A4A"/>
                </a:solidFill>
                <a:latin typeface="Open Sans"/>
                <a:ea typeface="Open Sans"/>
              </a:rPr>
              <a:t>monoculture — pollen, landslide and fire risk, little habitat.</a:t>
            </a:r>
            <a:endParaRPr lang="en-US" sz="1900" b="0" strike="noStrike" spc="-1">
              <a:solidFill>
                <a:srgbClr val="000000"/>
              </a:solidFill>
              <a:latin typeface="Arial"/>
            </a:endParaRPr>
          </a:p>
        </p:txBody>
      </p:sp>
      <p:sp>
        <p:nvSpPr>
          <p:cNvPr id="1853920855" name="Text 8"/>
          <p:cNvSpPr/>
          <p:nvPr/>
        </p:nvSpPr>
        <p:spPr bwMode="auto">
          <a:xfrm>
            <a:off x="1822320" y="5765039"/>
            <a:ext cx="4808880" cy="398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strike="noStrike" spc="-1">
                <a:solidFill>
                  <a:srgbClr val="E58520"/>
                </a:solidFill>
                <a:latin typeface="Sora"/>
                <a:ea typeface="Sora"/>
              </a:rPr>
              <a:t>↓ </a:t>
            </a:r>
            <a:r>
              <a:rPr lang="en-US" sz="2250" b="1" strike="noStrike" spc="-1">
                <a:solidFill>
                  <a:srgbClr val="E58520"/>
                </a:solidFill>
                <a:latin typeface="Sora"/>
                <a:ea typeface="Sora"/>
              </a:rPr>
              <a:t>25-year phased restoration</a:t>
            </a:r>
            <a:endParaRPr lang="en-US" sz="2250" b="0" strike="noStrike" spc="-1">
              <a:solidFill>
                <a:srgbClr val="000000"/>
              </a:solidFill>
              <a:latin typeface="Arial"/>
            </a:endParaRPr>
          </a:p>
        </p:txBody>
      </p:sp>
      <p:sp>
        <p:nvSpPr>
          <p:cNvPr id="1376924234" name="Shape 9"/>
          <p:cNvSpPr/>
          <p:nvPr/>
        </p:nvSpPr>
        <p:spPr bwMode="auto">
          <a:xfrm flipV="1">
            <a:off x="609480" y="6337800"/>
            <a:ext cx="6380640" cy="44640"/>
          </a:xfrm>
          <a:prstGeom prst="rect">
            <a:avLst/>
          </a:prstGeom>
          <a:solidFill>
            <a:srgbClr val="2E2E2E"/>
          </a:solidFill>
          <a:ln w="0">
            <a:noFill/>
          </a:ln>
        </p:spPr>
        <p:style>
          <a:lnRef idx="0"/>
          <a:fillRef idx="0"/>
          <a:effectRef idx="0"/>
          <a:fontRef idx="minor"/>
        </p:style>
        <p:txBody>
          <a:bodyPr lIns="90000" tIns="720" rIns="90000" bIns="720" anchor="t">
            <a:noAutofit/>
          </a:bodyPr>
          <a:p>
            <a:pPr>
              <a:lnSpc>
                <a:spcPct val="100000"/>
              </a:lnSpc>
              <a:defRPr/>
            </a:pPr>
            <a:endParaRPr lang="en-US" sz="1800" b="0" strike="noStrike" spc="-1">
              <a:solidFill>
                <a:srgbClr val="FFFFFF"/>
              </a:solidFill>
              <a:latin typeface="Arial"/>
              <a:ea typeface="Arial"/>
            </a:endParaRPr>
          </a:p>
        </p:txBody>
      </p:sp>
      <p:sp>
        <p:nvSpPr>
          <p:cNvPr id="606193837" name="Text 10"/>
          <p:cNvSpPr/>
          <p:nvPr/>
        </p:nvSpPr>
        <p:spPr bwMode="auto">
          <a:xfrm>
            <a:off x="609480" y="6724080"/>
            <a:ext cx="1570680" cy="351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2E2E2E"/>
                </a:solidFill>
                <a:latin typeface="Open Sans"/>
                <a:ea typeface="Open Sans"/>
              </a:rPr>
              <a:t>2050 · </a:t>
            </a:r>
            <a:r>
              <a:rPr lang="zh-CN" sz="1650" b="1" strike="noStrike" spc="-1">
                <a:solidFill>
                  <a:srgbClr val="2E2E2E"/>
                </a:solidFill>
                <a:latin typeface="Open Sans"/>
                <a:ea typeface="Open Sans"/>
              </a:rPr>
              <a:t>想定</a:t>
            </a:r>
            <a:endParaRPr lang="en-US" sz="1650" b="0" strike="noStrike" spc="-1">
              <a:solidFill>
                <a:srgbClr val="000000"/>
              </a:solidFill>
              <a:latin typeface="Arial"/>
            </a:endParaRPr>
          </a:p>
        </p:txBody>
      </p:sp>
      <p:sp>
        <p:nvSpPr>
          <p:cNvPr id="364240170" name="Text 11"/>
          <p:cNvSpPr/>
          <p:nvPr/>
        </p:nvSpPr>
        <p:spPr bwMode="auto">
          <a:xfrm>
            <a:off x="2266920" y="6548039"/>
            <a:ext cx="4723200" cy="703800"/>
          </a:xfrm>
          <a:prstGeom prst="rect">
            <a:avLst/>
          </a:prstGeom>
          <a:noFill/>
          <a:ln w="0">
            <a:noFill/>
          </a:ln>
        </p:spPr>
        <p:style>
          <a:lnRef idx="0"/>
          <a:fillRef idx="0"/>
          <a:effectRef idx="0"/>
          <a:fontRef idx="minor"/>
        </p:style>
        <p:txBody>
          <a:bodyPr horzOverflow="overflow" lIns="25560" tIns="25560" rIns="25560" bIns="25560" numCol="1" spcCol="0" anchor="t">
            <a:normAutofit fontScale="87222" lnSpcReduction="10000"/>
          </a:bodyPr>
          <a:p>
            <a:pPr defTabSz="914400">
              <a:lnSpc>
                <a:spcPct val="140000"/>
              </a:lnSpc>
              <a:tabLst>
                <a:tab pos="0" algn="l"/>
              </a:tabLst>
              <a:defRPr/>
            </a:pPr>
            <a:r>
              <a:rPr lang="en-US" sz="1900" b="1" strike="noStrike" spc="-1">
                <a:solidFill>
                  <a:srgbClr val="2E2E2E"/>
                </a:solidFill>
                <a:latin typeface="Open Sans"/>
                <a:ea typeface="Open Sans"/>
              </a:rPr>
              <a:t>Native broadleaf forest </a:t>
            </a:r>
            <a:r>
              <a:rPr lang="en-US" sz="1900" b="0" strike="noStrike" spc="-1">
                <a:solidFill>
                  <a:srgbClr val="2E2E2E"/>
                </a:solidFill>
                <a:latin typeface="Open Sans"/>
                <a:ea typeface="Open Sans"/>
              </a:rPr>
              <a:t>— biodiversity, water retention, timber &amp; biomass.</a:t>
            </a:r>
            <a:endParaRPr lang="en-US" sz="1900" b="0" strike="noStrike" spc="-1">
              <a:solidFill>
                <a:srgbClr val="000000"/>
              </a:solidFill>
              <a:latin typeface="Arial"/>
            </a:endParaRPr>
          </a:p>
        </p:txBody>
      </p:sp>
      <p:sp>
        <p:nvSpPr>
          <p:cNvPr id="433760695" name="Shape 12"/>
          <p:cNvSpPr/>
          <p:nvPr/>
        </p:nvSpPr>
        <p:spPr bwMode="auto">
          <a:xfrm>
            <a:off x="7805520" y="6413400"/>
            <a:ext cx="8817840" cy="2121120"/>
          </a:xfrm>
          <a:prstGeom prst="rect">
            <a:avLst/>
          </a:prstGeom>
          <a:gradFill rotWithShape="0">
            <a:gsLst>
              <a:gs pos="0">
                <a:srgbClr val="0E1A0E">
                  <a:alpha val="92000"/>
                </a:srgbClr>
              </a:gs>
              <a:gs pos="100000">
                <a:srgbClr val="0E1A0E">
                  <a:alpha val="0"/>
                </a:srgbClr>
              </a:gs>
            </a:gsLst>
            <a:lin ang="16200000" scaled="1"/>
          </a:gra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760981319" name="Shape 13"/>
          <p:cNvSpPr/>
          <p:nvPr/>
        </p:nvSpPr>
        <p:spPr bwMode="auto">
          <a:xfrm>
            <a:off x="7898760" y="6713280"/>
            <a:ext cx="97560" cy="133920"/>
          </a:xfrm>
          <a:prstGeom prst="rect">
            <a:avLst/>
          </a:prstGeom>
          <a:solidFill>
            <a:srgbClr val="E58520"/>
          </a:solidFill>
          <a:ln w="0">
            <a:noFill/>
          </a:ln>
        </p:spPr>
        <p:style>
          <a:lnRef idx="0"/>
          <a:fillRef idx="0"/>
          <a:effectRef idx="0"/>
          <a:fontRef idx="minor"/>
        </p:style>
        <p:txBody>
          <a:bodyPr lIns="48960" tIns="45000" rIns="48960" bIns="45000" anchor="t">
            <a:noAutofit/>
          </a:bodyPr>
          <a:p>
            <a:pPr>
              <a:lnSpc>
                <a:spcPct val="100000"/>
              </a:lnSpc>
              <a:defRPr/>
            </a:pPr>
            <a:endParaRPr lang="en-US" sz="1800" b="0" strike="noStrike" spc="-1">
              <a:solidFill>
                <a:srgbClr val="FFFFFF"/>
              </a:solidFill>
              <a:latin typeface="Arial"/>
              <a:ea typeface="Arial"/>
            </a:endParaRPr>
          </a:p>
        </p:txBody>
      </p:sp>
      <p:sp>
        <p:nvSpPr>
          <p:cNvPr id="1503275779" name="Text 14"/>
          <p:cNvSpPr/>
          <p:nvPr/>
        </p:nvSpPr>
        <p:spPr bwMode="auto">
          <a:xfrm>
            <a:off x="8200080" y="6622920"/>
            <a:ext cx="4442400" cy="44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FFFFFF"/>
                </a:solidFill>
                <a:latin typeface="Open Sans"/>
                <a:ea typeface="Open Sans"/>
              </a:rPr>
              <a:t>Thinnings → energy feedstock </a:t>
            </a:r>
            <a:r>
              <a:rPr lang="zh-CN" sz="1450" b="0" strike="noStrike" spc="-1">
                <a:solidFill>
                  <a:srgbClr val="C7C9CB"/>
                </a:solidFill>
                <a:latin typeface="Open Sans"/>
                <a:ea typeface="Open Sans"/>
              </a:rPr>
              <a:t>間伐材を燃料に</a:t>
            </a:r>
            <a:endParaRPr lang="en-US" sz="1450" b="0" strike="noStrike" spc="-1">
              <a:solidFill>
                <a:srgbClr val="000000"/>
              </a:solidFill>
              <a:latin typeface="Arial"/>
            </a:endParaRPr>
          </a:p>
        </p:txBody>
      </p:sp>
      <p:sp>
        <p:nvSpPr>
          <p:cNvPr id="1677973101" name="Shape 15"/>
          <p:cNvSpPr/>
          <p:nvPr/>
        </p:nvSpPr>
        <p:spPr bwMode="auto">
          <a:xfrm>
            <a:off x="7898760" y="7113600"/>
            <a:ext cx="97560" cy="133920"/>
          </a:xfrm>
          <a:prstGeom prst="rect">
            <a:avLst/>
          </a:prstGeom>
          <a:solidFill>
            <a:srgbClr val="E58520"/>
          </a:solidFill>
          <a:ln w="0">
            <a:noFill/>
          </a:ln>
        </p:spPr>
        <p:style>
          <a:lnRef idx="0"/>
          <a:fillRef idx="0"/>
          <a:effectRef idx="0"/>
          <a:fontRef idx="minor"/>
        </p:style>
        <p:txBody>
          <a:bodyPr lIns="48960" tIns="45000" rIns="48960" bIns="45000" anchor="t">
            <a:noAutofit/>
          </a:bodyPr>
          <a:p>
            <a:pPr>
              <a:lnSpc>
                <a:spcPct val="100000"/>
              </a:lnSpc>
              <a:defRPr/>
            </a:pPr>
            <a:endParaRPr lang="en-US" sz="1800" b="0" strike="noStrike" spc="-1">
              <a:solidFill>
                <a:srgbClr val="FFFFFF"/>
              </a:solidFill>
              <a:latin typeface="Arial"/>
              <a:ea typeface="Arial"/>
            </a:endParaRPr>
          </a:p>
        </p:txBody>
      </p:sp>
      <p:sp>
        <p:nvSpPr>
          <p:cNvPr id="589236769" name="Text 16"/>
          <p:cNvSpPr/>
          <p:nvPr/>
        </p:nvSpPr>
        <p:spPr bwMode="auto">
          <a:xfrm>
            <a:off x="8194680" y="7022880"/>
            <a:ext cx="4182840" cy="44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FFFFFF"/>
                </a:solidFill>
                <a:latin typeface="Open Sans"/>
                <a:ea typeface="Open Sans"/>
              </a:rPr>
              <a:t>Biodiversity &amp; watershed </a:t>
            </a:r>
            <a:r>
              <a:rPr lang="zh-CN" sz="1450" b="0" strike="noStrike" spc="-1">
                <a:solidFill>
                  <a:srgbClr val="C7C9CB"/>
                </a:solidFill>
                <a:latin typeface="Open Sans"/>
                <a:ea typeface="Open Sans"/>
              </a:rPr>
              <a:t>生物多様性と水源</a:t>
            </a:r>
            <a:endParaRPr lang="en-US" sz="1450" b="0" strike="noStrike" spc="-1">
              <a:solidFill>
                <a:srgbClr val="000000"/>
              </a:solidFill>
              <a:latin typeface="Arial"/>
            </a:endParaRPr>
          </a:p>
        </p:txBody>
      </p:sp>
      <p:sp>
        <p:nvSpPr>
          <p:cNvPr id="404452600" name="Shape 17"/>
          <p:cNvSpPr/>
          <p:nvPr/>
        </p:nvSpPr>
        <p:spPr bwMode="auto">
          <a:xfrm>
            <a:off x="7898760" y="7513560"/>
            <a:ext cx="97560" cy="133920"/>
          </a:xfrm>
          <a:prstGeom prst="rect">
            <a:avLst/>
          </a:prstGeom>
          <a:solidFill>
            <a:srgbClr val="E58520"/>
          </a:solidFill>
          <a:ln w="0">
            <a:noFill/>
          </a:ln>
        </p:spPr>
        <p:style>
          <a:lnRef idx="0"/>
          <a:fillRef idx="0"/>
          <a:effectRef idx="0"/>
          <a:fontRef idx="minor"/>
        </p:style>
        <p:txBody>
          <a:bodyPr lIns="48960" tIns="45000" rIns="48960" bIns="45000" anchor="t">
            <a:noAutofit/>
          </a:bodyPr>
          <a:p>
            <a:pPr>
              <a:lnSpc>
                <a:spcPct val="100000"/>
              </a:lnSpc>
              <a:defRPr/>
            </a:pPr>
            <a:endParaRPr lang="en-US" sz="1800" b="0" strike="noStrike" spc="-1">
              <a:solidFill>
                <a:srgbClr val="FFFFFF"/>
              </a:solidFill>
              <a:latin typeface="Arial"/>
              <a:ea typeface="Arial"/>
            </a:endParaRPr>
          </a:p>
        </p:txBody>
      </p:sp>
      <p:sp>
        <p:nvSpPr>
          <p:cNvPr id="41214865" name="Text 18"/>
          <p:cNvSpPr/>
          <p:nvPr/>
        </p:nvSpPr>
        <p:spPr bwMode="auto">
          <a:xfrm>
            <a:off x="8186400" y="7423200"/>
            <a:ext cx="3798720" cy="44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FFFFFF"/>
                </a:solidFill>
                <a:latin typeface="Open Sans"/>
                <a:ea typeface="Open Sans"/>
              </a:rPr>
              <a:t>J-Credits revenue layer </a:t>
            </a:r>
            <a:r>
              <a:rPr lang="en-US" sz="1450" b="0" strike="noStrike" spc="-1">
                <a:solidFill>
                  <a:srgbClr val="C7C9CB"/>
                </a:solidFill>
                <a:latin typeface="Open Sans"/>
                <a:ea typeface="Open Sans"/>
              </a:rPr>
              <a:t>J</a:t>
            </a:r>
            <a:r>
              <a:rPr lang="zh-CN" sz="1450" b="0" strike="noStrike" spc="-1">
                <a:solidFill>
                  <a:srgbClr val="C7C9CB"/>
                </a:solidFill>
                <a:latin typeface="Open Sans"/>
                <a:ea typeface="Open Sans"/>
              </a:rPr>
              <a:t>クレジット収益</a:t>
            </a:r>
            <a:endParaRPr lang="en-US" sz="1450" b="0" strike="noStrike" spc="-1">
              <a:solidFill>
                <a:srgbClr val="000000"/>
              </a:solidFill>
              <a:latin typeface="Arial"/>
            </a:endParaRPr>
          </a:p>
        </p:txBody>
      </p:sp>
      <p:sp>
        <p:nvSpPr>
          <p:cNvPr id="1088117868" name="Text 19"/>
          <p:cNvSpPr/>
          <p:nvPr/>
        </p:nvSpPr>
        <p:spPr bwMode="auto">
          <a:xfrm>
            <a:off x="609480" y="9410760"/>
            <a:ext cx="18774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8">
                <a:solidFill>
                  <a:srgbClr val="A9ABAE"/>
                </a:solidFill>
                <a:latin typeface="Open Sans"/>
                <a:ea typeface="Open Sans"/>
              </a:rPr>
              <a:t>In cooperation with private landowners, the Mitsue Forestry Cooperative, and the Forestry Agency (</a:t>
            </a:r>
            <a:r>
              <a:rPr lang="zh-CN" sz="1000" b="1" strike="noStrike" spc="18">
                <a:solidFill>
                  <a:srgbClr val="A9ABAE"/>
                </a:solidFill>
                <a:latin typeface="Open Sans"/>
                <a:ea typeface="Open Sans"/>
              </a:rPr>
              <a:t>林野庁</a:t>
            </a:r>
            <a:r>
              <a:rPr lang="en-US" sz="1000" b="1" strike="noStrike" spc="18">
                <a:solidFill>
                  <a:srgbClr val="A9ABAE"/>
                </a:solidFill>
                <a:latin typeface="Open Sans"/>
                <a:ea typeface="Open Sans"/>
              </a:rPr>
              <a:t>).</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94519284"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427090567"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813835686" name="Text 2"/>
          <p:cNvSpPr/>
          <p:nvPr/>
        </p:nvSpPr>
        <p:spPr bwMode="auto">
          <a:xfrm>
            <a:off x="1181160" y="800280"/>
            <a:ext cx="394560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ENERGY SYSTEM · </a:t>
            </a:r>
            <a:r>
              <a:rPr lang="zh-CN" sz="1300" b="1" strike="noStrike" spc="201">
                <a:solidFill>
                  <a:srgbClr val="9B9DA0"/>
                </a:solidFill>
                <a:latin typeface="Open Sans"/>
                <a:ea typeface="Open Sans"/>
              </a:rPr>
              <a:t>エネルギー設計 </a:t>
            </a:r>
            <a:r>
              <a:rPr lang="en-US" sz="1300" b="1" strike="noStrike" spc="201">
                <a:solidFill>
                  <a:srgbClr val="9B9DA0"/>
                </a:solidFill>
                <a:latin typeface="Open Sans"/>
                <a:ea typeface="Open Sans"/>
              </a:rPr>
              <a:t>· 07</a:t>
            </a:r>
            <a:endParaRPr lang="en-US" sz="1300" b="0" strike="noStrike" spc="-1">
              <a:solidFill>
                <a:srgbClr val="000000"/>
              </a:solidFill>
              <a:latin typeface="Arial"/>
            </a:endParaRPr>
          </a:p>
        </p:txBody>
      </p:sp>
      <p:sp>
        <p:nvSpPr>
          <p:cNvPr id="1469977767" name="Text 3"/>
          <p:cNvSpPr/>
          <p:nvPr/>
        </p:nvSpPr>
        <p:spPr bwMode="auto">
          <a:xfrm>
            <a:off x="609480" y="1247759"/>
            <a:ext cx="18774720" cy="66492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2000"/>
              </a:lnSpc>
              <a:tabLst>
                <a:tab pos="0" algn="l"/>
              </a:tabLst>
              <a:defRPr/>
            </a:pPr>
            <a:r>
              <a:rPr lang="en-US" sz="4800" b="1" strike="noStrike" spc="-49">
                <a:solidFill>
                  <a:srgbClr val="2E2E2E"/>
                </a:solidFill>
                <a:latin typeface="Sora"/>
                <a:ea typeface="Sora"/>
              </a:rPr>
              <a:t>Power first — for compute &amp; charging</a:t>
            </a:r>
            <a:endParaRPr lang="en-US" sz="4800" b="0" strike="noStrike" spc="-1">
              <a:solidFill>
                <a:srgbClr val="000000"/>
              </a:solidFill>
              <a:latin typeface="Arial"/>
            </a:endParaRPr>
          </a:p>
        </p:txBody>
      </p:sp>
      <p:sp>
        <p:nvSpPr>
          <p:cNvPr id="1403409506" name="Text 4"/>
          <p:cNvSpPr/>
          <p:nvPr/>
        </p:nvSpPr>
        <p:spPr bwMode="auto">
          <a:xfrm>
            <a:off x="609480" y="1971000"/>
            <a:ext cx="1877472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strike="noStrike" spc="-1">
                <a:solidFill>
                  <a:srgbClr val="6E7174"/>
                </a:solidFill>
                <a:latin typeface="Noto Sans JP"/>
                <a:ea typeface="Noto Sans JP"/>
              </a:rPr>
              <a:t>電力優先 — データセンターと</a:t>
            </a:r>
            <a:r>
              <a:rPr lang="en-US" sz="1950" b="0" strike="noStrike" spc="-1">
                <a:solidFill>
                  <a:srgbClr val="6E7174"/>
                </a:solidFill>
                <a:latin typeface="Noto Sans JP"/>
                <a:ea typeface="Noto Sans JP"/>
              </a:rPr>
              <a:t>EV</a:t>
            </a:r>
            <a:r>
              <a:rPr lang="zh-CN" sz="1950" b="0" strike="noStrike" spc="-1">
                <a:solidFill>
                  <a:srgbClr val="6E7174"/>
                </a:solidFill>
                <a:latin typeface="Noto Sans JP"/>
                <a:ea typeface="Noto Sans JP"/>
              </a:rPr>
              <a:t>充電へ。</a:t>
            </a:r>
            <a:endParaRPr lang="en-US" sz="1950" b="0" strike="noStrike" spc="-1">
              <a:solidFill>
                <a:srgbClr val="000000"/>
              </a:solidFill>
              <a:latin typeface="Arial"/>
            </a:endParaRPr>
          </a:p>
        </p:txBody>
      </p:sp>
      <p:sp>
        <p:nvSpPr>
          <p:cNvPr id="496441622" name="Shape 5"/>
          <p:cNvSpPr/>
          <p:nvPr/>
        </p:nvSpPr>
        <p:spPr bwMode="auto">
          <a:xfrm>
            <a:off x="609480" y="2704320"/>
            <a:ext cx="8009280" cy="3332880"/>
          </a:xfrm>
          <a:prstGeom prst="rect">
            <a:avLst/>
          </a:prstGeom>
          <a:solidFill>
            <a:srgbClr val="FBEFE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956040513" name="Shape 6"/>
          <p:cNvSpPr/>
          <p:nvPr/>
        </p:nvSpPr>
        <p:spPr bwMode="auto">
          <a:xfrm>
            <a:off x="609480" y="2704320"/>
            <a:ext cx="800928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2044666327" name="Text 7"/>
          <p:cNvSpPr/>
          <p:nvPr/>
        </p:nvSpPr>
        <p:spPr bwMode="auto">
          <a:xfrm>
            <a:off x="914400" y="3895560"/>
            <a:ext cx="813996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050" b="1" strike="noStrike" spc="-1">
                <a:solidFill>
                  <a:srgbClr val="C26A12"/>
                </a:solidFill>
                <a:latin typeface="Sora"/>
                <a:ea typeface="Sora"/>
              </a:rPr>
              <a:t>1 · Power first</a:t>
            </a:r>
            <a:endParaRPr lang="en-US" sz="2050" b="0" strike="noStrike" spc="-1">
              <a:solidFill>
                <a:srgbClr val="000000"/>
              </a:solidFill>
              <a:latin typeface="Arial"/>
            </a:endParaRPr>
          </a:p>
        </p:txBody>
      </p:sp>
      <p:sp>
        <p:nvSpPr>
          <p:cNvPr id="418676144" name="Text 8"/>
          <p:cNvSpPr/>
          <p:nvPr/>
        </p:nvSpPr>
        <p:spPr bwMode="auto">
          <a:xfrm>
            <a:off x="914400" y="4314600"/>
            <a:ext cx="7621920" cy="61704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600" b="0" strike="noStrike" spc="-1">
                <a:solidFill>
                  <a:srgbClr val="4A4A4A"/>
                </a:solidFill>
                <a:latin typeface="Open Sans"/>
                <a:ea typeface="Open Sans"/>
              </a:rPr>
              <a:t>Electricity runs the AI data center and the EV charging network — the demand we are building for. </a:t>
            </a:r>
            <a:r>
              <a:rPr lang="zh-CN" sz="1600" b="0" strike="noStrike" spc="-1">
                <a:solidFill>
                  <a:srgbClr val="4A4A4A"/>
                </a:solidFill>
                <a:latin typeface="Open Sans"/>
                <a:ea typeface="Open Sans"/>
              </a:rPr>
              <a:t>電力をデータセンターと</a:t>
            </a:r>
            <a:r>
              <a:rPr lang="en-US" sz="1600" b="0" strike="noStrike" spc="-1">
                <a:solidFill>
                  <a:srgbClr val="4A4A4A"/>
                </a:solidFill>
                <a:latin typeface="Open Sans"/>
                <a:ea typeface="Open Sans"/>
              </a:rPr>
              <a:t>EV</a:t>
            </a:r>
            <a:r>
              <a:rPr lang="zh-CN" sz="1600" b="0" strike="noStrike" spc="-1">
                <a:solidFill>
                  <a:srgbClr val="4A4A4A"/>
                </a:solidFill>
                <a:latin typeface="Open Sans"/>
                <a:ea typeface="Open Sans"/>
              </a:rPr>
              <a:t>充電へ。</a:t>
            </a:r>
            <a:endParaRPr lang="en-US" sz="1600" b="0" strike="noStrike" spc="-1">
              <a:solidFill>
                <a:srgbClr val="000000"/>
              </a:solidFill>
              <a:latin typeface="Arial"/>
            </a:endParaRPr>
          </a:p>
        </p:txBody>
      </p:sp>
      <p:sp>
        <p:nvSpPr>
          <p:cNvPr id="230943112" name="Shape 9"/>
          <p:cNvSpPr/>
          <p:nvPr/>
        </p:nvSpPr>
        <p:spPr bwMode="auto">
          <a:xfrm>
            <a:off x="609480" y="6266880"/>
            <a:ext cx="8009280" cy="333324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215949135" name="Shape 10"/>
          <p:cNvSpPr/>
          <p:nvPr/>
        </p:nvSpPr>
        <p:spPr bwMode="auto">
          <a:xfrm>
            <a:off x="609480" y="6266880"/>
            <a:ext cx="8009280" cy="46440"/>
          </a:xfrm>
          <a:prstGeom prst="rect">
            <a:avLst/>
          </a:prstGeom>
          <a:solidFill>
            <a:srgbClr val="6E7174"/>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684535517" name="Text 11"/>
          <p:cNvSpPr/>
          <p:nvPr/>
        </p:nvSpPr>
        <p:spPr bwMode="auto">
          <a:xfrm>
            <a:off x="914400" y="7458120"/>
            <a:ext cx="813996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050" b="1" strike="noStrike" spc="-1">
                <a:solidFill>
                  <a:srgbClr val="2E2E2E"/>
                </a:solidFill>
                <a:latin typeface="Sora"/>
                <a:ea typeface="Sora"/>
              </a:rPr>
              <a:t>2 · Heat, captured second</a:t>
            </a:r>
            <a:endParaRPr lang="en-US" sz="2050" b="0" strike="noStrike" spc="-1">
              <a:solidFill>
                <a:srgbClr val="000000"/>
              </a:solidFill>
              <a:latin typeface="Arial"/>
            </a:endParaRPr>
          </a:p>
        </p:txBody>
      </p:sp>
      <p:sp>
        <p:nvSpPr>
          <p:cNvPr id="1155413202" name="Text 12"/>
          <p:cNvSpPr/>
          <p:nvPr/>
        </p:nvSpPr>
        <p:spPr bwMode="auto">
          <a:xfrm>
            <a:off x="914400" y="7877160"/>
            <a:ext cx="7621920" cy="61704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600" b="0" strike="noStrike" spc="-1">
                <a:solidFill>
                  <a:srgbClr val="4A4A4A"/>
                </a:solidFill>
                <a:latin typeface="Open Sans"/>
                <a:ea typeface="Open Sans"/>
              </a:rPr>
              <a:t>Recovered heat is a by-product we will use as demand emerges — no committed off-taker yet. </a:t>
            </a:r>
            <a:r>
              <a:rPr lang="zh-CN" sz="1600" b="0" strike="noStrike" spc="-1">
                <a:solidFill>
                  <a:srgbClr val="4A4A4A"/>
                </a:solidFill>
                <a:latin typeface="Open Sans"/>
                <a:ea typeface="Open Sans"/>
              </a:rPr>
              <a:t>排熱は需要が定まり次第活用。</a:t>
            </a:r>
            <a:endParaRPr lang="en-US" sz="1600" b="0" strike="noStrike" spc="-1">
              <a:solidFill>
                <a:srgbClr val="000000"/>
              </a:solidFill>
              <a:latin typeface="Arial"/>
            </a:endParaRPr>
          </a:p>
        </p:txBody>
      </p:sp>
      <p:sp>
        <p:nvSpPr>
          <p:cNvPr id="1300436520" name="Shape 13"/>
          <p:cNvSpPr/>
          <p:nvPr/>
        </p:nvSpPr>
        <p:spPr bwMode="auto">
          <a:xfrm>
            <a:off x="8906040" y="2704320"/>
            <a:ext cx="8771400" cy="6895800"/>
          </a:xfrm>
          <a:prstGeom prst="rect">
            <a:avLst/>
          </a:prstGeom>
          <a:solidFill>
            <a:srgbClr val="2E2E2E"/>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910164771" name="Text 14"/>
          <p:cNvSpPr/>
          <p:nvPr/>
        </p:nvSpPr>
        <p:spPr bwMode="auto">
          <a:xfrm>
            <a:off x="9286920" y="4523760"/>
            <a:ext cx="881064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strike="noStrike" spc="208">
                <a:solidFill>
                  <a:srgbClr val="9B9DA0"/>
                </a:solidFill>
                <a:latin typeface="Open Sans"/>
                <a:ea typeface="Open Sans"/>
              </a:rPr>
              <a:t>THE REALISTIC MIX · </a:t>
            </a:r>
            <a:r>
              <a:rPr lang="zh-CN" sz="1500" b="1" strike="noStrike" spc="208">
                <a:solidFill>
                  <a:srgbClr val="9B9DA0"/>
                </a:solidFill>
                <a:latin typeface="Open Sans"/>
                <a:ea typeface="Open Sans"/>
              </a:rPr>
              <a:t>現実的な電源構成</a:t>
            </a:r>
            <a:endParaRPr lang="en-US" sz="1500" b="0" strike="noStrike" spc="-1">
              <a:solidFill>
                <a:srgbClr val="000000"/>
              </a:solidFill>
              <a:latin typeface="Arial"/>
            </a:endParaRPr>
          </a:p>
        </p:txBody>
      </p:sp>
      <p:sp>
        <p:nvSpPr>
          <p:cNvPr id="533264395" name="Shape 15"/>
          <p:cNvSpPr/>
          <p:nvPr/>
        </p:nvSpPr>
        <p:spPr bwMode="auto">
          <a:xfrm>
            <a:off x="9286920" y="5166720"/>
            <a:ext cx="132120" cy="398880"/>
          </a:xfrm>
          <a:prstGeom prst="rect">
            <a:avLst/>
          </a:prstGeom>
          <a:solidFill>
            <a:srgbClr val="E58520"/>
          </a:solidFill>
          <a:ln w="0">
            <a:noFill/>
          </a:ln>
        </p:spPr>
        <p:style>
          <a:lnRef idx="0"/>
          <a:fillRef idx="0"/>
          <a:effectRef idx="0"/>
          <a:fontRef idx="minor"/>
        </p:style>
        <p:txBody>
          <a:bodyPr lIns="66240" tIns="45000" rIns="66240" bIns="45000" anchor="t">
            <a:noAutofit/>
          </a:bodyPr>
          <a:p>
            <a:pPr>
              <a:lnSpc>
                <a:spcPct val="100000"/>
              </a:lnSpc>
              <a:defRPr/>
            </a:pPr>
            <a:endParaRPr lang="en-US" sz="1800" b="0" strike="noStrike" spc="-1">
              <a:solidFill>
                <a:srgbClr val="FFFFFF"/>
              </a:solidFill>
              <a:latin typeface="Arial"/>
              <a:ea typeface="Arial"/>
            </a:endParaRPr>
          </a:p>
        </p:txBody>
      </p:sp>
      <p:sp>
        <p:nvSpPr>
          <p:cNvPr id="1510860087" name="Text 16"/>
          <p:cNvSpPr/>
          <p:nvPr/>
        </p:nvSpPr>
        <p:spPr bwMode="auto">
          <a:xfrm>
            <a:off x="9591840" y="5076360"/>
            <a:ext cx="306612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FFFFFF"/>
                </a:solidFill>
                <a:latin typeface="Open Sans"/>
                <a:ea typeface="Open Sans"/>
              </a:rPr>
              <a:t>Biomass</a:t>
            </a:r>
            <a:endParaRPr lang="en-US" sz="1900" b="0" strike="noStrike" spc="-1">
              <a:solidFill>
                <a:srgbClr val="000000"/>
              </a:solidFill>
              <a:latin typeface="Arial"/>
            </a:endParaRPr>
          </a:p>
        </p:txBody>
      </p:sp>
      <p:sp>
        <p:nvSpPr>
          <p:cNvPr id="869133407" name="Text 17"/>
          <p:cNvSpPr/>
          <p:nvPr/>
        </p:nvSpPr>
        <p:spPr bwMode="auto">
          <a:xfrm>
            <a:off x="9591840" y="5400360"/>
            <a:ext cx="306612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strike="noStrike" spc="-1">
                <a:solidFill>
                  <a:srgbClr val="C7C9CB"/>
                </a:solidFill>
                <a:latin typeface="Open Sans"/>
                <a:ea typeface="Open Sans"/>
              </a:rPr>
              <a:t>Baseload power · </a:t>
            </a:r>
            <a:r>
              <a:rPr lang="zh-CN" sz="1350" b="0" strike="noStrike" spc="-1">
                <a:solidFill>
                  <a:srgbClr val="C7C9CB"/>
                </a:solidFill>
                <a:latin typeface="Open Sans"/>
                <a:ea typeface="Open Sans"/>
              </a:rPr>
              <a:t>ベースロード電源</a:t>
            </a:r>
            <a:endParaRPr lang="en-US" sz="1350" b="0" strike="noStrike" spc="-1">
              <a:solidFill>
                <a:srgbClr val="000000"/>
              </a:solidFill>
              <a:latin typeface="Arial"/>
            </a:endParaRPr>
          </a:p>
        </p:txBody>
      </p:sp>
      <p:sp>
        <p:nvSpPr>
          <p:cNvPr id="1260695484" name="Shape 18"/>
          <p:cNvSpPr/>
          <p:nvPr/>
        </p:nvSpPr>
        <p:spPr bwMode="auto">
          <a:xfrm>
            <a:off x="9286920" y="5957280"/>
            <a:ext cx="132120" cy="398880"/>
          </a:xfrm>
          <a:prstGeom prst="rect">
            <a:avLst/>
          </a:prstGeom>
          <a:solidFill>
            <a:srgbClr val="F4B872"/>
          </a:solidFill>
          <a:ln w="0">
            <a:noFill/>
          </a:ln>
        </p:spPr>
        <p:style>
          <a:lnRef idx="0"/>
          <a:fillRef idx="0"/>
          <a:effectRef idx="0"/>
          <a:fontRef idx="minor"/>
        </p:style>
        <p:txBody>
          <a:bodyPr lIns="66240" tIns="45000" rIns="66240" bIns="45000" anchor="t">
            <a:noAutofit/>
          </a:bodyPr>
          <a:p>
            <a:pPr>
              <a:lnSpc>
                <a:spcPct val="100000"/>
              </a:lnSpc>
              <a:defRPr/>
            </a:pPr>
            <a:endParaRPr lang="en-US" sz="1800" b="0" strike="noStrike" spc="-1">
              <a:solidFill>
                <a:srgbClr val="000000"/>
              </a:solidFill>
              <a:latin typeface="Arial"/>
              <a:ea typeface="Arial"/>
            </a:endParaRPr>
          </a:p>
        </p:txBody>
      </p:sp>
      <p:sp>
        <p:nvSpPr>
          <p:cNvPr id="1695953679" name="Text 19"/>
          <p:cNvSpPr/>
          <p:nvPr/>
        </p:nvSpPr>
        <p:spPr bwMode="auto">
          <a:xfrm>
            <a:off x="9591840" y="5866920"/>
            <a:ext cx="301428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FFFFFF"/>
                </a:solidFill>
                <a:latin typeface="Open Sans"/>
                <a:ea typeface="Open Sans"/>
              </a:rPr>
              <a:t>Existing solar</a:t>
            </a:r>
            <a:endParaRPr lang="en-US" sz="1900" b="0" strike="noStrike" spc="-1">
              <a:solidFill>
                <a:srgbClr val="000000"/>
              </a:solidFill>
              <a:latin typeface="Arial"/>
            </a:endParaRPr>
          </a:p>
        </p:txBody>
      </p:sp>
      <p:sp>
        <p:nvSpPr>
          <p:cNvPr id="264352150" name="Text 20"/>
          <p:cNvSpPr/>
          <p:nvPr/>
        </p:nvSpPr>
        <p:spPr bwMode="auto">
          <a:xfrm>
            <a:off x="9591840" y="6190920"/>
            <a:ext cx="301428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strike="noStrike" spc="-1">
                <a:solidFill>
                  <a:srgbClr val="C7C9CB"/>
                </a:solidFill>
                <a:latin typeface="Open Sans"/>
                <a:ea typeface="Open Sans"/>
              </a:rPr>
              <a:t>Daytime generation · </a:t>
            </a:r>
            <a:r>
              <a:rPr lang="zh-CN" sz="1350" b="0" strike="noStrike" spc="-1">
                <a:solidFill>
                  <a:srgbClr val="C7C9CB"/>
                </a:solidFill>
                <a:latin typeface="Open Sans"/>
                <a:ea typeface="Open Sans"/>
              </a:rPr>
              <a:t>日中の太陽光</a:t>
            </a:r>
            <a:endParaRPr lang="en-US" sz="1350" b="0" strike="noStrike" spc="-1">
              <a:solidFill>
                <a:srgbClr val="000000"/>
              </a:solidFill>
              <a:latin typeface="Arial"/>
            </a:endParaRPr>
          </a:p>
        </p:txBody>
      </p:sp>
      <p:sp>
        <p:nvSpPr>
          <p:cNvPr id="1916852227" name="Shape 21"/>
          <p:cNvSpPr/>
          <p:nvPr/>
        </p:nvSpPr>
        <p:spPr bwMode="auto">
          <a:xfrm>
            <a:off x="9286920" y="6747840"/>
            <a:ext cx="132120" cy="398880"/>
          </a:xfrm>
          <a:prstGeom prst="rect">
            <a:avLst/>
          </a:prstGeom>
          <a:solidFill>
            <a:srgbClr val="6E7174"/>
          </a:solidFill>
          <a:ln w="0">
            <a:noFill/>
          </a:ln>
        </p:spPr>
        <p:style>
          <a:lnRef idx="0"/>
          <a:fillRef idx="0"/>
          <a:effectRef idx="0"/>
          <a:fontRef idx="minor"/>
        </p:style>
        <p:txBody>
          <a:bodyPr lIns="66240" tIns="45000" rIns="66240" bIns="45000" anchor="t">
            <a:noAutofit/>
          </a:bodyPr>
          <a:p>
            <a:pPr>
              <a:lnSpc>
                <a:spcPct val="100000"/>
              </a:lnSpc>
              <a:defRPr/>
            </a:pPr>
            <a:endParaRPr lang="en-US" sz="1800" b="0" strike="noStrike" spc="-1">
              <a:solidFill>
                <a:srgbClr val="FFFFFF"/>
              </a:solidFill>
              <a:latin typeface="Arial"/>
              <a:ea typeface="Arial"/>
            </a:endParaRPr>
          </a:p>
        </p:txBody>
      </p:sp>
      <p:sp>
        <p:nvSpPr>
          <p:cNvPr id="1104253660" name="Text 22"/>
          <p:cNvSpPr/>
          <p:nvPr/>
        </p:nvSpPr>
        <p:spPr bwMode="auto">
          <a:xfrm>
            <a:off x="9591840" y="6657480"/>
            <a:ext cx="343008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FFFFFF"/>
                </a:solidFill>
                <a:latin typeface="Open Sans"/>
                <a:ea typeface="Open Sans"/>
              </a:rPr>
              <a:t>Grid</a:t>
            </a:r>
            <a:endParaRPr lang="en-US" sz="1900" b="0" strike="noStrike" spc="-1">
              <a:solidFill>
                <a:srgbClr val="000000"/>
              </a:solidFill>
              <a:latin typeface="Arial"/>
            </a:endParaRPr>
          </a:p>
        </p:txBody>
      </p:sp>
      <p:sp>
        <p:nvSpPr>
          <p:cNvPr id="1946247484" name="Text 23"/>
          <p:cNvSpPr/>
          <p:nvPr/>
        </p:nvSpPr>
        <p:spPr bwMode="auto">
          <a:xfrm>
            <a:off x="9591840" y="6981480"/>
            <a:ext cx="343008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strike="noStrike" spc="-1">
                <a:solidFill>
                  <a:srgbClr val="C7C9CB"/>
                </a:solidFill>
                <a:latin typeface="Open Sans"/>
                <a:ea typeface="Open Sans"/>
              </a:rPr>
              <a:t>Backup &amp; peaks · </a:t>
            </a:r>
            <a:r>
              <a:rPr lang="zh-CN" sz="1350" b="0" strike="noStrike" spc="-1">
                <a:solidFill>
                  <a:srgbClr val="C7C9CB"/>
                </a:solidFill>
                <a:latin typeface="Open Sans"/>
                <a:ea typeface="Open Sans"/>
              </a:rPr>
              <a:t>系統（バックアップ）</a:t>
            </a:r>
            <a:endParaRPr lang="en-US" sz="1350" b="0" strike="noStrike" spc="-1">
              <a:solidFill>
                <a:srgbClr val="000000"/>
              </a:solidFill>
              <a:latin typeface="Arial"/>
            </a:endParaRPr>
          </a:p>
        </p:txBody>
      </p:sp>
      <p:sp>
        <p:nvSpPr>
          <p:cNvPr id="1319061000" name="Text 24"/>
          <p:cNvSpPr/>
          <p:nvPr/>
        </p:nvSpPr>
        <p:spPr bwMode="auto">
          <a:xfrm>
            <a:off x="9286920" y="7524360"/>
            <a:ext cx="8810640" cy="29412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50000"/>
              </a:lnSpc>
              <a:tabLst>
                <a:tab pos="0" algn="l"/>
              </a:tabLst>
              <a:defRPr/>
            </a:pPr>
            <a:r>
              <a:rPr lang="en-US" sz="1350" b="0" strike="noStrike" spc="-1">
                <a:solidFill>
                  <a:srgbClr val="9B9DA0"/>
                </a:solidFill>
                <a:latin typeface="Open Sans"/>
                <a:ea typeface="Open Sans"/>
              </a:rPr>
              <a:t>Not biomass alone, and not a replacement for the village's solar — a resilient blend.</a:t>
            </a:r>
            <a:endParaRPr lang="en-US" sz="135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2298727" name="Rectangle 1"/>
          <p:cNvSpPr/>
          <p:nvPr/>
        </p:nvSpPr>
        <p:spPr bwMode="auto">
          <a:xfrm>
            <a:off x="0" y="0"/>
            <a:ext cx="18286920" cy="74880"/>
          </a:xfrm>
          <a:prstGeom prst="rect">
            <a:avLst/>
          </a:prstGeom>
          <a:solidFill>
            <a:srgbClr val="9B9DA0"/>
          </a:solidFill>
          <a:ln>
            <a:noFill/>
          </a:ln>
        </p:spPr>
        <p:style>
          <a:lnRef idx="1">
            <a:schemeClr val="accent1"/>
          </a:lnRef>
          <a:fillRef idx="3">
            <a:schemeClr val="accent1"/>
          </a:fillRef>
          <a:effectRef idx="2">
            <a:schemeClr val="accent1"/>
          </a:effectRef>
          <a:fontRef idx="minor"/>
        </p:style>
        <p:txBody>
          <a:bodyPr lIns="90000" tIns="30960" rIns="90000" bIns="30960" anchor="ctr">
            <a:noAutofit/>
          </a:bodyPr>
          <a:p>
            <a:pPr>
              <a:lnSpc>
                <a:spcPct val="100000"/>
              </a:lnSpc>
              <a:defRPr/>
            </a:pPr>
            <a:endParaRPr lang="en-US" sz="1800" b="0" strike="noStrike" spc="-1">
              <a:solidFill>
                <a:schemeClr val="lt1"/>
              </a:solidFill>
              <a:latin typeface="Calibri"/>
              <a:ea typeface="Arial"/>
            </a:endParaRPr>
          </a:p>
        </p:txBody>
      </p:sp>
      <p:sp>
        <p:nvSpPr>
          <p:cNvPr id="1509845993" name="Rectangle 2"/>
          <p:cNvSpPr/>
          <p:nvPr/>
        </p:nvSpPr>
        <p:spPr bwMode="auto">
          <a:xfrm>
            <a:off x="612720" y="896040"/>
            <a:ext cx="437760" cy="46440"/>
          </a:xfrm>
          <a:prstGeom prst="rect">
            <a:avLst/>
          </a:prstGeom>
          <a:solidFill>
            <a:srgbClr val="E58520"/>
          </a:solidFill>
          <a:ln>
            <a:noFill/>
          </a:ln>
        </p:spPr>
        <p:style>
          <a:lnRef idx="1">
            <a:schemeClr val="accent1"/>
          </a:lnRef>
          <a:fillRef idx="3">
            <a:schemeClr val="accent1"/>
          </a:fillRef>
          <a:effectRef idx="2">
            <a:schemeClr val="accent1"/>
          </a:effectRef>
          <a:fontRef idx="minor"/>
        </p:style>
        <p:txBody>
          <a:bodyPr lIns="90000" tIns="2520" rIns="90000" bIns="2520" anchor="ctr">
            <a:noAutofit/>
          </a:bodyPr>
          <a:p>
            <a:pPr>
              <a:lnSpc>
                <a:spcPct val="100000"/>
              </a:lnSpc>
              <a:defRPr/>
            </a:pPr>
            <a:endParaRPr lang="en-US" sz="1800" b="0" strike="noStrike" spc="-1">
              <a:solidFill>
                <a:schemeClr val="lt1"/>
              </a:solidFill>
              <a:latin typeface="Calibri"/>
              <a:ea typeface="Arial"/>
            </a:endParaRPr>
          </a:p>
        </p:txBody>
      </p:sp>
      <p:sp>
        <p:nvSpPr>
          <p:cNvPr id="692143269" name="TextBox 3"/>
          <p:cNvSpPr/>
          <p:nvPr/>
        </p:nvSpPr>
        <p:spPr bwMode="auto">
          <a:xfrm>
            <a:off x="1179720" y="800280"/>
            <a:ext cx="7314120" cy="288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300" b="1" strike="noStrike" spc="-1">
                <a:solidFill>
                  <a:srgbClr val="9B9DA0"/>
                </a:solidFill>
                <a:latin typeface="Open Sans"/>
                <a:ea typeface="Arial"/>
              </a:rPr>
              <a:t>BIOMASS OPPORTUNITY · </a:t>
            </a:r>
            <a:r>
              <a:rPr lang="zh-CN" sz="1300" b="1" strike="noStrike" spc="-1">
                <a:solidFill>
                  <a:srgbClr val="9B9DA0"/>
                </a:solidFill>
                <a:latin typeface="Open Sans"/>
                <a:ea typeface="Arial"/>
              </a:rPr>
              <a:t>バイオマスの可能性 </a:t>
            </a:r>
            <a:r>
              <a:rPr lang="en-US" sz="1300" b="1" strike="noStrike" spc="-1">
                <a:solidFill>
                  <a:srgbClr val="9B9DA0"/>
                </a:solidFill>
                <a:latin typeface="Open Sans"/>
                <a:ea typeface="Arial"/>
              </a:rPr>
              <a:t>· 08</a:t>
            </a:r>
            <a:endParaRPr lang="en-US" sz="1300" b="0" strike="noStrike" spc="-1">
              <a:solidFill>
                <a:srgbClr val="000000"/>
              </a:solidFill>
              <a:latin typeface="Arial"/>
            </a:endParaRPr>
          </a:p>
        </p:txBody>
      </p:sp>
      <p:sp>
        <p:nvSpPr>
          <p:cNvPr id="1912502174" name="TextBox 4"/>
          <p:cNvSpPr/>
          <p:nvPr/>
        </p:nvSpPr>
        <p:spPr bwMode="auto">
          <a:xfrm>
            <a:off x="612720" y="1243440"/>
            <a:ext cx="16915320" cy="821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4800" b="1" strike="noStrike" spc="-1">
                <a:solidFill>
                  <a:srgbClr val="2E2E2E"/>
                </a:solidFill>
                <a:latin typeface="Sora"/>
                <a:ea typeface="Arial"/>
              </a:rPr>
              <a:t>Untapped — but not for long</a:t>
            </a:r>
            <a:endParaRPr lang="en-US" sz="4800" b="0" strike="noStrike" spc="-1">
              <a:solidFill>
                <a:srgbClr val="000000"/>
              </a:solidFill>
              <a:latin typeface="Arial"/>
            </a:endParaRPr>
          </a:p>
        </p:txBody>
      </p:sp>
      <p:sp>
        <p:nvSpPr>
          <p:cNvPr id="1502726989" name="TextBox 5"/>
          <p:cNvSpPr/>
          <p:nvPr/>
        </p:nvSpPr>
        <p:spPr bwMode="auto">
          <a:xfrm>
            <a:off x="612720" y="1974960"/>
            <a:ext cx="16915320" cy="36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zh-CN" sz="1800" b="0" strike="noStrike" spc="-1">
                <a:solidFill>
                  <a:srgbClr val="5A5A5A"/>
                </a:solidFill>
                <a:latin typeface="Open Sans"/>
                <a:ea typeface="Arial"/>
              </a:rPr>
              <a:t>地域再生可能エネルギーポテンシャル </a:t>
            </a:r>
            <a:r>
              <a:rPr lang="en-US" sz="1800" b="0" strike="noStrike" spc="-1">
                <a:solidFill>
                  <a:srgbClr val="5A5A5A"/>
                </a:solidFill>
                <a:latin typeface="Open Sans"/>
                <a:ea typeface="Arial"/>
              </a:rPr>
              <a:t>1,967 TJ — </a:t>
            </a:r>
            <a:r>
              <a:rPr lang="zh-CN" sz="1800" b="0" strike="noStrike" spc="-1">
                <a:solidFill>
                  <a:srgbClr val="5A5A5A"/>
                </a:solidFill>
                <a:latin typeface="Open Sans"/>
                <a:ea typeface="Arial"/>
              </a:rPr>
              <a:t>木質バイオマスが最大の柱</a:t>
            </a:r>
            <a:endParaRPr lang="en-US" sz="1800" b="0" strike="noStrike" spc="-1">
              <a:solidFill>
                <a:srgbClr val="000000"/>
              </a:solidFill>
              <a:latin typeface="Arial"/>
            </a:endParaRPr>
          </a:p>
        </p:txBody>
      </p:sp>
      <p:pic>
        <p:nvPicPr>
          <p:cNvPr id="79398537" name="Picture 6" descr="Mitsue energy 2032.png"/>
          <p:cNvPicPr/>
          <p:nvPr/>
        </p:nvPicPr>
        <p:blipFill rotWithShape="1">
          <a:blip r:embed="rId3"/>
          <a:stretch/>
        </p:blipFill>
        <p:spPr bwMode="auto">
          <a:xfrm>
            <a:off x="9162360" y="2514600"/>
            <a:ext cx="8594280" cy="4068000"/>
          </a:xfrm>
          <a:prstGeom prst="rect">
            <a:avLst/>
          </a:prstGeom>
          <a:ln w="0">
            <a:noFill/>
          </a:ln>
        </p:spPr>
      </p:pic>
      <p:pic>
        <p:nvPicPr>
          <p:cNvPr id="16173950" name="Picture 7" descr="Mitsue energy 2022.png"/>
          <p:cNvPicPr/>
          <p:nvPr/>
        </p:nvPicPr>
        <p:blipFill rotWithShape="1">
          <a:blip r:embed="rId4"/>
          <a:stretch/>
        </p:blipFill>
        <p:spPr bwMode="auto">
          <a:xfrm>
            <a:off x="475560" y="2514600"/>
            <a:ext cx="8594280" cy="4068000"/>
          </a:xfrm>
          <a:prstGeom prst="rect">
            <a:avLst/>
          </a:prstGeom>
          <a:ln w="0">
            <a:noFill/>
          </a:ln>
        </p:spPr>
      </p:pic>
      <p:sp>
        <p:nvSpPr>
          <p:cNvPr id="722505564" name="TextBox 8"/>
          <p:cNvSpPr/>
          <p:nvPr/>
        </p:nvSpPr>
        <p:spPr bwMode="auto">
          <a:xfrm>
            <a:off x="9144000" y="6647760"/>
            <a:ext cx="8594280" cy="25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100" b="1" strike="noStrike" spc="-1">
                <a:solidFill>
                  <a:srgbClr val="3A7A5A"/>
                </a:solidFill>
                <a:latin typeface="Open Sans"/>
                <a:ea typeface="Arial"/>
              </a:rPr>
              <a:t>2032 TARGET  ·  Fossil fuels: 97 TJ  ·  Local renewables introduced</a:t>
            </a:r>
            <a:endParaRPr lang="en-US" sz="1100" b="0" strike="noStrike" spc="-1">
              <a:solidFill>
                <a:srgbClr val="000000"/>
              </a:solidFill>
              <a:latin typeface="Arial"/>
            </a:endParaRPr>
          </a:p>
        </p:txBody>
      </p:sp>
      <p:sp>
        <p:nvSpPr>
          <p:cNvPr id="1953892446" name="TextBox 9"/>
          <p:cNvSpPr/>
          <p:nvPr/>
        </p:nvSpPr>
        <p:spPr bwMode="auto">
          <a:xfrm>
            <a:off x="475560" y="6647760"/>
            <a:ext cx="8594280" cy="25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100" b="1" strike="noStrike" spc="-1">
                <a:solidFill>
                  <a:srgbClr val="C0392B"/>
                </a:solidFill>
                <a:latin typeface="Open Sans"/>
                <a:ea typeface="Arial"/>
              </a:rPr>
              <a:t>2022 BASELINE  ·  Fossil fuels: 119 TJ  ·  Minimal renewables in use</a:t>
            </a:r>
            <a:endParaRPr lang="en-US" sz="1100" b="0" strike="noStrike" spc="-1">
              <a:solidFill>
                <a:srgbClr val="000000"/>
              </a:solidFill>
              <a:latin typeface="Arial"/>
            </a:endParaRPr>
          </a:p>
        </p:txBody>
      </p:sp>
      <p:sp>
        <p:nvSpPr>
          <p:cNvPr id="1244402068" name="Rectangle 10"/>
          <p:cNvSpPr/>
          <p:nvPr/>
        </p:nvSpPr>
        <p:spPr bwMode="auto">
          <a:xfrm>
            <a:off x="457200" y="7113960"/>
            <a:ext cx="17372520" cy="1940759"/>
          </a:xfrm>
          <a:prstGeom prst="rect">
            <a:avLst/>
          </a:prstGeom>
          <a:solidFill>
            <a:srgbClr val="FFF8E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defRPr/>
            </a:pPr>
            <a:endParaRPr lang="en-US" sz="1800" b="0" strike="noStrike" spc="-1">
              <a:solidFill>
                <a:schemeClr val="lt1"/>
              </a:solidFill>
              <a:latin typeface="Calibri"/>
              <a:ea typeface="Arial"/>
            </a:endParaRPr>
          </a:p>
        </p:txBody>
      </p:sp>
      <p:sp>
        <p:nvSpPr>
          <p:cNvPr id="1779611794" name="TextBox 11"/>
          <p:cNvSpPr/>
          <p:nvPr/>
        </p:nvSpPr>
        <p:spPr bwMode="auto">
          <a:xfrm>
            <a:off x="685800" y="7269480"/>
            <a:ext cx="4570920" cy="288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300" b="1" strike="noStrike" spc="-1">
                <a:solidFill>
                  <a:srgbClr val="E58520"/>
                </a:solidFill>
                <a:latin typeface="Open Sans"/>
                <a:ea typeface="Arial"/>
              </a:rPr>
              <a:t>THE BIOMASS CASE</a:t>
            </a:r>
            <a:endParaRPr lang="en-US" sz="1300" b="0" strike="noStrike" spc="-1">
              <a:solidFill>
                <a:srgbClr val="000000"/>
              </a:solidFill>
              <a:latin typeface="Arial"/>
            </a:endParaRPr>
          </a:p>
        </p:txBody>
      </p:sp>
      <p:sp>
        <p:nvSpPr>
          <p:cNvPr id="1674859875" name="TextBox 12"/>
          <p:cNvSpPr/>
          <p:nvPr/>
        </p:nvSpPr>
        <p:spPr bwMode="auto">
          <a:xfrm>
            <a:off x="685800" y="7699320"/>
            <a:ext cx="16918560" cy="730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400" b="0" strike="noStrike" spc="-1">
                <a:solidFill>
                  <a:srgbClr val="2E2E2E"/>
                </a:solidFill>
                <a:latin typeface="Open Sans"/>
                <a:ea typeface="Arial"/>
              </a:rPr>
              <a:t>The right bar in both diagrams shows 1,967 TJ of local renewable energy potential — woody biomass (dark green) is the dominant resource by far. Today, almost none is captured. The Mitsue AI Data Center Project changes that: sugi thinnings feed a CHP unit, generating baseload electricity and heat year-round. Every cubic metre of timber harvested for forest restoration becomes fuel — closing the loop between reforestation and energy self-sufficiency.</a:t>
            </a:r>
            <a:endParaRPr lang="en-US" sz="1400" b="0" strike="noStrike" spc="-1">
              <a:solidFill>
                <a:srgbClr val="000000"/>
              </a:solidFill>
              <a:latin typeface="Arial"/>
            </a:endParaRPr>
          </a:p>
        </p:txBody>
      </p:sp>
      <p:sp>
        <p:nvSpPr>
          <p:cNvPr id="1897990465" name="Text 52"/>
          <p:cNvSpPr/>
          <p:nvPr/>
        </p:nvSpPr>
        <p:spPr bwMode="auto">
          <a:xfrm>
            <a:off x="609480" y="9563040"/>
            <a:ext cx="18774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8">
                <a:solidFill>
                  <a:srgbClr val="A9ABAE"/>
                </a:solidFill>
                <a:latin typeface="Open Sans"/>
                <a:ea typeface="Open Sans"/>
              </a:rPr>
              <a:t>Indicators: Japan Energy Database (Tohoku University, CC BY-NC). Mitsue values illustrative — confirm via Future Energy Simulator. </a:t>
            </a:r>
            <a:r>
              <a:rPr lang="zh-CN" sz="1000" b="1" strike="noStrike" spc="18">
                <a:solidFill>
                  <a:srgbClr val="A9ABAE"/>
                </a:solidFill>
                <a:latin typeface="Open Sans"/>
                <a:ea typeface="Open Sans"/>
              </a:rPr>
              <a:t>出典：地域エネルギー需給データベース／数値は試算</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07787076"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268407661" name="Shape 1"/>
          <p:cNvSpPr/>
          <p:nvPr/>
        </p:nvSpPr>
        <p:spPr bwMode="auto">
          <a:xfrm>
            <a:off x="609480" y="2354760"/>
            <a:ext cx="17067600" cy="18000"/>
          </a:xfrm>
          <a:prstGeom prst="rect">
            <a:avLst/>
          </a:prstGeom>
          <a:solidFill>
            <a:srgbClr val="2E2E2E"/>
          </a:solidFill>
          <a:ln w="0">
            <a:noFill/>
          </a:ln>
        </p:spPr>
        <p:style>
          <a:lnRef idx="0"/>
          <a:fillRef idx="0"/>
          <a:effectRef idx="0"/>
          <a:fontRef idx="minor"/>
        </p:style>
        <p:txBody>
          <a:bodyPr lIns="90000" tIns="-25920" rIns="90000" bIns="-25920" anchor="t">
            <a:noAutofit/>
          </a:bodyPr>
          <a:p>
            <a:pPr>
              <a:lnSpc>
                <a:spcPct val="100000"/>
              </a:lnSpc>
              <a:defRPr/>
            </a:pPr>
            <a:endParaRPr lang="en-US" sz="1800" b="0" strike="noStrike" spc="-1">
              <a:solidFill>
                <a:srgbClr val="FFFFFF"/>
              </a:solidFill>
              <a:latin typeface="Arial"/>
              <a:ea typeface="Arial"/>
            </a:endParaRPr>
          </a:p>
        </p:txBody>
      </p:sp>
      <p:sp>
        <p:nvSpPr>
          <p:cNvPr id="1489503253" name="Shape 2"/>
          <p:cNvSpPr/>
          <p:nvPr/>
        </p:nvSpPr>
        <p:spPr bwMode="auto">
          <a:xfrm>
            <a:off x="609480" y="80028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562515585" name="Text 3"/>
          <p:cNvSpPr/>
          <p:nvPr/>
        </p:nvSpPr>
        <p:spPr bwMode="auto">
          <a:xfrm>
            <a:off x="1181160" y="704879"/>
            <a:ext cx="41547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PROFILE IN NUMBERS · </a:t>
            </a:r>
            <a:r>
              <a:rPr lang="zh-CN" sz="1300" b="1" strike="noStrike" spc="201">
                <a:solidFill>
                  <a:srgbClr val="9B9DA0"/>
                </a:solidFill>
                <a:latin typeface="Open Sans"/>
                <a:ea typeface="Open Sans"/>
              </a:rPr>
              <a:t>現状と将来 </a:t>
            </a:r>
            <a:r>
              <a:rPr lang="en-US" sz="1300" b="1" strike="noStrike" spc="201">
                <a:solidFill>
                  <a:srgbClr val="9B9DA0"/>
                </a:solidFill>
                <a:latin typeface="Open Sans"/>
                <a:ea typeface="Open Sans"/>
              </a:rPr>
              <a:t>· 08</a:t>
            </a:r>
            <a:endParaRPr lang="en-US" sz="1300" b="0" strike="noStrike" spc="-1">
              <a:solidFill>
                <a:srgbClr val="000000"/>
              </a:solidFill>
              <a:latin typeface="Arial"/>
            </a:endParaRPr>
          </a:p>
        </p:txBody>
      </p:sp>
      <p:sp>
        <p:nvSpPr>
          <p:cNvPr id="118261273" name="Text 4"/>
          <p:cNvSpPr/>
          <p:nvPr/>
        </p:nvSpPr>
        <p:spPr bwMode="auto">
          <a:xfrm>
            <a:off x="609480" y="1076400"/>
            <a:ext cx="9487800" cy="63936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1000"/>
              </a:lnSpc>
              <a:tabLst>
                <a:tab pos="0" algn="l"/>
              </a:tabLst>
              <a:defRPr/>
            </a:pPr>
            <a:r>
              <a:rPr lang="en-US" sz="4650" b="1" strike="noStrike" spc="-23">
                <a:solidFill>
                  <a:srgbClr val="2E2E2E"/>
                </a:solidFill>
                <a:latin typeface="Sora"/>
                <a:ea typeface="Sora"/>
              </a:rPr>
              <a:t>From dependence to surplus</a:t>
            </a:r>
            <a:endParaRPr lang="en-US" sz="4650" b="0" strike="noStrike" spc="-1">
              <a:solidFill>
                <a:srgbClr val="000000"/>
              </a:solidFill>
              <a:latin typeface="Arial"/>
            </a:endParaRPr>
          </a:p>
        </p:txBody>
      </p:sp>
      <p:sp>
        <p:nvSpPr>
          <p:cNvPr id="1936580335" name="Text 5"/>
          <p:cNvSpPr/>
          <p:nvPr/>
        </p:nvSpPr>
        <p:spPr bwMode="auto">
          <a:xfrm>
            <a:off x="609480" y="1773720"/>
            <a:ext cx="9487800" cy="389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strike="noStrike" spc="-1">
                <a:solidFill>
                  <a:srgbClr val="6E7174"/>
                </a:solidFill>
                <a:latin typeface="Noto Sans JP"/>
                <a:ea typeface="Noto Sans JP"/>
              </a:rPr>
              <a:t>依存から余剰へ — エネルギー自立への転換</a:t>
            </a:r>
            <a:endParaRPr lang="en-US" sz="1900" b="0" strike="noStrike" spc="-1">
              <a:solidFill>
                <a:srgbClr val="000000"/>
              </a:solidFill>
              <a:latin typeface="Arial"/>
            </a:endParaRPr>
          </a:p>
        </p:txBody>
      </p:sp>
      <p:sp>
        <p:nvSpPr>
          <p:cNvPr id="842644362" name="Shape 6"/>
          <p:cNvSpPr/>
          <p:nvPr/>
        </p:nvSpPr>
        <p:spPr bwMode="auto">
          <a:xfrm>
            <a:off x="15017400" y="1883520"/>
            <a:ext cx="246600" cy="13212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2118660579" name="Text 7"/>
          <p:cNvSpPr/>
          <p:nvPr/>
        </p:nvSpPr>
        <p:spPr bwMode="auto">
          <a:xfrm>
            <a:off x="15350760" y="1830960"/>
            <a:ext cx="999360" cy="275040"/>
          </a:xfrm>
          <a:prstGeom prst="rect">
            <a:avLst/>
          </a:prstGeom>
          <a:noFill/>
          <a:ln w="0">
            <a:noFill/>
          </a:ln>
        </p:spPr>
        <p:style>
          <a:lnRef idx="0"/>
          <a:fillRef idx="0"/>
          <a:effectRef idx="0"/>
          <a:fontRef idx="minor"/>
        </p:style>
        <p:txBody>
          <a:bodyPr lIns="25560" tIns="25560" rIns="25560" bIns="25560" anchor="t">
            <a:normAutofit fontScale="93333"/>
          </a:bodyPr>
          <a:p>
            <a:pPr defTabSz="914400">
              <a:lnSpc>
                <a:spcPct val="100000"/>
              </a:lnSpc>
              <a:tabLst>
                <a:tab pos="0" algn="l"/>
              </a:tabLst>
              <a:defRPr/>
            </a:pPr>
            <a:r>
              <a:rPr lang="en-US" sz="1300" b="1" strike="noStrike" spc="-1">
                <a:solidFill>
                  <a:srgbClr val="6E7174"/>
                </a:solidFill>
                <a:latin typeface="Open Sans"/>
                <a:ea typeface="Open Sans"/>
              </a:rPr>
              <a:t>Today · </a:t>
            </a:r>
            <a:r>
              <a:rPr lang="zh-CN" sz="1300" b="1" strike="noStrike" spc="-1">
                <a:solidFill>
                  <a:srgbClr val="6E7174"/>
                </a:solidFill>
                <a:latin typeface="Open Sans"/>
                <a:ea typeface="Open Sans"/>
              </a:rPr>
              <a:t>現状</a:t>
            </a:r>
            <a:endParaRPr lang="en-US" sz="1300" b="0" strike="noStrike" spc="-1">
              <a:solidFill>
                <a:srgbClr val="000000"/>
              </a:solidFill>
              <a:latin typeface="Arial"/>
            </a:endParaRPr>
          </a:p>
        </p:txBody>
      </p:sp>
      <p:sp>
        <p:nvSpPr>
          <p:cNvPr id="328029677" name="Shape 8"/>
          <p:cNvSpPr/>
          <p:nvPr/>
        </p:nvSpPr>
        <p:spPr bwMode="auto">
          <a:xfrm>
            <a:off x="16522560" y="1883520"/>
            <a:ext cx="246600" cy="13212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685939361" name="Text 9"/>
          <p:cNvSpPr/>
          <p:nvPr/>
        </p:nvSpPr>
        <p:spPr bwMode="auto">
          <a:xfrm>
            <a:off x="16855920" y="1830960"/>
            <a:ext cx="897480" cy="275040"/>
          </a:xfrm>
          <a:prstGeom prst="rect">
            <a:avLst/>
          </a:prstGeom>
          <a:noFill/>
          <a:ln w="0">
            <a:noFill/>
          </a:ln>
        </p:spPr>
        <p:style>
          <a:lnRef idx="0"/>
          <a:fillRef idx="0"/>
          <a:effectRef idx="0"/>
          <a:fontRef idx="minor"/>
        </p:style>
        <p:txBody>
          <a:bodyPr lIns="25560" tIns="25560" rIns="25560" bIns="25560" anchor="t">
            <a:normAutofit fontScale="93333"/>
          </a:bodyPr>
          <a:p>
            <a:pPr defTabSz="914400">
              <a:lnSpc>
                <a:spcPct val="100000"/>
              </a:lnSpc>
              <a:tabLst>
                <a:tab pos="0" algn="l"/>
              </a:tabLst>
              <a:defRPr/>
            </a:pPr>
            <a:r>
              <a:rPr lang="en-US" sz="1300" b="1" strike="noStrike" spc="-1">
                <a:solidFill>
                  <a:srgbClr val="6E7174"/>
                </a:solidFill>
                <a:latin typeface="Open Sans"/>
                <a:ea typeface="Open Sans"/>
              </a:rPr>
              <a:t>2050 · </a:t>
            </a:r>
            <a:r>
              <a:rPr lang="zh-CN" sz="1300" b="1" strike="noStrike" spc="-1">
                <a:solidFill>
                  <a:srgbClr val="6E7174"/>
                </a:solidFill>
                <a:latin typeface="Open Sans"/>
                <a:ea typeface="Open Sans"/>
              </a:rPr>
              <a:t>想定</a:t>
            </a:r>
            <a:endParaRPr lang="en-US" sz="1300" b="0" strike="noStrike" spc="-1">
              <a:solidFill>
                <a:srgbClr val="000000"/>
              </a:solidFill>
              <a:latin typeface="Arial"/>
            </a:endParaRPr>
          </a:p>
        </p:txBody>
      </p:sp>
      <p:sp>
        <p:nvSpPr>
          <p:cNvPr id="386927083" name="Text 10"/>
          <p:cNvSpPr/>
          <p:nvPr/>
        </p:nvSpPr>
        <p:spPr bwMode="auto">
          <a:xfrm>
            <a:off x="609480" y="3732840"/>
            <a:ext cx="351972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Energy self-sufficiency </a:t>
            </a:r>
            <a:r>
              <a:rPr lang="zh-CN" sz="1300" b="0" strike="noStrike" spc="-1">
                <a:solidFill>
                  <a:srgbClr val="9B9DA0"/>
                </a:solidFill>
                <a:latin typeface="Noto Sans JP"/>
                <a:ea typeface="Noto Sans JP"/>
              </a:rPr>
              <a:t>自給率</a:t>
            </a:r>
            <a:endParaRPr lang="en-US" sz="1300" b="0" strike="noStrike" spc="-1">
              <a:solidFill>
                <a:srgbClr val="000000"/>
              </a:solidFill>
              <a:latin typeface="Arial"/>
            </a:endParaRPr>
          </a:p>
        </p:txBody>
      </p:sp>
      <p:sp>
        <p:nvSpPr>
          <p:cNvPr id="1831810486" name="Text 11"/>
          <p:cNvSpPr/>
          <p:nvPr/>
        </p:nvSpPr>
        <p:spPr bwMode="auto">
          <a:xfrm>
            <a:off x="7944120" y="3776040"/>
            <a:ext cx="97020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E58520"/>
                </a:solidFill>
                <a:latin typeface="Open Sans"/>
                <a:ea typeface="Open Sans"/>
              </a:rPr>
              <a:t>▲ </a:t>
            </a:r>
            <a:r>
              <a:rPr lang="en-US" sz="1600" b="1" strike="noStrike" spc="-1">
                <a:solidFill>
                  <a:srgbClr val="E58520"/>
                </a:solidFill>
                <a:latin typeface="Open Sans"/>
                <a:ea typeface="Open Sans"/>
              </a:rPr>
              <a:t>+107pt</a:t>
            </a:r>
            <a:endParaRPr lang="en-US" sz="1600" b="0" strike="noStrike" spc="-1">
              <a:solidFill>
                <a:srgbClr val="000000"/>
              </a:solidFill>
              <a:latin typeface="Arial"/>
            </a:endParaRPr>
          </a:p>
        </p:txBody>
      </p:sp>
      <p:sp>
        <p:nvSpPr>
          <p:cNvPr id="2011304662" name="Text 12"/>
          <p:cNvSpPr/>
          <p:nvPr/>
        </p:nvSpPr>
        <p:spPr bwMode="auto">
          <a:xfrm>
            <a:off x="533520" y="424260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A9ABAE"/>
                </a:solidFill>
                <a:latin typeface="Open Sans"/>
                <a:ea typeface="Open Sans"/>
              </a:rPr>
              <a:t>TODAY</a:t>
            </a:r>
            <a:endParaRPr lang="en-US" sz="1150" b="0" strike="noStrike" spc="-1">
              <a:solidFill>
                <a:srgbClr val="000000"/>
              </a:solidFill>
              <a:latin typeface="Arial"/>
            </a:endParaRPr>
          </a:p>
        </p:txBody>
      </p:sp>
      <p:sp>
        <p:nvSpPr>
          <p:cNvPr id="17634282" name="Shape 13"/>
          <p:cNvSpPr/>
          <p:nvPr/>
        </p:nvSpPr>
        <p:spPr bwMode="auto">
          <a:xfrm>
            <a:off x="1504800" y="421416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376837148" name="Shape 14"/>
          <p:cNvSpPr/>
          <p:nvPr/>
        </p:nvSpPr>
        <p:spPr bwMode="auto">
          <a:xfrm>
            <a:off x="1504800" y="4214160"/>
            <a:ext cx="445680" cy="24660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734810875" name="Text 15"/>
          <p:cNvSpPr/>
          <p:nvPr/>
        </p:nvSpPr>
        <p:spPr bwMode="auto">
          <a:xfrm>
            <a:off x="8039160" y="4209120"/>
            <a:ext cx="87516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strike="noStrike" spc="-1">
                <a:solidFill>
                  <a:srgbClr val="6E7174"/>
                </a:solidFill>
                <a:latin typeface="Open Sans"/>
                <a:ea typeface="Open Sans"/>
              </a:rPr>
              <a:t>8%</a:t>
            </a:r>
            <a:endParaRPr lang="en-US" sz="1500" b="0" strike="noStrike" spc="-1">
              <a:solidFill>
                <a:srgbClr val="000000"/>
              </a:solidFill>
              <a:latin typeface="Arial"/>
            </a:endParaRPr>
          </a:p>
        </p:txBody>
      </p:sp>
      <p:sp>
        <p:nvSpPr>
          <p:cNvPr id="762389991" name="Text 16"/>
          <p:cNvSpPr/>
          <p:nvPr/>
        </p:nvSpPr>
        <p:spPr bwMode="auto">
          <a:xfrm>
            <a:off x="533520" y="462852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E58520"/>
                </a:solidFill>
                <a:latin typeface="Open Sans"/>
                <a:ea typeface="Open Sans"/>
              </a:rPr>
              <a:t>2050</a:t>
            </a:r>
            <a:endParaRPr lang="en-US" sz="1150" b="0" strike="noStrike" spc="-1">
              <a:solidFill>
                <a:srgbClr val="000000"/>
              </a:solidFill>
              <a:latin typeface="Arial"/>
            </a:endParaRPr>
          </a:p>
        </p:txBody>
      </p:sp>
      <p:sp>
        <p:nvSpPr>
          <p:cNvPr id="480000545" name="Shape 17"/>
          <p:cNvSpPr/>
          <p:nvPr/>
        </p:nvSpPr>
        <p:spPr bwMode="auto">
          <a:xfrm>
            <a:off x="1504800" y="459972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576128376" name="Shape 18"/>
          <p:cNvSpPr/>
          <p:nvPr/>
        </p:nvSpPr>
        <p:spPr bwMode="auto">
          <a:xfrm>
            <a:off x="1504800" y="4599720"/>
            <a:ext cx="6125400" cy="24660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2008006845" name="Text 19"/>
          <p:cNvSpPr/>
          <p:nvPr/>
        </p:nvSpPr>
        <p:spPr bwMode="auto">
          <a:xfrm>
            <a:off x="8039160" y="4552200"/>
            <a:ext cx="875160" cy="3798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strike="noStrike" spc="-1">
                <a:solidFill>
                  <a:srgbClr val="2E2E2E"/>
                </a:solidFill>
                <a:latin typeface="Open Sans"/>
                <a:ea typeface="Open Sans"/>
              </a:rPr>
              <a:t>115%</a:t>
            </a:r>
            <a:endParaRPr lang="en-US" sz="1950" b="0" strike="noStrike" spc="-1">
              <a:solidFill>
                <a:srgbClr val="000000"/>
              </a:solidFill>
              <a:latin typeface="Arial"/>
            </a:endParaRPr>
          </a:p>
        </p:txBody>
      </p:sp>
      <p:sp>
        <p:nvSpPr>
          <p:cNvPr id="1856955598" name="Text 20"/>
          <p:cNvSpPr/>
          <p:nvPr/>
        </p:nvSpPr>
        <p:spPr bwMode="auto">
          <a:xfrm>
            <a:off x="9448920" y="3732840"/>
            <a:ext cx="351936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Import dependency </a:t>
            </a:r>
            <a:r>
              <a:rPr lang="zh-CN" sz="1300" b="0" strike="noStrike" spc="-1">
                <a:solidFill>
                  <a:srgbClr val="9B9DA0"/>
                </a:solidFill>
                <a:latin typeface="Noto Sans JP"/>
                <a:ea typeface="Noto Sans JP"/>
              </a:rPr>
              <a:t>域外依存率</a:t>
            </a:r>
            <a:endParaRPr lang="en-US" sz="1300" b="0" strike="noStrike" spc="-1">
              <a:solidFill>
                <a:srgbClr val="000000"/>
              </a:solidFill>
              <a:latin typeface="Arial"/>
            </a:endParaRPr>
          </a:p>
        </p:txBody>
      </p:sp>
      <p:sp>
        <p:nvSpPr>
          <p:cNvPr id="1899916902" name="Text 21"/>
          <p:cNvSpPr/>
          <p:nvPr/>
        </p:nvSpPr>
        <p:spPr bwMode="auto">
          <a:xfrm>
            <a:off x="16904520" y="3776040"/>
            <a:ext cx="848879"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E58520"/>
                </a:solidFill>
                <a:latin typeface="Open Sans"/>
                <a:ea typeface="Open Sans"/>
              </a:rPr>
              <a:t>▼ −</a:t>
            </a:r>
            <a:r>
              <a:rPr lang="en-US" sz="1600" b="1" strike="noStrike" spc="-1">
                <a:solidFill>
                  <a:srgbClr val="E58520"/>
                </a:solidFill>
                <a:latin typeface="Open Sans"/>
                <a:ea typeface="Open Sans"/>
              </a:rPr>
              <a:t>67pt</a:t>
            </a:r>
            <a:endParaRPr lang="en-US" sz="1600" b="0" strike="noStrike" spc="-1">
              <a:solidFill>
                <a:srgbClr val="000000"/>
              </a:solidFill>
              <a:latin typeface="Arial"/>
            </a:endParaRPr>
          </a:p>
        </p:txBody>
      </p:sp>
      <p:sp>
        <p:nvSpPr>
          <p:cNvPr id="1704559630" name="Text 22"/>
          <p:cNvSpPr/>
          <p:nvPr/>
        </p:nvSpPr>
        <p:spPr bwMode="auto">
          <a:xfrm>
            <a:off x="9372600" y="424260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A9ABAE"/>
                </a:solidFill>
                <a:latin typeface="Open Sans"/>
                <a:ea typeface="Open Sans"/>
              </a:rPr>
              <a:t>TODAY</a:t>
            </a:r>
            <a:endParaRPr lang="en-US" sz="1150" b="0" strike="noStrike" spc="-1">
              <a:solidFill>
                <a:srgbClr val="000000"/>
              </a:solidFill>
              <a:latin typeface="Arial"/>
            </a:endParaRPr>
          </a:p>
        </p:txBody>
      </p:sp>
      <p:sp>
        <p:nvSpPr>
          <p:cNvPr id="953207042" name="Shape 23"/>
          <p:cNvSpPr/>
          <p:nvPr/>
        </p:nvSpPr>
        <p:spPr bwMode="auto">
          <a:xfrm>
            <a:off x="10344240" y="421416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127523249" name="Shape 24"/>
          <p:cNvSpPr/>
          <p:nvPr/>
        </p:nvSpPr>
        <p:spPr bwMode="auto">
          <a:xfrm>
            <a:off x="10344240" y="4214160"/>
            <a:ext cx="5870160" cy="24660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24196009" name="Text 25"/>
          <p:cNvSpPr/>
          <p:nvPr/>
        </p:nvSpPr>
        <p:spPr bwMode="auto">
          <a:xfrm>
            <a:off x="16878240" y="4209120"/>
            <a:ext cx="87516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strike="noStrike" spc="-1">
                <a:solidFill>
                  <a:srgbClr val="6E7174"/>
                </a:solidFill>
                <a:latin typeface="Open Sans"/>
                <a:ea typeface="Open Sans"/>
              </a:rPr>
              <a:t>92%</a:t>
            </a:r>
            <a:endParaRPr lang="en-US" sz="1500" b="0" strike="noStrike" spc="-1">
              <a:solidFill>
                <a:srgbClr val="000000"/>
              </a:solidFill>
              <a:latin typeface="Arial"/>
            </a:endParaRPr>
          </a:p>
        </p:txBody>
      </p:sp>
      <p:sp>
        <p:nvSpPr>
          <p:cNvPr id="669215960" name="Text 26"/>
          <p:cNvSpPr/>
          <p:nvPr/>
        </p:nvSpPr>
        <p:spPr bwMode="auto">
          <a:xfrm>
            <a:off x="9372600" y="462852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E58520"/>
                </a:solidFill>
                <a:latin typeface="Open Sans"/>
                <a:ea typeface="Open Sans"/>
              </a:rPr>
              <a:t>2050</a:t>
            </a:r>
            <a:endParaRPr lang="en-US" sz="1150" b="0" strike="noStrike" spc="-1">
              <a:solidFill>
                <a:srgbClr val="000000"/>
              </a:solidFill>
              <a:latin typeface="Arial"/>
            </a:endParaRPr>
          </a:p>
        </p:txBody>
      </p:sp>
      <p:sp>
        <p:nvSpPr>
          <p:cNvPr id="963265668" name="Shape 27"/>
          <p:cNvSpPr/>
          <p:nvPr/>
        </p:nvSpPr>
        <p:spPr bwMode="auto">
          <a:xfrm>
            <a:off x="10344240" y="459972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071787678" name="Shape 28"/>
          <p:cNvSpPr/>
          <p:nvPr/>
        </p:nvSpPr>
        <p:spPr bwMode="auto">
          <a:xfrm>
            <a:off x="10344240" y="4599720"/>
            <a:ext cx="1594440" cy="24660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750843283" name="Text 29"/>
          <p:cNvSpPr/>
          <p:nvPr/>
        </p:nvSpPr>
        <p:spPr bwMode="auto">
          <a:xfrm>
            <a:off x="16878240" y="4552200"/>
            <a:ext cx="875160" cy="3798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strike="noStrike" spc="-1">
                <a:solidFill>
                  <a:srgbClr val="2E2E2E"/>
                </a:solidFill>
                <a:latin typeface="Open Sans"/>
                <a:ea typeface="Open Sans"/>
              </a:rPr>
              <a:t>25%</a:t>
            </a:r>
            <a:endParaRPr lang="en-US" sz="1950" b="0" strike="noStrike" spc="-1">
              <a:solidFill>
                <a:srgbClr val="000000"/>
              </a:solidFill>
              <a:latin typeface="Arial"/>
            </a:endParaRPr>
          </a:p>
        </p:txBody>
      </p:sp>
      <p:sp>
        <p:nvSpPr>
          <p:cNvPr id="1490979283" name="Text 30"/>
          <p:cNvSpPr/>
          <p:nvPr/>
        </p:nvSpPr>
        <p:spPr bwMode="auto">
          <a:xfrm>
            <a:off x="609480" y="7175160"/>
            <a:ext cx="3539880"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Energy trade balance </a:t>
            </a:r>
            <a:r>
              <a:rPr lang="zh-CN" sz="1300" b="0" strike="noStrike" spc="-1">
                <a:solidFill>
                  <a:srgbClr val="9B9DA0"/>
                </a:solidFill>
                <a:latin typeface="Noto Sans JP"/>
                <a:ea typeface="Noto Sans JP"/>
              </a:rPr>
              <a:t>経済収支</a:t>
            </a:r>
            <a:endParaRPr lang="en-US" sz="1300" b="0" strike="noStrike" spc="-1">
              <a:solidFill>
                <a:srgbClr val="000000"/>
              </a:solidFill>
              <a:latin typeface="Arial"/>
            </a:endParaRPr>
          </a:p>
        </p:txBody>
      </p:sp>
      <p:sp>
        <p:nvSpPr>
          <p:cNvPr id="1970637300" name="Text 31"/>
          <p:cNvSpPr/>
          <p:nvPr/>
        </p:nvSpPr>
        <p:spPr bwMode="auto">
          <a:xfrm>
            <a:off x="8225640" y="7218000"/>
            <a:ext cx="68868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E58520"/>
                </a:solidFill>
                <a:latin typeface="Open Sans"/>
                <a:ea typeface="Open Sans"/>
              </a:rPr>
              <a:t>flips +</a:t>
            </a:r>
            <a:endParaRPr lang="en-US" sz="1600" b="0" strike="noStrike" spc="-1">
              <a:solidFill>
                <a:srgbClr val="000000"/>
              </a:solidFill>
              <a:latin typeface="Arial"/>
            </a:endParaRPr>
          </a:p>
        </p:txBody>
      </p:sp>
      <p:sp>
        <p:nvSpPr>
          <p:cNvPr id="1960411913" name="Text 32"/>
          <p:cNvSpPr/>
          <p:nvPr/>
        </p:nvSpPr>
        <p:spPr bwMode="auto">
          <a:xfrm>
            <a:off x="533520" y="768492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A9ABAE"/>
                </a:solidFill>
                <a:latin typeface="Open Sans"/>
                <a:ea typeface="Open Sans"/>
              </a:rPr>
              <a:t>TODAY</a:t>
            </a:r>
            <a:endParaRPr lang="en-US" sz="1150" b="0" strike="noStrike" spc="-1">
              <a:solidFill>
                <a:srgbClr val="000000"/>
              </a:solidFill>
              <a:latin typeface="Arial"/>
            </a:endParaRPr>
          </a:p>
        </p:txBody>
      </p:sp>
      <p:sp>
        <p:nvSpPr>
          <p:cNvPr id="902577531" name="Shape 33"/>
          <p:cNvSpPr/>
          <p:nvPr/>
        </p:nvSpPr>
        <p:spPr bwMode="auto">
          <a:xfrm>
            <a:off x="1504800" y="765612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311296030" name="Shape 34"/>
          <p:cNvSpPr/>
          <p:nvPr/>
        </p:nvSpPr>
        <p:spPr bwMode="auto">
          <a:xfrm>
            <a:off x="4695840" y="7656120"/>
            <a:ext cx="18000" cy="246600"/>
          </a:xfrm>
          <a:prstGeom prst="rect">
            <a:avLst/>
          </a:prstGeom>
          <a:solidFill>
            <a:srgbClr val="2E2E2E"/>
          </a:solidFill>
          <a:ln w="0">
            <a:noFill/>
          </a:ln>
        </p:spPr>
        <p:style>
          <a:lnRef idx="0"/>
          <a:fillRef idx="0"/>
          <a:effectRef idx="0"/>
          <a:fontRef idx="minor"/>
        </p:style>
        <p:txBody>
          <a:bodyPr lIns="9360" tIns="45000" rIns="9360" bIns="45000" anchor="t">
            <a:noAutofit/>
          </a:bodyPr>
          <a:p>
            <a:pPr>
              <a:lnSpc>
                <a:spcPct val="100000"/>
              </a:lnSpc>
              <a:defRPr/>
            </a:pPr>
            <a:endParaRPr lang="en-US" sz="1800" b="0" strike="noStrike" spc="-1">
              <a:solidFill>
                <a:srgbClr val="FFFFFF"/>
              </a:solidFill>
              <a:latin typeface="Arial"/>
              <a:ea typeface="Arial"/>
            </a:endParaRPr>
          </a:p>
        </p:txBody>
      </p:sp>
      <p:sp>
        <p:nvSpPr>
          <p:cNvPr id="1106730206" name="Shape 35"/>
          <p:cNvSpPr/>
          <p:nvPr/>
        </p:nvSpPr>
        <p:spPr bwMode="auto">
          <a:xfrm>
            <a:off x="2589840" y="7656120"/>
            <a:ext cx="2104920" cy="24660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642385950" name="Text 36"/>
          <p:cNvSpPr/>
          <p:nvPr/>
        </p:nvSpPr>
        <p:spPr bwMode="auto">
          <a:xfrm>
            <a:off x="8039160" y="7651440"/>
            <a:ext cx="87516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6E7174"/>
                </a:solidFill>
                <a:latin typeface="Open Sans"/>
                <a:ea typeface="Open Sans"/>
              </a:rPr>
              <a:t>−</a:t>
            </a:r>
            <a:r>
              <a:rPr lang="en-US" sz="1350" b="1" strike="noStrike" spc="-1">
                <a:solidFill>
                  <a:srgbClr val="6E7174"/>
                </a:solidFill>
                <a:latin typeface="Open Sans"/>
                <a:ea typeface="Open Sans"/>
              </a:rPr>
              <a:t>¥2.0</a:t>
            </a:r>
            <a:r>
              <a:rPr lang="zh-CN" sz="1350" b="1" strike="noStrike" spc="-1">
                <a:solidFill>
                  <a:srgbClr val="6E7174"/>
                </a:solidFill>
                <a:latin typeface="Open Sans"/>
                <a:ea typeface="Open Sans"/>
              </a:rPr>
              <a:t>億</a:t>
            </a:r>
            <a:endParaRPr lang="en-US" sz="1350" b="0" strike="noStrike" spc="-1">
              <a:solidFill>
                <a:srgbClr val="000000"/>
              </a:solidFill>
              <a:latin typeface="Arial"/>
            </a:endParaRPr>
          </a:p>
        </p:txBody>
      </p:sp>
      <p:sp>
        <p:nvSpPr>
          <p:cNvPr id="1962768654" name="Text 37"/>
          <p:cNvSpPr/>
          <p:nvPr/>
        </p:nvSpPr>
        <p:spPr bwMode="auto">
          <a:xfrm>
            <a:off x="533520" y="822276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E58520"/>
                </a:solidFill>
                <a:latin typeface="Open Sans"/>
                <a:ea typeface="Open Sans"/>
              </a:rPr>
              <a:t>2050</a:t>
            </a:r>
            <a:endParaRPr lang="en-US" sz="1150" b="0" strike="noStrike" spc="-1">
              <a:solidFill>
                <a:srgbClr val="000000"/>
              </a:solidFill>
              <a:latin typeface="Arial"/>
            </a:endParaRPr>
          </a:p>
        </p:txBody>
      </p:sp>
      <p:sp>
        <p:nvSpPr>
          <p:cNvPr id="593501234" name="Shape 38"/>
          <p:cNvSpPr/>
          <p:nvPr/>
        </p:nvSpPr>
        <p:spPr bwMode="auto">
          <a:xfrm>
            <a:off x="1504800" y="819432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2101174620" name="Shape 39"/>
          <p:cNvSpPr/>
          <p:nvPr/>
        </p:nvSpPr>
        <p:spPr bwMode="auto">
          <a:xfrm>
            <a:off x="4695840" y="8194320"/>
            <a:ext cx="18000" cy="246600"/>
          </a:xfrm>
          <a:prstGeom prst="rect">
            <a:avLst/>
          </a:prstGeom>
          <a:solidFill>
            <a:srgbClr val="2E2E2E"/>
          </a:solidFill>
          <a:ln w="0">
            <a:noFill/>
          </a:ln>
        </p:spPr>
        <p:style>
          <a:lnRef idx="0"/>
          <a:fillRef idx="0"/>
          <a:effectRef idx="0"/>
          <a:fontRef idx="minor"/>
        </p:style>
        <p:txBody>
          <a:bodyPr lIns="9360" tIns="45000" rIns="9360" bIns="45000" anchor="t">
            <a:noAutofit/>
          </a:bodyPr>
          <a:p>
            <a:pPr>
              <a:lnSpc>
                <a:spcPct val="100000"/>
              </a:lnSpc>
              <a:defRPr/>
            </a:pPr>
            <a:endParaRPr lang="en-US" sz="1800" b="0" strike="noStrike" spc="-1">
              <a:solidFill>
                <a:srgbClr val="FFFFFF"/>
              </a:solidFill>
              <a:latin typeface="Arial"/>
              <a:ea typeface="Arial"/>
            </a:endParaRPr>
          </a:p>
        </p:txBody>
      </p:sp>
      <p:sp>
        <p:nvSpPr>
          <p:cNvPr id="300426806" name="Shape 40"/>
          <p:cNvSpPr/>
          <p:nvPr/>
        </p:nvSpPr>
        <p:spPr bwMode="auto">
          <a:xfrm>
            <a:off x="4695840" y="8194320"/>
            <a:ext cx="828720" cy="24660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428393297" name="Text 41"/>
          <p:cNvSpPr/>
          <p:nvPr/>
        </p:nvSpPr>
        <p:spPr bwMode="auto">
          <a:xfrm>
            <a:off x="8039160" y="7994160"/>
            <a:ext cx="875160" cy="684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1" strike="noStrike" spc="-1">
                <a:solidFill>
                  <a:srgbClr val="2E2E2E"/>
                </a:solidFill>
                <a:latin typeface="Open Sans"/>
                <a:ea typeface="Open Sans"/>
              </a:rPr>
              <a:t>+¥0.8</a:t>
            </a:r>
            <a:r>
              <a:rPr lang="zh-CN" sz="1800" b="1" strike="noStrike" spc="-1">
                <a:solidFill>
                  <a:srgbClr val="2E2E2E"/>
                </a:solidFill>
                <a:latin typeface="Open Sans"/>
                <a:ea typeface="Open Sans"/>
              </a:rPr>
              <a:t>億</a:t>
            </a:r>
            <a:endParaRPr lang="en-US" sz="1800" b="0" strike="noStrike" spc="-1">
              <a:solidFill>
                <a:srgbClr val="000000"/>
              </a:solidFill>
              <a:latin typeface="Arial"/>
            </a:endParaRPr>
          </a:p>
        </p:txBody>
      </p:sp>
      <p:sp>
        <p:nvSpPr>
          <p:cNvPr id="1606052318" name="Text 42"/>
          <p:cNvSpPr/>
          <p:nvPr/>
        </p:nvSpPr>
        <p:spPr bwMode="auto">
          <a:xfrm>
            <a:off x="9448920" y="7327440"/>
            <a:ext cx="3368519" cy="360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Open Sans"/>
                <a:ea typeface="Open Sans"/>
              </a:rPr>
              <a:t>Energy-related CO₂ </a:t>
            </a:r>
            <a:r>
              <a:rPr lang="en-US" sz="1300" b="0" strike="noStrike" spc="-1">
                <a:solidFill>
                  <a:srgbClr val="9B9DA0"/>
                </a:solidFill>
                <a:latin typeface="Noto Sans JP"/>
                <a:ea typeface="Noto Sans JP"/>
              </a:rPr>
              <a:t>CO₂</a:t>
            </a:r>
            <a:r>
              <a:rPr lang="zh-CN" sz="1300" b="0" strike="noStrike" spc="-1">
                <a:solidFill>
                  <a:srgbClr val="9B9DA0"/>
                </a:solidFill>
                <a:latin typeface="Noto Sans JP"/>
                <a:ea typeface="Noto Sans JP"/>
              </a:rPr>
              <a:t>排出量</a:t>
            </a:r>
            <a:endParaRPr lang="en-US" sz="1300" b="0" strike="noStrike" spc="-1">
              <a:solidFill>
                <a:srgbClr val="000000"/>
              </a:solidFill>
              <a:latin typeface="Arial"/>
            </a:endParaRPr>
          </a:p>
        </p:txBody>
      </p:sp>
      <p:sp>
        <p:nvSpPr>
          <p:cNvPr id="666816393" name="Text 43"/>
          <p:cNvSpPr/>
          <p:nvPr/>
        </p:nvSpPr>
        <p:spPr bwMode="auto">
          <a:xfrm>
            <a:off x="16935480" y="7370280"/>
            <a:ext cx="81792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E58520"/>
                </a:solidFill>
                <a:latin typeface="Open Sans"/>
                <a:ea typeface="Open Sans"/>
              </a:rPr>
              <a:t>▼ −</a:t>
            </a:r>
            <a:r>
              <a:rPr lang="en-US" sz="1600" b="1" strike="noStrike" spc="-1">
                <a:solidFill>
                  <a:srgbClr val="E58520"/>
                </a:solidFill>
                <a:latin typeface="Open Sans"/>
                <a:ea typeface="Open Sans"/>
              </a:rPr>
              <a:t>73%</a:t>
            </a:r>
            <a:endParaRPr lang="en-US" sz="1600" b="0" strike="noStrike" spc="-1">
              <a:solidFill>
                <a:srgbClr val="000000"/>
              </a:solidFill>
              <a:latin typeface="Arial"/>
            </a:endParaRPr>
          </a:p>
        </p:txBody>
      </p:sp>
      <p:sp>
        <p:nvSpPr>
          <p:cNvPr id="35373542" name="Text 44"/>
          <p:cNvSpPr/>
          <p:nvPr/>
        </p:nvSpPr>
        <p:spPr bwMode="auto">
          <a:xfrm>
            <a:off x="9372600" y="783720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A9ABAE"/>
                </a:solidFill>
                <a:latin typeface="Open Sans"/>
                <a:ea typeface="Open Sans"/>
              </a:rPr>
              <a:t>TODAY</a:t>
            </a:r>
            <a:endParaRPr lang="en-US" sz="1150" b="0" strike="noStrike" spc="-1">
              <a:solidFill>
                <a:srgbClr val="000000"/>
              </a:solidFill>
              <a:latin typeface="Arial"/>
            </a:endParaRPr>
          </a:p>
        </p:txBody>
      </p:sp>
      <p:sp>
        <p:nvSpPr>
          <p:cNvPr id="1173914722" name="Shape 45"/>
          <p:cNvSpPr/>
          <p:nvPr/>
        </p:nvSpPr>
        <p:spPr bwMode="auto">
          <a:xfrm>
            <a:off x="10344240" y="780876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550412521" name="Shape 46"/>
          <p:cNvSpPr/>
          <p:nvPr/>
        </p:nvSpPr>
        <p:spPr bwMode="auto">
          <a:xfrm>
            <a:off x="10344240" y="7808760"/>
            <a:ext cx="5870160" cy="24660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27574800" name="Text 47"/>
          <p:cNvSpPr/>
          <p:nvPr/>
        </p:nvSpPr>
        <p:spPr bwMode="auto">
          <a:xfrm>
            <a:off x="16878240" y="7803720"/>
            <a:ext cx="875160" cy="294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strike="noStrike" spc="-1">
                <a:solidFill>
                  <a:srgbClr val="6E7174"/>
                </a:solidFill>
                <a:latin typeface="Open Sans"/>
                <a:ea typeface="Open Sans"/>
              </a:rPr>
              <a:t>11 kt</a:t>
            </a:r>
            <a:endParaRPr lang="en-US" sz="1500" b="0" strike="noStrike" spc="-1">
              <a:solidFill>
                <a:srgbClr val="000000"/>
              </a:solidFill>
              <a:latin typeface="Arial"/>
            </a:endParaRPr>
          </a:p>
        </p:txBody>
      </p:sp>
      <p:sp>
        <p:nvSpPr>
          <p:cNvPr id="1148467966" name="Text 48"/>
          <p:cNvSpPr/>
          <p:nvPr/>
        </p:nvSpPr>
        <p:spPr bwMode="auto">
          <a:xfrm>
            <a:off x="9372600" y="8222760"/>
            <a:ext cx="81792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
                <a:solidFill>
                  <a:srgbClr val="E58520"/>
                </a:solidFill>
                <a:latin typeface="Open Sans"/>
                <a:ea typeface="Open Sans"/>
              </a:rPr>
              <a:t>2050</a:t>
            </a:r>
            <a:endParaRPr lang="en-US" sz="1150" b="0" strike="noStrike" spc="-1">
              <a:solidFill>
                <a:srgbClr val="000000"/>
              </a:solidFill>
              <a:latin typeface="Arial"/>
            </a:endParaRPr>
          </a:p>
        </p:txBody>
      </p:sp>
      <p:sp>
        <p:nvSpPr>
          <p:cNvPr id="1182612094" name="Shape 49"/>
          <p:cNvSpPr/>
          <p:nvPr/>
        </p:nvSpPr>
        <p:spPr bwMode="auto">
          <a:xfrm>
            <a:off x="10344240" y="8194320"/>
            <a:ext cx="6380640" cy="24660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438993967" name="Shape 50"/>
          <p:cNvSpPr/>
          <p:nvPr/>
        </p:nvSpPr>
        <p:spPr bwMode="auto">
          <a:xfrm>
            <a:off x="10344240" y="8194320"/>
            <a:ext cx="1594440" cy="24660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849757978" name="Text 51"/>
          <p:cNvSpPr/>
          <p:nvPr/>
        </p:nvSpPr>
        <p:spPr bwMode="auto">
          <a:xfrm>
            <a:off x="16878240" y="8146800"/>
            <a:ext cx="875160" cy="3798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strike="noStrike" spc="-1">
                <a:solidFill>
                  <a:srgbClr val="2E2E2E"/>
                </a:solidFill>
                <a:latin typeface="Open Sans"/>
                <a:ea typeface="Open Sans"/>
              </a:rPr>
              <a:t>3 kt</a:t>
            </a:r>
            <a:endParaRPr lang="en-US" sz="1950" b="0" strike="noStrike" spc="-1">
              <a:solidFill>
                <a:srgbClr val="000000"/>
              </a:solidFill>
              <a:latin typeface="Arial"/>
            </a:endParaRPr>
          </a:p>
        </p:txBody>
      </p:sp>
      <p:sp>
        <p:nvSpPr>
          <p:cNvPr id="2058379737" name="Text 52"/>
          <p:cNvSpPr/>
          <p:nvPr/>
        </p:nvSpPr>
        <p:spPr bwMode="auto">
          <a:xfrm>
            <a:off x="609480" y="9563040"/>
            <a:ext cx="18774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8">
                <a:solidFill>
                  <a:srgbClr val="A9ABAE"/>
                </a:solidFill>
                <a:latin typeface="Open Sans"/>
                <a:ea typeface="Open Sans"/>
              </a:rPr>
              <a:t>Indicators: Japan Energy Database (Tohoku University, CC BY-NC). Mitsue values illustrative — confirm via Future Energy Simulator. </a:t>
            </a:r>
            <a:r>
              <a:rPr lang="zh-CN" sz="1000" b="1" strike="noStrike" spc="18">
                <a:solidFill>
                  <a:srgbClr val="A9ABAE"/>
                </a:solidFill>
                <a:latin typeface="Open Sans"/>
                <a:ea typeface="Open Sans"/>
              </a:rPr>
              <a:t>出典：地域エネルギー需給データベース／数値は試算</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1932162095"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075258721"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896444089" name="Text 2"/>
          <p:cNvSpPr/>
          <p:nvPr/>
        </p:nvSpPr>
        <p:spPr bwMode="auto">
          <a:xfrm>
            <a:off x="1181160" y="800280"/>
            <a:ext cx="372420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FIVE RETURNS · </a:t>
            </a:r>
            <a:r>
              <a:rPr lang="zh-CN" sz="1300" b="1" strike="noStrike" spc="201">
                <a:solidFill>
                  <a:srgbClr val="9B9DA0"/>
                </a:solidFill>
                <a:latin typeface="Open Sans"/>
                <a:ea typeface="Open Sans"/>
              </a:rPr>
              <a:t>五つのリターン </a:t>
            </a:r>
            <a:r>
              <a:rPr lang="en-US" sz="1300" b="1" strike="noStrike" spc="201">
                <a:solidFill>
                  <a:srgbClr val="9B9DA0"/>
                </a:solidFill>
                <a:latin typeface="Open Sans"/>
                <a:ea typeface="Open Sans"/>
              </a:rPr>
              <a:t>· 09</a:t>
            </a:r>
            <a:endParaRPr lang="en-US" sz="1300" b="0" strike="noStrike" spc="-1">
              <a:solidFill>
                <a:srgbClr val="000000"/>
              </a:solidFill>
              <a:latin typeface="Arial"/>
            </a:endParaRPr>
          </a:p>
        </p:txBody>
      </p:sp>
      <p:sp>
        <p:nvSpPr>
          <p:cNvPr id="1524943655" name="Text 3"/>
          <p:cNvSpPr/>
          <p:nvPr/>
        </p:nvSpPr>
        <p:spPr bwMode="auto">
          <a:xfrm>
            <a:off x="609480" y="1247759"/>
            <a:ext cx="18774720" cy="66492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2000"/>
              </a:lnSpc>
              <a:tabLst>
                <a:tab pos="0" algn="l"/>
              </a:tabLst>
              <a:defRPr/>
            </a:pPr>
            <a:r>
              <a:rPr lang="en-US" sz="4800" b="1" strike="noStrike" spc="-49">
                <a:solidFill>
                  <a:srgbClr val="2E2E2E"/>
                </a:solidFill>
                <a:latin typeface="Sora"/>
                <a:ea typeface="Sora"/>
              </a:rPr>
              <a:t>One investment, five returns</a:t>
            </a:r>
            <a:endParaRPr lang="en-US" sz="4800" b="0" strike="noStrike" spc="-1">
              <a:solidFill>
                <a:srgbClr val="000000"/>
              </a:solidFill>
              <a:latin typeface="Arial"/>
            </a:endParaRPr>
          </a:p>
        </p:txBody>
      </p:sp>
      <p:sp>
        <p:nvSpPr>
          <p:cNvPr id="232099752" name="Text 4"/>
          <p:cNvSpPr/>
          <p:nvPr/>
        </p:nvSpPr>
        <p:spPr bwMode="auto">
          <a:xfrm>
            <a:off x="609480" y="1971000"/>
            <a:ext cx="1877472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strike="noStrike" spc="-1">
                <a:solidFill>
                  <a:srgbClr val="6E7174"/>
                </a:solidFill>
                <a:latin typeface="Noto Sans JP"/>
                <a:ea typeface="Noto Sans JP"/>
              </a:rPr>
              <a:t>一つの投資が、五つのリターンを生む。</a:t>
            </a:r>
            <a:endParaRPr lang="en-US" sz="1950" b="0" strike="noStrike" spc="-1">
              <a:solidFill>
                <a:srgbClr val="000000"/>
              </a:solidFill>
              <a:latin typeface="Arial"/>
            </a:endParaRPr>
          </a:p>
        </p:txBody>
      </p:sp>
      <p:sp>
        <p:nvSpPr>
          <p:cNvPr id="516325188" name="Shape 5"/>
          <p:cNvSpPr/>
          <p:nvPr/>
        </p:nvSpPr>
        <p:spPr bwMode="auto">
          <a:xfrm>
            <a:off x="609480" y="2766240"/>
            <a:ext cx="3249000" cy="68576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122182101" name="Shape 6"/>
          <p:cNvSpPr/>
          <p:nvPr/>
        </p:nvSpPr>
        <p:spPr bwMode="auto">
          <a:xfrm>
            <a:off x="609480" y="9591840"/>
            <a:ext cx="32490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2043671366" name="Shape 7"/>
          <p:cNvSpPr/>
          <p:nvPr/>
        </p:nvSpPr>
        <p:spPr bwMode="auto">
          <a:xfrm>
            <a:off x="609480" y="2742480"/>
            <a:ext cx="3249000" cy="46440"/>
          </a:xfrm>
          <a:prstGeom prst="rect">
            <a:avLst/>
          </a:prstGeom>
          <a:solidFill>
            <a:srgbClr val="3C4A2E"/>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671355036" name="Shape 8"/>
          <p:cNvSpPr/>
          <p:nvPr/>
        </p:nvSpPr>
        <p:spPr bwMode="auto">
          <a:xfrm>
            <a:off x="60948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71983120" name="Shape 9"/>
          <p:cNvSpPr/>
          <p:nvPr/>
        </p:nvSpPr>
        <p:spPr bwMode="auto">
          <a:xfrm>
            <a:off x="384984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789243008" name="Text 10"/>
          <p:cNvSpPr/>
          <p:nvPr/>
        </p:nvSpPr>
        <p:spPr bwMode="auto">
          <a:xfrm>
            <a:off x="866879" y="3094920"/>
            <a:ext cx="300816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Sora"/>
                <a:ea typeface="Sora"/>
              </a:rPr>
              <a:t>Ecological</a:t>
            </a:r>
            <a:endParaRPr lang="en-US" sz="1900" b="0" strike="noStrike" spc="-1">
              <a:solidFill>
                <a:srgbClr val="000000"/>
              </a:solidFill>
              <a:latin typeface="Arial"/>
            </a:endParaRPr>
          </a:p>
        </p:txBody>
      </p:sp>
      <p:sp>
        <p:nvSpPr>
          <p:cNvPr id="406834570" name="Text 11"/>
          <p:cNvSpPr/>
          <p:nvPr/>
        </p:nvSpPr>
        <p:spPr bwMode="auto">
          <a:xfrm>
            <a:off x="866879" y="3437640"/>
            <a:ext cx="3008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strike="noStrike" spc="-1">
                <a:solidFill>
                  <a:srgbClr val="9B9DA0"/>
                </a:solidFill>
                <a:latin typeface="Noto Sans JP"/>
                <a:ea typeface="Noto Sans JP"/>
              </a:rPr>
              <a:t>生態系</a:t>
            </a:r>
            <a:endParaRPr lang="en-US" sz="1300" b="0" strike="noStrike" spc="-1">
              <a:solidFill>
                <a:srgbClr val="000000"/>
              </a:solidFill>
              <a:latin typeface="Arial"/>
            </a:endParaRPr>
          </a:p>
        </p:txBody>
      </p:sp>
      <p:sp>
        <p:nvSpPr>
          <p:cNvPr id="1356516203" name="Text 12"/>
          <p:cNvSpPr/>
          <p:nvPr/>
        </p:nvSpPr>
        <p:spPr bwMode="auto">
          <a:xfrm>
            <a:off x="866879" y="8458200"/>
            <a:ext cx="2816640" cy="865800"/>
          </a:xfrm>
          <a:prstGeom prst="rect">
            <a:avLst/>
          </a:prstGeom>
          <a:noFill/>
          <a:ln w="0">
            <a:noFill/>
          </a:ln>
        </p:spPr>
        <p:style>
          <a:lnRef idx="0"/>
          <a:fillRef idx="0"/>
          <a:effectRef idx="0"/>
          <a:fontRef idx="minor"/>
        </p:style>
        <p:txBody>
          <a:bodyPr lIns="25560" tIns="25560" rIns="25560" bIns="25560" anchor="t">
            <a:normAutofit fontScale="98333" lnSpcReduction="20000"/>
          </a:bodyPr>
          <a:p>
            <a:pPr defTabSz="914400">
              <a:lnSpc>
                <a:spcPct val="145000"/>
              </a:lnSpc>
              <a:tabLst>
                <a:tab pos="0" algn="l"/>
              </a:tabLst>
              <a:defRPr/>
            </a:pPr>
            <a:r>
              <a:rPr lang="en-US" sz="1500" b="0" strike="noStrike" spc="-1">
                <a:solidFill>
                  <a:srgbClr val="4A4A4A"/>
                </a:solidFill>
                <a:latin typeface="Open Sans"/>
                <a:ea typeface="Open Sans"/>
              </a:rPr>
              <a:t>Restored watershed, biodiversity, carbon drawdown.</a:t>
            </a:r>
            <a:endParaRPr lang="en-US" sz="1500" b="0" strike="noStrike" spc="-1">
              <a:solidFill>
                <a:srgbClr val="000000"/>
              </a:solidFill>
              <a:latin typeface="Arial"/>
            </a:endParaRPr>
          </a:p>
        </p:txBody>
      </p:sp>
      <p:sp>
        <p:nvSpPr>
          <p:cNvPr id="2136271264" name="Shape 13"/>
          <p:cNvSpPr/>
          <p:nvPr/>
        </p:nvSpPr>
        <p:spPr bwMode="auto">
          <a:xfrm>
            <a:off x="4069080" y="2742480"/>
            <a:ext cx="3249000" cy="68576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536647775" name="Shape 14"/>
          <p:cNvSpPr/>
          <p:nvPr/>
        </p:nvSpPr>
        <p:spPr bwMode="auto">
          <a:xfrm>
            <a:off x="4069080" y="9591840"/>
            <a:ext cx="32490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280817339" name="Shape 15"/>
          <p:cNvSpPr/>
          <p:nvPr/>
        </p:nvSpPr>
        <p:spPr bwMode="auto">
          <a:xfrm>
            <a:off x="4069080" y="2742480"/>
            <a:ext cx="3249000" cy="46440"/>
          </a:xfrm>
          <a:prstGeom prst="rect">
            <a:avLst/>
          </a:prstGeom>
          <a:solidFill>
            <a:srgbClr val="6E7174"/>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747801896" name="Shape 16"/>
          <p:cNvSpPr/>
          <p:nvPr/>
        </p:nvSpPr>
        <p:spPr bwMode="auto">
          <a:xfrm>
            <a:off x="406908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549179221" name="Shape 17"/>
          <p:cNvSpPr/>
          <p:nvPr/>
        </p:nvSpPr>
        <p:spPr bwMode="auto">
          <a:xfrm>
            <a:off x="730944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2076706212" name="Text 18"/>
          <p:cNvSpPr/>
          <p:nvPr/>
        </p:nvSpPr>
        <p:spPr bwMode="auto">
          <a:xfrm>
            <a:off x="4326120" y="3094920"/>
            <a:ext cx="300816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Sora"/>
                <a:ea typeface="Sora"/>
              </a:rPr>
              <a:t>Energy</a:t>
            </a:r>
            <a:endParaRPr lang="en-US" sz="1900" b="0" strike="noStrike" spc="-1">
              <a:solidFill>
                <a:srgbClr val="000000"/>
              </a:solidFill>
              <a:latin typeface="Arial"/>
            </a:endParaRPr>
          </a:p>
        </p:txBody>
      </p:sp>
      <p:sp>
        <p:nvSpPr>
          <p:cNvPr id="1046564941" name="Text 19"/>
          <p:cNvSpPr/>
          <p:nvPr/>
        </p:nvSpPr>
        <p:spPr bwMode="auto">
          <a:xfrm>
            <a:off x="4326120" y="3437640"/>
            <a:ext cx="3008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strike="noStrike" spc="-1">
                <a:solidFill>
                  <a:srgbClr val="9B9DA0"/>
                </a:solidFill>
                <a:latin typeface="Noto Sans JP"/>
                <a:ea typeface="Noto Sans JP"/>
              </a:rPr>
              <a:t>エネルギー</a:t>
            </a:r>
            <a:endParaRPr lang="en-US" sz="1300" b="0" strike="noStrike" spc="-1">
              <a:solidFill>
                <a:srgbClr val="000000"/>
              </a:solidFill>
              <a:latin typeface="Arial"/>
            </a:endParaRPr>
          </a:p>
        </p:txBody>
      </p:sp>
      <p:sp>
        <p:nvSpPr>
          <p:cNvPr id="1164267197" name="Text 20"/>
          <p:cNvSpPr/>
          <p:nvPr/>
        </p:nvSpPr>
        <p:spPr bwMode="auto">
          <a:xfrm>
            <a:off x="4326120" y="8734320"/>
            <a:ext cx="2816640" cy="58932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500" b="0" strike="noStrike" spc="-1">
                <a:solidFill>
                  <a:srgbClr val="4A4A4A"/>
                </a:solidFill>
                <a:latin typeface="Open Sans"/>
                <a:ea typeface="Open Sans"/>
              </a:rPr>
              <a:t>Self-supply and an end to exported cash.</a:t>
            </a:r>
            <a:endParaRPr lang="en-US" sz="1500" b="0" strike="noStrike" spc="-1">
              <a:solidFill>
                <a:srgbClr val="000000"/>
              </a:solidFill>
              <a:latin typeface="Arial"/>
            </a:endParaRPr>
          </a:p>
        </p:txBody>
      </p:sp>
      <p:sp>
        <p:nvSpPr>
          <p:cNvPr id="1129023176" name="Shape 21"/>
          <p:cNvSpPr/>
          <p:nvPr/>
        </p:nvSpPr>
        <p:spPr bwMode="auto">
          <a:xfrm>
            <a:off x="7544880" y="2742480"/>
            <a:ext cx="3249000" cy="68576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212977298" name="Shape 22"/>
          <p:cNvSpPr/>
          <p:nvPr/>
        </p:nvSpPr>
        <p:spPr bwMode="auto">
          <a:xfrm>
            <a:off x="7528680" y="9591840"/>
            <a:ext cx="32490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82562677" name="Shape 23"/>
          <p:cNvSpPr/>
          <p:nvPr/>
        </p:nvSpPr>
        <p:spPr bwMode="auto">
          <a:xfrm>
            <a:off x="7528680" y="2742480"/>
            <a:ext cx="3249000" cy="46440"/>
          </a:xfrm>
          <a:prstGeom prst="rect">
            <a:avLst/>
          </a:prstGeom>
          <a:solidFill>
            <a:srgbClr val="2E2E2E"/>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634419259" name="Shape 24"/>
          <p:cNvSpPr/>
          <p:nvPr/>
        </p:nvSpPr>
        <p:spPr bwMode="auto">
          <a:xfrm>
            <a:off x="752868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1271386446" name="Shape 25"/>
          <p:cNvSpPr/>
          <p:nvPr/>
        </p:nvSpPr>
        <p:spPr bwMode="auto">
          <a:xfrm>
            <a:off x="1076904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1399836895" name="Text 26"/>
          <p:cNvSpPr/>
          <p:nvPr/>
        </p:nvSpPr>
        <p:spPr bwMode="auto">
          <a:xfrm>
            <a:off x="7785720" y="3094920"/>
            <a:ext cx="300816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Sora"/>
                <a:ea typeface="Sora"/>
              </a:rPr>
              <a:t>Economic</a:t>
            </a:r>
            <a:endParaRPr lang="en-US" sz="1900" b="0" strike="noStrike" spc="-1">
              <a:solidFill>
                <a:srgbClr val="000000"/>
              </a:solidFill>
              <a:latin typeface="Arial"/>
            </a:endParaRPr>
          </a:p>
        </p:txBody>
      </p:sp>
      <p:sp>
        <p:nvSpPr>
          <p:cNvPr id="288727282" name="Text 27"/>
          <p:cNvSpPr/>
          <p:nvPr/>
        </p:nvSpPr>
        <p:spPr bwMode="auto">
          <a:xfrm>
            <a:off x="7785720" y="3437640"/>
            <a:ext cx="3008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strike="noStrike" spc="-1">
                <a:solidFill>
                  <a:srgbClr val="9B9DA0"/>
                </a:solidFill>
                <a:latin typeface="Noto Sans JP"/>
                <a:ea typeface="Noto Sans JP"/>
              </a:rPr>
              <a:t>経済</a:t>
            </a:r>
            <a:endParaRPr lang="en-US" sz="1300" b="0" strike="noStrike" spc="-1">
              <a:solidFill>
                <a:srgbClr val="000000"/>
              </a:solidFill>
              <a:latin typeface="Arial"/>
            </a:endParaRPr>
          </a:p>
        </p:txBody>
      </p:sp>
      <p:sp>
        <p:nvSpPr>
          <p:cNvPr id="814623119" name="Text 28"/>
          <p:cNvSpPr/>
          <p:nvPr/>
        </p:nvSpPr>
        <p:spPr bwMode="auto">
          <a:xfrm>
            <a:off x="7785720" y="8734320"/>
            <a:ext cx="2816640" cy="58932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500" b="0" strike="noStrike" spc="-1">
                <a:solidFill>
                  <a:srgbClr val="4A4A4A"/>
                </a:solidFill>
                <a:latin typeface="Open Sans"/>
                <a:ea typeface="Open Sans"/>
              </a:rPr>
              <a:t>Jobs in forestry, operations and hosting.</a:t>
            </a:r>
            <a:endParaRPr lang="en-US" sz="1500" b="0" strike="noStrike" spc="-1">
              <a:solidFill>
                <a:srgbClr val="000000"/>
              </a:solidFill>
              <a:latin typeface="Arial"/>
            </a:endParaRPr>
          </a:p>
        </p:txBody>
      </p:sp>
      <p:sp>
        <p:nvSpPr>
          <p:cNvPr id="766711112" name="Shape 29"/>
          <p:cNvSpPr/>
          <p:nvPr/>
        </p:nvSpPr>
        <p:spPr bwMode="auto">
          <a:xfrm>
            <a:off x="11004480" y="2742480"/>
            <a:ext cx="3249000" cy="68576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519162898" name="Shape 30"/>
          <p:cNvSpPr/>
          <p:nvPr/>
        </p:nvSpPr>
        <p:spPr bwMode="auto">
          <a:xfrm>
            <a:off x="10987920" y="9591840"/>
            <a:ext cx="32490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2136010469" name="Shape 31"/>
          <p:cNvSpPr/>
          <p:nvPr/>
        </p:nvSpPr>
        <p:spPr bwMode="auto">
          <a:xfrm>
            <a:off x="10987920" y="2742480"/>
            <a:ext cx="3249000" cy="46440"/>
          </a:xfrm>
          <a:prstGeom prst="rect">
            <a:avLst/>
          </a:prstGeom>
          <a:solidFill>
            <a:srgbClr val="6E7174"/>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826663434" name="Shape 32"/>
          <p:cNvSpPr/>
          <p:nvPr/>
        </p:nvSpPr>
        <p:spPr bwMode="auto">
          <a:xfrm>
            <a:off x="1098792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71359241" name="Shape 33"/>
          <p:cNvSpPr/>
          <p:nvPr/>
        </p:nvSpPr>
        <p:spPr bwMode="auto">
          <a:xfrm>
            <a:off x="14228280" y="2742480"/>
            <a:ext cx="8280" cy="6857640"/>
          </a:xfrm>
          <a:prstGeom prst="rect">
            <a:avLst/>
          </a:prstGeom>
          <a:solidFill>
            <a:srgbClr val="E6E6E2"/>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1001613785" name="Text 34"/>
          <p:cNvSpPr/>
          <p:nvPr/>
        </p:nvSpPr>
        <p:spPr bwMode="auto">
          <a:xfrm>
            <a:off x="11245320" y="3094920"/>
            <a:ext cx="300816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2E2E2E"/>
                </a:solidFill>
                <a:latin typeface="Sora"/>
                <a:ea typeface="Sora"/>
              </a:rPr>
              <a:t>Digital</a:t>
            </a:r>
            <a:endParaRPr lang="en-US" sz="1900" b="0" strike="noStrike" spc="-1">
              <a:solidFill>
                <a:srgbClr val="000000"/>
              </a:solidFill>
              <a:latin typeface="Arial"/>
            </a:endParaRPr>
          </a:p>
        </p:txBody>
      </p:sp>
      <p:sp>
        <p:nvSpPr>
          <p:cNvPr id="650191509" name="Text 35"/>
          <p:cNvSpPr/>
          <p:nvPr/>
        </p:nvSpPr>
        <p:spPr bwMode="auto">
          <a:xfrm>
            <a:off x="11245320" y="3437640"/>
            <a:ext cx="3008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strike="noStrike" spc="-1">
                <a:solidFill>
                  <a:srgbClr val="9B9DA0"/>
                </a:solidFill>
                <a:latin typeface="Noto Sans JP"/>
                <a:ea typeface="Noto Sans JP"/>
              </a:rPr>
              <a:t>デジタル</a:t>
            </a:r>
            <a:endParaRPr lang="en-US" sz="1300" b="0" strike="noStrike" spc="-1">
              <a:solidFill>
                <a:srgbClr val="000000"/>
              </a:solidFill>
              <a:latin typeface="Arial"/>
            </a:endParaRPr>
          </a:p>
        </p:txBody>
      </p:sp>
      <p:sp>
        <p:nvSpPr>
          <p:cNvPr id="461334975" name="Text 36"/>
          <p:cNvSpPr/>
          <p:nvPr/>
        </p:nvSpPr>
        <p:spPr bwMode="auto">
          <a:xfrm>
            <a:off x="11245320" y="8734320"/>
            <a:ext cx="2816640" cy="58932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500" b="0" strike="noStrike" spc="-1">
                <a:solidFill>
                  <a:srgbClr val="4A4A4A"/>
                </a:solidFill>
                <a:latin typeface="Open Sans"/>
                <a:ea typeface="Open Sans"/>
              </a:rPr>
              <a:t>Edge compute &amp; connectivity for rural Japan.</a:t>
            </a:r>
            <a:endParaRPr lang="en-US" sz="1500" b="0" strike="noStrike" spc="-1">
              <a:solidFill>
                <a:srgbClr val="000000"/>
              </a:solidFill>
              <a:latin typeface="Arial"/>
            </a:endParaRPr>
          </a:p>
        </p:txBody>
      </p:sp>
      <p:sp>
        <p:nvSpPr>
          <p:cNvPr id="2074492104" name="Shape 37"/>
          <p:cNvSpPr/>
          <p:nvPr/>
        </p:nvSpPr>
        <p:spPr bwMode="auto">
          <a:xfrm>
            <a:off x="14447520" y="2732760"/>
            <a:ext cx="3229920" cy="6857640"/>
          </a:xfrm>
          <a:prstGeom prst="rect">
            <a:avLst/>
          </a:prstGeom>
          <a:solidFill>
            <a:srgbClr val="2E2E2E"/>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033188049" name="Shape 38"/>
          <p:cNvSpPr/>
          <p:nvPr/>
        </p:nvSpPr>
        <p:spPr bwMode="auto">
          <a:xfrm>
            <a:off x="14447520" y="2742480"/>
            <a:ext cx="322992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304781400" name="Text 39"/>
          <p:cNvSpPr/>
          <p:nvPr/>
        </p:nvSpPr>
        <p:spPr bwMode="auto">
          <a:xfrm>
            <a:off x="14695200" y="3094920"/>
            <a:ext cx="300816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strike="noStrike" spc="-1">
                <a:solidFill>
                  <a:srgbClr val="F4B872"/>
                </a:solidFill>
                <a:latin typeface="Sora"/>
                <a:ea typeface="Sora"/>
              </a:rPr>
              <a:t>Knowledge</a:t>
            </a:r>
            <a:endParaRPr lang="en-US" sz="1900" b="0" strike="noStrike" spc="-1">
              <a:solidFill>
                <a:srgbClr val="000000"/>
              </a:solidFill>
              <a:latin typeface="Arial"/>
            </a:endParaRPr>
          </a:p>
        </p:txBody>
      </p:sp>
      <p:sp>
        <p:nvSpPr>
          <p:cNvPr id="367463181" name="Text 40"/>
          <p:cNvSpPr/>
          <p:nvPr/>
        </p:nvSpPr>
        <p:spPr bwMode="auto">
          <a:xfrm>
            <a:off x="14695200" y="3437640"/>
            <a:ext cx="3008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strike="noStrike" spc="-1">
                <a:solidFill>
                  <a:srgbClr val="E58520"/>
                </a:solidFill>
                <a:latin typeface="Noto Sans JP"/>
                <a:ea typeface="Noto Sans JP"/>
              </a:rPr>
              <a:t>知識（公開）</a:t>
            </a:r>
            <a:endParaRPr lang="en-US" sz="1300" b="0" strike="noStrike" spc="-1">
              <a:solidFill>
                <a:srgbClr val="000000"/>
              </a:solidFill>
              <a:latin typeface="Arial"/>
            </a:endParaRPr>
          </a:p>
        </p:txBody>
      </p:sp>
      <p:sp>
        <p:nvSpPr>
          <p:cNvPr id="1343815764" name="Text 41"/>
          <p:cNvSpPr/>
          <p:nvPr/>
        </p:nvSpPr>
        <p:spPr bwMode="auto">
          <a:xfrm>
            <a:off x="14695200" y="8744040"/>
            <a:ext cx="2816640" cy="58932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45000"/>
              </a:lnSpc>
              <a:tabLst>
                <a:tab pos="0" algn="l"/>
              </a:tabLst>
              <a:defRPr/>
            </a:pPr>
            <a:r>
              <a:rPr lang="en-US" sz="1500" b="0" strike="noStrike" spc="-1">
                <a:solidFill>
                  <a:srgbClr val="E3E4E2"/>
                </a:solidFill>
                <a:latin typeface="Open Sans"/>
                <a:ea typeface="Open Sans"/>
              </a:rPr>
              <a:t>Open-licensed — the multiplier other villages copy.</a:t>
            </a:r>
            <a:endParaRPr lang="en-US" sz="1500" b="0" strike="noStrike" spc="-1">
              <a:solidFill>
                <a:srgbClr val="000000"/>
              </a:solidFill>
              <a:latin typeface="Arial"/>
            </a:endParaRPr>
          </a:p>
        </p:txBody>
      </p:sp>
      <p:pic>
        <p:nvPicPr>
          <p:cNvPr id="217291758" name="" descr=""/>
          <p:cNvPicPr/>
          <p:nvPr/>
        </p:nvPicPr>
        <p:blipFill rotWithShape="1">
          <a:blip r:embed="rId3"/>
          <a:srcRect l="0" t="0" r="38482" b="0"/>
          <a:stretch/>
        </p:blipFill>
        <p:spPr bwMode="auto">
          <a:xfrm>
            <a:off x="4326120" y="3881160"/>
            <a:ext cx="2641320" cy="3106800"/>
          </a:xfrm>
          <a:prstGeom prst="rect">
            <a:avLst/>
          </a:prstGeom>
          <a:ln w="0">
            <a:noFill/>
          </a:ln>
        </p:spPr>
      </p:pic>
      <p:pic>
        <p:nvPicPr>
          <p:cNvPr id="309683252" name="" descr=""/>
          <p:cNvPicPr/>
          <p:nvPr/>
        </p:nvPicPr>
        <p:blipFill rotWithShape="1">
          <a:blip r:embed="rId4"/>
          <a:srcRect l="37531" t="0" r="-13704" b="0"/>
          <a:stretch/>
        </p:blipFill>
        <p:spPr bwMode="auto">
          <a:xfrm>
            <a:off x="866879" y="3881160"/>
            <a:ext cx="3458880" cy="3106800"/>
          </a:xfrm>
          <a:prstGeom prst="rect">
            <a:avLst/>
          </a:prstGeom>
          <a:ln w="0">
            <a:noFill/>
          </a:ln>
        </p:spPr>
      </p:pic>
      <p:pic>
        <p:nvPicPr>
          <p:cNvPr id="838854782" name="" descr=""/>
          <p:cNvPicPr/>
          <p:nvPr/>
        </p:nvPicPr>
        <p:blipFill rotWithShape="1">
          <a:blip r:embed="rId5"/>
          <a:srcRect l="24642" t="0" r="18727" b="0"/>
          <a:stretch/>
        </p:blipFill>
        <p:spPr bwMode="auto">
          <a:xfrm>
            <a:off x="7715160" y="3881160"/>
            <a:ext cx="2856240" cy="3106800"/>
          </a:xfrm>
          <a:prstGeom prst="rect">
            <a:avLst/>
          </a:prstGeom>
          <a:ln w="0">
            <a:noFill/>
          </a:ln>
        </p:spPr>
      </p:pic>
      <p:pic>
        <p:nvPicPr>
          <p:cNvPr id="1769657095" name="" descr=""/>
          <p:cNvPicPr/>
          <p:nvPr/>
        </p:nvPicPr>
        <p:blipFill rotWithShape="1">
          <a:blip r:embed="rId6"/>
          <a:stretch/>
        </p:blipFill>
        <p:spPr bwMode="auto">
          <a:xfrm>
            <a:off x="11185200" y="3859920"/>
            <a:ext cx="2876760" cy="3128040"/>
          </a:xfrm>
          <a:prstGeom prst="rect">
            <a:avLst/>
          </a:prstGeom>
          <a:ln w="0">
            <a:noFill/>
          </a:ln>
        </p:spPr>
      </p:pic>
      <p:pic>
        <p:nvPicPr>
          <p:cNvPr id="1416618333" name="" descr=""/>
          <p:cNvPicPr/>
          <p:nvPr/>
        </p:nvPicPr>
        <p:blipFill rotWithShape="1">
          <a:blip r:embed="rId7"/>
          <a:stretch/>
        </p:blipFill>
        <p:spPr bwMode="auto">
          <a:xfrm>
            <a:off x="14513040" y="3859920"/>
            <a:ext cx="3076920" cy="312804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78982275"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2006758901"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733152668" name="Text 2"/>
          <p:cNvSpPr/>
          <p:nvPr/>
        </p:nvSpPr>
        <p:spPr bwMode="auto">
          <a:xfrm>
            <a:off x="1181160" y="800280"/>
            <a:ext cx="395280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PHASED EXECUTION · </a:t>
            </a:r>
            <a:r>
              <a:rPr lang="zh-CN" sz="1300" b="1" strike="noStrike" spc="201">
                <a:solidFill>
                  <a:srgbClr val="9B9DA0"/>
                </a:solidFill>
                <a:latin typeface="Open Sans"/>
                <a:ea typeface="Open Sans"/>
              </a:rPr>
              <a:t>段階的実行 </a:t>
            </a:r>
            <a:r>
              <a:rPr lang="en-US" sz="1300" b="1" strike="noStrike" spc="201">
                <a:solidFill>
                  <a:srgbClr val="9B9DA0"/>
                </a:solidFill>
                <a:latin typeface="Open Sans"/>
                <a:ea typeface="Open Sans"/>
              </a:rPr>
              <a:t>· 10</a:t>
            </a:r>
            <a:endParaRPr lang="en-US" sz="1300" b="0" strike="noStrike" spc="-1">
              <a:solidFill>
                <a:srgbClr val="000000"/>
              </a:solidFill>
              <a:latin typeface="Arial"/>
            </a:endParaRPr>
          </a:p>
        </p:txBody>
      </p:sp>
      <p:sp>
        <p:nvSpPr>
          <p:cNvPr id="1380417959" name="Text 3"/>
          <p:cNvSpPr/>
          <p:nvPr/>
        </p:nvSpPr>
        <p:spPr bwMode="auto">
          <a:xfrm>
            <a:off x="609480" y="1228680"/>
            <a:ext cx="18774720" cy="62568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3000"/>
              </a:lnSpc>
              <a:tabLst>
                <a:tab pos="0" algn="l"/>
              </a:tabLst>
              <a:defRPr/>
            </a:pPr>
            <a:r>
              <a:rPr lang="en-US" sz="4500" b="1" strike="noStrike" spc="-46">
                <a:solidFill>
                  <a:srgbClr val="2E2E2E"/>
                </a:solidFill>
                <a:latin typeface="Sora"/>
                <a:ea typeface="Sora"/>
              </a:rPr>
              <a:t>Five phases, gated by funding</a:t>
            </a:r>
            <a:endParaRPr lang="en-US" sz="4500" b="0" strike="noStrike" spc="-1">
              <a:solidFill>
                <a:srgbClr val="000000"/>
              </a:solidFill>
              <a:latin typeface="Arial"/>
            </a:endParaRPr>
          </a:p>
        </p:txBody>
      </p:sp>
      <p:sp>
        <p:nvSpPr>
          <p:cNvPr id="1511004617" name="Text 4"/>
          <p:cNvSpPr/>
          <p:nvPr/>
        </p:nvSpPr>
        <p:spPr bwMode="auto">
          <a:xfrm>
            <a:off x="609480" y="1893600"/>
            <a:ext cx="18774720" cy="389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strike="noStrike" spc="-1">
                <a:solidFill>
                  <a:srgbClr val="6E7174"/>
                </a:solidFill>
                <a:latin typeface="Noto Sans JP"/>
                <a:ea typeface="Noto Sans JP"/>
              </a:rPr>
              <a:t>資金ゲートで区切られた五段階 — 早すぎる拡大はしない。</a:t>
            </a:r>
            <a:endParaRPr lang="en-US" sz="1900" b="0" strike="noStrike" spc="-1">
              <a:solidFill>
                <a:srgbClr val="000000"/>
              </a:solidFill>
              <a:latin typeface="Arial"/>
            </a:endParaRPr>
          </a:p>
        </p:txBody>
      </p:sp>
      <p:sp>
        <p:nvSpPr>
          <p:cNvPr id="307009490" name="Shape 5"/>
          <p:cNvSpPr/>
          <p:nvPr/>
        </p:nvSpPr>
        <p:spPr bwMode="auto">
          <a:xfrm>
            <a:off x="609480" y="4680720"/>
            <a:ext cx="2818440" cy="216360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642472407" name="Text 6"/>
          <p:cNvSpPr/>
          <p:nvPr/>
        </p:nvSpPr>
        <p:spPr bwMode="auto">
          <a:xfrm>
            <a:off x="819000" y="4928400"/>
            <a:ext cx="263916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FFFFF"/>
                </a:solidFill>
                <a:latin typeface="Sora"/>
                <a:ea typeface="Sora"/>
              </a:rPr>
              <a:t>Phase 0</a:t>
            </a:r>
            <a:endParaRPr lang="en-US" sz="1600" b="0" strike="noStrike" spc="-1">
              <a:solidFill>
                <a:srgbClr val="000000"/>
              </a:solidFill>
              <a:latin typeface="Arial"/>
            </a:endParaRPr>
          </a:p>
        </p:txBody>
      </p:sp>
      <p:sp>
        <p:nvSpPr>
          <p:cNvPr id="939799324" name="Text 7"/>
          <p:cNvSpPr/>
          <p:nvPr/>
        </p:nvSpPr>
        <p:spPr bwMode="auto">
          <a:xfrm>
            <a:off x="819000" y="5195160"/>
            <a:ext cx="263916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FCE6CC"/>
                </a:solidFill>
                <a:latin typeface="Open Sans"/>
                <a:ea typeface="Open Sans"/>
              </a:rPr>
              <a:t>Pre-foundation</a:t>
            </a:r>
            <a:endParaRPr lang="en-US" sz="1200" b="0" strike="noStrike" spc="-1">
              <a:solidFill>
                <a:srgbClr val="000000"/>
              </a:solidFill>
              <a:latin typeface="Arial"/>
            </a:endParaRPr>
          </a:p>
        </p:txBody>
      </p:sp>
      <p:sp>
        <p:nvSpPr>
          <p:cNvPr id="1693784466" name="Text 8"/>
          <p:cNvSpPr/>
          <p:nvPr/>
        </p:nvSpPr>
        <p:spPr bwMode="auto">
          <a:xfrm>
            <a:off x="819000" y="5537880"/>
            <a:ext cx="26391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FBE6CC"/>
                </a:solidFill>
                <a:latin typeface="Open Sans"/>
                <a:ea typeface="Open Sans"/>
              </a:rPr>
              <a:t>Months 1–3</a:t>
            </a:r>
            <a:endParaRPr lang="en-US" sz="1150" b="0" strike="noStrike" spc="-1">
              <a:solidFill>
                <a:srgbClr val="000000"/>
              </a:solidFill>
              <a:latin typeface="Arial"/>
            </a:endParaRPr>
          </a:p>
        </p:txBody>
      </p:sp>
      <p:sp>
        <p:nvSpPr>
          <p:cNvPr id="1480595728" name="Text 9"/>
          <p:cNvSpPr/>
          <p:nvPr/>
        </p:nvSpPr>
        <p:spPr bwMode="auto">
          <a:xfrm>
            <a:off x="819000" y="5785560"/>
            <a:ext cx="2639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FFFFFF"/>
                </a:solidFill>
                <a:latin typeface="Open Sans"/>
                <a:ea typeface="Open Sans"/>
              </a:rPr>
              <a:t>¥0–0.5M</a:t>
            </a:r>
            <a:endParaRPr lang="en-US" sz="1350" b="0" strike="noStrike" spc="-1">
              <a:solidFill>
                <a:srgbClr val="000000"/>
              </a:solidFill>
              <a:latin typeface="Arial"/>
            </a:endParaRPr>
          </a:p>
        </p:txBody>
      </p:sp>
      <p:sp>
        <p:nvSpPr>
          <p:cNvPr id="2086117781" name="Text 10"/>
          <p:cNvSpPr/>
          <p:nvPr/>
        </p:nvSpPr>
        <p:spPr bwMode="auto">
          <a:xfrm>
            <a:off x="819000" y="6138000"/>
            <a:ext cx="2639160" cy="230040"/>
          </a:xfrm>
          <a:prstGeom prst="rect">
            <a:avLst/>
          </a:prstGeom>
          <a:noFill/>
          <a:ln w="0">
            <a:noFill/>
          </a:ln>
        </p:spPr>
        <p:style>
          <a:lnRef idx="0"/>
          <a:fillRef idx="0"/>
          <a:effectRef idx="0"/>
          <a:fontRef idx="minor"/>
        </p:style>
        <p:txBody>
          <a:bodyPr lIns="25560" tIns="25560" rIns="25560" bIns="25560" anchor="t">
            <a:normAutofit fontScale="75000"/>
          </a:bodyPr>
          <a:p>
            <a:pPr defTabSz="914400">
              <a:lnSpc>
                <a:spcPct val="135000"/>
              </a:lnSpc>
              <a:tabLst>
                <a:tab pos="0" algn="l"/>
              </a:tabLst>
              <a:defRPr/>
            </a:pPr>
            <a:r>
              <a:rPr lang="en-US" sz="1150" b="0" strike="noStrike" spc="-1">
                <a:solidFill>
                  <a:srgbClr val="FBE6CC"/>
                </a:solidFill>
                <a:latin typeface="Open Sans"/>
                <a:ea typeface="Open Sans"/>
              </a:rPr>
              <a:t>Trust, founding team, charter</a:t>
            </a:r>
            <a:endParaRPr lang="en-US" sz="1150" b="0" strike="noStrike" spc="-1">
              <a:solidFill>
                <a:srgbClr val="000000"/>
              </a:solidFill>
              <a:latin typeface="Arial"/>
            </a:endParaRPr>
          </a:p>
        </p:txBody>
      </p:sp>
      <p:sp>
        <p:nvSpPr>
          <p:cNvPr id="996662827" name="Shape 11"/>
          <p:cNvSpPr/>
          <p:nvPr/>
        </p:nvSpPr>
        <p:spPr bwMode="auto">
          <a:xfrm>
            <a:off x="819000" y="6330960"/>
            <a:ext cx="1331640" cy="265680"/>
          </a:xfrm>
          <a:prstGeom prst="rect">
            <a:avLst/>
          </a:prstGeom>
          <a:solidFill>
            <a:srgbClr val="FFFFFF">
              <a:alpha val="18000"/>
            </a:srgbClr>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249999744" name="Text 12"/>
          <p:cNvSpPr/>
          <p:nvPr/>
        </p:nvSpPr>
        <p:spPr bwMode="auto">
          <a:xfrm>
            <a:off x="895320" y="6378480"/>
            <a:ext cx="1255680" cy="20844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00000"/>
              </a:lnSpc>
              <a:tabLst>
                <a:tab pos="0" algn="l"/>
              </a:tabLst>
              <a:defRPr/>
            </a:pPr>
            <a:r>
              <a:rPr lang="en-US" sz="1000" b="1" strike="noStrike" spc="97">
                <a:solidFill>
                  <a:srgbClr val="FFFFFF"/>
                </a:solidFill>
                <a:latin typeface="Open Sans"/>
                <a:ea typeface="Open Sans"/>
              </a:rPr>
              <a:t>◀ </a:t>
            </a:r>
            <a:r>
              <a:rPr lang="en-US" sz="1000" b="1" strike="noStrike" spc="97">
                <a:solidFill>
                  <a:srgbClr val="FFFFFF"/>
                </a:solidFill>
                <a:latin typeface="Open Sans"/>
                <a:ea typeface="Open Sans"/>
              </a:rPr>
              <a:t>YOU ARE HERE</a:t>
            </a:r>
            <a:endParaRPr lang="en-US" sz="1000" b="0" strike="noStrike" spc="-1">
              <a:solidFill>
                <a:srgbClr val="000000"/>
              </a:solidFill>
              <a:latin typeface="Arial"/>
            </a:endParaRPr>
          </a:p>
        </p:txBody>
      </p:sp>
      <p:sp>
        <p:nvSpPr>
          <p:cNvPr id="328681764" name="Shape 13"/>
          <p:cNvSpPr/>
          <p:nvPr/>
        </p:nvSpPr>
        <p:spPr bwMode="auto">
          <a:xfrm>
            <a:off x="3429000" y="4680720"/>
            <a:ext cx="74196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834745814" name="Shape 14"/>
          <p:cNvSpPr/>
          <p:nvPr/>
        </p:nvSpPr>
        <p:spPr bwMode="auto">
          <a:xfrm>
            <a:off x="342900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2140684747" name="Shape 15"/>
          <p:cNvSpPr/>
          <p:nvPr/>
        </p:nvSpPr>
        <p:spPr bwMode="auto">
          <a:xfrm>
            <a:off x="416232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1906165258" name="Text 16"/>
          <p:cNvSpPr/>
          <p:nvPr/>
        </p:nvSpPr>
        <p:spPr bwMode="auto">
          <a:xfrm>
            <a:off x="3698280" y="5411880"/>
            <a:ext cx="2793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1">
                <a:solidFill>
                  <a:srgbClr val="2E2E2E"/>
                </a:solidFill>
                <a:latin typeface="Sora"/>
                <a:ea typeface="Sora"/>
              </a:rPr>
              <a:t>G1</a:t>
            </a:r>
            <a:endParaRPr lang="en-US" sz="1300" b="0" strike="noStrike" spc="-1">
              <a:solidFill>
                <a:srgbClr val="000000"/>
              </a:solidFill>
              <a:latin typeface="Arial"/>
            </a:endParaRPr>
          </a:p>
        </p:txBody>
      </p:sp>
      <p:sp>
        <p:nvSpPr>
          <p:cNvPr id="1975736482" name="Text 17"/>
          <p:cNvSpPr/>
          <p:nvPr/>
        </p:nvSpPr>
        <p:spPr bwMode="auto">
          <a:xfrm>
            <a:off x="3709800" y="5668920"/>
            <a:ext cx="256320" cy="482400"/>
          </a:xfrm>
          <a:prstGeom prst="rect">
            <a:avLst/>
          </a:prstGeom>
          <a:noFill/>
          <a:ln w="0">
            <a:noFill/>
          </a:ln>
        </p:spPr>
        <p:style>
          <a:lnRef idx="0"/>
          <a:fillRef idx="0"/>
          <a:effectRef idx="0"/>
          <a:fontRef idx="minor"/>
        </p:style>
        <p:txBody>
          <a:bodyPr vert="eaVert" lIns="25560" tIns="25560" rIns="25560" bIns="25560" anchor="t">
            <a:normAutofit fontScale="96666"/>
          </a:bodyPr>
          <a:p>
            <a:pPr defTabSz="914400">
              <a:lnSpc>
                <a:spcPct val="100000"/>
              </a:lnSpc>
              <a:tabLst>
                <a:tab pos="0" algn="l"/>
              </a:tabLst>
              <a:defRPr/>
            </a:pPr>
            <a:r>
              <a:rPr lang="en-US" sz="1050" b="0" strike="noStrike" spc="49">
                <a:solidFill>
                  <a:srgbClr val="6E7174"/>
                </a:solidFill>
                <a:latin typeface="Open Sans"/>
                <a:ea typeface="Open Sans"/>
              </a:rPr>
              <a:t>¥3–8M</a:t>
            </a:r>
            <a:endParaRPr lang="en-US" sz="1050" b="0" strike="noStrike" spc="-1">
              <a:solidFill>
                <a:srgbClr val="000000"/>
              </a:solidFill>
              <a:latin typeface="Arial"/>
            </a:endParaRPr>
          </a:p>
        </p:txBody>
      </p:sp>
      <p:sp>
        <p:nvSpPr>
          <p:cNvPr id="210782552" name="Shape 18"/>
          <p:cNvSpPr/>
          <p:nvPr/>
        </p:nvSpPr>
        <p:spPr bwMode="auto">
          <a:xfrm>
            <a:off x="4172040" y="4680720"/>
            <a:ext cx="281844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143984731" name="Text 19"/>
          <p:cNvSpPr/>
          <p:nvPr/>
        </p:nvSpPr>
        <p:spPr bwMode="auto">
          <a:xfrm>
            <a:off x="4381560" y="4928400"/>
            <a:ext cx="263916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2E2E2E"/>
                </a:solidFill>
                <a:latin typeface="Sora"/>
                <a:ea typeface="Sora"/>
              </a:rPr>
              <a:t>Phase 1</a:t>
            </a:r>
            <a:endParaRPr lang="en-US" sz="1600" b="0" strike="noStrike" spc="-1">
              <a:solidFill>
                <a:srgbClr val="000000"/>
              </a:solidFill>
              <a:latin typeface="Arial"/>
            </a:endParaRPr>
          </a:p>
        </p:txBody>
      </p:sp>
      <p:sp>
        <p:nvSpPr>
          <p:cNvPr id="128604828" name="Text 20"/>
          <p:cNvSpPr/>
          <p:nvPr/>
        </p:nvSpPr>
        <p:spPr bwMode="auto">
          <a:xfrm>
            <a:off x="4381560" y="5195160"/>
            <a:ext cx="263916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9B9DA0"/>
                </a:solidFill>
                <a:latin typeface="Open Sans"/>
                <a:ea typeface="Open Sans"/>
              </a:rPr>
              <a:t>Foundation</a:t>
            </a:r>
            <a:endParaRPr lang="en-US" sz="1200" b="0" strike="noStrike" spc="-1">
              <a:solidFill>
                <a:srgbClr val="000000"/>
              </a:solidFill>
              <a:latin typeface="Arial"/>
            </a:endParaRPr>
          </a:p>
        </p:txBody>
      </p:sp>
      <p:sp>
        <p:nvSpPr>
          <p:cNvPr id="697735467" name="Text 21"/>
          <p:cNvSpPr/>
          <p:nvPr/>
        </p:nvSpPr>
        <p:spPr bwMode="auto">
          <a:xfrm>
            <a:off x="4381560" y="5537880"/>
            <a:ext cx="26391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9B9DA0"/>
                </a:solidFill>
                <a:latin typeface="Open Sans"/>
                <a:ea typeface="Open Sans"/>
              </a:rPr>
              <a:t>Months 4–9</a:t>
            </a:r>
            <a:endParaRPr lang="en-US" sz="1150" b="0" strike="noStrike" spc="-1">
              <a:solidFill>
                <a:srgbClr val="000000"/>
              </a:solidFill>
              <a:latin typeface="Arial"/>
            </a:endParaRPr>
          </a:p>
        </p:txBody>
      </p:sp>
      <p:sp>
        <p:nvSpPr>
          <p:cNvPr id="466582883" name="Text 22"/>
          <p:cNvSpPr/>
          <p:nvPr/>
        </p:nvSpPr>
        <p:spPr bwMode="auto">
          <a:xfrm>
            <a:off x="4381560" y="5785560"/>
            <a:ext cx="2639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2E2E2E"/>
                </a:solidFill>
                <a:latin typeface="Open Sans"/>
                <a:ea typeface="Open Sans"/>
              </a:rPr>
              <a:t>¥3–8M</a:t>
            </a:r>
            <a:endParaRPr lang="en-US" sz="1350" b="0" strike="noStrike" spc="-1">
              <a:solidFill>
                <a:srgbClr val="000000"/>
              </a:solidFill>
              <a:latin typeface="Arial"/>
            </a:endParaRPr>
          </a:p>
        </p:txBody>
      </p:sp>
      <p:sp>
        <p:nvSpPr>
          <p:cNvPr id="296581260" name="Text 23"/>
          <p:cNvSpPr/>
          <p:nvPr/>
        </p:nvSpPr>
        <p:spPr bwMode="auto">
          <a:xfrm>
            <a:off x="4381560" y="6138000"/>
            <a:ext cx="2639160" cy="230040"/>
          </a:xfrm>
          <a:prstGeom prst="rect">
            <a:avLst/>
          </a:prstGeom>
          <a:noFill/>
          <a:ln w="0">
            <a:noFill/>
          </a:ln>
        </p:spPr>
        <p:style>
          <a:lnRef idx="0"/>
          <a:fillRef idx="0"/>
          <a:effectRef idx="0"/>
          <a:fontRef idx="minor"/>
        </p:style>
        <p:txBody>
          <a:bodyPr lIns="25560" tIns="25560" rIns="25560" bIns="25560" anchor="t">
            <a:normAutofit fontScale="75000"/>
          </a:bodyPr>
          <a:p>
            <a:pPr defTabSz="914400">
              <a:lnSpc>
                <a:spcPct val="135000"/>
              </a:lnSpc>
              <a:tabLst>
                <a:tab pos="0" algn="l"/>
              </a:tabLst>
              <a:defRPr/>
            </a:pPr>
            <a:r>
              <a:rPr lang="en-US" sz="1150" b="0" strike="noStrike" spc="-1">
                <a:solidFill>
                  <a:srgbClr val="6E7174"/>
                </a:solidFill>
                <a:latin typeface="Open Sans"/>
                <a:ea typeface="Open Sans"/>
              </a:rPr>
              <a:t>Legal entity, feasibility, advisors</a:t>
            </a:r>
            <a:endParaRPr lang="en-US" sz="1150" b="0" strike="noStrike" spc="-1">
              <a:solidFill>
                <a:srgbClr val="000000"/>
              </a:solidFill>
              <a:latin typeface="Arial"/>
            </a:endParaRPr>
          </a:p>
        </p:txBody>
      </p:sp>
      <p:sp>
        <p:nvSpPr>
          <p:cNvPr id="1954970086" name="Shape 24"/>
          <p:cNvSpPr/>
          <p:nvPr/>
        </p:nvSpPr>
        <p:spPr bwMode="auto">
          <a:xfrm>
            <a:off x="6991200" y="4680720"/>
            <a:ext cx="74196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484840807" name="Shape 25"/>
          <p:cNvSpPr/>
          <p:nvPr/>
        </p:nvSpPr>
        <p:spPr bwMode="auto">
          <a:xfrm>
            <a:off x="699120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473759055" name="Shape 26"/>
          <p:cNvSpPr/>
          <p:nvPr/>
        </p:nvSpPr>
        <p:spPr bwMode="auto">
          <a:xfrm>
            <a:off x="772488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1771914524" name="Text 27"/>
          <p:cNvSpPr/>
          <p:nvPr/>
        </p:nvSpPr>
        <p:spPr bwMode="auto">
          <a:xfrm>
            <a:off x="7243920" y="5329080"/>
            <a:ext cx="31248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1">
                <a:solidFill>
                  <a:srgbClr val="2E2E2E"/>
                </a:solidFill>
                <a:latin typeface="Sora"/>
                <a:ea typeface="Sora"/>
              </a:rPr>
              <a:t>G2</a:t>
            </a:r>
            <a:endParaRPr lang="en-US" sz="1300" b="0" strike="noStrike" spc="-1">
              <a:solidFill>
                <a:srgbClr val="000000"/>
              </a:solidFill>
              <a:latin typeface="Arial"/>
            </a:endParaRPr>
          </a:p>
        </p:txBody>
      </p:sp>
      <p:sp>
        <p:nvSpPr>
          <p:cNvPr id="1938053053" name="Text 28"/>
          <p:cNvSpPr/>
          <p:nvPr/>
        </p:nvSpPr>
        <p:spPr bwMode="auto">
          <a:xfrm>
            <a:off x="7272000" y="5586120"/>
            <a:ext cx="256320" cy="648000"/>
          </a:xfrm>
          <a:prstGeom prst="rect">
            <a:avLst/>
          </a:prstGeom>
          <a:noFill/>
          <a:ln w="0">
            <a:noFill/>
          </a:ln>
        </p:spPr>
        <p:style>
          <a:lnRef idx="0"/>
          <a:fillRef idx="0"/>
          <a:effectRef idx="0"/>
          <a:fontRef idx="minor"/>
        </p:style>
        <p:txBody>
          <a:bodyPr vert="eaVert" lIns="25560" tIns="25560" rIns="25560" bIns="25560" anchor="t">
            <a:normAutofit fontScale="96666"/>
          </a:bodyPr>
          <a:p>
            <a:pPr defTabSz="914400">
              <a:lnSpc>
                <a:spcPct val="100000"/>
              </a:lnSpc>
              <a:tabLst>
                <a:tab pos="0" algn="l"/>
              </a:tabLst>
              <a:defRPr/>
            </a:pPr>
            <a:r>
              <a:rPr lang="en-US" sz="1050" b="0" strike="noStrike" spc="49">
                <a:solidFill>
                  <a:srgbClr val="6E7174"/>
                </a:solidFill>
                <a:latin typeface="Open Sans"/>
                <a:ea typeface="Open Sans"/>
              </a:rPr>
              <a:t>¥30–50M</a:t>
            </a:r>
            <a:endParaRPr lang="en-US" sz="1050" b="0" strike="noStrike" spc="-1">
              <a:solidFill>
                <a:srgbClr val="000000"/>
              </a:solidFill>
              <a:latin typeface="Arial"/>
            </a:endParaRPr>
          </a:p>
        </p:txBody>
      </p:sp>
      <p:sp>
        <p:nvSpPr>
          <p:cNvPr id="923210298" name="Shape 29"/>
          <p:cNvSpPr/>
          <p:nvPr/>
        </p:nvSpPr>
        <p:spPr bwMode="auto">
          <a:xfrm>
            <a:off x="7734240" y="4680720"/>
            <a:ext cx="281844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971015711" name="Text 30"/>
          <p:cNvSpPr/>
          <p:nvPr/>
        </p:nvSpPr>
        <p:spPr bwMode="auto">
          <a:xfrm>
            <a:off x="7943760" y="4928400"/>
            <a:ext cx="263916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2E2E2E"/>
                </a:solidFill>
                <a:latin typeface="Sora"/>
                <a:ea typeface="Sora"/>
              </a:rPr>
              <a:t>Phase 2</a:t>
            </a:r>
            <a:endParaRPr lang="en-US" sz="1600" b="0" strike="noStrike" spc="-1">
              <a:solidFill>
                <a:srgbClr val="000000"/>
              </a:solidFill>
              <a:latin typeface="Arial"/>
            </a:endParaRPr>
          </a:p>
        </p:txBody>
      </p:sp>
      <p:sp>
        <p:nvSpPr>
          <p:cNvPr id="1420875781" name="Text 31"/>
          <p:cNvSpPr/>
          <p:nvPr/>
        </p:nvSpPr>
        <p:spPr bwMode="auto">
          <a:xfrm>
            <a:off x="7943760" y="5195160"/>
            <a:ext cx="263916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9B9DA0"/>
                </a:solidFill>
                <a:latin typeface="Open Sans"/>
                <a:ea typeface="Open Sans"/>
              </a:rPr>
              <a:t>Pilot design</a:t>
            </a:r>
            <a:endParaRPr lang="en-US" sz="1200" b="0" strike="noStrike" spc="-1">
              <a:solidFill>
                <a:srgbClr val="000000"/>
              </a:solidFill>
              <a:latin typeface="Arial"/>
            </a:endParaRPr>
          </a:p>
        </p:txBody>
      </p:sp>
      <p:sp>
        <p:nvSpPr>
          <p:cNvPr id="451612883" name="Text 32"/>
          <p:cNvSpPr/>
          <p:nvPr/>
        </p:nvSpPr>
        <p:spPr bwMode="auto">
          <a:xfrm>
            <a:off x="7943760" y="5537880"/>
            <a:ext cx="26391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9B9DA0"/>
                </a:solidFill>
                <a:latin typeface="Open Sans"/>
                <a:ea typeface="Open Sans"/>
              </a:rPr>
              <a:t>Months 10–18</a:t>
            </a:r>
            <a:endParaRPr lang="en-US" sz="1150" b="0" strike="noStrike" spc="-1">
              <a:solidFill>
                <a:srgbClr val="000000"/>
              </a:solidFill>
              <a:latin typeface="Arial"/>
            </a:endParaRPr>
          </a:p>
        </p:txBody>
      </p:sp>
      <p:sp>
        <p:nvSpPr>
          <p:cNvPr id="1783914704" name="Text 33"/>
          <p:cNvSpPr/>
          <p:nvPr/>
        </p:nvSpPr>
        <p:spPr bwMode="auto">
          <a:xfrm>
            <a:off x="7943760" y="5785560"/>
            <a:ext cx="2639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2E2E2E"/>
                </a:solidFill>
                <a:latin typeface="Open Sans"/>
                <a:ea typeface="Open Sans"/>
              </a:rPr>
              <a:t>¥15–30M</a:t>
            </a:r>
            <a:endParaRPr lang="en-US" sz="1350" b="0" strike="noStrike" spc="-1">
              <a:solidFill>
                <a:srgbClr val="000000"/>
              </a:solidFill>
              <a:latin typeface="Arial"/>
            </a:endParaRPr>
          </a:p>
        </p:txBody>
      </p:sp>
      <p:sp>
        <p:nvSpPr>
          <p:cNvPr id="131696718" name="Text 34"/>
          <p:cNvSpPr/>
          <p:nvPr/>
        </p:nvSpPr>
        <p:spPr bwMode="auto">
          <a:xfrm>
            <a:off x="7943760" y="6138000"/>
            <a:ext cx="2639160" cy="230040"/>
          </a:xfrm>
          <a:prstGeom prst="rect">
            <a:avLst/>
          </a:prstGeom>
          <a:noFill/>
          <a:ln w="0">
            <a:noFill/>
          </a:ln>
        </p:spPr>
        <p:style>
          <a:lnRef idx="0"/>
          <a:fillRef idx="0"/>
          <a:effectRef idx="0"/>
          <a:fontRef idx="minor"/>
        </p:style>
        <p:txBody>
          <a:bodyPr lIns="25560" tIns="25560" rIns="25560" bIns="25560" anchor="t">
            <a:normAutofit fontScale="75000"/>
          </a:bodyPr>
          <a:p>
            <a:pPr defTabSz="914400">
              <a:lnSpc>
                <a:spcPct val="135000"/>
              </a:lnSpc>
              <a:tabLst>
                <a:tab pos="0" algn="l"/>
              </a:tabLst>
              <a:defRPr/>
            </a:pPr>
            <a:r>
              <a:rPr lang="en-US" sz="1150" b="0" strike="noStrike" spc="-1">
                <a:solidFill>
                  <a:srgbClr val="6E7174"/>
                </a:solidFill>
                <a:latin typeface="Open Sans"/>
                <a:ea typeface="Open Sans"/>
              </a:rPr>
              <a:t>Engineering, partners, permits</a:t>
            </a:r>
            <a:endParaRPr lang="en-US" sz="1150" b="0" strike="noStrike" spc="-1">
              <a:solidFill>
                <a:srgbClr val="000000"/>
              </a:solidFill>
              <a:latin typeface="Arial"/>
            </a:endParaRPr>
          </a:p>
        </p:txBody>
      </p:sp>
      <p:sp>
        <p:nvSpPr>
          <p:cNvPr id="1588124347" name="Shape 35"/>
          <p:cNvSpPr/>
          <p:nvPr/>
        </p:nvSpPr>
        <p:spPr bwMode="auto">
          <a:xfrm>
            <a:off x="10553760" y="4680720"/>
            <a:ext cx="74196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697652890" name="Shape 36"/>
          <p:cNvSpPr/>
          <p:nvPr/>
        </p:nvSpPr>
        <p:spPr bwMode="auto">
          <a:xfrm>
            <a:off x="1055376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367277795" name="Shape 37"/>
          <p:cNvSpPr/>
          <p:nvPr/>
        </p:nvSpPr>
        <p:spPr bwMode="auto">
          <a:xfrm>
            <a:off x="11287079"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2058257207" name="Text 38"/>
          <p:cNvSpPr/>
          <p:nvPr/>
        </p:nvSpPr>
        <p:spPr bwMode="auto">
          <a:xfrm>
            <a:off x="10806480" y="5287320"/>
            <a:ext cx="31248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1">
                <a:solidFill>
                  <a:srgbClr val="2E2E2E"/>
                </a:solidFill>
                <a:latin typeface="Sora"/>
                <a:ea typeface="Sora"/>
              </a:rPr>
              <a:t>G3</a:t>
            </a:r>
            <a:endParaRPr lang="en-US" sz="1300" b="0" strike="noStrike" spc="-1">
              <a:solidFill>
                <a:srgbClr val="000000"/>
              </a:solidFill>
              <a:latin typeface="Arial"/>
            </a:endParaRPr>
          </a:p>
        </p:txBody>
      </p:sp>
      <p:sp>
        <p:nvSpPr>
          <p:cNvPr id="438004238" name="Text 39"/>
          <p:cNvSpPr/>
          <p:nvPr/>
        </p:nvSpPr>
        <p:spPr bwMode="auto">
          <a:xfrm>
            <a:off x="10834560" y="5544720"/>
            <a:ext cx="256320" cy="730800"/>
          </a:xfrm>
          <a:prstGeom prst="rect">
            <a:avLst/>
          </a:prstGeom>
          <a:noFill/>
          <a:ln w="0">
            <a:noFill/>
          </a:ln>
        </p:spPr>
        <p:style>
          <a:lnRef idx="0"/>
          <a:fillRef idx="0"/>
          <a:effectRef idx="0"/>
          <a:fontRef idx="minor"/>
        </p:style>
        <p:txBody>
          <a:bodyPr vert="eaVert" lIns="25560" tIns="25560" rIns="25560" bIns="25560" anchor="t">
            <a:normAutofit fontScale="96666"/>
          </a:bodyPr>
          <a:p>
            <a:pPr defTabSz="914400">
              <a:lnSpc>
                <a:spcPct val="100000"/>
              </a:lnSpc>
              <a:tabLst>
                <a:tab pos="0" algn="l"/>
              </a:tabLst>
              <a:defRPr/>
            </a:pPr>
            <a:r>
              <a:rPr lang="en-US" sz="1050" b="0" strike="noStrike" spc="49">
                <a:solidFill>
                  <a:srgbClr val="6E7174"/>
                </a:solidFill>
                <a:latin typeface="Open Sans"/>
                <a:ea typeface="Open Sans"/>
              </a:rPr>
              <a:t>¥80–200M</a:t>
            </a:r>
            <a:endParaRPr lang="en-US" sz="1050" b="0" strike="noStrike" spc="-1">
              <a:solidFill>
                <a:srgbClr val="000000"/>
              </a:solidFill>
              <a:latin typeface="Arial"/>
            </a:endParaRPr>
          </a:p>
        </p:txBody>
      </p:sp>
      <p:sp>
        <p:nvSpPr>
          <p:cNvPr id="834832411" name="Shape 40"/>
          <p:cNvSpPr/>
          <p:nvPr/>
        </p:nvSpPr>
        <p:spPr bwMode="auto">
          <a:xfrm>
            <a:off x="11296800" y="4680720"/>
            <a:ext cx="281844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29078923" name="Text 41"/>
          <p:cNvSpPr/>
          <p:nvPr/>
        </p:nvSpPr>
        <p:spPr bwMode="auto">
          <a:xfrm>
            <a:off x="11506320" y="4928400"/>
            <a:ext cx="263916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2E2E2E"/>
                </a:solidFill>
                <a:latin typeface="Sora"/>
                <a:ea typeface="Sora"/>
              </a:rPr>
              <a:t>Phase 3</a:t>
            </a:r>
            <a:endParaRPr lang="en-US" sz="1600" b="0" strike="noStrike" spc="-1">
              <a:solidFill>
                <a:srgbClr val="000000"/>
              </a:solidFill>
              <a:latin typeface="Arial"/>
            </a:endParaRPr>
          </a:p>
        </p:txBody>
      </p:sp>
      <p:sp>
        <p:nvSpPr>
          <p:cNvPr id="688933887" name="Text 42"/>
          <p:cNvSpPr/>
          <p:nvPr/>
        </p:nvSpPr>
        <p:spPr bwMode="auto">
          <a:xfrm>
            <a:off x="11506320" y="5195160"/>
            <a:ext cx="263916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9B9DA0"/>
                </a:solidFill>
                <a:latin typeface="Open Sans"/>
                <a:ea typeface="Open Sans"/>
              </a:rPr>
              <a:t>Pilot build</a:t>
            </a:r>
            <a:endParaRPr lang="en-US" sz="1200" b="0" strike="noStrike" spc="-1">
              <a:solidFill>
                <a:srgbClr val="000000"/>
              </a:solidFill>
              <a:latin typeface="Arial"/>
            </a:endParaRPr>
          </a:p>
        </p:txBody>
      </p:sp>
      <p:sp>
        <p:nvSpPr>
          <p:cNvPr id="1815537258" name="Text 43"/>
          <p:cNvSpPr/>
          <p:nvPr/>
        </p:nvSpPr>
        <p:spPr bwMode="auto">
          <a:xfrm>
            <a:off x="11506320" y="5537880"/>
            <a:ext cx="26391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9B9DA0"/>
                </a:solidFill>
                <a:latin typeface="Open Sans"/>
                <a:ea typeface="Open Sans"/>
              </a:rPr>
              <a:t>Months 19–30</a:t>
            </a:r>
            <a:endParaRPr lang="en-US" sz="1150" b="0" strike="noStrike" spc="-1">
              <a:solidFill>
                <a:srgbClr val="000000"/>
              </a:solidFill>
              <a:latin typeface="Arial"/>
            </a:endParaRPr>
          </a:p>
        </p:txBody>
      </p:sp>
      <p:sp>
        <p:nvSpPr>
          <p:cNvPr id="1231499744" name="Text 44"/>
          <p:cNvSpPr/>
          <p:nvPr/>
        </p:nvSpPr>
        <p:spPr bwMode="auto">
          <a:xfrm>
            <a:off x="11506320" y="5785560"/>
            <a:ext cx="2639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2E2E2E"/>
                </a:solidFill>
                <a:latin typeface="Open Sans"/>
                <a:ea typeface="Open Sans"/>
              </a:rPr>
              <a:t>¥80–200M</a:t>
            </a:r>
            <a:endParaRPr lang="en-US" sz="1350" b="0" strike="noStrike" spc="-1">
              <a:solidFill>
                <a:srgbClr val="000000"/>
              </a:solidFill>
              <a:latin typeface="Arial"/>
            </a:endParaRPr>
          </a:p>
        </p:txBody>
      </p:sp>
      <p:sp>
        <p:nvSpPr>
          <p:cNvPr id="2065348310" name="Text 45"/>
          <p:cNvSpPr/>
          <p:nvPr/>
        </p:nvSpPr>
        <p:spPr bwMode="auto">
          <a:xfrm>
            <a:off x="11506320" y="6138000"/>
            <a:ext cx="2639160" cy="230040"/>
          </a:xfrm>
          <a:prstGeom prst="rect">
            <a:avLst/>
          </a:prstGeom>
          <a:noFill/>
          <a:ln w="0">
            <a:noFill/>
          </a:ln>
        </p:spPr>
        <p:style>
          <a:lnRef idx="0"/>
          <a:fillRef idx="0"/>
          <a:effectRef idx="0"/>
          <a:fontRef idx="minor"/>
        </p:style>
        <p:txBody>
          <a:bodyPr lIns="25560" tIns="25560" rIns="25560" bIns="25560" anchor="t">
            <a:normAutofit fontScale="75000"/>
          </a:bodyPr>
          <a:p>
            <a:pPr defTabSz="914400">
              <a:lnSpc>
                <a:spcPct val="135000"/>
              </a:lnSpc>
              <a:tabLst>
                <a:tab pos="0" algn="l"/>
              </a:tabLst>
              <a:defRPr/>
            </a:pPr>
            <a:r>
              <a:rPr lang="en-US" sz="1150" b="0" strike="noStrike" spc="-1">
                <a:solidFill>
                  <a:srgbClr val="6E7174"/>
                </a:solidFill>
                <a:latin typeface="Open Sans"/>
                <a:ea typeface="Open Sans"/>
              </a:rPr>
              <a:t>First-stage build, commissioning</a:t>
            </a:r>
            <a:endParaRPr lang="en-US" sz="1150" b="0" strike="noStrike" spc="-1">
              <a:solidFill>
                <a:srgbClr val="000000"/>
              </a:solidFill>
              <a:latin typeface="Arial"/>
            </a:endParaRPr>
          </a:p>
        </p:txBody>
      </p:sp>
      <p:sp>
        <p:nvSpPr>
          <p:cNvPr id="157161279" name="Shape 46"/>
          <p:cNvSpPr/>
          <p:nvPr/>
        </p:nvSpPr>
        <p:spPr bwMode="auto">
          <a:xfrm>
            <a:off x="14115960" y="4680720"/>
            <a:ext cx="741960" cy="216360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352919422" name="Shape 47"/>
          <p:cNvSpPr/>
          <p:nvPr/>
        </p:nvSpPr>
        <p:spPr bwMode="auto">
          <a:xfrm>
            <a:off x="1411596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244605702" name="Shape 48"/>
          <p:cNvSpPr/>
          <p:nvPr/>
        </p:nvSpPr>
        <p:spPr bwMode="auto">
          <a:xfrm>
            <a:off x="14849640" y="4680720"/>
            <a:ext cx="8280" cy="2163600"/>
          </a:xfrm>
          <a:prstGeom prst="rect">
            <a:avLst/>
          </a:prstGeom>
          <a:solidFill>
            <a:srgbClr val="C9CBCD"/>
          </a:solidFill>
          <a:ln w="0">
            <a:noFill/>
          </a:ln>
        </p:spPr>
        <p:style>
          <a:lnRef idx="0"/>
          <a:fillRef idx="0"/>
          <a:effectRef idx="0"/>
          <a:fontRef idx="minor"/>
        </p:style>
        <p:txBody>
          <a:bodyPr lIns="4320" tIns="45000" rIns="4320" bIns="45000" anchor="t">
            <a:noAutofit/>
          </a:bodyPr>
          <a:p>
            <a:pPr>
              <a:lnSpc>
                <a:spcPct val="100000"/>
              </a:lnSpc>
              <a:defRPr/>
            </a:pPr>
            <a:endParaRPr lang="en-US" sz="1800" b="0" strike="noStrike" spc="-1">
              <a:solidFill>
                <a:srgbClr val="000000"/>
              </a:solidFill>
              <a:latin typeface="Arial"/>
              <a:ea typeface="Arial"/>
            </a:endParaRPr>
          </a:p>
        </p:txBody>
      </p:sp>
      <p:sp>
        <p:nvSpPr>
          <p:cNvPr id="1595231249" name="Text 49"/>
          <p:cNvSpPr/>
          <p:nvPr/>
        </p:nvSpPr>
        <p:spPr bwMode="auto">
          <a:xfrm>
            <a:off x="14365440" y="5365080"/>
            <a:ext cx="3189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1">
                <a:solidFill>
                  <a:srgbClr val="2E2E2E"/>
                </a:solidFill>
                <a:latin typeface="Sora"/>
                <a:ea typeface="Sora"/>
              </a:rPr>
              <a:t>G4</a:t>
            </a:r>
            <a:endParaRPr lang="en-US" sz="1300" b="0" strike="noStrike" spc="-1">
              <a:solidFill>
                <a:srgbClr val="000000"/>
              </a:solidFill>
              <a:latin typeface="Arial"/>
            </a:endParaRPr>
          </a:p>
        </p:txBody>
      </p:sp>
      <p:sp>
        <p:nvSpPr>
          <p:cNvPr id="1327774663" name="Text 50"/>
          <p:cNvSpPr/>
          <p:nvPr/>
        </p:nvSpPr>
        <p:spPr bwMode="auto">
          <a:xfrm>
            <a:off x="14401800" y="5622120"/>
            <a:ext cx="246600" cy="575640"/>
          </a:xfrm>
          <a:prstGeom prst="rect">
            <a:avLst/>
          </a:prstGeom>
          <a:noFill/>
          <a:ln w="0">
            <a:noFill/>
          </a:ln>
        </p:spPr>
        <p:style>
          <a:lnRef idx="0"/>
          <a:fillRef idx="0"/>
          <a:effectRef idx="0"/>
          <a:fontRef idx="minor"/>
        </p:style>
        <p:txBody>
          <a:bodyPr vert="eaVert" lIns="25560" tIns="25560" rIns="25560" bIns="25560" anchor="t">
            <a:normAutofit fontScale="87222"/>
          </a:bodyPr>
          <a:p>
            <a:pPr defTabSz="914400">
              <a:lnSpc>
                <a:spcPct val="100000"/>
              </a:lnSpc>
              <a:tabLst>
                <a:tab pos="0" algn="l"/>
              </a:tabLst>
              <a:defRPr/>
            </a:pPr>
            <a:r>
              <a:rPr lang="en-US" sz="1000" b="0" strike="noStrike" spc="46">
                <a:solidFill>
                  <a:srgbClr val="6E7174"/>
                </a:solidFill>
                <a:latin typeface="Open Sans"/>
                <a:ea typeface="Open Sans"/>
              </a:rPr>
              <a:t>Revenue</a:t>
            </a:r>
            <a:endParaRPr lang="en-US" sz="1000" b="0" strike="noStrike" spc="-1">
              <a:solidFill>
                <a:srgbClr val="000000"/>
              </a:solidFill>
              <a:latin typeface="Arial"/>
            </a:endParaRPr>
          </a:p>
        </p:txBody>
      </p:sp>
      <p:sp>
        <p:nvSpPr>
          <p:cNvPr id="1942938570" name="Shape 51"/>
          <p:cNvSpPr/>
          <p:nvPr/>
        </p:nvSpPr>
        <p:spPr bwMode="auto">
          <a:xfrm>
            <a:off x="14859000" y="4680720"/>
            <a:ext cx="2818440" cy="2163600"/>
          </a:xfrm>
          <a:prstGeom prst="rect">
            <a:avLst/>
          </a:prstGeom>
          <a:solidFill>
            <a:srgbClr val="2E2E2E"/>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741098167" name="Text 52"/>
          <p:cNvSpPr/>
          <p:nvPr/>
        </p:nvSpPr>
        <p:spPr bwMode="auto">
          <a:xfrm>
            <a:off x="15068520" y="4928400"/>
            <a:ext cx="263916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FFFFF"/>
                </a:solidFill>
                <a:latin typeface="Sora"/>
                <a:ea typeface="Sora"/>
              </a:rPr>
              <a:t>Phase 4</a:t>
            </a:r>
            <a:endParaRPr lang="en-US" sz="1600" b="0" strike="noStrike" spc="-1">
              <a:solidFill>
                <a:srgbClr val="000000"/>
              </a:solidFill>
              <a:latin typeface="Arial"/>
            </a:endParaRPr>
          </a:p>
        </p:txBody>
      </p:sp>
      <p:sp>
        <p:nvSpPr>
          <p:cNvPr id="340047600" name="Text 53"/>
          <p:cNvSpPr/>
          <p:nvPr/>
        </p:nvSpPr>
        <p:spPr bwMode="auto">
          <a:xfrm>
            <a:off x="15068520" y="5195160"/>
            <a:ext cx="263916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C7C9CB"/>
                </a:solidFill>
                <a:latin typeface="Open Sans"/>
                <a:ea typeface="Open Sans"/>
              </a:rPr>
              <a:t>Operate &amp; scale</a:t>
            </a:r>
            <a:endParaRPr lang="en-US" sz="1200" b="0" strike="noStrike" spc="-1">
              <a:solidFill>
                <a:srgbClr val="000000"/>
              </a:solidFill>
              <a:latin typeface="Arial"/>
            </a:endParaRPr>
          </a:p>
        </p:txBody>
      </p:sp>
      <p:sp>
        <p:nvSpPr>
          <p:cNvPr id="88085782" name="Text 54"/>
          <p:cNvSpPr/>
          <p:nvPr/>
        </p:nvSpPr>
        <p:spPr bwMode="auto">
          <a:xfrm>
            <a:off x="15068520" y="5537880"/>
            <a:ext cx="26391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C7C9CB"/>
                </a:solidFill>
                <a:latin typeface="Open Sans"/>
                <a:ea typeface="Open Sans"/>
              </a:rPr>
              <a:t>Months 31+</a:t>
            </a:r>
            <a:endParaRPr lang="en-US" sz="1150" b="0" strike="noStrike" spc="-1">
              <a:solidFill>
                <a:srgbClr val="000000"/>
              </a:solidFill>
              <a:latin typeface="Arial"/>
            </a:endParaRPr>
          </a:p>
        </p:txBody>
      </p:sp>
      <p:sp>
        <p:nvSpPr>
          <p:cNvPr id="1663736777" name="Text 55"/>
          <p:cNvSpPr/>
          <p:nvPr/>
        </p:nvSpPr>
        <p:spPr bwMode="auto">
          <a:xfrm>
            <a:off x="15068520" y="5785560"/>
            <a:ext cx="2639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FFFFFF"/>
                </a:solidFill>
                <a:latin typeface="Open Sans"/>
                <a:ea typeface="Open Sans"/>
              </a:rPr>
              <a:t>Variable</a:t>
            </a:r>
            <a:endParaRPr lang="en-US" sz="1350" b="0" strike="noStrike" spc="-1">
              <a:solidFill>
                <a:srgbClr val="000000"/>
              </a:solidFill>
              <a:latin typeface="Arial"/>
            </a:endParaRPr>
          </a:p>
        </p:txBody>
      </p:sp>
      <p:sp>
        <p:nvSpPr>
          <p:cNvPr id="1619953618" name="Text 56"/>
          <p:cNvSpPr/>
          <p:nvPr/>
        </p:nvSpPr>
        <p:spPr bwMode="auto">
          <a:xfrm>
            <a:off x="15068520" y="6138000"/>
            <a:ext cx="2639160" cy="230040"/>
          </a:xfrm>
          <a:prstGeom prst="rect">
            <a:avLst/>
          </a:prstGeom>
          <a:noFill/>
          <a:ln w="0">
            <a:noFill/>
          </a:ln>
        </p:spPr>
        <p:style>
          <a:lnRef idx="0"/>
          <a:fillRef idx="0"/>
          <a:effectRef idx="0"/>
          <a:fontRef idx="minor"/>
        </p:style>
        <p:txBody>
          <a:bodyPr lIns="25560" tIns="25560" rIns="25560" bIns="25560" anchor="t">
            <a:normAutofit fontScale="75000"/>
          </a:bodyPr>
          <a:p>
            <a:pPr defTabSz="914400">
              <a:lnSpc>
                <a:spcPct val="135000"/>
              </a:lnSpc>
              <a:tabLst>
                <a:tab pos="0" algn="l"/>
              </a:tabLst>
              <a:defRPr/>
            </a:pPr>
            <a:r>
              <a:rPr lang="en-US" sz="1150" b="0" strike="noStrike" spc="-1">
                <a:solidFill>
                  <a:srgbClr val="C7C9CB"/>
                </a:solidFill>
                <a:latin typeface="Open Sans"/>
                <a:ea typeface="Open Sans"/>
              </a:rPr>
              <a:t>Operations, monitoring, replication</a:t>
            </a:r>
            <a:endParaRPr lang="en-US" sz="1150" b="0" strike="noStrike" spc="-1">
              <a:solidFill>
                <a:srgbClr val="000000"/>
              </a:solidFill>
              <a:latin typeface="Arial"/>
            </a:endParaRPr>
          </a:p>
        </p:txBody>
      </p:sp>
      <p:sp>
        <p:nvSpPr>
          <p:cNvPr id="507447009" name="Shape 57"/>
          <p:cNvSpPr/>
          <p:nvPr/>
        </p:nvSpPr>
        <p:spPr bwMode="auto">
          <a:xfrm>
            <a:off x="609480" y="9051480"/>
            <a:ext cx="17067600" cy="548640"/>
          </a:xfrm>
          <a:prstGeom prst="rect">
            <a:avLst/>
          </a:prstGeom>
          <a:solidFill>
            <a:srgbClr val="FBEFE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325290464" name="Shape 58"/>
          <p:cNvSpPr/>
          <p:nvPr/>
        </p:nvSpPr>
        <p:spPr bwMode="auto">
          <a:xfrm>
            <a:off x="609480" y="9051480"/>
            <a:ext cx="37080" cy="548640"/>
          </a:xfrm>
          <a:prstGeom prst="rect">
            <a:avLst/>
          </a:prstGeom>
          <a:solidFill>
            <a:srgbClr val="E58520"/>
          </a:solidFill>
          <a:ln w="0">
            <a:noFill/>
          </a:ln>
        </p:spPr>
        <p:style>
          <a:lnRef idx="0"/>
          <a:fillRef idx="0"/>
          <a:effectRef idx="0"/>
          <a:fontRef idx="minor"/>
        </p:style>
        <p:txBody>
          <a:bodyPr lIns="18720" tIns="45000" rIns="18720" bIns="45000" anchor="t">
            <a:noAutofit/>
          </a:bodyPr>
          <a:p>
            <a:pPr>
              <a:lnSpc>
                <a:spcPct val="100000"/>
              </a:lnSpc>
              <a:defRPr/>
            </a:pPr>
            <a:endParaRPr lang="en-US" sz="1800" b="0" strike="noStrike" spc="-1">
              <a:solidFill>
                <a:srgbClr val="FFFFFF"/>
              </a:solidFill>
              <a:latin typeface="Arial"/>
              <a:ea typeface="Arial"/>
            </a:endParaRPr>
          </a:p>
        </p:txBody>
      </p:sp>
      <p:sp>
        <p:nvSpPr>
          <p:cNvPr id="178117842" name="Text 59"/>
          <p:cNvSpPr/>
          <p:nvPr/>
        </p:nvSpPr>
        <p:spPr bwMode="auto">
          <a:xfrm>
            <a:off x="857160" y="9204120"/>
            <a:ext cx="17122680" cy="28188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40000"/>
              </a:lnSpc>
              <a:tabLst>
                <a:tab pos="0" algn="l"/>
              </a:tabLst>
              <a:defRPr/>
            </a:pPr>
            <a:r>
              <a:rPr lang="en-US" sz="1350" b="0" strike="noStrike" spc="-1">
                <a:solidFill>
                  <a:srgbClr val="6E7174"/>
                </a:solidFill>
                <a:highlight>
                  <a:srgbClr val="FBEFE0"/>
                </a:highlight>
                <a:latin typeface="Open Sans"/>
                <a:ea typeface="Open Sans"/>
              </a:rPr>
              <a:t>Miss a gate → </a:t>
            </a:r>
            <a:r>
              <a:rPr lang="en-US" sz="1350" b="1" strike="noStrike" spc="-1">
                <a:solidFill>
                  <a:srgbClr val="6E7174"/>
                </a:solidFill>
                <a:latin typeface="Open Sans"/>
                <a:ea typeface="Open Sans"/>
              </a:rPr>
              <a:t>hold &amp; re-pitch </a:t>
            </a:r>
            <a:r>
              <a:rPr lang="en-US" sz="1350" b="0" strike="noStrike" spc="-1">
                <a:solidFill>
                  <a:srgbClr val="6E7174"/>
                </a:solidFill>
                <a:highlight>
                  <a:srgbClr val="FBEFE0"/>
                </a:highlight>
                <a:latin typeface="Open Sans"/>
                <a:ea typeface="Open Sans"/>
              </a:rPr>
              <a:t>or descope. Never accelerate into an under-resourced phase. </a:t>
            </a:r>
            <a:r>
              <a:rPr lang="zh-CN" sz="1350" b="0" strike="noStrike" spc="-1">
                <a:solidFill>
                  <a:srgbClr val="9B9DA0"/>
                </a:solidFill>
                <a:latin typeface="Noto Sans JP"/>
                <a:ea typeface="Noto Sans JP"/>
              </a:rPr>
              <a:t>ゲート未達なら保留・縮小。</a:t>
            </a:r>
            <a:endParaRPr lang="en-US" sz="135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06327663"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2085965215"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699165857" name="Text 2"/>
          <p:cNvSpPr/>
          <p:nvPr/>
        </p:nvSpPr>
        <p:spPr bwMode="auto">
          <a:xfrm>
            <a:off x="1181160" y="800280"/>
            <a:ext cx="334332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FUNDING STACK · </a:t>
            </a:r>
            <a:r>
              <a:rPr lang="zh-CN" sz="1300" b="1" strike="noStrike" spc="201">
                <a:solidFill>
                  <a:srgbClr val="9B9DA0"/>
                </a:solidFill>
                <a:latin typeface="Open Sans"/>
                <a:ea typeface="Open Sans"/>
              </a:rPr>
              <a:t>資金構成 </a:t>
            </a:r>
            <a:r>
              <a:rPr lang="en-US" sz="1300" b="1" strike="noStrike" spc="201">
                <a:solidFill>
                  <a:srgbClr val="9B9DA0"/>
                </a:solidFill>
                <a:latin typeface="Open Sans"/>
                <a:ea typeface="Open Sans"/>
              </a:rPr>
              <a:t>· 11</a:t>
            </a:r>
            <a:endParaRPr lang="en-US" sz="1300" b="0" strike="noStrike" spc="-1">
              <a:solidFill>
                <a:srgbClr val="000000"/>
              </a:solidFill>
              <a:latin typeface="Arial"/>
            </a:endParaRPr>
          </a:p>
        </p:txBody>
      </p:sp>
      <p:sp>
        <p:nvSpPr>
          <p:cNvPr id="1872902002" name="Text 3"/>
          <p:cNvSpPr/>
          <p:nvPr/>
        </p:nvSpPr>
        <p:spPr bwMode="auto">
          <a:xfrm>
            <a:off x="609480" y="1228680"/>
            <a:ext cx="11005200" cy="61992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2000"/>
              </a:lnSpc>
              <a:tabLst>
                <a:tab pos="0" algn="l"/>
              </a:tabLst>
              <a:defRPr/>
            </a:pPr>
            <a:r>
              <a:rPr lang="en-US" sz="4500" b="1" strike="noStrike" spc="-46">
                <a:solidFill>
                  <a:srgbClr val="2E2E2E"/>
                </a:solidFill>
                <a:latin typeface="Sora"/>
                <a:ea typeface="Sora"/>
              </a:rPr>
              <a:t>Five layers, staged over three years</a:t>
            </a:r>
            <a:endParaRPr lang="en-US" sz="4500" b="0" strike="noStrike" spc="-1">
              <a:solidFill>
                <a:srgbClr val="000000"/>
              </a:solidFill>
              <a:latin typeface="Arial"/>
            </a:endParaRPr>
          </a:p>
        </p:txBody>
      </p:sp>
      <p:sp>
        <p:nvSpPr>
          <p:cNvPr id="50930612" name="Text 4"/>
          <p:cNvSpPr/>
          <p:nvPr/>
        </p:nvSpPr>
        <p:spPr bwMode="auto">
          <a:xfrm>
            <a:off x="609480" y="1887840"/>
            <a:ext cx="11005200" cy="389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strike="noStrike" spc="-1">
                <a:solidFill>
                  <a:srgbClr val="6E7174"/>
                </a:solidFill>
                <a:latin typeface="Noto Sans JP"/>
                <a:ea typeface="Noto Sans JP"/>
              </a:rPr>
              <a:t>五層の資金 — 単一財源に依存しない。</a:t>
            </a:r>
            <a:endParaRPr lang="en-US" sz="1900" b="0" strike="noStrike" spc="-1">
              <a:solidFill>
                <a:srgbClr val="000000"/>
              </a:solidFill>
              <a:latin typeface="Arial"/>
            </a:endParaRPr>
          </a:p>
        </p:txBody>
      </p:sp>
      <p:sp>
        <p:nvSpPr>
          <p:cNvPr id="309348911" name="Text 5"/>
          <p:cNvSpPr/>
          <p:nvPr/>
        </p:nvSpPr>
        <p:spPr bwMode="auto">
          <a:xfrm>
            <a:off x="14694840" y="1468800"/>
            <a:ext cx="298260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34">
                <a:solidFill>
                  <a:srgbClr val="A9ABAE"/>
                </a:solidFill>
                <a:latin typeface="Open Sans"/>
                <a:ea typeface="Open Sans"/>
              </a:rPr>
              <a:t>YEAR 1 → YEAR 3</a:t>
            </a:r>
            <a:endParaRPr lang="en-US" sz="1150" b="0" strike="noStrike" spc="-1">
              <a:solidFill>
                <a:srgbClr val="000000"/>
              </a:solidFill>
              <a:latin typeface="Arial"/>
            </a:endParaRPr>
          </a:p>
        </p:txBody>
      </p:sp>
      <p:sp>
        <p:nvSpPr>
          <p:cNvPr id="2012362130" name="Text 6"/>
          <p:cNvSpPr/>
          <p:nvPr/>
        </p:nvSpPr>
        <p:spPr bwMode="auto">
          <a:xfrm>
            <a:off x="14694840" y="1697400"/>
            <a:ext cx="2982600" cy="5227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3000" b="1" strike="noStrike" spc="-1">
                <a:solidFill>
                  <a:srgbClr val="2E2E2E"/>
                </a:solidFill>
                <a:latin typeface="Sora"/>
                <a:ea typeface="Sora"/>
              </a:rPr>
              <a:t>¥11M </a:t>
            </a:r>
            <a:r>
              <a:rPr lang="en-US" sz="3000" b="1" strike="noStrike" spc="-1">
                <a:solidFill>
                  <a:srgbClr val="E58520"/>
                </a:solidFill>
                <a:latin typeface="Sora"/>
                <a:ea typeface="Sora"/>
              </a:rPr>
              <a:t>→ </a:t>
            </a:r>
            <a:r>
              <a:rPr lang="en-US" sz="3000" b="1" strike="noStrike" spc="-1">
                <a:solidFill>
                  <a:srgbClr val="2E2E2E"/>
                </a:solidFill>
                <a:latin typeface="Sora"/>
                <a:ea typeface="Sora"/>
              </a:rPr>
              <a:t>¥134M</a:t>
            </a:r>
            <a:endParaRPr lang="en-US" sz="3000" b="0" strike="noStrike" spc="-1">
              <a:solidFill>
                <a:srgbClr val="000000"/>
              </a:solidFill>
              <a:latin typeface="Arial"/>
            </a:endParaRPr>
          </a:p>
        </p:txBody>
      </p:sp>
      <p:sp>
        <p:nvSpPr>
          <p:cNvPr id="1262209064" name="Shape 7"/>
          <p:cNvSpPr/>
          <p:nvPr/>
        </p:nvSpPr>
        <p:spPr bwMode="auto">
          <a:xfrm>
            <a:off x="609480" y="4558680"/>
            <a:ext cx="17067600" cy="18000"/>
          </a:xfrm>
          <a:prstGeom prst="rect">
            <a:avLst/>
          </a:prstGeom>
          <a:solidFill>
            <a:srgbClr val="2E2E2E"/>
          </a:solidFill>
          <a:ln w="0">
            <a:noFill/>
          </a:ln>
        </p:spPr>
        <p:style>
          <a:lnRef idx="0"/>
          <a:fillRef idx="0"/>
          <a:effectRef idx="0"/>
          <a:fontRef idx="minor"/>
        </p:style>
        <p:txBody>
          <a:bodyPr lIns="90000" tIns="-25920" rIns="90000" bIns="-25920" anchor="t">
            <a:noAutofit/>
          </a:bodyPr>
          <a:p>
            <a:pPr>
              <a:lnSpc>
                <a:spcPct val="100000"/>
              </a:lnSpc>
              <a:defRPr/>
            </a:pPr>
            <a:endParaRPr lang="en-US" sz="1800" b="0" strike="noStrike" spc="-1">
              <a:solidFill>
                <a:srgbClr val="FFFFFF"/>
              </a:solidFill>
              <a:latin typeface="Arial"/>
              <a:ea typeface="Arial"/>
            </a:endParaRPr>
          </a:p>
        </p:txBody>
      </p:sp>
      <p:sp>
        <p:nvSpPr>
          <p:cNvPr id="1007282919" name="Text 8"/>
          <p:cNvSpPr/>
          <p:nvPr/>
        </p:nvSpPr>
        <p:spPr bwMode="auto">
          <a:xfrm>
            <a:off x="1390680" y="4206240"/>
            <a:ext cx="11775600" cy="255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strike="noStrike" spc="110">
                <a:solidFill>
                  <a:srgbClr val="A9ABAE"/>
                </a:solidFill>
                <a:latin typeface="Open Sans"/>
                <a:ea typeface="Open Sans"/>
              </a:rPr>
              <a:t>SOURCE · </a:t>
            </a:r>
            <a:r>
              <a:rPr lang="zh-CN" sz="1150" b="1" strike="noStrike" spc="110">
                <a:solidFill>
                  <a:srgbClr val="A9ABAE"/>
                </a:solidFill>
                <a:latin typeface="Open Sans"/>
                <a:ea typeface="Open Sans"/>
              </a:rPr>
              <a:t>財源</a:t>
            </a:r>
            <a:endParaRPr lang="en-US" sz="1150" b="0" strike="noStrike" spc="-1">
              <a:solidFill>
                <a:srgbClr val="000000"/>
              </a:solidFill>
              <a:latin typeface="Arial"/>
            </a:endParaRPr>
          </a:p>
        </p:txBody>
      </p:sp>
      <p:sp>
        <p:nvSpPr>
          <p:cNvPr id="1502758533" name="Text 9"/>
          <p:cNvSpPr/>
          <p:nvPr/>
        </p:nvSpPr>
        <p:spPr bwMode="auto">
          <a:xfrm>
            <a:off x="14468400" y="4220640"/>
            <a:ext cx="157068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10">
                <a:solidFill>
                  <a:srgbClr val="A9ABAE"/>
                </a:solidFill>
                <a:latin typeface="Open Sans"/>
                <a:ea typeface="Open Sans"/>
              </a:rPr>
              <a:t>YEAR 1</a:t>
            </a:r>
            <a:endParaRPr lang="en-US" sz="1150" b="0" strike="noStrike" spc="-1">
              <a:solidFill>
                <a:srgbClr val="000000"/>
              </a:solidFill>
              <a:latin typeface="Arial"/>
            </a:endParaRPr>
          </a:p>
        </p:txBody>
      </p:sp>
      <p:sp>
        <p:nvSpPr>
          <p:cNvPr id="574944300" name="Text 10"/>
          <p:cNvSpPr/>
          <p:nvPr/>
        </p:nvSpPr>
        <p:spPr bwMode="auto">
          <a:xfrm>
            <a:off x="16106760" y="4220640"/>
            <a:ext cx="1570680" cy="2275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strike="noStrike" spc="110">
                <a:solidFill>
                  <a:srgbClr val="A9ABAE"/>
                </a:solidFill>
                <a:latin typeface="Open Sans"/>
                <a:ea typeface="Open Sans"/>
              </a:rPr>
              <a:t>YEAR 3</a:t>
            </a:r>
            <a:endParaRPr lang="en-US" sz="1150" b="0" strike="noStrike" spc="-1">
              <a:solidFill>
                <a:srgbClr val="000000"/>
              </a:solidFill>
              <a:latin typeface="Arial"/>
            </a:endParaRPr>
          </a:p>
        </p:txBody>
      </p:sp>
      <p:sp>
        <p:nvSpPr>
          <p:cNvPr id="2042113245" name="Shape 11"/>
          <p:cNvSpPr/>
          <p:nvPr/>
        </p:nvSpPr>
        <p:spPr bwMode="auto">
          <a:xfrm>
            <a:off x="609480" y="5187240"/>
            <a:ext cx="170676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814548293" name="Text 12"/>
          <p:cNvSpPr/>
          <p:nvPr/>
        </p:nvSpPr>
        <p:spPr bwMode="auto">
          <a:xfrm>
            <a:off x="609480" y="4782600"/>
            <a:ext cx="6465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
                <a:solidFill>
                  <a:srgbClr val="9B9DA0"/>
                </a:solidFill>
                <a:latin typeface="Sora"/>
                <a:ea typeface="Sora"/>
              </a:rPr>
              <a:t>L1</a:t>
            </a:r>
            <a:endParaRPr lang="en-US" sz="1200" b="0" strike="noStrike" spc="-1">
              <a:solidFill>
                <a:srgbClr val="000000"/>
              </a:solidFill>
              <a:latin typeface="Arial"/>
            </a:endParaRPr>
          </a:p>
        </p:txBody>
      </p:sp>
      <p:sp>
        <p:nvSpPr>
          <p:cNvPr id="734476354" name="Text 13"/>
          <p:cNvSpPr/>
          <p:nvPr/>
        </p:nvSpPr>
        <p:spPr bwMode="auto">
          <a:xfrm>
            <a:off x="1390680" y="4739760"/>
            <a:ext cx="1177560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2E2E2E"/>
                </a:solidFill>
                <a:latin typeface="Open Sans"/>
                <a:ea typeface="Open Sans"/>
              </a:rPr>
              <a:t>Founder / private capital </a:t>
            </a:r>
            <a:r>
              <a:rPr lang="zh-CN" sz="1200" b="1" strike="noStrike" spc="-1">
                <a:solidFill>
                  <a:srgbClr val="9B9DA0"/>
                </a:solidFill>
                <a:latin typeface="Noto Sans JP"/>
                <a:ea typeface="Noto Sans JP"/>
              </a:rPr>
              <a:t>自己資金</a:t>
            </a:r>
            <a:endParaRPr lang="en-US" sz="1200" b="0" strike="noStrike" spc="-1">
              <a:solidFill>
                <a:srgbClr val="000000"/>
              </a:solidFill>
              <a:latin typeface="Arial"/>
            </a:endParaRPr>
          </a:p>
        </p:txBody>
      </p:sp>
      <p:sp>
        <p:nvSpPr>
          <p:cNvPr id="454109794" name="Shape 14"/>
          <p:cNvSpPr/>
          <p:nvPr/>
        </p:nvSpPr>
        <p:spPr bwMode="auto">
          <a:xfrm>
            <a:off x="12306240" y="4815720"/>
            <a:ext cx="2094480" cy="13212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562054507" name="Shape 15"/>
          <p:cNvSpPr/>
          <p:nvPr/>
        </p:nvSpPr>
        <p:spPr bwMode="auto">
          <a:xfrm>
            <a:off x="12306240" y="4815720"/>
            <a:ext cx="166680" cy="132120"/>
          </a:xfrm>
          <a:prstGeom prst="rect">
            <a:avLst/>
          </a:prstGeom>
          <a:solidFill>
            <a:srgbClr val="C7C9CB"/>
          </a:solidFill>
          <a:ln w="0">
            <a:noFill/>
          </a:ln>
        </p:spPr>
        <p:style>
          <a:lnRef idx="0"/>
          <a:fillRef idx="0"/>
          <a:effectRef idx="0"/>
          <a:fontRef idx="minor"/>
        </p:style>
        <p:txBody>
          <a:bodyPr lIns="83520" tIns="45000" rIns="83520" bIns="45000" anchor="t">
            <a:noAutofit/>
          </a:bodyPr>
          <a:p>
            <a:pPr>
              <a:lnSpc>
                <a:spcPct val="100000"/>
              </a:lnSpc>
              <a:defRPr/>
            </a:pPr>
            <a:endParaRPr lang="en-US" sz="1800" b="0" strike="noStrike" spc="-1">
              <a:solidFill>
                <a:srgbClr val="000000"/>
              </a:solidFill>
              <a:latin typeface="Arial"/>
              <a:ea typeface="Arial"/>
            </a:endParaRPr>
          </a:p>
        </p:txBody>
      </p:sp>
      <p:sp>
        <p:nvSpPr>
          <p:cNvPr id="1695047461" name="Text 16"/>
          <p:cNvSpPr/>
          <p:nvPr/>
        </p:nvSpPr>
        <p:spPr bwMode="auto">
          <a:xfrm>
            <a:off x="14468400" y="4753800"/>
            <a:ext cx="1570680" cy="2941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strike="noStrike" spc="-1">
                <a:solidFill>
                  <a:srgbClr val="6E7174"/>
                </a:solidFill>
                <a:latin typeface="Open Sans"/>
                <a:ea typeface="Open Sans"/>
              </a:rPr>
              <a:t>¥3M</a:t>
            </a:r>
            <a:endParaRPr lang="en-US" sz="1500" b="0" strike="noStrike" spc="-1">
              <a:solidFill>
                <a:srgbClr val="000000"/>
              </a:solidFill>
              <a:latin typeface="Arial"/>
            </a:endParaRPr>
          </a:p>
        </p:txBody>
      </p:sp>
      <p:sp>
        <p:nvSpPr>
          <p:cNvPr id="719303933" name="Text 17"/>
          <p:cNvSpPr/>
          <p:nvPr/>
        </p:nvSpPr>
        <p:spPr bwMode="auto">
          <a:xfrm>
            <a:off x="16106760" y="4739760"/>
            <a:ext cx="1570680" cy="3229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strike="noStrike" spc="-1">
                <a:solidFill>
                  <a:srgbClr val="2E2E2E"/>
                </a:solidFill>
                <a:latin typeface="Open Sans"/>
                <a:ea typeface="Open Sans"/>
              </a:rPr>
              <a:t>¥1M</a:t>
            </a:r>
            <a:endParaRPr lang="en-US" sz="1650" b="0" strike="noStrike" spc="-1">
              <a:solidFill>
                <a:srgbClr val="000000"/>
              </a:solidFill>
              <a:latin typeface="Arial"/>
            </a:endParaRPr>
          </a:p>
        </p:txBody>
      </p:sp>
      <p:sp>
        <p:nvSpPr>
          <p:cNvPr id="1409033928" name="Shape 18"/>
          <p:cNvSpPr/>
          <p:nvPr/>
        </p:nvSpPr>
        <p:spPr bwMode="auto">
          <a:xfrm>
            <a:off x="609480" y="5806440"/>
            <a:ext cx="170676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793836462" name="Text 19"/>
          <p:cNvSpPr/>
          <p:nvPr/>
        </p:nvSpPr>
        <p:spPr bwMode="auto">
          <a:xfrm>
            <a:off x="609480" y="5401800"/>
            <a:ext cx="6465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
                <a:solidFill>
                  <a:srgbClr val="9B9DA0"/>
                </a:solidFill>
                <a:latin typeface="Sora"/>
                <a:ea typeface="Sora"/>
              </a:rPr>
              <a:t>L2</a:t>
            </a:r>
            <a:endParaRPr lang="en-US" sz="1200" b="0" strike="noStrike" spc="-1">
              <a:solidFill>
                <a:srgbClr val="000000"/>
              </a:solidFill>
              <a:latin typeface="Arial"/>
            </a:endParaRPr>
          </a:p>
        </p:txBody>
      </p:sp>
      <p:sp>
        <p:nvSpPr>
          <p:cNvPr id="99311133" name="Text 20"/>
          <p:cNvSpPr/>
          <p:nvPr/>
        </p:nvSpPr>
        <p:spPr bwMode="auto">
          <a:xfrm>
            <a:off x="1390680" y="5358600"/>
            <a:ext cx="1177560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2E2E2E"/>
                </a:solidFill>
                <a:latin typeface="Open Sans"/>
                <a:ea typeface="Open Sans"/>
              </a:rPr>
              <a:t>Government grants </a:t>
            </a:r>
            <a:r>
              <a:rPr lang="zh-CN" sz="1200" b="1" strike="noStrike" spc="-1">
                <a:solidFill>
                  <a:srgbClr val="9B9DA0"/>
                </a:solidFill>
                <a:latin typeface="Noto Sans JP"/>
                <a:ea typeface="Noto Sans JP"/>
              </a:rPr>
              <a:t>補助金（</a:t>
            </a:r>
            <a:r>
              <a:rPr lang="en-US" sz="1200" b="1" strike="noStrike" spc="-1">
                <a:solidFill>
                  <a:srgbClr val="9B9DA0"/>
                </a:solidFill>
                <a:latin typeface="Noto Sans JP"/>
                <a:ea typeface="Noto Sans JP"/>
              </a:rPr>
              <a:t>NEDO</a:t>
            </a:r>
            <a:r>
              <a:rPr lang="zh-CN" sz="1200" b="1" strike="noStrike" spc="-1">
                <a:solidFill>
                  <a:srgbClr val="9B9DA0"/>
                </a:solidFill>
                <a:latin typeface="Noto Sans JP"/>
                <a:ea typeface="Noto Sans JP"/>
              </a:rPr>
              <a:t>・</a:t>
            </a:r>
            <a:r>
              <a:rPr lang="en-US" sz="1200" b="1" strike="noStrike" spc="-1">
                <a:solidFill>
                  <a:srgbClr val="9B9DA0"/>
                </a:solidFill>
                <a:latin typeface="Noto Sans JP"/>
                <a:ea typeface="Noto Sans JP"/>
              </a:rPr>
              <a:t>METI</a:t>
            </a:r>
            <a:r>
              <a:rPr lang="zh-CN" sz="1200" b="1" strike="noStrike" spc="-1">
                <a:solidFill>
                  <a:srgbClr val="9B9DA0"/>
                </a:solidFill>
                <a:latin typeface="Noto Sans JP"/>
                <a:ea typeface="Noto Sans JP"/>
              </a:rPr>
              <a:t>・奈良県・村）</a:t>
            </a:r>
            <a:endParaRPr lang="en-US" sz="1200" b="0" strike="noStrike" spc="-1">
              <a:solidFill>
                <a:srgbClr val="000000"/>
              </a:solidFill>
              <a:latin typeface="Arial"/>
            </a:endParaRPr>
          </a:p>
        </p:txBody>
      </p:sp>
      <p:sp>
        <p:nvSpPr>
          <p:cNvPr id="1390420600" name="Shape 21"/>
          <p:cNvSpPr/>
          <p:nvPr/>
        </p:nvSpPr>
        <p:spPr bwMode="auto">
          <a:xfrm>
            <a:off x="12306240" y="5434920"/>
            <a:ext cx="2094480" cy="13212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73966268" name="Shape 22"/>
          <p:cNvSpPr/>
          <p:nvPr/>
        </p:nvSpPr>
        <p:spPr bwMode="auto">
          <a:xfrm>
            <a:off x="12306240" y="5434920"/>
            <a:ext cx="1256400" cy="13212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792891832" name="Text 23"/>
          <p:cNvSpPr/>
          <p:nvPr/>
        </p:nvSpPr>
        <p:spPr bwMode="auto">
          <a:xfrm>
            <a:off x="14468400" y="5373000"/>
            <a:ext cx="1570680" cy="2941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strike="noStrike" spc="-1">
                <a:solidFill>
                  <a:srgbClr val="6E7174"/>
                </a:solidFill>
                <a:latin typeface="Open Sans"/>
                <a:ea typeface="Open Sans"/>
              </a:rPr>
              <a:t>¥5M</a:t>
            </a:r>
            <a:endParaRPr lang="en-US" sz="1500" b="0" strike="noStrike" spc="-1">
              <a:solidFill>
                <a:srgbClr val="000000"/>
              </a:solidFill>
              <a:latin typeface="Arial"/>
            </a:endParaRPr>
          </a:p>
        </p:txBody>
      </p:sp>
      <p:sp>
        <p:nvSpPr>
          <p:cNvPr id="851245659" name="Text 24"/>
          <p:cNvSpPr/>
          <p:nvPr/>
        </p:nvSpPr>
        <p:spPr bwMode="auto">
          <a:xfrm>
            <a:off x="16106760" y="5358600"/>
            <a:ext cx="1570680" cy="3229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strike="noStrike" spc="-1">
                <a:solidFill>
                  <a:srgbClr val="C26A12"/>
                </a:solidFill>
                <a:latin typeface="Open Sans"/>
                <a:ea typeface="Open Sans"/>
              </a:rPr>
              <a:t>¥80M</a:t>
            </a:r>
            <a:endParaRPr lang="en-US" sz="1650" b="0" strike="noStrike" spc="-1">
              <a:solidFill>
                <a:srgbClr val="000000"/>
              </a:solidFill>
              <a:latin typeface="Arial"/>
            </a:endParaRPr>
          </a:p>
        </p:txBody>
      </p:sp>
      <p:sp>
        <p:nvSpPr>
          <p:cNvPr id="1426408765" name="Shape 25"/>
          <p:cNvSpPr/>
          <p:nvPr/>
        </p:nvSpPr>
        <p:spPr bwMode="auto">
          <a:xfrm>
            <a:off x="609480" y="6425640"/>
            <a:ext cx="170676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531647307" name="Text 26"/>
          <p:cNvSpPr/>
          <p:nvPr/>
        </p:nvSpPr>
        <p:spPr bwMode="auto">
          <a:xfrm>
            <a:off x="609480" y="6020640"/>
            <a:ext cx="6465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
                <a:solidFill>
                  <a:srgbClr val="9B9DA0"/>
                </a:solidFill>
                <a:latin typeface="Sora"/>
                <a:ea typeface="Sora"/>
              </a:rPr>
              <a:t>L3</a:t>
            </a:r>
            <a:endParaRPr lang="en-US" sz="1200" b="0" strike="noStrike" spc="-1">
              <a:solidFill>
                <a:srgbClr val="000000"/>
              </a:solidFill>
              <a:latin typeface="Arial"/>
            </a:endParaRPr>
          </a:p>
        </p:txBody>
      </p:sp>
      <p:sp>
        <p:nvSpPr>
          <p:cNvPr id="53751183" name="Text 27"/>
          <p:cNvSpPr/>
          <p:nvPr/>
        </p:nvSpPr>
        <p:spPr bwMode="auto">
          <a:xfrm>
            <a:off x="1390680" y="5977800"/>
            <a:ext cx="1177560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2E2E2E"/>
                </a:solidFill>
                <a:latin typeface="Open Sans"/>
                <a:ea typeface="Open Sans"/>
              </a:rPr>
              <a:t>Foundations </a:t>
            </a:r>
            <a:r>
              <a:rPr lang="zh-CN" sz="1200" b="1" strike="noStrike" spc="-1">
                <a:solidFill>
                  <a:srgbClr val="9B9DA0"/>
                </a:solidFill>
                <a:latin typeface="Noto Sans JP"/>
                <a:ea typeface="Noto Sans JP"/>
              </a:rPr>
              <a:t>財団（日本財団 ほか）</a:t>
            </a:r>
            <a:endParaRPr lang="en-US" sz="1200" b="0" strike="noStrike" spc="-1">
              <a:solidFill>
                <a:srgbClr val="000000"/>
              </a:solidFill>
              <a:latin typeface="Arial"/>
            </a:endParaRPr>
          </a:p>
        </p:txBody>
      </p:sp>
      <p:sp>
        <p:nvSpPr>
          <p:cNvPr id="1040074179" name="Shape 28"/>
          <p:cNvSpPr/>
          <p:nvPr/>
        </p:nvSpPr>
        <p:spPr bwMode="auto">
          <a:xfrm>
            <a:off x="12306240" y="6054120"/>
            <a:ext cx="2094480" cy="13212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982171373" name="Shape 29"/>
          <p:cNvSpPr/>
          <p:nvPr/>
        </p:nvSpPr>
        <p:spPr bwMode="auto">
          <a:xfrm>
            <a:off x="12306240" y="6054120"/>
            <a:ext cx="313200" cy="13212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738807032" name="Text 30"/>
          <p:cNvSpPr/>
          <p:nvPr/>
        </p:nvSpPr>
        <p:spPr bwMode="auto">
          <a:xfrm>
            <a:off x="14468400" y="5992200"/>
            <a:ext cx="1570680" cy="2941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strike="noStrike" spc="-1">
                <a:solidFill>
                  <a:srgbClr val="6E7174"/>
                </a:solidFill>
                <a:latin typeface="Open Sans"/>
                <a:ea typeface="Open Sans"/>
              </a:rPr>
              <a:t>¥3M</a:t>
            </a:r>
            <a:endParaRPr lang="en-US" sz="1500" b="0" strike="noStrike" spc="-1">
              <a:solidFill>
                <a:srgbClr val="000000"/>
              </a:solidFill>
              <a:latin typeface="Arial"/>
            </a:endParaRPr>
          </a:p>
        </p:txBody>
      </p:sp>
      <p:sp>
        <p:nvSpPr>
          <p:cNvPr id="1272314902" name="Text 31"/>
          <p:cNvSpPr/>
          <p:nvPr/>
        </p:nvSpPr>
        <p:spPr bwMode="auto">
          <a:xfrm>
            <a:off x="16106760" y="5977800"/>
            <a:ext cx="1570680" cy="3229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strike="noStrike" spc="-1">
                <a:solidFill>
                  <a:srgbClr val="2E2E2E"/>
                </a:solidFill>
                <a:latin typeface="Open Sans"/>
                <a:ea typeface="Open Sans"/>
              </a:rPr>
              <a:t>¥20M</a:t>
            </a:r>
            <a:endParaRPr lang="en-US" sz="1650" b="0" strike="noStrike" spc="-1">
              <a:solidFill>
                <a:srgbClr val="000000"/>
              </a:solidFill>
              <a:latin typeface="Arial"/>
            </a:endParaRPr>
          </a:p>
        </p:txBody>
      </p:sp>
      <p:sp>
        <p:nvSpPr>
          <p:cNvPr id="2131726225" name="Shape 32"/>
          <p:cNvSpPr/>
          <p:nvPr/>
        </p:nvSpPr>
        <p:spPr bwMode="auto">
          <a:xfrm>
            <a:off x="609480" y="7044840"/>
            <a:ext cx="170676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296101395" name="Text 33"/>
          <p:cNvSpPr/>
          <p:nvPr/>
        </p:nvSpPr>
        <p:spPr bwMode="auto">
          <a:xfrm>
            <a:off x="609480" y="6639840"/>
            <a:ext cx="6465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
                <a:solidFill>
                  <a:srgbClr val="9B9DA0"/>
                </a:solidFill>
                <a:latin typeface="Sora"/>
                <a:ea typeface="Sora"/>
              </a:rPr>
              <a:t>L4</a:t>
            </a:r>
            <a:endParaRPr lang="en-US" sz="1200" b="0" strike="noStrike" spc="-1">
              <a:solidFill>
                <a:srgbClr val="000000"/>
              </a:solidFill>
              <a:latin typeface="Arial"/>
            </a:endParaRPr>
          </a:p>
        </p:txBody>
      </p:sp>
      <p:sp>
        <p:nvSpPr>
          <p:cNvPr id="192105215" name="Text 34"/>
          <p:cNvSpPr/>
          <p:nvPr/>
        </p:nvSpPr>
        <p:spPr bwMode="auto">
          <a:xfrm>
            <a:off x="1390680" y="6597000"/>
            <a:ext cx="1177560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2E2E2E"/>
                </a:solidFill>
                <a:latin typeface="Open Sans"/>
                <a:ea typeface="Open Sans"/>
              </a:rPr>
              <a:t>Corporate partnerships </a:t>
            </a:r>
            <a:r>
              <a:rPr lang="zh-CN" sz="1200" b="1" strike="noStrike" spc="-1">
                <a:solidFill>
                  <a:srgbClr val="9B9DA0"/>
                </a:solidFill>
                <a:latin typeface="Noto Sans JP"/>
                <a:ea typeface="Noto Sans JP"/>
              </a:rPr>
              <a:t>企業連携（</a:t>
            </a:r>
            <a:r>
              <a:rPr lang="en-US" sz="1200" b="1" strike="noStrike" spc="-1">
                <a:solidFill>
                  <a:srgbClr val="9B9DA0"/>
                </a:solidFill>
                <a:latin typeface="Noto Sans JP"/>
                <a:ea typeface="Noto Sans JP"/>
              </a:rPr>
              <a:t>CSR</a:t>
            </a:r>
            <a:r>
              <a:rPr lang="zh-CN" sz="1200" b="1" strike="noStrike" spc="-1">
                <a:solidFill>
                  <a:srgbClr val="9B9DA0"/>
                </a:solidFill>
                <a:latin typeface="Noto Sans JP"/>
                <a:ea typeface="Noto Sans JP"/>
              </a:rPr>
              <a:t>・蘭日）</a:t>
            </a:r>
            <a:endParaRPr lang="en-US" sz="1200" b="0" strike="noStrike" spc="-1">
              <a:solidFill>
                <a:srgbClr val="000000"/>
              </a:solidFill>
              <a:latin typeface="Arial"/>
            </a:endParaRPr>
          </a:p>
        </p:txBody>
      </p:sp>
      <p:sp>
        <p:nvSpPr>
          <p:cNvPr id="2013007175" name="Shape 35"/>
          <p:cNvSpPr/>
          <p:nvPr/>
        </p:nvSpPr>
        <p:spPr bwMode="auto">
          <a:xfrm>
            <a:off x="12306240" y="6673320"/>
            <a:ext cx="2094480" cy="13212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626714364" name="Shape 36"/>
          <p:cNvSpPr/>
          <p:nvPr/>
        </p:nvSpPr>
        <p:spPr bwMode="auto">
          <a:xfrm>
            <a:off x="12306240" y="6673320"/>
            <a:ext cx="460080" cy="132120"/>
          </a:xfrm>
          <a:prstGeom prst="rect">
            <a:avLst/>
          </a:prstGeom>
          <a:solidFill>
            <a:srgbClr val="C7C9CB"/>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759946069" name="Text 37"/>
          <p:cNvSpPr/>
          <p:nvPr/>
        </p:nvSpPr>
        <p:spPr bwMode="auto">
          <a:xfrm>
            <a:off x="14468400" y="6611400"/>
            <a:ext cx="1570680" cy="2941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strike="noStrike" spc="-1">
                <a:solidFill>
                  <a:srgbClr val="6E7174"/>
                </a:solidFill>
                <a:latin typeface="Open Sans"/>
                <a:ea typeface="Open Sans"/>
              </a:rPr>
              <a:t>—</a:t>
            </a:r>
            <a:endParaRPr lang="en-US" sz="1500" b="0" strike="noStrike" spc="-1">
              <a:solidFill>
                <a:srgbClr val="000000"/>
              </a:solidFill>
              <a:latin typeface="Arial"/>
            </a:endParaRPr>
          </a:p>
        </p:txBody>
      </p:sp>
      <p:sp>
        <p:nvSpPr>
          <p:cNvPr id="531688187" name="Text 38"/>
          <p:cNvSpPr/>
          <p:nvPr/>
        </p:nvSpPr>
        <p:spPr bwMode="auto">
          <a:xfrm>
            <a:off x="16106760" y="6597000"/>
            <a:ext cx="1570680" cy="3229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strike="noStrike" spc="-1">
                <a:solidFill>
                  <a:srgbClr val="2E2E2E"/>
                </a:solidFill>
                <a:latin typeface="Open Sans"/>
                <a:ea typeface="Open Sans"/>
              </a:rPr>
              <a:t>¥30M</a:t>
            </a:r>
            <a:endParaRPr lang="en-US" sz="1650" b="0" strike="noStrike" spc="-1">
              <a:solidFill>
                <a:srgbClr val="000000"/>
              </a:solidFill>
              <a:latin typeface="Arial"/>
            </a:endParaRPr>
          </a:p>
        </p:txBody>
      </p:sp>
      <p:sp>
        <p:nvSpPr>
          <p:cNvPr id="427778547" name="Shape 39"/>
          <p:cNvSpPr/>
          <p:nvPr/>
        </p:nvSpPr>
        <p:spPr bwMode="auto">
          <a:xfrm>
            <a:off x="609480" y="7663680"/>
            <a:ext cx="17067600" cy="8280"/>
          </a:xfrm>
          <a:prstGeom prst="rect">
            <a:avLst/>
          </a:prstGeom>
          <a:solidFill>
            <a:srgbClr val="E6E6E2"/>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000000"/>
              </a:solidFill>
              <a:latin typeface="Arial"/>
              <a:ea typeface="Arial"/>
            </a:endParaRPr>
          </a:p>
        </p:txBody>
      </p:sp>
      <p:sp>
        <p:nvSpPr>
          <p:cNvPr id="1365038665" name="Text 40"/>
          <p:cNvSpPr/>
          <p:nvPr/>
        </p:nvSpPr>
        <p:spPr bwMode="auto">
          <a:xfrm>
            <a:off x="609480" y="7259039"/>
            <a:ext cx="646560" cy="236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
                <a:solidFill>
                  <a:srgbClr val="E58520"/>
                </a:solidFill>
                <a:latin typeface="Sora"/>
                <a:ea typeface="Sora"/>
              </a:rPr>
              <a:t>L5</a:t>
            </a:r>
            <a:endParaRPr lang="en-US" sz="1200" b="0" strike="noStrike" spc="-1">
              <a:solidFill>
                <a:srgbClr val="000000"/>
              </a:solidFill>
              <a:latin typeface="Arial"/>
            </a:endParaRPr>
          </a:p>
        </p:txBody>
      </p:sp>
      <p:sp>
        <p:nvSpPr>
          <p:cNvPr id="1991244574" name="Text 41"/>
          <p:cNvSpPr/>
          <p:nvPr/>
        </p:nvSpPr>
        <p:spPr bwMode="auto">
          <a:xfrm>
            <a:off x="1390680" y="7216200"/>
            <a:ext cx="1177560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strike="noStrike" spc="-1">
                <a:solidFill>
                  <a:srgbClr val="2E2E2E"/>
                </a:solidFill>
                <a:latin typeface="Open Sans"/>
                <a:ea typeface="Open Sans"/>
              </a:rPr>
              <a:t>Operating revenue </a:t>
            </a:r>
            <a:r>
              <a:rPr lang="zh-CN" sz="1200" b="1" strike="noStrike" spc="-1">
                <a:solidFill>
                  <a:srgbClr val="9B9DA0"/>
                </a:solidFill>
                <a:latin typeface="Noto Sans JP"/>
                <a:ea typeface="Noto Sans JP"/>
              </a:rPr>
              <a:t>事業収益（ホスティング・</a:t>
            </a:r>
            <a:r>
              <a:rPr lang="en-US" sz="1200" b="1" strike="noStrike" spc="-1">
                <a:solidFill>
                  <a:srgbClr val="9B9DA0"/>
                </a:solidFill>
                <a:latin typeface="Noto Sans JP"/>
                <a:ea typeface="Noto Sans JP"/>
              </a:rPr>
              <a:t>FIT</a:t>
            </a:r>
            <a:r>
              <a:rPr lang="zh-CN" sz="1200" b="1" strike="noStrike" spc="-1">
                <a:solidFill>
                  <a:srgbClr val="9B9DA0"/>
                </a:solidFill>
                <a:latin typeface="Noto Sans JP"/>
                <a:ea typeface="Noto Sans JP"/>
              </a:rPr>
              <a:t>・</a:t>
            </a:r>
            <a:r>
              <a:rPr lang="en-US" sz="1200" b="1" strike="noStrike" spc="-1">
                <a:solidFill>
                  <a:srgbClr val="9B9DA0"/>
                </a:solidFill>
                <a:latin typeface="Noto Sans JP"/>
                <a:ea typeface="Noto Sans JP"/>
              </a:rPr>
              <a:t>EV</a:t>
            </a:r>
            <a:r>
              <a:rPr lang="zh-CN" sz="1200" b="1" strike="noStrike" spc="-1">
                <a:solidFill>
                  <a:srgbClr val="9B9DA0"/>
                </a:solidFill>
                <a:latin typeface="Noto Sans JP"/>
                <a:ea typeface="Noto Sans JP"/>
              </a:rPr>
              <a:t>・</a:t>
            </a:r>
            <a:r>
              <a:rPr lang="en-US" sz="1200" b="1" strike="noStrike" spc="-1">
                <a:solidFill>
                  <a:srgbClr val="9B9DA0"/>
                </a:solidFill>
                <a:latin typeface="Noto Sans JP"/>
                <a:ea typeface="Noto Sans JP"/>
              </a:rPr>
              <a:t>J</a:t>
            </a:r>
            <a:r>
              <a:rPr lang="zh-CN" sz="1200" b="1" strike="noStrike" spc="-1">
                <a:solidFill>
                  <a:srgbClr val="9B9DA0"/>
                </a:solidFill>
                <a:latin typeface="Noto Sans JP"/>
                <a:ea typeface="Noto Sans JP"/>
              </a:rPr>
              <a:t>クレジット）</a:t>
            </a:r>
            <a:endParaRPr lang="en-US" sz="1200" b="0" strike="noStrike" spc="-1">
              <a:solidFill>
                <a:srgbClr val="000000"/>
              </a:solidFill>
              <a:latin typeface="Arial"/>
            </a:endParaRPr>
          </a:p>
        </p:txBody>
      </p:sp>
      <p:sp>
        <p:nvSpPr>
          <p:cNvPr id="248060950" name="Shape 42"/>
          <p:cNvSpPr/>
          <p:nvPr/>
        </p:nvSpPr>
        <p:spPr bwMode="auto">
          <a:xfrm>
            <a:off x="12306240" y="7292520"/>
            <a:ext cx="2094480" cy="132120"/>
          </a:xfrm>
          <a:prstGeom prst="rect">
            <a:avLst/>
          </a:prstGeom>
          <a:solidFill>
            <a:srgbClr val="F1F1EF"/>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351415994" name="Shape 43"/>
          <p:cNvSpPr/>
          <p:nvPr/>
        </p:nvSpPr>
        <p:spPr bwMode="auto">
          <a:xfrm>
            <a:off x="12306240" y="7292520"/>
            <a:ext cx="61920" cy="132120"/>
          </a:xfrm>
          <a:prstGeom prst="rect">
            <a:avLst/>
          </a:prstGeom>
          <a:solidFill>
            <a:srgbClr val="C7C9CB"/>
          </a:solidFill>
          <a:ln w="0">
            <a:noFill/>
          </a:ln>
        </p:spPr>
        <p:style>
          <a:lnRef idx="0"/>
          <a:fillRef idx="0"/>
          <a:effectRef idx="0"/>
          <a:fontRef idx="minor"/>
        </p:style>
        <p:txBody>
          <a:bodyPr lIns="31320" tIns="45000" rIns="31320" bIns="45000" anchor="t">
            <a:noAutofit/>
          </a:bodyPr>
          <a:p>
            <a:pPr>
              <a:lnSpc>
                <a:spcPct val="100000"/>
              </a:lnSpc>
              <a:defRPr/>
            </a:pPr>
            <a:endParaRPr lang="en-US" sz="1800" b="0" strike="noStrike" spc="-1">
              <a:solidFill>
                <a:srgbClr val="000000"/>
              </a:solidFill>
              <a:latin typeface="Arial"/>
              <a:ea typeface="Arial"/>
            </a:endParaRPr>
          </a:p>
        </p:txBody>
      </p:sp>
      <p:sp>
        <p:nvSpPr>
          <p:cNvPr id="1881222320" name="Text 44"/>
          <p:cNvSpPr/>
          <p:nvPr/>
        </p:nvSpPr>
        <p:spPr bwMode="auto">
          <a:xfrm>
            <a:off x="14468400" y="7230600"/>
            <a:ext cx="1570680" cy="2941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strike="noStrike" spc="-1">
                <a:solidFill>
                  <a:srgbClr val="6E7174"/>
                </a:solidFill>
                <a:latin typeface="Open Sans"/>
                <a:ea typeface="Open Sans"/>
              </a:rPr>
              <a:t>—</a:t>
            </a:r>
            <a:endParaRPr lang="en-US" sz="1500" b="0" strike="noStrike" spc="-1">
              <a:solidFill>
                <a:srgbClr val="000000"/>
              </a:solidFill>
              <a:latin typeface="Arial"/>
            </a:endParaRPr>
          </a:p>
        </p:txBody>
      </p:sp>
      <p:sp>
        <p:nvSpPr>
          <p:cNvPr id="1657574003" name="Text 45"/>
          <p:cNvSpPr/>
          <p:nvPr/>
        </p:nvSpPr>
        <p:spPr bwMode="auto">
          <a:xfrm>
            <a:off x="16106760" y="7216200"/>
            <a:ext cx="1570680" cy="32292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strike="noStrike" spc="-1">
                <a:solidFill>
                  <a:srgbClr val="2E2E2E"/>
                </a:solidFill>
                <a:latin typeface="Open Sans"/>
                <a:ea typeface="Open Sans"/>
              </a:rPr>
              <a:t>¥3M</a:t>
            </a:r>
            <a:endParaRPr lang="en-US" sz="1650" b="0" strike="noStrike" spc="-1">
              <a:solidFill>
                <a:srgbClr val="000000"/>
              </a:solidFill>
              <a:latin typeface="Arial"/>
            </a:endParaRPr>
          </a:p>
        </p:txBody>
      </p:sp>
      <p:sp>
        <p:nvSpPr>
          <p:cNvPr id="1387712822" name="Text 46"/>
          <p:cNvSpPr/>
          <p:nvPr/>
        </p:nvSpPr>
        <p:spPr bwMode="auto">
          <a:xfrm>
            <a:off x="609480" y="9410760"/>
            <a:ext cx="18774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8">
                <a:solidFill>
                  <a:srgbClr val="A9ABAE"/>
                </a:solidFill>
                <a:latin typeface="Open Sans"/>
                <a:ea typeface="Open Sans"/>
              </a:rPr>
              <a:t>Illustrative planning targets, not commitments. Actual mix depends on grant outcomes &amp; partnerships in Phases 1–2. </a:t>
            </a:r>
            <a:r>
              <a:rPr lang="zh-CN" sz="1000" b="1" strike="noStrike" spc="18">
                <a:solidFill>
                  <a:srgbClr val="A9ABAE"/>
                </a:solidFill>
                <a:latin typeface="Open Sans"/>
                <a:ea typeface="Open Sans"/>
              </a:rPr>
              <a:t>計画上の目標値（確約ではない）。</a:t>
            </a:r>
            <a:endParaRPr lang="en-US" sz="10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E2E2E"/>
        </a:solidFill>
      </p:bgPr>
    </p:bg>
    <p:spTree>
      <p:nvGrpSpPr>
        <p:cNvPr id="1" name=""/>
        <p:cNvGrpSpPr/>
        <p:nvPr/>
      </p:nvGrpSpPr>
      <p:grpSpPr bwMode="auto">
        <a:xfrm>
          <a:off x="0" y="0"/>
          <a:ext cx="0" cy="0"/>
          <a:chOff x="0" y="0"/>
          <a:chExt cx="0" cy="0"/>
        </a:xfrm>
      </p:grpSpPr>
      <p:sp>
        <p:nvSpPr>
          <p:cNvPr id="1750693091" name="Shape 0"/>
          <p:cNvSpPr/>
          <p:nvPr/>
        </p:nvSpPr>
        <p:spPr bwMode="auto">
          <a:xfrm>
            <a:off x="0" y="0"/>
            <a:ext cx="18286920" cy="75240"/>
          </a:xfrm>
          <a:prstGeom prst="rect">
            <a:avLst/>
          </a:prstGeom>
          <a:solidFill>
            <a:srgbClr val="E5852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939577778"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77397385" name="Text 2"/>
          <p:cNvSpPr/>
          <p:nvPr/>
        </p:nvSpPr>
        <p:spPr bwMode="auto">
          <a:xfrm>
            <a:off x="1181160" y="800280"/>
            <a:ext cx="422316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LONG-TERM RETURN · </a:t>
            </a:r>
            <a:r>
              <a:rPr lang="zh-CN" sz="1300" b="1" strike="noStrike" spc="201">
                <a:solidFill>
                  <a:srgbClr val="9B9DA0"/>
                </a:solidFill>
                <a:latin typeface="Open Sans"/>
                <a:ea typeface="Open Sans"/>
              </a:rPr>
              <a:t>長期リターン </a:t>
            </a:r>
            <a:r>
              <a:rPr lang="en-US" sz="1300" b="1" strike="noStrike" spc="201">
                <a:solidFill>
                  <a:srgbClr val="9B9DA0"/>
                </a:solidFill>
                <a:latin typeface="Open Sans"/>
                <a:ea typeface="Open Sans"/>
              </a:rPr>
              <a:t>· 12</a:t>
            </a:r>
            <a:endParaRPr lang="en-US" sz="1300" b="0" strike="noStrike" spc="-1">
              <a:solidFill>
                <a:srgbClr val="FFFFFF"/>
              </a:solidFill>
              <a:latin typeface="Arial"/>
            </a:endParaRPr>
          </a:p>
        </p:txBody>
      </p:sp>
      <p:sp>
        <p:nvSpPr>
          <p:cNvPr id="709080571" name="Text 3"/>
          <p:cNvSpPr/>
          <p:nvPr/>
        </p:nvSpPr>
        <p:spPr bwMode="auto">
          <a:xfrm>
            <a:off x="609480" y="1228680"/>
            <a:ext cx="18774720" cy="64548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3000"/>
              </a:lnSpc>
              <a:tabLst>
                <a:tab pos="0" algn="l"/>
              </a:tabLst>
              <a:defRPr/>
            </a:pPr>
            <a:r>
              <a:rPr lang="en-US" sz="4650" b="1" strike="noStrike" spc="-46">
                <a:solidFill>
                  <a:srgbClr val="F4F1EC"/>
                </a:solidFill>
                <a:latin typeface="Sora"/>
                <a:ea typeface="Sora"/>
              </a:rPr>
              <a:t>An asset, not an expense</a:t>
            </a:r>
            <a:endParaRPr lang="en-US" sz="4650" b="0" strike="noStrike" spc="-1">
              <a:solidFill>
                <a:srgbClr val="FFFFFF"/>
              </a:solidFill>
              <a:latin typeface="Arial"/>
            </a:endParaRPr>
          </a:p>
        </p:txBody>
      </p:sp>
      <p:sp>
        <p:nvSpPr>
          <p:cNvPr id="979721133" name="Text 4"/>
          <p:cNvSpPr/>
          <p:nvPr/>
        </p:nvSpPr>
        <p:spPr bwMode="auto">
          <a:xfrm>
            <a:off x="609480" y="1913400"/>
            <a:ext cx="18774720" cy="389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strike="noStrike" spc="-1">
                <a:solidFill>
                  <a:srgbClr val="B9BBBD"/>
                </a:solidFill>
                <a:latin typeface="Noto Sans JP"/>
                <a:ea typeface="Noto Sans JP"/>
              </a:rPr>
              <a:t>一度きりの支出ではなく、</a:t>
            </a:r>
            <a:r>
              <a:rPr lang="en-US" sz="1900" b="0" strike="noStrike" spc="-1">
                <a:solidFill>
                  <a:srgbClr val="B9BBBD"/>
                </a:solidFill>
                <a:latin typeface="Noto Sans JP"/>
                <a:ea typeface="Noto Sans JP"/>
              </a:rPr>
              <a:t>25</a:t>
            </a:r>
            <a:r>
              <a:rPr lang="zh-CN" sz="1900" b="0" strike="noStrike" spc="-1">
                <a:solidFill>
                  <a:srgbClr val="B9BBBD"/>
                </a:solidFill>
                <a:latin typeface="Noto Sans JP"/>
                <a:ea typeface="Noto Sans JP"/>
              </a:rPr>
              <a:t>年生み続ける資産。</a:t>
            </a:r>
            <a:endParaRPr lang="en-US" sz="1900" b="0" strike="noStrike" spc="-1">
              <a:solidFill>
                <a:srgbClr val="FFFFFF"/>
              </a:solidFill>
              <a:latin typeface="Arial"/>
            </a:endParaRPr>
          </a:p>
        </p:txBody>
      </p:sp>
      <p:sp>
        <p:nvSpPr>
          <p:cNvPr id="2019702223" name="Text 5"/>
          <p:cNvSpPr/>
          <p:nvPr/>
        </p:nvSpPr>
        <p:spPr bwMode="auto">
          <a:xfrm>
            <a:off x="609480" y="4342680"/>
            <a:ext cx="1368252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strike="noStrike" spc="180">
                <a:solidFill>
                  <a:srgbClr val="9B9DA0"/>
                </a:solidFill>
                <a:latin typeface="Open Sans"/>
                <a:ea typeface="Open Sans"/>
              </a:rPr>
              <a:t>THE FUNDING MIX INVERTS · </a:t>
            </a:r>
            <a:r>
              <a:rPr lang="zh-CN" sz="1500" b="1" strike="noStrike" spc="180">
                <a:solidFill>
                  <a:srgbClr val="9B9DA0"/>
                </a:solidFill>
                <a:latin typeface="Open Sans"/>
                <a:ea typeface="Open Sans"/>
              </a:rPr>
              <a:t>財源は反転する</a:t>
            </a:r>
            <a:endParaRPr lang="en-US" sz="1500" b="0" strike="noStrike" spc="-1">
              <a:solidFill>
                <a:srgbClr val="FFFFFF"/>
              </a:solidFill>
              <a:latin typeface="Arial"/>
            </a:endParaRPr>
          </a:p>
        </p:txBody>
      </p:sp>
      <p:sp>
        <p:nvSpPr>
          <p:cNvPr id="811629901" name="Text 6"/>
          <p:cNvSpPr/>
          <p:nvPr/>
        </p:nvSpPr>
        <p:spPr bwMode="auto">
          <a:xfrm>
            <a:off x="609480" y="4876200"/>
            <a:ext cx="435060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B9BBBD"/>
                </a:solidFill>
                <a:latin typeface="Open Sans"/>
                <a:ea typeface="Open Sans"/>
              </a:rPr>
              <a:t>Year 1</a:t>
            </a:r>
            <a:endParaRPr lang="en-US" sz="1450" b="0" strike="noStrike" spc="-1">
              <a:solidFill>
                <a:srgbClr val="FFFFFF"/>
              </a:solidFill>
              <a:latin typeface="Arial"/>
            </a:endParaRPr>
          </a:p>
        </p:txBody>
      </p:sp>
      <p:sp>
        <p:nvSpPr>
          <p:cNvPr id="1412273258" name="Shape 7"/>
          <p:cNvSpPr/>
          <p:nvPr/>
        </p:nvSpPr>
        <p:spPr bwMode="auto">
          <a:xfrm>
            <a:off x="609480" y="5218920"/>
            <a:ext cx="3954960" cy="2189520"/>
          </a:xfrm>
          <a:prstGeom prst="rect">
            <a:avLst/>
          </a:prstGeom>
          <a:solidFill>
            <a:srgbClr val="3A3A3A"/>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668087446" name="Shape 8"/>
          <p:cNvSpPr/>
          <p:nvPr/>
        </p:nvSpPr>
        <p:spPr bwMode="auto">
          <a:xfrm>
            <a:off x="609480" y="5482080"/>
            <a:ext cx="3954960" cy="1926720"/>
          </a:xfrm>
          <a:prstGeom prst="rect">
            <a:avLst/>
          </a:prstGeom>
          <a:solidFill>
            <a:srgbClr val="6E717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869231239" name="Text 9"/>
          <p:cNvSpPr/>
          <p:nvPr/>
        </p:nvSpPr>
        <p:spPr bwMode="auto">
          <a:xfrm>
            <a:off x="550080" y="5577120"/>
            <a:ext cx="4073760" cy="186948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defRPr/>
            </a:pPr>
            <a:r>
              <a:rPr lang="en-US" sz="1200" b="1" strike="noStrike" spc="-1">
                <a:solidFill>
                  <a:srgbClr val="FFFFFF"/>
                </a:solidFill>
                <a:latin typeface="Open Sans"/>
                <a:ea typeface="Open Sans"/>
              </a:rPr>
              <a:t>Grants</a:t>
            </a:r>
            <a:endParaRPr lang="en-US" sz="1200" b="0" strike="noStrike" spc="-1">
              <a:solidFill>
                <a:srgbClr val="FFFFFF"/>
              </a:solidFill>
              <a:latin typeface="Arial"/>
            </a:endParaRPr>
          </a:p>
        </p:txBody>
      </p:sp>
      <p:sp>
        <p:nvSpPr>
          <p:cNvPr id="1194407700" name="Text 10"/>
          <p:cNvSpPr/>
          <p:nvPr/>
        </p:nvSpPr>
        <p:spPr bwMode="auto">
          <a:xfrm>
            <a:off x="609480" y="7485840"/>
            <a:ext cx="435060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9B9DA0"/>
                </a:solidFill>
                <a:latin typeface="Open Sans"/>
                <a:ea typeface="Open Sans"/>
              </a:rPr>
              <a:t>~Grant-dependent</a:t>
            </a:r>
            <a:endParaRPr lang="en-US" sz="1200" b="0" strike="noStrike" spc="-1">
              <a:solidFill>
                <a:srgbClr val="FFFFFF"/>
              </a:solidFill>
              <a:latin typeface="Arial"/>
            </a:endParaRPr>
          </a:p>
        </p:txBody>
      </p:sp>
      <p:sp>
        <p:nvSpPr>
          <p:cNvPr id="1176150209" name="Text 11"/>
          <p:cNvSpPr/>
          <p:nvPr/>
        </p:nvSpPr>
        <p:spPr bwMode="auto">
          <a:xfrm>
            <a:off x="4851360" y="4876200"/>
            <a:ext cx="435060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B9BBBD"/>
                </a:solidFill>
                <a:latin typeface="Open Sans"/>
                <a:ea typeface="Open Sans"/>
              </a:rPr>
              <a:t>Year 3</a:t>
            </a:r>
            <a:endParaRPr lang="en-US" sz="1450" b="0" strike="noStrike" spc="-1">
              <a:solidFill>
                <a:srgbClr val="FFFFFF"/>
              </a:solidFill>
              <a:latin typeface="Arial"/>
            </a:endParaRPr>
          </a:p>
        </p:txBody>
      </p:sp>
      <p:sp>
        <p:nvSpPr>
          <p:cNvPr id="1923798900" name="Shape 12"/>
          <p:cNvSpPr/>
          <p:nvPr/>
        </p:nvSpPr>
        <p:spPr bwMode="auto">
          <a:xfrm>
            <a:off x="4851360" y="5218920"/>
            <a:ext cx="3954960" cy="2189520"/>
          </a:xfrm>
          <a:prstGeom prst="rect">
            <a:avLst/>
          </a:prstGeom>
          <a:solidFill>
            <a:srgbClr val="3A3A3A"/>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310326283" name="Shape 13"/>
          <p:cNvSpPr/>
          <p:nvPr/>
        </p:nvSpPr>
        <p:spPr bwMode="auto">
          <a:xfrm>
            <a:off x="4851360" y="5218920"/>
            <a:ext cx="3954960" cy="1357200"/>
          </a:xfrm>
          <a:prstGeom prst="rect">
            <a:avLst/>
          </a:prstGeom>
          <a:solidFill>
            <a:srgbClr val="6E717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645157450" name="Text 14"/>
          <p:cNvSpPr/>
          <p:nvPr/>
        </p:nvSpPr>
        <p:spPr bwMode="auto">
          <a:xfrm>
            <a:off x="4791960" y="5314320"/>
            <a:ext cx="4073760" cy="129996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defRPr/>
            </a:pPr>
            <a:r>
              <a:rPr lang="en-US" sz="1200" b="1" strike="noStrike" spc="-1">
                <a:solidFill>
                  <a:srgbClr val="FFFFFF"/>
                </a:solidFill>
                <a:latin typeface="Open Sans"/>
                <a:ea typeface="Open Sans"/>
              </a:rPr>
              <a:t>Grants</a:t>
            </a:r>
            <a:endParaRPr lang="en-US" sz="1200" b="0" strike="noStrike" spc="-1">
              <a:solidFill>
                <a:srgbClr val="FFFFFF"/>
              </a:solidFill>
              <a:latin typeface="Arial"/>
            </a:endParaRPr>
          </a:p>
        </p:txBody>
      </p:sp>
      <p:sp>
        <p:nvSpPr>
          <p:cNvPr id="957540909" name="Shape 15"/>
          <p:cNvSpPr/>
          <p:nvPr/>
        </p:nvSpPr>
        <p:spPr bwMode="auto">
          <a:xfrm>
            <a:off x="4851360" y="6577200"/>
            <a:ext cx="3954960" cy="83124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583628329" name="Text 16"/>
          <p:cNvSpPr/>
          <p:nvPr/>
        </p:nvSpPr>
        <p:spPr bwMode="auto">
          <a:xfrm>
            <a:off x="4791960" y="6577200"/>
            <a:ext cx="4073760" cy="86940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00000"/>
              </a:lnSpc>
              <a:tabLst>
                <a:tab pos="0" algn="l"/>
              </a:tabLst>
              <a:defRPr/>
            </a:pPr>
            <a:r>
              <a:rPr lang="en-US" sz="1200" b="1" strike="noStrike" spc="-1">
                <a:solidFill>
                  <a:srgbClr val="FFFFFF"/>
                </a:solidFill>
                <a:latin typeface="Open Sans"/>
                <a:ea typeface="Open Sans"/>
              </a:rPr>
              <a:t>Revenue + partners</a:t>
            </a:r>
            <a:endParaRPr lang="en-US" sz="1200" b="0" strike="noStrike" spc="-1">
              <a:solidFill>
                <a:srgbClr val="FFFFFF"/>
              </a:solidFill>
              <a:latin typeface="Arial"/>
            </a:endParaRPr>
          </a:p>
        </p:txBody>
      </p:sp>
      <p:sp>
        <p:nvSpPr>
          <p:cNvPr id="633159594" name="Text 17"/>
          <p:cNvSpPr/>
          <p:nvPr/>
        </p:nvSpPr>
        <p:spPr bwMode="auto">
          <a:xfrm>
            <a:off x="4851360" y="7485840"/>
            <a:ext cx="435060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9B9DA0"/>
                </a:solidFill>
                <a:latin typeface="Open Sans"/>
                <a:ea typeface="Open Sans"/>
              </a:rPr>
              <a:t>Revenue begins to carry it</a:t>
            </a:r>
            <a:endParaRPr lang="en-US" sz="1200" b="0" strike="noStrike" spc="-1">
              <a:solidFill>
                <a:srgbClr val="FFFFFF"/>
              </a:solidFill>
              <a:latin typeface="Arial"/>
            </a:endParaRPr>
          </a:p>
        </p:txBody>
      </p:sp>
      <p:sp>
        <p:nvSpPr>
          <p:cNvPr id="818256655" name="Text 18"/>
          <p:cNvSpPr/>
          <p:nvPr/>
        </p:nvSpPr>
        <p:spPr bwMode="auto">
          <a:xfrm>
            <a:off x="9093240" y="4876200"/>
            <a:ext cx="435060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F4B872"/>
                </a:solidFill>
                <a:latin typeface="Open Sans"/>
                <a:ea typeface="Open Sans"/>
              </a:rPr>
              <a:t>Year 25</a:t>
            </a:r>
            <a:endParaRPr lang="en-US" sz="1450" b="0" strike="noStrike" spc="-1">
              <a:solidFill>
                <a:srgbClr val="FFFFFF"/>
              </a:solidFill>
              <a:latin typeface="Arial"/>
            </a:endParaRPr>
          </a:p>
        </p:txBody>
      </p:sp>
      <p:sp>
        <p:nvSpPr>
          <p:cNvPr id="1600403488" name="Shape 19"/>
          <p:cNvSpPr/>
          <p:nvPr/>
        </p:nvSpPr>
        <p:spPr bwMode="auto">
          <a:xfrm>
            <a:off x="9093240" y="5218920"/>
            <a:ext cx="3954960" cy="2189520"/>
          </a:xfrm>
          <a:prstGeom prst="rect">
            <a:avLst/>
          </a:prstGeom>
          <a:solidFill>
            <a:srgbClr val="3A3A3A"/>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33985537" name="Shape 20"/>
          <p:cNvSpPr/>
          <p:nvPr/>
        </p:nvSpPr>
        <p:spPr bwMode="auto">
          <a:xfrm>
            <a:off x="9093240" y="5218920"/>
            <a:ext cx="3954960" cy="393120"/>
          </a:xfrm>
          <a:prstGeom prst="rect">
            <a:avLst/>
          </a:prstGeom>
          <a:solidFill>
            <a:srgbClr val="6E717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199662452" name="Shape 21"/>
          <p:cNvSpPr/>
          <p:nvPr/>
        </p:nvSpPr>
        <p:spPr bwMode="auto">
          <a:xfrm>
            <a:off x="9093240" y="5613480"/>
            <a:ext cx="3954960" cy="179532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1939651852" name="Text 22"/>
          <p:cNvSpPr/>
          <p:nvPr/>
        </p:nvSpPr>
        <p:spPr bwMode="auto">
          <a:xfrm>
            <a:off x="9033840" y="5613480"/>
            <a:ext cx="4073760" cy="183348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30000"/>
              </a:lnSpc>
              <a:tabLst>
                <a:tab pos="0" algn="l"/>
              </a:tabLst>
              <a:defRPr/>
            </a:pPr>
            <a:r>
              <a:rPr lang="en-US" sz="1200" b="1" strike="noStrike" spc="-1">
                <a:solidFill>
                  <a:srgbClr val="FFFFFF"/>
                </a:solidFill>
                <a:latin typeface="Open Sans"/>
                <a:ea typeface="Open Sans"/>
              </a:rPr>
              <a:t>Self- sustaining</a:t>
            </a:r>
            <a:endParaRPr lang="en-US" sz="1200" b="0" strike="noStrike" spc="-1">
              <a:solidFill>
                <a:srgbClr val="FFFFFF"/>
              </a:solidFill>
              <a:latin typeface="Arial"/>
            </a:endParaRPr>
          </a:p>
        </p:txBody>
      </p:sp>
      <p:sp>
        <p:nvSpPr>
          <p:cNvPr id="2067919965" name="Text 23"/>
          <p:cNvSpPr/>
          <p:nvPr/>
        </p:nvSpPr>
        <p:spPr bwMode="auto">
          <a:xfrm>
            <a:off x="9093240" y="7485840"/>
            <a:ext cx="435060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rgbClr val="9B9DA0"/>
                </a:solidFill>
                <a:latin typeface="Open Sans"/>
                <a:ea typeface="Open Sans"/>
              </a:rPr>
              <a:t>Operating revenue carries it</a:t>
            </a:r>
            <a:endParaRPr lang="en-US" sz="1200" b="0" strike="noStrike" spc="-1">
              <a:solidFill>
                <a:srgbClr val="FFFFFF"/>
              </a:solidFill>
              <a:latin typeface="Arial"/>
            </a:endParaRPr>
          </a:p>
        </p:txBody>
      </p:sp>
      <p:sp>
        <p:nvSpPr>
          <p:cNvPr id="1302598421" name="Text 24"/>
          <p:cNvSpPr/>
          <p:nvPr/>
        </p:nvSpPr>
        <p:spPr bwMode="auto">
          <a:xfrm>
            <a:off x="13582800" y="4352400"/>
            <a:ext cx="4504320" cy="3229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strike="noStrike" spc="180">
                <a:solidFill>
                  <a:srgbClr val="9B9DA0"/>
                </a:solidFill>
                <a:latin typeface="Open Sans"/>
                <a:ea typeface="Open Sans"/>
              </a:rPr>
              <a:t>FOUR RECURRING STREAMS · </a:t>
            </a:r>
            <a:r>
              <a:rPr lang="zh-CN" sz="1500" b="1" strike="noStrike" spc="180">
                <a:solidFill>
                  <a:srgbClr val="9B9DA0"/>
                </a:solidFill>
                <a:latin typeface="Open Sans"/>
                <a:ea typeface="Open Sans"/>
              </a:rPr>
              <a:t>収益源</a:t>
            </a:r>
            <a:endParaRPr lang="en-US" sz="1500" b="0" strike="noStrike" spc="-1">
              <a:solidFill>
                <a:srgbClr val="FFFFFF"/>
              </a:solidFill>
              <a:latin typeface="Arial"/>
            </a:endParaRPr>
          </a:p>
        </p:txBody>
      </p:sp>
      <p:sp>
        <p:nvSpPr>
          <p:cNvPr id="956612836" name="Shape 25"/>
          <p:cNvSpPr/>
          <p:nvPr/>
        </p:nvSpPr>
        <p:spPr bwMode="auto">
          <a:xfrm>
            <a:off x="13582800" y="5199840"/>
            <a:ext cx="4094640" cy="8280"/>
          </a:xfrm>
          <a:prstGeom prst="rect">
            <a:avLst/>
          </a:prstGeom>
          <a:solidFill>
            <a:srgbClr val="4A4A4A"/>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FFFFFF"/>
              </a:solidFill>
              <a:latin typeface="Arial"/>
              <a:ea typeface="Arial"/>
            </a:endParaRPr>
          </a:p>
        </p:txBody>
      </p:sp>
      <p:sp>
        <p:nvSpPr>
          <p:cNvPr id="1231475893" name="Shape 26"/>
          <p:cNvSpPr/>
          <p:nvPr/>
        </p:nvSpPr>
        <p:spPr bwMode="auto">
          <a:xfrm>
            <a:off x="13582800" y="4871520"/>
            <a:ext cx="113400" cy="113400"/>
          </a:xfrm>
          <a:prstGeom prst="rect">
            <a:avLst/>
          </a:prstGeom>
          <a:solidFill>
            <a:srgbClr val="E58520"/>
          </a:solidFill>
          <a:ln w="0">
            <a:noFill/>
          </a:ln>
        </p:spPr>
        <p:style>
          <a:lnRef idx="0"/>
          <a:fillRef idx="0"/>
          <a:effectRef idx="0"/>
          <a:fontRef idx="minor"/>
        </p:style>
        <p:txBody>
          <a:bodyPr lIns="56880" tIns="45000" rIns="56880" bIns="45000" anchor="t">
            <a:noAutofit/>
          </a:bodyPr>
          <a:p>
            <a:pPr>
              <a:lnSpc>
                <a:spcPct val="100000"/>
              </a:lnSpc>
              <a:defRPr/>
            </a:pPr>
            <a:endParaRPr lang="en-US" sz="1800" b="0" strike="noStrike" spc="-1">
              <a:solidFill>
                <a:srgbClr val="FFFFFF"/>
              </a:solidFill>
              <a:latin typeface="Arial"/>
              <a:ea typeface="Arial"/>
            </a:endParaRPr>
          </a:p>
        </p:txBody>
      </p:sp>
      <p:sp>
        <p:nvSpPr>
          <p:cNvPr id="1822764159" name="Text 27"/>
          <p:cNvSpPr/>
          <p:nvPr/>
        </p:nvSpPr>
        <p:spPr bwMode="auto">
          <a:xfrm>
            <a:off x="13830480" y="4790520"/>
            <a:ext cx="294660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Compute hosting </a:t>
            </a:r>
            <a:r>
              <a:rPr lang="zh-CN" sz="1300" b="1" strike="noStrike" spc="-1">
                <a:solidFill>
                  <a:srgbClr val="9B9DA0"/>
                </a:solidFill>
                <a:latin typeface="Open Sans"/>
                <a:ea typeface="Open Sans"/>
              </a:rPr>
              <a:t>ホスティング</a:t>
            </a:r>
            <a:endParaRPr lang="en-US" sz="1300" b="0" strike="noStrike" spc="-1">
              <a:solidFill>
                <a:srgbClr val="FFFFFF"/>
              </a:solidFill>
              <a:latin typeface="Arial"/>
            </a:endParaRPr>
          </a:p>
        </p:txBody>
      </p:sp>
      <p:sp>
        <p:nvSpPr>
          <p:cNvPr id="1447718516" name="Shape 28"/>
          <p:cNvSpPr/>
          <p:nvPr/>
        </p:nvSpPr>
        <p:spPr bwMode="auto">
          <a:xfrm>
            <a:off x="13582800" y="5771520"/>
            <a:ext cx="4094640" cy="8280"/>
          </a:xfrm>
          <a:prstGeom prst="rect">
            <a:avLst/>
          </a:prstGeom>
          <a:solidFill>
            <a:srgbClr val="4A4A4A"/>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FFFFFF"/>
              </a:solidFill>
              <a:latin typeface="Arial"/>
              <a:ea typeface="Arial"/>
            </a:endParaRPr>
          </a:p>
        </p:txBody>
      </p:sp>
      <p:sp>
        <p:nvSpPr>
          <p:cNvPr id="1989645248" name="Shape 29"/>
          <p:cNvSpPr/>
          <p:nvPr/>
        </p:nvSpPr>
        <p:spPr bwMode="auto">
          <a:xfrm>
            <a:off x="13582800" y="5442840"/>
            <a:ext cx="113400" cy="113400"/>
          </a:xfrm>
          <a:prstGeom prst="rect">
            <a:avLst/>
          </a:prstGeom>
          <a:solidFill>
            <a:srgbClr val="E58520"/>
          </a:solidFill>
          <a:ln w="0">
            <a:noFill/>
          </a:ln>
        </p:spPr>
        <p:style>
          <a:lnRef idx="0"/>
          <a:fillRef idx="0"/>
          <a:effectRef idx="0"/>
          <a:fontRef idx="minor"/>
        </p:style>
        <p:txBody>
          <a:bodyPr lIns="56880" tIns="45000" rIns="56880" bIns="45000" anchor="t">
            <a:noAutofit/>
          </a:bodyPr>
          <a:p>
            <a:pPr>
              <a:lnSpc>
                <a:spcPct val="100000"/>
              </a:lnSpc>
              <a:defRPr/>
            </a:pPr>
            <a:endParaRPr lang="en-US" sz="1800" b="0" strike="noStrike" spc="-1">
              <a:solidFill>
                <a:srgbClr val="FFFFFF"/>
              </a:solidFill>
              <a:latin typeface="Arial"/>
              <a:ea typeface="Arial"/>
            </a:endParaRPr>
          </a:p>
        </p:txBody>
      </p:sp>
      <p:sp>
        <p:nvSpPr>
          <p:cNvPr id="931817919" name="Text 30"/>
          <p:cNvSpPr/>
          <p:nvPr/>
        </p:nvSpPr>
        <p:spPr bwMode="auto">
          <a:xfrm>
            <a:off x="13830480" y="5361840"/>
            <a:ext cx="284580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Energy feed-in (FIT/FIP) </a:t>
            </a:r>
            <a:r>
              <a:rPr lang="zh-CN" sz="1300" b="1" strike="noStrike" spc="-1">
                <a:solidFill>
                  <a:srgbClr val="9B9DA0"/>
                </a:solidFill>
                <a:latin typeface="Open Sans"/>
                <a:ea typeface="Open Sans"/>
              </a:rPr>
              <a:t>売電</a:t>
            </a:r>
            <a:endParaRPr lang="en-US" sz="1300" b="0" strike="noStrike" spc="-1">
              <a:solidFill>
                <a:srgbClr val="FFFFFF"/>
              </a:solidFill>
              <a:latin typeface="Arial"/>
            </a:endParaRPr>
          </a:p>
        </p:txBody>
      </p:sp>
      <p:sp>
        <p:nvSpPr>
          <p:cNvPr id="1711396075" name="Shape 31"/>
          <p:cNvSpPr/>
          <p:nvPr/>
        </p:nvSpPr>
        <p:spPr bwMode="auto">
          <a:xfrm>
            <a:off x="13582800" y="6342840"/>
            <a:ext cx="4094640" cy="8280"/>
          </a:xfrm>
          <a:prstGeom prst="rect">
            <a:avLst/>
          </a:prstGeom>
          <a:solidFill>
            <a:srgbClr val="4A4A4A"/>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FFFFFF"/>
              </a:solidFill>
              <a:latin typeface="Arial"/>
              <a:ea typeface="Arial"/>
            </a:endParaRPr>
          </a:p>
        </p:txBody>
      </p:sp>
      <p:sp>
        <p:nvSpPr>
          <p:cNvPr id="583330180" name="Shape 32"/>
          <p:cNvSpPr/>
          <p:nvPr/>
        </p:nvSpPr>
        <p:spPr bwMode="auto">
          <a:xfrm>
            <a:off x="13582800" y="6014520"/>
            <a:ext cx="113400" cy="113400"/>
          </a:xfrm>
          <a:prstGeom prst="rect">
            <a:avLst/>
          </a:prstGeom>
          <a:solidFill>
            <a:srgbClr val="E58520"/>
          </a:solidFill>
          <a:ln w="0">
            <a:noFill/>
          </a:ln>
        </p:spPr>
        <p:style>
          <a:lnRef idx="0"/>
          <a:fillRef idx="0"/>
          <a:effectRef idx="0"/>
          <a:fontRef idx="minor"/>
        </p:style>
        <p:txBody>
          <a:bodyPr lIns="56880" tIns="45000" rIns="56880" bIns="45000" anchor="t">
            <a:noAutofit/>
          </a:bodyPr>
          <a:p>
            <a:pPr>
              <a:lnSpc>
                <a:spcPct val="100000"/>
              </a:lnSpc>
              <a:defRPr/>
            </a:pPr>
            <a:endParaRPr lang="en-US" sz="1800" b="0" strike="noStrike" spc="-1">
              <a:solidFill>
                <a:srgbClr val="FFFFFF"/>
              </a:solidFill>
              <a:latin typeface="Arial"/>
              <a:ea typeface="Arial"/>
            </a:endParaRPr>
          </a:p>
        </p:txBody>
      </p:sp>
      <p:sp>
        <p:nvSpPr>
          <p:cNvPr id="457551320" name="Text 33"/>
          <p:cNvSpPr/>
          <p:nvPr/>
        </p:nvSpPr>
        <p:spPr bwMode="auto">
          <a:xfrm>
            <a:off x="13830480" y="5933520"/>
            <a:ext cx="185616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EV charging </a:t>
            </a:r>
            <a:r>
              <a:rPr lang="en-US" sz="1300" b="1" strike="noStrike" spc="-1">
                <a:solidFill>
                  <a:srgbClr val="9B9DA0"/>
                </a:solidFill>
                <a:latin typeface="Open Sans"/>
                <a:ea typeface="Open Sans"/>
              </a:rPr>
              <a:t>EV</a:t>
            </a:r>
            <a:r>
              <a:rPr lang="zh-CN" sz="1300" b="1" strike="noStrike" spc="-1">
                <a:solidFill>
                  <a:srgbClr val="9B9DA0"/>
                </a:solidFill>
                <a:latin typeface="Open Sans"/>
                <a:ea typeface="Open Sans"/>
              </a:rPr>
              <a:t>充電</a:t>
            </a:r>
            <a:endParaRPr lang="en-US" sz="1300" b="0" strike="noStrike" spc="-1">
              <a:solidFill>
                <a:srgbClr val="FFFFFF"/>
              </a:solidFill>
              <a:latin typeface="Arial"/>
            </a:endParaRPr>
          </a:p>
        </p:txBody>
      </p:sp>
      <p:sp>
        <p:nvSpPr>
          <p:cNvPr id="657095863" name="Shape 34"/>
          <p:cNvSpPr/>
          <p:nvPr/>
        </p:nvSpPr>
        <p:spPr bwMode="auto">
          <a:xfrm>
            <a:off x="13582800" y="6585840"/>
            <a:ext cx="113400" cy="113400"/>
          </a:xfrm>
          <a:prstGeom prst="rect">
            <a:avLst/>
          </a:prstGeom>
          <a:solidFill>
            <a:srgbClr val="E58520"/>
          </a:solidFill>
          <a:ln w="0">
            <a:noFill/>
          </a:ln>
        </p:spPr>
        <p:style>
          <a:lnRef idx="0"/>
          <a:fillRef idx="0"/>
          <a:effectRef idx="0"/>
          <a:fontRef idx="minor"/>
        </p:style>
        <p:txBody>
          <a:bodyPr lIns="56880" tIns="45000" rIns="56880" bIns="45000" anchor="t">
            <a:noAutofit/>
          </a:bodyPr>
          <a:p>
            <a:pPr>
              <a:lnSpc>
                <a:spcPct val="100000"/>
              </a:lnSpc>
              <a:defRPr/>
            </a:pPr>
            <a:endParaRPr lang="en-US" sz="1800" b="0" strike="noStrike" spc="-1">
              <a:solidFill>
                <a:srgbClr val="FFFFFF"/>
              </a:solidFill>
              <a:latin typeface="Arial"/>
              <a:ea typeface="Arial"/>
            </a:endParaRPr>
          </a:p>
        </p:txBody>
      </p:sp>
      <p:sp>
        <p:nvSpPr>
          <p:cNvPr id="763024574" name="Text 35"/>
          <p:cNvSpPr/>
          <p:nvPr/>
        </p:nvSpPr>
        <p:spPr bwMode="auto">
          <a:xfrm>
            <a:off x="13830480" y="6504840"/>
            <a:ext cx="364032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Carbon credits (J-Credits) </a:t>
            </a:r>
            <a:r>
              <a:rPr lang="en-US" sz="1300" b="1" strike="noStrike" spc="-1">
                <a:solidFill>
                  <a:srgbClr val="9B9DA0"/>
                </a:solidFill>
                <a:latin typeface="Open Sans"/>
                <a:ea typeface="Open Sans"/>
              </a:rPr>
              <a:t>J</a:t>
            </a:r>
            <a:r>
              <a:rPr lang="zh-CN" sz="1300" b="1" strike="noStrike" spc="-1">
                <a:solidFill>
                  <a:srgbClr val="9B9DA0"/>
                </a:solidFill>
                <a:latin typeface="Open Sans"/>
                <a:ea typeface="Open Sans"/>
              </a:rPr>
              <a:t>クレジット</a:t>
            </a:r>
            <a:endParaRPr lang="en-US" sz="1300" b="0" strike="noStrike" spc="-1">
              <a:solidFill>
                <a:srgbClr val="FFFFFF"/>
              </a:solidFill>
              <a:latin typeface="Arial"/>
            </a:endParaRPr>
          </a:p>
        </p:txBody>
      </p:sp>
      <p:sp>
        <p:nvSpPr>
          <p:cNvPr id="1864484226" name="Shape 36"/>
          <p:cNvSpPr/>
          <p:nvPr/>
        </p:nvSpPr>
        <p:spPr bwMode="auto">
          <a:xfrm>
            <a:off x="13582800" y="7009920"/>
            <a:ext cx="4094640" cy="8280"/>
          </a:xfrm>
          <a:prstGeom prst="rect">
            <a:avLst/>
          </a:prstGeom>
          <a:solidFill>
            <a:srgbClr val="4A4A4A"/>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FFFFFF"/>
              </a:solidFill>
              <a:latin typeface="Arial"/>
              <a:ea typeface="Arial"/>
            </a:endParaRPr>
          </a:p>
        </p:txBody>
      </p:sp>
      <p:sp>
        <p:nvSpPr>
          <p:cNvPr id="920215190" name="Text 37"/>
          <p:cNvSpPr/>
          <p:nvPr/>
        </p:nvSpPr>
        <p:spPr bwMode="auto">
          <a:xfrm>
            <a:off x="13582800" y="7171560"/>
            <a:ext cx="4217400" cy="551520"/>
          </a:xfrm>
          <a:prstGeom prst="rect">
            <a:avLst/>
          </a:prstGeom>
          <a:noFill/>
          <a:ln w="0">
            <a:noFill/>
          </a:ln>
        </p:spPr>
        <p:style>
          <a:lnRef idx="0"/>
          <a:fillRef idx="0"/>
          <a:effectRef idx="0"/>
          <a:fontRef idx="minor"/>
        </p:style>
        <p:txBody>
          <a:bodyPr lIns="25560" tIns="25560" rIns="25560" bIns="25560" anchor="t">
            <a:normAutofit fontScale="87222"/>
          </a:bodyPr>
          <a:p>
            <a:pPr defTabSz="914400">
              <a:lnSpc>
                <a:spcPct val="150000"/>
              </a:lnSpc>
              <a:tabLst>
                <a:tab pos="0" algn="l"/>
              </a:tabLst>
              <a:defRPr/>
            </a:pPr>
            <a:r>
              <a:rPr lang="en-US" sz="1350" b="0" strike="noStrike" spc="-1">
                <a:solidFill>
                  <a:srgbClr val="B9BBBD"/>
                </a:solidFill>
                <a:latin typeface="Open Sans"/>
                <a:ea typeface="Open Sans"/>
              </a:rPr>
              <a:t>A 25-year horizon — the bridge to localized small-scale power generation.</a:t>
            </a:r>
            <a:endParaRPr lang="en-US" sz="1350" b="0" strike="noStrike" spc="-1">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2482116"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842605332"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301683728" name="Text 2"/>
          <p:cNvSpPr/>
          <p:nvPr/>
        </p:nvSpPr>
        <p:spPr bwMode="auto">
          <a:xfrm>
            <a:off x="1181160" y="800280"/>
            <a:ext cx="467424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GOVERNANCE &amp; ADVISORS · </a:t>
            </a:r>
            <a:r>
              <a:rPr lang="zh-CN" sz="1300" b="1" strike="noStrike" spc="201">
                <a:solidFill>
                  <a:srgbClr val="9B9DA0"/>
                </a:solidFill>
                <a:latin typeface="Open Sans"/>
                <a:ea typeface="Open Sans"/>
              </a:rPr>
              <a:t>体制と顧問 </a:t>
            </a:r>
            <a:r>
              <a:rPr lang="en-US" sz="1300" b="1" strike="noStrike" spc="201">
                <a:solidFill>
                  <a:srgbClr val="9B9DA0"/>
                </a:solidFill>
                <a:latin typeface="Open Sans"/>
                <a:ea typeface="Open Sans"/>
              </a:rPr>
              <a:t>· 13</a:t>
            </a:r>
            <a:endParaRPr lang="en-US" sz="1300" b="0" strike="noStrike" spc="-1">
              <a:solidFill>
                <a:srgbClr val="000000"/>
              </a:solidFill>
              <a:latin typeface="Arial"/>
            </a:endParaRPr>
          </a:p>
        </p:txBody>
      </p:sp>
      <p:sp>
        <p:nvSpPr>
          <p:cNvPr id="1728064728" name="Text 3"/>
          <p:cNvSpPr/>
          <p:nvPr/>
        </p:nvSpPr>
        <p:spPr bwMode="auto">
          <a:xfrm>
            <a:off x="609480" y="1228680"/>
            <a:ext cx="18774720" cy="62568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3000"/>
              </a:lnSpc>
              <a:tabLst>
                <a:tab pos="0" algn="l"/>
              </a:tabLst>
              <a:defRPr/>
            </a:pPr>
            <a:r>
              <a:rPr lang="en-US" sz="4500" b="1" strike="noStrike" spc="-46">
                <a:solidFill>
                  <a:srgbClr val="2E2E2E"/>
                </a:solidFill>
                <a:latin typeface="Sora"/>
                <a:ea typeface="Sora"/>
              </a:rPr>
              <a:t>Small team, serious people, open books</a:t>
            </a:r>
            <a:endParaRPr lang="en-US" sz="4500" b="0" strike="noStrike" spc="-1">
              <a:solidFill>
                <a:srgbClr val="000000"/>
              </a:solidFill>
              <a:latin typeface="Arial"/>
            </a:endParaRPr>
          </a:p>
        </p:txBody>
      </p:sp>
      <p:sp>
        <p:nvSpPr>
          <p:cNvPr id="658045906" name="Text 4"/>
          <p:cNvSpPr/>
          <p:nvPr/>
        </p:nvSpPr>
        <p:spPr bwMode="auto">
          <a:xfrm>
            <a:off x="609480" y="1893600"/>
            <a:ext cx="18774720" cy="389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strike="noStrike" spc="-1">
                <a:solidFill>
                  <a:srgbClr val="6E7174"/>
                </a:solidFill>
                <a:latin typeface="Noto Sans JP"/>
                <a:ea typeface="Noto Sans JP"/>
              </a:rPr>
              <a:t>少人数・確かな顔ぶれ・公開された会計。</a:t>
            </a:r>
            <a:endParaRPr lang="en-US" sz="1900" b="0" strike="noStrike" spc="-1">
              <a:solidFill>
                <a:srgbClr val="000000"/>
              </a:solidFill>
              <a:latin typeface="Arial"/>
            </a:endParaRPr>
          </a:p>
        </p:txBody>
      </p:sp>
      <p:pic>
        <p:nvPicPr>
          <p:cNvPr id="1253932535" name="Image 0" descr="preencoded.png"/>
          <p:cNvPicPr/>
          <p:nvPr/>
        </p:nvPicPr>
        <p:blipFill rotWithShape="1">
          <a:blip r:embed="rId3"/>
          <a:stretch/>
        </p:blipFill>
        <p:spPr bwMode="auto">
          <a:xfrm>
            <a:off x="609480" y="2588760"/>
            <a:ext cx="4436640" cy="4794840"/>
          </a:xfrm>
          <a:prstGeom prst="rect">
            <a:avLst/>
          </a:prstGeom>
          <a:ln w="0">
            <a:noFill/>
          </a:ln>
        </p:spPr>
      </p:pic>
      <p:sp>
        <p:nvSpPr>
          <p:cNvPr id="514490420" name="Text 6"/>
          <p:cNvSpPr/>
          <p:nvPr/>
        </p:nvSpPr>
        <p:spPr bwMode="auto">
          <a:xfrm>
            <a:off x="609480" y="7467840"/>
            <a:ext cx="4419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34">
                <a:solidFill>
                  <a:srgbClr val="F4B872"/>
                </a:solidFill>
                <a:latin typeface="Open Sans"/>
                <a:ea typeface="Open Sans"/>
              </a:rPr>
              <a:t>PROJECT LEAD · </a:t>
            </a:r>
            <a:r>
              <a:rPr lang="zh-CN" sz="1000" b="1" strike="noStrike" spc="134">
                <a:solidFill>
                  <a:srgbClr val="F4B872"/>
                </a:solidFill>
                <a:latin typeface="Open Sans"/>
                <a:ea typeface="Open Sans"/>
              </a:rPr>
              <a:t>代表</a:t>
            </a:r>
            <a:endParaRPr lang="en-US" sz="1000" b="0" strike="noStrike" spc="-1">
              <a:solidFill>
                <a:srgbClr val="000000"/>
              </a:solidFill>
              <a:latin typeface="Arial"/>
            </a:endParaRPr>
          </a:p>
        </p:txBody>
      </p:sp>
      <p:sp>
        <p:nvSpPr>
          <p:cNvPr id="1986698434" name="Text 7"/>
          <p:cNvSpPr/>
          <p:nvPr/>
        </p:nvSpPr>
        <p:spPr bwMode="auto">
          <a:xfrm>
            <a:off x="609480" y="7734600"/>
            <a:ext cx="4419720" cy="32004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10000"/>
              </a:lnSpc>
              <a:tabLst>
                <a:tab pos="0" algn="l"/>
              </a:tabLst>
              <a:defRPr/>
            </a:pPr>
            <a:r>
              <a:rPr lang="en-US" sz="2050" b="1" strike="noStrike" spc="-1">
                <a:solidFill>
                  <a:schemeClr val="dk1"/>
                </a:solidFill>
                <a:latin typeface="Sora"/>
                <a:ea typeface="Sora"/>
              </a:rPr>
              <a:t>Rob Oudendijk</a:t>
            </a:r>
            <a:endParaRPr lang="en-US" sz="2050" b="0" strike="noStrike" spc="-1">
              <a:solidFill>
                <a:srgbClr val="000000"/>
              </a:solidFill>
              <a:latin typeface="Arial"/>
            </a:endParaRPr>
          </a:p>
        </p:txBody>
      </p:sp>
      <p:sp>
        <p:nvSpPr>
          <p:cNvPr id="1254835503" name="Text 8"/>
          <p:cNvSpPr/>
          <p:nvPr/>
        </p:nvSpPr>
        <p:spPr bwMode="auto">
          <a:xfrm>
            <a:off x="609480" y="8065080"/>
            <a:ext cx="441972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strike="noStrike" spc="-1">
                <a:solidFill>
                  <a:schemeClr val="dk1">
                    <a:lumMod val="65000"/>
                    <a:lumOff val="35000"/>
                  </a:schemeClr>
                </a:solidFill>
                <a:latin typeface="Open Sans"/>
                <a:ea typeface="Open Sans"/>
              </a:rPr>
              <a:t>YR-Design · Safecast</a:t>
            </a:r>
            <a:endParaRPr lang="en-US" sz="1200" b="0" strike="noStrike" spc="-1">
              <a:solidFill>
                <a:srgbClr val="000000"/>
              </a:solidFill>
              <a:latin typeface="Arial"/>
            </a:endParaRPr>
          </a:p>
        </p:txBody>
      </p:sp>
      <p:sp>
        <p:nvSpPr>
          <p:cNvPr id="1163691445" name="Shape 9"/>
          <p:cNvSpPr/>
          <p:nvPr/>
        </p:nvSpPr>
        <p:spPr bwMode="auto">
          <a:xfrm>
            <a:off x="609480" y="8587800"/>
            <a:ext cx="4436640" cy="1012320"/>
          </a:xfrm>
          <a:prstGeom prst="rect">
            <a:avLst/>
          </a:prstGeom>
          <a:solidFill>
            <a:srgbClr val="F6F6F4"/>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582980357" name="Text 10"/>
          <p:cNvSpPr/>
          <p:nvPr/>
        </p:nvSpPr>
        <p:spPr bwMode="auto">
          <a:xfrm>
            <a:off x="819000" y="8740080"/>
            <a:ext cx="441972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strike="noStrike" spc="105">
                <a:solidFill>
                  <a:srgbClr val="9B9DA0"/>
                </a:solidFill>
                <a:latin typeface="Open Sans"/>
                <a:ea typeface="Open Sans"/>
              </a:rPr>
              <a:t>LEGAL PATH · </a:t>
            </a:r>
            <a:r>
              <a:rPr lang="zh-CN" sz="1000" b="1" strike="noStrike" spc="105">
                <a:solidFill>
                  <a:srgbClr val="9B9DA0"/>
                </a:solidFill>
                <a:latin typeface="Open Sans"/>
                <a:ea typeface="Open Sans"/>
              </a:rPr>
              <a:t>法人形態</a:t>
            </a:r>
            <a:endParaRPr lang="en-US" sz="1000" b="0" strike="noStrike" spc="-1">
              <a:solidFill>
                <a:srgbClr val="000000"/>
              </a:solidFill>
              <a:latin typeface="Arial"/>
            </a:endParaRPr>
          </a:p>
        </p:txBody>
      </p:sp>
      <p:sp>
        <p:nvSpPr>
          <p:cNvPr id="2064630646" name="Text 11"/>
          <p:cNvSpPr/>
          <p:nvPr/>
        </p:nvSpPr>
        <p:spPr bwMode="auto">
          <a:xfrm>
            <a:off x="819000" y="9006840"/>
            <a:ext cx="4138200" cy="479160"/>
          </a:xfrm>
          <a:prstGeom prst="rect">
            <a:avLst/>
          </a:prstGeom>
          <a:noFill/>
          <a:ln w="0">
            <a:noFill/>
          </a:ln>
        </p:spPr>
        <p:style>
          <a:lnRef idx="0"/>
          <a:fillRef idx="0"/>
          <a:effectRef idx="0"/>
          <a:fontRef idx="minor"/>
        </p:style>
        <p:txBody>
          <a:bodyPr lIns="25560" tIns="25560" rIns="25560" bIns="25560" anchor="t">
            <a:normAutofit fontScale="96666" lnSpcReduction="20000"/>
          </a:bodyPr>
          <a:p>
            <a:pPr defTabSz="914400">
              <a:lnSpc>
                <a:spcPct val="145000"/>
              </a:lnSpc>
              <a:tabLst>
                <a:tab pos="0" algn="l"/>
              </a:tabLst>
              <a:defRPr/>
            </a:pPr>
            <a:r>
              <a:rPr lang="zh-CN" sz="1200" b="0" strike="noStrike" spc="-1">
                <a:solidFill>
                  <a:srgbClr val="4A4A4A"/>
                </a:solidFill>
                <a:latin typeface="Open Sans"/>
                <a:ea typeface="Open Sans"/>
              </a:rPr>
              <a:t>一般社団法人 → </a:t>
            </a:r>
            <a:r>
              <a:rPr lang="en-US" sz="1200" b="0" strike="noStrike" spc="-1">
                <a:solidFill>
                  <a:srgbClr val="4A4A4A"/>
                </a:solidFill>
                <a:latin typeface="Open Sans"/>
                <a:ea typeface="Open Sans"/>
              </a:rPr>
              <a:t>NPO → </a:t>
            </a:r>
            <a:r>
              <a:rPr lang="zh-CN" sz="1200" b="0" strike="noStrike" spc="-1">
                <a:solidFill>
                  <a:srgbClr val="4A4A4A"/>
                </a:solidFill>
                <a:latin typeface="Open Sans"/>
                <a:ea typeface="Open Sans"/>
              </a:rPr>
              <a:t>認定</a:t>
            </a:r>
            <a:r>
              <a:rPr lang="en-US" sz="1200" b="0" strike="noStrike" spc="-1">
                <a:solidFill>
                  <a:srgbClr val="4A4A4A"/>
                </a:solidFill>
                <a:latin typeface="Open Sans"/>
                <a:ea typeface="Open Sans"/>
              </a:rPr>
              <a:t>NPO — tax-deductible status.</a:t>
            </a:r>
            <a:endParaRPr lang="en-US" sz="1200" b="0" strike="noStrike" spc="-1">
              <a:solidFill>
                <a:srgbClr val="000000"/>
              </a:solidFill>
              <a:latin typeface="Arial"/>
            </a:endParaRPr>
          </a:p>
        </p:txBody>
      </p:sp>
      <p:sp>
        <p:nvSpPr>
          <p:cNvPr id="216108526" name="Text 12"/>
          <p:cNvSpPr/>
          <p:nvPr/>
        </p:nvSpPr>
        <p:spPr bwMode="auto">
          <a:xfrm>
            <a:off x="5371200" y="2588760"/>
            <a:ext cx="13536720" cy="246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strike="noStrike" spc="145">
                <a:solidFill>
                  <a:srgbClr val="9B9DA0"/>
                </a:solidFill>
                <a:latin typeface="Open Sans"/>
                <a:ea typeface="Open Sans"/>
              </a:rPr>
              <a:t>ADVISORY BOARD · </a:t>
            </a:r>
            <a:r>
              <a:rPr lang="zh-CN" sz="1050" b="1" strike="noStrike" spc="145">
                <a:solidFill>
                  <a:srgbClr val="9B9DA0"/>
                </a:solidFill>
                <a:latin typeface="Open Sans"/>
                <a:ea typeface="Open Sans"/>
              </a:rPr>
              <a:t>顧問</a:t>
            </a:r>
            <a:endParaRPr lang="en-US" sz="1050" b="0" strike="noStrike" spc="-1">
              <a:solidFill>
                <a:srgbClr val="000000"/>
              </a:solidFill>
              <a:latin typeface="Arial"/>
            </a:endParaRPr>
          </a:p>
        </p:txBody>
      </p:sp>
      <p:pic>
        <p:nvPicPr>
          <p:cNvPr id="1093634668" name="Image 1" descr="preencoded.png"/>
          <p:cNvPicPr/>
          <p:nvPr/>
        </p:nvPicPr>
        <p:blipFill rotWithShape="1">
          <a:blip r:embed="rId4"/>
          <a:stretch/>
        </p:blipFill>
        <p:spPr bwMode="auto">
          <a:xfrm>
            <a:off x="5371200" y="2931840"/>
            <a:ext cx="1959120" cy="2017080"/>
          </a:xfrm>
          <a:prstGeom prst="rect">
            <a:avLst/>
          </a:prstGeom>
          <a:ln w="0">
            <a:noFill/>
          </a:ln>
        </p:spPr>
      </p:pic>
      <p:sp>
        <p:nvSpPr>
          <p:cNvPr id="1687392215" name="Shape 13"/>
          <p:cNvSpPr/>
          <p:nvPr/>
        </p:nvSpPr>
        <p:spPr bwMode="auto">
          <a:xfrm>
            <a:off x="5371200" y="5512680"/>
            <a:ext cx="1959120" cy="27360"/>
          </a:xfrm>
          <a:prstGeom prst="rect">
            <a:avLst/>
          </a:prstGeom>
          <a:solidFill>
            <a:srgbClr val="E58520"/>
          </a:solidFill>
          <a:ln w="0">
            <a:noFill/>
          </a:ln>
        </p:spPr>
        <p:style>
          <a:lnRef idx="0"/>
          <a:fillRef idx="0"/>
          <a:effectRef idx="0"/>
          <a:fontRef idx="minor"/>
        </p:style>
        <p:txBody>
          <a:bodyPr lIns="90000" tIns="-16560" rIns="90000" bIns="-16560" anchor="t">
            <a:noAutofit/>
          </a:bodyPr>
          <a:p>
            <a:pPr>
              <a:lnSpc>
                <a:spcPct val="100000"/>
              </a:lnSpc>
              <a:defRPr/>
            </a:pPr>
            <a:endParaRPr lang="en-US" sz="1800" b="0" strike="noStrike" spc="-1">
              <a:solidFill>
                <a:srgbClr val="FFFFFF"/>
              </a:solidFill>
              <a:latin typeface="Arial"/>
              <a:ea typeface="Arial"/>
            </a:endParaRPr>
          </a:p>
        </p:txBody>
      </p:sp>
      <p:sp>
        <p:nvSpPr>
          <p:cNvPr id="159871533" name="Text 14"/>
          <p:cNvSpPr/>
          <p:nvPr/>
        </p:nvSpPr>
        <p:spPr bwMode="auto">
          <a:xfrm>
            <a:off x="5371200" y="5655600"/>
            <a:ext cx="215496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2E2E2E"/>
                </a:solidFill>
                <a:latin typeface="Sora"/>
                <a:ea typeface="Sora"/>
              </a:rPr>
              <a:t>Ray Ozzie</a:t>
            </a:r>
            <a:endParaRPr lang="en-US" sz="1450" b="0" strike="noStrike" spc="-1">
              <a:solidFill>
                <a:srgbClr val="000000"/>
              </a:solidFill>
              <a:latin typeface="Arial"/>
            </a:endParaRPr>
          </a:p>
        </p:txBody>
      </p:sp>
      <p:sp>
        <p:nvSpPr>
          <p:cNvPr id="1329804788" name="Text 15"/>
          <p:cNvSpPr/>
          <p:nvPr/>
        </p:nvSpPr>
        <p:spPr bwMode="auto">
          <a:xfrm>
            <a:off x="5371200" y="5912640"/>
            <a:ext cx="21549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6E7174"/>
                </a:solidFill>
                <a:latin typeface="Open Sans"/>
                <a:ea typeface="Open Sans"/>
              </a:rPr>
              <a:t>Executive Chair, Blues</a:t>
            </a:r>
            <a:endParaRPr lang="en-US" sz="1150" b="0" strike="noStrike" spc="-1">
              <a:solidFill>
                <a:srgbClr val="000000"/>
              </a:solidFill>
              <a:latin typeface="Arial"/>
            </a:endParaRPr>
          </a:p>
        </p:txBody>
      </p:sp>
      <p:pic>
        <p:nvPicPr>
          <p:cNvPr id="153874410" name="Image 2" descr="preencoded.png"/>
          <p:cNvPicPr/>
          <p:nvPr/>
        </p:nvPicPr>
        <p:blipFill rotWithShape="1">
          <a:blip r:embed="rId5"/>
          <a:stretch/>
        </p:blipFill>
        <p:spPr bwMode="auto">
          <a:xfrm>
            <a:off x="7370280" y="2931840"/>
            <a:ext cx="1959120" cy="2017080"/>
          </a:xfrm>
          <a:prstGeom prst="rect">
            <a:avLst/>
          </a:prstGeom>
          <a:ln w="0">
            <a:noFill/>
          </a:ln>
        </p:spPr>
      </p:pic>
      <p:sp>
        <p:nvSpPr>
          <p:cNvPr id="974372928" name="Shape 16"/>
          <p:cNvSpPr/>
          <p:nvPr/>
        </p:nvSpPr>
        <p:spPr bwMode="auto">
          <a:xfrm>
            <a:off x="7440480" y="5512680"/>
            <a:ext cx="1959120" cy="27360"/>
          </a:xfrm>
          <a:prstGeom prst="rect">
            <a:avLst/>
          </a:prstGeom>
          <a:solidFill>
            <a:srgbClr val="E6E6E2"/>
          </a:solidFill>
          <a:ln w="0">
            <a:noFill/>
          </a:ln>
        </p:spPr>
        <p:style>
          <a:lnRef idx="0"/>
          <a:fillRef idx="0"/>
          <a:effectRef idx="0"/>
          <a:fontRef idx="minor"/>
        </p:style>
        <p:txBody>
          <a:bodyPr lIns="90000" tIns="-16560" rIns="90000" bIns="-16560" anchor="t">
            <a:noAutofit/>
          </a:bodyPr>
          <a:p>
            <a:pPr>
              <a:lnSpc>
                <a:spcPct val="100000"/>
              </a:lnSpc>
              <a:defRPr/>
            </a:pPr>
            <a:endParaRPr lang="en-US" sz="1800" b="0" strike="noStrike" spc="-1">
              <a:solidFill>
                <a:srgbClr val="000000"/>
              </a:solidFill>
              <a:latin typeface="Arial"/>
              <a:ea typeface="Arial"/>
            </a:endParaRPr>
          </a:p>
        </p:txBody>
      </p:sp>
      <p:sp>
        <p:nvSpPr>
          <p:cNvPr id="655696382" name="Text 17"/>
          <p:cNvSpPr/>
          <p:nvPr/>
        </p:nvSpPr>
        <p:spPr bwMode="auto">
          <a:xfrm>
            <a:off x="7440480" y="5703840"/>
            <a:ext cx="215496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2E2E2E"/>
                </a:solidFill>
                <a:latin typeface="Sora"/>
                <a:ea typeface="Sora"/>
              </a:rPr>
              <a:t>San Poisson</a:t>
            </a:r>
            <a:endParaRPr lang="en-US" sz="1450" b="0" strike="noStrike" spc="-1">
              <a:solidFill>
                <a:srgbClr val="000000"/>
              </a:solidFill>
              <a:latin typeface="Arial"/>
            </a:endParaRPr>
          </a:p>
        </p:txBody>
      </p:sp>
      <p:sp>
        <p:nvSpPr>
          <p:cNvPr id="1624311711" name="Text 18"/>
          <p:cNvSpPr/>
          <p:nvPr/>
        </p:nvSpPr>
        <p:spPr bwMode="auto">
          <a:xfrm>
            <a:off x="7440480" y="5961240"/>
            <a:ext cx="2154960" cy="227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strike="noStrike" spc="-1">
                <a:solidFill>
                  <a:srgbClr val="6E7174"/>
                </a:solidFill>
                <a:latin typeface="Open Sans"/>
                <a:ea typeface="Open Sans"/>
              </a:rPr>
              <a:t>Project Manager</a:t>
            </a:r>
            <a:endParaRPr lang="en-US" sz="1150" b="0" strike="noStrike" spc="-1">
              <a:solidFill>
                <a:srgbClr val="000000"/>
              </a:solidFill>
              <a:latin typeface="Arial"/>
            </a:endParaRPr>
          </a:p>
        </p:txBody>
      </p:sp>
      <p:pic>
        <p:nvPicPr>
          <p:cNvPr id="1097238908" name="Image 3" descr="preencoded.png"/>
          <p:cNvPicPr/>
          <p:nvPr/>
        </p:nvPicPr>
        <p:blipFill rotWithShape="1">
          <a:blip r:embed="rId6"/>
          <a:stretch/>
        </p:blipFill>
        <p:spPr bwMode="auto">
          <a:xfrm>
            <a:off x="9369720" y="2943720"/>
            <a:ext cx="2377080" cy="2005200"/>
          </a:xfrm>
          <a:prstGeom prst="rect">
            <a:avLst/>
          </a:prstGeom>
          <a:ln w="0">
            <a:noFill/>
          </a:ln>
        </p:spPr>
      </p:pic>
      <p:sp>
        <p:nvSpPr>
          <p:cNvPr id="543946881" name="Shape 19"/>
          <p:cNvSpPr/>
          <p:nvPr/>
        </p:nvSpPr>
        <p:spPr bwMode="auto">
          <a:xfrm>
            <a:off x="9510120" y="5526720"/>
            <a:ext cx="1959120" cy="27360"/>
          </a:xfrm>
          <a:prstGeom prst="rect">
            <a:avLst/>
          </a:prstGeom>
          <a:solidFill>
            <a:srgbClr val="E6E6E2"/>
          </a:solidFill>
          <a:ln w="0">
            <a:noFill/>
          </a:ln>
        </p:spPr>
        <p:style>
          <a:lnRef idx="0"/>
          <a:fillRef idx="0"/>
          <a:effectRef idx="0"/>
          <a:fontRef idx="minor"/>
        </p:style>
        <p:txBody>
          <a:bodyPr lIns="90000" tIns="-16560" rIns="90000" bIns="-16560" anchor="t">
            <a:noAutofit/>
          </a:bodyPr>
          <a:p>
            <a:pPr>
              <a:lnSpc>
                <a:spcPct val="100000"/>
              </a:lnSpc>
              <a:defRPr/>
            </a:pPr>
            <a:endParaRPr lang="en-US" sz="1800" b="0" strike="noStrike" spc="-1">
              <a:solidFill>
                <a:srgbClr val="000000"/>
              </a:solidFill>
              <a:latin typeface="Arial"/>
              <a:ea typeface="Arial"/>
            </a:endParaRPr>
          </a:p>
        </p:txBody>
      </p:sp>
      <p:sp>
        <p:nvSpPr>
          <p:cNvPr id="1963097961" name="Text 20"/>
          <p:cNvSpPr/>
          <p:nvPr/>
        </p:nvSpPr>
        <p:spPr bwMode="auto">
          <a:xfrm>
            <a:off x="9510120" y="5669640"/>
            <a:ext cx="215496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2E2E2E"/>
                </a:solidFill>
                <a:latin typeface="Sora"/>
                <a:ea typeface="Sora"/>
              </a:rPr>
              <a:t>Takuo Dome</a:t>
            </a:r>
            <a:endParaRPr lang="en-US" sz="1450" b="0" strike="noStrike" spc="-1">
              <a:solidFill>
                <a:srgbClr val="000000"/>
              </a:solidFill>
              <a:latin typeface="Arial"/>
            </a:endParaRPr>
          </a:p>
        </p:txBody>
      </p:sp>
      <p:sp>
        <p:nvSpPr>
          <p:cNvPr id="995781924" name="Text 21"/>
          <p:cNvSpPr/>
          <p:nvPr/>
        </p:nvSpPr>
        <p:spPr bwMode="auto">
          <a:xfrm>
            <a:off x="9510120" y="5927039"/>
            <a:ext cx="2022480" cy="408600"/>
          </a:xfrm>
          <a:prstGeom prst="rect">
            <a:avLst/>
          </a:prstGeom>
          <a:noFill/>
          <a:ln w="0">
            <a:noFill/>
          </a:ln>
        </p:spPr>
        <p:style>
          <a:lnRef idx="0"/>
          <a:fillRef idx="0"/>
          <a:effectRef idx="0"/>
          <a:fontRef idx="minor"/>
        </p:style>
        <p:txBody>
          <a:bodyPr lIns="25560" tIns="25560" rIns="25560" bIns="25560" anchor="t">
            <a:normAutofit fontScale="75000"/>
          </a:bodyPr>
          <a:p>
            <a:pPr defTabSz="914400">
              <a:lnSpc>
                <a:spcPct val="130000"/>
              </a:lnSpc>
              <a:tabLst>
                <a:tab pos="0" algn="l"/>
              </a:tabLst>
              <a:defRPr/>
            </a:pPr>
            <a:r>
              <a:rPr lang="en-US" sz="1150" b="0" strike="noStrike" spc="-1">
                <a:solidFill>
                  <a:srgbClr val="6E7174"/>
                </a:solidFill>
                <a:latin typeface="Open Sans"/>
                <a:ea typeface="Open Sans"/>
              </a:rPr>
              <a:t>Prof. Emeritus, Osaka Univ. Director, Inochi Forum</a:t>
            </a:r>
            <a:endParaRPr lang="en-US" sz="1150" b="0" strike="noStrike" spc="-1">
              <a:solidFill>
                <a:srgbClr val="000000"/>
              </a:solidFill>
              <a:latin typeface="Arial"/>
            </a:endParaRPr>
          </a:p>
        </p:txBody>
      </p:sp>
      <p:pic>
        <p:nvPicPr>
          <p:cNvPr id="272267764" name="Image 4" descr="preencoded.png"/>
          <p:cNvPicPr/>
          <p:nvPr/>
        </p:nvPicPr>
        <p:blipFill rotWithShape="1">
          <a:blip r:embed="rId7"/>
          <a:stretch/>
        </p:blipFill>
        <p:spPr bwMode="auto">
          <a:xfrm>
            <a:off x="11786400" y="2931840"/>
            <a:ext cx="1959120" cy="2017080"/>
          </a:xfrm>
          <a:prstGeom prst="rect">
            <a:avLst/>
          </a:prstGeom>
          <a:ln w="0">
            <a:noFill/>
          </a:ln>
        </p:spPr>
      </p:pic>
      <p:sp>
        <p:nvSpPr>
          <p:cNvPr id="2049671308" name="Shape 22"/>
          <p:cNvSpPr/>
          <p:nvPr/>
        </p:nvSpPr>
        <p:spPr bwMode="auto">
          <a:xfrm>
            <a:off x="11579400" y="5526720"/>
            <a:ext cx="1959120" cy="27360"/>
          </a:xfrm>
          <a:prstGeom prst="rect">
            <a:avLst/>
          </a:prstGeom>
          <a:solidFill>
            <a:srgbClr val="E6E6E2"/>
          </a:solidFill>
          <a:ln w="0">
            <a:noFill/>
          </a:ln>
        </p:spPr>
        <p:style>
          <a:lnRef idx="0"/>
          <a:fillRef idx="0"/>
          <a:effectRef idx="0"/>
          <a:fontRef idx="minor"/>
        </p:style>
        <p:txBody>
          <a:bodyPr lIns="90000" tIns="-16560" rIns="90000" bIns="-16560" anchor="t">
            <a:noAutofit/>
          </a:bodyPr>
          <a:p>
            <a:pPr>
              <a:lnSpc>
                <a:spcPct val="100000"/>
              </a:lnSpc>
              <a:defRPr/>
            </a:pPr>
            <a:endParaRPr lang="en-US" sz="1800" b="0" strike="noStrike" spc="-1">
              <a:solidFill>
                <a:srgbClr val="000000"/>
              </a:solidFill>
              <a:latin typeface="Arial"/>
              <a:ea typeface="Arial"/>
            </a:endParaRPr>
          </a:p>
        </p:txBody>
      </p:sp>
      <p:sp>
        <p:nvSpPr>
          <p:cNvPr id="1335228086" name="Text 23"/>
          <p:cNvSpPr/>
          <p:nvPr/>
        </p:nvSpPr>
        <p:spPr bwMode="auto">
          <a:xfrm>
            <a:off x="11579400" y="5669640"/>
            <a:ext cx="215496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2E2E2E"/>
                </a:solidFill>
                <a:latin typeface="Sora"/>
                <a:ea typeface="Sora"/>
              </a:rPr>
              <a:t>Evin Zoet</a:t>
            </a:r>
            <a:endParaRPr lang="en-US" sz="1450" b="0" strike="noStrike" spc="-1">
              <a:solidFill>
                <a:srgbClr val="000000"/>
              </a:solidFill>
              <a:latin typeface="Arial"/>
            </a:endParaRPr>
          </a:p>
        </p:txBody>
      </p:sp>
      <p:sp>
        <p:nvSpPr>
          <p:cNvPr id="1626136171" name="Text 24"/>
          <p:cNvSpPr/>
          <p:nvPr/>
        </p:nvSpPr>
        <p:spPr bwMode="auto">
          <a:xfrm>
            <a:off x="11579400" y="5927039"/>
            <a:ext cx="202248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defRPr/>
            </a:pPr>
            <a:r>
              <a:rPr lang="en-US" sz="1150" b="0" strike="noStrike" spc="-1">
                <a:solidFill>
                  <a:srgbClr val="6E7174"/>
                </a:solidFill>
                <a:latin typeface="Open Sans"/>
                <a:ea typeface="Open Sans"/>
              </a:rPr>
              <a:t>Co-Rep. Director, Transom</a:t>
            </a:r>
            <a:endParaRPr lang="en-US" sz="1150" b="0" strike="noStrike" spc="-1">
              <a:solidFill>
                <a:srgbClr val="000000"/>
              </a:solidFill>
              <a:latin typeface="Arial"/>
            </a:endParaRPr>
          </a:p>
        </p:txBody>
      </p:sp>
      <p:pic>
        <p:nvPicPr>
          <p:cNvPr id="312987206" name="Image 5" descr="preencoded.png"/>
          <p:cNvPicPr/>
          <p:nvPr/>
        </p:nvPicPr>
        <p:blipFill rotWithShape="1">
          <a:blip r:embed="rId8"/>
          <a:stretch/>
        </p:blipFill>
        <p:spPr bwMode="auto">
          <a:xfrm>
            <a:off x="13785840" y="2931840"/>
            <a:ext cx="1892160" cy="2017080"/>
          </a:xfrm>
          <a:prstGeom prst="rect">
            <a:avLst/>
          </a:prstGeom>
          <a:ln w="0">
            <a:noFill/>
          </a:ln>
        </p:spPr>
      </p:pic>
      <p:sp>
        <p:nvSpPr>
          <p:cNvPr id="1894836525" name="Shape 25"/>
          <p:cNvSpPr/>
          <p:nvPr/>
        </p:nvSpPr>
        <p:spPr bwMode="auto">
          <a:xfrm>
            <a:off x="13649040" y="5526720"/>
            <a:ext cx="1959120" cy="27360"/>
          </a:xfrm>
          <a:prstGeom prst="rect">
            <a:avLst/>
          </a:prstGeom>
          <a:solidFill>
            <a:srgbClr val="E6E6E2"/>
          </a:solidFill>
          <a:ln w="0">
            <a:noFill/>
          </a:ln>
        </p:spPr>
        <p:style>
          <a:lnRef idx="0"/>
          <a:fillRef idx="0"/>
          <a:effectRef idx="0"/>
          <a:fontRef idx="minor"/>
        </p:style>
        <p:txBody>
          <a:bodyPr lIns="90000" tIns="-16560" rIns="90000" bIns="-16560" anchor="t">
            <a:noAutofit/>
          </a:bodyPr>
          <a:p>
            <a:pPr>
              <a:lnSpc>
                <a:spcPct val="100000"/>
              </a:lnSpc>
              <a:defRPr/>
            </a:pPr>
            <a:endParaRPr lang="en-US" sz="1800" b="0" strike="noStrike" spc="-1">
              <a:solidFill>
                <a:srgbClr val="000000"/>
              </a:solidFill>
              <a:latin typeface="Arial"/>
              <a:ea typeface="Arial"/>
            </a:endParaRPr>
          </a:p>
        </p:txBody>
      </p:sp>
      <p:sp>
        <p:nvSpPr>
          <p:cNvPr id="640559484" name="Text 26"/>
          <p:cNvSpPr/>
          <p:nvPr/>
        </p:nvSpPr>
        <p:spPr bwMode="auto">
          <a:xfrm>
            <a:off x="13649040" y="5669640"/>
            <a:ext cx="215496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2E2E2E"/>
                </a:solidFill>
                <a:latin typeface="Sora"/>
                <a:ea typeface="Sora"/>
              </a:rPr>
              <a:t>Yoshiko Zoet-Suzuki</a:t>
            </a:r>
            <a:endParaRPr lang="en-US" sz="1450" b="0" strike="noStrike" spc="-1">
              <a:solidFill>
                <a:srgbClr val="000000"/>
              </a:solidFill>
              <a:latin typeface="Arial"/>
            </a:endParaRPr>
          </a:p>
        </p:txBody>
      </p:sp>
      <p:sp>
        <p:nvSpPr>
          <p:cNvPr id="2066954811" name="Text 27"/>
          <p:cNvSpPr/>
          <p:nvPr/>
        </p:nvSpPr>
        <p:spPr bwMode="auto">
          <a:xfrm>
            <a:off x="13649040" y="5927039"/>
            <a:ext cx="202248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defRPr/>
            </a:pPr>
            <a:r>
              <a:rPr lang="en-US" sz="1150" b="0" strike="noStrike" spc="-1">
                <a:solidFill>
                  <a:srgbClr val="6E7174"/>
                </a:solidFill>
                <a:latin typeface="Open Sans"/>
                <a:ea typeface="Open Sans"/>
              </a:rPr>
              <a:t>Co-Rep. Director, Transom</a:t>
            </a:r>
            <a:endParaRPr lang="en-US" sz="1150" b="0" strike="noStrike" spc="-1">
              <a:solidFill>
                <a:srgbClr val="000000"/>
              </a:solidFill>
              <a:latin typeface="Arial"/>
            </a:endParaRPr>
          </a:p>
        </p:txBody>
      </p:sp>
      <p:pic>
        <p:nvPicPr>
          <p:cNvPr id="1006365764" name="Picture 2138552677" descr="takata_cropped.jpg"/>
          <p:cNvPicPr/>
          <p:nvPr/>
        </p:nvPicPr>
        <p:blipFill rotWithShape="1">
          <a:blip r:embed="rId9"/>
          <a:stretch/>
        </p:blipFill>
        <p:spPr bwMode="auto">
          <a:xfrm>
            <a:off x="15718320" y="2931840"/>
            <a:ext cx="1959120" cy="2017080"/>
          </a:xfrm>
          <a:prstGeom prst="rect">
            <a:avLst/>
          </a:prstGeom>
          <a:ln w="0">
            <a:noFill/>
          </a:ln>
        </p:spPr>
      </p:pic>
      <p:sp>
        <p:nvSpPr>
          <p:cNvPr id="1876729592" name="Shape 13 Takata"/>
          <p:cNvSpPr/>
          <p:nvPr/>
        </p:nvSpPr>
        <p:spPr bwMode="auto">
          <a:xfrm>
            <a:off x="15718320" y="5512680"/>
            <a:ext cx="1959120" cy="27360"/>
          </a:xfrm>
          <a:prstGeom prst="rect">
            <a:avLst/>
          </a:prstGeom>
          <a:solidFill>
            <a:srgbClr val="E58520"/>
          </a:solidFill>
          <a:ln w="0">
            <a:noFill/>
          </a:ln>
        </p:spPr>
        <p:style>
          <a:lnRef idx="0"/>
          <a:fillRef idx="0"/>
          <a:effectRef idx="0"/>
          <a:fontRef idx="minor"/>
        </p:style>
        <p:txBody>
          <a:bodyPr lIns="90000" tIns="-16560" rIns="90000" bIns="-16560" anchor="t">
            <a:noAutofit/>
          </a:bodyPr>
          <a:p>
            <a:pPr>
              <a:lnSpc>
                <a:spcPct val="100000"/>
              </a:lnSpc>
              <a:defRPr/>
            </a:pPr>
            <a:endParaRPr lang="en-US" sz="1800" b="0" strike="noStrike" spc="-1">
              <a:solidFill>
                <a:srgbClr val="FFFFFF"/>
              </a:solidFill>
              <a:latin typeface="Arial"/>
              <a:ea typeface="Arial"/>
            </a:endParaRPr>
          </a:p>
        </p:txBody>
      </p:sp>
      <p:sp>
        <p:nvSpPr>
          <p:cNvPr id="1740577948" name="Text 14 Takata"/>
          <p:cNvSpPr/>
          <p:nvPr/>
        </p:nvSpPr>
        <p:spPr bwMode="auto">
          <a:xfrm>
            <a:off x="15718320" y="5655600"/>
            <a:ext cx="215496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strike="noStrike" spc="-1">
                <a:solidFill>
                  <a:srgbClr val="2E2E2E"/>
                </a:solidFill>
                <a:latin typeface="Sora"/>
                <a:ea typeface="Sora"/>
              </a:rPr>
              <a:t>Henry Takata</a:t>
            </a:r>
            <a:endParaRPr lang="en-US" sz="1450" b="0" strike="noStrike" spc="-1">
              <a:solidFill>
                <a:srgbClr val="000000"/>
              </a:solidFill>
              <a:latin typeface="Arial"/>
            </a:endParaRPr>
          </a:p>
        </p:txBody>
      </p:sp>
      <p:sp>
        <p:nvSpPr>
          <p:cNvPr id="555142251" name="Text 15 Takata"/>
          <p:cNvSpPr/>
          <p:nvPr/>
        </p:nvSpPr>
        <p:spPr bwMode="auto">
          <a:xfrm>
            <a:off x="15718320" y="5912640"/>
            <a:ext cx="2154960" cy="227520"/>
          </a:xfrm>
          <a:prstGeom prst="rect">
            <a:avLst/>
          </a:prstGeom>
          <a:noFill/>
          <a:ln w="0">
            <a:noFill/>
          </a:ln>
        </p:spPr>
        <p:style>
          <a:lnRef idx="0"/>
          <a:fillRef idx="0"/>
          <a:effectRef idx="0"/>
          <a:fontRef idx="minor"/>
        </p:style>
        <p:txBody>
          <a:bodyPr lIns="25560" tIns="25560" rIns="25560" bIns="25560" anchor="t">
            <a:normAutofit fontScale="93333"/>
          </a:bodyPr>
          <a:p>
            <a:pPr defTabSz="914400">
              <a:lnSpc>
                <a:spcPct val="100000"/>
              </a:lnSpc>
              <a:tabLst>
                <a:tab pos="0" algn="l"/>
              </a:tabLst>
              <a:defRPr/>
            </a:pPr>
            <a:r>
              <a:rPr lang="en-US" sz="1150" b="0" strike="noStrike" spc="-1">
                <a:solidFill>
                  <a:srgbClr val="6E7174"/>
                </a:solidFill>
                <a:latin typeface="Open Sans"/>
                <a:ea typeface="Open Sans"/>
              </a:rPr>
              <a:t>Business Development, SynTech</a:t>
            </a:r>
            <a:endParaRPr lang="en-US" sz="115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2103284899" name="Shape 0"/>
          <p:cNvSpPr/>
          <p:nvPr/>
        </p:nvSpPr>
        <p:spPr bwMode="auto">
          <a:xfrm>
            <a:off x="0" y="0"/>
            <a:ext cx="18286920" cy="75240"/>
          </a:xfrm>
          <a:prstGeom prst="rect">
            <a:avLst/>
          </a:prstGeom>
          <a:solidFill>
            <a:srgbClr val="9B9DA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1044472453" name="Shape 1"/>
          <p:cNvSpPr/>
          <p:nvPr/>
        </p:nvSpPr>
        <p:spPr bwMode="auto">
          <a:xfrm>
            <a:off x="609480" y="89532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887863196" name="Text 2"/>
          <p:cNvSpPr/>
          <p:nvPr/>
        </p:nvSpPr>
        <p:spPr bwMode="auto">
          <a:xfrm>
            <a:off x="1181160" y="800280"/>
            <a:ext cx="280944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REPLICATION · </a:t>
            </a:r>
            <a:r>
              <a:rPr lang="zh-CN" sz="1300" b="1" strike="noStrike" spc="201">
                <a:solidFill>
                  <a:srgbClr val="9B9DA0"/>
                </a:solidFill>
                <a:latin typeface="Open Sans"/>
                <a:ea typeface="Open Sans"/>
              </a:rPr>
              <a:t>横展開 </a:t>
            </a:r>
            <a:r>
              <a:rPr lang="en-US" sz="1300" b="1" strike="noStrike" spc="201">
                <a:solidFill>
                  <a:srgbClr val="9B9DA0"/>
                </a:solidFill>
                <a:latin typeface="Open Sans"/>
                <a:ea typeface="Open Sans"/>
              </a:rPr>
              <a:t>· 14</a:t>
            </a:r>
            <a:endParaRPr lang="en-US" sz="1300" b="0" strike="noStrike" spc="-1">
              <a:solidFill>
                <a:srgbClr val="000000"/>
              </a:solidFill>
              <a:latin typeface="Arial"/>
            </a:endParaRPr>
          </a:p>
        </p:txBody>
      </p:sp>
      <p:sp>
        <p:nvSpPr>
          <p:cNvPr id="587088565" name="Text 3"/>
          <p:cNvSpPr/>
          <p:nvPr/>
        </p:nvSpPr>
        <p:spPr bwMode="auto">
          <a:xfrm>
            <a:off x="609480" y="1247759"/>
            <a:ext cx="18774720" cy="66492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2000"/>
              </a:lnSpc>
              <a:tabLst>
                <a:tab pos="0" algn="l"/>
              </a:tabLst>
              <a:defRPr/>
            </a:pPr>
            <a:r>
              <a:rPr lang="en-US" sz="4800" b="1" strike="noStrike" spc="-49">
                <a:solidFill>
                  <a:srgbClr val="2E2E2E"/>
                </a:solidFill>
                <a:latin typeface="Sora"/>
                <a:ea typeface="Sora"/>
              </a:rPr>
              <a:t>One village, an open blueprint</a:t>
            </a:r>
            <a:endParaRPr lang="en-US" sz="4800" b="0" strike="noStrike" spc="-1">
              <a:solidFill>
                <a:srgbClr val="000000"/>
              </a:solidFill>
              <a:latin typeface="Arial"/>
            </a:endParaRPr>
          </a:p>
        </p:txBody>
      </p:sp>
      <p:sp>
        <p:nvSpPr>
          <p:cNvPr id="196602108" name="Text 4"/>
          <p:cNvSpPr/>
          <p:nvPr/>
        </p:nvSpPr>
        <p:spPr bwMode="auto">
          <a:xfrm>
            <a:off x="609480" y="1971000"/>
            <a:ext cx="18774720" cy="40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strike="noStrike" spc="-1">
                <a:solidFill>
                  <a:srgbClr val="6E7174"/>
                </a:solidFill>
                <a:latin typeface="Noto Sans JP"/>
                <a:ea typeface="Noto Sans JP"/>
              </a:rPr>
              <a:t>御杖は終着点ではなく、原型。公開された設計図。</a:t>
            </a:r>
            <a:endParaRPr lang="en-US" sz="1950" b="0" strike="noStrike" spc="-1">
              <a:solidFill>
                <a:srgbClr val="000000"/>
              </a:solidFill>
              <a:latin typeface="Arial"/>
            </a:endParaRPr>
          </a:p>
        </p:txBody>
      </p:sp>
      <p:sp>
        <p:nvSpPr>
          <p:cNvPr id="904857123" name="Text 5"/>
          <p:cNvSpPr/>
          <p:nvPr/>
        </p:nvSpPr>
        <p:spPr bwMode="auto">
          <a:xfrm>
            <a:off x="487080" y="4843080"/>
            <a:ext cx="1682280" cy="64656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0000"/>
              </a:lnSpc>
              <a:tabLst>
                <a:tab pos="0" algn="l"/>
              </a:tabLst>
              <a:defRPr/>
            </a:pPr>
            <a:r>
              <a:rPr lang="en-US" sz="4800" b="1" strike="noStrike" spc="-1">
                <a:solidFill>
                  <a:srgbClr val="E58520"/>
                </a:solidFill>
                <a:latin typeface="Sora"/>
                <a:ea typeface="Sora"/>
              </a:rPr>
              <a:t>100s</a:t>
            </a:r>
            <a:endParaRPr lang="en-US" sz="4800" b="0" strike="noStrike" spc="-1">
              <a:solidFill>
                <a:srgbClr val="000000"/>
              </a:solidFill>
              <a:latin typeface="Arial"/>
            </a:endParaRPr>
          </a:p>
        </p:txBody>
      </p:sp>
      <p:sp>
        <p:nvSpPr>
          <p:cNvPr id="1084370067" name="Text 6"/>
          <p:cNvSpPr/>
          <p:nvPr/>
        </p:nvSpPr>
        <p:spPr bwMode="auto">
          <a:xfrm>
            <a:off x="2207880" y="5113800"/>
            <a:ext cx="6021360" cy="65052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40000"/>
              </a:lnSpc>
              <a:tabLst>
                <a:tab pos="0" algn="l"/>
              </a:tabLst>
              <a:defRPr/>
            </a:pPr>
            <a:r>
              <a:rPr lang="en-US" sz="1750" b="0" strike="noStrike" spc="-1">
                <a:solidFill>
                  <a:srgbClr val="4A4A4A"/>
                </a:solidFill>
                <a:latin typeface="Open Sans"/>
                <a:ea typeface="Open Sans"/>
              </a:rPr>
              <a:t>of depopulating municipalities share the same four raw materials. </a:t>
            </a:r>
            <a:r>
              <a:rPr lang="zh-CN" sz="1750" b="0" strike="noStrike" spc="-1">
                <a:solidFill>
                  <a:srgbClr val="4A4A4A"/>
                </a:solidFill>
                <a:latin typeface="Open Sans"/>
                <a:ea typeface="Open Sans"/>
              </a:rPr>
              <a:t>同じ条件を持つ自治体は数百。</a:t>
            </a:r>
            <a:endParaRPr lang="en-US" sz="1750" b="0" strike="noStrike" spc="-1">
              <a:solidFill>
                <a:srgbClr val="000000"/>
              </a:solidFill>
              <a:latin typeface="Arial"/>
            </a:endParaRPr>
          </a:p>
        </p:txBody>
      </p:sp>
      <p:sp>
        <p:nvSpPr>
          <p:cNvPr id="1966430356" name="Text 8"/>
          <p:cNvSpPr/>
          <p:nvPr/>
        </p:nvSpPr>
        <p:spPr bwMode="auto">
          <a:xfrm>
            <a:off x="487080" y="6155640"/>
            <a:ext cx="7056360" cy="722879"/>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50000"/>
              </a:lnSpc>
              <a:tabLst>
                <a:tab pos="0" algn="l"/>
              </a:tabLst>
              <a:defRPr/>
            </a:pPr>
            <a:r>
              <a:rPr lang="en-US" sz="1800" b="0" strike="noStrike" spc="-1">
                <a:solidFill>
                  <a:srgbClr val="3A3A3A"/>
                </a:solidFill>
                <a:latin typeface="Open Sans"/>
                <a:ea typeface="Open Sans"/>
              </a:rPr>
              <a:t>Every method, dataset and financial record is released under </a:t>
            </a:r>
            <a:r>
              <a:rPr lang="en-US" sz="1800" b="1" strike="noStrike" spc="-1">
                <a:solidFill>
                  <a:srgbClr val="3A3A3A"/>
                </a:solidFill>
                <a:latin typeface="Open Sans"/>
                <a:ea typeface="Open Sans"/>
              </a:rPr>
              <a:t>open licences </a:t>
            </a:r>
            <a:r>
              <a:rPr lang="en-US" sz="1800" b="0" strike="noStrike" spc="-1">
                <a:solidFill>
                  <a:srgbClr val="3A3A3A"/>
                </a:solidFill>
                <a:latin typeface="Open Sans"/>
                <a:ea typeface="Open Sans"/>
              </a:rPr>
              <a:t>. The deliverable isn't the data center — it's the </a:t>
            </a:r>
            <a:r>
              <a:rPr lang="en-US" sz="1800" b="1" strike="noStrike" spc="-1">
                <a:solidFill>
                  <a:srgbClr val="3A3A3A"/>
                </a:solidFill>
                <a:latin typeface="Open Sans"/>
                <a:ea typeface="Open Sans"/>
              </a:rPr>
              <a:t>repeatable playbook</a:t>
            </a:r>
            <a:r>
              <a:rPr lang="en-US" sz="1800" b="0" strike="noStrike" spc="-1">
                <a:solidFill>
                  <a:srgbClr val="3A3A3A"/>
                </a:solidFill>
                <a:latin typeface="Open Sans"/>
                <a:ea typeface="Open Sans"/>
              </a:rPr>
              <a:t>.</a:t>
            </a:r>
            <a:endParaRPr lang="en-US" sz="1800" b="0" strike="noStrike" spc="-1">
              <a:solidFill>
                <a:srgbClr val="000000"/>
              </a:solidFill>
              <a:latin typeface="Arial"/>
            </a:endParaRPr>
          </a:p>
        </p:txBody>
      </p:sp>
      <p:sp>
        <p:nvSpPr>
          <p:cNvPr id="1616551868" name="Text 9"/>
          <p:cNvSpPr/>
          <p:nvPr/>
        </p:nvSpPr>
        <p:spPr bwMode="auto">
          <a:xfrm>
            <a:off x="487080" y="7014960"/>
            <a:ext cx="9373320" cy="34452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70000"/>
              </a:lnSpc>
              <a:tabLst>
                <a:tab pos="0" algn="l"/>
              </a:tabLst>
              <a:defRPr/>
            </a:pPr>
            <a:r>
              <a:rPr lang="zh-CN" sz="1450" b="0" strike="noStrike" spc="-1">
                <a:solidFill>
                  <a:srgbClr val="85888C"/>
                </a:solidFill>
                <a:latin typeface="Noto Sans JP"/>
                <a:ea typeface="Noto Sans JP"/>
              </a:rPr>
              <a:t>手法・データ・会計をすべて公開。成果物はデータセンターではなく、再現可能な「型」。</a:t>
            </a:r>
            <a:endParaRPr lang="en-US" sz="1450" b="0" strike="noStrike" spc="-1">
              <a:solidFill>
                <a:srgbClr val="000000"/>
              </a:solidFill>
              <a:latin typeface="Arial"/>
            </a:endParaRPr>
          </a:p>
        </p:txBody>
      </p:sp>
      <p:pic>
        <p:nvPicPr>
          <p:cNvPr id="1143972111" name="Image 6" descr="preencoded.png"/>
          <p:cNvPicPr/>
          <p:nvPr/>
        </p:nvPicPr>
        <p:blipFill rotWithShape="1">
          <a:blip r:embed="rId3"/>
          <a:stretch/>
        </p:blipFill>
        <p:spPr bwMode="auto">
          <a:xfrm>
            <a:off x="8339400" y="2743200"/>
            <a:ext cx="9342720" cy="5257440"/>
          </a:xfrm>
          <a:prstGeom prst="rect">
            <a:avLst/>
          </a:prstGeom>
          <a:ln w="0">
            <a:noFill/>
          </a:ln>
        </p:spPr>
      </p:pic>
      <p:sp>
        <p:nvSpPr>
          <p:cNvPr id="380872082" name="Shape 3"/>
          <p:cNvSpPr/>
          <p:nvPr/>
        </p:nvSpPr>
        <p:spPr bwMode="auto">
          <a:xfrm>
            <a:off x="8339400" y="5230440"/>
            <a:ext cx="4550040" cy="2559240"/>
          </a:xfrm>
          <a:prstGeom prst="rect">
            <a:avLst/>
          </a:prstGeom>
          <a:gradFill rotWithShape="0">
            <a:gsLst>
              <a:gs pos="0">
                <a:srgbClr val="141414">
                  <a:alpha val="94000"/>
                </a:srgbClr>
              </a:gs>
              <a:gs pos="50000">
                <a:srgbClr val="141414">
                  <a:alpha val="50000"/>
                </a:srgbClr>
              </a:gs>
              <a:gs pos="100000">
                <a:srgbClr val="141414">
                  <a:alpha val="10000"/>
                </a:srgbClr>
              </a:gs>
            </a:gsLst>
            <a:lin ang="16200000" scaled="1"/>
          </a:gra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000000"/>
              </a:solidFill>
              <a:latin typeface="Arial"/>
              <a:ea typeface="Arial"/>
            </a:endParaRPr>
          </a:p>
        </p:txBody>
      </p:sp>
      <p:sp>
        <p:nvSpPr>
          <p:cNvPr id="1080289384" name="Text 1"/>
          <p:cNvSpPr/>
          <p:nvPr/>
        </p:nvSpPr>
        <p:spPr bwMode="auto">
          <a:xfrm>
            <a:off x="8718840" y="6005160"/>
            <a:ext cx="448920" cy="31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E58520"/>
                </a:solidFill>
                <a:latin typeface="Sora"/>
                <a:ea typeface="Sora"/>
              </a:rPr>
              <a:t>01</a:t>
            </a:r>
            <a:endParaRPr lang="en-US" sz="1350" b="0" strike="noStrike" spc="-1">
              <a:solidFill>
                <a:srgbClr val="000000"/>
              </a:solidFill>
              <a:latin typeface="Arial"/>
            </a:endParaRPr>
          </a:p>
        </p:txBody>
      </p:sp>
      <p:sp>
        <p:nvSpPr>
          <p:cNvPr id="1502603791" name="Text 57"/>
          <p:cNvSpPr/>
          <p:nvPr/>
        </p:nvSpPr>
        <p:spPr bwMode="auto">
          <a:xfrm>
            <a:off x="9240120" y="5987160"/>
            <a:ext cx="352620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strike="noStrike" spc="-1">
                <a:solidFill>
                  <a:srgbClr val="FFFFFF"/>
                </a:solidFill>
                <a:latin typeface="Open Sans"/>
                <a:ea typeface="Open Sans"/>
              </a:rPr>
              <a:t>Restoration &amp; energy methods</a:t>
            </a:r>
            <a:endParaRPr lang="en-US" sz="1450" b="0" strike="noStrike" spc="-1">
              <a:solidFill>
                <a:srgbClr val="000000"/>
              </a:solidFill>
              <a:latin typeface="Arial"/>
            </a:endParaRPr>
          </a:p>
        </p:txBody>
      </p:sp>
      <p:sp>
        <p:nvSpPr>
          <p:cNvPr id="1555286314" name="Text 58"/>
          <p:cNvSpPr/>
          <p:nvPr/>
        </p:nvSpPr>
        <p:spPr bwMode="auto">
          <a:xfrm>
            <a:off x="8718840" y="6455160"/>
            <a:ext cx="448920" cy="31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E58520"/>
                </a:solidFill>
                <a:latin typeface="Sora"/>
                <a:ea typeface="Sora"/>
              </a:rPr>
              <a:t>02</a:t>
            </a:r>
            <a:endParaRPr lang="en-US" sz="1350" b="0" strike="noStrike" spc="-1">
              <a:solidFill>
                <a:srgbClr val="000000"/>
              </a:solidFill>
              <a:latin typeface="Arial"/>
            </a:endParaRPr>
          </a:p>
        </p:txBody>
      </p:sp>
      <p:sp>
        <p:nvSpPr>
          <p:cNvPr id="1189617651" name="Text 60"/>
          <p:cNvSpPr/>
          <p:nvPr/>
        </p:nvSpPr>
        <p:spPr bwMode="auto">
          <a:xfrm>
            <a:off x="9240120" y="6437520"/>
            <a:ext cx="3805920" cy="354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strike="noStrike" spc="-1">
                <a:solidFill>
                  <a:srgbClr val="FFFFFF"/>
                </a:solidFill>
                <a:latin typeface="Open Sans"/>
                <a:ea typeface="Open Sans"/>
              </a:rPr>
              <a:t>Financial model &amp; open accounts</a:t>
            </a:r>
            <a:endParaRPr lang="en-US" sz="1450" b="0" strike="noStrike" spc="-1">
              <a:solidFill>
                <a:srgbClr val="000000"/>
              </a:solidFill>
              <a:latin typeface="Arial"/>
            </a:endParaRPr>
          </a:p>
        </p:txBody>
      </p:sp>
      <p:sp>
        <p:nvSpPr>
          <p:cNvPr id="1344403362" name="Text 61"/>
          <p:cNvSpPr/>
          <p:nvPr/>
        </p:nvSpPr>
        <p:spPr bwMode="auto">
          <a:xfrm>
            <a:off x="8718840" y="6905520"/>
            <a:ext cx="448920" cy="31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E58520"/>
                </a:solidFill>
                <a:latin typeface="Sora"/>
                <a:ea typeface="Sora"/>
              </a:rPr>
              <a:t>03</a:t>
            </a:r>
            <a:endParaRPr lang="en-US" sz="1350" b="0" strike="noStrike" spc="-1">
              <a:solidFill>
                <a:srgbClr val="000000"/>
              </a:solidFill>
              <a:latin typeface="Arial"/>
            </a:endParaRPr>
          </a:p>
        </p:txBody>
      </p:sp>
      <p:sp>
        <p:nvSpPr>
          <p:cNvPr id="1774890810" name="Text 62"/>
          <p:cNvSpPr/>
          <p:nvPr/>
        </p:nvSpPr>
        <p:spPr bwMode="auto">
          <a:xfrm>
            <a:off x="9240120" y="6887880"/>
            <a:ext cx="345384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strike="noStrike" spc="-1">
                <a:solidFill>
                  <a:srgbClr val="FFFFFF"/>
                </a:solidFill>
                <a:latin typeface="Open Sans"/>
                <a:ea typeface="Open Sans"/>
              </a:rPr>
              <a:t>Governance &amp; legal templates</a:t>
            </a:r>
            <a:endParaRPr lang="en-US" sz="1450" b="0" strike="noStrike" spc="-1">
              <a:solidFill>
                <a:srgbClr val="000000"/>
              </a:solidFill>
              <a:latin typeface="Arial"/>
            </a:endParaRPr>
          </a:p>
        </p:txBody>
      </p:sp>
      <p:sp>
        <p:nvSpPr>
          <p:cNvPr id="1488628365" name="Text 63"/>
          <p:cNvSpPr/>
          <p:nvPr/>
        </p:nvSpPr>
        <p:spPr bwMode="auto">
          <a:xfrm>
            <a:off x="8718840" y="7355880"/>
            <a:ext cx="448920" cy="318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strike="noStrike" spc="-1">
                <a:solidFill>
                  <a:srgbClr val="E58520"/>
                </a:solidFill>
                <a:latin typeface="Sora"/>
                <a:ea typeface="Sora"/>
              </a:rPr>
              <a:t>04</a:t>
            </a:r>
            <a:endParaRPr lang="en-US" sz="1350" b="0" strike="noStrike" spc="-1">
              <a:solidFill>
                <a:srgbClr val="000000"/>
              </a:solidFill>
              <a:latin typeface="Arial"/>
            </a:endParaRPr>
          </a:p>
        </p:txBody>
      </p:sp>
      <p:sp>
        <p:nvSpPr>
          <p:cNvPr id="149853316" name="Text 64"/>
          <p:cNvSpPr/>
          <p:nvPr/>
        </p:nvSpPr>
        <p:spPr bwMode="auto">
          <a:xfrm>
            <a:off x="9240120" y="7338240"/>
            <a:ext cx="3362760" cy="354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strike="noStrike" spc="-1">
                <a:solidFill>
                  <a:srgbClr val="FFFFFF"/>
                </a:solidFill>
                <a:latin typeface="Open Sans"/>
                <a:ea typeface="Open Sans"/>
              </a:rPr>
              <a:t>Environmental &amp; energy data</a:t>
            </a:r>
            <a:endParaRPr lang="en-US" sz="1450" b="0" strike="noStrike" spc="-1">
              <a:solidFill>
                <a:srgbClr val="000000"/>
              </a:solidFill>
              <a:latin typeface="Arial"/>
            </a:endParaRPr>
          </a:p>
        </p:txBody>
      </p:sp>
      <p:sp>
        <p:nvSpPr>
          <p:cNvPr id="565664828" name="Text 65"/>
          <p:cNvSpPr/>
          <p:nvPr/>
        </p:nvSpPr>
        <p:spPr bwMode="auto">
          <a:xfrm>
            <a:off x="8560080" y="5514840"/>
            <a:ext cx="9312480" cy="330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65">
                <a:solidFill>
                  <a:srgbClr val="9B9DA0"/>
                </a:solidFill>
                <a:latin typeface="Open Sans"/>
                <a:ea typeface="Open Sans"/>
              </a:rPr>
              <a:t>THE OPEN PLAYBOOK · </a:t>
            </a:r>
            <a:r>
              <a:rPr lang="zh-CN" sz="1200" b="1" strike="noStrike" spc="165">
                <a:solidFill>
                  <a:srgbClr val="9B9DA0"/>
                </a:solidFill>
                <a:latin typeface="Open Sans"/>
                <a:ea typeface="Open Sans"/>
              </a:rPr>
              <a:t>公開設計図</a:t>
            </a:r>
            <a:endParaRPr lang="en-US" sz="1200" b="0" strike="noStrike"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E2E2E"/>
        </a:solidFill>
      </p:bgPr>
    </p:bg>
    <p:spTree>
      <p:nvGrpSpPr>
        <p:cNvPr id="1" name=""/>
        <p:cNvGrpSpPr/>
        <p:nvPr/>
      </p:nvGrpSpPr>
      <p:grpSpPr bwMode="auto">
        <a:xfrm>
          <a:off x="0" y="0"/>
          <a:ext cx="0" cy="0"/>
          <a:chOff x="0" y="0"/>
          <a:chExt cx="0" cy="0"/>
        </a:xfrm>
      </p:grpSpPr>
      <p:sp>
        <p:nvSpPr>
          <p:cNvPr id="4168874" name="Shape 0"/>
          <p:cNvSpPr/>
          <p:nvPr/>
        </p:nvSpPr>
        <p:spPr bwMode="auto">
          <a:xfrm>
            <a:off x="0" y="0"/>
            <a:ext cx="18286920" cy="75240"/>
          </a:xfrm>
          <a:prstGeom prst="rect">
            <a:avLst/>
          </a:prstGeom>
          <a:solidFill>
            <a:srgbClr val="E58520"/>
          </a:solidFill>
          <a:ln w="0">
            <a:noFill/>
          </a:ln>
        </p:spPr>
        <p:style>
          <a:lnRef idx="0"/>
          <a:fillRef idx="0"/>
          <a:effectRef idx="0"/>
          <a:fontRef idx="minor"/>
        </p:style>
        <p:txBody>
          <a:bodyPr lIns="90000" tIns="31320" rIns="90000" bIns="31320" anchor="t">
            <a:noAutofit/>
          </a:bodyPr>
          <a:p>
            <a:pPr>
              <a:lnSpc>
                <a:spcPct val="100000"/>
              </a:lnSpc>
              <a:defRPr/>
            </a:pPr>
            <a:endParaRPr lang="en-US" sz="1800" b="0" strike="noStrike" spc="-1">
              <a:solidFill>
                <a:srgbClr val="FFFFFF"/>
              </a:solidFill>
              <a:latin typeface="Arial"/>
              <a:ea typeface="Arial"/>
            </a:endParaRPr>
          </a:p>
        </p:txBody>
      </p:sp>
      <p:sp>
        <p:nvSpPr>
          <p:cNvPr id="719679975" name="Shape 1"/>
          <p:cNvSpPr/>
          <p:nvPr/>
        </p:nvSpPr>
        <p:spPr bwMode="auto">
          <a:xfrm>
            <a:off x="609480" y="933480"/>
            <a:ext cx="437040" cy="46440"/>
          </a:xfrm>
          <a:prstGeom prst="rect">
            <a:avLst/>
          </a:prstGeom>
          <a:solidFill>
            <a:srgbClr val="E58520"/>
          </a:solidFill>
          <a:ln w="0">
            <a:noFill/>
          </a:ln>
        </p:spPr>
        <p:style>
          <a:lnRef idx="0"/>
          <a:fillRef idx="0"/>
          <a:effectRef idx="0"/>
          <a:fontRef idx="minor"/>
        </p:style>
        <p:txBody>
          <a:bodyPr lIns="90000" tIns="2520" rIns="90000" bIns="2520" anchor="t">
            <a:noAutofit/>
          </a:bodyPr>
          <a:p>
            <a:pPr>
              <a:lnSpc>
                <a:spcPct val="100000"/>
              </a:lnSpc>
              <a:defRPr/>
            </a:pPr>
            <a:endParaRPr lang="en-US" sz="1800" b="0" strike="noStrike" spc="-1">
              <a:solidFill>
                <a:srgbClr val="FFFFFF"/>
              </a:solidFill>
              <a:latin typeface="Arial"/>
              <a:ea typeface="Arial"/>
            </a:endParaRPr>
          </a:p>
        </p:txBody>
      </p:sp>
      <p:sp>
        <p:nvSpPr>
          <p:cNvPr id="1457366236" name="Text 2"/>
          <p:cNvSpPr/>
          <p:nvPr/>
        </p:nvSpPr>
        <p:spPr bwMode="auto">
          <a:xfrm>
            <a:off x="1181160" y="838080"/>
            <a:ext cx="3159720" cy="275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strike="noStrike" spc="201">
                <a:solidFill>
                  <a:srgbClr val="9B9DA0"/>
                </a:solidFill>
                <a:latin typeface="Open Sans"/>
                <a:ea typeface="Open Sans"/>
              </a:rPr>
              <a:t>THE INVITATION · </a:t>
            </a:r>
            <a:r>
              <a:rPr lang="zh-CN" sz="1300" b="1" strike="noStrike" spc="201">
                <a:solidFill>
                  <a:srgbClr val="9B9DA0"/>
                </a:solidFill>
                <a:latin typeface="Open Sans"/>
                <a:ea typeface="Open Sans"/>
              </a:rPr>
              <a:t>ご提案 </a:t>
            </a:r>
            <a:r>
              <a:rPr lang="en-US" sz="1300" b="1" strike="noStrike" spc="201">
                <a:solidFill>
                  <a:srgbClr val="9B9DA0"/>
                </a:solidFill>
                <a:latin typeface="Open Sans"/>
                <a:ea typeface="Open Sans"/>
              </a:rPr>
              <a:t>· 15</a:t>
            </a:r>
            <a:endParaRPr lang="en-US" sz="1300" b="0" strike="noStrike" spc="-1">
              <a:solidFill>
                <a:srgbClr val="FFFFFF"/>
              </a:solidFill>
              <a:latin typeface="Arial"/>
            </a:endParaRPr>
          </a:p>
        </p:txBody>
      </p:sp>
      <p:sp>
        <p:nvSpPr>
          <p:cNvPr id="681961707" name="Text 3"/>
          <p:cNvSpPr/>
          <p:nvPr/>
        </p:nvSpPr>
        <p:spPr bwMode="auto">
          <a:xfrm>
            <a:off x="609480" y="3321720"/>
            <a:ext cx="14715000" cy="1747080"/>
          </a:xfrm>
          <a:prstGeom prst="rect">
            <a:avLst/>
          </a:prstGeom>
          <a:noFill/>
          <a:ln w="0">
            <a:noFill/>
          </a:ln>
        </p:spPr>
        <p:style>
          <a:lnRef idx="0"/>
          <a:fillRef idx="0"/>
          <a:effectRef idx="0"/>
          <a:fontRef idx="minor"/>
        </p:style>
        <p:txBody>
          <a:bodyPr lIns="25560" tIns="25560" rIns="25560" bIns="25560" anchor="t">
            <a:normAutofit fontScale="83888"/>
          </a:bodyPr>
          <a:p>
            <a:pPr defTabSz="914400">
              <a:lnSpc>
                <a:spcPct val="102000"/>
              </a:lnSpc>
              <a:tabLst>
                <a:tab pos="0" algn="l"/>
              </a:tabLst>
              <a:defRPr/>
            </a:pPr>
            <a:r>
              <a:rPr lang="en-US" sz="6600" b="1" strike="noStrike" spc="-100">
                <a:solidFill>
                  <a:srgbClr val="F4F1EC"/>
                </a:solidFill>
                <a:latin typeface="Sora"/>
                <a:ea typeface="Sora"/>
              </a:rPr>
              <a:t>Help write the blueprint, not just fund a village.</a:t>
            </a:r>
            <a:endParaRPr lang="en-US" sz="6600" b="0" strike="noStrike" spc="-1">
              <a:solidFill>
                <a:srgbClr val="FFFFFF"/>
              </a:solidFill>
              <a:latin typeface="Arial"/>
            </a:endParaRPr>
          </a:p>
        </p:txBody>
      </p:sp>
      <p:sp>
        <p:nvSpPr>
          <p:cNvPr id="1942070212" name="Text 4"/>
          <p:cNvSpPr/>
          <p:nvPr/>
        </p:nvSpPr>
        <p:spPr bwMode="auto">
          <a:xfrm>
            <a:off x="609480" y="5241240"/>
            <a:ext cx="18774720" cy="456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250" b="0" strike="noStrike" spc="-1">
                <a:solidFill>
                  <a:srgbClr val="B9BBBD"/>
                </a:solidFill>
                <a:latin typeface="Noto Sans JP"/>
                <a:ea typeface="Noto Sans JP"/>
              </a:rPr>
              <a:t>一つの村への出資ではなく、地方再生の設計図づくりに参加を。</a:t>
            </a:r>
            <a:endParaRPr lang="en-US" sz="2250" b="0" strike="noStrike" spc="-1">
              <a:solidFill>
                <a:srgbClr val="FFFFFF"/>
              </a:solidFill>
              <a:latin typeface="Arial"/>
            </a:endParaRPr>
          </a:p>
        </p:txBody>
      </p:sp>
      <p:sp>
        <p:nvSpPr>
          <p:cNvPr id="1532218687" name="Shape 5"/>
          <p:cNvSpPr/>
          <p:nvPr/>
        </p:nvSpPr>
        <p:spPr bwMode="auto">
          <a:xfrm>
            <a:off x="609480" y="7905600"/>
            <a:ext cx="3903480" cy="1694520"/>
          </a:xfrm>
          <a:prstGeom prst="rect">
            <a:avLst/>
          </a:prstGeom>
          <a:solidFill>
            <a:srgbClr val="E58520"/>
          </a:solidFill>
          <a:ln w="0">
            <a:noFill/>
          </a:ln>
        </p:spPr>
        <p:style>
          <a:lnRef idx="0"/>
          <a:fillRef idx="0"/>
          <a:effectRef idx="0"/>
          <a:fontRef idx="minor"/>
        </p:style>
        <p:txBody>
          <a:bodyPr lIns="90000" tIns="45000" rIns="90000" bIns="45000" anchor="t">
            <a:noAutofit/>
          </a:bodyPr>
          <a:p>
            <a:pPr>
              <a:lnSpc>
                <a:spcPct val="100000"/>
              </a:lnSpc>
              <a:defRPr/>
            </a:pPr>
            <a:endParaRPr lang="en-US" sz="1800" b="0" strike="noStrike" spc="-1">
              <a:solidFill>
                <a:srgbClr val="FFFFFF"/>
              </a:solidFill>
              <a:latin typeface="Arial"/>
              <a:ea typeface="Arial"/>
            </a:endParaRPr>
          </a:p>
        </p:txBody>
      </p:sp>
      <p:sp>
        <p:nvSpPr>
          <p:cNvPr id="231456300" name="Text 6"/>
          <p:cNvSpPr/>
          <p:nvPr/>
        </p:nvSpPr>
        <p:spPr bwMode="auto">
          <a:xfrm>
            <a:off x="971640" y="8191440"/>
            <a:ext cx="3497400" cy="265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strike="noStrike" spc="165">
                <a:solidFill>
                  <a:srgbClr val="FCE6CC"/>
                </a:solidFill>
                <a:latin typeface="Open Sans"/>
                <a:ea typeface="Open Sans"/>
              </a:rPr>
              <a:t>NOW SEEKING · GATE 1 · </a:t>
            </a:r>
            <a:r>
              <a:rPr lang="zh-CN" sz="1200" b="1" strike="noStrike" spc="165">
                <a:solidFill>
                  <a:srgbClr val="FCE6CC"/>
                </a:solidFill>
                <a:latin typeface="Open Sans"/>
                <a:ea typeface="Open Sans"/>
              </a:rPr>
              <a:t>現在募集中</a:t>
            </a:r>
            <a:endParaRPr lang="en-US" sz="1200" b="0" strike="noStrike" spc="-1">
              <a:solidFill>
                <a:srgbClr val="FFFFFF"/>
              </a:solidFill>
              <a:latin typeface="Arial"/>
            </a:endParaRPr>
          </a:p>
        </p:txBody>
      </p:sp>
      <p:sp>
        <p:nvSpPr>
          <p:cNvPr id="26936680" name="Text 7"/>
          <p:cNvSpPr/>
          <p:nvPr/>
        </p:nvSpPr>
        <p:spPr bwMode="auto">
          <a:xfrm>
            <a:off x="971640" y="8496360"/>
            <a:ext cx="3497400" cy="532440"/>
          </a:xfrm>
          <a:prstGeom prst="rect">
            <a:avLst/>
          </a:prstGeom>
          <a:noFill/>
          <a:ln w="0">
            <a:noFill/>
          </a:ln>
        </p:spPr>
        <p:style>
          <a:lnRef idx="0"/>
          <a:fillRef idx="0"/>
          <a:effectRef idx="0"/>
          <a:fontRef idx="minor"/>
        </p:style>
        <p:txBody>
          <a:bodyPr lIns="25560" tIns="25560" rIns="25560" bIns="25560" anchor="t">
            <a:normAutofit fontScale="81111"/>
          </a:bodyPr>
          <a:p>
            <a:pPr defTabSz="914400">
              <a:lnSpc>
                <a:spcPct val="100000"/>
              </a:lnSpc>
              <a:tabLst>
                <a:tab pos="0" algn="l"/>
              </a:tabLst>
              <a:defRPr/>
            </a:pPr>
            <a:r>
              <a:rPr lang="en-US" sz="3900" b="1" strike="noStrike" spc="-1">
                <a:solidFill>
                  <a:srgbClr val="FFFFFF"/>
                </a:solidFill>
                <a:latin typeface="Sora"/>
                <a:ea typeface="Sora"/>
              </a:rPr>
              <a:t>¥3–8M</a:t>
            </a:r>
            <a:endParaRPr lang="en-US" sz="3900" b="0" strike="noStrike" spc="-1">
              <a:solidFill>
                <a:srgbClr val="FFFFFF"/>
              </a:solidFill>
              <a:latin typeface="Arial"/>
            </a:endParaRPr>
          </a:p>
        </p:txBody>
      </p:sp>
      <p:sp>
        <p:nvSpPr>
          <p:cNvPr id="1453103317" name="Text 8"/>
          <p:cNvSpPr/>
          <p:nvPr/>
        </p:nvSpPr>
        <p:spPr bwMode="auto">
          <a:xfrm>
            <a:off x="971640" y="9067680"/>
            <a:ext cx="3497400" cy="284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strike="noStrike" spc="-1">
                <a:solidFill>
                  <a:srgbClr val="FBE6CC"/>
                </a:solidFill>
                <a:latin typeface="Open Sans"/>
                <a:ea typeface="Open Sans"/>
              </a:rPr>
              <a:t>Phase 1: entity · feasibility · advisors</a:t>
            </a:r>
            <a:endParaRPr lang="en-US" sz="1450" b="0" strike="noStrike" spc="-1">
              <a:solidFill>
                <a:srgbClr val="FFFFFF"/>
              </a:solidFill>
              <a:latin typeface="Arial"/>
            </a:endParaRPr>
          </a:p>
        </p:txBody>
      </p:sp>
      <p:sp>
        <p:nvSpPr>
          <p:cNvPr id="1344156008" name="Text 9"/>
          <p:cNvSpPr/>
          <p:nvPr/>
        </p:nvSpPr>
        <p:spPr bwMode="auto">
          <a:xfrm>
            <a:off x="4894920" y="8282160"/>
            <a:ext cx="14060520" cy="365760"/>
          </a:xfrm>
          <a:prstGeom prst="rect">
            <a:avLst/>
          </a:prstGeom>
          <a:noFill/>
          <a:ln w="0">
            <a:noFill/>
          </a:ln>
        </p:spPr>
        <p:style>
          <a:lnRef idx="0"/>
          <a:fillRef idx="0"/>
          <a:effectRef idx="0"/>
          <a:fontRef idx="minor"/>
        </p:style>
        <p:txBody>
          <a:bodyPr lIns="25560" tIns="25560" rIns="25560" bIns="25560" anchor="t">
            <a:normAutofit fontScale="87222" lnSpcReduction="10000"/>
          </a:bodyPr>
          <a:p>
            <a:pPr defTabSz="914400">
              <a:lnSpc>
                <a:spcPct val="150000"/>
              </a:lnSpc>
              <a:tabLst>
                <a:tab pos="0" algn="l"/>
              </a:tabLst>
              <a:defRPr/>
            </a:pPr>
            <a:r>
              <a:rPr lang="en-US" sz="1750" b="0" strike="noStrike" spc="-1">
                <a:solidFill>
                  <a:srgbClr val="E3E4E2"/>
                </a:solidFill>
                <a:latin typeface="Open Sans"/>
                <a:ea typeface="Open Sans"/>
              </a:rPr>
              <a:t>Founding partners welcome — government, foundation, corporate, and impact investors. Open books from day one.</a:t>
            </a:r>
            <a:endParaRPr lang="en-US" sz="1750" b="0" strike="noStrike" spc="-1">
              <a:solidFill>
                <a:srgbClr val="FFFFFF"/>
              </a:solidFill>
              <a:latin typeface="Arial"/>
            </a:endParaRPr>
          </a:p>
        </p:txBody>
      </p:sp>
      <p:sp>
        <p:nvSpPr>
          <p:cNvPr id="137286508" name="Shape 10"/>
          <p:cNvSpPr/>
          <p:nvPr/>
        </p:nvSpPr>
        <p:spPr bwMode="auto">
          <a:xfrm>
            <a:off x="4894920" y="8858160"/>
            <a:ext cx="12782160" cy="8280"/>
          </a:xfrm>
          <a:prstGeom prst="rect">
            <a:avLst/>
          </a:prstGeom>
          <a:solidFill>
            <a:srgbClr val="4A4A4A"/>
          </a:solidFill>
          <a:ln w="0">
            <a:noFill/>
          </a:ln>
        </p:spPr>
        <p:style>
          <a:lnRef idx="0"/>
          <a:fillRef idx="0"/>
          <a:effectRef idx="0"/>
          <a:fontRef idx="minor"/>
        </p:style>
        <p:txBody>
          <a:bodyPr lIns="90000" tIns="-35640" rIns="90000" bIns="-35640" anchor="t">
            <a:noAutofit/>
          </a:bodyPr>
          <a:p>
            <a:pPr>
              <a:lnSpc>
                <a:spcPct val="100000"/>
              </a:lnSpc>
              <a:defRPr/>
            </a:pPr>
            <a:endParaRPr lang="en-US" sz="1800" b="0" strike="noStrike" spc="-1">
              <a:solidFill>
                <a:srgbClr val="FFFFFF"/>
              </a:solidFill>
              <a:latin typeface="Arial"/>
              <a:ea typeface="Arial"/>
            </a:endParaRPr>
          </a:p>
        </p:txBody>
      </p:sp>
      <p:sp>
        <p:nvSpPr>
          <p:cNvPr id="679855748" name="Text 11"/>
          <p:cNvSpPr/>
          <p:nvPr/>
        </p:nvSpPr>
        <p:spPr bwMode="auto">
          <a:xfrm>
            <a:off x="4894920" y="9077400"/>
            <a:ext cx="1569600" cy="218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strike="noStrike" spc="123">
                <a:solidFill>
                  <a:srgbClr val="9B9DA0"/>
                </a:solidFill>
                <a:latin typeface="Open Sans"/>
                <a:ea typeface="Open Sans"/>
              </a:rPr>
              <a:t>LEAD</a:t>
            </a:r>
            <a:endParaRPr lang="en-US" sz="1050" b="0" strike="noStrike" spc="-1">
              <a:solidFill>
                <a:srgbClr val="FFFFFF"/>
              </a:solidFill>
              <a:latin typeface="Arial"/>
            </a:endParaRPr>
          </a:p>
        </p:txBody>
      </p:sp>
      <p:sp>
        <p:nvSpPr>
          <p:cNvPr id="672539332" name="Text 12"/>
          <p:cNvSpPr/>
          <p:nvPr/>
        </p:nvSpPr>
        <p:spPr bwMode="auto">
          <a:xfrm>
            <a:off x="4894920" y="9296280"/>
            <a:ext cx="156960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Rob Oudendijk</a:t>
            </a:r>
            <a:endParaRPr lang="en-US" sz="1600" b="0" strike="noStrike" spc="-1">
              <a:solidFill>
                <a:srgbClr val="FFFFFF"/>
              </a:solidFill>
              <a:latin typeface="Arial"/>
            </a:endParaRPr>
          </a:p>
        </p:txBody>
      </p:sp>
      <p:sp>
        <p:nvSpPr>
          <p:cNvPr id="1015699154" name="Text 13"/>
          <p:cNvSpPr/>
          <p:nvPr/>
        </p:nvSpPr>
        <p:spPr bwMode="auto">
          <a:xfrm>
            <a:off x="6780240" y="9077400"/>
            <a:ext cx="2118960" cy="218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strike="noStrike" spc="123">
                <a:solidFill>
                  <a:srgbClr val="9B9DA0"/>
                </a:solidFill>
                <a:latin typeface="Open Sans"/>
                <a:ea typeface="Open Sans"/>
              </a:rPr>
              <a:t>ORG</a:t>
            </a:r>
            <a:endParaRPr lang="en-US" sz="1050" b="0" strike="noStrike" spc="-1">
              <a:solidFill>
                <a:srgbClr val="FFFFFF"/>
              </a:solidFill>
              <a:latin typeface="Arial"/>
            </a:endParaRPr>
          </a:p>
        </p:txBody>
      </p:sp>
      <p:sp>
        <p:nvSpPr>
          <p:cNvPr id="663034445" name="Text 14"/>
          <p:cNvSpPr/>
          <p:nvPr/>
        </p:nvSpPr>
        <p:spPr bwMode="auto">
          <a:xfrm>
            <a:off x="6780240" y="9296280"/>
            <a:ext cx="2118960" cy="3132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YR-Design · Safecast</a:t>
            </a:r>
            <a:endParaRPr lang="en-US" sz="1600" b="0" strike="noStrike" spc="-1">
              <a:solidFill>
                <a:srgbClr val="FFFFFF"/>
              </a:solidFill>
              <a:latin typeface="Arial"/>
            </a:endParaRPr>
          </a:p>
        </p:txBody>
      </p:sp>
      <p:sp>
        <p:nvSpPr>
          <p:cNvPr id="2093805061" name="Text 15"/>
          <p:cNvSpPr/>
          <p:nvPr/>
        </p:nvSpPr>
        <p:spPr bwMode="auto">
          <a:xfrm>
            <a:off x="9164520" y="9077400"/>
            <a:ext cx="2197800" cy="218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strike="noStrike" spc="123">
                <a:solidFill>
                  <a:srgbClr val="9B9DA0"/>
                </a:solidFill>
                <a:latin typeface="Open Sans"/>
                <a:ea typeface="Open Sans"/>
              </a:rPr>
              <a:t>LOCATION</a:t>
            </a:r>
            <a:endParaRPr lang="en-US" sz="1050" b="0" strike="noStrike" spc="-1">
              <a:solidFill>
                <a:srgbClr val="FFFFFF"/>
              </a:solidFill>
              <a:latin typeface="Arial"/>
            </a:endParaRPr>
          </a:p>
        </p:txBody>
      </p:sp>
      <p:sp>
        <p:nvSpPr>
          <p:cNvPr id="1789807525" name="Text 16"/>
          <p:cNvSpPr/>
          <p:nvPr/>
        </p:nvSpPr>
        <p:spPr bwMode="auto">
          <a:xfrm>
            <a:off x="9164520" y="9296280"/>
            <a:ext cx="2197800" cy="342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strike="noStrike" spc="-1">
                <a:solidFill>
                  <a:srgbClr val="F4F1EC"/>
                </a:solidFill>
                <a:latin typeface="Open Sans"/>
                <a:ea typeface="Open Sans"/>
              </a:rPr>
              <a:t>Mitsue, Nara · </a:t>
            </a:r>
            <a:r>
              <a:rPr lang="zh-CN" sz="1600" b="1" strike="noStrike" spc="-1">
                <a:solidFill>
                  <a:srgbClr val="F4F1EC"/>
                </a:solidFill>
                <a:latin typeface="Open Sans"/>
                <a:ea typeface="Open Sans"/>
              </a:rPr>
              <a:t>御杖村</a:t>
            </a:r>
            <a:endParaRPr lang="en-US" sz="1600" b="0" strike="noStrike" spc="-1">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dc:language>en-US</dc:language>
  <cp:lastModifiedBy/>
  <cp:revision>13</cp:revision>
  <dcterms:created xsi:type="dcterms:W3CDTF">2026-06-18T06:55:34Z</dcterms:created>
  <dcterms:modified xsi:type="dcterms:W3CDTF">2026-08-05T09:50:01Z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17</vt:i4>
  </property>
  <property fmtid="{D5CDD505-2E9C-101B-9397-08002B2CF9AE}" pid="4" name="PresentationFormat">
    <vt:lpwstr>On-screen Show (4:3)</vt:lpwstr>
  </property>
  <property fmtid="{D5CDD505-2E9C-101B-9397-08002B2CF9AE}" pid="5" name="Slides">
    <vt:i4>17</vt:i4>
  </property>
</Properties>
</file>