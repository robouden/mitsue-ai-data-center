
<file path=[Content_Types].xml><?xml version="1.0" encoding="utf-8"?>
<Types xmlns="http://schemas.openxmlformats.org/package/2006/content-types">
  <Default Extension="xml" ContentType="application/xml"/>
  <Default Extension="jpg" ContentType="image/jpeg"/>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s/slide15.xml" ContentType="application/vnd.openxmlformats-officedocument.presentationml.slide+xml"/>
  <Override PartName="/ppt/notesSlides/notesSlide3.xml" ContentType="application/vnd.openxmlformats-officedocument.presentationml.notesSlide+xml"/>
  <Override PartName="/ppt/slides/slide14.xml" ContentType="application/vnd.openxmlformats-officedocument.presentationml.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slides/slide13.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8288000" cy="10287000"/>
  <p:notesSz cx="10287000" cy="18288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5760"/>
        <p:guide pos="324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1631807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9721113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94808223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826446807"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7125300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203335288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8455623" name="Slide Image Placeholder 1"/>
          <p:cNvSpPr>
            <a:spLocks noChangeAspect="1" noGrp="1" noRot="1"/>
          </p:cNvSpPr>
          <p:nvPr>
            <p:ph type="sldImg"/>
          </p:nvPr>
        </p:nvSpPr>
        <p:spPr bwMode="auto"/>
      </p:sp>
      <p:sp>
        <p:nvSpPr>
          <p:cNvPr id="1172769444" name="Notes Placeholder 2"/>
          <p:cNvSpPr>
            <a:spLocks noGrp="1"/>
          </p:cNvSpPr>
          <p:nvPr>
            <p:ph type="body" idx="1"/>
          </p:nvPr>
        </p:nvSpPr>
        <p:spPr bwMode="auto"/>
        <p:txBody>
          <a:bodyPr/>
          <a:lstStyle/>
          <a:p>
            <a:pPr>
              <a:defRPr/>
            </a:pPr>
            <a:r>
              <a:rPr lang="en-US"/>
              <a:t>Good morning, and thank you for being here. What you're looking at is a village in eastern Nara called Mitsue — ninety-three percent forest, fewer than fifteen hundred people, and getting smaller every year. Over the next ten minutes I want to show you why we think this particular village is the right place to prove something much larger: that rural decline can be reversed with a model that pays for itself, and that what works here can be copied anywhere. This is an invitation to invest in that proof.</a:t>
            </a:r>
            <a:endParaRPr lang="en-US"/>
          </a:p>
        </p:txBody>
      </p:sp>
      <p:sp>
        <p:nvSpPr>
          <p:cNvPr id="3864358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3922519" name="Slide Image Placeholder 1"/>
          <p:cNvSpPr>
            <a:spLocks noChangeAspect="1" noGrp="1" noRot="1"/>
          </p:cNvSpPr>
          <p:nvPr>
            <p:ph type="sldImg"/>
          </p:nvPr>
        </p:nvSpPr>
        <p:spPr bwMode="auto"/>
      </p:sp>
      <p:sp>
        <p:nvSpPr>
          <p:cNvPr id="907915088" name="Notes Placeholder 2"/>
          <p:cNvSpPr>
            <a:spLocks noGrp="1"/>
          </p:cNvSpPr>
          <p:nvPr>
            <p:ph type="body" idx="1"/>
          </p:nvPr>
        </p:nvSpPr>
        <p:spPr bwMode="auto"/>
        <p:txBody>
          <a:bodyPr/>
          <a:lstStyle/>
          <a:p>
            <a:pPr>
              <a:defRPr/>
            </a:pPr>
            <a:r>
              <a:rPr lang="en-US"/>
              <a:t>Let me start with the idea itself, because it's simple. Most rural revitalization fails because it depends on subsidy that never ends. Ours is built the other way around: three activities — restoring the forest, generating clean energy, and running a small community-owned data center — wired together so that each one feeds the next, and the whole thing eventually funds itself. And here's the part I most want you to hold onto: the data center is not the point. It is the engine. The forest, the jobs, and the village's future are the return on it.</a:t>
            </a:r>
            <a:endParaRPr lang="en-US"/>
          </a:p>
        </p:txBody>
      </p:sp>
      <p:sp>
        <p:nvSpPr>
          <p:cNvPr id="303684053"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5488839" name="Slide Image Placeholder 1"/>
          <p:cNvSpPr>
            <a:spLocks noChangeAspect="1" noGrp="1" noRot="1"/>
          </p:cNvSpPr>
          <p:nvPr>
            <p:ph type="sldImg"/>
          </p:nvPr>
        </p:nvSpPr>
        <p:spPr bwMode="auto"/>
      </p:sp>
      <p:sp>
        <p:nvSpPr>
          <p:cNvPr id="2003731806" name="Notes Placeholder 2"/>
          <p:cNvSpPr>
            <a:spLocks noGrp="1"/>
          </p:cNvSpPr>
          <p:nvPr>
            <p:ph type="body" idx="1"/>
          </p:nvPr>
        </p:nvSpPr>
        <p:spPr bwMode="auto"/>
        <p:txBody>
          <a:bodyPr/>
          <a:lstStyle/>
          <a:p>
            <a:pPr>
              <a:defRPr/>
            </a:pPr>
            <a:r>
              <a:rPr lang="en-US"/>
              <a:t>So what are we starting with? Be honest about it. The population is under fifteen hundred and projected to roughly halve again; more than half of who remains will be over sixty-five. The mountains are ninety-three percent forest, but most of it is aging cedar plantation that nobody is managing — a pollen and landslide liability, not an asset. The elementary school closed and now costs the village money to stand empty. And almost every yen of energy is bought from outside and shipped in. Four problems — but notice they are also four raw materials.</a:t>
            </a:r>
            <a:endParaRPr lang="en-US"/>
          </a:p>
        </p:txBody>
      </p:sp>
      <p:sp>
        <p:nvSpPr>
          <p:cNvPr id="1872769738"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9060387" name="Slide Image Placeholder 1"/>
          <p:cNvSpPr>
            <a:spLocks noChangeAspect="1" noGrp="1" noRot="1"/>
          </p:cNvSpPr>
          <p:nvPr>
            <p:ph type="sldImg"/>
          </p:nvPr>
        </p:nvSpPr>
        <p:spPr bwMode="auto"/>
      </p:sp>
      <p:sp>
        <p:nvSpPr>
          <p:cNvPr id="105863861" name="Notes Placeholder 2"/>
          <p:cNvSpPr>
            <a:spLocks noGrp="1"/>
          </p:cNvSpPr>
          <p:nvPr>
            <p:ph type="body" idx="1"/>
          </p:nvPr>
        </p:nvSpPr>
        <p:spPr bwMode="auto"/>
        <p:txBody>
          <a:bodyPr/>
          <a:lstStyle/>
          <a:p>
            <a:pPr>
              <a:defRPr/>
            </a:pPr>
            <a:r>
              <a:rPr lang="en-US"/>
              <a:t>Here is how the four raw materials connect. Start anywhere — say the village. The village manages the forest. The forest yields timber and fuel. That fuel makes heat and power. That energy runs a small data center. The data center earns revenue. And the revenue flows back into the forest, the jobs, and the village. It's a loop, not a line — a circular economy where the output of each step is the input to the next. Subsidy might prime it, but the loop is designed to keep turning on its own.</a:t>
            </a:r>
            <a:endParaRPr lang="en-US"/>
          </a:p>
        </p:txBody>
      </p:sp>
      <p:sp>
        <p:nvSpPr>
          <p:cNvPr id="73812910"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9978394" name="Slide Image Placeholder 1"/>
          <p:cNvSpPr>
            <a:spLocks noChangeAspect="1" noGrp="1" noRot="1"/>
          </p:cNvSpPr>
          <p:nvPr>
            <p:ph type="sldImg"/>
          </p:nvPr>
        </p:nvSpPr>
        <p:spPr bwMode="auto"/>
      </p:sp>
      <p:sp>
        <p:nvSpPr>
          <p:cNvPr id="1249256028" name="Notes Placeholder 2"/>
          <p:cNvSpPr>
            <a:spLocks noGrp="1"/>
          </p:cNvSpPr>
          <p:nvPr>
            <p:ph type="body" idx="1"/>
          </p:nvPr>
        </p:nvSpPr>
        <p:spPr bwMode="auto"/>
        <p:txBody>
          <a:bodyPr/>
          <a:lstStyle/>
          <a:p>
            <a:pPr>
              <a:defRPr/>
            </a:pPr>
            <a:r>
              <a:rPr lang="en-US"/>
              <a:t>Let's talk about the engine, because it's the part that makes this an investment and not a donation. We take the closed elementary school and turn it into a small, energy-efficient data center — edge and AI compute, powered by local renewable energy. It is deliberately modest: sized for accountability and community ownership, not hyperscale. But it produces something the forest and the village never could on their own — recurring digital revenue. That revenue is what funds the restoration, the jobs, and the charging network, year after year.</a:t>
            </a:r>
            <a:endParaRPr lang="en-US"/>
          </a:p>
        </p:txBody>
      </p:sp>
      <p:sp>
        <p:nvSpPr>
          <p:cNvPr id="1619053345"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1278163" name="Slide Image Placeholder 1"/>
          <p:cNvSpPr>
            <a:spLocks noChangeAspect="1" noGrp="1" noRot="1"/>
          </p:cNvSpPr>
          <p:nvPr>
            <p:ph type="sldImg"/>
          </p:nvPr>
        </p:nvSpPr>
        <p:spPr bwMode="auto"/>
      </p:sp>
      <p:sp>
        <p:nvSpPr>
          <p:cNvPr id="449697904" name="Notes Placeholder 2"/>
          <p:cNvSpPr>
            <a:spLocks noGrp="1"/>
          </p:cNvSpPr>
          <p:nvPr>
            <p:ph type="body" idx="1"/>
          </p:nvPr>
        </p:nvSpPr>
        <p:spPr bwMode="auto"/>
        <p:txBody>
          <a:bodyPr/>
          <a:lstStyle/>
          <a:p>
            <a:pPr>
              <a:defRPr/>
            </a:pPr>
            <a:r>
              <a:rPr lang="en-US"/>
              <a:t>The forest is where the environmental return lives, and it's a twenty-five year job by nature. Post-war Japan planted enormous monocultures of sugi cedar that were never thinned. We replace them, in phases, with native broadleaf species — working alongside the landowners, the village forestry cooperative, and the Forestry Agency. That does three things at once: it pulls the aging plantation down as fuel for the energy system, it brings back biodiversity and water retention, and it earns carbon credits. The liability becomes the feedstock.</a:t>
            </a:r>
            <a:endParaRPr lang="en-US"/>
          </a:p>
        </p:txBody>
      </p:sp>
      <p:sp>
        <p:nvSpPr>
          <p:cNvPr id="341018547"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3728082" name="Slide Image Placeholder 1"/>
          <p:cNvSpPr>
            <a:spLocks noChangeAspect="1" noGrp="1" noRot="1"/>
          </p:cNvSpPr>
          <p:nvPr>
            <p:ph type="sldImg"/>
          </p:nvPr>
        </p:nvSpPr>
        <p:spPr bwMode="auto"/>
      </p:sp>
      <p:sp>
        <p:nvSpPr>
          <p:cNvPr id="223639032" name="Notes Placeholder 2"/>
          <p:cNvSpPr>
            <a:spLocks noGrp="1"/>
          </p:cNvSpPr>
          <p:nvPr>
            <p:ph type="body" idx="1"/>
          </p:nvPr>
        </p:nvSpPr>
        <p:spPr bwMode="auto"/>
        <p:txBody>
          <a:bodyPr/>
          <a:lstStyle/>
          <a:p>
            <a:pPr>
              <a:defRPr/>
            </a:pPr>
            <a:r>
              <a:rPr lang="en-US"/>
              <a:t>Let me be clear about the priority, because it drives everything downstream. Power comes first. The whole point is electricity — to run the AI data center and to build out EV charging for residents and visitors. That is the demand we are designing around. Heat is real and we will capture it, but it comes second: we do not have a committed heat off-taker yet, so we treat recovered heat as an opportunity to develop, not a foundation to depend on. The supply mix is unchanged — biomass for baseload, the village's existing solar by day, the grid for backup — but it is pointed squarely at compute and mobility.</a:t>
            </a:r>
            <a:endParaRPr lang="en-US"/>
          </a:p>
        </p:txBody>
      </p:sp>
      <p:sp>
        <p:nvSpPr>
          <p:cNvPr id="983193247"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1051005" name="Slide Image Placeholder 1"/>
          <p:cNvSpPr>
            <a:spLocks noChangeAspect="1" noGrp="1" noRot="1"/>
          </p:cNvSpPr>
          <p:nvPr>
            <p:ph type="sldImg"/>
          </p:nvPr>
        </p:nvSpPr>
        <p:spPr bwMode="auto"/>
      </p:sp>
      <p:sp>
        <p:nvSpPr>
          <p:cNvPr id="2022926977" name="Notes Placeholder 2"/>
          <p:cNvSpPr>
            <a:spLocks noGrp="1"/>
          </p:cNvSpPr>
          <p:nvPr>
            <p:ph type="body" idx="1"/>
          </p:nvPr>
        </p:nvSpPr>
        <p:spPr bwMode="auto"/>
        <p:txBody>
          <a:bodyPr/>
          <a:lstStyle/>
          <a:p>
            <a:pPr>
              <a:defRPr/>
            </a:pPr>
            <a:r>
              <a:rPr lang="en-US"/>
              <a:t>Now the numbers — and these are the indicators a Japanese municipality is actually measured on, from the national Energy Database. Today Mitsue is almost completely energy-dependent: self-sufficiency in single digits, ninety percent of its energy imported, money flowing out, and the emissions that come with all that fossil fuel. The scenario on the right is where the integrated system takes us by twenty-fifty: a net energy exporter, dependency cut to a quarter, the trade balance flipped from negative to positive, and emissions down roughly three-quarters. I want to be straight with you — these are illustrative figures pending the simulator run, but the direction is not in doubt.</a:t>
            </a:r>
            <a:endParaRPr lang="en-US"/>
          </a:p>
        </p:txBody>
      </p:sp>
      <p:sp>
        <p:nvSpPr>
          <p:cNvPr id="1490507942"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345219" name="Slide Image Placeholder 1"/>
          <p:cNvSpPr>
            <a:spLocks noChangeAspect="1" noGrp="1" noRot="1"/>
          </p:cNvSpPr>
          <p:nvPr>
            <p:ph type="sldImg"/>
          </p:nvPr>
        </p:nvSpPr>
        <p:spPr bwMode="auto"/>
      </p:sp>
      <p:sp>
        <p:nvSpPr>
          <p:cNvPr id="2032928807" name="Notes Placeholder 2"/>
          <p:cNvSpPr>
            <a:spLocks noGrp="1"/>
          </p:cNvSpPr>
          <p:nvPr>
            <p:ph type="body" idx="1"/>
          </p:nvPr>
        </p:nvSpPr>
        <p:spPr bwMode="auto"/>
        <p:txBody>
          <a:bodyPr/>
          <a:lstStyle/>
          <a:p>
            <a:pPr>
              <a:defRPr/>
            </a:pPr>
            <a:r>
              <a:rPr lang="en-US"/>
              <a:t>So what does an investor actually get back? Not one return — five, and they compound. Ecological: a restored watershed and carbon drawn down. Energy: a village that powers itself and stops exporting cash. Economic: new jobs in forestry, operations and hosting. Digital: edge compute and connectivity that rural Japan badly lacks. And knowledge: because we publish everything under open licences, every lesson here becomes a template other villages can lift. That last one is the multiplier — it's how one village becomes a movement.</a:t>
            </a:r>
            <a:endParaRPr lang="en-US"/>
          </a:p>
        </p:txBody>
      </p:sp>
      <p:sp>
        <p:nvSpPr>
          <p:cNvPr id="1612637320"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3376010" name="Slide Image Placeholder 1"/>
          <p:cNvSpPr>
            <a:spLocks noChangeAspect="1" noGrp="1" noRot="1"/>
          </p:cNvSpPr>
          <p:nvPr>
            <p:ph type="sldImg"/>
          </p:nvPr>
        </p:nvSpPr>
        <p:spPr bwMode="auto"/>
      </p:sp>
      <p:sp>
        <p:nvSpPr>
          <p:cNvPr id="588095325" name="Notes Placeholder 2"/>
          <p:cNvSpPr>
            <a:spLocks noGrp="1"/>
          </p:cNvSpPr>
          <p:nvPr>
            <p:ph type="body" idx="1"/>
          </p:nvPr>
        </p:nvSpPr>
        <p:spPr bwMode="auto"/>
        <p:txBody>
          <a:bodyPr/>
          <a:lstStyle/>
          <a:p>
            <a:pPr>
              <a:defRPr/>
            </a:pPr>
            <a:r>
              <a:rPr lang="en-US"/>
              <a:t>This is the part that should make a funder comfortable. We are not asking for one big cheque. The first three years are five phases, and between each phase there is a funding gate. You only unlock the next phase by clearing the last one — and if we fall short at a gate, the plan is explicit: we hold and re-pitch, or we descope. We do not accelerate into an under-resourced phase. Right now we are in Phase Zero, pre-foundation, self-funded, no press, no website — exactly where a careful project should be before it asks for money.</a:t>
            </a:r>
            <a:endParaRPr lang="en-US"/>
          </a:p>
        </p:txBody>
      </p:sp>
      <p:sp>
        <p:nvSpPr>
          <p:cNvPr id="1305649324"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8971800" name="Slide Image Placeholder 1"/>
          <p:cNvSpPr>
            <a:spLocks noChangeAspect="1" noGrp="1" noRot="1"/>
          </p:cNvSpPr>
          <p:nvPr>
            <p:ph type="sldImg"/>
          </p:nvPr>
        </p:nvSpPr>
        <p:spPr bwMode="auto"/>
      </p:sp>
      <p:sp>
        <p:nvSpPr>
          <p:cNvPr id="1359167960" name="Notes Placeholder 2"/>
          <p:cNvSpPr>
            <a:spLocks noGrp="1"/>
          </p:cNvSpPr>
          <p:nvPr>
            <p:ph type="body" idx="1"/>
          </p:nvPr>
        </p:nvSpPr>
        <p:spPr bwMode="auto"/>
        <p:txBody>
          <a:bodyPr/>
          <a:lstStyle/>
          <a:p>
            <a:pPr>
              <a:defRPr/>
            </a:pPr>
            <a:r>
              <a:rPr lang="en-US"/>
              <a:t>The capital is layered the same way the phases are. Five sources, each unlocked by the deliverables of the one before it, so we are never dependent on a single cheque. Founder capital primes it. Government grants — NEDO, METI, Nara Prefecture, the village itself — do the heavy lifting. Foundations and corporate CSR partners, Dutch and Japanese, add to it. And by year three, operating revenue — hosting, feed-in, EV charging, carbon credits — starts carrying its own weight. We grow from about eleven million yen in year one to roughly one hundred thirty-four million by year three. These are planning targets, not commitments, and we are honest about that.</a:t>
            </a:r>
            <a:endParaRPr lang="en-US"/>
          </a:p>
        </p:txBody>
      </p:sp>
      <p:sp>
        <p:nvSpPr>
          <p:cNvPr id="344382231"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4139102" name="Slide Image Placeholder 1"/>
          <p:cNvSpPr>
            <a:spLocks noChangeAspect="1" noGrp="1" noRot="1"/>
          </p:cNvSpPr>
          <p:nvPr>
            <p:ph type="sldImg"/>
          </p:nvPr>
        </p:nvSpPr>
        <p:spPr bwMode="auto"/>
      </p:sp>
      <p:sp>
        <p:nvSpPr>
          <p:cNvPr id="837934411" name="Notes Placeholder 2"/>
          <p:cNvSpPr>
            <a:spLocks noGrp="1"/>
          </p:cNvSpPr>
          <p:nvPr>
            <p:ph type="body" idx="1"/>
          </p:nvPr>
        </p:nvSpPr>
        <p:spPr bwMode="auto"/>
        <p:txBody>
          <a:bodyPr/>
          <a:lstStyle/>
          <a:p>
            <a:pPr>
              <a:defRPr/>
            </a:pPr>
            <a:r>
              <a:rPr lang="en-US"/>
              <a:t>And this is the case for patience. A conventional grant is spent once and it's gone. What we are building is an asset base that keeps producing — for twenty-five years and beyond. As the phases mature, the funding mix inverts: it starts almost entirely grant-dependent, and it ends carrying itself on four recurring revenue streams — compute hosting, energy feed-in, EV charging, and carbon credits. The twenty-five year horizon is deliberate. It's the bridge between today's rural deficits and the localized, small-scale power generation we expect to arrive within that window. You are not funding an expense. You are seeding an endowment that happens to be made of forest, energy, and compute.</a:t>
            </a:r>
            <a:endParaRPr lang="en-US"/>
          </a:p>
        </p:txBody>
      </p:sp>
      <p:sp>
        <p:nvSpPr>
          <p:cNvPr id="1404245978"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337927" name="Slide Image Placeholder 1"/>
          <p:cNvSpPr>
            <a:spLocks noChangeAspect="1" noGrp="1" noRot="1"/>
          </p:cNvSpPr>
          <p:nvPr>
            <p:ph type="sldImg"/>
          </p:nvPr>
        </p:nvSpPr>
        <p:spPr bwMode="auto"/>
      </p:sp>
      <p:sp>
        <p:nvSpPr>
          <p:cNvPr id="1588673388" name="Notes Placeholder 2"/>
          <p:cNvSpPr>
            <a:spLocks noGrp="1"/>
          </p:cNvSpPr>
          <p:nvPr>
            <p:ph type="body" idx="1"/>
          </p:nvPr>
        </p:nvSpPr>
        <p:spPr bwMode="auto"/>
        <p:txBody>
          <a:bodyPr/>
          <a:lstStyle/>
          <a:p>
            <a:pPr>
              <a:defRPr/>
            </a:pPr>
            <a:r>
              <a:rPr lang="en-US"/>
              <a:t>Who is behind this. The project is led by Rob Oudendijk, of YR-Design and Safecast — Safecast being the open environmental-data network that grew out of Fukushima, which tells you something about our commitment to transparency. The legal path runs from a general incorporated association today toward certified non-profit status, so that donations become tax-deductible. And we are advised by people who have built real things: Ray Ozzie, San Poisson, Professor Emeritus Takuo Dome of Osaka University and the Inochi Forum, and Evin Zoet and Yoshiko Zoet-Suzuki of Transom. Small team, serious people, open books.</a:t>
            </a:r>
            <a:endParaRPr lang="en-US"/>
          </a:p>
        </p:txBody>
      </p:sp>
      <p:sp>
        <p:nvSpPr>
          <p:cNvPr id="202515668"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9404313" name="Slide Image Placeholder 1"/>
          <p:cNvSpPr>
            <a:spLocks noChangeAspect="1" noGrp="1" noRot="1"/>
          </p:cNvSpPr>
          <p:nvPr>
            <p:ph type="sldImg"/>
          </p:nvPr>
        </p:nvSpPr>
        <p:spPr bwMode="auto"/>
      </p:sp>
      <p:sp>
        <p:nvSpPr>
          <p:cNvPr id="326163241" name="Notes Placeholder 2"/>
          <p:cNvSpPr>
            <a:spLocks noGrp="1"/>
          </p:cNvSpPr>
          <p:nvPr>
            <p:ph type="body" idx="1"/>
          </p:nvPr>
        </p:nvSpPr>
        <p:spPr bwMode="auto"/>
        <p:txBody>
          <a:bodyPr/>
          <a:lstStyle/>
          <a:p>
            <a:pPr>
              <a:defRPr/>
            </a:pPr>
            <a:r>
              <a:rPr lang="en-US"/>
              <a:t>And here is why this is worth more than one village. Mitsue is not the destination — it's the prototype. There are hundreds of depopulating municipalities across Japan with the same four raw materials: empty forest, a closed school, an energy bill, and a shrinking population. Every method, every financial record, every lesson we learn here is published under open licences. So the real product is not the data center. It's the documented, repeatable playbook — a blueprint another community can pick up and adapt without starting from zero. Fund Mitsue once, and you are funding the template for many.</a:t>
            </a:r>
            <a:endParaRPr lang="en-US"/>
          </a:p>
        </p:txBody>
      </p:sp>
      <p:sp>
        <p:nvSpPr>
          <p:cNvPr id="129389039"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1757772" name="Slide Image Placeholder 1"/>
          <p:cNvSpPr>
            <a:spLocks noChangeAspect="1" noGrp="1" noRot="1"/>
          </p:cNvSpPr>
          <p:nvPr>
            <p:ph type="sldImg"/>
          </p:nvPr>
        </p:nvSpPr>
        <p:spPr bwMode="auto"/>
      </p:sp>
      <p:sp>
        <p:nvSpPr>
          <p:cNvPr id="405675116" name="Notes Placeholder 2"/>
          <p:cNvSpPr>
            <a:spLocks noGrp="1"/>
          </p:cNvSpPr>
          <p:nvPr>
            <p:ph type="body" idx="1"/>
          </p:nvPr>
        </p:nvSpPr>
        <p:spPr bwMode="auto"/>
        <p:txBody>
          <a:bodyPr/>
          <a:lstStyle/>
          <a:p>
            <a:pPr>
              <a:defRPr/>
            </a:pPr>
            <a:r>
              <a:rPr lang="en-US"/>
              <a:t>So here is the invitation. We are in Phase Zero, and we are looking for the partners who clear Gate One — three to eight million yen to stand up the legal entity, the feasibility work, and the professional advisors that the next phase depends on. Come in as a founding partner: government, foundation, corporate, or impact investor. What you get is not a logo on a wall. You get a stake in the first fully-documented model for regenerating rural Japan — and the right to say you helped write the blueprint the others followed. Thank you. Let's talk.</a:t>
            </a:r>
            <a:endParaRPr lang="en-US"/>
          </a:p>
        </p:txBody>
      </p:sp>
      <p:sp>
        <p:nvSpPr>
          <p:cNvPr id="2054323370"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media1.sv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sp>
        <p:nvSpPr>
          <p:cNvPr id="1320664541" name="Shape 0"/>
          <p:cNvSpPr/>
          <p:nvPr/>
        </p:nvSpPr>
        <p:spPr bwMode="auto">
          <a:xfrm>
            <a:off x="0" y="0"/>
            <a:ext cx="18288000" cy="76200"/>
          </a:xfrm>
          <a:prstGeom prst="rect">
            <a:avLst/>
          </a:prstGeom>
          <a:solidFill>
            <a:srgbClr val="9B9DA0"/>
          </a:solidFill>
          <a:ln/>
        </p:spPr>
      </p:sp>
      <p:sp>
        <p:nvSpPr>
          <p:cNvPr id="596234965" name="Shape 1"/>
          <p:cNvSpPr/>
          <p:nvPr/>
        </p:nvSpPr>
        <p:spPr bwMode="auto">
          <a:xfrm>
            <a:off x="0" y="600075"/>
            <a:ext cx="18288000" cy="9525"/>
          </a:xfrm>
          <a:prstGeom prst="rect">
            <a:avLst/>
          </a:prstGeom>
          <a:solidFill>
            <a:srgbClr val="E6E6E2"/>
          </a:solidFill>
          <a:ln/>
        </p:spPr>
      </p:sp>
      <p:sp>
        <p:nvSpPr>
          <p:cNvPr id="1403457376" name="Text 2"/>
          <p:cNvSpPr/>
          <p:nvPr/>
        </p:nvSpPr>
        <p:spPr bwMode="auto">
          <a:xfrm>
            <a:off x="609600" y="242888"/>
            <a:ext cx="2393410" cy="228600"/>
          </a:xfrm>
          <a:prstGeom prst="rect">
            <a:avLst/>
          </a:prstGeom>
          <a:noFill/>
          <a:ln/>
        </p:spPr>
        <p:txBody>
          <a:bodyPr wrap="square" lIns="25400" tIns="25400" rIns="25400" bIns="25400" rtlCol="0" anchor="t">
            <a:normAutofit/>
          </a:bodyPr>
          <a:lstStyle/>
          <a:p>
            <a:pPr marL="0" indent="0" algn="l">
              <a:buNone/>
              <a:defRPr/>
            </a:pPr>
            <a:r>
              <a:rPr lang="en-US" sz="1150" b="1" spc="246">
                <a:solidFill>
                  <a:srgbClr val="6E7174"/>
                </a:solidFill>
                <a:latin typeface="Open Sans"/>
                <a:ea typeface="Open Sans"/>
                <a:cs typeface="Open Sans"/>
              </a:rPr>
              <a:t>YR-DESIGN · SAFECAST</a:t>
            </a:r>
            <a:endParaRPr lang="en-US" sz="1150"/>
          </a:p>
        </p:txBody>
      </p:sp>
      <p:sp>
        <p:nvSpPr>
          <p:cNvPr id="1434109301" name="Text 3"/>
          <p:cNvSpPr/>
          <p:nvPr/>
        </p:nvSpPr>
        <p:spPr bwMode="auto">
          <a:xfrm>
            <a:off x="6929755" y="228600"/>
            <a:ext cx="5143579" cy="257175"/>
          </a:xfrm>
          <a:prstGeom prst="rect">
            <a:avLst/>
          </a:prstGeom>
          <a:noFill/>
          <a:ln/>
        </p:spPr>
        <p:txBody>
          <a:bodyPr wrap="square" lIns="25400" tIns="25400" rIns="25400" bIns="25400" rtlCol="0" anchor="t">
            <a:normAutofit/>
          </a:bodyPr>
          <a:lstStyle/>
          <a:p>
            <a:pPr marL="0" indent="0" algn="l">
              <a:buNone/>
              <a:defRPr/>
            </a:pPr>
            <a:r>
              <a:rPr lang="en-US" sz="1150" b="1" spc="246">
                <a:solidFill>
                  <a:srgbClr val="9B9DA0"/>
                </a:solidFill>
                <a:latin typeface="Open Sans"/>
                <a:ea typeface="Open Sans"/>
                <a:cs typeface="Open Sans"/>
              </a:rPr>
              <a:t>IMPACT INVESTMENT PROSPECTUS · インパクト投資</a:t>
            </a:r>
            <a:endParaRPr lang="en-US" sz="1150"/>
          </a:p>
        </p:txBody>
      </p:sp>
      <p:sp>
        <p:nvSpPr>
          <p:cNvPr id="1473293806" name="Text 4"/>
          <p:cNvSpPr/>
          <p:nvPr/>
        </p:nvSpPr>
        <p:spPr bwMode="auto">
          <a:xfrm>
            <a:off x="15750222" y="242888"/>
            <a:ext cx="2120995" cy="228600"/>
          </a:xfrm>
          <a:prstGeom prst="rect">
            <a:avLst/>
          </a:prstGeom>
          <a:noFill/>
          <a:ln/>
        </p:spPr>
        <p:txBody>
          <a:bodyPr wrap="square" lIns="25400" tIns="25400" rIns="25400" bIns="25400" rtlCol="0" anchor="t">
            <a:normAutofit/>
          </a:bodyPr>
          <a:lstStyle/>
          <a:p>
            <a:pPr marL="0" indent="0" algn="l">
              <a:buNone/>
              <a:defRPr/>
            </a:pPr>
            <a:r>
              <a:rPr lang="en-US" sz="1150" b="1" spc="246">
                <a:solidFill>
                  <a:srgbClr val="E58520"/>
                </a:solidFill>
                <a:latin typeface="Open Sans"/>
                <a:ea typeface="Open Sans"/>
                <a:cs typeface="Open Sans"/>
              </a:rPr>
              <a:t>NARA, JAPAN · 2026</a:t>
            </a:r>
            <a:endParaRPr lang="en-US" sz="1150"/>
          </a:p>
        </p:txBody>
      </p:sp>
      <p:sp>
        <p:nvSpPr>
          <p:cNvPr id="1377732223" name="Shape 5"/>
          <p:cNvSpPr/>
          <p:nvPr/>
        </p:nvSpPr>
        <p:spPr bwMode="auto">
          <a:xfrm>
            <a:off x="609600" y="1509713"/>
            <a:ext cx="438149" cy="47625"/>
          </a:xfrm>
          <a:prstGeom prst="rect">
            <a:avLst/>
          </a:prstGeom>
          <a:solidFill>
            <a:srgbClr val="E58520"/>
          </a:solidFill>
          <a:ln/>
        </p:spPr>
      </p:sp>
      <p:sp>
        <p:nvSpPr>
          <p:cNvPr id="1967898736" name="Text 6"/>
          <p:cNvSpPr/>
          <p:nvPr/>
        </p:nvSpPr>
        <p:spPr bwMode="auto">
          <a:xfrm>
            <a:off x="1200150" y="1409700"/>
            <a:ext cx="5260577" cy="285750"/>
          </a:xfrm>
          <a:prstGeom prst="rect">
            <a:avLst/>
          </a:prstGeom>
          <a:noFill/>
          <a:ln/>
        </p:spPr>
        <p:txBody>
          <a:bodyPr wrap="square" lIns="25400" tIns="25400" rIns="25400" bIns="25400" rtlCol="0" anchor="t">
            <a:normAutofit/>
          </a:bodyPr>
          <a:lstStyle/>
          <a:p>
            <a:pPr marL="0" indent="0" algn="l">
              <a:buNone/>
              <a:defRPr/>
            </a:pPr>
            <a:r>
              <a:rPr lang="en-US" sz="1450" b="1" spc="142">
                <a:solidFill>
                  <a:srgbClr val="9B9DA0"/>
                </a:solidFill>
                <a:latin typeface="Open Sans"/>
                <a:ea typeface="Open Sans"/>
                <a:cs typeface="Open Sans"/>
              </a:rPr>
              <a:t>A 25-YEAR MODEL FOR RURAL REGENERATION</a:t>
            </a:r>
            <a:endParaRPr lang="en-US" sz="1450"/>
          </a:p>
        </p:txBody>
      </p:sp>
      <p:sp>
        <p:nvSpPr>
          <p:cNvPr id="1335300699" name="Text 7"/>
          <p:cNvSpPr/>
          <p:nvPr/>
        </p:nvSpPr>
        <p:spPr bwMode="auto">
          <a:xfrm>
            <a:off x="609600" y="1943100"/>
            <a:ext cx="8916009" cy="2362199"/>
          </a:xfrm>
          <a:prstGeom prst="rect">
            <a:avLst/>
          </a:prstGeom>
          <a:noFill/>
          <a:ln/>
        </p:spPr>
        <p:txBody>
          <a:bodyPr wrap="square" lIns="25400" tIns="25400" rIns="25400" bIns="25400" rtlCol="0" anchor="t">
            <a:normAutofit/>
          </a:bodyPr>
          <a:lstStyle/>
          <a:p>
            <a:pPr marL="0" indent="0" algn="l">
              <a:lnSpc>
                <a:spcPct val="100000"/>
              </a:lnSpc>
              <a:buNone/>
              <a:defRPr/>
            </a:pPr>
            <a:r>
              <a:rPr lang="en-US" sz="9150" b="1" spc="-46">
                <a:solidFill>
                  <a:srgbClr val="2E2E2E"/>
                </a:solidFill>
                <a:latin typeface="Arial"/>
                <a:ea typeface="Arial"/>
                <a:cs typeface="Arial"/>
              </a:rPr>
              <a:t>Mitsue Project</a:t>
            </a:r>
            <a:endParaRPr lang="en-US" sz="9150"/>
          </a:p>
        </p:txBody>
      </p:sp>
      <p:sp>
        <p:nvSpPr>
          <p:cNvPr id="164439407" name="Text 8"/>
          <p:cNvSpPr/>
          <p:nvPr/>
        </p:nvSpPr>
        <p:spPr bwMode="auto">
          <a:xfrm>
            <a:off x="609600" y="4476750"/>
            <a:ext cx="9521952" cy="657225"/>
          </a:xfrm>
          <a:prstGeom prst="rect">
            <a:avLst/>
          </a:prstGeom>
          <a:noFill/>
          <a:ln/>
        </p:spPr>
        <p:txBody>
          <a:bodyPr wrap="square" lIns="25400" tIns="25400" rIns="25400" bIns="25400" rtlCol="0" anchor="t">
            <a:normAutofit/>
          </a:bodyPr>
          <a:lstStyle/>
          <a:p>
            <a:pPr marL="0" indent="0" algn="l">
              <a:buNone/>
              <a:defRPr/>
            </a:pPr>
            <a:r>
              <a:rPr lang="en-US" sz="3300" b="1" spc="66">
                <a:solidFill>
                  <a:srgbClr val="6E7174"/>
                </a:solidFill>
                <a:latin typeface="Noto Sans JP"/>
                <a:ea typeface="Noto Sans JP"/>
                <a:cs typeface="Noto Sans JP"/>
              </a:rPr>
              <a:t>御杖プロジェクト</a:t>
            </a:r>
            <a:endParaRPr lang="en-US" sz="3300"/>
          </a:p>
        </p:txBody>
      </p:sp>
      <p:sp>
        <p:nvSpPr>
          <p:cNvPr id="532342771" name="Text 9"/>
          <p:cNvSpPr/>
          <p:nvPr/>
        </p:nvSpPr>
        <p:spPr bwMode="auto">
          <a:xfrm>
            <a:off x="609599" y="5496469"/>
            <a:ext cx="6278880" cy="1691640"/>
          </a:xfrm>
          <a:prstGeom prst="rect">
            <a:avLst/>
          </a:prstGeom>
          <a:noFill/>
          <a:ln/>
        </p:spPr>
        <p:txBody>
          <a:bodyPr wrap="square" lIns="25400" tIns="25400" rIns="25400" bIns="25400" rtlCol="0" anchor="t">
            <a:normAutofit/>
          </a:bodyPr>
          <a:lstStyle/>
          <a:p>
            <a:pPr marL="0" indent="0" algn="l">
              <a:lnSpc>
                <a:spcPct val="140000"/>
              </a:lnSpc>
              <a:buNone/>
              <a:defRPr/>
            </a:pPr>
            <a:r>
              <a:rPr lang="en-US" sz="2350">
                <a:solidFill>
                  <a:srgbClr val="3A3A3A"/>
                </a:solidFill>
                <a:latin typeface="Open Sans"/>
                <a:ea typeface="Open Sans"/>
                <a:cs typeface="Open Sans"/>
              </a:rPr>
              <a:t>Restored forest, local clean energy, and a community-owned data center — one integrated system, openly documented for any village to follow.</a:t>
            </a:r>
            <a:endParaRPr lang="en-US" sz="2350"/>
          </a:p>
        </p:txBody>
      </p:sp>
      <p:sp>
        <p:nvSpPr>
          <p:cNvPr id="1382587634" name="Text 10"/>
          <p:cNvSpPr/>
          <p:nvPr/>
        </p:nvSpPr>
        <p:spPr bwMode="auto">
          <a:xfrm>
            <a:off x="609600" y="7541895"/>
            <a:ext cx="6278880" cy="704850"/>
          </a:xfrm>
          <a:prstGeom prst="rect">
            <a:avLst/>
          </a:prstGeom>
          <a:noFill/>
          <a:ln/>
        </p:spPr>
        <p:txBody>
          <a:bodyPr wrap="square" lIns="25400" tIns="25400" rIns="25400" bIns="25400" rtlCol="0" anchor="t">
            <a:normAutofit/>
          </a:bodyPr>
          <a:lstStyle/>
          <a:p>
            <a:pPr marL="0" indent="0" algn="l">
              <a:lnSpc>
                <a:spcPct val="175000"/>
              </a:lnSpc>
              <a:buNone/>
              <a:defRPr/>
            </a:pPr>
            <a:r>
              <a:rPr lang="en-US" sz="1500">
                <a:solidFill>
                  <a:srgbClr val="85888C"/>
                </a:solidFill>
                <a:latin typeface="Noto Sans JP"/>
                <a:ea typeface="Noto Sans JP"/>
                <a:cs typeface="Noto Sans JP"/>
              </a:rPr>
              <a:t>森林再生・地域エネルギー・コミュニティ所有のデータセンター。どの集落も辿れる、公開された統合モデル。</a:t>
            </a:r>
            <a:endParaRPr lang="en-US" sz="1500"/>
          </a:p>
        </p:txBody>
      </p:sp>
      <p:sp>
        <p:nvSpPr>
          <p:cNvPr id="374575790" name="Shape 11"/>
          <p:cNvSpPr/>
          <p:nvPr/>
        </p:nvSpPr>
        <p:spPr bwMode="auto">
          <a:xfrm>
            <a:off x="609600" y="8867775"/>
            <a:ext cx="8656320" cy="9525"/>
          </a:xfrm>
          <a:prstGeom prst="rect">
            <a:avLst/>
          </a:prstGeom>
          <a:solidFill>
            <a:srgbClr val="E6E6E2"/>
          </a:solidFill>
          <a:ln/>
        </p:spPr>
      </p:sp>
      <p:sp>
        <p:nvSpPr>
          <p:cNvPr id="1793984781" name="Text 12"/>
          <p:cNvSpPr/>
          <p:nvPr/>
        </p:nvSpPr>
        <p:spPr bwMode="auto">
          <a:xfrm>
            <a:off x="609600" y="9105900"/>
            <a:ext cx="3173984" cy="228600"/>
          </a:xfrm>
          <a:prstGeom prst="rect">
            <a:avLst/>
          </a:prstGeom>
          <a:noFill/>
          <a:ln/>
        </p:spPr>
        <p:txBody>
          <a:bodyPr wrap="square" lIns="25400" tIns="25400" rIns="25400" bIns="25400" rtlCol="0" anchor="t">
            <a:normAutofit/>
          </a:bodyPr>
          <a:lstStyle/>
          <a:p>
            <a:pPr marL="0" indent="0" algn="l">
              <a:buNone/>
              <a:defRPr/>
            </a:pPr>
            <a:r>
              <a:rPr lang="en-US" sz="1000" b="1" spc="137">
                <a:solidFill>
                  <a:srgbClr val="A9ABAE"/>
                </a:solidFill>
                <a:latin typeface="Open Sans"/>
                <a:ea typeface="Open Sans"/>
                <a:cs typeface="Open Sans"/>
              </a:rPr>
              <a:t>HORIZON · 期間</a:t>
            </a:r>
            <a:endParaRPr lang="en-US" sz="1000"/>
          </a:p>
        </p:txBody>
      </p:sp>
      <p:sp>
        <p:nvSpPr>
          <p:cNvPr id="614735433" name="Text 13"/>
          <p:cNvSpPr/>
          <p:nvPr/>
        </p:nvSpPr>
        <p:spPr bwMode="auto">
          <a:xfrm>
            <a:off x="609600" y="9353550"/>
            <a:ext cx="3173984"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Open Sans"/>
                <a:ea typeface="Open Sans"/>
                <a:cs typeface="Open Sans"/>
              </a:rPr>
              <a:t>25 years</a:t>
            </a:r>
            <a:endParaRPr lang="en-US" sz="1900"/>
          </a:p>
        </p:txBody>
      </p:sp>
      <p:sp>
        <p:nvSpPr>
          <p:cNvPr id="336762613" name="Text 14"/>
          <p:cNvSpPr/>
          <p:nvPr/>
        </p:nvSpPr>
        <p:spPr bwMode="auto">
          <a:xfrm>
            <a:off x="3495040" y="9105900"/>
            <a:ext cx="3173984" cy="228600"/>
          </a:xfrm>
          <a:prstGeom prst="rect">
            <a:avLst/>
          </a:prstGeom>
          <a:noFill/>
          <a:ln/>
        </p:spPr>
        <p:txBody>
          <a:bodyPr wrap="square" lIns="25400" tIns="25400" rIns="25400" bIns="25400" rtlCol="0" anchor="t">
            <a:normAutofit/>
          </a:bodyPr>
          <a:lstStyle/>
          <a:p>
            <a:pPr marL="0" indent="0" algn="l">
              <a:buNone/>
              <a:defRPr/>
            </a:pPr>
            <a:r>
              <a:rPr lang="en-US" sz="1000" b="1" spc="137">
                <a:solidFill>
                  <a:srgbClr val="A9ABAE"/>
                </a:solidFill>
                <a:latin typeface="Open Sans"/>
                <a:ea typeface="Open Sans"/>
                <a:cs typeface="Open Sans"/>
              </a:rPr>
              <a:t>PHASE · 段階</a:t>
            </a:r>
            <a:endParaRPr lang="en-US" sz="1000"/>
          </a:p>
        </p:txBody>
      </p:sp>
      <p:sp>
        <p:nvSpPr>
          <p:cNvPr id="1966519236" name="Text 15"/>
          <p:cNvSpPr/>
          <p:nvPr/>
        </p:nvSpPr>
        <p:spPr bwMode="auto">
          <a:xfrm>
            <a:off x="3495040" y="9353550"/>
            <a:ext cx="3173984"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Open Sans"/>
                <a:ea typeface="Open Sans"/>
                <a:cs typeface="Open Sans"/>
              </a:rPr>
              <a:t>0 · Pre-foundation</a:t>
            </a:r>
            <a:endParaRPr lang="en-US" sz="1900"/>
          </a:p>
        </p:txBody>
      </p:sp>
      <p:sp>
        <p:nvSpPr>
          <p:cNvPr id="1002744212" name="Text 16"/>
          <p:cNvSpPr/>
          <p:nvPr/>
        </p:nvSpPr>
        <p:spPr bwMode="auto">
          <a:xfrm>
            <a:off x="6380480" y="9105900"/>
            <a:ext cx="3173984" cy="228600"/>
          </a:xfrm>
          <a:prstGeom prst="rect">
            <a:avLst/>
          </a:prstGeom>
          <a:noFill/>
          <a:ln/>
        </p:spPr>
        <p:txBody>
          <a:bodyPr wrap="square" lIns="25400" tIns="25400" rIns="25400" bIns="25400" rtlCol="0" anchor="t">
            <a:normAutofit/>
          </a:bodyPr>
          <a:lstStyle/>
          <a:p>
            <a:pPr marL="0" indent="0" algn="l">
              <a:buNone/>
              <a:defRPr/>
            </a:pPr>
            <a:r>
              <a:rPr lang="en-US" sz="1000" b="1" spc="137">
                <a:solidFill>
                  <a:srgbClr val="A9ABAE"/>
                </a:solidFill>
                <a:latin typeface="Open Sans"/>
                <a:ea typeface="Open Sans"/>
                <a:cs typeface="Open Sans"/>
              </a:rPr>
              <a:t>ADVISORS · 顧問</a:t>
            </a:r>
            <a:endParaRPr lang="en-US" sz="1000"/>
          </a:p>
        </p:txBody>
      </p:sp>
      <p:sp>
        <p:nvSpPr>
          <p:cNvPr id="1475490341" name="Text 17"/>
          <p:cNvSpPr/>
          <p:nvPr/>
        </p:nvSpPr>
        <p:spPr bwMode="auto">
          <a:xfrm>
            <a:off x="6380480" y="9353550"/>
            <a:ext cx="3173984"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Open Sans"/>
                <a:ea typeface="Open Sans"/>
                <a:cs typeface="Open Sans"/>
              </a:rPr>
              <a:t>Ozzie · Dome</a:t>
            </a:r>
            <a:endParaRPr lang="en-US" sz="1900"/>
          </a:p>
        </p:txBody>
      </p:sp>
      <p:sp>
        <p:nvSpPr>
          <p:cNvPr id="630901414" name="Shape 18"/>
          <p:cNvSpPr/>
          <p:nvPr/>
        </p:nvSpPr>
        <p:spPr bwMode="auto">
          <a:xfrm>
            <a:off x="9875520" y="9248775"/>
            <a:ext cx="2466499" cy="428625"/>
          </a:xfrm>
          <a:prstGeom prst="rect">
            <a:avLst/>
          </a:prstGeom>
          <a:solidFill>
            <a:srgbClr val="E58520"/>
          </a:solidFill>
          <a:ln/>
        </p:spPr>
      </p:sp>
      <p:sp>
        <p:nvSpPr>
          <p:cNvPr id="1593115747" name="Text 19"/>
          <p:cNvSpPr/>
          <p:nvPr/>
        </p:nvSpPr>
        <p:spPr bwMode="auto">
          <a:xfrm flipH="0" flipV="0">
            <a:off x="9951719" y="9353549"/>
            <a:ext cx="2690708" cy="257175"/>
          </a:xfrm>
          <a:prstGeom prst="rect">
            <a:avLst/>
          </a:prstGeom>
          <a:noFill/>
          <a:ln/>
        </p:spPr>
        <p:txBody>
          <a:bodyPr wrap="square" lIns="25399" tIns="25399" rIns="25399" bIns="25399" rtlCol="0" anchor="t">
            <a:normAutofit/>
          </a:bodyPr>
          <a:lstStyle/>
          <a:p>
            <a:pPr marL="0" indent="0" algn="l">
              <a:buNone/>
              <a:defRPr/>
            </a:pPr>
            <a:r>
              <a:rPr lang="en-US" sz="1150" b="1" spc="45">
                <a:solidFill>
                  <a:srgbClr val="FFFFFF"/>
                </a:solidFill>
                <a:latin typeface="Open Sans"/>
                <a:ea typeface="Open Sans"/>
                <a:cs typeface="Open Sans"/>
              </a:rPr>
              <a:t>Mitsue Village · 御杖村, Nara</a:t>
            </a:r>
            <a:endParaRPr lang="en-US" sz="1150"/>
          </a:p>
        </p:txBody>
      </p:sp>
      <p:pic>
        <p:nvPicPr>
          <p:cNvPr id="2121550137" name=""/>
          <p:cNvPicPr>
            <a:picLocks noChangeAspect="1"/>
          </p:cNvPicPr>
          <p:nvPr/>
        </p:nvPicPr>
        <p:blipFill rotWithShape="1">
          <a:blip r:embed="rId3"/>
          <a:stretch/>
        </p:blipFill>
        <p:spPr bwMode="auto">
          <a:xfrm flipH="0" flipV="0">
            <a:off x="11678668" y="1695449"/>
            <a:ext cx="4824350" cy="48243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289900198" name="Shape 0"/>
          <p:cNvSpPr/>
          <p:nvPr/>
        </p:nvSpPr>
        <p:spPr bwMode="auto">
          <a:xfrm>
            <a:off x="0" y="0"/>
            <a:ext cx="18288000" cy="76200"/>
          </a:xfrm>
          <a:prstGeom prst="rect">
            <a:avLst/>
          </a:prstGeom>
          <a:solidFill>
            <a:srgbClr val="9B9DA0"/>
          </a:solidFill>
          <a:ln/>
        </p:spPr>
      </p:sp>
      <p:sp>
        <p:nvSpPr>
          <p:cNvPr id="1835232322" name="Shape 1"/>
          <p:cNvSpPr/>
          <p:nvPr/>
        </p:nvSpPr>
        <p:spPr bwMode="auto">
          <a:xfrm>
            <a:off x="609600" y="895350"/>
            <a:ext cx="438149" cy="47625"/>
          </a:xfrm>
          <a:prstGeom prst="rect">
            <a:avLst/>
          </a:prstGeom>
          <a:solidFill>
            <a:srgbClr val="E58520"/>
          </a:solidFill>
          <a:ln/>
        </p:spPr>
      </p:sp>
      <p:sp>
        <p:nvSpPr>
          <p:cNvPr id="1803592910" name="Text 2"/>
          <p:cNvSpPr/>
          <p:nvPr/>
        </p:nvSpPr>
        <p:spPr bwMode="auto">
          <a:xfrm>
            <a:off x="1181099" y="800100"/>
            <a:ext cx="2381361"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THE THESIS · 命題 · 02</a:t>
            </a:r>
            <a:endParaRPr lang="en-US" sz="1300"/>
          </a:p>
        </p:txBody>
      </p:sp>
      <p:sp>
        <p:nvSpPr>
          <p:cNvPr id="514525390" name="Text 3"/>
          <p:cNvSpPr/>
          <p:nvPr/>
        </p:nvSpPr>
        <p:spPr bwMode="auto">
          <a:xfrm>
            <a:off x="609600" y="1285875"/>
            <a:ext cx="14716125" cy="1478280"/>
          </a:xfrm>
          <a:prstGeom prst="rect">
            <a:avLst/>
          </a:prstGeom>
          <a:noFill/>
          <a:ln/>
        </p:spPr>
        <p:txBody>
          <a:bodyPr wrap="square" lIns="25400" tIns="25400" rIns="25400" bIns="25400" rtlCol="0" anchor="t">
            <a:normAutofit/>
          </a:bodyPr>
          <a:lstStyle/>
          <a:p>
            <a:pPr marL="0" indent="0" algn="l">
              <a:lnSpc>
                <a:spcPct val="105000"/>
              </a:lnSpc>
              <a:buNone/>
              <a:defRPr/>
            </a:pPr>
            <a:r>
              <a:rPr lang="en-US" sz="5400" b="1" spc="-54">
                <a:solidFill>
                  <a:srgbClr val="2E2E2E"/>
                </a:solidFill>
                <a:latin typeface="Sora"/>
                <a:ea typeface="Sora"/>
                <a:cs typeface="Sora"/>
              </a:rPr>
              <a:t>A replicable model for rural regeneration.</a:t>
            </a:r>
            <a:endParaRPr lang="en-US" sz="5400"/>
          </a:p>
        </p:txBody>
      </p:sp>
      <p:sp>
        <p:nvSpPr>
          <p:cNvPr id="2013847930" name="Text 4"/>
          <p:cNvSpPr/>
          <p:nvPr/>
        </p:nvSpPr>
        <p:spPr bwMode="auto">
          <a:xfrm>
            <a:off x="609600" y="2859405"/>
            <a:ext cx="18775680" cy="438149"/>
          </a:xfrm>
          <a:prstGeom prst="rect">
            <a:avLst/>
          </a:prstGeom>
          <a:noFill/>
          <a:ln/>
        </p:spPr>
        <p:txBody>
          <a:bodyPr wrap="square" lIns="25400" tIns="25400" rIns="25400" bIns="25400" rtlCol="0" anchor="t">
            <a:normAutofit/>
          </a:bodyPr>
          <a:lstStyle/>
          <a:p>
            <a:pPr marL="0" indent="0" algn="l">
              <a:buNone/>
              <a:defRPr/>
            </a:pPr>
            <a:r>
              <a:rPr lang="en-US" sz="2100">
                <a:solidFill>
                  <a:srgbClr val="6E7174"/>
                </a:solidFill>
                <a:latin typeface="Noto Sans JP"/>
                <a:ea typeface="Noto Sans JP"/>
                <a:cs typeface="Noto Sans JP"/>
              </a:rPr>
              <a:t>地方再生の、再現可能なモデル。</a:t>
            </a:r>
            <a:endParaRPr lang="en-US" sz="2100"/>
          </a:p>
        </p:txBody>
      </p:sp>
      <p:sp>
        <p:nvSpPr>
          <p:cNvPr id="286876923" name="Shape 5"/>
          <p:cNvSpPr/>
          <p:nvPr/>
        </p:nvSpPr>
        <p:spPr bwMode="auto">
          <a:xfrm>
            <a:off x="609600" y="4640739"/>
            <a:ext cx="5486400" cy="2857500"/>
          </a:xfrm>
          <a:prstGeom prst="rect">
            <a:avLst/>
          </a:prstGeom>
          <a:solidFill>
            <a:srgbClr val="F6F6F4"/>
          </a:solidFill>
          <a:ln/>
        </p:spPr>
      </p:sp>
      <p:sp>
        <p:nvSpPr>
          <p:cNvPr id="1212904401" name="Shape 6"/>
          <p:cNvSpPr/>
          <p:nvPr/>
        </p:nvSpPr>
        <p:spPr bwMode="auto">
          <a:xfrm>
            <a:off x="609600" y="4640739"/>
            <a:ext cx="5486400" cy="47625"/>
          </a:xfrm>
          <a:prstGeom prst="rect">
            <a:avLst/>
          </a:prstGeom>
          <a:solidFill>
            <a:srgbClr val="2E2E2E"/>
          </a:solidFill>
          <a:ln/>
        </p:spPr>
      </p:sp>
      <p:sp>
        <p:nvSpPr>
          <p:cNvPr id="1358728192" name="Text 7"/>
          <p:cNvSpPr/>
          <p:nvPr/>
        </p:nvSpPr>
        <p:spPr bwMode="auto">
          <a:xfrm>
            <a:off x="933450" y="5050314"/>
            <a:ext cx="5322570" cy="400050"/>
          </a:xfrm>
          <a:prstGeom prst="rect">
            <a:avLst/>
          </a:prstGeom>
          <a:noFill/>
          <a:ln/>
        </p:spPr>
        <p:txBody>
          <a:bodyPr wrap="square" lIns="25400" tIns="25400" rIns="25400" bIns="25400" rtlCol="0" anchor="t">
            <a:normAutofit/>
          </a:bodyPr>
          <a:lstStyle/>
          <a:p>
            <a:pPr marL="0" indent="0" algn="l">
              <a:buNone/>
              <a:defRPr/>
            </a:pPr>
            <a:r>
              <a:rPr lang="en-US" sz="2250" b="1">
                <a:solidFill>
                  <a:srgbClr val="2E2E2E"/>
                </a:solidFill>
                <a:latin typeface="Sora"/>
                <a:ea typeface="Sora"/>
                <a:cs typeface="Sora"/>
              </a:rPr>
              <a:t>Forest</a:t>
            </a:r>
            <a:endParaRPr lang="en-US" sz="2250"/>
          </a:p>
        </p:txBody>
      </p:sp>
      <p:sp>
        <p:nvSpPr>
          <p:cNvPr id="907218346" name="Text 8"/>
          <p:cNvSpPr/>
          <p:nvPr/>
        </p:nvSpPr>
        <p:spPr bwMode="auto">
          <a:xfrm>
            <a:off x="933450" y="6176169"/>
            <a:ext cx="5322570" cy="314325"/>
          </a:xfrm>
          <a:prstGeom prst="rect">
            <a:avLst/>
          </a:prstGeom>
          <a:noFill/>
          <a:ln/>
        </p:spPr>
        <p:txBody>
          <a:bodyPr wrap="square" lIns="25400" tIns="25400" rIns="25400" bIns="25400" rtlCol="0" anchor="t">
            <a:normAutofit/>
          </a:bodyPr>
          <a:lstStyle/>
          <a:p>
            <a:pPr marL="0" indent="0" algn="l">
              <a:buNone/>
              <a:defRPr/>
            </a:pPr>
            <a:r>
              <a:rPr lang="en-US" sz="1450" b="1">
                <a:solidFill>
                  <a:srgbClr val="9B9DA0"/>
                </a:solidFill>
                <a:latin typeface="Noto Sans JP"/>
                <a:ea typeface="Noto Sans JP"/>
                <a:cs typeface="Noto Sans JP"/>
              </a:rPr>
              <a:t>森林再生</a:t>
            </a:r>
            <a:endParaRPr lang="en-US" sz="1450"/>
          </a:p>
        </p:txBody>
      </p:sp>
      <p:sp>
        <p:nvSpPr>
          <p:cNvPr id="1878749584" name="Text 9"/>
          <p:cNvSpPr/>
          <p:nvPr/>
        </p:nvSpPr>
        <p:spPr bwMode="auto">
          <a:xfrm>
            <a:off x="933450" y="6528594"/>
            <a:ext cx="4983861" cy="645795"/>
          </a:xfrm>
          <a:prstGeom prst="rect">
            <a:avLst/>
          </a:prstGeom>
          <a:noFill/>
          <a:ln/>
        </p:spPr>
        <p:txBody>
          <a:bodyPr wrap="square" lIns="25400" tIns="25400" rIns="25400" bIns="25400" rtlCol="0" anchor="t">
            <a:normAutofit/>
          </a:bodyPr>
          <a:lstStyle/>
          <a:p>
            <a:pPr marL="0" indent="0" algn="l">
              <a:lnSpc>
                <a:spcPct val="145000"/>
              </a:lnSpc>
              <a:buNone/>
              <a:defRPr/>
            </a:pPr>
            <a:r>
              <a:rPr lang="en-US" sz="1650">
                <a:solidFill>
                  <a:srgbClr val="4A4A4A"/>
                </a:solidFill>
                <a:latin typeface="Open Sans"/>
                <a:ea typeface="Open Sans"/>
                <a:cs typeface="Open Sans"/>
              </a:rPr>
              <a:t>Aged cedar restored to native broadleaf — turning a liability into feedstock and habitat.</a:t>
            </a:r>
            <a:endParaRPr lang="en-US" sz="1650"/>
          </a:p>
        </p:txBody>
      </p:sp>
      <p:sp>
        <p:nvSpPr>
          <p:cNvPr id="823862208" name="Shape 10"/>
          <p:cNvSpPr/>
          <p:nvPr/>
        </p:nvSpPr>
        <p:spPr bwMode="auto">
          <a:xfrm>
            <a:off x="6400800" y="4640739"/>
            <a:ext cx="5486400" cy="2857500"/>
          </a:xfrm>
          <a:prstGeom prst="rect">
            <a:avLst/>
          </a:prstGeom>
          <a:solidFill>
            <a:srgbClr val="F6F6F4"/>
          </a:solidFill>
          <a:ln/>
        </p:spPr>
      </p:sp>
      <p:sp>
        <p:nvSpPr>
          <p:cNvPr id="1189706836" name="Shape 11"/>
          <p:cNvSpPr/>
          <p:nvPr/>
        </p:nvSpPr>
        <p:spPr bwMode="auto">
          <a:xfrm>
            <a:off x="6400800" y="4640739"/>
            <a:ext cx="5486400" cy="47625"/>
          </a:xfrm>
          <a:prstGeom prst="rect">
            <a:avLst/>
          </a:prstGeom>
          <a:solidFill>
            <a:srgbClr val="2E2E2E"/>
          </a:solidFill>
          <a:ln/>
        </p:spPr>
      </p:sp>
      <p:sp>
        <p:nvSpPr>
          <p:cNvPr id="1488702480" name="Text 12"/>
          <p:cNvSpPr/>
          <p:nvPr/>
        </p:nvSpPr>
        <p:spPr bwMode="auto">
          <a:xfrm>
            <a:off x="6724649" y="5050314"/>
            <a:ext cx="5322570" cy="400050"/>
          </a:xfrm>
          <a:prstGeom prst="rect">
            <a:avLst/>
          </a:prstGeom>
          <a:noFill/>
          <a:ln/>
        </p:spPr>
        <p:txBody>
          <a:bodyPr wrap="square" lIns="25400" tIns="25400" rIns="25400" bIns="25400" rtlCol="0" anchor="t">
            <a:normAutofit/>
          </a:bodyPr>
          <a:lstStyle/>
          <a:p>
            <a:pPr marL="0" indent="0" algn="l">
              <a:buNone/>
              <a:defRPr/>
            </a:pPr>
            <a:r>
              <a:rPr lang="en-US" sz="2250" b="1">
                <a:solidFill>
                  <a:srgbClr val="2E2E2E"/>
                </a:solidFill>
                <a:latin typeface="Sora"/>
                <a:ea typeface="Sora"/>
                <a:cs typeface="Sora"/>
              </a:rPr>
              <a:t>Energy</a:t>
            </a:r>
            <a:endParaRPr lang="en-US" sz="2250"/>
          </a:p>
        </p:txBody>
      </p:sp>
      <p:sp>
        <p:nvSpPr>
          <p:cNvPr id="179294271" name="Text 13"/>
          <p:cNvSpPr/>
          <p:nvPr/>
        </p:nvSpPr>
        <p:spPr bwMode="auto">
          <a:xfrm>
            <a:off x="6724649" y="6176169"/>
            <a:ext cx="5322570" cy="314325"/>
          </a:xfrm>
          <a:prstGeom prst="rect">
            <a:avLst/>
          </a:prstGeom>
          <a:noFill/>
          <a:ln/>
        </p:spPr>
        <p:txBody>
          <a:bodyPr wrap="square" lIns="25400" tIns="25400" rIns="25400" bIns="25400" rtlCol="0" anchor="t">
            <a:normAutofit/>
          </a:bodyPr>
          <a:lstStyle/>
          <a:p>
            <a:pPr marL="0" indent="0" algn="l">
              <a:buNone/>
              <a:defRPr/>
            </a:pPr>
            <a:r>
              <a:rPr lang="en-US" sz="1450" b="1">
                <a:solidFill>
                  <a:srgbClr val="9B9DA0"/>
                </a:solidFill>
                <a:latin typeface="Noto Sans JP"/>
                <a:ea typeface="Noto Sans JP"/>
                <a:cs typeface="Noto Sans JP"/>
              </a:rPr>
              <a:t>地域エネルギー</a:t>
            </a:r>
            <a:endParaRPr lang="en-US" sz="1450"/>
          </a:p>
        </p:txBody>
      </p:sp>
      <p:sp>
        <p:nvSpPr>
          <p:cNvPr id="536631359" name="Text 14"/>
          <p:cNvSpPr/>
          <p:nvPr/>
        </p:nvSpPr>
        <p:spPr bwMode="auto">
          <a:xfrm>
            <a:off x="6724649" y="6528594"/>
            <a:ext cx="4983861" cy="645795"/>
          </a:xfrm>
          <a:prstGeom prst="rect">
            <a:avLst/>
          </a:prstGeom>
          <a:noFill/>
          <a:ln/>
        </p:spPr>
        <p:txBody>
          <a:bodyPr wrap="square" lIns="25400" tIns="25400" rIns="25400" bIns="25400" rtlCol="0" anchor="t">
            <a:normAutofit/>
          </a:bodyPr>
          <a:lstStyle/>
          <a:p>
            <a:pPr marL="0" indent="0" algn="l">
              <a:lnSpc>
                <a:spcPct val="145000"/>
              </a:lnSpc>
              <a:buNone/>
              <a:defRPr/>
            </a:pPr>
            <a:r>
              <a:rPr lang="en-US" sz="1650">
                <a:solidFill>
                  <a:srgbClr val="4A4A4A"/>
                </a:solidFill>
                <a:latin typeface="Open Sans"/>
                <a:ea typeface="Open Sans"/>
                <a:cs typeface="Open Sans"/>
              </a:rPr>
              <a:t>Biomass heat and existing solar — local power, kept local, with the grid as backup.</a:t>
            </a:r>
            <a:endParaRPr lang="en-US" sz="1650"/>
          </a:p>
        </p:txBody>
      </p:sp>
      <p:sp>
        <p:nvSpPr>
          <p:cNvPr id="1107839909" name="Shape 15"/>
          <p:cNvSpPr/>
          <p:nvPr/>
        </p:nvSpPr>
        <p:spPr bwMode="auto">
          <a:xfrm>
            <a:off x="12192000" y="4640739"/>
            <a:ext cx="5486400" cy="2857500"/>
          </a:xfrm>
          <a:prstGeom prst="rect">
            <a:avLst/>
          </a:prstGeom>
          <a:solidFill>
            <a:srgbClr val="F6F6F4"/>
          </a:solidFill>
          <a:ln/>
        </p:spPr>
      </p:sp>
      <p:sp>
        <p:nvSpPr>
          <p:cNvPr id="186715419" name="Shape 16"/>
          <p:cNvSpPr/>
          <p:nvPr/>
        </p:nvSpPr>
        <p:spPr bwMode="auto">
          <a:xfrm>
            <a:off x="12192000" y="4640739"/>
            <a:ext cx="5486400" cy="47625"/>
          </a:xfrm>
          <a:prstGeom prst="rect">
            <a:avLst/>
          </a:prstGeom>
          <a:solidFill>
            <a:srgbClr val="E58520"/>
          </a:solidFill>
          <a:ln/>
        </p:spPr>
      </p:sp>
      <p:sp>
        <p:nvSpPr>
          <p:cNvPr id="351516638" name="Text 17"/>
          <p:cNvSpPr/>
          <p:nvPr/>
        </p:nvSpPr>
        <p:spPr bwMode="auto">
          <a:xfrm>
            <a:off x="12515850" y="5050314"/>
            <a:ext cx="5322570" cy="400050"/>
          </a:xfrm>
          <a:prstGeom prst="rect">
            <a:avLst/>
          </a:prstGeom>
          <a:noFill/>
          <a:ln/>
        </p:spPr>
        <p:txBody>
          <a:bodyPr wrap="square" lIns="25400" tIns="25400" rIns="25400" bIns="25400" rtlCol="0" anchor="t">
            <a:normAutofit/>
          </a:bodyPr>
          <a:lstStyle/>
          <a:p>
            <a:pPr marL="0" indent="0" algn="l">
              <a:buNone/>
              <a:defRPr/>
            </a:pPr>
            <a:r>
              <a:rPr lang="en-US" sz="2250" b="1">
                <a:solidFill>
                  <a:srgbClr val="C26A12"/>
                </a:solidFill>
                <a:latin typeface="Sora"/>
                <a:ea typeface="Sora"/>
                <a:cs typeface="Sora"/>
              </a:rPr>
              <a:t>Compute</a:t>
            </a:r>
            <a:endParaRPr lang="en-US" sz="2250"/>
          </a:p>
        </p:txBody>
      </p:sp>
      <p:sp>
        <p:nvSpPr>
          <p:cNvPr id="1331868192" name="Text 18"/>
          <p:cNvSpPr/>
          <p:nvPr/>
        </p:nvSpPr>
        <p:spPr bwMode="auto">
          <a:xfrm>
            <a:off x="12515850" y="6176169"/>
            <a:ext cx="5322570" cy="314325"/>
          </a:xfrm>
          <a:prstGeom prst="rect">
            <a:avLst/>
          </a:prstGeom>
          <a:noFill/>
          <a:ln/>
        </p:spPr>
        <p:txBody>
          <a:bodyPr wrap="square" lIns="25400" tIns="25400" rIns="25400" bIns="25400" rtlCol="0" anchor="t">
            <a:normAutofit/>
          </a:bodyPr>
          <a:lstStyle/>
          <a:p>
            <a:pPr marL="0" indent="0" algn="l">
              <a:buNone/>
              <a:defRPr/>
            </a:pPr>
            <a:r>
              <a:rPr lang="en-US" sz="1450" b="1">
                <a:solidFill>
                  <a:srgbClr val="E58520"/>
                </a:solidFill>
                <a:latin typeface="Noto Sans JP"/>
                <a:ea typeface="Noto Sans JP"/>
                <a:cs typeface="Noto Sans JP"/>
              </a:rPr>
              <a:t>演算 — エンジン</a:t>
            </a:r>
            <a:endParaRPr lang="en-US" sz="1450"/>
          </a:p>
        </p:txBody>
      </p:sp>
      <p:sp>
        <p:nvSpPr>
          <p:cNvPr id="1787862894" name="Text 19"/>
          <p:cNvSpPr/>
          <p:nvPr/>
        </p:nvSpPr>
        <p:spPr bwMode="auto">
          <a:xfrm>
            <a:off x="12515850" y="6528594"/>
            <a:ext cx="4983861" cy="645795"/>
          </a:xfrm>
          <a:prstGeom prst="rect">
            <a:avLst/>
          </a:prstGeom>
          <a:noFill/>
          <a:ln/>
        </p:spPr>
        <p:txBody>
          <a:bodyPr wrap="square" lIns="25400" tIns="25400" rIns="25400" bIns="25400" rtlCol="0" anchor="t">
            <a:normAutofit/>
          </a:bodyPr>
          <a:lstStyle/>
          <a:p>
            <a:pPr marL="0" indent="0" algn="l">
              <a:lnSpc>
                <a:spcPct val="145000"/>
              </a:lnSpc>
              <a:buNone/>
              <a:defRPr/>
            </a:pPr>
            <a:r>
              <a:rPr lang="en-US" sz="1650">
                <a:solidFill>
                  <a:srgbClr val="4A4A4A"/>
                </a:solidFill>
                <a:latin typeface="Open Sans"/>
                <a:ea typeface="Open Sans"/>
                <a:cs typeface="Open Sans"/>
              </a:rPr>
              <a:t>A community-owned data center — the revenue engine that finances everything else.</a:t>
            </a:r>
            <a:endParaRPr lang="en-US" sz="1650"/>
          </a:p>
        </p:txBody>
      </p:sp>
      <p:sp>
        <p:nvSpPr>
          <p:cNvPr id="1600095285" name="Shape 20"/>
          <p:cNvSpPr/>
          <p:nvPr/>
        </p:nvSpPr>
        <p:spPr bwMode="auto">
          <a:xfrm>
            <a:off x="609600" y="8784431"/>
            <a:ext cx="17068800" cy="816769"/>
          </a:xfrm>
          <a:prstGeom prst="rect">
            <a:avLst/>
          </a:prstGeom>
          <a:solidFill>
            <a:srgbClr val="2E2E2E"/>
          </a:solidFill>
          <a:ln/>
        </p:spPr>
      </p:sp>
      <p:sp>
        <p:nvSpPr>
          <p:cNvPr id="1598956023" name="Text 21"/>
          <p:cNvSpPr/>
          <p:nvPr/>
        </p:nvSpPr>
        <p:spPr bwMode="auto">
          <a:xfrm>
            <a:off x="933450" y="9035574"/>
            <a:ext cx="1150144" cy="352425"/>
          </a:xfrm>
          <a:prstGeom prst="rect">
            <a:avLst/>
          </a:prstGeom>
          <a:noFill/>
          <a:ln/>
        </p:spPr>
        <p:txBody>
          <a:bodyPr wrap="square" lIns="25400" tIns="25400" rIns="25400" bIns="25400" rtlCol="0" anchor="t">
            <a:normAutofit/>
          </a:bodyPr>
          <a:lstStyle/>
          <a:p>
            <a:pPr marL="0" indent="0" algn="l">
              <a:buNone/>
              <a:defRPr/>
            </a:pPr>
            <a:r>
              <a:rPr lang="en-US" sz="1950" b="1">
                <a:solidFill>
                  <a:srgbClr val="F4B872"/>
                </a:solidFill>
                <a:latin typeface="Sora"/>
                <a:ea typeface="Sora"/>
                <a:cs typeface="Sora"/>
              </a:rPr>
              <a:t>Key idea</a:t>
            </a:r>
            <a:endParaRPr lang="en-US" sz="1950"/>
          </a:p>
        </p:txBody>
      </p:sp>
      <p:sp>
        <p:nvSpPr>
          <p:cNvPr id="1918244273" name="Text 22"/>
          <p:cNvSpPr/>
          <p:nvPr/>
        </p:nvSpPr>
        <p:spPr bwMode="auto">
          <a:xfrm>
            <a:off x="2216944" y="9032081"/>
            <a:ext cx="13814933" cy="359569"/>
          </a:xfrm>
          <a:prstGeom prst="rect">
            <a:avLst/>
          </a:prstGeom>
          <a:noFill/>
          <a:ln/>
        </p:spPr>
        <p:txBody>
          <a:bodyPr wrap="square" lIns="25400" tIns="25400" rIns="25400" bIns="25400" rtlCol="0" anchor="t">
            <a:normAutofit/>
          </a:bodyPr>
          <a:lstStyle/>
          <a:p>
            <a:pPr marL="0" indent="0" algn="l">
              <a:lnSpc>
                <a:spcPct val="135000"/>
              </a:lnSpc>
              <a:buNone/>
              <a:defRPr/>
            </a:pPr>
            <a:r>
              <a:rPr lang="en-US" sz="1900" b="1">
                <a:solidFill>
                  <a:srgbClr val="FFFFFF"/>
                </a:solidFill>
                <a:latin typeface="Open Sans"/>
                <a:ea typeface="Open Sans"/>
                <a:cs typeface="Open Sans"/>
              </a:rPr>
              <a:t>The data center is the engine. The forest and the village are the return. </a:t>
            </a:r>
            <a:r>
              <a:rPr lang="en-US" sz="1500">
                <a:solidFill>
                  <a:srgbClr val="C7C9CB"/>
                </a:solidFill>
                <a:latin typeface="Noto Sans JP"/>
                <a:ea typeface="Noto Sans JP"/>
                <a:cs typeface="Noto Sans JP"/>
              </a:rPr>
              <a:t>データセンターはエンジン、森と集落がリターン。</a:t>
            </a:r>
            <a:endParaRPr lang="en-US" sz="1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1406214138" name="Shape 0"/>
          <p:cNvSpPr/>
          <p:nvPr/>
        </p:nvSpPr>
        <p:spPr bwMode="auto">
          <a:xfrm>
            <a:off x="0" y="0"/>
            <a:ext cx="18288000" cy="76200"/>
          </a:xfrm>
          <a:prstGeom prst="rect">
            <a:avLst/>
          </a:prstGeom>
          <a:solidFill>
            <a:srgbClr val="9B9DA0"/>
          </a:solidFill>
          <a:ln/>
        </p:spPr>
      </p:sp>
      <p:sp>
        <p:nvSpPr>
          <p:cNvPr id="1368994475" name="Shape 1"/>
          <p:cNvSpPr/>
          <p:nvPr/>
        </p:nvSpPr>
        <p:spPr bwMode="auto">
          <a:xfrm>
            <a:off x="609600" y="895350"/>
            <a:ext cx="438149" cy="47625"/>
          </a:xfrm>
          <a:prstGeom prst="rect">
            <a:avLst/>
          </a:prstGeom>
          <a:solidFill>
            <a:srgbClr val="E58520"/>
          </a:solidFill>
          <a:ln/>
        </p:spPr>
      </p:sp>
      <p:sp>
        <p:nvSpPr>
          <p:cNvPr id="544056104" name="Text 2"/>
          <p:cNvSpPr/>
          <p:nvPr/>
        </p:nvSpPr>
        <p:spPr bwMode="auto">
          <a:xfrm>
            <a:off x="1181099" y="800100"/>
            <a:ext cx="3539125"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THE CHALLENGE · 現状の課題 · 03</a:t>
            </a:r>
            <a:endParaRPr lang="en-US" sz="1300"/>
          </a:p>
        </p:txBody>
      </p:sp>
      <p:sp>
        <p:nvSpPr>
          <p:cNvPr id="296730025" name="Text 3"/>
          <p:cNvSpPr/>
          <p:nvPr/>
        </p:nvSpPr>
        <p:spPr bwMode="auto">
          <a:xfrm>
            <a:off x="609600" y="1266825"/>
            <a:ext cx="18775680" cy="672147"/>
          </a:xfrm>
          <a:prstGeom prst="rect">
            <a:avLst/>
          </a:prstGeom>
          <a:noFill/>
          <a:ln/>
        </p:spPr>
        <p:txBody>
          <a:bodyPr wrap="square" lIns="25400" tIns="25400" rIns="25400" bIns="25400" rtlCol="0" anchor="t">
            <a:normAutofit/>
          </a:bodyPr>
          <a:lstStyle/>
          <a:p>
            <a:pPr marL="0" indent="0" algn="l">
              <a:lnSpc>
                <a:spcPct val="104010"/>
              </a:lnSpc>
              <a:buNone/>
              <a:defRPr/>
            </a:pPr>
            <a:r>
              <a:rPr lang="en-US" sz="4800" b="1" spc="-47">
                <a:solidFill>
                  <a:srgbClr val="2E2E2E"/>
                </a:solidFill>
                <a:latin typeface="Sora"/>
                <a:ea typeface="Sora"/>
                <a:cs typeface="Sora"/>
              </a:rPr>
              <a:t>Four problems — or four raw materials</a:t>
            </a:r>
            <a:endParaRPr lang="en-US" sz="4800"/>
          </a:p>
        </p:txBody>
      </p:sp>
      <p:sp>
        <p:nvSpPr>
          <p:cNvPr id="1703271907" name="Text 4"/>
          <p:cNvSpPr/>
          <p:nvPr/>
        </p:nvSpPr>
        <p:spPr bwMode="auto">
          <a:xfrm>
            <a:off x="609600" y="2015171"/>
            <a:ext cx="18775680" cy="409575"/>
          </a:xfrm>
          <a:prstGeom prst="rect">
            <a:avLst/>
          </a:prstGeom>
          <a:noFill/>
          <a:ln/>
        </p:spPr>
        <p:txBody>
          <a:bodyPr wrap="square" lIns="25400" tIns="25400" rIns="25400" bIns="25400" rtlCol="0" anchor="t">
            <a:normAutofit/>
          </a:bodyPr>
          <a:lstStyle/>
          <a:p>
            <a:pPr marL="0" indent="0" algn="l">
              <a:buNone/>
              <a:defRPr/>
            </a:pPr>
            <a:r>
              <a:rPr lang="en-US" sz="1950">
                <a:solidFill>
                  <a:srgbClr val="6E7174"/>
                </a:solidFill>
                <a:latin typeface="Noto Sans JP"/>
                <a:ea typeface="Noto Sans JP"/>
                <a:cs typeface="Noto Sans JP"/>
              </a:rPr>
              <a:t>四つの課題は、見方を変えれば四つの資源。</a:t>
            </a:r>
            <a:endParaRPr lang="en-US" sz="1950"/>
          </a:p>
        </p:txBody>
      </p:sp>
      <p:sp>
        <p:nvSpPr>
          <p:cNvPr id="901605156" name="Shape 5"/>
          <p:cNvSpPr/>
          <p:nvPr/>
        </p:nvSpPr>
        <p:spPr bwMode="auto">
          <a:xfrm>
            <a:off x="609600" y="2767646"/>
            <a:ext cx="4081463" cy="19050"/>
          </a:xfrm>
          <a:prstGeom prst="rect">
            <a:avLst/>
          </a:prstGeom>
          <a:solidFill>
            <a:srgbClr val="E6E6E2"/>
          </a:solidFill>
          <a:ln/>
        </p:spPr>
      </p:sp>
      <p:sp>
        <p:nvSpPr>
          <p:cNvPr id="1346066881" name="Text 6"/>
          <p:cNvSpPr/>
          <p:nvPr/>
        </p:nvSpPr>
        <p:spPr bwMode="auto">
          <a:xfrm>
            <a:off x="609600" y="3015297"/>
            <a:ext cx="4489609" cy="609600"/>
          </a:xfrm>
          <a:prstGeom prst="rect">
            <a:avLst/>
          </a:prstGeom>
          <a:noFill/>
          <a:ln/>
        </p:spPr>
        <p:txBody>
          <a:bodyPr wrap="square" lIns="25400" tIns="25400" rIns="25400" bIns="25400" rtlCol="0" anchor="t">
            <a:normAutofit/>
          </a:bodyPr>
          <a:lstStyle/>
          <a:p>
            <a:pPr marL="0" indent="0" algn="l">
              <a:lnSpc>
                <a:spcPct val="100000"/>
              </a:lnSpc>
              <a:buNone/>
              <a:defRPr/>
            </a:pPr>
            <a:r>
              <a:rPr lang="en-US" sz="4500" b="1">
                <a:solidFill>
                  <a:srgbClr val="2E2E2E"/>
                </a:solidFill>
                <a:latin typeface="Sora"/>
                <a:ea typeface="Sora"/>
                <a:cs typeface="Sora"/>
              </a:rPr>
              <a:t>&lt;1,500</a:t>
            </a:r>
            <a:endParaRPr lang="en-US" sz="4500"/>
          </a:p>
        </p:txBody>
      </p:sp>
      <p:sp>
        <p:nvSpPr>
          <p:cNvPr id="1640066367" name="Text 7"/>
          <p:cNvSpPr/>
          <p:nvPr/>
        </p:nvSpPr>
        <p:spPr bwMode="auto">
          <a:xfrm>
            <a:off x="609600" y="3720147"/>
            <a:ext cx="4489609" cy="342900"/>
          </a:xfrm>
          <a:prstGeom prst="rect">
            <a:avLst/>
          </a:prstGeom>
          <a:noFill/>
          <a:ln/>
        </p:spPr>
        <p:txBody>
          <a:bodyPr wrap="square" lIns="25400" tIns="25400" rIns="25400" bIns="25400" rtlCol="0" anchor="t">
            <a:normAutofit/>
          </a:bodyPr>
          <a:lstStyle/>
          <a:p>
            <a:pPr marL="0" indent="0" algn="l">
              <a:buNone/>
              <a:defRPr/>
            </a:pPr>
            <a:r>
              <a:rPr lang="en-US" sz="1750" b="1">
                <a:solidFill>
                  <a:srgbClr val="2E2E2E"/>
                </a:solidFill>
                <a:latin typeface="Open Sans"/>
                <a:ea typeface="Open Sans"/>
                <a:cs typeface="Open Sans"/>
              </a:rPr>
              <a:t>Residents, and falling</a:t>
            </a:r>
            <a:endParaRPr lang="en-US" sz="1750"/>
          </a:p>
        </p:txBody>
      </p:sp>
      <p:sp>
        <p:nvSpPr>
          <p:cNvPr id="2006458316" name="Text 8"/>
          <p:cNvSpPr/>
          <p:nvPr/>
        </p:nvSpPr>
        <p:spPr bwMode="auto">
          <a:xfrm>
            <a:off x="609600" y="4082097"/>
            <a:ext cx="4489609" cy="295274"/>
          </a:xfrm>
          <a:prstGeom prst="rect">
            <a:avLst/>
          </a:prstGeom>
          <a:noFill/>
          <a:ln/>
        </p:spPr>
        <p:txBody>
          <a:bodyPr wrap="square" lIns="25400" tIns="25400" rIns="25400" bIns="25400" rtlCol="0" anchor="t">
            <a:normAutofit/>
          </a:bodyPr>
          <a:lstStyle/>
          <a:p>
            <a:pPr marL="0" indent="0" algn="l">
              <a:lnSpc>
                <a:spcPct val="150000"/>
              </a:lnSpc>
              <a:buNone/>
              <a:defRPr/>
            </a:pPr>
            <a:r>
              <a:rPr lang="en-US" sz="1350">
                <a:solidFill>
                  <a:srgbClr val="9B9DA0"/>
                </a:solidFill>
                <a:latin typeface="Noto Sans JP"/>
                <a:ea typeface="Noto Sans JP"/>
                <a:cs typeface="Noto Sans JP"/>
              </a:rPr>
              <a:t>人口減少・高齢化（65歳以上が過半）</a:t>
            </a:r>
            <a:endParaRPr lang="en-US" sz="1350"/>
          </a:p>
        </p:txBody>
      </p:sp>
      <p:sp>
        <p:nvSpPr>
          <p:cNvPr id="57417229" name="Text 9"/>
          <p:cNvSpPr/>
          <p:nvPr/>
        </p:nvSpPr>
        <p:spPr bwMode="auto">
          <a:xfrm>
            <a:off x="609600" y="8638223"/>
            <a:ext cx="4203906" cy="562928"/>
          </a:xfrm>
          <a:prstGeom prst="rect">
            <a:avLst/>
          </a:prstGeom>
          <a:noFill/>
          <a:ln/>
        </p:spPr>
        <p:txBody>
          <a:bodyPr wrap="square" lIns="25400" tIns="25400" rIns="25400" bIns="25400" rtlCol="0" anchor="t">
            <a:normAutofit/>
          </a:bodyPr>
          <a:lstStyle/>
          <a:p>
            <a:pPr marL="0" indent="0" algn="l">
              <a:lnSpc>
                <a:spcPct val="145000"/>
              </a:lnSpc>
              <a:buNone/>
              <a:defRPr/>
            </a:pPr>
            <a:r>
              <a:rPr lang="en-US" sz="1450">
                <a:solidFill>
                  <a:srgbClr val="6E7174"/>
                </a:solidFill>
                <a:latin typeface="Open Sans"/>
                <a:ea typeface="Open Sans"/>
                <a:cs typeface="Open Sans"/>
              </a:rPr>
              <a:t>An aging community that needs new work and reasons to stay.</a:t>
            </a:r>
            <a:endParaRPr lang="en-US" sz="1450"/>
          </a:p>
        </p:txBody>
      </p:sp>
      <p:sp>
        <p:nvSpPr>
          <p:cNvPr id="1526872162" name="Shape 10"/>
          <p:cNvSpPr/>
          <p:nvPr/>
        </p:nvSpPr>
        <p:spPr bwMode="auto">
          <a:xfrm>
            <a:off x="4938713" y="2767646"/>
            <a:ext cx="4081463" cy="19050"/>
          </a:xfrm>
          <a:prstGeom prst="rect">
            <a:avLst/>
          </a:prstGeom>
          <a:solidFill>
            <a:srgbClr val="E6E6E2"/>
          </a:solidFill>
          <a:ln/>
        </p:spPr>
      </p:sp>
      <p:sp>
        <p:nvSpPr>
          <p:cNvPr id="1154724878" name="Text 11"/>
          <p:cNvSpPr/>
          <p:nvPr/>
        </p:nvSpPr>
        <p:spPr bwMode="auto">
          <a:xfrm>
            <a:off x="4938713" y="3015297"/>
            <a:ext cx="4489609" cy="609600"/>
          </a:xfrm>
          <a:prstGeom prst="rect">
            <a:avLst/>
          </a:prstGeom>
          <a:noFill/>
          <a:ln/>
        </p:spPr>
        <p:txBody>
          <a:bodyPr wrap="square" lIns="25400" tIns="25400" rIns="25400" bIns="25400" rtlCol="0" anchor="t">
            <a:normAutofit/>
          </a:bodyPr>
          <a:lstStyle/>
          <a:p>
            <a:pPr marL="0" indent="0" algn="l">
              <a:lnSpc>
                <a:spcPct val="100000"/>
              </a:lnSpc>
              <a:buNone/>
              <a:defRPr/>
            </a:pPr>
            <a:r>
              <a:rPr lang="en-US" sz="4500" b="1">
                <a:solidFill>
                  <a:srgbClr val="2E2E2E"/>
                </a:solidFill>
                <a:latin typeface="Sora"/>
                <a:ea typeface="Sora"/>
                <a:cs typeface="Sora"/>
              </a:rPr>
              <a:t>93%</a:t>
            </a:r>
            <a:endParaRPr lang="en-US" sz="4500"/>
          </a:p>
        </p:txBody>
      </p:sp>
      <p:sp>
        <p:nvSpPr>
          <p:cNvPr id="443474163" name="Text 12"/>
          <p:cNvSpPr/>
          <p:nvPr/>
        </p:nvSpPr>
        <p:spPr bwMode="auto">
          <a:xfrm>
            <a:off x="4938713" y="3720147"/>
            <a:ext cx="4489609" cy="342900"/>
          </a:xfrm>
          <a:prstGeom prst="rect">
            <a:avLst/>
          </a:prstGeom>
          <a:noFill/>
          <a:ln/>
        </p:spPr>
        <p:txBody>
          <a:bodyPr wrap="square" lIns="25400" tIns="25400" rIns="25400" bIns="25400" rtlCol="0" anchor="t">
            <a:normAutofit/>
          </a:bodyPr>
          <a:lstStyle/>
          <a:p>
            <a:pPr marL="0" indent="0" algn="l">
              <a:buNone/>
              <a:defRPr/>
            </a:pPr>
            <a:r>
              <a:rPr lang="en-US" sz="1750" b="1">
                <a:solidFill>
                  <a:srgbClr val="2E2E2E"/>
                </a:solidFill>
                <a:latin typeface="Open Sans"/>
                <a:ea typeface="Open Sans"/>
                <a:cs typeface="Open Sans"/>
              </a:rPr>
              <a:t>Forest, much unmanaged</a:t>
            </a:r>
            <a:endParaRPr lang="en-US" sz="1750"/>
          </a:p>
        </p:txBody>
      </p:sp>
      <p:sp>
        <p:nvSpPr>
          <p:cNvPr id="820218860" name="Text 13"/>
          <p:cNvSpPr/>
          <p:nvPr/>
        </p:nvSpPr>
        <p:spPr bwMode="auto">
          <a:xfrm>
            <a:off x="4938713" y="4082097"/>
            <a:ext cx="4489609" cy="295274"/>
          </a:xfrm>
          <a:prstGeom prst="rect">
            <a:avLst/>
          </a:prstGeom>
          <a:noFill/>
          <a:ln/>
        </p:spPr>
        <p:txBody>
          <a:bodyPr wrap="square" lIns="25400" tIns="25400" rIns="25400" bIns="25400" rtlCol="0" anchor="t">
            <a:normAutofit/>
          </a:bodyPr>
          <a:lstStyle/>
          <a:p>
            <a:pPr marL="0" indent="0" algn="l">
              <a:lnSpc>
                <a:spcPct val="150000"/>
              </a:lnSpc>
              <a:buNone/>
              <a:defRPr/>
            </a:pPr>
            <a:r>
              <a:rPr lang="en-US" sz="1350">
                <a:solidFill>
                  <a:srgbClr val="9B9DA0"/>
                </a:solidFill>
                <a:latin typeface="Noto Sans JP"/>
                <a:ea typeface="Noto Sans JP"/>
                <a:cs typeface="Noto Sans JP"/>
              </a:rPr>
              <a:t>森林率93%・放置された人工林</a:t>
            </a:r>
            <a:endParaRPr lang="en-US" sz="1350"/>
          </a:p>
        </p:txBody>
      </p:sp>
      <p:sp>
        <p:nvSpPr>
          <p:cNvPr id="925847120" name="Text 14"/>
          <p:cNvSpPr/>
          <p:nvPr/>
        </p:nvSpPr>
        <p:spPr bwMode="auto">
          <a:xfrm>
            <a:off x="4938713" y="8638223"/>
            <a:ext cx="4203906" cy="562928"/>
          </a:xfrm>
          <a:prstGeom prst="rect">
            <a:avLst/>
          </a:prstGeom>
          <a:noFill/>
          <a:ln/>
        </p:spPr>
        <p:txBody>
          <a:bodyPr wrap="square" lIns="25400" tIns="25400" rIns="25400" bIns="25400" rtlCol="0" anchor="t">
            <a:normAutofit/>
          </a:bodyPr>
          <a:lstStyle/>
          <a:p>
            <a:pPr marL="0" indent="0" algn="l">
              <a:lnSpc>
                <a:spcPct val="145000"/>
              </a:lnSpc>
              <a:buNone/>
              <a:defRPr/>
            </a:pPr>
            <a:r>
              <a:rPr lang="en-US" sz="1450">
                <a:solidFill>
                  <a:srgbClr val="6E7174"/>
                </a:solidFill>
                <a:latin typeface="Open Sans"/>
                <a:ea typeface="Open Sans"/>
                <a:cs typeface="Open Sans"/>
              </a:rPr>
              <a:t>Aged cedar: a pollen, fire and landslide liability — and a fuel.</a:t>
            </a:r>
            <a:endParaRPr lang="en-US" sz="1450"/>
          </a:p>
        </p:txBody>
      </p:sp>
      <p:sp>
        <p:nvSpPr>
          <p:cNvPr id="237996241" name="Shape 15"/>
          <p:cNvSpPr/>
          <p:nvPr/>
        </p:nvSpPr>
        <p:spPr bwMode="auto">
          <a:xfrm>
            <a:off x="9267825" y="2767646"/>
            <a:ext cx="4081463" cy="19050"/>
          </a:xfrm>
          <a:prstGeom prst="rect">
            <a:avLst/>
          </a:prstGeom>
          <a:solidFill>
            <a:srgbClr val="E6E6E2"/>
          </a:solidFill>
          <a:ln/>
        </p:spPr>
      </p:sp>
      <p:sp>
        <p:nvSpPr>
          <p:cNvPr id="471602376" name="Text 16"/>
          <p:cNvSpPr/>
          <p:nvPr/>
        </p:nvSpPr>
        <p:spPr bwMode="auto">
          <a:xfrm>
            <a:off x="9267825" y="3015297"/>
            <a:ext cx="4489609" cy="609600"/>
          </a:xfrm>
          <a:prstGeom prst="rect">
            <a:avLst/>
          </a:prstGeom>
          <a:noFill/>
          <a:ln/>
        </p:spPr>
        <p:txBody>
          <a:bodyPr wrap="square" lIns="25400" tIns="25400" rIns="25400" bIns="25400" rtlCol="0" anchor="t">
            <a:normAutofit/>
          </a:bodyPr>
          <a:lstStyle/>
          <a:p>
            <a:pPr marL="0" indent="0" algn="l">
              <a:lnSpc>
                <a:spcPct val="100000"/>
              </a:lnSpc>
              <a:buNone/>
              <a:defRPr/>
            </a:pPr>
            <a:r>
              <a:rPr lang="en-US" sz="4500" b="1">
                <a:solidFill>
                  <a:srgbClr val="2E2E2E"/>
                </a:solidFill>
                <a:latin typeface="Sora"/>
                <a:ea typeface="Sora"/>
                <a:cs typeface="Sora"/>
              </a:rPr>
              <a:t>1</a:t>
            </a:r>
            <a:endParaRPr lang="en-US" sz="4500"/>
          </a:p>
        </p:txBody>
      </p:sp>
      <p:sp>
        <p:nvSpPr>
          <p:cNvPr id="936651986" name="Text 17"/>
          <p:cNvSpPr/>
          <p:nvPr/>
        </p:nvSpPr>
        <p:spPr bwMode="auto">
          <a:xfrm>
            <a:off x="9267825" y="3720147"/>
            <a:ext cx="4489609" cy="342900"/>
          </a:xfrm>
          <a:prstGeom prst="rect">
            <a:avLst/>
          </a:prstGeom>
          <a:noFill/>
          <a:ln/>
        </p:spPr>
        <p:txBody>
          <a:bodyPr wrap="square" lIns="25400" tIns="25400" rIns="25400" bIns="25400" rtlCol="0" anchor="t">
            <a:normAutofit/>
          </a:bodyPr>
          <a:lstStyle/>
          <a:p>
            <a:pPr marL="0" indent="0" algn="l">
              <a:buNone/>
              <a:defRPr/>
            </a:pPr>
            <a:r>
              <a:rPr lang="en-US" sz="1750" b="1">
                <a:solidFill>
                  <a:srgbClr val="2E2E2E"/>
                </a:solidFill>
                <a:latin typeface="Open Sans"/>
                <a:ea typeface="Open Sans"/>
                <a:cs typeface="Open Sans"/>
              </a:rPr>
              <a:t>Closed school</a:t>
            </a:r>
            <a:endParaRPr lang="en-US" sz="1750"/>
          </a:p>
        </p:txBody>
      </p:sp>
      <p:sp>
        <p:nvSpPr>
          <p:cNvPr id="1763945351" name="Text 18"/>
          <p:cNvSpPr/>
          <p:nvPr/>
        </p:nvSpPr>
        <p:spPr bwMode="auto">
          <a:xfrm>
            <a:off x="9267825" y="4082097"/>
            <a:ext cx="4489609" cy="295274"/>
          </a:xfrm>
          <a:prstGeom prst="rect">
            <a:avLst/>
          </a:prstGeom>
          <a:noFill/>
          <a:ln/>
        </p:spPr>
        <p:txBody>
          <a:bodyPr wrap="square" lIns="25400" tIns="25400" rIns="25400" bIns="25400" rtlCol="0" anchor="t">
            <a:normAutofit/>
          </a:bodyPr>
          <a:lstStyle/>
          <a:p>
            <a:pPr marL="0" indent="0" algn="l">
              <a:lnSpc>
                <a:spcPct val="150000"/>
              </a:lnSpc>
              <a:buNone/>
              <a:defRPr/>
            </a:pPr>
            <a:r>
              <a:rPr lang="en-US" sz="1350">
                <a:solidFill>
                  <a:srgbClr val="9B9DA0"/>
                </a:solidFill>
                <a:latin typeface="Noto Sans JP"/>
                <a:ea typeface="Noto Sans JP"/>
                <a:cs typeface="Noto Sans JP"/>
              </a:rPr>
              <a:t>旧御杖小学校 — 維持費のかかる遊休資産</a:t>
            </a:r>
            <a:endParaRPr lang="en-US" sz="1350"/>
          </a:p>
        </p:txBody>
      </p:sp>
      <p:sp>
        <p:nvSpPr>
          <p:cNvPr id="1237037764" name="Text 19"/>
          <p:cNvSpPr/>
          <p:nvPr/>
        </p:nvSpPr>
        <p:spPr bwMode="auto">
          <a:xfrm>
            <a:off x="9267825" y="8638223"/>
            <a:ext cx="4203906" cy="562928"/>
          </a:xfrm>
          <a:prstGeom prst="rect">
            <a:avLst/>
          </a:prstGeom>
          <a:noFill/>
          <a:ln/>
        </p:spPr>
        <p:txBody>
          <a:bodyPr wrap="square" lIns="25400" tIns="25400" rIns="25400" bIns="25400" rtlCol="0" anchor="t">
            <a:normAutofit/>
          </a:bodyPr>
          <a:lstStyle/>
          <a:p>
            <a:pPr marL="0" indent="0" algn="l">
              <a:lnSpc>
                <a:spcPct val="145000"/>
              </a:lnSpc>
              <a:buNone/>
              <a:defRPr/>
            </a:pPr>
            <a:r>
              <a:rPr lang="en-US" sz="1450">
                <a:solidFill>
                  <a:srgbClr val="6E7174"/>
                </a:solidFill>
                <a:latin typeface="Open Sans"/>
                <a:ea typeface="Open Sans"/>
                <a:cs typeface="Open Sans"/>
              </a:rPr>
              <a:t>A maintained building earning nothing — ready to be repurposed.</a:t>
            </a:r>
            <a:endParaRPr lang="en-US" sz="1450"/>
          </a:p>
        </p:txBody>
      </p:sp>
      <p:sp>
        <p:nvSpPr>
          <p:cNvPr id="1635802265" name="Shape 20"/>
          <p:cNvSpPr/>
          <p:nvPr/>
        </p:nvSpPr>
        <p:spPr bwMode="auto">
          <a:xfrm>
            <a:off x="13596938" y="2767646"/>
            <a:ext cx="4081463" cy="19050"/>
          </a:xfrm>
          <a:prstGeom prst="rect">
            <a:avLst/>
          </a:prstGeom>
          <a:solidFill>
            <a:srgbClr val="E58520"/>
          </a:solidFill>
          <a:ln/>
        </p:spPr>
      </p:sp>
      <p:sp>
        <p:nvSpPr>
          <p:cNvPr id="933870507" name="Text 21"/>
          <p:cNvSpPr/>
          <p:nvPr/>
        </p:nvSpPr>
        <p:spPr bwMode="auto">
          <a:xfrm>
            <a:off x="13596938" y="3015297"/>
            <a:ext cx="4489609" cy="609600"/>
          </a:xfrm>
          <a:prstGeom prst="rect">
            <a:avLst/>
          </a:prstGeom>
          <a:noFill/>
          <a:ln/>
        </p:spPr>
        <p:txBody>
          <a:bodyPr wrap="square" lIns="25400" tIns="25400" rIns="25400" bIns="25400" rtlCol="0" anchor="t">
            <a:normAutofit/>
          </a:bodyPr>
          <a:lstStyle/>
          <a:p>
            <a:pPr marL="0" indent="0" algn="l">
              <a:lnSpc>
                <a:spcPct val="100000"/>
              </a:lnSpc>
              <a:buNone/>
              <a:defRPr/>
            </a:pPr>
            <a:r>
              <a:rPr lang="en-US" sz="4500" b="1">
                <a:solidFill>
                  <a:srgbClr val="C26A12"/>
                </a:solidFill>
                <a:latin typeface="Sora"/>
                <a:ea typeface="Sora"/>
                <a:cs typeface="Sora"/>
              </a:rPr>
              <a:t>~92%</a:t>
            </a:r>
            <a:endParaRPr lang="en-US" sz="4500"/>
          </a:p>
        </p:txBody>
      </p:sp>
      <p:sp>
        <p:nvSpPr>
          <p:cNvPr id="1501923970" name="Text 22"/>
          <p:cNvSpPr/>
          <p:nvPr/>
        </p:nvSpPr>
        <p:spPr bwMode="auto">
          <a:xfrm>
            <a:off x="13596938" y="3720147"/>
            <a:ext cx="4489609" cy="342900"/>
          </a:xfrm>
          <a:prstGeom prst="rect">
            <a:avLst/>
          </a:prstGeom>
          <a:noFill/>
          <a:ln/>
        </p:spPr>
        <p:txBody>
          <a:bodyPr wrap="square" lIns="25400" tIns="25400" rIns="25400" bIns="25400" rtlCol="0" anchor="t">
            <a:normAutofit/>
          </a:bodyPr>
          <a:lstStyle/>
          <a:p>
            <a:pPr marL="0" indent="0" algn="l">
              <a:buNone/>
              <a:defRPr/>
            </a:pPr>
            <a:r>
              <a:rPr lang="en-US" sz="1750" b="1">
                <a:solidFill>
                  <a:srgbClr val="2E2E2E"/>
                </a:solidFill>
                <a:latin typeface="Open Sans"/>
                <a:ea typeface="Open Sans"/>
                <a:cs typeface="Open Sans"/>
              </a:rPr>
              <a:t>Energy imported</a:t>
            </a:r>
            <a:endParaRPr lang="en-US" sz="1750"/>
          </a:p>
        </p:txBody>
      </p:sp>
      <p:sp>
        <p:nvSpPr>
          <p:cNvPr id="780521634" name="Text 23"/>
          <p:cNvSpPr/>
          <p:nvPr/>
        </p:nvSpPr>
        <p:spPr bwMode="auto">
          <a:xfrm>
            <a:off x="13596938" y="4082097"/>
            <a:ext cx="4489609" cy="295274"/>
          </a:xfrm>
          <a:prstGeom prst="rect">
            <a:avLst/>
          </a:prstGeom>
          <a:noFill/>
          <a:ln/>
        </p:spPr>
        <p:txBody>
          <a:bodyPr wrap="square" lIns="25400" tIns="25400" rIns="25400" bIns="25400" rtlCol="0" anchor="t">
            <a:normAutofit/>
          </a:bodyPr>
          <a:lstStyle/>
          <a:p>
            <a:pPr marL="0" indent="0" algn="l">
              <a:lnSpc>
                <a:spcPct val="150000"/>
              </a:lnSpc>
              <a:buNone/>
              <a:defRPr/>
            </a:pPr>
            <a:r>
              <a:rPr lang="en-US" sz="1350">
                <a:solidFill>
                  <a:srgbClr val="E58520"/>
                </a:solidFill>
                <a:latin typeface="Noto Sans JP"/>
                <a:ea typeface="Noto Sans JP"/>
                <a:cs typeface="Noto Sans JP"/>
              </a:rPr>
              <a:t>エネルギーの大半を域外に依存</a:t>
            </a:r>
            <a:endParaRPr lang="en-US" sz="1350"/>
          </a:p>
        </p:txBody>
      </p:sp>
      <p:sp>
        <p:nvSpPr>
          <p:cNvPr id="1695400646" name="Text 24"/>
          <p:cNvSpPr/>
          <p:nvPr/>
        </p:nvSpPr>
        <p:spPr bwMode="auto">
          <a:xfrm>
            <a:off x="13596938" y="8638223"/>
            <a:ext cx="4203906" cy="562928"/>
          </a:xfrm>
          <a:prstGeom prst="rect">
            <a:avLst/>
          </a:prstGeom>
          <a:noFill/>
          <a:ln/>
        </p:spPr>
        <p:txBody>
          <a:bodyPr wrap="square" lIns="25400" tIns="25400" rIns="25400" bIns="25400" rtlCol="0" anchor="t">
            <a:normAutofit/>
          </a:bodyPr>
          <a:lstStyle/>
          <a:p>
            <a:pPr marL="0" indent="0" algn="l">
              <a:lnSpc>
                <a:spcPct val="145000"/>
              </a:lnSpc>
              <a:buNone/>
              <a:defRPr/>
            </a:pPr>
            <a:r>
              <a:rPr lang="en-US" sz="1450">
                <a:solidFill>
                  <a:srgbClr val="6E7174"/>
                </a:solidFill>
                <a:latin typeface="Open Sans"/>
                <a:ea typeface="Open Sans"/>
                <a:cs typeface="Open Sans"/>
              </a:rPr>
              <a:t>Money leaves the village every month to buy power and fuel.</a:t>
            </a:r>
            <a:endParaRPr lang="en-US" sz="1450"/>
          </a:p>
        </p:txBody>
      </p:sp>
      <p:sp>
        <p:nvSpPr>
          <p:cNvPr id="746926804" name="Text 25"/>
          <p:cNvSpPr/>
          <p:nvPr/>
        </p:nvSpPr>
        <p:spPr bwMode="auto">
          <a:xfrm>
            <a:off x="609600" y="9410700"/>
            <a:ext cx="18775680" cy="228600"/>
          </a:xfrm>
          <a:prstGeom prst="rect">
            <a:avLst/>
          </a:prstGeom>
          <a:noFill/>
          <a:ln/>
        </p:spPr>
        <p:txBody>
          <a:bodyPr wrap="square" lIns="25400" tIns="25400" rIns="25400" bIns="25400" rtlCol="0" anchor="t">
            <a:normAutofit/>
          </a:bodyPr>
          <a:lstStyle/>
          <a:p>
            <a:pPr marL="0" indent="0" algn="l">
              <a:buNone/>
              <a:defRPr/>
            </a:pPr>
            <a:r>
              <a:rPr lang="en-US" sz="1000" b="1" spc="20">
                <a:solidFill>
                  <a:srgbClr val="A9ABAE"/>
                </a:solidFill>
                <a:latin typeface="Open Sans"/>
                <a:ea typeface="Open Sans"/>
                <a:cs typeface="Open Sans"/>
              </a:rPr>
              <a:t>Population &amp; forest: Mitsue Village statistics / Census. Energy import share illustrative — Japan Energy Database indicators. 出典：御杖村統計・国勢調査／エネルギーは試算</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AFAF9"/>
        </a:solidFill>
      </p:bgPr>
    </p:bg>
    <p:spTree>
      <p:nvGrpSpPr>
        <p:cNvPr id="1" name=""/>
        <p:cNvGrpSpPr/>
        <p:nvPr/>
      </p:nvGrpSpPr>
      <p:grpSpPr bwMode="auto">
        <a:xfrm>
          <a:off x="0" y="0"/>
          <a:ext cx="0" cy="0"/>
          <a:chOff x="0" y="0"/>
          <a:chExt cx="0" cy="0"/>
        </a:xfrm>
      </p:grpSpPr>
      <p:sp>
        <p:nvSpPr>
          <p:cNvPr id="2045466672" name="Shape 0"/>
          <p:cNvSpPr/>
          <p:nvPr/>
        </p:nvSpPr>
        <p:spPr bwMode="auto">
          <a:xfrm>
            <a:off x="0" y="0"/>
            <a:ext cx="18288000" cy="76200"/>
          </a:xfrm>
          <a:prstGeom prst="rect">
            <a:avLst/>
          </a:prstGeom>
          <a:solidFill>
            <a:srgbClr val="9B9DA0"/>
          </a:solidFill>
          <a:ln/>
        </p:spPr>
      </p:sp>
      <p:sp>
        <p:nvSpPr>
          <p:cNvPr id="1391727238" name="Shape 1"/>
          <p:cNvSpPr/>
          <p:nvPr/>
        </p:nvSpPr>
        <p:spPr bwMode="auto">
          <a:xfrm>
            <a:off x="609600" y="895350"/>
            <a:ext cx="438149" cy="47625"/>
          </a:xfrm>
          <a:prstGeom prst="rect">
            <a:avLst/>
          </a:prstGeom>
          <a:solidFill>
            <a:srgbClr val="E58520"/>
          </a:solidFill>
          <a:ln/>
        </p:spPr>
      </p:sp>
      <p:sp>
        <p:nvSpPr>
          <p:cNvPr id="942723837" name="Text 2"/>
          <p:cNvSpPr/>
          <p:nvPr/>
        </p:nvSpPr>
        <p:spPr bwMode="auto">
          <a:xfrm>
            <a:off x="1181099" y="800100"/>
            <a:ext cx="4201827"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THE CIRCULAR MODEL · 循環モデル · 04</a:t>
            </a:r>
            <a:endParaRPr lang="en-US" sz="1300"/>
          </a:p>
        </p:txBody>
      </p:sp>
      <p:sp>
        <p:nvSpPr>
          <p:cNvPr id="784780033" name="Text 3"/>
          <p:cNvSpPr/>
          <p:nvPr/>
        </p:nvSpPr>
        <p:spPr bwMode="auto">
          <a:xfrm>
            <a:off x="609600" y="1247775"/>
            <a:ext cx="5617163" cy="659924"/>
          </a:xfrm>
          <a:prstGeom prst="rect">
            <a:avLst/>
          </a:prstGeom>
          <a:noFill/>
          <a:ln/>
        </p:spPr>
        <p:txBody>
          <a:bodyPr wrap="square" lIns="25400" tIns="25400" rIns="25400" bIns="25400" rtlCol="0" anchor="t">
            <a:normAutofit/>
          </a:bodyPr>
          <a:lstStyle/>
          <a:p>
            <a:pPr marL="0" indent="0" algn="l">
              <a:lnSpc>
                <a:spcPct val="102004"/>
              </a:lnSpc>
              <a:buNone/>
              <a:defRPr/>
            </a:pPr>
            <a:r>
              <a:rPr lang="en-US" sz="4800" b="1" spc="-47">
                <a:solidFill>
                  <a:srgbClr val="2E2E2E"/>
                </a:solidFill>
                <a:latin typeface="Sora"/>
                <a:ea typeface="Sora"/>
                <a:cs typeface="Sora"/>
              </a:rPr>
              <a:t>A loop, not a line</a:t>
            </a:r>
            <a:endParaRPr lang="en-US" sz="4800"/>
          </a:p>
        </p:txBody>
      </p:sp>
      <p:sp>
        <p:nvSpPr>
          <p:cNvPr id="714577057" name="Text 4"/>
          <p:cNvSpPr/>
          <p:nvPr/>
        </p:nvSpPr>
        <p:spPr bwMode="auto">
          <a:xfrm>
            <a:off x="609600" y="1964849"/>
            <a:ext cx="5617163" cy="409575"/>
          </a:xfrm>
          <a:prstGeom prst="rect">
            <a:avLst/>
          </a:prstGeom>
          <a:noFill/>
          <a:ln/>
        </p:spPr>
        <p:txBody>
          <a:bodyPr wrap="square" lIns="25400" tIns="25400" rIns="25400" bIns="25400" rtlCol="0" anchor="t">
            <a:normAutofit/>
          </a:bodyPr>
          <a:lstStyle/>
          <a:p>
            <a:pPr marL="0" indent="0" algn="l">
              <a:buNone/>
              <a:defRPr/>
            </a:pPr>
            <a:r>
              <a:rPr lang="en-US" sz="1950">
                <a:solidFill>
                  <a:srgbClr val="6E7174"/>
                </a:solidFill>
                <a:latin typeface="Noto Sans JP"/>
                <a:ea typeface="Noto Sans JP"/>
                <a:cs typeface="Noto Sans JP"/>
              </a:rPr>
              <a:t>直線ではなく、循環。各段階が次を支える。</a:t>
            </a:r>
            <a:endParaRPr lang="en-US" sz="1950"/>
          </a:p>
        </p:txBody>
      </p:sp>
      <p:sp>
        <p:nvSpPr>
          <p:cNvPr id="1090918102" name="Text 5"/>
          <p:cNvSpPr/>
          <p:nvPr/>
        </p:nvSpPr>
        <p:spPr bwMode="auto">
          <a:xfrm>
            <a:off x="13912374" y="1369536"/>
            <a:ext cx="3879007" cy="627697"/>
          </a:xfrm>
          <a:prstGeom prst="rect">
            <a:avLst/>
          </a:prstGeom>
          <a:noFill/>
          <a:ln/>
        </p:spPr>
        <p:txBody>
          <a:bodyPr wrap="square" lIns="0" tIns="0" rIns="0" bIns="0" rtlCol="0" anchor="t">
            <a:normAutofit/>
          </a:bodyPr>
          <a:lstStyle/>
          <a:p>
            <a:pPr marL="0" indent="0" algn="r">
              <a:lnSpc>
                <a:spcPct val="145000"/>
              </a:lnSpc>
              <a:buNone/>
              <a:defRPr/>
            </a:pPr>
            <a:r>
              <a:rPr lang="en-US" sz="1650">
                <a:solidFill>
                  <a:srgbClr val="4A4A4A"/>
                </a:solidFill>
                <a:latin typeface="Open Sans"/>
                <a:ea typeface="Open Sans"/>
                <a:cs typeface="Open Sans"/>
              </a:rPr>
              <a:t>Each output is the next input. Revenue returns to the forest and the village.</a:t>
            </a:r>
            <a:endParaRPr lang="en-US" sz="1650"/>
          </a:p>
        </p:txBody>
      </p:sp>
      <p:sp>
        <p:nvSpPr>
          <p:cNvPr id="237880747" name="Text 6"/>
          <p:cNvSpPr/>
          <p:nvPr/>
        </p:nvSpPr>
        <p:spPr bwMode="auto">
          <a:xfrm>
            <a:off x="13173075" y="2044382"/>
            <a:ext cx="4505325" cy="272891"/>
          </a:xfrm>
          <a:prstGeom prst="rect">
            <a:avLst/>
          </a:prstGeom>
          <a:noFill/>
          <a:ln/>
        </p:spPr>
        <p:txBody>
          <a:bodyPr wrap="square" lIns="25400" tIns="25400" rIns="25400" bIns="25400" rtlCol="0" anchor="t">
            <a:normAutofit/>
          </a:bodyPr>
          <a:lstStyle/>
          <a:p>
            <a:pPr marL="0" indent="0" algn="r">
              <a:lnSpc>
                <a:spcPct val="145000"/>
              </a:lnSpc>
              <a:buNone/>
              <a:defRPr/>
            </a:pPr>
            <a:r>
              <a:rPr lang="en-US" sz="1300">
                <a:solidFill>
                  <a:srgbClr val="9B9DA0"/>
                </a:solidFill>
                <a:latin typeface="Noto Sans JP"/>
                <a:ea typeface="Noto Sans JP"/>
                <a:cs typeface="Noto Sans JP"/>
              </a:rPr>
              <a:t>収益は森と集落へ還る。</a:t>
            </a:r>
            <a:endParaRPr lang="en-US" sz="1300"/>
          </a:p>
        </p:txBody>
      </p:sp>
      <p:pic>
        <p:nvPicPr>
          <p:cNvPr id="377798519" name="Image 0" descr="preencoded.png"/>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722580" y="1485877"/>
            <a:ext cx="17068800" cy="752189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2122758168" name="Shape 0"/>
          <p:cNvSpPr/>
          <p:nvPr/>
        </p:nvSpPr>
        <p:spPr bwMode="auto">
          <a:xfrm>
            <a:off x="0" y="0"/>
            <a:ext cx="18288000" cy="76200"/>
          </a:xfrm>
          <a:prstGeom prst="rect">
            <a:avLst/>
          </a:prstGeom>
          <a:solidFill>
            <a:srgbClr val="9B9DA0"/>
          </a:solidFill>
          <a:ln/>
        </p:spPr>
      </p:sp>
      <p:sp>
        <p:nvSpPr>
          <p:cNvPr id="1786474802" name="Shape 1"/>
          <p:cNvSpPr/>
          <p:nvPr/>
        </p:nvSpPr>
        <p:spPr bwMode="auto">
          <a:xfrm>
            <a:off x="533400" y="895350"/>
            <a:ext cx="438149" cy="47625"/>
          </a:xfrm>
          <a:prstGeom prst="rect">
            <a:avLst/>
          </a:prstGeom>
          <a:solidFill>
            <a:srgbClr val="E58520"/>
          </a:solidFill>
          <a:ln/>
        </p:spPr>
      </p:sp>
      <p:sp>
        <p:nvSpPr>
          <p:cNvPr id="841759342" name="Text 2"/>
          <p:cNvSpPr/>
          <p:nvPr/>
        </p:nvSpPr>
        <p:spPr bwMode="auto">
          <a:xfrm>
            <a:off x="1104900" y="800100"/>
            <a:ext cx="2877122"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THE ENGINE · エンジン · 05</a:t>
            </a:r>
            <a:endParaRPr lang="en-US" sz="1300"/>
          </a:p>
        </p:txBody>
      </p:sp>
      <p:sp>
        <p:nvSpPr>
          <p:cNvPr id="720065025" name="Text 3"/>
          <p:cNvSpPr/>
          <p:nvPr/>
        </p:nvSpPr>
        <p:spPr bwMode="auto">
          <a:xfrm>
            <a:off x="533400" y="1247775"/>
            <a:ext cx="8319516" cy="1226820"/>
          </a:xfrm>
          <a:prstGeom prst="rect">
            <a:avLst/>
          </a:prstGeom>
          <a:noFill/>
          <a:ln/>
        </p:spPr>
        <p:txBody>
          <a:bodyPr wrap="square" lIns="25400" tIns="25400" rIns="25400" bIns="25400" rtlCol="0" anchor="t">
            <a:normAutofit/>
          </a:bodyPr>
          <a:lstStyle/>
          <a:p>
            <a:pPr marL="0" indent="0" algn="l">
              <a:lnSpc>
                <a:spcPct val="104000"/>
              </a:lnSpc>
              <a:buNone/>
              <a:defRPr/>
            </a:pPr>
            <a:r>
              <a:rPr lang="en-US" sz="4500" b="1" spc="-45">
                <a:solidFill>
                  <a:srgbClr val="2E2E2E"/>
                </a:solidFill>
                <a:latin typeface="Sora"/>
                <a:ea typeface="Sora"/>
                <a:cs typeface="Sora"/>
              </a:rPr>
              <a:t>A community-owned data center</a:t>
            </a:r>
            <a:endParaRPr lang="en-US" sz="4500"/>
          </a:p>
        </p:txBody>
      </p:sp>
      <p:sp>
        <p:nvSpPr>
          <p:cNvPr id="496864516" name="Text 4"/>
          <p:cNvSpPr/>
          <p:nvPr/>
        </p:nvSpPr>
        <p:spPr bwMode="auto">
          <a:xfrm>
            <a:off x="533399" y="2640601"/>
            <a:ext cx="8884920" cy="390525"/>
          </a:xfrm>
          <a:prstGeom prst="rect">
            <a:avLst/>
          </a:prstGeom>
          <a:noFill/>
          <a:ln/>
        </p:spPr>
        <p:txBody>
          <a:bodyPr wrap="square" lIns="25400" tIns="25400" rIns="25400" bIns="25400" rtlCol="0" anchor="t">
            <a:normAutofit/>
          </a:bodyPr>
          <a:lstStyle/>
          <a:p>
            <a:pPr marL="0" indent="0" algn="l">
              <a:buNone/>
              <a:defRPr/>
            </a:pPr>
            <a:r>
              <a:rPr lang="en-US" sz="1900">
                <a:solidFill>
                  <a:srgbClr val="6E7174"/>
                </a:solidFill>
                <a:latin typeface="Noto Sans JP"/>
                <a:ea typeface="Noto Sans JP"/>
                <a:cs typeface="Noto Sans JP"/>
              </a:rPr>
              <a:t>コミュニティ所有の小規模データセンター</a:t>
            </a:r>
            <a:endParaRPr lang="en-US" sz="1900"/>
          </a:p>
        </p:txBody>
      </p:sp>
      <p:sp>
        <p:nvSpPr>
          <p:cNvPr id="348071669" name="Text 5"/>
          <p:cNvSpPr/>
          <p:nvPr/>
        </p:nvSpPr>
        <p:spPr bwMode="auto">
          <a:xfrm>
            <a:off x="533400" y="3169920"/>
            <a:ext cx="6278880" cy="1409700"/>
          </a:xfrm>
          <a:prstGeom prst="rect">
            <a:avLst/>
          </a:prstGeom>
          <a:noFill/>
          <a:ln/>
        </p:spPr>
        <p:txBody>
          <a:bodyPr wrap="square" lIns="25400" tIns="25400" rIns="25400" bIns="25400" rtlCol="0" anchor="t">
            <a:normAutofit/>
          </a:bodyPr>
          <a:lstStyle/>
          <a:p>
            <a:pPr marL="0" indent="0" algn="l">
              <a:lnSpc>
                <a:spcPct val="150000"/>
              </a:lnSpc>
              <a:buNone/>
              <a:defRPr/>
            </a:pPr>
            <a:r>
              <a:rPr lang="en-US" sz="1800">
                <a:solidFill>
                  <a:srgbClr val="3A3A3A"/>
                </a:solidFill>
                <a:latin typeface="Open Sans"/>
                <a:ea typeface="Open Sans"/>
                <a:cs typeface="Open Sans"/>
              </a:rPr>
              <a:t>The closed Mitsue Elementary School, repurposed as a small, energy-efficient edge &amp; AI compute facility — powered entirely by local renewable energy, owned by the community it serves.</a:t>
            </a:r>
            <a:endParaRPr lang="en-US" sz="1800"/>
          </a:p>
        </p:txBody>
      </p:sp>
      <p:sp>
        <p:nvSpPr>
          <p:cNvPr id="1913160549" name="Shape 6"/>
          <p:cNvSpPr/>
          <p:nvPr/>
        </p:nvSpPr>
        <p:spPr bwMode="auto">
          <a:xfrm>
            <a:off x="533400" y="7934325"/>
            <a:ext cx="8077200" cy="9525"/>
          </a:xfrm>
          <a:prstGeom prst="rect">
            <a:avLst/>
          </a:prstGeom>
          <a:solidFill>
            <a:srgbClr val="E6E6E2"/>
          </a:solidFill>
          <a:ln/>
        </p:spPr>
      </p:sp>
      <p:sp>
        <p:nvSpPr>
          <p:cNvPr id="337047900" name="Text 7"/>
          <p:cNvSpPr/>
          <p:nvPr/>
        </p:nvSpPr>
        <p:spPr bwMode="auto">
          <a:xfrm>
            <a:off x="533400" y="8115300"/>
            <a:ext cx="533400" cy="323850"/>
          </a:xfrm>
          <a:prstGeom prst="rect">
            <a:avLst/>
          </a:prstGeom>
          <a:noFill/>
          <a:ln/>
        </p:spPr>
        <p:txBody>
          <a:bodyPr wrap="square" lIns="25400" tIns="25400" rIns="25400" bIns="25400" rtlCol="0" anchor="t">
            <a:normAutofit/>
          </a:bodyPr>
          <a:lstStyle/>
          <a:p>
            <a:pPr marL="0" indent="0" algn="l">
              <a:buNone/>
              <a:defRPr/>
            </a:pPr>
            <a:r>
              <a:rPr lang="en-US" sz="1800" b="1">
                <a:solidFill>
                  <a:srgbClr val="E58520"/>
                </a:solidFill>
                <a:latin typeface="Sora"/>
                <a:ea typeface="Sora"/>
                <a:cs typeface="Sora"/>
              </a:rPr>
              <a:t>01</a:t>
            </a:r>
            <a:endParaRPr lang="en-US" sz="1800"/>
          </a:p>
        </p:txBody>
      </p:sp>
      <p:sp>
        <p:nvSpPr>
          <p:cNvPr id="1703658977" name="Text 8"/>
          <p:cNvSpPr/>
          <p:nvPr/>
        </p:nvSpPr>
        <p:spPr bwMode="auto">
          <a:xfrm>
            <a:off x="1162050" y="8118157"/>
            <a:ext cx="6796405" cy="318135"/>
          </a:xfrm>
          <a:prstGeom prst="rect">
            <a:avLst/>
          </a:prstGeom>
          <a:noFill/>
          <a:ln/>
        </p:spPr>
        <p:txBody>
          <a:bodyPr wrap="square" lIns="25400" tIns="25400" rIns="25400" bIns="25400" rtlCol="0" anchor="t">
            <a:normAutofit/>
          </a:bodyPr>
          <a:lstStyle/>
          <a:p>
            <a:pPr marL="0" indent="0" algn="l">
              <a:lnSpc>
                <a:spcPct val="140000"/>
              </a:lnSpc>
              <a:buNone/>
              <a:defRPr/>
            </a:pPr>
            <a:r>
              <a:rPr lang="en-US" sz="1600">
                <a:solidFill>
                  <a:srgbClr val="4A4A4A"/>
                </a:solidFill>
                <a:latin typeface="Open Sans"/>
                <a:ea typeface="Open Sans"/>
                <a:cs typeface="Open Sans"/>
              </a:rPr>
              <a:t>Sized for </a:t>
            </a:r>
            <a:r>
              <a:rPr lang="en-US" sz="1600" b="1">
                <a:solidFill>
                  <a:srgbClr val="4A4A4A"/>
                </a:solidFill>
                <a:latin typeface="Open Sans"/>
                <a:ea typeface="Open Sans"/>
                <a:cs typeface="Open Sans"/>
              </a:rPr>
              <a:t>accountability &amp; ownership</a:t>
            </a:r>
            <a:r>
              <a:rPr lang="en-US" sz="1600">
                <a:solidFill>
                  <a:srgbClr val="4A4A4A"/>
                </a:solidFill>
                <a:latin typeface="Open Sans"/>
                <a:ea typeface="Open Sans"/>
                <a:cs typeface="Open Sans"/>
              </a:rPr>
              <a:t>, not hyperscale economics.</a:t>
            </a:r>
            <a:endParaRPr lang="en-US" sz="1600"/>
          </a:p>
        </p:txBody>
      </p:sp>
      <p:sp>
        <p:nvSpPr>
          <p:cNvPr id="392688050" name="Shape 9"/>
          <p:cNvSpPr/>
          <p:nvPr/>
        </p:nvSpPr>
        <p:spPr bwMode="auto">
          <a:xfrm>
            <a:off x="533400" y="8572500"/>
            <a:ext cx="8077200" cy="9525"/>
          </a:xfrm>
          <a:prstGeom prst="rect">
            <a:avLst/>
          </a:prstGeom>
          <a:solidFill>
            <a:srgbClr val="E6E6E2"/>
          </a:solidFill>
          <a:ln/>
        </p:spPr>
      </p:sp>
      <p:sp>
        <p:nvSpPr>
          <p:cNvPr id="1421803161" name="Text 10"/>
          <p:cNvSpPr/>
          <p:nvPr/>
        </p:nvSpPr>
        <p:spPr bwMode="auto">
          <a:xfrm>
            <a:off x="533400" y="8753475"/>
            <a:ext cx="533400" cy="323850"/>
          </a:xfrm>
          <a:prstGeom prst="rect">
            <a:avLst/>
          </a:prstGeom>
          <a:noFill/>
          <a:ln/>
        </p:spPr>
        <p:txBody>
          <a:bodyPr wrap="square" lIns="25400" tIns="25400" rIns="25400" bIns="25400" rtlCol="0" anchor="t">
            <a:normAutofit/>
          </a:bodyPr>
          <a:lstStyle/>
          <a:p>
            <a:pPr marL="0" indent="0" algn="l">
              <a:buNone/>
              <a:defRPr/>
            </a:pPr>
            <a:r>
              <a:rPr lang="en-US" sz="1800" b="1">
                <a:solidFill>
                  <a:srgbClr val="E58520"/>
                </a:solidFill>
                <a:latin typeface="Sora"/>
                <a:ea typeface="Sora"/>
                <a:cs typeface="Sora"/>
              </a:rPr>
              <a:t>02</a:t>
            </a:r>
            <a:endParaRPr lang="en-US" sz="1800"/>
          </a:p>
        </p:txBody>
      </p:sp>
      <p:sp>
        <p:nvSpPr>
          <p:cNvPr id="1590214664" name="Text 11"/>
          <p:cNvSpPr/>
          <p:nvPr/>
        </p:nvSpPr>
        <p:spPr bwMode="auto">
          <a:xfrm>
            <a:off x="1162050" y="8756332"/>
            <a:ext cx="5817457" cy="318135"/>
          </a:xfrm>
          <a:prstGeom prst="rect">
            <a:avLst/>
          </a:prstGeom>
          <a:noFill/>
          <a:ln/>
        </p:spPr>
        <p:txBody>
          <a:bodyPr wrap="square" lIns="25400" tIns="25400" rIns="25400" bIns="25400" rtlCol="0" anchor="t">
            <a:normAutofit/>
          </a:bodyPr>
          <a:lstStyle/>
          <a:p>
            <a:pPr marL="0" indent="0" algn="l">
              <a:lnSpc>
                <a:spcPct val="140000"/>
              </a:lnSpc>
              <a:buNone/>
              <a:defRPr/>
            </a:pPr>
            <a:r>
              <a:rPr lang="en-US" sz="1600">
                <a:solidFill>
                  <a:srgbClr val="4A4A4A"/>
                </a:solidFill>
                <a:latin typeface="Open Sans"/>
                <a:ea typeface="Open Sans"/>
                <a:cs typeface="Open Sans"/>
              </a:rPr>
              <a:t>Reuses a </a:t>
            </a:r>
            <a:r>
              <a:rPr lang="en-US" sz="1600" b="1">
                <a:solidFill>
                  <a:srgbClr val="4A4A4A"/>
                </a:solidFill>
                <a:latin typeface="Open Sans"/>
                <a:ea typeface="Open Sans"/>
                <a:cs typeface="Open Sans"/>
              </a:rPr>
              <a:t>stranded public asset </a:t>
            </a:r>
            <a:r>
              <a:rPr lang="en-US" sz="1600">
                <a:solidFill>
                  <a:srgbClr val="4A4A4A"/>
                </a:solidFill>
                <a:latin typeface="Open Sans"/>
                <a:ea typeface="Open Sans"/>
                <a:cs typeface="Open Sans"/>
              </a:rPr>
              <a:t>instead of building new.</a:t>
            </a:r>
            <a:endParaRPr lang="en-US" sz="1600"/>
          </a:p>
        </p:txBody>
      </p:sp>
      <p:sp>
        <p:nvSpPr>
          <p:cNvPr id="1646816051" name="Shape 12"/>
          <p:cNvSpPr/>
          <p:nvPr/>
        </p:nvSpPr>
        <p:spPr bwMode="auto">
          <a:xfrm>
            <a:off x="533400" y="9210675"/>
            <a:ext cx="8077200" cy="9525"/>
          </a:xfrm>
          <a:prstGeom prst="rect">
            <a:avLst/>
          </a:prstGeom>
          <a:solidFill>
            <a:srgbClr val="E6E6E2"/>
          </a:solidFill>
          <a:ln/>
        </p:spPr>
      </p:sp>
      <p:sp>
        <p:nvSpPr>
          <p:cNvPr id="1598453875" name="Text 13"/>
          <p:cNvSpPr/>
          <p:nvPr/>
        </p:nvSpPr>
        <p:spPr bwMode="auto">
          <a:xfrm>
            <a:off x="533400" y="9391650"/>
            <a:ext cx="533400" cy="323850"/>
          </a:xfrm>
          <a:prstGeom prst="rect">
            <a:avLst/>
          </a:prstGeom>
          <a:noFill/>
          <a:ln/>
        </p:spPr>
        <p:txBody>
          <a:bodyPr wrap="square" lIns="25400" tIns="25400" rIns="25400" bIns="25400" rtlCol="0" anchor="t">
            <a:normAutofit/>
          </a:bodyPr>
          <a:lstStyle/>
          <a:p>
            <a:pPr marL="0" indent="0" algn="l">
              <a:buNone/>
              <a:defRPr/>
            </a:pPr>
            <a:r>
              <a:rPr lang="en-US" sz="1800" b="1">
                <a:solidFill>
                  <a:srgbClr val="E58520"/>
                </a:solidFill>
                <a:latin typeface="Sora"/>
                <a:ea typeface="Sora"/>
                <a:cs typeface="Sora"/>
              </a:rPr>
              <a:t>03</a:t>
            </a:r>
            <a:endParaRPr lang="en-US" sz="1800"/>
          </a:p>
        </p:txBody>
      </p:sp>
      <p:sp>
        <p:nvSpPr>
          <p:cNvPr id="1871564419" name="Text 14"/>
          <p:cNvSpPr/>
          <p:nvPr/>
        </p:nvSpPr>
        <p:spPr bwMode="auto">
          <a:xfrm>
            <a:off x="1162050" y="9394507"/>
            <a:ext cx="5572633" cy="318135"/>
          </a:xfrm>
          <a:prstGeom prst="rect">
            <a:avLst/>
          </a:prstGeom>
          <a:noFill/>
          <a:ln/>
        </p:spPr>
        <p:txBody>
          <a:bodyPr wrap="square" lIns="25400" tIns="25400" rIns="25400" bIns="25400" rtlCol="0" anchor="t">
            <a:normAutofit/>
          </a:bodyPr>
          <a:lstStyle/>
          <a:p>
            <a:pPr marL="0" indent="0" algn="l">
              <a:lnSpc>
                <a:spcPct val="140000"/>
              </a:lnSpc>
              <a:buNone/>
              <a:defRPr/>
            </a:pPr>
            <a:r>
              <a:rPr lang="en-US" sz="1600">
                <a:solidFill>
                  <a:srgbClr val="4A4A4A"/>
                </a:solidFill>
                <a:latin typeface="Open Sans"/>
                <a:ea typeface="Open Sans"/>
                <a:cs typeface="Open Sans"/>
              </a:rPr>
              <a:t>Generates the </a:t>
            </a:r>
            <a:r>
              <a:rPr lang="en-US" sz="1600" b="1">
                <a:solidFill>
                  <a:srgbClr val="4A4A4A"/>
                </a:solidFill>
                <a:latin typeface="Open Sans"/>
                <a:ea typeface="Open Sans"/>
                <a:cs typeface="Open Sans"/>
              </a:rPr>
              <a:t>recurring revenue </a:t>
            </a:r>
            <a:r>
              <a:rPr lang="en-US" sz="1600">
                <a:solidFill>
                  <a:srgbClr val="4A4A4A"/>
                </a:solidFill>
                <a:latin typeface="Open Sans"/>
                <a:ea typeface="Open Sans"/>
                <a:cs typeface="Open Sans"/>
              </a:rPr>
              <a:t>that funds the loop.</a:t>
            </a:r>
            <a:endParaRPr lang="en-US" sz="1600"/>
          </a:p>
        </p:txBody>
      </p:sp>
      <p:sp>
        <p:nvSpPr>
          <p:cNvPr id="992734163" name="Shape 15"/>
          <p:cNvSpPr/>
          <p:nvPr/>
        </p:nvSpPr>
        <p:spPr bwMode="auto">
          <a:xfrm flipH="0" flipV="0">
            <a:off x="9143999" y="9248773"/>
            <a:ext cx="3484821" cy="428625"/>
          </a:xfrm>
          <a:prstGeom prst="rect">
            <a:avLst/>
          </a:prstGeom>
          <a:solidFill>
            <a:srgbClr val="2E2E2E"/>
          </a:solidFill>
          <a:ln/>
        </p:spPr>
      </p:sp>
      <p:sp>
        <p:nvSpPr>
          <p:cNvPr id="1841415795" name="Text 16"/>
          <p:cNvSpPr/>
          <p:nvPr/>
        </p:nvSpPr>
        <p:spPr bwMode="auto">
          <a:xfrm flipH="0" flipV="0">
            <a:off x="9315450" y="9353549"/>
            <a:ext cx="3245335" cy="257175"/>
          </a:xfrm>
          <a:prstGeom prst="rect">
            <a:avLst/>
          </a:prstGeom>
          <a:noFill/>
          <a:ln/>
        </p:spPr>
        <p:txBody>
          <a:bodyPr wrap="square" lIns="25399" tIns="25399" rIns="25399" bIns="25399" rtlCol="0" anchor="t">
            <a:normAutofit/>
          </a:bodyPr>
          <a:lstStyle/>
          <a:p>
            <a:pPr marL="0" indent="0" algn="l">
              <a:buNone/>
              <a:defRPr/>
            </a:pPr>
            <a:r>
              <a:rPr lang="en-US" sz="1150" b="1" spc="34">
                <a:solidFill>
                  <a:srgbClr val="FFFFFF"/>
                </a:solidFill>
                <a:latin typeface="Open Sans"/>
                <a:ea typeface="Open Sans"/>
                <a:cs typeface="Open Sans"/>
              </a:rPr>
              <a:t>Former Mitsue Elementary · 旧御杖小学校</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340981922" name="Shape 0"/>
          <p:cNvSpPr/>
          <p:nvPr/>
        </p:nvSpPr>
        <p:spPr bwMode="auto">
          <a:xfrm>
            <a:off x="0" y="0"/>
            <a:ext cx="18288000" cy="76200"/>
          </a:xfrm>
          <a:prstGeom prst="rect">
            <a:avLst/>
          </a:prstGeom>
          <a:solidFill>
            <a:srgbClr val="9B9DA0"/>
          </a:solidFill>
          <a:ln/>
        </p:spPr>
      </p:sp>
      <p:sp>
        <p:nvSpPr>
          <p:cNvPr id="1294851562" name="Shape 1"/>
          <p:cNvSpPr/>
          <p:nvPr/>
        </p:nvSpPr>
        <p:spPr bwMode="auto">
          <a:xfrm>
            <a:off x="609600" y="895350"/>
            <a:ext cx="438149" cy="47625"/>
          </a:xfrm>
          <a:prstGeom prst="rect">
            <a:avLst/>
          </a:prstGeom>
          <a:solidFill>
            <a:srgbClr val="E58520"/>
          </a:solidFill>
          <a:ln/>
        </p:spPr>
      </p:sp>
      <p:sp>
        <p:nvSpPr>
          <p:cNvPr id="445548134" name="Text 2"/>
          <p:cNvSpPr/>
          <p:nvPr/>
        </p:nvSpPr>
        <p:spPr bwMode="auto">
          <a:xfrm>
            <a:off x="1181099" y="800100"/>
            <a:ext cx="3996468"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FOREST RESTORATION · 森林再生 · 06</a:t>
            </a:r>
            <a:endParaRPr lang="en-US" sz="1300"/>
          </a:p>
        </p:txBody>
      </p:sp>
      <p:sp>
        <p:nvSpPr>
          <p:cNvPr id="450242684" name="Text 3"/>
          <p:cNvSpPr/>
          <p:nvPr/>
        </p:nvSpPr>
        <p:spPr bwMode="auto">
          <a:xfrm>
            <a:off x="609600" y="1247775"/>
            <a:ext cx="18775680" cy="665956"/>
          </a:xfrm>
          <a:prstGeom prst="rect">
            <a:avLst/>
          </a:prstGeom>
          <a:noFill/>
          <a:ln/>
        </p:spPr>
        <p:txBody>
          <a:bodyPr wrap="square" lIns="25400" tIns="25400" rIns="25400" bIns="25400" rtlCol="0" anchor="t">
            <a:normAutofit/>
          </a:bodyPr>
          <a:lstStyle/>
          <a:p>
            <a:pPr marL="0" indent="0" algn="l">
              <a:lnSpc>
                <a:spcPct val="102994"/>
              </a:lnSpc>
              <a:buNone/>
              <a:defRPr/>
            </a:pPr>
            <a:r>
              <a:rPr lang="en-US" sz="4800" b="1" spc="-47">
                <a:solidFill>
                  <a:srgbClr val="2E2E2E"/>
                </a:solidFill>
                <a:latin typeface="Sora"/>
                <a:ea typeface="Sora"/>
                <a:cs typeface="Sora"/>
              </a:rPr>
              <a:t>From liability to asset</a:t>
            </a:r>
            <a:endParaRPr lang="en-US" sz="4800"/>
          </a:p>
        </p:txBody>
      </p:sp>
      <p:sp>
        <p:nvSpPr>
          <p:cNvPr id="243606998" name="Text 4"/>
          <p:cNvSpPr/>
          <p:nvPr/>
        </p:nvSpPr>
        <p:spPr bwMode="auto">
          <a:xfrm>
            <a:off x="609600" y="1970881"/>
            <a:ext cx="18775680" cy="409575"/>
          </a:xfrm>
          <a:prstGeom prst="rect">
            <a:avLst/>
          </a:prstGeom>
          <a:noFill/>
          <a:ln/>
        </p:spPr>
        <p:txBody>
          <a:bodyPr wrap="square" lIns="25400" tIns="25400" rIns="25400" bIns="25400" rtlCol="0" anchor="t">
            <a:normAutofit/>
          </a:bodyPr>
          <a:lstStyle/>
          <a:p>
            <a:pPr marL="0" indent="0" algn="l">
              <a:buNone/>
              <a:defRPr/>
            </a:pPr>
            <a:r>
              <a:rPr lang="en-US" sz="1950">
                <a:solidFill>
                  <a:srgbClr val="6E7174"/>
                </a:solidFill>
                <a:latin typeface="Noto Sans JP"/>
                <a:ea typeface="Noto Sans JP"/>
                <a:cs typeface="Noto Sans JP"/>
              </a:rPr>
              <a:t>負債から資産へ — 25年の生態系再生。</a:t>
            </a:r>
            <a:endParaRPr lang="en-US" sz="1950"/>
          </a:p>
        </p:txBody>
      </p:sp>
      <p:sp>
        <p:nvSpPr>
          <p:cNvPr id="702896746" name="Shape 5"/>
          <p:cNvSpPr/>
          <p:nvPr/>
        </p:nvSpPr>
        <p:spPr bwMode="auto">
          <a:xfrm>
            <a:off x="609600" y="5604986"/>
            <a:ext cx="13106400" cy="9525"/>
          </a:xfrm>
          <a:prstGeom prst="rect">
            <a:avLst/>
          </a:prstGeom>
          <a:solidFill>
            <a:srgbClr val="E6E6E2"/>
          </a:solidFill>
          <a:ln/>
        </p:spPr>
      </p:sp>
      <p:sp>
        <p:nvSpPr>
          <p:cNvPr id="1575124885" name="Text 6"/>
          <p:cNvSpPr/>
          <p:nvPr/>
        </p:nvSpPr>
        <p:spPr bwMode="auto">
          <a:xfrm>
            <a:off x="609600" y="5071586"/>
            <a:ext cx="1571625" cy="352425"/>
          </a:xfrm>
          <a:prstGeom prst="rect">
            <a:avLst/>
          </a:prstGeom>
          <a:noFill/>
          <a:ln/>
        </p:spPr>
        <p:txBody>
          <a:bodyPr wrap="square" lIns="25400" tIns="25400" rIns="25400" bIns="25400" rtlCol="0" anchor="t">
            <a:normAutofit/>
          </a:bodyPr>
          <a:lstStyle/>
          <a:p>
            <a:pPr marL="0" indent="0" algn="l">
              <a:buNone/>
              <a:defRPr/>
            </a:pPr>
            <a:r>
              <a:rPr lang="en-US" sz="1650" b="1">
                <a:solidFill>
                  <a:srgbClr val="9B9DA0"/>
                </a:solidFill>
                <a:latin typeface="Open Sans"/>
                <a:ea typeface="Open Sans"/>
                <a:cs typeface="Open Sans"/>
              </a:rPr>
              <a:t>Today · 現状</a:t>
            </a:r>
            <a:endParaRPr lang="en-US" sz="1650"/>
          </a:p>
        </p:txBody>
      </p:sp>
      <p:sp>
        <p:nvSpPr>
          <p:cNvPr id="1294687250" name="Text 7"/>
          <p:cNvSpPr/>
          <p:nvPr/>
        </p:nvSpPr>
        <p:spPr bwMode="auto">
          <a:xfrm>
            <a:off x="2266950" y="5062061"/>
            <a:ext cx="9234520" cy="371475"/>
          </a:xfrm>
          <a:prstGeom prst="rect">
            <a:avLst/>
          </a:prstGeom>
          <a:noFill/>
          <a:ln/>
        </p:spPr>
        <p:txBody>
          <a:bodyPr wrap="square" lIns="25400" tIns="25400" rIns="25400" bIns="25400" rtlCol="0" anchor="t">
            <a:normAutofit/>
          </a:bodyPr>
          <a:lstStyle/>
          <a:p>
            <a:pPr marL="0" indent="0" algn="l">
              <a:lnSpc>
                <a:spcPct val="140000"/>
              </a:lnSpc>
              <a:buNone/>
              <a:defRPr/>
            </a:pPr>
            <a:r>
              <a:rPr lang="en-US" sz="1900">
                <a:solidFill>
                  <a:srgbClr val="4A4A4A"/>
                </a:solidFill>
                <a:latin typeface="Open Sans"/>
                <a:ea typeface="Open Sans"/>
                <a:cs typeface="Open Sans"/>
              </a:rPr>
              <a:t>Aged </a:t>
            </a:r>
            <a:r>
              <a:rPr lang="en-US" sz="1900" b="1">
                <a:solidFill>
                  <a:srgbClr val="4A4A4A"/>
                </a:solidFill>
                <a:latin typeface="Open Sans"/>
                <a:ea typeface="Open Sans"/>
                <a:cs typeface="Open Sans"/>
              </a:rPr>
              <a:t>sugi cedar </a:t>
            </a:r>
            <a:r>
              <a:rPr lang="en-US" sz="1900">
                <a:solidFill>
                  <a:srgbClr val="4A4A4A"/>
                </a:solidFill>
                <a:latin typeface="Open Sans"/>
                <a:ea typeface="Open Sans"/>
                <a:cs typeface="Open Sans"/>
              </a:rPr>
              <a:t>monoculture — pollen, landslide and fire risk, little habitat.</a:t>
            </a:r>
            <a:endParaRPr lang="en-US" sz="1900"/>
          </a:p>
        </p:txBody>
      </p:sp>
      <p:sp>
        <p:nvSpPr>
          <p:cNvPr id="222693213" name="Text 8"/>
          <p:cNvSpPr/>
          <p:nvPr/>
        </p:nvSpPr>
        <p:spPr bwMode="auto">
          <a:xfrm>
            <a:off x="4976336" y="5785961"/>
            <a:ext cx="4810046" cy="400050"/>
          </a:xfrm>
          <a:prstGeom prst="rect">
            <a:avLst/>
          </a:prstGeom>
          <a:noFill/>
          <a:ln/>
        </p:spPr>
        <p:txBody>
          <a:bodyPr wrap="square" lIns="25400" tIns="25400" rIns="25400" bIns="25400" rtlCol="0" anchor="t">
            <a:normAutofit/>
          </a:bodyPr>
          <a:lstStyle/>
          <a:p>
            <a:pPr marL="0" indent="0" algn="l">
              <a:buNone/>
              <a:defRPr/>
            </a:pPr>
            <a:r>
              <a:rPr lang="en-US" sz="2250" b="1">
                <a:solidFill>
                  <a:srgbClr val="E58520"/>
                </a:solidFill>
                <a:latin typeface="Sora"/>
                <a:ea typeface="Sora"/>
                <a:cs typeface="Sora"/>
              </a:rPr>
              <a:t>↓ 25-year phased restoration</a:t>
            </a:r>
            <a:endParaRPr lang="en-US" sz="2250"/>
          </a:p>
        </p:txBody>
      </p:sp>
      <p:sp>
        <p:nvSpPr>
          <p:cNvPr id="790516999" name="Shape 9"/>
          <p:cNvSpPr/>
          <p:nvPr/>
        </p:nvSpPr>
        <p:spPr bwMode="auto">
          <a:xfrm>
            <a:off x="609600" y="6319361"/>
            <a:ext cx="13106400" cy="19050"/>
          </a:xfrm>
          <a:prstGeom prst="rect">
            <a:avLst/>
          </a:prstGeom>
          <a:solidFill>
            <a:srgbClr val="2E2E2E"/>
          </a:solidFill>
          <a:ln/>
        </p:spPr>
      </p:sp>
      <p:sp>
        <p:nvSpPr>
          <p:cNvPr id="1374833212" name="Text 10"/>
          <p:cNvSpPr/>
          <p:nvPr/>
        </p:nvSpPr>
        <p:spPr bwMode="auto">
          <a:xfrm>
            <a:off x="609600" y="6557486"/>
            <a:ext cx="1571625" cy="352425"/>
          </a:xfrm>
          <a:prstGeom prst="rect">
            <a:avLst/>
          </a:prstGeom>
          <a:noFill/>
          <a:ln/>
        </p:spPr>
        <p:txBody>
          <a:bodyPr wrap="square" lIns="25400" tIns="25400" rIns="25400" bIns="25400" rtlCol="0" anchor="t">
            <a:normAutofit/>
          </a:bodyPr>
          <a:lstStyle/>
          <a:p>
            <a:pPr marL="0" indent="0" algn="l">
              <a:buNone/>
              <a:defRPr/>
            </a:pPr>
            <a:r>
              <a:rPr lang="en-US" sz="1650" b="1">
                <a:solidFill>
                  <a:srgbClr val="2E2E2E"/>
                </a:solidFill>
                <a:latin typeface="Open Sans"/>
                <a:ea typeface="Open Sans"/>
                <a:cs typeface="Open Sans"/>
              </a:rPr>
              <a:t>2050 · 想定</a:t>
            </a:r>
            <a:endParaRPr lang="en-US" sz="1650"/>
          </a:p>
        </p:txBody>
      </p:sp>
      <p:sp>
        <p:nvSpPr>
          <p:cNvPr id="620288750" name="Text 11"/>
          <p:cNvSpPr/>
          <p:nvPr/>
        </p:nvSpPr>
        <p:spPr bwMode="auto">
          <a:xfrm>
            <a:off x="2266950" y="6547961"/>
            <a:ext cx="9262983" cy="371475"/>
          </a:xfrm>
          <a:prstGeom prst="rect">
            <a:avLst/>
          </a:prstGeom>
          <a:noFill/>
          <a:ln/>
        </p:spPr>
        <p:txBody>
          <a:bodyPr wrap="square" lIns="25400" tIns="25400" rIns="25400" bIns="25400" rtlCol="0" anchor="t">
            <a:normAutofit/>
          </a:bodyPr>
          <a:lstStyle/>
          <a:p>
            <a:pPr marL="0" indent="0" algn="l">
              <a:lnSpc>
                <a:spcPct val="140000"/>
              </a:lnSpc>
              <a:buNone/>
              <a:defRPr/>
            </a:pPr>
            <a:r>
              <a:rPr lang="en-US" sz="1900" b="1">
                <a:solidFill>
                  <a:srgbClr val="2E2E2E"/>
                </a:solidFill>
                <a:latin typeface="Open Sans"/>
                <a:ea typeface="Open Sans"/>
                <a:cs typeface="Open Sans"/>
              </a:rPr>
              <a:t>Native broadleaf forest </a:t>
            </a:r>
            <a:r>
              <a:rPr lang="en-US" sz="1900">
                <a:solidFill>
                  <a:srgbClr val="2E2E2E"/>
                </a:solidFill>
                <a:latin typeface="Open Sans"/>
                <a:ea typeface="Open Sans"/>
                <a:cs typeface="Open Sans"/>
              </a:rPr>
              <a:t>— biodiversity, water retention, timber &amp; biomass.</a:t>
            </a:r>
            <a:endParaRPr lang="en-US" sz="1900"/>
          </a:p>
        </p:txBody>
      </p:sp>
      <p:sp>
        <p:nvSpPr>
          <p:cNvPr id="1567684266" name="Shape 12"/>
          <p:cNvSpPr/>
          <p:nvPr/>
        </p:nvSpPr>
        <p:spPr bwMode="auto">
          <a:xfrm>
            <a:off x="14249400" y="3820954"/>
            <a:ext cx="3429000" cy="1306830"/>
          </a:xfrm>
          <a:prstGeom prst="rect">
            <a:avLst/>
          </a:prstGeom>
          <a:solidFill>
            <a:srgbClr val="F6F6F4"/>
          </a:solidFill>
          <a:ln/>
        </p:spPr>
      </p:sp>
      <p:sp>
        <p:nvSpPr>
          <p:cNvPr id="114670475" name="Text 13"/>
          <p:cNvSpPr/>
          <p:nvPr/>
        </p:nvSpPr>
        <p:spPr bwMode="auto">
          <a:xfrm>
            <a:off x="14497050" y="4068604"/>
            <a:ext cx="3227070" cy="285750"/>
          </a:xfrm>
          <a:prstGeom prst="rect">
            <a:avLst/>
          </a:prstGeom>
          <a:noFill/>
          <a:ln/>
        </p:spPr>
        <p:txBody>
          <a:bodyPr wrap="square" lIns="25400" tIns="25400" rIns="25400" bIns="25400" rtlCol="0" anchor="t">
            <a:normAutofit/>
          </a:bodyPr>
          <a:lstStyle/>
          <a:p>
            <a:pPr marL="0" indent="0" algn="l">
              <a:buNone/>
              <a:defRPr/>
            </a:pPr>
            <a:r>
              <a:rPr lang="en-US" sz="1600" b="1">
                <a:solidFill>
                  <a:srgbClr val="2E2E2E"/>
                </a:solidFill>
                <a:latin typeface="Sora"/>
                <a:ea typeface="Sora"/>
                <a:cs typeface="Sora"/>
              </a:rPr>
              <a:t>Feedstock</a:t>
            </a:r>
            <a:endParaRPr lang="en-US" sz="1600"/>
          </a:p>
        </p:txBody>
      </p:sp>
      <p:sp>
        <p:nvSpPr>
          <p:cNvPr id="2010167605" name="Text 14"/>
          <p:cNvSpPr/>
          <p:nvPr/>
        </p:nvSpPr>
        <p:spPr bwMode="auto">
          <a:xfrm>
            <a:off x="14497050" y="4373404"/>
            <a:ext cx="3021711" cy="544830"/>
          </a:xfrm>
          <a:prstGeom prst="rect">
            <a:avLst/>
          </a:prstGeom>
          <a:noFill/>
          <a:ln/>
        </p:spPr>
        <p:txBody>
          <a:bodyPr wrap="square" lIns="25400" tIns="25400" rIns="25400" bIns="25400" rtlCol="0" anchor="t">
            <a:normAutofit/>
          </a:bodyPr>
          <a:lstStyle/>
          <a:p>
            <a:pPr marL="0" indent="0" algn="l">
              <a:lnSpc>
                <a:spcPct val="140000"/>
              </a:lnSpc>
              <a:buNone/>
              <a:defRPr/>
            </a:pPr>
            <a:r>
              <a:rPr lang="en-US" sz="1450">
                <a:solidFill>
                  <a:srgbClr val="6E7174"/>
                </a:solidFill>
                <a:latin typeface="Open Sans"/>
                <a:ea typeface="Open Sans"/>
                <a:cs typeface="Open Sans"/>
              </a:rPr>
              <a:t>Thinnings fuel the energy system. 間伐材を燃料に。</a:t>
            </a:r>
            <a:endParaRPr lang="en-US" sz="1450"/>
          </a:p>
        </p:txBody>
      </p:sp>
      <p:sp>
        <p:nvSpPr>
          <p:cNvPr id="1045044768" name="Shape 15"/>
          <p:cNvSpPr/>
          <p:nvPr/>
        </p:nvSpPr>
        <p:spPr bwMode="auto">
          <a:xfrm>
            <a:off x="14249400" y="5318284"/>
            <a:ext cx="3429000" cy="1306830"/>
          </a:xfrm>
          <a:prstGeom prst="rect">
            <a:avLst/>
          </a:prstGeom>
          <a:solidFill>
            <a:srgbClr val="F6F6F4"/>
          </a:solidFill>
          <a:ln/>
        </p:spPr>
      </p:sp>
      <p:sp>
        <p:nvSpPr>
          <p:cNvPr id="309149063" name="Text 16"/>
          <p:cNvSpPr/>
          <p:nvPr/>
        </p:nvSpPr>
        <p:spPr bwMode="auto">
          <a:xfrm>
            <a:off x="14497050" y="5565934"/>
            <a:ext cx="3227070" cy="285750"/>
          </a:xfrm>
          <a:prstGeom prst="rect">
            <a:avLst/>
          </a:prstGeom>
          <a:noFill/>
          <a:ln/>
        </p:spPr>
        <p:txBody>
          <a:bodyPr wrap="square" lIns="25400" tIns="25400" rIns="25400" bIns="25400" rtlCol="0" anchor="t">
            <a:normAutofit/>
          </a:bodyPr>
          <a:lstStyle/>
          <a:p>
            <a:pPr marL="0" indent="0" algn="l">
              <a:buNone/>
              <a:defRPr/>
            </a:pPr>
            <a:r>
              <a:rPr lang="en-US" sz="1600" b="1">
                <a:solidFill>
                  <a:srgbClr val="2E2E2E"/>
                </a:solidFill>
                <a:latin typeface="Sora"/>
                <a:ea typeface="Sora"/>
                <a:cs typeface="Sora"/>
              </a:rPr>
              <a:t>Habitat</a:t>
            </a:r>
            <a:endParaRPr lang="en-US" sz="1600"/>
          </a:p>
        </p:txBody>
      </p:sp>
      <p:sp>
        <p:nvSpPr>
          <p:cNvPr id="1750542009" name="Text 17"/>
          <p:cNvSpPr/>
          <p:nvPr/>
        </p:nvSpPr>
        <p:spPr bwMode="auto">
          <a:xfrm>
            <a:off x="14497050" y="5870734"/>
            <a:ext cx="3021711" cy="544830"/>
          </a:xfrm>
          <a:prstGeom prst="rect">
            <a:avLst/>
          </a:prstGeom>
          <a:noFill/>
          <a:ln/>
        </p:spPr>
        <p:txBody>
          <a:bodyPr wrap="square" lIns="25400" tIns="25400" rIns="25400" bIns="25400" rtlCol="0" anchor="t">
            <a:normAutofit/>
          </a:bodyPr>
          <a:lstStyle/>
          <a:p>
            <a:pPr marL="0" indent="0" algn="l">
              <a:lnSpc>
                <a:spcPct val="140000"/>
              </a:lnSpc>
              <a:buNone/>
              <a:defRPr/>
            </a:pPr>
            <a:r>
              <a:rPr lang="en-US" sz="1450">
                <a:solidFill>
                  <a:srgbClr val="6E7174"/>
                </a:solidFill>
                <a:latin typeface="Open Sans"/>
                <a:ea typeface="Open Sans"/>
                <a:cs typeface="Open Sans"/>
              </a:rPr>
              <a:t>Biodiversity &amp; watershed restored. 生物多様性と水源。</a:t>
            </a:r>
            <a:endParaRPr lang="en-US" sz="1450"/>
          </a:p>
        </p:txBody>
      </p:sp>
      <p:sp>
        <p:nvSpPr>
          <p:cNvPr id="793570125" name="Shape 18"/>
          <p:cNvSpPr/>
          <p:nvPr/>
        </p:nvSpPr>
        <p:spPr bwMode="auto">
          <a:xfrm>
            <a:off x="14249400" y="6815614"/>
            <a:ext cx="3429000" cy="1306830"/>
          </a:xfrm>
          <a:prstGeom prst="rect">
            <a:avLst/>
          </a:prstGeom>
          <a:solidFill>
            <a:srgbClr val="FBEFE0"/>
          </a:solidFill>
          <a:ln/>
        </p:spPr>
      </p:sp>
      <p:sp>
        <p:nvSpPr>
          <p:cNvPr id="718030746" name="Shape 19"/>
          <p:cNvSpPr/>
          <p:nvPr/>
        </p:nvSpPr>
        <p:spPr bwMode="auto">
          <a:xfrm>
            <a:off x="14249400" y="6815614"/>
            <a:ext cx="38100" cy="1306830"/>
          </a:xfrm>
          <a:prstGeom prst="rect">
            <a:avLst/>
          </a:prstGeom>
          <a:solidFill>
            <a:srgbClr val="E58520"/>
          </a:solidFill>
          <a:ln/>
        </p:spPr>
      </p:sp>
      <p:sp>
        <p:nvSpPr>
          <p:cNvPr id="667646362" name="Text 20"/>
          <p:cNvSpPr/>
          <p:nvPr/>
        </p:nvSpPr>
        <p:spPr bwMode="auto">
          <a:xfrm>
            <a:off x="14535150" y="7063264"/>
            <a:ext cx="3185160" cy="285750"/>
          </a:xfrm>
          <a:prstGeom prst="rect">
            <a:avLst/>
          </a:prstGeom>
          <a:noFill/>
          <a:ln/>
        </p:spPr>
        <p:txBody>
          <a:bodyPr wrap="square" lIns="25400" tIns="25400" rIns="25400" bIns="25400" rtlCol="0" anchor="t">
            <a:normAutofit/>
          </a:bodyPr>
          <a:lstStyle/>
          <a:p>
            <a:pPr marL="0" indent="0" algn="l">
              <a:buNone/>
              <a:defRPr/>
            </a:pPr>
            <a:r>
              <a:rPr lang="en-US" sz="1600" b="1">
                <a:solidFill>
                  <a:srgbClr val="C26A12"/>
                </a:solidFill>
                <a:latin typeface="Sora"/>
                <a:ea typeface="Sora"/>
                <a:cs typeface="Sora"/>
              </a:rPr>
              <a:t>Carbon credits</a:t>
            </a:r>
            <a:endParaRPr lang="en-US" sz="1600"/>
          </a:p>
        </p:txBody>
      </p:sp>
      <p:sp>
        <p:nvSpPr>
          <p:cNvPr id="140259272" name="Text 21"/>
          <p:cNvSpPr/>
          <p:nvPr/>
        </p:nvSpPr>
        <p:spPr bwMode="auto">
          <a:xfrm>
            <a:off x="14535150" y="7368064"/>
            <a:ext cx="2982468" cy="544830"/>
          </a:xfrm>
          <a:prstGeom prst="rect">
            <a:avLst/>
          </a:prstGeom>
          <a:noFill/>
          <a:ln/>
        </p:spPr>
        <p:txBody>
          <a:bodyPr wrap="square" lIns="25400" tIns="25400" rIns="25400" bIns="25400" rtlCol="0" anchor="t">
            <a:normAutofit/>
          </a:bodyPr>
          <a:lstStyle/>
          <a:p>
            <a:pPr marL="0" indent="0" algn="l">
              <a:lnSpc>
                <a:spcPct val="140000"/>
              </a:lnSpc>
              <a:buNone/>
              <a:defRPr/>
            </a:pPr>
            <a:r>
              <a:rPr lang="en-US" sz="1450">
                <a:solidFill>
                  <a:srgbClr val="6E7174"/>
                </a:solidFill>
                <a:latin typeface="Open Sans"/>
                <a:ea typeface="Open Sans"/>
                <a:cs typeface="Open Sans"/>
              </a:rPr>
              <a:t>J-Credits as a revenue layer. Jクレジット。</a:t>
            </a:r>
            <a:endParaRPr lang="en-US" sz="1450"/>
          </a:p>
        </p:txBody>
      </p:sp>
      <p:sp>
        <p:nvSpPr>
          <p:cNvPr id="180599296" name="Text 22"/>
          <p:cNvSpPr/>
          <p:nvPr/>
        </p:nvSpPr>
        <p:spPr bwMode="auto">
          <a:xfrm>
            <a:off x="609600" y="9410700"/>
            <a:ext cx="18775680" cy="228600"/>
          </a:xfrm>
          <a:prstGeom prst="rect">
            <a:avLst/>
          </a:prstGeom>
          <a:noFill/>
          <a:ln/>
        </p:spPr>
        <p:txBody>
          <a:bodyPr wrap="square" lIns="25400" tIns="25400" rIns="25400" bIns="25400" rtlCol="0" anchor="t">
            <a:normAutofit/>
          </a:bodyPr>
          <a:lstStyle/>
          <a:p>
            <a:pPr marL="0" indent="0" algn="l">
              <a:buNone/>
              <a:defRPr/>
            </a:pPr>
            <a:r>
              <a:rPr lang="en-US" sz="1000" b="1" spc="20">
                <a:solidFill>
                  <a:srgbClr val="A9ABAE"/>
                </a:solidFill>
                <a:latin typeface="Open Sans"/>
                <a:ea typeface="Open Sans"/>
                <a:cs typeface="Open Sans"/>
              </a:rPr>
              <a:t>In cooperation with private landowners, the Mitsue Forestry Cooperative, and the Forestry Agency (林野庁).</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468083467" name="Shape 0"/>
          <p:cNvSpPr/>
          <p:nvPr/>
        </p:nvSpPr>
        <p:spPr bwMode="auto">
          <a:xfrm>
            <a:off x="0" y="0"/>
            <a:ext cx="18288000" cy="76200"/>
          </a:xfrm>
          <a:prstGeom prst="rect">
            <a:avLst/>
          </a:prstGeom>
          <a:solidFill>
            <a:srgbClr val="9B9DA0"/>
          </a:solidFill>
          <a:ln/>
        </p:spPr>
      </p:sp>
      <p:sp>
        <p:nvSpPr>
          <p:cNvPr id="355971766" name="Shape 1"/>
          <p:cNvSpPr/>
          <p:nvPr/>
        </p:nvSpPr>
        <p:spPr bwMode="auto">
          <a:xfrm>
            <a:off x="609600" y="895350"/>
            <a:ext cx="438149" cy="47625"/>
          </a:xfrm>
          <a:prstGeom prst="rect">
            <a:avLst/>
          </a:prstGeom>
          <a:solidFill>
            <a:srgbClr val="E58520"/>
          </a:solidFill>
          <a:ln/>
        </p:spPr>
      </p:sp>
      <p:sp>
        <p:nvSpPr>
          <p:cNvPr id="852516483" name="Text 2"/>
          <p:cNvSpPr/>
          <p:nvPr/>
        </p:nvSpPr>
        <p:spPr bwMode="auto">
          <a:xfrm>
            <a:off x="1181099" y="800100"/>
            <a:ext cx="3946525"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ENERGY SYSTEM · エネルギー設計 · 07</a:t>
            </a:r>
            <a:endParaRPr lang="en-US" sz="1300"/>
          </a:p>
        </p:txBody>
      </p:sp>
      <p:sp>
        <p:nvSpPr>
          <p:cNvPr id="1040626051" name="Text 3"/>
          <p:cNvSpPr/>
          <p:nvPr/>
        </p:nvSpPr>
        <p:spPr bwMode="auto">
          <a:xfrm>
            <a:off x="609600" y="1247775"/>
            <a:ext cx="18775680" cy="665956"/>
          </a:xfrm>
          <a:prstGeom prst="rect">
            <a:avLst/>
          </a:prstGeom>
          <a:noFill/>
          <a:ln/>
        </p:spPr>
        <p:txBody>
          <a:bodyPr wrap="square" lIns="25400" tIns="25400" rIns="25400" bIns="25400" rtlCol="0" anchor="t">
            <a:normAutofit/>
          </a:bodyPr>
          <a:lstStyle/>
          <a:p>
            <a:pPr marL="0" indent="0" algn="l">
              <a:lnSpc>
                <a:spcPct val="102994"/>
              </a:lnSpc>
              <a:buNone/>
              <a:defRPr/>
            </a:pPr>
            <a:r>
              <a:rPr lang="en-US" sz="4800" b="1" spc="-47">
                <a:solidFill>
                  <a:srgbClr val="2E2E2E"/>
                </a:solidFill>
                <a:latin typeface="Sora"/>
                <a:ea typeface="Sora"/>
                <a:cs typeface="Sora"/>
              </a:rPr>
              <a:t>Power first — for compute &amp; charging</a:t>
            </a:r>
            <a:endParaRPr lang="en-US" sz="4800"/>
          </a:p>
        </p:txBody>
      </p:sp>
      <p:sp>
        <p:nvSpPr>
          <p:cNvPr id="483417742" name="Text 4"/>
          <p:cNvSpPr/>
          <p:nvPr/>
        </p:nvSpPr>
        <p:spPr bwMode="auto">
          <a:xfrm>
            <a:off x="609600" y="1970881"/>
            <a:ext cx="18775680" cy="409575"/>
          </a:xfrm>
          <a:prstGeom prst="rect">
            <a:avLst/>
          </a:prstGeom>
          <a:noFill/>
          <a:ln/>
        </p:spPr>
        <p:txBody>
          <a:bodyPr wrap="square" lIns="25400" tIns="25400" rIns="25400" bIns="25400" rtlCol="0" anchor="t">
            <a:normAutofit/>
          </a:bodyPr>
          <a:lstStyle/>
          <a:p>
            <a:pPr marL="0" indent="0" algn="l">
              <a:buNone/>
              <a:defRPr/>
            </a:pPr>
            <a:r>
              <a:rPr lang="en-US" sz="1950">
                <a:solidFill>
                  <a:srgbClr val="6E7174"/>
                </a:solidFill>
                <a:latin typeface="Noto Sans JP"/>
                <a:ea typeface="Noto Sans JP"/>
                <a:cs typeface="Noto Sans JP"/>
              </a:rPr>
              <a:t>電力優先 — データセンターとEV充電へ。</a:t>
            </a:r>
            <a:endParaRPr lang="en-US" sz="1950"/>
          </a:p>
        </p:txBody>
      </p:sp>
      <p:sp>
        <p:nvSpPr>
          <p:cNvPr id="1270145359" name="Shape 5"/>
          <p:cNvSpPr/>
          <p:nvPr/>
        </p:nvSpPr>
        <p:spPr bwMode="auto">
          <a:xfrm>
            <a:off x="609600" y="2704306"/>
            <a:ext cx="8010524" cy="3334067"/>
          </a:xfrm>
          <a:prstGeom prst="rect">
            <a:avLst/>
          </a:prstGeom>
          <a:solidFill>
            <a:srgbClr val="FBEFE0"/>
          </a:solidFill>
          <a:ln/>
        </p:spPr>
      </p:sp>
      <p:sp>
        <p:nvSpPr>
          <p:cNvPr id="1759575081" name="Shape 6"/>
          <p:cNvSpPr/>
          <p:nvPr/>
        </p:nvSpPr>
        <p:spPr bwMode="auto">
          <a:xfrm>
            <a:off x="609600" y="2704306"/>
            <a:ext cx="8010524" cy="47625"/>
          </a:xfrm>
          <a:prstGeom prst="rect">
            <a:avLst/>
          </a:prstGeom>
          <a:solidFill>
            <a:srgbClr val="E58520"/>
          </a:solidFill>
          <a:ln/>
        </p:spPr>
      </p:sp>
      <p:sp>
        <p:nvSpPr>
          <p:cNvPr id="107973621" name="Text 7"/>
          <p:cNvSpPr/>
          <p:nvPr/>
        </p:nvSpPr>
        <p:spPr bwMode="auto">
          <a:xfrm>
            <a:off x="914400" y="3895566"/>
            <a:ext cx="8141017" cy="361950"/>
          </a:xfrm>
          <a:prstGeom prst="rect">
            <a:avLst/>
          </a:prstGeom>
          <a:noFill/>
          <a:ln/>
        </p:spPr>
        <p:txBody>
          <a:bodyPr wrap="square" lIns="25400" tIns="25400" rIns="25400" bIns="25400" rtlCol="0" anchor="t">
            <a:normAutofit/>
          </a:bodyPr>
          <a:lstStyle/>
          <a:p>
            <a:pPr marL="0" indent="0" algn="l">
              <a:buNone/>
              <a:defRPr/>
            </a:pPr>
            <a:r>
              <a:rPr lang="en-US" sz="2050" b="1">
                <a:solidFill>
                  <a:srgbClr val="C26A12"/>
                </a:solidFill>
                <a:latin typeface="Sora"/>
                <a:ea typeface="Sora"/>
                <a:cs typeface="Sora"/>
              </a:rPr>
              <a:t>1 · Power first</a:t>
            </a:r>
            <a:endParaRPr lang="en-US" sz="2050"/>
          </a:p>
        </p:txBody>
      </p:sp>
      <p:sp>
        <p:nvSpPr>
          <p:cNvPr id="2053801161" name="Text 8"/>
          <p:cNvSpPr/>
          <p:nvPr/>
        </p:nvSpPr>
        <p:spPr bwMode="auto">
          <a:xfrm>
            <a:off x="914400" y="4314666"/>
            <a:ext cx="7622953" cy="618172"/>
          </a:xfrm>
          <a:prstGeom prst="rect">
            <a:avLst/>
          </a:prstGeom>
          <a:noFill/>
          <a:ln/>
        </p:spPr>
        <p:txBody>
          <a:bodyPr wrap="square" lIns="25400" tIns="25400" rIns="25400" bIns="25400" rtlCol="0" anchor="t">
            <a:normAutofit/>
          </a:bodyPr>
          <a:lstStyle/>
          <a:p>
            <a:pPr marL="0" indent="0" algn="l">
              <a:lnSpc>
                <a:spcPct val="145000"/>
              </a:lnSpc>
              <a:buNone/>
              <a:defRPr/>
            </a:pPr>
            <a:r>
              <a:rPr lang="en-US" sz="1600">
                <a:solidFill>
                  <a:srgbClr val="4A4A4A"/>
                </a:solidFill>
                <a:latin typeface="Open Sans"/>
                <a:ea typeface="Open Sans"/>
                <a:cs typeface="Open Sans"/>
              </a:rPr>
              <a:t>Electricity runs the AI data center and the EV charging network — the demand we are building for. 電力をデータセンターとEV充電へ。</a:t>
            </a:r>
            <a:endParaRPr lang="en-US" sz="1600"/>
          </a:p>
        </p:txBody>
      </p:sp>
      <p:sp>
        <p:nvSpPr>
          <p:cNvPr id="224306171" name="Shape 9"/>
          <p:cNvSpPr/>
          <p:nvPr/>
        </p:nvSpPr>
        <p:spPr bwMode="auto">
          <a:xfrm>
            <a:off x="609600" y="6266974"/>
            <a:ext cx="8010524" cy="3334226"/>
          </a:xfrm>
          <a:prstGeom prst="rect">
            <a:avLst/>
          </a:prstGeom>
          <a:solidFill>
            <a:srgbClr val="F6F6F4"/>
          </a:solidFill>
          <a:ln/>
        </p:spPr>
      </p:sp>
      <p:sp>
        <p:nvSpPr>
          <p:cNvPr id="1760525175" name="Shape 10"/>
          <p:cNvSpPr/>
          <p:nvPr/>
        </p:nvSpPr>
        <p:spPr bwMode="auto">
          <a:xfrm>
            <a:off x="609600" y="6266974"/>
            <a:ext cx="8010524" cy="47625"/>
          </a:xfrm>
          <a:prstGeom prst="rect">
            <a:avLst/>
          </a:prstGeom>
          <a:solidFill>
            <a:srgbClr val="6E7174"/>
          </a:solidFill>
          <a:ln/>
        </p:spPr>
      </p:sp>
      <p:sp>
        <p:nvSpPr>
          <p:cNvPr id="1265813085" name="Text 11"/>
          <p:cNvSpPr/>
          <p:nvPr/>
        </p:nvSpPr>
        <p:spPr bwMode="auto">
          <a:xfrm>
            <a:off x="914400" y="7458234"/>
            <a:ext cx="8141017" cy="361950"/>
          </a:xfrm>
          <a:prstGeom prst="rect">
            <a:avLst/>
          </a:prstGeom>
          <a:noFill/>
          <a:ln/>
        </p:spPr>
        <p:txBody>
          <a:bodyPr wrap="square" lIns="25400" tIns="25400" rIns="25400" bIns="25400" rtlCol="0" anchor="t">
            <a:normAutofit/>
          </a:bodyPr>
          <a:lstStyle/>
          <a:p>
            <a:pPr marL="0" indent="0" algn="l">
              <a:buNone/>
              <a:defRPr/>
            </a:pPr>
            <a:r>
              <a:rPr lang="en-US" sz="2050" b="1">
                <a:solidFill>
                  <a:srgbClr val="2E2E2E"/>
                </a:solidFill>
                <a:latin typeface="Sora"/>
                <a:ea typeface="Sora"/>
                <a:cs typeface="Sora"/>
              </a:rPr>
              <a:t>2 · Heat, captured second</a:t>
            </a:r>
            <a:endParaRPr lang="en-US" sz="2050"/>
          </a:p>
        </p:txBody>
      </p:sp>
      <p:sp>
        <p:nvSpPr>
          <p:cNvPr id="1751075764" name="Text 12"/>
          <p:cNvSpPr/>
          <p:nvPr/>
        </p:nvSpPr>
        <p:spPr bwMode="auto">
          <a:xfrm>
            <a:off x="914400" y="7877334"/>
            <a:ext cx="7622953" cy="618173"/>
          </a:xfrm>
          <a:prstGeom prst="rect">
            <a:avLst/>
          </a:prstGeom>
          <a:noFill/>
          <a:ln/>
        </p:spPr>
        <p:txBody>
          <a:bodyPr wrap="square" lIns="25400" tIns="25400" rIns="25400" bIns="25400" rtlCol="0" anchor="t">
            <a:normAutofit/>
          </a:bodyPr>
          <a:lstStyle/>
          <a:p>
            <a:pPr marL="0" indent="0" algn="l">
              <a:lnSpc>
                <a:spcPct val="145000"/>
              </a:lnSpc>
              <a:buNone/>
              <a:defRPr/>
            </a:pPr>
            <a:r>
              <a:rPr lang="en-US" sz="1600">
                <a:solidFill>
                  <a:srgbClr val="4A4A4A"/>
                </a:solidFill>
                <a:latin typeface="Open Sans"/>
                <a:ea typeface="Open Sans"/>
                <a:cs typeface="Open Sans"/>
              </a:rPr>
              <a:t>Recovered heat is a by-product we will use as demand emerges — no committed off-taker yet. 排熱は需要が定まり次第活用。</a:t>
            </a:r>
            <a:endParaRPr lang="en-US" sz="1600"/>
          </a:p>
        </p:txBody>
      </p:sp>
      <p:sp>
        <p:nvSpPr>
          <p:cNvPr id="1640118111" name="Shape 13"/>
          <p:cNvSpPr/>
          <p:nvPr/>
        </p:nvSpPr>
        <p:spPr bwMode="auto">
          <a:xfrm>
            <a:off x="8905875" y="2704306"/>
            <a:ext cx="8772525" cy="6896894"/>
          </a:xfrm>
          <a:prstGeom prst="rect">
            <a:avLst/>
          </a:prstGeom>
          <a:solidFill>
            <a:srgbClr val="2E2E2E"/>
          </a:solidFill>
          <a:ln/>
        </p:spPr>
      </p:sp>
      <p:sp>
        <p:nvSpPr>
          <p:cNvPr id="210840703" name="Text 14"/>
          <p:cNvSpPr/>
          <p:nvPr/>
        </p:nvSpPr>
        <p:spPr bwMode="auto">
          <a:xfrm>
            <a:off x="9286875" y="4523899"/>
            <a:ext cx="8811578" cy="323850"/>
          </a:xfrm>
          <a:prstGeom prst="rect">
            <a:avLst/>
          </a:prstGeom>
          <a:noFill/>
          <a:ln/>
        </p:spPr>
        <p:txBody>
          <a:bodyPr wrap="square" lIns="25400" tIns="25400" rIns="25400" bIns="25400" rtlCol="0" anchor="t">
            <a:normAutofit/>
          </a:bodyPr>
          <a:lstStyle/>
          <a:p>
            <a:pPr marL="0" indent="0" algn="l">
              <a:buNone/>
              <a:defRPr/>
            </a:pPr>
            <a:r>
              <a:rPr lang="en-US" sz="1500" b="1" spc="210">
                <a:solidFill>
                  <a:srgbClr val="9B9DA0"/>
                </a:solidFill>
                <a:latin typeface="Open Sans"/>
                <a:ea typeface="Open Sans"/>
                <a:cs typeface="Open Sans"/>
              </a:rPr>
              <a:t>THE REALISTIC MIX · 現実的な電源構成</a:t>
            </a:r>
            <a:endParaRPr lang="en-US" sz="1500"/>
          </a:p>
        </p:txBody>
      </p:sp>
      <p:sp>
        <p:nvSpPr>
          <p:cNvPr id="1886698010" name="Shape 15"/>
          <p:cNvSpPr/>
          <p:nvPr/>
        </p:nvSpPr>
        <p:spPr bwMode="auto">
          <a:xfrm>
            <a:off x="9286875" y="5166836"/>
            <a:ext cx="133350" cy="400050"/>
          </a:xfrm>
          <a:prstGeom prst="rect">
            <a:avLst/>
          </a:prstGeom>
          <a:solidFill>
            <a:srgbClr val="E58520"/>
          </a:solidFill>
          <a:ln/>
        </p:spPr>
      </p:sp>
      <p:sp>
        <p:nvSpPr>
          <p:cNvPr id="1833911576" name="Text 16"/>
          <p:cNvSpPr/>
          <p:nvPr/>
        </p:nvSpPr>
        <p:spPr bwMode="auto">
          <a:xfrm>
            <a:off x="9591674" y="5076349"/>
            <a:ext cx="3067288"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FFFFFF"/>
                </a:solidFill>
                <a:latin typeface="Open Sans"/>
                <a:ea typeface="Open Sans"/>
                <a:cs typeface="Open Sans"/>
              </a:rPr>
              <a:t>Biomass</a:t>
            </a:r>
            <a:endParaRPr lang="en-US" sz="1900"/>
          </a:p>
        </p:txBody>
      </p:sp>
      <p:sp>
        <p:nvSpPr>
          <p:cNvPr id="1880217652" name="Text 17"/>
          <p:cNvSpPr/>
          <p:nvPr/>
        </p:nvSpPr>
        <p:spPr bwMode="auto">
          <a:xfrm>
            <a:off x="9591674" y="5400199"/>
            <a:ext cx="3067288" cy="295274"/>
          </a:xfrm>
          <a:prstGeom prst="rect">
            <a:avLst/>
          </a:prstGeom>
          <a:noFill/>
          <a:ln/>
        </p:spPr>
        <p:txBody>
          <a:bodyPr wrap="square" lIns="25400" tIns="25400" rIns="25400" bIns="25400" rtlCol="0" anchor="t">
            <a:normAutofit/>
          </a:bodyPr>
          <a:lstStyle/>
          <a:p>
            <a:pPr marL="0" indent="0" algn="l">
              <a:buNone/>
              <a:defRPr/>
            </a:pPr>
            <a:r>
              <a:rPr lang="en-US" sz="1350">
                <a:solidFill>
                  <a:srgbClr val="C7C9CB"/>
                </a:solidFill>
                <a:latin typeface="Open Sans"/>
                <a:ea typeface="Open Sans"/>
                <a:cs typeface="Open Sans"/>
              </a:rPr>
              <a:t>Baseload power · ベースロード電源</a:t>
            </a:r>
            <a:endParaRPr lang="en-US" sz="1350"/>
          </a:p>
        </p:txBody>
      </p:sp>
      <p:sp>
        <p:nvSpPr>
          <p:cNvPr id="1919516386" name="Shape 18"/>
          <p:cNvSpPr/>
          <p:nvPr/>
        </p:nvSpPr>
        <p:spPr bwMode="auto">
          <a:xfrm>
            <a:off x="9286875" y="5957411"/>
            <a:ext cx="133350" cy="400050"/>
          </a:xfrm>
          <a:prstGeom prst="rect">
            <a:avLst/>
          </a:prstGeom>
          <a:solidFill>
            <a:srgbClr val="F4B872"/>
          </a:solidFill>
          <a:ln/>
        </p:spPr>
      </p:sp>
      <p:sp>
        <p:nvSpPr>
          <p:cNvPr id="50289111" name="Text 19"/>
          <p:cNvSpPr/>
          <p:nvPr/>
        </p:nvSpPr>
        <p:spPr bwMode="auto">
          <a:xfrm>
            <a:off x="9591674" y="5866924"/>
            <a:ext cx="3015250"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FFFFFF"/>
                </a:solidFill>
                <a:latin typeface="Open Sans"/>
                <a:ea typeface="Open Sans"/>
                <a:cs typeface="Open Sans"/>
              </a:rPr>
              <a:t>Existing solar</a:t>
            </a:r>
            <a:endParaRPr lang="en-US" sz="1900"/>
          </a:p>
        </p:txBody>
      </p:sp>
      <p:sp>
        <p:nvSpPr>
          <p:cNvPr id="701877645" name="Text 20"/>
          <p:cNvSpPr/>
          <p:nvPr/>
        </p:nvSpPr>
        <p:spPr bwMode="auto">
          <a:xfrm>
            <a:off x="9591674" y="6190774"/>
            <a:ext cx="3015250" cy="295274"/>
          </a:xfrm>
          <a:prstGeom prst="rect">
            <a:avLst/>
          </a:prstGeom>
          <a:noFill/>
          <a:ln/>
        </p:spPr>
        <p:txBody>
          <a:bodyPr wrap="square" lIns="25400" tIns="25400" rIns="25400" bIns="25400" rtlCol="0" anchor="t">
            <a:normAutofit/>
          </a:bodyPr>
          <a:lstStyle/>
          <a:p>
            <a:pPr marL="0" indent="0" algn="l">
              <a:buNone/>
              <a:defRPr/>
            </a:pPr>
            <a:r>
              <a:rPr lang="en-US" sz="1350">
                <a:solidFill>
                  <a:srgbClr val="C7C9CB"/>
                </a:solidFill>
                <a:latin typeface="Open Sans"/>
                <a:ea typeface="Open Sans"/>
                <a:cs typeface="Open Sans"/>
              </a:rPr>
              <a:t>Daytime generation · 日中の太陽光</a:t>
            </a:r>
            <a:endParaRPr lang="en-US" sz="1350"/>
          </a:p>
        </p:txBody>
      </p:sp>
      <p:sp>
        <p:nvSpPr>
          <p:cNvPr id="1310464051" name="Shape 21"/>
          <p:cNvSpPr/>
          <p:nvPr/>
        </p:nvSpPr>
        <p:spPr bwMode="auto">
          <a:xfrm>
            <a:off x="9286875" y="6747986"/>
            <a:ext cx="133350" cy="400050"/>
          </a:xfrm>
          <a:prstGeom prst="rect">
            <a:avLst/>
          </a:prstGeom>
          <a:solidFill>
            <a:srgbClr val="6E7174"/>
          </a:solidFill>
          <a:ln/>
        </p:spPr>
      </p:sp>
      <p:sp>
        <p:nvSpPr>
          <p:cNvPr id="74396279" name="Text 22"/>
          <p:cNvSpPr/>
          <p:nvPr/>
        </p:nvSpPr>
        <p:spPr bwMode="auto">
          <a:xfrm>
            <a:off x="9591674" y="6657499"/>
            <a:ext cx="3431206"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FFFFFF"/>
                </a:solidFill>
                <a:latin typeface="Open Sans"/>
                <a:ea typeface="Open Sans"/>
                <a:cs typeface="Open Sans"/>
              </a:rPr>
              <a:t>Grid</a:t>
            </a:r>
            <a:endParaRPr lang="en-US" sz="1900"/>
          </a:p>
        </p:txBody>
      </p:sp>
      <p:sp>
        <p:nvSpPr>
          <p:cNvPr id="2016311252" name="Text 23"/>
          <p:cNvSpPr/>
          <p:nvPr/>
        </p:nvSpPr>
        <p:spPr bwMode="auto">
          <a:xfrm>
            <a:off x="9591674" y="6981349"/>
            <a:ext cx="3431206" cy="295274"/>
          </a:xfrm>
          <a:prstGeom prst="rect">
            <a:avLst/>
          </a:prstGeom>
          <a:noFill/>
          <a:ln/>
        </p:spPr>
        <p:txBody>
          <a:bodyPr wrap="square" lIns="25400" tIns="25400" rIns="25400" bIns="25400" rtlCol="0" anchor="t">
            <a:normAutofit/>
          </a:bodyPr>
          <a:lstStyle/>
          <a:p>
            <a:pPr marL="0" indent="0" algn="l">
              <a:buNone/>
              <a:defRPr/>
            </a:pPr>
            <a:r>
              <a:rPr lang="en-US" sz="1350">
                <a:solidFill>
                  <a:srgbClr val="C7C9CB"/>
                </a:solidFill>
                <a:latin typeface="Open Sans"/>
                <a:ea typeface="Open Sans"/>
                <a:cs typeface="Open Sans"/>
              </a:rPr>
              <a:t>Backup &amp; peaks · 系統（バックアップ）</a:t>
            </a:r>
            <a:endParaRPr lang="en-US" sz="1350"/>
          </a:p>
        </p:txBody>
      </p:sp>
      <p:sp>
        <p:nvSpPr>
          <p:cNvPr id="2009611287" name="Text 24"/>
          <p:cNvSpPr/>
          <p:nvPr/>
        </p:nvSpPr>
        <p:spPr bwMode="auto">
          <a:xfrm>
            <a:off x="9286875" y="7524274"/>
            <a:ext cx="8811578" cy="295274"/>
          </a:xfrm>
          <a:prstGeom prst="rect">
            <a:avLst/>
          </a:prstGeom>
          <a:noFill/>
          <a:ln/>
        </p:spPr>
        <p:txBody>
          <a:bodyPr wrap="square" lIns="25400" tIns="25400" rIns="25400" bIns="25400" rtlCol="0" anchor="t">
            <a:normAutofit/>
          </a:bodyPr>
          <a:lstStyle/>
          <a:p>
            <a:pPr marL="0" indent="0" algn="l">
              <a:lnSpc>
                <a:spcPct val="150000"/>
              </a:lnSpc>
              <a:buNone/>
              <a:defRPr/>
            </a:pPr>
            <a:r>
              <a:rPr lang="en-US" sz="1350">
                <a:solidFill>
                  <a:srgbClr val="9B9DA0"/>
                </a:solidFill>
                <a:latin typeface="Open Sans"/>
                <a:ea typeface="Open Sans"/>
                <a:cs typeface="Open Sans"/>
              </a:rPr>
              <a:t>Not biomass alone, and not a replacement for the village's solar — a resilient blend.</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1744327509" name="Shape 0"/>
          <p:cNvSpPr/>
          <p:nvPr/>
        </p:nvSpPr>
        <p:spPr bwMode="auto">
          <a:xfrm>
            <a:off x="0" y="0"/>
            <a:ext cx="18288000" cy="76200"/>
          </a:xfrm>
          <a:prstGeom prst="rect">
            <a:avLst/>
          </a:prstGeom>
          <a:solidFill>
            <a:srgbClr val="9B9DA0"/>
          </a:solidFill>
          <a:ln/>
        </p:spPr>
      </p:sp>
      <p:sp>
        <p:nvSpPr>
          <p:cNvPr id="2140697220" name="Shape 1"/>
          <p:cNvSpPr/>
          <p:nvPr/>
        </p:nvSpPr>
        <p:spPr bwMode="auto">
          <a:xfrm>
            <a:off x="609600" y="2354898"/>
            <a:ext cx="17068800" cy="19050"/>
          </a:xfrm>
          <a:prstGeom prst="rect">
            <a:avLst/>
          </a:prstGeom>
          <a:solidFill>
            <a:srgbClr val="2E2E2E"/>
          </a:solidFill>
          <a:ln/>
        </p:spPr>
      </p:sp>
      <p:sp>
        <p:nvSpPr>
          <p:cNvPr id="1914904857" name="Shape 2"/>
          <p:cNvSpPr/>
          <p:nvPr/>
        </p:nvSpPr>
        <p:spPr bwMode="auto">
          <a:xfrm>
            <a:off x="609600" y="800100"/>
            <a:ext cx="438149" cy="47625"/>
          </a:xfrm>
          <a:prstGeom prst="rect">
            <a:avLst/>
          </a:prstGeom>
          <a:solidFill>
            <a:srgbClr val="E58520"/>
          </a:solidFill>
          <a:ln/>
        </p:spPr>
      </p:sp>
      <p:sp>
        <p:nvSpPr>
          <p:cNvPr id="1568476065" name="Text 3"/>
          <p:cNvSpPr/>
          <p:nvPr/>
        </p:nvSpPr>
        <p:spPr bwMode="auto">
          <a:xfrm>
            <a:off x="1181099" y="704850"/>
            <a:ext cx="4155900"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PROFILE IN NUMBERS · 現状と将来 · 08</a:t>
            </a:r>
            <a:endParaRPr lang="en-US" sz="1300"/>
          </a:p>
        </p:txBody>
      </p:sp>
      <p:sp>
        <p:nvSpPr>
          <p:cNvPr id="2059836744" name="Text 4"/>
          <p:cNvSpPr/>
          <p:nvPr/>
        </p:nvSpPr>
        <p:spPr bwMode="auto">
          <a:xfrm>
            <a:off x="609600" y="1076325"/>
            <a:ext cx="9488948" cy="640398"/>
          </a:xfrm>
          <a:prstGeom prst="rect">
            <a:avLst/>
          </a:prstGeom>
          <a:noFill/>
          <a:ln/>
        </p:spPr>
        <p:txBody>
          <a:bodyPr wrap="square" lIns="25400" tIns="25400" rIns="25400" bIns="25400" rtlCol="0" anchor="t">
            <a:normAutofit/>
          </a:bodyPr>
          <a:lstStyle/>
          <a:p>
            <a:pPr marL="0" indent="0" algn="l">
              <a:lnSpc>
                <a:spcPct val="101989"/>
              </a:lnSpc>
              <a:buNone/>
              <a:defRPr/>
            </a:pPr>
            <a:r>
              <a:rPr lang="en-US" sz="4650" b="1" spc="-23">
                <a:solidFill>
                  <a:srgbClr val="2E2E2E"/>
                </a:solidFill>
                <a:latin typeface="Sora"/>
                <a:ea typeface="Sora"/>
                <a:cs typeface="Sora"/>
              </a:rPr>
              <a:t>From dependence to surplus</a:t>
            </a:r>
            <a:endParaRPr lang="en-US" sz="4650"/>
          </a:p>
        </p:txBody>
      </p:sp>
      <p:sp>
        <p:nvSpPr>
          <p:cNvPr id="1926008742" name="Text 5"/>
          <p:cNvSpPr/>
          <p:nvPr/>
        </p:nvSpPr>
        <p:spPr bwMode="auto">
          <a:xfrm>
            <a:off x="609600" y="1773873"/>
            <a:ext cx="9488948" cy="390525"/>
          </a:xfrm>
          <a:prstGeom prst="rect">
            <a:avLst/>
          </a:prstGeom>
          <a:noFill/>
          <a:ln/>
        </p:spPr>
        <p:txBody>
          <a:bodyPr wrap="square" lIns="25400" tIns="25400" rIns="25400" bIns="25400" rtlCol="0" anchor="t">
            <a:normAutofit/>
          </a:bodyPr>
          <a:lstStyle/>
          <a:p>
            <a:pPr marL="0" indent="0" algn="l">
              <a:buNone/>
              <a:defRPr/>
            </a:pPr>
            <a:r>
              <a:rPr lang="en-US" sz="1900">
                <a:solidFill>
                  <a:srgbClr val="6E7174"/>
                </a:solidFill>
                <a:latin typeface="Noto Sans JP"/>
                <a:ea typeface="Noto Sans JP"/>
                <a:cs typeface="Noto Sans JP"/>
              </a:rPr>
              <a:t>依存から余剰へ — エネルギー自立への転換</a:t>
            </a:r>
            <a:endParaRPr lang="en-US" sz="1900"/>
          </a:p>
        </p:txBody>
      </p:sp>
      <p:sp>
        <p:nvSpPr>
          <p:cNvPr id="405019544" name="Shape 6"/>
          <p:cNvSpPr/>
          <p:nvPr/>
        </p:nvSpPr>
        <p:spPr bwMode="auto">
          <a:xfrm>
            <a:off x="15017432" y="1883410"/>
            <a:ext cx="247650" cy="133350"/>
          </a:xfrm>
          <a:prstGeom prst="rect">
            <a:avLst/>
          </a:prstGeom>
          <a:solidFill>
            <a:srgbClr val="C7C9CB"/>
          </a:solidFill>
          <a:ln/>
        </p:spPr>
      </p:sp>
      <p:sp>
        <p:nvSpPr>
          <p:cNvPr id="1052787949" name="Text 7"/>
          <p:cNvSpPr/>
          <p:nvPr/>
        </p:nvSpPr>
        <p:spPr bwMode="auto">
          <a:xfrm>
            <a:off x="15350807" y="1831023"/>
            <a:ext cx="1000284" cy="276225"/>
          </a:xfrm>
          <a:prstGeom prst="rect">
            <a:avLst/>
          </a:prstGeom>
          <a:noFill/>
          <a:ln/>
        </p:spPr>
        <p:txBody>
          <a:bodyPr wrap="square" lIns="25400" tIns="25400" rIns="25400" bIns="25400" rtlCol="0" anchor="t">
            <a:normAutofit/>
          </a:bodyPr>
          <a:lstStyle/>
          <a:p>
            <a:pPr marL="0" indent="0" algn="l">
              <a:buNone/>
              <a:defRPr/>
            </a:pPr>
            <a:r>
              <a:rPr lang="en-US" sz="1300" b="1">
                <a:solidFill>
                  <a:srgbClr val="6E7174"/>
                </a:solidFill>
                <a:latin typeface="Open Sans"/>
                <a:ea typeface="Open Sans"/>
                <a:cs typeface="Open Sans"/>
              </a:rPr>
              <a:t>Today · 現状</a:t>
            </a:r>
            <a:endParaRPr lang="en-US" sz="1300"/>
          </a:p>
        </p:txBody>
      </p:sp>
      <p:sp>
        <p:nvSpPr>
          <p:cNvPr id="1015970592" name="Shape 8"/>
          <p:cNvSpPr/>
          <p:nvPr/>
        </p:nvSpPr>
        <p:spPr bwMode="auto">
          <a:xfrm>
            <a:off x="16522541" y="1883410"/>
            <a:ext cx="247650" cy="133350"/>
          </a:xfrm>
          <a:prstGeom prst="rect">
            <a:avLst/>
          </a:prstGeom>
          <a:solidFill>
            <a:srgbClr val="E58520"/>
          </a:solidFill>
          <a:ln/>
        </p:spPr>
      </p:sp>
      <p:sp>
        <p:nvSpPr>
          <p:cNvPr id="1329528485" name="Text 9"/>
          <p:cNvSpPr/>
          <p:nvPr/>
        </p:nvSpPr>
        <p:spPr bwMode="auto">
          <a:xfrm>
            <a:off x="16855916" y="1831023"/>
            <a:ext cx="898684" cy="276225"/>
          </a:xfrm>
          <a:prstGeom prst="rect">
            <a:avLst/>
          </a:prstGeom>
          <a:noFill/>
          <a:ln/>
        </p:spPr>
        <p:txBody>
          <a:bodyPr wrap="square" lIns="25400" tIns="25400" rIns="25400" bIns="25400" rtlCol="0" anchor="t">
            <a:normAutofit/>
          </a:bodyPr>
          <a:lstStyle/>
          <a:p>
            <a:pPr marL="0" indent="0" algn="l">
              <a:buNone/>
              <a:defRPr/>
            </a:pPr>
            <a:r>
              <a:rPr lang="en-US" sz="1300" b="1">
                <a:solidFill>
                  <a:srgbClr val="6E7174"/>
                </a:solidFill>
                <a:latin typeface="Open Sans"/>
                <a:ea typeface="Open Sans"/>
                <a:cs typeface="Open Sans"/>
              </a:rPr>
              <a:t>2050 · 想定</a:t>
            </a:r>
            <a:endParaRPr lang="en-US" sz="1300"/>
          </a:p>
        </p:txBody>
      </p:sp>
      <p:sp>
        <p:nvSpPr>
          <p:cNvPr id="1299161513" name="Text 10"/>
          <p:cNvSpPr/>
          <p:nvPr/>
        </p:nvSpPr>
        <p:spPr bwMode="auto">
          <a:xfrm>
            <a:off x="609600" y="3733006"/>
            <a:ext cx="3520964"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Open Sans"/>
                <a:ea typeface="Open Sans"/>
                <a:cs typeface="Open Sans"/>
              </a:rPr>
              <a:t>Energy self-sufficiency </a:t>
            </a:r>
            <a:r>
              <a:rPr lang="en-US" sz="1300">
                <a:solidFill>
                  <a:srgbClr val="9B9DA0"/>
                </a:solidFill>
                <a:latin typeface="Noto Sans JP"/>
                <a:ea typeface="Noto Sans JP"/>
                <a:cs typeface="Noto Sans JP"/>
              </a:rPr>
              <a:t>自給率</a:t>
            </a:r>
            <a:endParaRPr lang="en-US" sz="1900"/>
          </a:p>
        </p:txBody>
      </p:sp>
      <p:sp>
        <p:nvSpPr>
          <p:cNvPr id="605427889" name="Text 11"/>
          <p:cNvSpPr/>
          <p:nvPr/>
        </p:nvSpPr>
        <p:spPr bwMode="auto">
          <a:xfrm>
            <a:off x="7944167" y="3775869"/>
            <a:ext cx="971232"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E58520"/>
                </a:solidFill>
                <a:latin typeface="Open Sans"/>
                <a:ea typeface="Open Sans"/>
                <a:cs typeface="Open Sans"/>
              </a:rPr>
              <a:t>▲ +107pt</a:t>
            </a:r>
            <a:endParaRPr lang="en-US" sz="1600"/>
          </a:p>
        </p:txBody>
      </p:sp>
      <p:sp>
        <p:nvSpPr>
          <p:cNvPr id="435477418" name="Text 12"/>
          <p:cNvSpPr/>
          <p:nvPr/>
        </p:nvSpPr>
        <p:spPr bwMode="auto">
          <a:xfrm>
            <a:off x="533400" y="4242594"/>
            <a:ext cx="819150" cy="228600"/>
          </a:xfrm>
          <a:prstGeom prst="rect">
            <a:avLst/>
          </a:prstGeom>
          <a:noFill/>
          <a:ln/>
        </p:spPr>
        <p:txBody>
          <a:bodyPr wrap="square" lIns="25400" tIns="25400" rIns="25400" bIns="25400" rtlCol="0" anchor="t">
            <a:normAutofit/>
          </a:bodyPr>
          <a:lstStyle/>
          <a:p>
            <a:pPr marL="0" indent="0" algn="r">
              <a:buNone/>
              <a:defRPr/>
            </a:pPr>
            <a:r>
              <a:rPr lang="en-US" sz="1150" b="1">
                <a:solidFill>
                  <a:srgbClr val="A9ABAE"/>
                </a:solidFill>
                <a:latin typeface="Open Sans"/>
                <a:ea typeface="Open Sans"/>
                <a:cs typeface="Open Sans"/>
              </a:rPr>
              <a:t>TODAY</a:t>
            </a:r>
            <a:endParaRPr lang="en-US" sz="1150"/>
          </a:p>
        </p:txBody>
      </p:sp>
      <p:sp>
        <p:nvSpPr>
          <p:cNvPr id="2032511605" name="Shape 13"/>
          <p:cNvSpPr/>
          <p:nvPr/>
        </p:nvSpPr>
        <p:spPr bwMode="auto">
          <a:xfrm>
            <a:off x="1504950" y="4214019"/>
            <a:ext cx="6381750" cy="247650"/>
          </a:xfrm>
          <a:prstGeom prst="rect">
            <a:avLst/>
          </a:prstGeom>
          <a:solidFill>
            <a:srgbClr val="F1F1EF"/>
          </a:solidFill>
          <a:ln/>
        </p:spPr>
      </p:sp>
      <p:sp>
        <p:nvSpPr>
          <p:cNvPr id="1421441740" name="Shape 14"/>
          <p:cNvSpPr/>
          <p:nvPr/>
        </p:nvSpPr>
        <p:spPr bwMode="auto">
          <a:xfrm>
            <a:off x="1504950" y="4214019"/>
            <a:ext cx="446722" cy="247650"/>
          </a:xfrm>
          <a:prstGeom prst="rect">
            <a:avLst/>
          </a:prstGeom>
          <a:solidFill>
            <a:srgbClr val="C7C9CB"/>
          </a:solidFill>
          <a:ln/>
        </p:spPr>
      </p:sp>
      <p:sp>
        <p:nvSpPr>
          <p:cNvPr id="1305249334" name="Text 15"/>
          <p:cNvSpPr/>
          <p:nvPr/>
        </p:nvSpPr>
        <p:spPr bwMode="auto">
          <a:xfrm>
            <a:off x="8039100" y="4209256"/>
            <a:ext cx="876299" cy="295274"/>
          </a:xfrm>
          <a:prstGeom prst="rect">
            <a:avLst/>
          </a:prstGeom>
          <a:noFill/>
          <a:ln/>
        </p:spPr>
        <p:txBody>
          <a:bodyPr wrap="square" lIns="25400" tIns="25400" rIns="25400" bIns="25400" rtlCol="0" anchor="t">
            <a:normAutofit/>
          </a:bodyPr>
          <a:lstStyle/>
          <a:p>
            <a:pPr marL="0" indent="0" algn="l">
              <a:buNone/>
              <a:defRPr/>
            </a:pPr>
            <a:r>
              <a:rPr lang="en-US" sz="1500" b="1">
                <a:solidFill>
                  <a:srgbClr val="6E7174"/>
                </a:solidFill>
                <a:latin typeface="Open Sans"/>
                <a:ea typeface="Open Sans"/>
                <a:cs typeface="Open Sans"/>
              </a:rPr>
              <a:t>8%</a:t>
            </a:r>
            <a:endParaRPr lang="en-US" sz="1500"/>
          </a:p>
        </p:txBody>
      </p:sp>
      <p:sp>
        <p:nvSpPr>
          <p:cNvPr id="441602010" name="Text 16"/>
          <p:cNvSpPr/>
          <p:nvPr/>
        </p:nvSpPr>
        <p:spPr bwMode="auto">
          <a:xfrm>
            <a:off x="533400" y="4628356"/>
            <a:ext cx="819150" cy="228600"/>
          </a:xfrm>
          <a:prstGeom prst="rect">
            <a:avLst/>
          </a:prstGeom>
          <a:noFill/>
          <a:ln/>
        </p:spPr>
        <p:txBody>
          <a:bodyPr wrap="square" lIns="25400" tIns="25400" rIns="25400" bIns="25400" rtlCol="0" anchor="t">
            <a:normAutofit/>
          </a:bodyPr>
          <a:lstStyle/>
          <a:p>
            <a:pPr marL="0" indent="0" algn="r">
              <a:buNone/>
              <a:defRPr/>
            </a:pPr>
            <a:r>
              <a:rPr lang="en-US" sz="1150" b="1">
                <a:solidFill>
                  <a:srgbClr val="E58520"/>
                </a:solidFill>
                <a:latin typeface="Open Sans"/>
                <a:ea typeface="Open Sans"/>
                <a:cs typeface="Open Sans"/>
              </a:rPr>
              <a:t>2050</a:t>
            </a:r>
            <a:endParaRPr lang="en-US" sz="1150"/>
          </a:p>
        </p:txBody>
      </p:sp>
      <p:sp>
        <p:nvSpPr>
          <p:cNvPr id="1828198983" name="Shape 17"/>
          <p:cNvSpPr/>
          <p:nvPr/>
        </p:nvSpPr>
        <p:spPr bwMode="auto">
          <a:xfrm>
            <a:off x="1504950" y="4599781"/>
            <a:ext cx="6381750" cy="247650"/>
          </a:xfrm>
          <a:prstGeom prst="rect">
            <a:avLst/>
          </a:prstGeom>
          <a:solidFill>
            <a:srgbClr val="F1F1EF"/>
          </a:solidFill>
          <a:ln/>
        </p:spPr>
      </p:sp>
      <p:sp>
        <p:nvSpPr>
          <p:cNvPr id="619801376" name="Shape 18"/>
          <p:cNvSpPr/>
          <p:nvPr/>
        </p:nvSpPr>
        <p:spPr bwMode="auto">
          <a:xfrm>
            <a:off x="1504950" y="4599781"/>
            <a:ext cx="6126480" cy="247650"/>
          </a:xfrm>
          <a:prstGeom prst="rect">
            <a:avLst/>
          </a:prstGeom>
          <a:solidFill>
            <a:srgbClr val="E58520"/>
          </a:solidFill>
          <a:ln/>
        </p:spPr>
      </p:sp>
      <p:sp>
        <p:nvSpPr>
          <p:cNvPr id="1324181428" name="Text 19"/>
          <p:cNvSpPr/>
          <p:nvPr/>
        </p:nvSpPr>
        <p:spPr bwMode="auto">
          <a:xfrm>
            <a:off x="8039100" y="4552156"/>
            <a:ext cx="876299" cy="381000"/>
          </a:xfrm>
          <a:prstGeom prst="rect">
            <a:avLst/>
          </a:prstGeom>
          <a:noFill/>
          <a:ln/>
        </p:spPr>
        <p:txBody>
          <a:bodyPr wrap="square" lIns="25400" tIns="25400" rIns="25400" bIns="25400" rtlCol="0" anchor="t">
            <a:normAutofit/>
          </a:bodyPr>
          <a:lstStyle/>
          <a:p>
            <a:pPr marL="0" indent="0" algn="l">
              <a:buNone/>
              <a:defRPr/>
            </a:pPr>
            <a:r>
              <a:rPr lang="en-US" sz="1950" b="1">
                <a:solidFill>
                  <a:srgbClr val="2E2E2E"/>
                </a:solidFill>
                <a:latin typeface="Open Sans"/>
                <a:ea typeface="Open Sans"/>
                <a:cs typeface="Open Sans"/>
              </a:rPr>
              <a:t>115%</a:t>
            </a:r>
            <a:endParaRPr lang="en-US" sz="1950"/>
          </a:p>
        </p:txBody>
      </p:sp>
      <p:sp>
        <p:nvSpPr>
          <p:cNvPr id="313273850" name="Text 20"/>
          <p:cNvSpPr/>
          <p:nvPr/>
        </p:nvSpPr>
        <p:spPr bwMode="auto">
          <a:xfrm>
            <a:off x="9448799" y="3733006"/>
            <a:ext cx="3520615"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Open Sans"/>
                <a:ea typeface="Open Sans"/>
                <a:cs typeface="Open Sans"/>
              </a:rPr>
              <a:t>Import dependency </a:t>
            </a:r>
            <a:r>
              <a:rPr lang="en-US" sz="1300">
                <a:solidFill>
                  <a:srgbClr val="9B9DA0"/>
                </a:solidFill>
                <a:latin typeface="Noto Sans JP"/>
                <a:ea typeface="Noto Sans JP"/>
                <a:cs typeface="Noto Sans JP"/>
              </a:rPr>
              <a:t>域外依存率</a:t>
            </a:r>
            <a:endParaRPr lang="en-US" sz="1900"/>
          </a:p>
        </p:txBody>
      </p:sp>
      <p:sp>
        <p:nvSpPr>
          <p:cNvPr id="923849654" name="Text 21"/>
          <p:cNvSpPr/>
          <p:nvPr/>
        </p:nvSpPr>
        <p:spPr bwMode="auto">
          <a:xfrm>
            <a:off x="16904494" y="3775869"/>
            <a:ext cx="850106"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E58520"/>
                </a:solidFill>
                <a:latin typeface="Open Sans"/>
                <a:ea typeface="Open Sans"/>
                <a:cs typeface="Open Sans"/>
              </a:rPr>
              <a:t>▼ −67pt</a:t>
            </a:r>
            <a:endParaRPr lang="en-US" sz="1600"/>
          </a:p>
        </p:txBody>
      </p:sp>
      <p:sp>
        <p:nvSpPr>
          <p:cNvPr id="412216797" name="Text 22"/>
          <p:cNvSpPr/>
          <p:nvPr/>
        </p:nvSpPr>
        <p:spPr bwMode="auto">
          <a:xfrm>
            <a:off x="9372600" y="4242594"/>
            <a:ext cx="819150" cy="228600"/>
          </a:xfrm>
          <a:prstGeom prst="rect">
            <a:avLst/>
          </a:prstGeom>
          <a:noFill/>
          <a:ln/>
        </p:spPr>
        <p:txBody>
          <a:bodyPr wrap="square" lIns="25400" tIns="25400" rIns="25400" bIns="25400" rtlCol="0" anchor="t">
            <a:normAutofit/>
          </a:bodyPr>
          <a:lstStyle/>
          <a:p>
            <a:pPr marL="0" indent="0" algn="r">
              <a:buNone/>
              <a:defRPr/>
            </a:pPr>
            <a:r>
              <a:rPr lang="en-US" sz="1150" b="1">
                <a:solidFill>
                  <a:srgbClr val="A9ABAE"/>
                </a:solidFill>
                <a:latin typeface="Open Sans"/>
                <a:ea typeface="Open Sans"/>
                <a:cs typeface="Open Sans"/>
              </a:rPr>
              <a:t>TODAY</a:t>
            </a:r>
            <a:endParaRPr lang="en-US" sz="1150"/>
          </a:p>
        </p:txBody>
      </p:sp>
      <p:sp>
        <p:nvSpPr>
          <p:cNvPr id="1903331841" name="Shape 23"/>
          <p:cNvSpPr/>
          <p:nvPr/>
        </p:nvSpPr>
        <p:spPr bwMode="auto">
          <a:xfrm>
            <a:off x="10344150" y="4214019"/>
            <a:ext cx="6381750" cy="247650"/>
          </a:xfrm>
          <a:prstGeom prst="rect">
            <a:avLst/>
          </a:prstGeom>
          <a:solidFill>
            <a:srgbClr val="F1F1EF"/>
          </a:solidFill>
          <a:ln/>
        </p:spPr>
      </p:sp>
      <p:sp>
        <p:nvSpPr>
          <p:cNvPr id="1232057655" name="Shape 24"/>
          <p:cNvSpPr/>
          <p:nvPr/>
        </p:nvSpPr>
        <p:spPr bwMode="auto">
          <a:xfrm>
            <a:off x="10344150" y="4214019"/>
            <a:ext cx="5871210" cy="247650"/>
          </a:xfrm>
          <a:prstGeom prst="rect">
            <a:avLst/>
          </a:prstGeom>
          <a:solidFill>
            <a:srgbClr val="C7C9CB"/>
          </a:solidFill>
          <a:ln/>
        </p:spPr>
      </p:sp>
      <p:sp>
        <p:nvSpPr>
          <p:cNvPr id="1031482821" name="Text 25"/>
          <p:cNvSpPr/>
          <p:nvPr/>
        </p:nvSpPr>
        <p:spPr bwMode="auto">
          <a:xfrm>
            <a:off x="16878300" y="4209256"/>
            <a:ext cx="876299" cy="295274"/>
          </a:xfrm>
          <a:prstGeom prst="rect">
            <a:avLst/>
          </a:prstGeom>
          <a:noFill/>
          <a:ln/>
        </p:spPr>
        <p:txBody>
          <a:bodyPr wrap="square" lIns="25400" tIns="25400" rIns="25400" bIns="25400" rtlCol="0" anchor="t">
            <a:normAutofit/>
          </a:bodyPr>
          <a:lstStyle/>
          <a:p>
            <a:pPr marL="0" indent="0" algn="l">
              <a:buNone/>
              <a:defRPr/>
            </a:pPr>
            <a:r>
              <a:rPr lang="en-US" sz="1500" b="1">
                <a:solidFill>
                  <a:srgbClr val="6E7174"/>
                </a:solidFill>
                <a:latin typeface="Open Sans"/>
                <a:ea typeface="Open Sans"/>
                <a:cs typeface="Open Sans"/>
              </a:rPr>
              <a:t>92%</a:t>
            </a:r>
            <a:endParaRPr lang="en-US" sz="1500"/>
          </a:p>
        </p:txBody>
      </p:sp>
      <p:sp>
        <p:nvSpPr>
          <p:cNvPr id="554577405" name="Text 26"/>
          <p:cNvSpPr/>
          <p:nvPr/>
        </p:nvSpPr>
        <p:spPr bwMode="auto">
          <a:xfrm>
            <a:off x="9372600" y="4628356"/>
            <a:ext cx="819150" cy="228600"/>
          </a:xfrm>
          <a:prstGeom prst="rect">
            <a:avLst/>
          </a:prstGeom>
          <a:noFill/>
          <a:ln/>
        </p:spPr>
        <p:txBody>
          <a:bodyPr wrap="square" lIns="25400" tIns="25400" rIns="25400" bIns="25400" rtlCol="0" anchor="t">
            <a:normAutofit/>
          </a:bodyPr>
          <a:lstStyle/>
          <a:p>
            <a:pPr marL="0" indent="0" algn="r">
              <a:buNone/>
              <a:defRPr/>
            </a:pPr>
            <a:r>
              <a:rPr lang="en-US" sz="1150" b="1">
                <a:solidFill>
                  <a:srgbClr val="E58520"/>
                </a:solidFill>
                <a:latin typeface="Open Sans"/>
                <a:ea typeface="Open Sans"/>
                <a:cs typeface="Open Sans"/>
              </a:rPr>
              <a:t>2050</a:t>
            </a:r>
            <a:endParaRPr lang="en-US" sz="1150"/>
          </a:p>
        </p:txBody>
      </p:sp>
      <p:sp>
        <p:nvSpPr>
          <p:cNvPr id="406924288" name="Shape 27"/>
          <p:cNvSpPr/>
          <p:nvPr/>
        </p:nvSpPr>
        <p:spPr bwMode="auto">
          <a:xfrm>
            <a:off x="10344150" y="4599781"/>
            <a:ext cx="6381750" cy="247650"/>
          </a:xfrm>
          <a:prstGeom prst="rect">
            <a:avLst/>
          </a:prstGeom>
          <a:solidFill>
            <a:srgbClr val="F1F1EF"/>
          </a:solidFill>
          <a:ln/>
        </p:spPr>
      </p:sp>
      <p:sp>
        <p:nvSpPr>
          <p:cNvPr id="351537714" name="Shape 28"/>
          <p:cNvSpPr/>
          <p:nvPr/>
        </p:nvSpPr>
        <p:spPr bwMode="auto">
          <a:xfrm>
            <a:off x="10344150" y="4599781"/>
            <a:ext cx="1595438" cy="247650"/>
          </a:xfrm>
          <a:prstGeom prst="rect">
            <a:avLst/>
          </a:prstGeom>
          <a:solidFill>
            <a:srgbClr val="E58520"/>
          </a:solidFill>
          <a:ln/>
        </p:spPr>
      </p:sp>
      <p:sp>
        <p:nvSpPr>
          <p:cNvPr id="1716893775" name="Text 29"/>
          <p:cNvSpPr/>
          <p:nvPr/>
        </p:nvSpPr>
        <p:spPr bwMode="auto">
          <a:xfrm>
            <a:off x="16878300" y="4552156"/>
            <a:ext cx="876299" cy="381000"/>
          </a:xfrm>
          <a:prstGeom prst="rect">
            <a:avLst/>
          </a:prstGeom>
          <a:noFill/>
          <a:ln/>
        </p:spPr>
        <p:txBody>
          <a:bodyPr wrap="square" lIns="25400" tIns="25400" rIns="25400" bIns="25400" rtlCol="0" anchor="t">
            <a:normAutofit/>
          </a:bodyPr>
          <a:lstStyle/>
          <a:p>
            <a:pPr marL="0" indent="0" algn="l">
              <a:buNone/>
              <a:defRPr/>
            </a:pPr>
            <a:r>
              <a:rPr lang="en-US" sz="1950" b="1">
                <a:solidFill>
                  <a:srgbClr val="2E2E2E"/>
                </a:solidFill>
                <a:latin typeface="Open Sans"/>
                <a:ea typeface="Open Sans"/>
                <a:cs typeface="Open Sans"/>
              </a:rPr>
              <a:t>25%</a:t>
            </a:r>
            <a:endParaRPr lang="en-US" sz="1950"/>
          </a:p>
        </p:txBody>
      </p:sp>
      <p:sp>
        <p:nvSpPr>
          <p:cNvPr id="314437820" name="Text 30"/>
          <p:cNvSpPr/>
          <p:nvPr/>
        </p:nvSpPr>
        <p:spPr bwMode="auto">
          <a:xfrm>
            <a:off x="609600" y="7175182"/>
            <a:ext cx="3541046"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Open Sans"/>
                <a:ea typeface="Open Sans"/>
                <a:cs typeface="Open Sans"/>
              </a:rPr>
              <a:t>Energy trade balance </a:t>
            </a:r>
            <a:r>
              <a:rPr lang="en-US" sz="1300">
                <a:solidFill>
                  <a:srgbClr val="9B9DA0"/>
                </a:solidFill>
                <a:latin typeface="Noto Sans JP"/>
                <a:ea typeface="Noto Sans JP"/>
                <a:cs typeface="Noto Sans JP"/>
              </a:rPr>
              <a:t>経済収支</a:t>
            </a:r>
            <a:endParaRPr lang="en-US" sz="1900"/>
          </a:p>
        </p:txBody>
      </p:sp>
      <p:sp>
        <p:nvSpPr>
          <p:cNvPr id="1005414901" name="Text 31"/>
          <p:cNvSpPr/>
          <p:nvPr/>
        </p:nvSpPr>
        <p:spPr bwMode="auto">
          <a:xfrm>
            <a:off x="8225790" y="7218045"/>
            <a:ext cx="689610"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E58520"/>
                </a:solidFill>
                <a:latin typeface="Open Sans"/>
                <a:ea typeface="Open Sans"/>
                <a:cs typeface="Open Sans"/>
              </a:rPr>
              <a:t>flips +</a:t>
            </a:r>
            <a:endParaRPr lang="en-US" sz="1600"/>
          </a:p>
        </p:txBody>
      </p:sp>
      <p:sp>
        <p:nvSpPr>
          <p:cNvPr id="1232668362" name="Text 32"/>
          <p:cNvSpPr/>
          <p:nvPr/>
        </p:nvSpPr>
        <p:spPr bwMode="auto">
          <a:xfrm>
            <a:off x="533400" y="7684770"/>
            <a:ext cx="819150" cy="228600"/>
          </a:xfrm>
          <a:prstGeom prst="rect">
            <a:avLst/>
          </a:prstGeom>
          <a:noFill/>
          <a:ln/>
        </p:spPr>
        <p:txBody>
          <a:bodyPr wrap="square" lIns="25400" tIns="25400" rIns="25400" bIns="25400" rtlCol="0" anchor="t">
            <a:normAutofit/>
          </a:bodyPr>
          <a:lstStyle/>
          <a:p>
            <a:pPr marL="0" indent="0" algn="r">
              <a:buNone/>
              <a:defRPr/>
            </a:pPr>
            <a:r>
              <a:rPr lang="en-US" sz="1150" b="1">
                <a:solidFill>
                  <a:srgbClr val="A9ABAE"/>
                </a:solidFill>
                <a:latin typeface="Open Sans"/>
                <a:ea typeface="Open Sans"/>
                <a:cs typeface="Open Sans"/>
              </a:rPr>
              <a:t>TODAY</a:t>
            </a:r>
            <a:endParaRPr lang="en-US" sz="1150"/>
          </a:p>
        </p:txBody>
      </p:sp>
      <p:sp>
        <p:nvSpPr>
          <p:cNvPr id="516707417" name="Shape 33"/>
          <p:cNvSpPr/>
          <p:nvPr/>
        </p:nvSpPr>
        <p:spPr bwMode="auto">
          <a:xfrm>
            <a:off x="1504950" y="7656195"/>
            <a:ext cx="6381750" cy="247650"/>
          </a:xfrm>
          <a:prstGeom prst="rect">
            <a:avLst/>
          </a:prstGeom>
          <a:solidFill>
            <a:srgbClr val="F1F1EF"/>
          </a:solidFill>
          <a:ln/>
        </p:spPr>
      </p:sp>
      <p:sp>
        <p:nvSpPr>
          <p:cNvPr id="545898715" name="Shape 34"/>
          <p:cNvSpPr/>
          <p:nvPr/>
        </p:nvSpPr>
        <p:spPr bwMode="auto">
          <a:xfrm>
            <a:off x="4695825" y="7656195"/>
            <a:ext cx="19050" cy="247650"/>
          </a:xfrm>
          <a:prstGeom prst="rect">
            <a:avLst/>
          </a:prstGeom>
          <a:solidFill>
            <a:srgbClr val="2E2E2E"/>
          </a:solidFill>
          <a:ln/>
        </p:spPr>
      </p:sp>
      <p:sp>
        <p:nvSpPr>
          <p:cNvPr id="1730195983" name="Shape 35"/>
          <p:cNvSpPr/>
          <p:nvPr/>
        </p:nvSpPr>
        <p:spPr bwMode="auto">
          <a:xfrm>
            <a:off x="2589847" y="7656195"/>
            <a:ext cx="2105978" cy="247650"/>
          </a:xfrm>
          <a:prstGeom prst="rect">
            <a:avLst/>
          </a:prstGeom>
          <a:solidFill>
            <a:srgbClr val="C7C9CB"/>
          </a:solidFill>
          <a:ln/>
        </p:spPr>
      </p:sp>
      <p:sp>
        <p:nvSpPr>
          <p:cNvPr id="1988655613" name="Text 36"/>
          <p:cNvSpPr/>
          <p:nvPr/>
        </p:nvSpPr>
        <p:spPr bwMode="auto">
          <a:xfrm>
            <a:off x="8039100" y="7651432"/>
            <a:ext cx="876299" cy="295274"/>
          </a:xfrm>
          <a:prstGeom prst="rect">
            <a:avLst/>
          </a:prstGeom>
          <a:noFill/>
          <a:ln/>
        </p:spPr>
        <p:txBody>
          <a:bodyPr wrap="square" lIns="25400" tIns="25400" rIns="25400" bIns="25400" rtlCol="0" anchor="t">
            <a:normAutofit/>
          </a:bodyPr>
          <a:lstStyle/>
          <a:p>
            <a:pPr marL="0" indent="0" algn="l">
              <a:buNone/>
              <a:defRPr/>
            </a:pPr>
            <a:r>
              <a:rPr lang="en-US" sz="1350" b="1">
                <a:solidFill>
                  <a:srgbClr val="6E7174"/>
                </a:solidFill>
                <a:latin typeface="Open Sans"/>
                <a:ea typeface="Open Sans"/>
                <a:cs typeface="Open Sans"/>
              </a:rPr>
              <a:t>−¥2.0億</a:t>
            </a:r>
            <a:endParaRPr lang="en-US" sz="1350"/>
          </a:p>
        </p:txBody>
      </p:sp>
      <p:sp>
        <p:nvSpPr>
          <p:cNvPr id="1131591877" name="Text 37"/>
          <p:cNvSpPr/>
          <p:nvPr/>
        </p:nvSpPr>
        <p:spPr bwMode="auto">
          <a:xfrm>
            <a:off x="533400" y="8222932"/>
            <a:ext cx="819150" cy="228600"/>
          </a:xfrm>
          <a:prstGeom prst="rect">
            <a:avLst/>
          </a:prstGeom>
          <a:noFill/>
          <a:ln/>
        </p:spPr>
        <p:txBody>
          <a:bodyPr wrap="square" lIns="25400" tIns="25400" rIns="25400" bIns="25400" rtlCol="0" anchor="t">
            <a:normAutofit/>
          </a:bodyPr>
          <a:lstStyle/>
          <a:p>
            <a:pPr marL="0" indent="0" algn="r">
              <a:buNone/>
              <a:defRPr/>
            </a:pPr>
            <a:r>
              <a:rPr lang="en-US" sz="1150" b="1">
                <a:solidFill>
                  <a:srgbClr val="E58520"/>
                </a:solidFill>
                <a:latin typeface="Open Sans"/>
                <a:ea typeface="Open Sans"/>
                <a:cs typeface="Open Sans"/>
              </a:rPr>
              <a:t>2050</a:t>
            </a:r>
            <a:endParaRPr lang="en-US" sz="1150"/>
          </a:p>
        </p:txBody>
      </p:sp>
      <p:sp>
        <p:nvSpPr>
          <p:cNvPr id="658846602" name="Shape 38"/>
          <p:cNvSpPr/>
          <p:nvPr/>
        </p:nvSpPr>
        <p:spPr bwMode="auto">
          <a:xfrm>
            <a:off x="1504950" y="8194357"/>
            <a:ext cx="6381750" cy="247650"/>
          </a:xfrm>
          <a:prstGeom prst="rect">
            <a:avLst/>
          </a:prstGeom>
          <a:solidFill>
            <a:srgbClr val="F1F1EF"/>
          </a:solidFill>
          <a:ln/>
        </p:spPr>
      </p:sp>
      <p:sp>
        <p:nvSpPr>
          <p:cNvPr id="1615907615" name="Shape 39"/>
          <p:cNvSpPr/>
          <p:nvPr/>
        </p:nvSpPr>
        <p:spPr bwMode="auto">
          <a:xfrm>
            <a:off x="4695825" y="8194357"/>
            <a:ext cx="19050" cy="247650"/>
          </a:xfrm>
          <a:prstGeom prst="rect">
            <a:avLst/>
          </a:prstGeom>
          <a:solidFill>
            <a:srgbClr val="2E2E2E"/>
          </a:solidFill>
          <a:ln/>
        </p:spPr>
      </p:sp>
      <p:sp>
        <p:nvSpPr>
          <p:cNvPr id="1703777408" name="Shape 40"/>
          <p:cNvSpPr/>
          <p:nvPr/>
        </p:nvSpPr>
        <p:spPr bwMode="auto">
          <a:xfrm>
            <a:off x="4695825" y="8194357"/>
            <a:ext cx="829628" cy="247650"/>
          </a:xfrm>
          <a:prstGeom prst="rect">
            <a:avLst/>
          </a:prstGeom>
          <a:solidFill>
            <a:srgbClr val="E58520"/>
          </a:solidFill>
          <a:ln/>
        </p:spPr>
      </p:sp>
      <p:sp>
        <p:nvSpPr>
          <p:cNvPr id="1775048045" name="Text 41"/>
          <p:cNvSpPr/>
          <p:nvPr/>
        </p:nvSpPr>
        <p:spPr bwMode="auto">
          <a:xfrm>
            <a:off x="8039100" y="7994332"/>
            <a:ext cx="876299" cy="685800"/>
          </a:xfrm>
          <a:prstGeom prst="rect">
            <a:avLst/>
          </a:prstGeom>
          <a:noFill/>
          <a:ln/>
        </p:spPr>
        <p:txBody>
          <a:bodyPr wrap="square" lIns="25400" tIns="25400" rIns="25400" bIns="25400" rtlCol="0" anchor="t">
            <a:normAutofit/>
          </a:bodyPr>
          <a:lstStyle/>
          <a:p>
            <a:pPr marL="0" indent="0" algn="l">
              <a:buNone/>
              <a:defRPr/>
            </a:pPr>
            <a:r>
              <a:rPr lang="en-US" sz="1800" b="1">
                <a:solidFill>
                  <a:srgbClr val="2E2E2E"/>
                </a:solidFill>
                <a:latin typeface="Open Sans"/>
                <a:ea typeface="Open Sans"/>
                <a:cs typeface="Open Sans"/>
              </a:rPr>
              <a:t>+¥0.8億</a:t>
            </a:r>
            <a:endParaRPr lang="en-US" sz="1800"/>
          </a:p>
        </p:txBody>
      </p:sp>
      <p:sp>
        <p:nvSpPr>
          <p:cNvPr id="1498261173" name="Text 42"/>
          <p:cNvSpPr/>
          <p:nvPr/>
        </p:nvSpPr>
        <p:spPr bwMode="auto">
          <a:xfrm>
            <a:off x="9448799" y="7327582"/>
            <a:ext cx="3369739" cy="36195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Open Sans"/>
                <a:ea typeface="Open Sans"/>
                <a:cs typeface="Open Sans"/>
              </a:rPr>
              <a:t>Energy-related CO₂ </a:t>
            </a:r>
            <a:r>
              <a:rPr lang="en-US" sz="1300">
                <a:solidFill>
                  <a:srgbClr val="9B9DA0"/>
                </a:solidFill>
                <a:latin typeface="Noto Sans JP"/>
                <a:ea typeface="Noto Sans JP"/>
                <a:cs typeface="Noto Sans JP"/>
              </a:rPr>
              <a:t>CO₂排出量</a:t>
            </a:r>
            <a:endParaRPr lang="en-US" sz="1900"/>
          </a:p>
        </p:txBody>
      </p:sp>
      <p:sp>
        <p:nvSpPr>
          <p:cNvPr id="1925784577" name="Text 43"/>
          <p:cNvSpPr/>
          <p:nvPr/>
        </p:nvSpPr>
        <p:spPr bwMode="auto">
          <a:xfrm>
            <a:off x="16935450" y="7370445"/>
            <a:ext cx="819150"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E58520"/>
                </a:solidFill>
                <a:latin typeface="Open Sans"/>
                <a:ea typeface="Open Sans"/>
                <a:cs typeface="Open Sans"/>
              </a:rPr>
              <a:t>▼ −73%</a:t>
            </a:r>
            <a:endParaRPr lang="en-US" sz="1600"/>
          </a:p>
        </p:txBody>
      </p:sp>
      <p:sp>
        <p:nvSpPr>
          <p:cNvPr id="190165463" name="Text 44"/>
          <p:cNvSpPr/>
          <p:nvPr/>
        </p:nvSpPr>
        <p:spPr bwMode="auto">
          <a:xfrm>
            <a:off x="9372600" y="7837170"/>
            <a:ext cx="819150" cy="228600"/>
          </a:xfrm>
          <a:prstGeom prst="rect">
            <a:avLst/>
          </a:prstGeom>
          <a:noFill/>
          <a:ln/>
        </p:spPr>
        <p:txBody>
          <a:bodyPr wrap="square" lIns="25400" tIns="25400" rIns="25400" bIns="25400" rtlCol="0" anchor="t">
            <a:normAutofit/>
          </a:bodyPr>
          <a:lstStyle/>
          <a:p>
            <a:pPr marL="0" indent="0" algn="r">
              <a:buNone/>
              <a:defRPr/>
            </a:pPr>
            <a:r>
              <a:rPr lang="en-US" sz="1150" b="1">
                <a:solidFill>
                  <a:srgbClr val="A9ABAE"/>
                </a:solidFill>
                <a:latin typeface="Open Sans"/>
                <a:ea typeface="Open Sans"/>
                <a:cs typeface="Open Sans"/>
              </a:rPr>
              <a:t>TODAY</a:t>
            </a:r>
            <a:endParaRPr lang="en-US" sz="1150"/>
          </a:p>
        </p:txBody>
      </p:sp>
      <p:sp>
        <p:nvSpPr>
          <p:cNvPr id="674162998" name="Shape 45"/>
          <p:cNvSpPr/>
          <p:nvPr/>
        </p:nvSpPr>
        <p:spPr bwMode="auto">
          <a:xfrm>
            <a:off x="10344150" y="7808595"/>
            <a:ext cx="6381750" cy="247650"/>
          </a:xfrm>
          <a:prstGeom prst="rect">
            <a:avLst/>
          </a:prstGeom>
          <a:solidFill>
            <a:srgbClr val="F1F1EF"/>
          </a:solidFill>
          <a:ln/>
        </p:spPr>
      </p:sp>
      <p:sp>
        <p:nvSpPr>
          <p:cNvPr id="638540642" name="Shape 46"/>
          <p:cNvSpPr/>
          <p:nvPr/>
        </p:nvSpPr>
        <p:spPr bwMode="auto">
          <a:xfrm>
            <a:off x="10344150" y="7808595"/>
            <a:ext cx="5871210" cy="247650"/>
          </a:xfrm>
          <a:prstGeom prst="rect">
            <a:avLst/>
          </a:prstGeom>
          <a:solidFill>
            <a:srgbClr val="C7C9CB"/>
          </a:solidFill>
          <a:ln/>
        </p:spPr>
      </p:sp>
      <p:sp>
        <p:nvSpPr>
          <p:cNvPr id="91272387" name="Text 47"/>
          <p:cNvSpPr/>
          <p:nvPr/>
        </p:nvSpPr>
        <p:spPr bwMode="auto">
          <a:xfrm>
            <a:off x="16878300" y="7803832"/>
            <a:ext cx="876299" cy="295274"/>
          </a:xfrm>
          <a:prstGeom prst="rect">
            <a:avLst/>
          </a:prstGeom>
          <a:noFill/>
          <a:ln/>
        </p:spPr>
        <p:txBody>
          <a:bodyPr wrap="square" lIns="25400" tIns="25400" rIns="25400" bIns="25400" rtlCol="0" anchor="t">
            <a:normAutofit/>
          </a:bodyPr>
          <a:lstStyle/>
          <a:p>
            <a:pPr marL="0" indent="0" algn="l">
              <a:buNone/>
              <a:defRPr/>
            </a:pPr>
            <a:r>
              <a:rPr lang="en-US" sz="1500" b="1">
                <a:solidFill>
                  <a:srgbClr val="6E7174"/>
                </a:solidFill>
                <a:latin typeface="Open Sans"/>
                <a:ea typeface="Open Sans"/>
                <a:cs typeface="Open Sans"/>
              </a:rPr>
              <a:t>11 kt</a:t>
            </a:r>
            <a:endParaRPr lang="en-US" sz="1500"/>
          </a:p>
        </p:txBody>
      </p:sp>
      <p:sp>
        <p:nvSpPr>
          <p:cNvPr id="1203133747" name="Text 48"/>
          <p:cNvSpPr/>
          <p:nvPr/>
        </p:nvSpPr>
        <p:spPr bwMode="auto">
          <a:xfrm>
            <a:off x="9372600" y="8222932"/>
            <a:ext cx="819150" cy="228600"/>
          </a:xfrm>
          <a:prstGeom prst="rect">
            <a:avLst/>
          </a:prstGeom>
          <a:noFill/>
          <a:ln/>
        </p:spPr>
        <p:txBody>
          <a:bodyPr wrap="square" lIns="25400" tIns="25400" rIns="25400" bIns="25400" rtlCol="0" anchor="t">
            <a:normAutofit/>
          </a:bodyPr>
          <a:lstStyle/>
          <a:p>
            <a:pPr marL="0" indent="0" algn="r">
              <a:buNone/>
              <a:defRPr/>
            </a:pPr>
            <a:r>
              <a:rPr lang="en-US" sz="1150" b="1">
                <a:solidFill>
                  <a:srgbClr val="E58520"/>
                </a:solidFill>
                <a:latin typeface="Open Sans"/>
                <a:ea typeface="Open Sans"/>
                <a:cs typeface="Open Sans"/>
              </a:rPr>
              <a:t>2050</a:t>
            </a:r>
            <a:endParaRPr lang="en-US" sz="1150"/>
          </a:p>
        </p:txBody>
      </p:sp>
      <p:sp>
        <p:nvSpPr>
          <p:cNvPr id="590634814" name="Shape 49"/>
          <p:cNvSpPr/>
          <p:nvPr/>
        </p:nvSpPr>
        <p:spPr bwMode="auto">
          <a:xfrm>
            <a:off x="10344150" y="8194357"/>
            <a:ext cx="6381750" cy="247650"/>
          </a:xfrm>
          <a:prstGeom prst="rect">
            <a:avLst/>
          </a:prstGeom>
          <a:solidFill>
            <a:srgbClr val="F1F1EF"/>
          </a:solidFill>
          <a:ln/>
        </p:spPr>
      </p:sp>
      <p:sp>
        <p:nvSpPr>
          <p:cNvPr id="1553729688" name="Shape 50"/>
          <p:cNvSpPr/>
          <p:nvPr/>
        </p:nvSpPr>
        <p:spPr bwMode="auto">
          <a:xfrm>
            <a:off x="10344150" y="8194357"/>
            <a:ext cx="1595438" cy="247650"/>
          </a:xfrm>
          <a:prstGeom prst="rect">
            <a:avLst/>
          </a:prstGeom>
          <a:solidFill>
            <a:srgbClr val="E58520"/>
          </a:solidFill>
          <a:ln/>
        </p:spPr>
      </p:sp>
      <p:sp>
        <p:nvSpPr>
          <p:cNvPr id="2031778765" name="Text 51"/>
          <p:cNvSpPr/>
          <p:nvPr/>
        </p:nvSpPr>
        <p:spPr bwMode="auto">
          <a:xfrm>
            <a:off x="16878300" y="8146731"/>
            <a:ext cx="876299" cy="381000"/>
          </a:xfrm>
          <a:prstGeom prst="rect">
            <a:avLst/>
          </a:prstGeom>
          <a:noFill/>
          <a:ln/>
        </p:spPr>
        <p:txBody>
          <a:bodyPr wrap="square" lIns="25400" tIns="25400" rIns="25400" bIns="25400" rtlCol="0" anchor="t">
            <a:normAutofit/>
          </a:bodyPr>
          <a:lstStyle/>
          <a:p>
            <a:pPr marL="0" indent="0" algn="l">
              <a:buNone/>
              <a:defRPr/>
            </a:pPr>
            <a:r>
              <a:rPr lang="en-US" sz="1950" b="1">
                <a:solidFill>
                  <a:srgbClr val="2E2E2E"/>
                </a:solidFill>
                <a:latin typeface="Open Sans"/>
                <a:ea typeface="Open Sans"/>
                <a:cs typeface="Open Sans"/>
              </a:rPr>
              <a:t>3 kt</a:t>
            </a:r>
            <a:endParaRPr lang="en-US" sz="1950"/>
          </a:p>
        </p:txBody>
      </p:sp>
      <p:sp>
        <p:nvSpPr>
          <p:cNvPr id="50085506" name="Text 52"/>
          <p:cNvSpPr/>
          <p:nvPr/>
        </p:nvSpPr>
        <p:spPr bwMode="auto">
          <a:xfrm>
            <a:off x="609600" y="9563100"/>
            <a:ext cx="18775680" cy="228600"/>
          </a:xfrm>
          <a:prstGeom prst="rect">
            <a:avLst/>
          </a:prstGeom>
          <a:noFill/>
          <a:ln/>
        </p:spPr>
        <p:txBody>
          <a:bodyPr wrap="square" lIns="25400" tIns="25400" rIns="25400" bIns="25400" rtlCol="0" anchor="t">
            <a:normAutofit/>
          </a:bodyPr>
          <a:lstStyle/>
          <a:p>
            <a:pPr marL="0" indent="0" algn="l">
              <a:buNone/>
              <a:defRPr/>
            </a:pPr>
            <a:r>
              <a:rPr lang="en-US" sz="1000" b="1" spc="20">
                <a:solidFill>
                  <a:srgbClr val="A9ABAE"/>
                </a:solidFill>
                <a:latin typeface="Open Sans"/>
                <a:ea typeface="Open Sans"/>
                <a:cs typeface="Open Sans"/>
              </a:rPr>
              <a:t>Indicators: Japan Energy Database (Tohoku University, CC BY-NC). Mitsue values illustrative — confirm via Future Energy Simulator. 出典：地域エネルギー需給データベース／数値は試算</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AFAF9"/>
        </a:solidFill>
      </p:bgPr>
    </p:bg>
    <p:spTree>
      <p:nvGrpSpPr>
        <p:cNvPr id="1" name=""/>
        <p:cNvGrpSpPr/>
        <p:nvPr/>
      </p:nvGrpSpPr>
      <p:grpSpPr bwMode="auto">
        <a:xfrm>
          <a:off x="0" y="0"/>
          <a:ext cx="0" cy="0"/>
          <a:chOff x="0" y="0"/>
          <a:chExt cx="0" cy="0"/>
        </a:xfrm>
      </p:grpSpPr>
      <p:sp>
        <p:nvSpPr>
          <p:cNvPr id="790455753" name="Shape 0"/>
          <p:cNvSpPr/>
          <p:nvPr/>
        </p:nvSpPr>
        <p:spPr bwMode="auto">
          <a:xfrm>
            <a:off x="0" y="0"/>
            <a:ext cx="18288000" cy="76200"/>
          </a:xfrm>
          <a:prstGeom prst="rect">
            <a:avLst/>
          </a:prstGeom>
          <a:solidFill>
            <a:srgbClr val="9B9DA0"/>
          </a:solidFill>
          <a:ln/>
        </p:spPr>
      </p:sp>
      <p:sp>
        <p:nvSpPr>
          <p:cNvPr id="1727218736" name="Shape 1"/>
          <p:cNvSpPr/>
          <p:nvPr/>
        </p:nvSpPr>
        <p:spPr bwMode="auto">
          <a:xfrm>
            <a:off x="609600" y="895350"/>
            <a:ext cx="438149" cy="47625"/>
          </a:xfrm>
          <a:prstGeom prst="rect">
            <a:avLst/>
          </a:prstGeom>
          <a:solidFill>
            <a:srgbClr val="E58520"/>
          </a:solidFill>
          <a:ln/>
        </p:spPr>
      </p:sp>
      <p:sp>
        <p:nvSpPr>
          <p:cNvPr id="217223484" name="Text 2"/>
          <p:cNvSpPr/>
          <p:nvPr/>
        </p:nvSpPr>
        <p:spPr bwMode="auto">
          <a:xfrm>
            <a:off x="1181099" y="800100"/>
            <a:ext cx="3725450"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FIVE RETURNS · 五つのリターン · 09</a:t>
            </a:r>
            <a:endParaRPr lang="en-US" sz="1300"/>
          </a:p>
        </p:txBody>
      </p:sp>
      <p:sp>
        <p:nvSpPr>
          <p:cNvPr id="1202855868" name="Text 3"/>
          <p:cNvSpPr/>
          <p:nvPr/>
        </p:nvSpPr>
        <p:spPr bwMode="auto">
          <a:xfrm>
            <a:off x="609600" y="1247775"/>
            <a:ext cx="18775680" cy="665956"/>
          </a:xfrm>
          <a:prstGeom prst="rect">
            <a:avLst/>
          </a:prstGeom>
          <a:noFill/>
          <a:ln/>
        </p:spPr>
        <p:txBody>
          <a:bodyPr wrap="square" lIns="25400" tIns="25400" rIns="25400" bIns="25400" rtlCol="0" anchor="t">
            <a:normAutofit/>
          </a:bodyPr>
          <a:lstStyle/>
          <a:p>
            <a:pPr marL="0" indent="0" algn="l">
              <a:lnSpc>
                <a:spcPct val="102994"/>
              </a:lnSpc>
              <a:buNone/>
              <a:defRPr/>
            </a:pPr>
            <a:r>
              <a:rPr lang="en-US" sz="4800" b="1" spc="-47">
                <a:solidFill>
                  <a:srgbClr val="2E2E2E"/>
                </a:solidFill>
                <a:latin typeface="Sora"/>
                <a:ea typeface="Sora"/>
                <a:cs typeface="Sora"/>
              </a:rPr>
              <a:t>One investment, five returns</a:t>
            </a:r>
            <a:endParaRPr lang="en-US" sz="4800"/>
          </a:p>
        </p:txBody>
      </p:sp>
      <p:sp>
        <p:nvSpPr>
          <p:cNvPr id="1076389948" name="Text 4"/>
          <p:cNvSpPr/>
          <p:nvPr/>
        </p:nvSpPr>
        <p:spPr bwMode="auto">
          <a:xfrm>
            <a:off x="609600" y="1970881"/>
            <a:ext cx="18775680" cy="409575"/>
          </a:xfrm>
          <a:prstGeom prst="rect">
            <a:avLst/>
          </a:prstGeom>
          <a:noFill/>
          <a:ln/>
        </p:spPr>
        <p:txBody>
          <a:bodyPr wrap="square" lIns="25400" tIns="25400" rIns="25400" bIns="25400" rtlCol="0" anchor="t">
            <a:normAutofit/>
          </a:bodyPr>
          <a:lstStyle/>
          <a:p>
            <a:pPr marL="0" indent="0" algn="l">
              <a:buNone/>
              <a:defRPr/>
            </a:pPr>
            <a:r>
              <a:rPr lang="en-US" sz="1950">
                <a:solidFill>
                  <a:srgbClr val="6E7174"/>
                </a:solidFill>
                <a:latin typeface="Noto Sans JP"/>
                <a:ea typeface="Noto Sans JP"/>
                <a:cs typeface="Noto Sans JP"/>
              </a:rPr>
              <a:t>一つの投資が、五つのリターンを生む。</a:t>
            </a:r>
            <a:endParaRPr lang="en-US" sz="1950"/>
          </a:p>
        </p:txBody>
      </p:sp>
      <p:sp>
        <p:nvSpPr>
          <p:cNvPr id="1772092235" name="Shape 5"/>
          <p:cNvSpPr/>
          <p:nvPr/>
        </p:nvSpPr>
        <p:spPr bwMode="auto">
          <a:xfrm>
            <a:off x="609600" y="2742406"/>
            <a:ext cx="3249930" cy="6858794"/>
          </a:xfrm>
          <a:prstGeom prst="rect">
            <a:avLst/>
          </a:prstGeom>
          <a:solidFill>
            <a:srgbClr val="FFFFFF"/>
          </a:solidFill>
          <a:ln/>
        </p:spPr>
      </p:sp>
      <p:sp>
        <p:nvSpPr>
          <p:cNvPr id="1507059898" name="Shape 6"/>
          <p:cNvSpPr/>
          <p:nvPr/>
        </p:nvSpPr>
        <p:spPr bwMode="auto">
          <a:xfrm>
            <a:off x="609600" y="9591674"/>
            <a:ext cx="3249930" cy="9525"/>
          </a:xfrm>
          <a:prstGeom prst="rect">
            <a:avLst/>
          </a:prstGeom>
          <a:solidFill>
            <a:srgbClr val="E6E6E2"/>
          </a:solidFill>
          <a:ln/>
        </p:spPr>
      </p:sp>
      <p:sp>
        <p:nvSpPr>
          <p:cNvPr id="862860868" name="Shape 7"/>
          <p:cNvSpPr/>
          <p:nvPr/>
        </p:nvSpPr>
        <p:spPr bwMode="auto">
          <a:xfrm>
            <a:off x="609600" y="2742406"/>
            <a:ext cx="3249930" cy="47625"/>
          </a:xfrm>
          <a:prstGeom prst="rect">
            <a:avLst/>
          </a:prstGeom>
          <a:solidFill>
            <a:srgbClr val="3C4A2E"/>
          </a:solidFill>
          <a:ln/>
        </p:spPr>
      </p:sp>
      <p:sp>
        <p:nvSpPr>
          <p:cNvPr id="410856959" name="Shape 8"/>
          <p:cNvSpPr/>
          <p:nvPr/>
        </p:nvSpPr>
        <p:spPr bwMode="auto">
          <a:xfrm>
            <a:off x="609600" y="2742406"/>
            <a:ext cx="9525" cy="6858794"/>
          </a:xfrm>
          <a:prstGeom prst="rect">
            <a:avLst/>
          </a:prstGeom>
          <a:solidFill>
            <a:srgbClr val="E6E6E2"/>
          </a:solidFill>
          <a:ln/>
        </p:spPr>
      </p:sp>
      <p:sp>
        <p:nvSpPr>
          <p:cNvPr id="1508886877" name="Shape 9"/>
          <p:cNvSpPr/>
          <p:nvPr/>
        </p:nvSpPr>
        <p:spPr bwMode="auto">
          <a:xfrm>
            <a:off x="3850005" y="2742406"/>
            <a:ext cx="9525" cy="6858794"/>
          </a:xfrm>
          <a:prstGeom prst="rect">
            <a:avLst/>
          </a:prstGeom>
          <a:solidFill>
            <a:srgbClr val="E6E6E2"/>
          </a:solidFill>
          <a:ln/>
        </p:spPr>
      </p:sp>
      <p:sp>
        <p:nvSpPr>
          <p:cNvPr id="814441139" name="Text 10"/>
          <p:cNvSpPr/>
          <p:nvPr/>
        </p:nvSpPr>
        <p:spPr bwMode="auto">
          <a:xfrm>
            <a:off x="866775" y="3094831"/>
            <a:ext cx="3009138" cy="34290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Sora"/>
                <a:ea typeface="Sora"/>
                <a:cs typeface="Sora"/>
              </a:rPr>
              <a:t>Ecological</a:t>
            </a:r>
            <a:endParaRPr lang="en-US" sz="1900"/>
          </a:p>
        </p:txBody>
      </p:sp>
      <p:sp>
        <p:nvSpPr>
          <p:cNvPr id="932847042" name="Text 11"/>
          <p:cNvSpPr/>
          <p:nvPr/>
        </p:nvSpPr>
        <p:spPr bwMode="auto">
          <a:xfrm>
            <a:off x="866775" y="3437731"/>
            <a:ext cx="3009138" cy="276225"/>
          </a:xfrm>
          <a:prstGeom prst="rect">
            <a:avLst/>
          </a:prstGeom>
          <a:noFill/>
          <a:ln/>
        </p:spPr>
        <p:txBody>
          <a:bodyPr wrap="square" lIns="25400" tIns="25400" rIns="25400" bIns="25400" rtlCol="0" anchor="t">
            <a:normAutofit/>
          </a:bodyPr>
          <a:lstStyle/>
          <a:p>
            <a:pPr marL="0" indent="0" algn="l">
              <a:buNone/>
              <a:defRPr/>
            </a:pPr>
            <a:r>
              <a:rPr lang="en-US" sz="1300" b="1">
                <a:solidFill>
                  <a:srgbClr val="9B9DA0"/>
                </a:solidFill>
                <a:latin typeface="Noto Sans JP"/>
                <a:ea typeface="Noto Sans JP"/>
                <a:cs typeface="Noto Sans JP"/>
              </a:rPr>
              <a:t>生態系</a:t>
            </a:r>
            <a:endParaRPr lang="en-US" sz="1300"/>
          </a:p>
        </p:txBody>
      </p:sp>
      <p:sp>
        <p:nvSpPr>
          <p:cNvPr id="1963160959" name="Text 12"/>
          <p:cNvSpPr/>
          <p:nvPr/>
        </p:nvSpPr>
        <p:spPr bwMode="auto">
          <a:xfrm>
            <a:off x="866775" y="8458200"/>
            <a:ext cx="2817648" cy="866775"/>
          </a:xfrm>
          <a:prstGeom prst="rect">
            <a:avLst/>
          </a:prstGeom>
          <a:noFill/>
          <a:ln/>
        </p:spPr>
        <p:txBody>
          <a:bodyPr wrap="square" lIns="25400" tIns="25400" rIns="25400" bIns="25400" rtlCol="0" anchor="t">
            <a:normAutofit/>
          </a:bodyPr>
          <a:lstStyle/>
          <a:p>
            <a:pPr marL="0" indent="0" algn="l">
              <a:lnSpc>
                <a:spcPct val="145000"/>
              </a:lnSpc>
              <a:buNone/>
              <a:defRPr/>
            </a:pPr>
            <a:r>
              <a:rPr lang="en-US" sz="1500">
                <a:solidFill>
                  <a:srgbClr val="4A4A4A"/>
                </a:solidFill>
                <a:latin typeface="Open Sans"/>
                <a:ea typeface="Open Sans"/>
                <a:cs typeface="Open Sans"/>
              </a:rPr>
              <a:t>Restored watershed, biodiversity, carbon drawdown.</a:t>
            </a:r>
            <a:endParaRPr lang="en-US" sz="1500"/>
          </a:p>
        </p:txBody>
      </p:sp>
      <p:sp>
        <p:nvSpPr>
          <p:cNvPr id="2069161340" name="Shape 13"/>
          <p:cNvSpPr/>
          <p:nvPr/>
        </p:nvSpPr>
        <p:spPr bwMode="auto">
          <a:xfrm>
            <a:off x="4069080" y="2742406"/>
            <a:ext cx="3249930" cy="6858794"/>
          </a:xfrm>
          <a:prstGeom prst="rect">
            <a:avLst/>
          </a:prstGeom>
          <a:solidFill>
            <a:srgbClr val="FFFFFF"/>
          </a:solidFill>
          <a:ln/>
        </p:spPr>
      </p:sp>
      <p:sp>
        <p:nvSpPr>
          <p:cNvPr id="134301460" name="Shape 14"/>
          <p:cNvSpPr/>
          <p:nvPr/>
        </p:nvSpPr>
        <p:spPr bwMode="auto">
          <a:xfrm>
            <a:off x="4069080" y="9591674"/>
            <a:ext cx="3249930" cy="9525"/>
          </a:xfrm>
          <a:prstGeom prst="rect">
            <a:avLst/>
          </a:prstGeom>
          <a:solidFill>
            <a:srgbClr val="E6E6E2"/>
          </a:solidFill>
          <a:ln/>
        </p:spPr>
      </p:sp>
      <p:sp>
        <p:nvSpPr>
          <p:cNvPr id="1376757105" name="Shape 15"/>
          <p:cNvSpPr/>
          <p:nvPr/>
        </p:nvSpPr>
        <p:spPr bwMode="auto">
          <a:xfrm>
            <a:off x="4069080" y="2742406"/>
            <a:ext cx="3249930" cy="47625"/>
          </a:xfrm>
          <a:prstGeom prst="rect">
            <a:avLst/>
          </a:prstGeom>
          <a:solidFill>
            <a:srgbClr val="6E7174"/>
          </a:solidFill>
          <a:ln/>
        </p:spPr>
      </p:sp>
      <p:sp>
        <p:nvSpPr>
          <p:cNvPr id="963069054" name="Shape 16"/>
          <p:cNvSpPr/>
          <p:nvPr/>
        </p:nvSpPr>
        <p:spPr bwMode="auto">
          <a:xfrm>
            <a:off x="4069080" y="2742406"/>
            <a:ext cx="9525" cy="6858794"/>
          </a:xfrm>
          <a:prstGeom prst="rect">
            <a:avLst/>
          </a:prstGeom>
          <a:solidFill>
            <a:srgbClr val="E6E6E2"/>
          </a:solidFill>
          <a:ln/>
        </p:spPr>
      </p:sp>
      <p:sp>
        <p:nvSpPr>
          <p:cNvPr id="1713766102" name="Shape 17"/>
          <p:cNvSpPr/>
          <p:nvPr/>
        </p:nvSpPr>
        <p:spPr bwMode="auto">
          <a:xfrm>
            <a:off x="7309485" y="2742406"/>
            <a:ext cx="9525" cy="6858794"/>
          </a:xfrm>
          <a:prstGeom prst="rect">
            <a:avLst/>
          </a:prstGeom>
          <a:solidFill>
            <a:srgbClr val="E6E6E2"/>
          </a:solidFill>
          <a:ln/>
        </p:spPr>
      </p:sp>
      <p:sp>
        <p:nvSpPr>
          <p:cNvPr id="656082676" name="Text 18"/>
          <p:cNvSpPr/>
          <p:nvPr/>
        </p:nvSpPr>
        <p:spPr bwMode="auto">
          <a:xfrm>
            <a:off x="4326255" y="3094831"/>
            <a:ext cx="3009138" cy="34290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Sora"/>
                <a:ea typeface="Sora"/>
                <a:cs typeface="Sora"/>
              </a:rPr>
              <a:t>Energy</a:t>
            </a:r>
            <a:endParaRPr lang="en-US" sz="1900"/>
          </a:p>
        </p:txBody>
      </p:sp>
      <p:sp>
        <p:nvSpPr>
          <p:cNvPr id="334863347" name="Text 19"/>
          <p:cNvSpPr/>
          <p:nvPr/>
        </p:nvSpPr>
        <p:spPr bwMode="auto">
          <a:xfrm>
            <a:off x="4326255" y="3437731"/>
            <a:ext cx="3009138" cy="276225"/>
          </a:xfrm>
          <a:prstGeom prst="rect">
            <a:avLst/>
          </a:prstGeom>
          <a:noFill/>
          <a:ln/>
        </p:spPr>
        <p:txBody>
          <a:bodyPr wrap="square" lIns="25400" tIns="25400" rIns="25400" bIns="25400" rtlCol="0" anchor="t">
            <a:normAutofit/>
          </a:bodyPr>
          <a:lstStyle/>
          <a:p>
            <a:pPr marL="0" indent="0" algn="l">
              <a:buNone/>
              <a:defRPr/>
            </a:pPr>
            <a:r>
              <a:rPr lang="en-US" sz="1300" b="1">
                <a:solidFill>
                  <a:srgbClr val="9B9DA0"/>
                </a:solidFill>
                <a:latin typeface="Noto Sans JP"/>
                <a:ea typeface="Noto Sans JP"/>
                <a:cs typeface="Noto Sans JP"/>
              </a:rPr>
              <a:t>エネルギー</a:t>
            </a:r>
            <a:endParaRPr lang="en-US" sz="1300"/>
          </a:p>
        </p:txBody>
      </p:sp>
      <p:sp>
        <p:nvSpPr>
          <p:cNvPr id="204747229" name="Text 20"/>
          <p:cNvSpPr/>
          <p:nvPr/>
        </p:nvSpPr>
        <p:spPr bwMode="auto">
          <a:xfrm>
            <a:off x="4326255" y="8734425"/>
            <a:ext cx="2817648" cy="590549"/>
          </a:xfrm>
          <a:prstGeom prst="rect">
            <a:avLst/>
          </a:prstGeom>
          <a:noFill/>
          <a:ln/>
        </p:spPr>
        <p:txBody>
          <a:bodyPr wrap="square" lIns="25400" tIns="25400" rIns="25400" bIns="25400" rtlCol="0" anchor="t">
            <a:normAutofit/>
          </a:bodyPr>
          <a:lstStyle/>
          <a:p>
            <a:pPr marL="0" indent="0" algn="l">
              <a:lnSpc>
                <a:spcPct val="145000"/>
              </a:lnSpc>
              <a:buNone/>
              <a:defRPr/>
            </a:pPr>
            <a:r>
              <a:rPr lang="en-US" sz="1500">
                <a:solidFill>
                  <a:srgbClr val="4A4A4A"/>
                </a:solidFill>
                <a:latin typeface="Open Sans"/>
                <a:ea typeface="Open Sans"/>
                <a:cs typeface="Open Sans"/>
              </a:rPr>
              <a:t>Self-supply and an end to exported cash.</a:t>
            </a:r>
            <a:endParaRPr lang="en-US" sz="1500"/>
          </a:p>
        </p:txBody>
      </p:sp>
      <p:sp>
        <p:nvSpPr>
          <p:cNvPr id="1499856798" name="Shape 21"/>
          <p:cNvSpPr/>
          <p:nvPr/>
        </p:nvSpPr>
        <p:spPr bwMode="auto">
          <a:xfrm>
            <a:off x="7528560" y="2742406"/>
            <a:ext cx="3249930" cy="6858794"/>
          </a:xfrm>
          <a:prstGeom prst="rect">
            <a:avLst/>
          </a:prstGeom>
          <a:solidFill>
            <a:srgbClr val="FFFFFF"/>
          </a:solidFill>
          <a:ln/>
        </p:spPr>
      </p:sp>
      <p:sp>
        <p:nvSpPr>
          <p:cNvPr id="1796967949" name="Shape 22"/>
          <p:cNvSpPr/>
          <p:nvPr/>
        </p:nvSpPr>
        <p:spPr bwMode="auto">
          <a:xfrm>
            <a:off x="7528560" y="9591674"/>
            <a:ext cx="3249930" cy="9525"/>
          </a:xfrm>
          <a:prstGeom prst="rect">
            <a:avLst/>
          </a:prstGeom>
          <a:solidFill>
            <a:srgbClr val="E6E6E2"/>
          </a:solidFill>
          <a:ln/>
        </p:spPr>
      </p:sp>
      <p:sp>
        <p:nvSpPr>
          <p:cNvPr id="1778972129" name="Shape 23"/>
          <p:cNvSpPr/>
          <p:nvPr/>
        </p:nvSpPr>
        <p:spPr bwMode="auto">
          <a:xfrm>
            <a:off x="7528560" y="2742406"/>
            <a:ext cx="3249930" cy="47625"/>
          </a:xfrm>
          <a:prstGeom prst="rect">
            <a:avLst/>
          </a:prstGeom>
          <a:solidFill>
            <a:srgbClr val="2E2E2E"/>
          </a:solidFill>
          <a:ln/>
        </p:spPr>
      </p:sp>
      <p:sp>
        <p:nvSpPr>
          <p:cNvPr id="650786993" name="Shape 24"/>
          <p:cNvSpPr/>
          <p:nvPr/>
        </p:nvSpPr>
        <p:spPr bwMode="auto">
          <a:xfrm>
            <a:off x="7528560" y="2742406"/>
            <a:ext cx="9525" cy="6858794"/>
          </a:xfrm>
          <a:prstGeom prst="rect">
            <a:avLst/>
          </a:prstGeom>
          <a:solidFill>
            <a:srgbClr val="E6E6E2"/>
          </a:solidFill>
          <a:ln/>
        </p:spPr>
      </p:sp>
      <p:sp>
        <p:nvSpPr>
          <p:cNvPr id="1214831837" name="Shape 25"/>
          <p:cNvSpPr/>
          <p:nvPr/>
        </p:nvSpPr>
        <p:spPr bwMode="auto">
          <a:xfrm>
            <a:off x="10768965" y="2742406"/>
            <a:ext cx="9525" cy="6858794"/>
          </a:xfrm>
          <a:prstGeom prst="rect">
            <a:avLst/>
          </a:prstGeom>
          <a:solidFill>
            <a:srgbClr val="E6E6E2"/>
          </a:solidFill>
          <a:ln/>
        </p:spPr>
      </p:sp>
      <p:sp>
        <p:nvSpPr>
          <p:cNvPr id="1237272759" name="Text 26"/>
          <p:cNvSpPr/>
          <p:nvPr/>
        </p:nvSpPr>
        <p:spPr bwMode="auto">
          <a:xfrm>
            <a:off x="7785735" y="3094831"/>
            <a:ext cx="3009138" cy="34290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Sora"/>
                <a:ea typeface="Sora"/>
                <a:cs typeface="Sora"/>
              </a:rPr>
              <a:t>Economic</a:t>
            </a:r>
            <a:endParaRPr lang="en-US" sz="1900"/>
          </a:p>
        </p:txBody>
      </p:sp>
      <p:sp>
        <p:nvSpPr>
          <p:cNvPr id="1897293574" name="Text 27"/>
          <p:cNvSpPr/>
          <p:nvPr/>
        </p:nvSpPr>
        <p:spPr bwMode="auto">
          <a:xfrm>
            <a:off x="7785735" y="3437731"/>
            <a:ext cx="3009138" cy="276225"/>
          </a:xfrm>
          <a:prstGeom prst="rect">
            <a:avLst/>
          </a:prstGeom>
          <a:noFill/>
          <a:ln/>
        </p:spPr>
        <p:txBody>
          <a:bodyPr wrap="square" lIns="25400" tIns="25400" rIns="25400" bIns="25400" rtlCol="0" anchor="t">
            <a:normAutofit/>
          </a:bodyPr>
          <a:lstStyle/>
          <a:p>
            <a:pPr marL="0" indent="0" algn="l">
              <a:buNone/>
              <a:defRPr/>
            </a:pPr>
            <a:r>
              <a:rPr lang="en-US" sz="1300" b="1">
                <a:solidFill>
                  <a:srgbClr val="9B9DA0"/>
                </a:solidFill>
                <a:latin typeface="Noto Sans JP"/>
                <a:ea typeface="Noto Sans JP"/>
                <a:cs typeface="Noto Sans JP"/>
              </a:rPr>
              <a:t>経済</a:t>
            </a:r>
            <a:endParaRPr lang="en-US" sz="1300"/>
          </a:p>
        </p:txBody>
      </p:sp>
      <p:sp>
        <p:nvSpPr>
          <p:cNvPr id="241801776" name="Text 28"/>
          <p:cNvSpPr/>
          <p:nvPr/>
        </p:nvSpPr>
        <p:spPr bwMode="auto">
          <a:xfrm>
            <a:off x="7785735" y="8734425"/>
            <a:ext cx="2817648" cy="590549"/>
          </a:xfrm>
          <a:prstGeom prst="rect">
            <a:avLst/>
          </a:prstGeom>
          <a:noFill/>
          <a:ln/>
        </p:spPr>
        <p:txBody>
          <a:bodyPr wrap="square" lIns="25400" tIns="25400" rIns="25400" bIns="25400" rtlCol="0" anchor="t">
            <a:normAutofit/>
          </a:bodyPr>
          <a:lstStyle/>
          <a:p>
            <a:pPr marL="0" indent="0" algn="l">
              <a:lnSpc>
                <a:spcPct val="145000"/>
              </a:lnSpc>
              <a:buNone/>
              <a:defRPr/>
            </a:pPr>
            <a:r>
              <a:rPr lang="en-US" sz="1500">
                <a:solidFill>
                  <a:srgbClr val="4A4A4A"/>
                </a:solidFill>
                <a:latin typeface="Open Sans"/>
                <a:ea typeface="Open Sans"/>
                <a:cs typeface="Open Sans"/>
              </a:rPr>
              <a:t>Jobs in forestry, operations and hosting.</a:t>
            </a:r>
            <a:endParaRPr lang="en-US" sz="1500"/>
          </a:p>
        </p:txBody>
      </p:sp>
      <p:sp>
        <p:nvSpPr>
          <p:cNvPr id="857376960" name="Shape 29"/>
          <p:cNvSpPr/>
          <p:nvPr/>
        </p:nvSpPr>
        <p:spPr bwMode="auto">
          <a:xfrm>
            <a:off x="10988040" y="2742406"/>
            <a:ext cx="3249930" cy="6858794"/>
          </a:xfrm>
          <a:prstGeom prst="rect">
            <a:avLst/>
          </a:prstGeom>
          <a:solidFill>
            <a:srgbClr val="FFFFFF"/>
          </a:solidFill>
          <a:ln/>
        </p:spPr>
      </p:sp>
      <p:sp>
        <p:nvSpPr>
          <p:cNvPr id="926757790" name="Shape 30"/>
          <p:cNvSpPr/>
          <p:nvPr/>
        </p:nvSpPr>
        <p:spPr bwMode="auto">
          <a:xfrm>
            <a:off x="10988040" y="9591674"/>
            <a:ext cx="3249930" cy="9525"/>
          </a:xfrm>
          <a:prstGeom prst="rect">
            <a:avLst/>
          </a:prstGeom>
          <a:solidFill>
            <a:srgbClr val="E6E6E2"/>
          </a:solidFill>
          <a:ln/>
        </p:spPr>
      </p:sp>
      <p:sp>
        <p:nvSpPr>
          <p:cNvPr id="1849322515" name="Shape 31"/>
          <p:cNvSpPr/>
          <p:nvPr/>
        </p:nvSpPr>
        <p:spPr bwMode="auto">
          <a:xfrm>
            <a:off x="10988040" y="2742406"/>
            <a:ext cx="3249930" cy="47625"/>
          </a:xfrm>
          <a:prstGeom prst="rect">
            <a:avLst/>
          </a:prstGeom>
          <a:solidFill>
            <a:srgbClr val="6E7174"/>
          </a:solidFill>
          <a:ln/>
        </p:spPr>
      </p:sp>
      <p:sp>
        <p:nvSpPr>
          <p:cNvPr id="1771367209" name="Shape 32"/>
          <p:cNvSpPr/>
          <p:nvPr/>
        </p:nvSpPr>
        <p:spPr bwMode="auto">
          <a:xfrm>
            <a:off x="10988040" y="2742406"/>
            <a:ext cx="9525" cy="6858794"/>
          </a:xfrm>
          <a:prstGeom prst="rect">
            <a:avLst/>
          </a:prstGeom>
          <a:solidFill>
            <a:srgbClr val="E6E6E2"/>
          </a:solidFill>
          <a:ln/>
        </p:spPr>
      </p:sp>
      <p:sp>
        <p:nvSpPr>
          <p:cNvPr id="270258589" name="Shape 33"/>
          <p:cNvSpPr/>
          <p:nvPr/>
        </p:nvSpPr>
        <p:spPr bwMode="auto">
          <a:xfrm>
            <a:off x="14228445" y="2742406"/>
            <a:ext cx="9525" cy="6858794"/>
          </a:xfrm>
          <a:prstGeom prst="rect">
            <a:avLst/>
          </a:prstGeom>
          <a:solidFill>
            <a:srgbClr val="E6E6E2"/>
          </a:solidFill>
          <a:ln/>
        </p:spPr>
      </p:sp>
      <p:sp>
        <p:nvSpPr>
          <p:cNvPr id="1137143192" name="Text 34"/>
          <p:cNvSpPr/>
          <p:nvPr/>
        </p:nvSpPr>
        <p:spPr bwMode="auto">
          <a:xfrm>
            <a:off x="11245215" y="3094831"/>
            <a:ext cx="3009138" cy="34290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Sora"/>
                <a:ea typeface="Sora"/>
                <a:cs typeface="Sora"/>
              </a:rPr>
              <a:t>Digital</a:t>
            </a:r>
            <a:endParaRPr lang="en-US" sz="1900"/>
          </a:p>
        </p:txBody>
      </p:sp>
      <p:sp>
        <p:nvSpPr>
          <p:cNvPr id="1380889541" name="Text 35"/>
          <p:cNvSpPr/>
          <p:nvPr/>
        </p:nvSpPr>
        <p:spPr bwMode="auto">
          <a:xfrm>
            <a:off x="11245215" y="3437731"/>
            <a:ext cx="3009138" cy="276225"/>
          </a:xfrm>
          <a:prstGeom prst="rect">
            <a:avLst/>
          </a:prstGeom>
          <a:noFill/>
          <a:ln/>
        </p:spPr>
        <p:txBody>
          <a:bodyPr wrap="square" lIns="25400" tIns="25400" rIns="25400" bIns="25400" rtlCol="0" anchor="t">
            <a:normAutofit/>
          </a:bodyPr>
          <a:lstStyle/>
          <a:p>
            <a:pPr marL="0" indent="0" algn="l">
              <a:buNone/>
              <a:defRPr/>
            </a:pPr>
            <a:r>
              <a:rPr lang="en-US" sz="1300" b="1">
                <a:solidFill>
                  <a:srgbClr val="9B9DA0"/>
                </a:solidFill>
                <a:latin typeface="Noto Sans JP"/>
                <a:ea typeface="Noto Sans JP"/>
                <a:cs typeface="Noto Sans JP"/>
              </a:rPr>
              <a:t>デジタル</a:t>
            </a:r>
            <a:endParaRPr lang="en-US" sz="1300"/>
          </a:p>
        </p:txBody>
      </p:sp>
      <p:sp>
        <p:nvSpPr>
          <p:cNvPr id="1994195904" name="Text 36"/>
          <p:cNvSpPr/>
          <p:nvPr/>
        </p:nvSpPr>
        <p:spPr bwMode="auto">
          <a:xfrm>
            <a:off x="11245215" y="8734425"/>
            <a:ext cx="2817648" cy="590549"/>
          </a:xfrm>
          <a:prstGeom prst="rect">
            <a:avLst/>
          </a:prstGeom>
          <a:noFill/>
          <a:ln/>
        </p:spPr>
        <p:txBody>
          <a:bodyPr wrap="square" lIns="25400" tIns="25400" rIns="25400" bIns="25400" rtlCol="0" anchor="t">
            <a:normAutofit/>
          </a:bodyPr>
          <a:lstStyle/>
          <a:p>
            <a:pPr marL="0" indent="0" algn="l">
              <a:lnSpc>
                <a:spcPct val="145000"/>
              </a:lnSpc>
              <a:buNone/>
              <a:defRPr/>
            </a:pPr>
            <a:r>
              <a:rPr lang="en-US" sz="1500">
                <a:solidFill>
                  <a:srgbClr val="4A4A4A"/>
                </a:solidFill>
                <a:latin typeface="Open Sans"/>
                <a:ea typeface="Open Sans"/>
                <a:cs typeface="Open Sans"/>
              </a:rPr>
              <a:t>Edge compute &amp; connectivity for rural Japan.</a:t>
            </a:r>
            <a:endParaRPr lang="en-US" sz="1500"/>
          </a:p>
        </p:txBody>
      </p:sp>
      <p:sp>
        <p:nvSpPr>
          <p:cNvPr id="1185609172" name="Shape 37"/>
          <p:cNvSpPr/>
          <p:nvPr/>
        </p:nvSpPr>
        <p:spPr bwMode="auto">
          <a:xfrm>
            <a:off x="14447520" y="2742406"/>
            <a:ext cx="3230880" cy="6858794"/>
          </a:xfrm>
          <a:prstGeom prst="rect">
            <a:avLst/>
          </a:prstGeom>
          <a:solidFill>
            <a:srgbClr val="2E2E2E"/>
          </a:solidFill>
          <a:ln/>
        </p:spPr>
      </p:sp>
      <p:sp>
        <p:nvSpPr>
          <p:cNvPr id="1224871963" name="Shape 38"/>
          <p:cNvSpPr/>
          <p:nvPr/>
        </p:nvSpPr>
        <p:spPr bwMode="auto">
          <a:xfrm>
            <a:off x="14447520" y="2742406"/>
            <a:ext cx="3230880" cy="47625"/>
          </a:xfrm>
          <a:prstGeom prst="rect">
            <a:avLst/>
          </a:prstGeom>
          <a:solidFill>
            <a:srgbClr val="E58520"/>
          </a:solidFill>
          <a:ln/>
        </p:spPr>
      </p:sp>
      <p:sp>
        <p:nvSpPr>
          <p:cNvPr id="1847127771" name="Text 39"/>
          <p:cNvSpPr/>
          <p:nvPr/>
        </p:nvSpPr>
        <p:spPr bwMode="auto">
          <a:xfrm>
            <a:off x="14695170" y="3094831"/>
            <a:ext cx="3009138" cy="342900"/>
          </a:xfrm>
          <a:prstGeom prst="rect">
            <a:avLst/>
          </a:prstGeom>
          <a:noFill/>
          <a:ln/>
        </p:spPr>
        <p:txBody>
          <a:bodyPr wrap="square" lIns="25400" tIns="25400" rIns="25400" bIns="25400" rtlCol="0" anchor="t">
            <a:normAutofit/>
          </a:bodyPr>
          <a:lstStyle/>
          <a:p>
            <a:pPr marL="0" indent="0" algn="l">
              <a:buNone/>
              <a:defRPr/>
            </a:pPr>
            <a:r>
              <a:rPr lang="en-US" sz="1900" b="1">
                <a:solidFill>
                  <a:srgbClr val="F4B872"/>
                </a:solidFill>
                <a:latin typeface="Sora"/>
                <a:ea typeface="Sora"/>
                <a:cs typeface="Sora"/>
              </a:rPr>
              <a:t>Knowledge</a:t>
            </a:r>
            <a:endParaRPr lang="en-US" sz="1900"/>
          </a:p>
        </p:txBody>
      </p:sp>
      <p:sp>
        <p:nvSpPr>
          <p:cNvPr id="1551070555" name="Text 40"/>
          <p:cNvSpPr/>
          <p:nvPr/>
        </p:nvSpPr>
        <p:spPr bwMode="auto">
          <a:xfrm>
            <a:off x="14695170" y="3437731"/>
            <a:ext cx="3009138" cy="276225"/>
          </a:xfrm>
          <a:prstGeom prst="rect">
            <a:avLst/>
          </a:prstGeom>
          <a:noFill/>
          <a:ln/>
        </p:spPr>
        <p:txBody>
          <a:bodyPr wrap="square" lIns="25400" tIns="25400" rIns="25400" bIns="25400" rtlCol="0" anchor="t">
            <a:normAutofit/>
          </a:bodyPr>
          <a:lstStyle/>
          <a:p>
            <a:pPr marL="0" indent="0" algn="l">
              <a:buNone/>
              <a:defRPr/>
            </a:pPr>
            <a:r>
              <a:rPr lang="en-US" sz="1300" b="1">
                <a:solidFill>
                  <a:srgbClr val="E58520"/>
                </a:solidFill>
                <a:latin typeface="Noto Sans JP"/>
                <a:ea typeface="Noto Sans JP"/>
                <a:cs typeface="Noto Sans JP"/>
              </a:rPr>
              <a:t>知識（公開）</a:t>
            </a:r>
            <a:endParaRPr lang="en-US" sz="1300"/>
          </a:p>
        </p:txBody>
      </p:sp>
      <p:sp>
        <p:nvSpPr>
          <p:cNvPr id="2097925163" name="Text 41"/>
          <p:cNvSpPr/>
          <p:nvPr/>
        </p:nvSpPr>
        <p:spPr bwMode="auto">
          <a:xfrm>
            <a:off x="14695170" y="8743950"/>
            <a:ext cx="2817648" cy="590549"/>
          </a:xfrm>
          <a:prstGeom prst="rect">
            <a:avLst/>
          </a:prstGeom>
          <a:noFill/>
          <a:ln/>
        </p:spPr>
        <p:txBody>
          <a:bodyPr wrap="square" lIns="25400" tIns="25400" rIns="25400" bIns="25400" rtlCol="0" anchor="t">
            <a:normAutofit/>
          </a:bodyPr>
          <a:lstStyle/>
          <a:p>
            <a:pPr marL="0" indent="0" algn="l">
              <a:lnSpc>
                <a:spcPct val="145000"/>
              </a:lnSpc>
              <a:buNone/>
              <a:defRPr/>
            </a:pPr>
            <a:r>
              <a:rPr lang="en-US" sz="1500">
                <a:solidFill>
                  <a:srgbClr val="E3E4E2"/>
                </a:solidFill>
                <a:latin typeface="Open Sans"/>
                <a:ea typeface="Open Sans"/>
                <a:cs typeface="Open Sans"/>
              </a:rPr>
              <a:t>Open-licensed — the multiplier other villages copy.</a:t>
            </a:r>
            <a:endParaRPr lang="en-US" sz="1500"/>
          </a:p>
        </p:txBody>
      </p:sp>
      <p:pic>
        <p:nvPicPr>
          <p:cNvPr id="1019294535" name=""/>
          <p:cNvPicPr>
            <a:picLocks noChangeAspect="1"/>
          </p:cNvPicPr>
          <p:nvPr/>
        </p:nvPicPr>
        <p:blipFill rotWithShape="1">
          <a:blip r:embed="rId3"/>
          <a:stretch/>
        </p:blipFill>
        <p:spPr bwMode="auto">
          <a:xfrm flipH="0" flipV="0">
            <a:off x="4326254" y="3947184"/>
            <a:ext cx="2835398" cy="21265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sp>
        <p:nvSpPr>
          <p:cNvPr id="1235594948" name="Shape 0"/>
          <p:cNvSpPr/>
          <p:nvPr/>
        </p:nvSpPr>
        <p:spPr bwMode="auto">
          <a:xfrm>
            <a:off x="0" y="0"/>
            <a:ext cx="18288000" cy="76200"/>
          </a:xfrm>
          <a:prstGeom prst="rect">
            <a:avLst/>
          </a:prstGeom>
          <a:solidFill>
            <a:srgbClr val="9B9DA0"/>
          </a:solidFill>
          <a:ln/>
        </p:spPr>
      </p:sp>
      <p:sp>
        <p:nvSpPr>
          <p:cNvPr id="204087" name="Shape 1"/>
          <p:cNvSpPr/>
          <p:nvPr/>
        </p:nvSpPr>
        <p:spPr bwMode="auto">
          <a:xfrm>
            <a:off x="609600" y="895350"/>
            <a:ext cx="438149" cy="47625"/>
          </a:xfrm>
          <a:prstGeom prst="rect">
            <a:avLst/>
          </a:prstGeom>
          <a:solidFill>
            <a:srgbClr val="E58520"/>
          </a:solidFill>
          <a:ln/>
        </p:spPr>
      </p:sp>
      <p:sp>
        <p:nvSpPr>
          <p:cNvPr id="709818807" name="Text 2"/>
          <p:cNvSpPr/>
          <p:nvPr/>
        </p:nvSpPr>
        <p:spPr bwMode="auto">
          <a:xfrm>
            <a:off x="1181099" y="800100"/>
            <a:ext cx="3954033"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PHASED EXECUTION · 段階的実行 · 10</a:t>
            </a:r>
            <a:endParaRPr lang="en-US" sz="1300"/>
          </a:p>
        </p:txBody>
      </p:sp>
      <p:sp>
        <p:nvSpPr>
          <p:cNvPr id="1372121759" name="Text 3"/>
          <p:cNvSpPr/>
          <p:nvPr/>
        </p:nvSpPr>
        <p:spPr bwMode="auto">
          <a:xfrm>
            <a:off x="609600" y="1228725"/>
            <a:ext cx="18775680" cy="626745"/>
          </a:xfrm>
          <a:prstGeom prst="rect">
            <a:avLst/>
          </a:prstGeom>
          <a:noFill/>
          <a:ln/>
        </p:spPr>
        <p:txBody>
          <a:bodyPr wrap="square" lIns="25400" tIns="25400" rIns="25400" bIns="25400" rtlCol="0" anchor="t">
            <a:normAutofit/>
          </a:bodyPr>
          <a:lstStyle/>
          <a:p>
            <a:pPr marL="0" indent="0" algn="l">
              <a:lnSpc>
                <a:spcPct val="103000"/>
              </a:lnSpc>
              <a:buNone/>
              <a:defRPr/>
            </a:pPr>
            <a:r>
              <a:rPr lang="en-US" sz="4500" b="1" spc="-45">
                <a:solidFill>
                  <a:srgbClr val="2E2E2E"/>
                </a:solidFill>
                <a:latin typeface="Sora"/>
                <a:ea typeface="Sora"/>
                <a:cs typeface="Sora"/>
              </a:rPr>
              <a:t>Five phases, gated by funding</a:t>
            </a:r>
            <a:endParaRPr lang="en-US" sz="4500"/>
          </a:p>
        </p:txBody>
      </p:sp>
      <p:sp>
        <p:nvSpPr>
          <p:cNvPr id="1070974405" name="Text 4"/>
          <p:cNvSpPr/>
          <p:nvPr/>
        </p:nvSpPr>
        <p:spPr bwMode="auto">
          <a:xfrm>
            <a:off x="609600" y="1893570"/>
            <a:ext cx="18775680" cy="390525"/>
          </a:xfrm>
          <a:prstGeom prst="rect">
            <a:avLst/>
          </a:prstGeom>
          <a:noFill/>
          <a:ln/>
        </p:spPr>
        <p:txBody>
          <a:bodyPr wrap="square" lIns="25400" tIns="25400" rIns="25400" bIns="25400" rtlCol="0" anchor="t">
            <a:normAutofit/>
          </a:bodyPr>
          <a:lstStyle/>
          <a:p>
            <a:pPr marL="0" indent="0" algn="l">
              <a:buNone/>
              <a:defRPr/>
            </a:pPr>
            <a:r>
              <a:rPr lang="en-US" sz="1900">
                <a:solidFill>
                  <a:srgbClr val="6E7174"/>
                </a:solidFill>
                <a:latin typeface="Noto Sans JP"/>
                <a:ea typeface="Noto Sans JP"/>
                <a:cs typeface="Noto Sans JP"/>
              </a:rPr>
              <a:t>資金ゲートで区切られた五段階 — 早すぎる拡大はしない。</a:t>
            </a:r>
            <a:endParaRPr lang="en-US" sz="1900"/>
          </a:p>
        </p:txBody>
      </p:sp>
      <p:sp>
        <p:nvSpPr>
          <p:cNvPr id="520699416" name="Shape 5"/>
          <p:cNvSpPr/>
          <p:nvPr/>
        </p:nvSpPr>
        <p:spPr bwMode="auto">
          <a:xfrm>
            <a:off x="609600" y="4680744"/>
            <a:ext cx="2819400" cy="2164556"/>
          </a:xfrm>
          <a:prstGeom prst="rect">
            <a:avLst/>
          </a:prstGeom>
          <a:solidFill>
            <a:srgbClr val="E58520"/>
          </a:solidFill>
          <a:ln/>
        </p:spPr>
      </p:sp>
      <p:sp>
        <p:nvSpPr>
          <p:cNvPr id="1474706485" name="Text 6"/>
          <p:cNvSpPr/>
          <p:nvPr/>
        </p:nvSpPr>
        <p:spPr bwMode="auto">
          <a:xfrm>
            <a:off x="819150" y="4928394"/>
            <a:ext cx="2640330" cy="285750"/>
          </a:xfrm>
          <a:prstGeom prst="rect">
            <a:avLst/>
          </a:prstGeom>
          <a:noFill/>
          <a:ln/>
        </p:spPr>
        <p:txBody>
          <a:bodyPr wrap="square" lIns="25400" tIns="25400" rIns="25400" bIns="25400" rtlCol="0" anchor="t">
            <a:normAutofit/>
          </a:bodyPr>
          <a:lstStyle/>
          <a:p>
            <a:pPr marL="0" indent="0" algn="l">
              <a:buNone/>
              <a:defRPr/>
            </a:pPr>
            <a:r>
              <a:rPr lang="en-US" sz="1600" b="1">
                <a:solidFill>
                  <a:srgbClr val="FFFFFF"/>
                </a:solidFill>
                <a:latin typeface="Sora"/>
                <a:ea typeface="Sora"/>
                <a:cs typeface="Sora"/>
              </a:rPr>
              <a:t>Phase 0</a:t>
            </a:r>
            <a:endParaRPr lang="en-US" sz="1600"/>
          </a:p>
        </p:txBody>
      </p:sp>
      <p:sp>
        <p:nvSpPr>
          <p:cNvPr id="1386169704" name="Text 7"/>
          <p:cNvSpPr/>
          <p:nvPr/>
        </p:nvSpPr>
        <p:spPr bwMode="auto">
          <a:xfrm>
            <a:off x="819150" y="5195094"/>
            <a:ext cx="2640330" cy="247650"/>
          </a:xfrm>
          <a:prstGeom prst="rect">
            <a:avLst/>
          </a:prstGeom>
          <a:noFill/>
          <a:ln/>
        </p:spPr>
        <p:txBody>
          <a:bodyPr wrap="square" lIns="25400" tIns="25400" rIns="25400" bIns="25400" rtlCol="0" anchor="t">
            <a:normAutofit/>
          </a:bodyPr>
          <a:lstStyle/>
          <a:p>
            <a:pPr marL="0" indent="0" algn="l">
              <a:buNone/>
              <a:defRPr/>
            </a:pPr>
            <a:r>
              <a:rPr lang="en-US" sz="1200">
                <a:solidFill>
                  <a:srgbClr val="FCE6CC"/>
                </a:solidFill>
                <a:latin typeface="Open Sans"/>
                <a:ea typeface="Open Sans"/>
                <a:cs typeface="Open Sans"/>
              </a:rPr>
              <a:t>Pre-foundation</a:t>
            </a:r>
            <a:endParaRPr lang="en-US" sz="1200"/>
          </a:p>
        </p:txBody>
      </p:sp>
      <p:sp>
        <p:nvSpPr>
          <p:cNvPr id="2091894446" name="Text 8"/>
          <p:cNvSpPr/>
          <p:nvPr/>
        </p:nvSpPr>
        <p:spPr bwMode="auto">
          <a:xfrm>
            <a:off x="819150" y="5537994"/>
            <a:ext cx="2640330" cy="228600"/>
          </a:xfrm>
          <a:prstGeom prst="rect">
            <a:avLst/>
          </a:prstGeom>
          <a:noFill/>
          <a:ln/>
        </p:spPr>
        <p:txBody>
          <a:bodyPr wrap="square" lIns="25400" tIns="25400" rIns="25400" bIns="25400" rtlCol="0" anchor="t">
            <a:normAutofit/>
          </a:bodyPr>
          <a:lstStyle/>
          <a:p>
            <a:pPr marL="0" indent="0" algn="l">
              <a:buNone/>
              <a:defRPr/>
            </a:pPr>
            <a:r>
              <a:rPr lang="en-US" sz="1150">
                <a:solidFill>
                  <a:srgbClr val="FBE6CC"/>
                </a:solidFill>
                <a:latin typeface="Open Sans"/>
                <a:ea typeface="Open Sans"/>
                <a:cs typeface="Open Sans"/>
              </a:rPr>
              <a:t>Months 1–3</a:t>
            </a:r>
            <a:endParaRPr lang="en-US" sz="1150"/>
          </a:p>
        </p:txBody>
      </p:sp>
      <p:sp>
        <p:nvSpPr>
          <p:cNvPr id="238194959" name="Text 9"/>
          <p:cNvSpPr/>
          <p:nvPr/>
        </p:nvSpPr>
        <p:spPr bwMode="auto">
          <a:xfrm>
            <a:off x="819150" y="5785644"/>
            <a:ext cx="2640330" cy="276225"/>
          </a:xfrm>
          <a:prstGeom prst="rect">
            <a:avLst/>
          </a:prstGeom>
          <a:noFill/>
          <a:ln/>
        </p:spPr>
        <p:txBody>
          <a:bodyPr wrap="square" lIns="25400" tIns="25400" rIns="25400" bIns="25400" rtlCol="0" anchor="t">
            <a:normAutofit/>
          </a:bodyPr>
          <a:lstStyle/>
          <a:p>
            <a:pPr marL="0" indent="0" algn="l">
              <a:buNone/>
              <a:defRPr/>
            </a:pPr>
            <a:r>
              <a:rPr lang="en-US" sz="1350" b="1">
                <a:solidFill>
                  <a:srgbClr val="FFFFFF"/>
                </a:solidFill>
                <a:latin typeface="Open Sans"/>
                <a:ea typeface="Open Sans"/>
                <a:cs typeface="Open Sans"/>
              </a:rPr>
              <a:t>¥0–0.5M</a:t>
            </a:r>
            <a:endParaRPr lang="en-US" sz="1350"/>
          </a:p>
        </p:txBody>
      </p:sp>
      <p:sp>
        <p:nvSpPr>
          <p:cNvPr id="438159250" name="Text 10"/>
          <p:cNvSpPr/>
          <p:nvPr/>
        </p:nvSpPr>
        <p:spPr bwMode="auto">
          <a:xfrm>
            <a:off x="819150" y="6138069"/>
            <a:ext cx="2640330" cy="230981"/>
          </a:xfrm>
          <a:prstGeom prst="rect">
            <a:avLst/>
          </a:prstGeom>
          <a:noFill/>
          <a:ln/>
        </p:spPr>
        <p:txBody>
          <a:bodyPr wrap="square" lIns="25400" tIns="25400" rIns="25400" bIns="25400" rtlCol="0" anchor="t">
            <a:normAutofit/>
          </a:bodyPr>
          <a:lstStyle/>
          <a:p>
            <a:pPr marL="0" indent="0" algn="l">
              <a:lnSpc>
                <a:spcPct val="135000"/>
              </a:lnSpc>
              <a:buNone/>
              <a:defRPr/>
            </a:pPr>
            <a:r>
              <a:rPr lang="en-US" sz="1150">
                <a:solidFill>
                  <a:srgbClr val="FBE6CC"/>
                </a:solidFill>
                <a:latin typeface="Open Sans"/>
                <a:ea typeface="Open Sans"/>
                <a:cs typeface="Open Sans"/>
              </a:rPr>
              <a:t>Trust, founding team, charter</a:t>
            </a:r>
            <a:endParaRPr lang="en-US" sz="1150"/>
          </a:p>
        </p:txBody>
      </p:sp>
      <p:sp>
        <p:nvSpPr>
          <p:cNvPr id="1322603817" name="Shape 11"/>
          <p:cNvSpPr/>
          <p:nvPr/>
        </p:nvSpPr>
        <p:spPr bwMode="auto">
          <a:xfrm>
            <a:off x="819150" y="6330950"/>
            <a:ext cx="1332865" cy="266700"/>
          </a:xfrm>
          <a:prstGeom prst="rect">
            <a:avLst/>
          </a:prstGeom>
          <a:solidFill>
            <a:srgbClr val="FFFFFF">
              <a:alpha val="18000"/>
            </a:srgbClr>
          </a:solidFill>
          <a:ln/>
        </p:spPr>
      </p:sp>
      <p:sp>
        <p:nvSpPr>
          <p:cNvPr id="1655269770" name="Text 12"/>
          <p:cNvSpPr/>
          <p:nvPr/>
        </p:nvSpPr>
        <p:spPr bwMode="auto">
          <a:xfrm>
            <a:off x="895350" y="6378575"/>
            <a:ext cx="1256664" cy="209550"/>
          </a:xfrm>
          <a:prstGeom prst="rect">
            <a:avLst/>
          </a:prstGeom>
          <a:noFill/>
          <a:ln/>
        </p:spPr>
        <p:txBody>
          <a:bodyPr wrap="square" lIns="25400" tIns="25400" rIns="25400" bIns="25400" rtlCol="0" anchor="t">
            <a:normAutofit/>
          </a:bodyPr>
          <a:lstStyle/>
          <a:p>
            <a:pPr marL="0" indent="0" algn="l">
              <a:buNone/>
              <a:defRPr/>
            </a:pPr>
            <a:r>
              <a:rPr lang="en-US" sz="1000" b="1" spc="98">
                <a:solidFill>
                  <a:srgbClr val="FFFFFF"/>
                </a:solidFill>
                <a:latin typeface="Open Sans"/>
                <a:ea typeface="Open Sans"/>
                <a:cs typeface="Open Sans"/>
              </a:rPr>
              <a:t>◀ YOU ARE HERE</a:t>
            </a:r>
            <a:endParaRPr lang="en-US" sz="1000"/>
          </a:p>
        </p:txBody>
      </p:sp>
      <p:sp>
        <p:nvSpPr>
          <p:cNvPr id="533036776" name="Shape 13"/>
          <p:cNvSpPr/>
          <p:nvPr/>
        </p:nvSpPr>
        <p:spPr bwMode="auto">
          <a:xfrm>
            <a:off x="3429000" y="4680744"/>
            <a:ext cx="742950" cy="2164556"/>
          </a:xfrm>
          <a:prstGeom prst="rect">
            <a:avLst/>
          </a:prstGeom>
          <a:solidFill>
            <a:srgbClr val="F6F6F4"/>
          </a:solidFill>
          <a:ln/>
        </p:spPr>
      </p:sp>
      <p:sp>
        <p:nvSpPr>
          <p:cNvPr id="1546725824" name="Shape 14"/>
          <p:cNvSpPr/>
          <p:nvPr/>
        </p:nvSpPr>
        <p:spPr bwMode="auto">
          <a:xfrm>
            <a:off x="3429000" y="4680744"/>
            <a:ext cx="9525" cy="2164556"/>
          </a:xfrm>
          <a:prstGeom prst="rect">
            <a:avLst/>
          </a:prstGeom>
          <a:solidFill>
            <a:srgbClr val="C9CBCD"/>
          </a:solidFill>
          <a:ln/>
        </p:spPr>
      </p:sp>
      <p:sp>
        <p:nvSpPr>
          <p:cNvPr id="1896452444" name="Shape 15"/>
          <p:cNvSpPr/>
          <p:nvPr/>
        </p:nvSpPr>
        <p:spPr bwMode="auto">
          <a:xfrm>
            <a:off x="4162425" y="4680744"/>
            <a:ext cx="9525" cy="2164556"/>
          </a:xfrm>
          <a:prstGeom prst="rect">
            <a:avLst/>
          </a:prstGeom>
          <a:solidFill>
            <a:srgbClr val="C9CBCD"/>
          </a:solidFill>
          <a:ln/>
        </p:spPr>
      </p:sp>
      <p:sp>
        <p:nvSpPr>
          <p:cNvPr id="618092446" name="Text 16"/>
          <p:cNvSpPr/>
          <p:nvPr/>
        </p:nvSpPr>
        <p:spPr bwMode="auto">
          <a:xfrm>
            <a:off x="3698240" y="5411788"/>
            <a:ext cx="280511" cy="238125"/>
          </a:xfrm>
          <a:prstGeom prst="rect">
            <a:avLst/>
          </a:prstGeom>
          <a:noFill/>
          <a:ln/>
        </p:spPr>
        <p:txBody>
          <a:bodyPr wrap="square" lIns="25400" tIns="25400" rIns="25400" bIns="25400" rtlCol="0" anchor="t">
            <a:normAutofit/>
          </a:bodyPr>
          <a:lstStyle/>
          <a:p>
            <a:pPr marL="0" indent="0" algn="l">
              <a:buNone/>
              <a:defRPr/>
            </a:pPr>
            <a:r>
              <a:rPr lang="en-US" sz="1300" b="1">
                <a:solidFill>
                  <a:srgbClr val="2E2E2E"/>
                </a:solidFill>
                <a:latin typeface="Sora"/>
                <a:ea typeface="Sora"/>
                <a:cs typeface="Sora"/>
              </a:rPr>
              <a:t>G1</a:t>
            </a:r>
            <a:endParaRPr lang="en-US" sz="1300"/>
          </a:p>
        </p:txBody>
      </p:sp>
      <p:sp>
        <p:nvSpPr>
          <p:cNvPr id="74680303" name="Text 17"/>
          <p:cNvSpPr/>
          <p:nvPr/>
        </p:nvSpPr>
        <p:spPr bwMode="auto">
          <a:xfrm>
            <a:off x="3709829" y="5668963"/>
            <a:ext cx="257334" cy="483393"/>
          </a:xfrm>
          <a:prstGeom prst="rect">
            <a:avLst/>
          </a:prstGeom>
          <a:noFill/>
          <a:ln/>
        </p:spPr>
        <p:txBody>
          <a:bodyPr vert="eaVert" wrap="square" lIns="25400" tIns="25400" rIns="25400" bIns="25400" rtlCol="0" anchor="t">
            <a:normAutofit/>
          </a:bodyPr>
          <a:lstStyle/>
          <a:p>
            <a:pPr marL="0" indent="0" algn="l">
              <a:buNone/>
              <a:defRPr/>
            </a:pPr>
            <a:r>
              <a:rPr lang="en-US" sz="1050" spc="52">
                <a:solidFill>
                  <a:srgbClr val="6E7174"/>
                </a:solidFill>
                <a:latin typeface="Open Sans"/>
                <a:ea typeface="Open Sans"/>
                <a:cs typeface="Open Sans"/>
              </a:rPr>
              <a:t>¥3–8M</a:t>
            </a:r>
            <a:endParaRPr lang="en-US" sz="1050"/>
          </a:p>
        </p:txBody>
      </p:sp>
      <p:sp>
        <p:nvSpPr>
          <p:cNvPr id="289991296" name="Shape 18"/>
          <p:cNvSpPr/>
          <p:nvPr/>
        </p:nvSpPr>
        <p:spPr bwMode="auto">
          <a:xfrm>
            <a:off x="4171950" y="4680744"/>
            <a:ext cx="2819400" cy="2164556"/>
          </a:xfrm>
          <a:prstGeom prst="rect">
            <a:avLst/>
          </a:prstGeom>
          <a:solidFill>
            <a:srgbClr val="F6F6F4"/>
          </a:solidFill>
          <a:ln/>
        </p:spPr>
      </p:sp>
      <p:sp>
        <p:nvSpPr>
          <p:cNvPr id="510574395" name="Text 19"/>
          <p:cNvSpPr/>
          <p:nvPr/>
        </p:nvSpPr>
        <p:spPr bwMode="auto">
          <a:xfrm>
            <a:off x="4381500" y="4928394"/>
            <a:ext cx="2640330" cy="285750"/>
          </a:xfrm>
          <a:prstGeom prst="rect">
            <a:avLst/>
          </a:prstGeom>
          <a:noFill/>
          <a:ln/>
        </p:spPr>
        <p:txBody>
          <a:bodyPr wrap="square" lIns="25400" tIns="25400" rIns="25400" bIns="25400" rtlCol="0" anchor="t">
            <a:normAutofit/>
          </a:bodyPr>
          <a:lstStyle/>
          <a:p>
            <a:pPr marL="0" indent="0" algn="l">
              <a:buNone/>
              <a:defRPr/>
            </a:pPr>
            <a:r>
              <a:rPr lang="en-US" sz="1600" b="1">
                <a:solidFill>
                  <a:srgbClr val="2E2E2E"/>
                </a:solidFill>
                <a:latin typeface="Sora"/>
                <a:ea typeface="Sora"/>
                <a:cs typeface="Sora"/>
              </a:rPr>
              <a:t>Phase 1</a:t>
            </a:r>
            <a:endParaRPr lang="en-US" sz="1600"/>
          </a:p>
        </p:txBody>
      </p:sp>
      <p:sp>
        <p:nvSpPr>
          <p:cNvPr id="318065138" name="Text 20"/>
          <p:cNvSpPr/>
          <p:nvPr/>
        </p:nvSpPr>
        <p:spPr bwMode="auto">
          <a:xfrm>
            <a:off x="4381500" y="5195094"/>
            <a:ext cx="2640330" cy="247650"/>
          </a:xfrm>
          <a:prstGeom prst="rect">
            <a:avLst/>
          </a:prstGeom>
          <a:noFill/>
          <a:ln/>
        </p:spPr>
        <p:txBody>
          <a:bodyPr wrap="square" lIns="25400" tIns="25400" rIns="25400" bIns="25400" rtlCol="0" anchor="t">
            <a:normAutofit/>
          </a:bodyPr>
          <a:lstStyle/>
          <a:p>
            <a:pPr marL="0" indent="0" algn="l">
              <a:buNone/>
              <a:defRPr/>
            </a:pPr>
            <a:r>
              <a:rPr lang="en-US" sz="1200">
                <a:solidFill>
                  <a:srgbClr val="9B9DA0"/>
                </a:solidFill>
                <a:latin typeface="Open Sans"/>
                <a:ea typeface="Open Sans"/>
                <a:cs typeface="Open Sans"/>
              </a:rPr>
              <a:t>Foundation</a:t>
            </a:r>
            <a:endParaRPr lang="en-US" sz="1200"/>
          </a:p>
        </p:txBody>
      </p:sp>
      <p:sp>
        <p:nvSpPr>
          <p:cNvPr id="93449200" name="Text 21"/>
          <p:cNvSpPr/>
          <p:nvPr/>
        </p:nvSpPr>
        <p:spPr bwMode="auto">
          <a:xfrm>
            <a:off x="4381500" y="5537994"/>
            <a:ext cx="2640330" cy="228600"/>
          </a:xfrm>
          <a:prstGeom prst="rect">
            <a:avLst/>
          </a:prstGeom>
          <a:noFill/>
          <a:ln/>
        </p:spPr>
        <p:txBody>
          <a:bodyPr wrap="square" lIns="25400" tIns="25400" rIns="25400" bIns="25400" rtlCol="0" anchor="t">
            <a:normAutofit/>
          </a:bodyPr>
          <a:lstStyle/>
          <a:p>
            <a:pPr marL="0" indent="0" algn="l">
              <a:buNone/>
              <a:defRPr/>
            </a:pPr>
            <a:r>
              <a:rPr lang="en-US" sz="1150">
                <a:solidFill>
                  <a:srgbClr val="9B9DA0"/>
                </a:solidFill>
                <a:latin typeface="Open Sans"/>
                <a:ea typeface="Open Sans"/>
                <a:cs typeface="Open Sans"/>
              </a:rPr>
              <a:t>Months 4–9</a:t>
            </a:r>
            <a:endParaRPr lang="en-US" sz="1150"/>
          </a:p>
        </p:txBody>
      </p:sp>
      <p:sp>
        <p:nvSpPr>
          <p:cNvPr id="1215241823" name="Text 22"/>
          <p:cNvSpPr/>
          <p:nvPr/>
        </p:nvSpPr>
        <p:spPr bwMode="auto">
          <a:xfrm>
            <a:off x="4381500" y="5785644"/>
            <a:ext cx="2640330" cy="276225"/>
          </a:xfrm>
          <a:prstGeom prst="rect">
            <a:avLst/>
          </a:prstGeom>
          <a:noFill/>
          <a:ln/>
        </p:spPr>
        <p:txBody>
          <a:bodyPr wrap="square" lIns="25400" tIns="25400" rIns="25400" bIns="25400" rtlCol="0" anchor="t">
            <a:normAutofit/>
          </a:bodyPr>
          <a:lstStyle/>
          <a:p>
            <a:pPr marL="0" indent="0" algn="l">
              <a:buNone/>
              <a:defRPr/>
            </a:pPr>
            <a:r>
              <a:rPr lang="en-US" sz="1350" b="1">
                <a:solidFill>
                  <a:srgbClr val="2E2E2E"/>
                </a:solidFill>
                <a:latin typeface="Open Sans"/>
                <a:ea typeface="Open Sans"/>
                <a:cs typeface="Open Sans"/>
              </a:rPr>
              <a:t>¥3–8M</a:t>
            </a:r>
            <a:endParaRPr lang="en-US" sz="1350"/>
          </a:p>
        </p:txBody>
      </p:sp>
      <p:sp>
        <p:nvSpPr>
          <p:cNvPr id="1727794988" name="Text 23"/>
          <p:cNvSpPr/>
          <p:nvPr/>
        </p:nvSpPr>
        <p:spPr bwMode="auto">
          <a:xfrm>
            <a:off x="4381500" y="6138069"/>
            <a:ext cx="2640330" cy="230981"/>
          </a:xfrm>
          <a:prstGeom prst="rect">
            <a:avLst/>
          </a:prstGeom>
          <a:noFill/>
          <a:ln/>
        </p:spPr>
        <p:txBody>
          <a:bodyPr wrap="square" lIns="25400" tIns="25400" rIns="25400" bIns="25400" rtlCol="0" anchor="t">
            <a:normAutofit/>
          </a:bodyPr>
          <a:lstStyle/>
          <a:p>
            <a:pPr marL="0" indent="0" algn="l">
              <a:lnSpc>
                <a:spcPct val="135000"/>
              </a:lnSpc>
              <a:buNone/>
              <a:defRPr/>
            </a:pPr>
            <a:r>
              <a:rPr lang="en-US" sz="1150">
                <a:solidFill>
                  <a:srgbClr val="6E7174"/>
                </a:solidFill>
                <a:latin typeface="Open Sans"/>
                <a:ea typeface="Open Sans"/>
                <a:cs typeface="Open Sans"/>
              </a:rPr>
              <a:t>Legal entity, feasibility, advisors</a:t>
            </a:r>
            <a:endParaRPr lang="en-US" sz="1150"/>
          </a:p>
        </p:txBody>
      </p:sp>
      <p:sp>
        <p:nvSpPr>
          <p:cNvPr id="1244862035" name="Shape 24"/>
          <p:cNvSpPr/>
          <p:nvPr/>
        </p:nvSpPr>
        <p:spPr bwMode="auto">
          <a:xfrm>
            <a:off x="6991350" y="4680744"/>
            <a:ext cx="742950" cy="2164556"/>
          </a:xfrm>
          <a:prstGeom prst="rect">
            <a:avLst/>
          </a:prstGeom>
          <a:solidFill>
            <a:srgbClr val="F6F6F4"/>
          </a:solidFill>
          <a:ln/>
        </p:spPr>
      </p:sp>
      <p:sp>
        <p:nvSpPr>
          <p:cNvPr id="1177067490" name="Shape 25"/>
          <p:cNvSpPr/>
          <p:nvPr/>
        </p:nvSpPr>
        <p:spPr bwMode="auto">
          <a:xfrm>
            <a:off x="6991350" y="4680744"/>
            <a:ext cx="9525" cy="2164556"/>
          </a:xfrm>
          <a:prstGeom prst="rect">
            <a:avLst/>
          </a:prstGeom>
          <a:solidFill>
            <a:srgbClr val="C9CBCD"/>
          </a:solidFill>
          <a:ln/>
        </p:spPr>
      </p:sp>
      <p:sp>
        <p:nvSpPr>
          <p:cNvPr id="990397646" name="Shape 26"/>
          <p:cNvSpPr/>
          <p:nvPr/>
        </p:nvSpPr>
        <p:spPr bwMode="auto">
          <a:xfrm>
            <a:off x="7724774" y="4680744"/>
            <a:ext cx="9525" cy="2164556"/>
          </a:xfrm>
          <a:prstGeom prst="rect">
            <a:avLst/>
          </a:prstGeom>
          <a:solidFill>
            <a:srgbClr val="C9CBCD"/>
          </a:solidFill>
          <a:ln/>
        </p:spPr>
      </p:sp>
      <p:sp>
        <p:nvSpPr>
          <p:cNvPr id="1482360478" name="Text 27"/>
          <p:cNvSpPr/>
          <p:nvPr/>
        </p:nvSpPr>
        <p:spPr bwMode="auto">
          <a:xfrm>
            <a:off x="7244080" y="5328919"/>
            <a:ext cx="313531" cy="238125"/>
          </a:xfrm>
          <a:prstGeom prst="rect">
            <a:avLst/>
          </a:prstGeom>
          <a:noFill/>
          <a:ln/>
        </p:spPr>
        <p:txBody>
          <a:bodyPr wrap="square" lIns="25400" tIns="25400" rIns="25400" bIns="25400" rtlCol="0" anchor="t">
            <a:normAutofit/>
          </a:bodyPr>
          <a:lstStyle/>
          <a:p>
            <a:pPr marL="0" indent="0" algn="l">
              <a:buNone/>
              <a:defRPr/>
            </a:pPr>
            <a:r>
              <a:rPr lang="en-US" sz="1300" b="1">
                <a:solidFill>
                  <a:srgbClr val="2E2E2E"/>
                </a:solidFill>
                <a:latin typeface="Sora"/>
                <a:ea typeface="Sora"/>
                <a:cs typeface="Sora"/>
              </a:rPr>
              <a:t>G2</a:t>
            </a:r>
            <a:endParaRPr lang="en-US" sz="1300"/>
          </a:p>
        </p:txBody>
      </p:sp>
      <p:sp>
        <p:nvSpPr>
          <p:cNvPr id="493479968" name="Text 28"/>
          <p:cNvSpPr/>
          <p:nvPr/>
        </p:nvSpPr>
        <p:spPr bwMode="auto">
          <a:xfrm>
            <a:off x="7272179" y="5586095"/>
            <a:ext cx="257334" cy="649129"/>
          </a:xfrm>
          <a:prstGeom prst="rect">
            <a:avLst/>
          </a:prstGeom>
          <a:noFill/>
          <a:ln/>
        </p:spPr>
        <p:txBody>
          <a:bodyPr vert="eaVert" wrap="square" lIns="25400" tIns="25400" rIns="25400" bIns="25400" rtlCol="0" anchor="t">
            <a:normAutofit/>
          </a:bodyPr>
          <a:lstStyle/>
          <a:p>
            <a:pPr marL="0" indent="0" algn="l">
              <a:buNone/>
              <a:defRPr/>
            </a:pPr>
            <a:r>
              <a:rPr lang="en-US" sz="1050" spc="52">
                <a:solidFill>
                  <a:srgbClr val="6E7174"/>
                </a:solidFill>
                <a:latin typeface="Open Sans"/>
                <a:ea typeface="Open Sans"/>
                <a:cs typeface="Open Sans"/>
              </a:rPr>
              <a:t>¥30–50M</a:t>
            </a:r>
            <a:endParaRPr lang="en-US" sz="1050"/>
          </a:p>
        </p:txBody>
      </p:sp>
      <p:sp>
        <p:nvSpPr>
          <p:cNvPr id="1061569192" name="Shape 29"/>
          <p:cNvSpPr/>
          <p:nvPr/>
        </p:nvSpPr>
        <p:spPr bwMode="auto">
          <a:xfrm>
            <a:off x="7734300" y="4680744"/>
            <a:ext cx="2819400" cy="2164556"/>
          </a:xfrm>
          <a:prstGeom prst="rect">
            <a:avLst/>
          </a:prstGeom>
          <a:solidFill>
            <a:srgbClr val="F6F6F4"/>
          </a:solidFill>
          <a:ln/>
        </p:spPr>
      </p:sp>
      <p:sp>
        <p:nvSpPr>
          <p:cNvPr id="1104801125" name="Text 30"/>
          <p:cNvSpPr/>
          <p:nvPr/>
        </p:nvSpPr>
        <p:spPr bwMode="auto">
          <a:xfrm>
            <a:off x="7943850" y="4928394"/>
            <a:ext cx="2640330" cy="285750"/>
          </a:xfrm>
          <a:prstGeom prst="rect">
            <a:avLst/>
          </a:prstGeom>
          <a:noFill/>
          <a:ln/>
        </p:spPr>
        <p:txBody>
          <a:bodyPr wrap="square" lIns="25400" tIns="25400" rIns="25400" bIns="25400" rtlCol="0" anchor="t">
            <a:normAutofit/>
          </a:bodyPr>
          <a:lstStyle/>
          <a:p>
            <a:pPr marL="0" indent="0" algn="l">
              <a:buNone/>
              <a:defRPr/>
            </a:pPr>
            <a:r>
              <a:rPr lang="en-US" sz="1600" b="1">
                <a:solidFill>
                  <a:srgbClr val="2E2E2E"/>
                </a:solidFill>
                <a:latin typeface="Sora"/>
                <a:ea typeface="Sora"/>
                <a:cs typeface="Sora"/>
              </a:rPr>
              <a:t>Phase 2</a:t>
            </a:r>
            <a:endParaRPr lang="en-US" sz="1600"/>
          </a:p>
        </p:txBody>
      </p:sp>
      <p:sp>
        <p:nvSpPr>
          <p:cNvPr id="1862212081" name="Text 31"/>
          <p:cNvSpPr/>
          <p:nvPr/>
        </p:nvSpPr>
        <p:spPr bwMode="auto">
          <a:xfrm>
            <a:off x="7943850" y="5195094"/>
            <a:ext cx="2640330" cy="247650"/>
          </a:xfrm>
          <a:prstGeom prst="rect">
            <a:avLst/>
          </a:prstGeom>
          <a:noFill/>
          <a:ln/>
        </p:spPr>
        <p:txBody>
          <a:bodyPr wrap="square" lIns="25400" tIns="25400" rIns="25400" bIns="25400" rtlCol="0" anchor="t">
            <a:normAutofit/>
          </a:bodyPr>
          <a:lstStyle/>
          <a:p>
            <a:pPr marL="0" indent="0" algn="l">
              <a:buNone/>
              <a:defRPr/>
            </a:pPr>
            <a:r>
              <a:rPr lang="en-US" sz="1200">
                <a:solidFill>
                  <a:srgbClr val="9B9DA0"/>
                </a:solidFill>
                <a:latin typeface="Open Sans"/>
                <a:ea typeface="Open Sans"/>
                <a:cs typeface="Open Sans"/>
              </a:rPr>
              <a:t>Pilot design</a:t>
            </a:r>
            <a:endParaRPr lang="en-US" sz="1200"/>
          </a:p>
        </p:txBody>
      </p:sp>
      <p:sp>
        <p:nvSpPr>
          <p:cNvPr id="1390866436" name="Text 32"/>
          <p:cNvSpPr/>
          <p:nvPr/>
        </p:nvSpPr>
        <p:spPr bwMode="auto">
          <a:xfrm>
            <a:off x="7943850" y="5537994"/>
            <a:ext cx="2640330" cy="228600"/>
          </a:xfrm>
          <a:prstGeom prst="rect">
            <a:avLst/>
          </a:prstGeom>
          <a:noFill/>
          <a:ln/>
        </p:spPr>
        <p:txBody>
          <a:bodyPr wrap="square" lIns="25400" tIns="25400" rIns="25400" bIns="25400" rtlCol="0" anchor="t">
            <a:normAutofit/>
          </a:bodyPr>
          <a:lstStyle/>
          <a:p>
            <a:pPr marL="0" indent="0" algn="l">
              <a:buNone/>
              <a:defRPr/>
            </a:pPr>
            <a:r>
              <a:rPr lang="en-US" sz="1150">
                <a:solidFill>
                  <a:srgbClr val="9B9DA0"/>
                </a:solidFill>
                <a:latin typeface="Open Sans"/>
                <a:ea typeface="Open Sans"/>
                <a:cs typeface="Open Sans"/>
              </a:rPr>
              <a:t>Months 10–18</a:t>
            </a:r>
            <a:endParaRPr lang="en-US" sz="1150"/>
          </a:p>
        </p:txBody>
      </p:sp>
      <p:sp>
        <p:nvSpPr>
          <p:cNvPr id="1215477236" name="Text 33"/>
          <p:cNvSpPr/>
          <p:nvPr/>
        </p:nvSpPr>
        <p:spPr bwMode="auto">
          <a:xfrm>
            <a:off x="7943850" y="5785644"/>
            <a:ext cx="2640330" cy="276225"/>
          </a:xfrm>
          <a:prstGeom prst="rect">
            <a:avLst/>
          </a:prstGeom>
          <a:noFill/>
          <a:ln/>
        </p:spPr>
        <p:txBody>
          <a:bodyPr wrap="square" lIns="25400" tIns="25400" rIns="25400" bIns="25400" rtlCol="0" anchor="t">
            <a:normAutofit/>
          </a:bodyPr>
          <a:lstStyle/>
          <a:p>
            <a:pPr marL="0" indent="0" algn="l">
              <a:buNone/>
              <a:defRPr/>
            </a:pPr>
            <a:r>
              <a:rPr lang="en-US" sz="1350" b="1">
                <a:solidFill>
                  <a:srgbClr val="2E2E2E"/>
                </a:solidFill>
                <a:latin typeface="Open Sans"/>
                <a:ea typeface="Open Sans"/>
                <a:cs typeface="Open Sans"/>
              </a:rPr>
              <a:t>¥15–30M</a:t>
            </a:r>
            <a:endParaRPr lang="en-US" sz="1350"/>
          </a:p>
        </p:txBody>
      </p:sp>
      <p:sp>
        <p:nvSpPr>
          <p:cNvPr id="1982304250" name="Text 34"/>
          <p:cNvSpPr/>
          <p:nvPr/>
        </p:nvSpPr>
        <p:spPr bwMode="auto">
          <a:xfrm>
            <a:off x="7943850" y="6138069"/>
            <a:ext cx="2640330" cy="230981"/>
          </a:xfrm>
          <a:prstGeom prst="rect">
            <a:avLst/>
          </a:prstGeom>
          <a:noFill/>
          <a:ln/>
        </p:spPr>
        <p:txBody>
          <a:bodyPr wrap="square" lIns="25400" tIns="25400" rIns="25400" bIns="25400" rtlCol="0" anchor="t">
            <a:normAutofit/>
          </a:bodyPr>
          <a:lstStyle/>
          <a:p>
            <a:pPr marL="0" indent="0" algn="l">
              <a:lnSpc>
                <a:spcPct val="135000"/>
              </a:lnSpc>
              <a:buNone/>
              <a:defRPr/>
            </a:pPr>
            <a:r>
              <a:rPr lang="en-US" sz="1150">
                <a:solidFill>
                  <a:srgbClr val="6E7174"/>
                </a:solidFill>
                <a:latin typeface="Open Sans"/>
                <a:ea typeface="Open Sans"/>
                <a:cs typeface="Open Sans"/>
              </a:rPr>
              <a:t>Engineering, partners, permits</a:t>
            </a:r>
            <a:endParaRPr lang="en-US" sz="1150"/>
          </a:p>
        </p:txBody>
      </p:sp>
      <p:sp>
        <p:nvSpPr>
          <p:cNvPr id="1763942188" name="Shape 35"/>
          <p:cNvSpPr/>
          <p:nvPr/>
        </p:nvSpPr>
        <p:spPr bwMode="auto">
          <a:xfrm>
            <a:off x="10553700" y="4680744"/>
            <a:ext cx="742950" cy="2164556"/>
          </a:xfrm>
          <a:prstGeom prst="rect">
            <a:avLst/>
          </a:prstGeom>
          <a:solidFill>
            <a:srgbClr val="F6F6F4"/>
          </a:solidFill>
          <a:ln/>
        </p:spPr>
      </p:sp>
      <p:sp>
        <p:nvSpPr>
          <p:cNvPr id="1267341834" name="Shape 36"/>
          <p:cNvSpPr/>
          <p:nvPr/>
        </p:nvSpPr>
        <p:spPr bwMode="auto">
          <a:xfrm>
            <a:off x="10553700" y="4680744"/>
            <a:ext cx="9525" cy="2164556"/>
          </a:xfrm>
          <a:prstGeom prst="rect">
            <a:avLst/>
          </a:prstGeom>
          <a:solidFill>
            <a:srgbClr val="C9CBCD"/>
          </a:solidFill>
          <a:ln/>
        </p:spPr>
      </p:sp>
      <p:sp>
        <p:nvSpPr>
          <p:cNvPr id="1442007920" name="Shape 37"/>
          <p:cNvSpPr/>
          <p:nvPr/>
        </p:nvSpPr>
        <p:spPr bwMode="auto">
          <a:xfrm>
            <a:off x="11287125" y="4680744"/>
            <a:ext cx="9525" cy="2164556"/>
          </a:xfrm>
          <a:prstGeom prst="rect">
            <a:avLst/>
          </a:prstGeom>
          <a:solidFill>
            <a:srgbClr val="C9CBCD"/>
          </a:solidFill>
          <a:ln/>
        </p:spPr>
      </p:sp>
      <p:sp>
        <p:nvSpPr>
          <p:cNvPr id="1734971225" name="Text 38"/>
          <p:cNvSpPr/>
          <p:nvPr/>
        </p:nvSpPr>
        <p:spPr bwMode="auto">
          <a:xfrm>
            <a:off x="10806430" y="5287487"/>
            <a:ext cx="313531" cy="238125"/>
          </a:xfrm>
          <a:prstGeom prst="rect">
            <a:avLst/>
          </a:prstGeom>
          <a:noFill/>
          <a:ln/>
        </p:spPr>
        <p:txBody>
          <a:bodyPr wrap="square" lIns="25400" tIns="25400" rIns="25400" bIns="25400" rtlCol="0" anchor="t">
            <a:normAutofit/>
          </a:bodyPr>
          <a:lstStyle/>
          <a:p>
            <a:pPr marL="0" indent="0" algn="l">
              <a:buNone/>
              <a:defRPr/>
            </a:pPr>
            <a:r>
              <a:rPr lang="en-US" sz="1300" b="1">
                <a:solidFill>
                  <a:srgbClr val="2E2E2E"/>
                </a:solidFill>
                <a:latin typeface="Sora"/>
                <a:ea typeface="Sora"/>
                <a:cs typeface="Sora"/>
              </a:rPr>
              <a:t>G3</a:t>
            </a:r>
            <a:endParaRPr lang="en-US" sz="1300"/>
          </a:p>
        </p:txBody>
      </p:sp>
      <p:sp>
        <p:nvSpPr>
          <p:cNvPr id="672853519" name="Text 39"/>
          <p:cNvSpPr/>
          <p:nvPr/>
        </p:nvSpPr>
        <p:spPr bwMode="auto">
          <a:xfrm>
            <a:off x="10834529" y="5544662"/>
            <a:ext cx="257334" cy="731996"/>
          </a:xfrm>
          <a:prstGeom prst="rect">
            <a:avLst/>
          </a:prstGeom>
          <a:noFill/>
          <a:ln/>
        </p:spPr>
        <p:txBody>
          <a:bodyPr vert="eaVert" wrap="square" lIns="25400" tIns="25400" rIns="25400" bIns="25400" rtlCol="0" anchor="t">
            <a:normAutofit/>
          </a:bodyPr>
          <a:lstStyle/>
          <a:p>
            <a:pPr marL="0" indent="0" algn="l">
              <a:buNone/>
              <a:defRPr/>
            </a:pPr>
            <a:r>
              <a:rPr lang="en-US" sz="1050" spc="52">
                <a:solidFill>
                  <a:srgbClr val="6E7174"/>
                </a:solidFill>
                <a:latin typeface="Open Sans"/>
                <a:ea typeface="Open Sans"/>
                <a:cs typeface="Open Sans"/>
              </a:rPr>
              <a:t>¥80–200M</a:t>
            </a:r>
            <a:endParaRPr lang="en-US" sz="1050"/>
          </a:p>
        </p:txBody>
      </p:sp>
      <p:sp>
        <p:nvSpPr>
          <p:cNvPr id="1357188101" name="Shape 40"/>
          <p:cNvSpPr/>
          <p:nvPr/>
        </p:nvSpPr>
        <p:spPr bwMode="auto">
          <a:xfrm>
            <a:off x="11296650" y="4680744"/>
            <a:ext cx="2819400" cy="2164556"/>
          </a:xfrm>
          <a:prstGeom prst="rect">
            <a:avLst/>
          </a:prstGeom>
          <a:solidFill>
            <a:srgbClr val="F6F6F4"/>
          </a:solidFill>
          <a:ln/>
        </p:spPr>
      </p:sp>
      <p:sp>
        <p:nvSpPr>
          <p:cNvPr id="1242972601" name="Text 41"/>
          <p:cNvSpPr/>
          <p:nvPr/>
        </p:nvSpPr>
        <p:spPr bwMode="auto">
          <a:xfrm>
            <a:off x="11506200" y="4928394"/>
            <a:ext cx="2640330" cy="285750"/>
          </a:xfrm>
          <a:prstGeom prst="rect">
            <a:avLst/>
          </a:prstGeom>
          <a:noFill/>
          <a:ln/>
        </p:spPr>
        <p:txBody>
          <a:bodyPr wrap="square" lIns="25400" tIns="25400" rIns="25400" bIns="25400" rtlCol="0" anchor="t">
            <a:normAutofit/>
          </a:bodyPr>
          <a:lstStyle/>
          <a:p>
            <a:pPr marL="0" indent="0" algn="l">
              <a:buNone/>
              <a:defRPr/>
            </a:pPr>
            <a:r>
              <a:rPr lang="en-US" sz="1600" b="1">
                <a:solidFill>
                  <a:srgbClr val="2E2E2E"/>
                </a:solidFill>
                <a:latin typeface="Sora"/>
                <a:ea typeface="Sora"/>
                <a:cs typeface="Sora"/>
              </a:rPr>
              <a:t>Phase 3</a:t>
            </a:r>
            <a:endParaRPr lang="en-US" sz="1600"/>
          </a:p>
        </p:txBody>
      </p:sp>
      <p:sp>
        <p:nvSpPr>
          <p:cNvPr id="1794953191" name="Text 42"/>
          <p:cNvSpPr/>
          <p:nvPr/>
        </p:nvSpPr>
        <p:spPr bwMode="auto">
          <a:xfrm>
            <a:off x="11506200" y="5195094"/>
            <a:ext cx="2640330" cy="247650"/>
          </a:xfrm>
          <a:prstGeom prst="rect">
            <a:avLst/>
          </a:prstGeom>
          <a:noFill/>
          <a:ln/>
        </p:spPr>
        <p:txBody>
          <a:bodyPr wrap="square" lIns="25400" tIns="25400" rIns="25400" bIns="25400" rtlCol="0" anchor="t">
            <a:normAutofit/>
          </a:bodyPr>
          <a:lstStyle/>
          <a:p>
            <a:pPr marL="0" indent="0" algn="l">
              <a:buNone/>
              <a:defRPr/>
            </a:pPr>
            <a:r>
              <a:rPr lang="en-US" sz="1200">
                <a:solidFill>
                  <a:srgbClr val="9B9DA0"/>
                </a:solidFill>
                <a:latin typeface="Open Sans"/>
                <a:ea typeface="Open Sans"/>
                <a:cs typeface="Open Sans"/>
              </a:rPr>
              <a:t>Pilot build</a:t>
            </a:r>
            <a:endParaRPr lang="en-US" sz="1200"/>
          </a:p>
        </p:txBody>
      </p:sp>
      <p:sp>
        <p:nvSpPr>
          <p:cNvPr id="1579803296" name="Text 43"/>
          <p:cNvSpPr/>
          <p:nvPr/>
        </p:nvSpPr>
        <p:spPr bwMode="auto">
          <a:xfrm>
            <a:off x="11506200" y="5537994"/>
            <a:ext cx="2640330" cy="228600"/>
          </a:xfrm>
          <a:prstGeom prst="rect">
            <a:avLst/>
          </a:prstGeom>
          <a:noFill/>
          <a:ln/>
        </p:spPr>
        <p:txBody>
          <a:bodyPr wrap="square" lIns="25400" tIns="25400" rIns="25400" bIns="25400" rtlCol="0" anchor="t">
            <a:normAutofit/>
          </a:bodyPr>
          <a:lstStyle/>
          <a:p>
            <a:pPr marL="0" indent="0" algn="l">
              <a:buNone/>
              <a:defRPr/>
            </a:pPr>
            <a:r>
              <a:rPr lang="en-US" sz="1150">
                <a:solidFill>
                  <a:srgbClr val="9B9DA0"/>
                </a:solidFill>
                <a:latin typeface="Open Sans"/>
                <a:ea typeface="Open Sans"/>
                <a:cs typeface="Open Sans"/>
              </a:rPr>
              <a:t>Months 19–30</a:t>
            </a:r>
            <a:endParaRPr lang="en-US" sz="1150"/>
          </a:p>
        </p:txBody>
      </p:sp>
      <p:sp>
        <p:nvSpPr>
          <p:cNvPr id="1909145053" name="Text 44"/>
          <p:cNvSpPr/>
          <p:nvPr/>
        </p:nvSpPr>
        <p:spPr bwMode="auto">
          <a:xfrm>
            <a:off x="11506200" y="5785644"/>
            <a:ext cx="2640330" cy="276225"/>
          </a:xfrm>
          <a:prstGeom prst="rect">
            <a:avLst/>
          </a:prstGeom>
          <a:noFill/>
          <a:ln/>
        </p:spPr>
        <p:txBody>
          <a:bodyPr wrap="square" lIns="25400" tIns="25400" rIns="25400" bIns="25400" rtlCol="0" anchor="t">
            <a:normAutofit/>
          </a:bodyPr>
          <a:lstStyle/>
          <a:p>
            <a:pPr marL="0" indent="0" algn="l">
              <a:buNone/>
              <a:defRPr/>
            </a:pPr>
            <a:r>
              <a:rPr lang="en-US" sz="1350" b="1">
                <a:solidFill>
                  <a:srgbClr val="2E2E2E"/>
                </a:solidFill>
                <a:latin typeface="Open Sans"/>
                <a:ea typeface="Open Sans"/>
                <a:cs typeface="Open Sans"/>
              </a:rPr>
              <a:t>¥80–200M</a:t>
            </a:r>
            <a:endParaRPr lang="en-US" sz="1350"/>
          </a:p>
        </p:txBody>
      </p:sp>
      <p:sp>
        <p:nvSpPr>
          <p:cNvPr id="96430478" name="Text 45"/>
          <p:cNvSpPr/>
          <p:nvPr/>
        </p:nvSpPr>
        <p:spPr bwMode="auto">
          <a:xfrm>
            <a:off x="11506200" y="6138069"/>
            <a:ext cx="2640330" cy="230981"/>
          </a:xfrm>
          <a:prstGeom prst="rect">
            <a:avLst/>
          </a:prstGeom>
          <a:noFill/>
          <a:ln/>
        </p:spPr>
        <p:txBody>
          <a:bodyPr wrap="square" lIns="25400" tIns="25400" rIns="25400" bIns="25400" rtlCol="0" anchor="t">
            <a:normAutofit/>
          </a:bodyPr>
          <a:lstStyle/>
          <a:p>
            <a:pPr marL="0" indent="0" algn="l">
              <a:lnSpc>
                <a:spcPct val="135000"/>
              </a:lnSpc>
              <a:buNone/>
              <a:defRPr/>
            </a:pPr>
            <a:r>
              <a:rPr lang="en-US" sz="1150">
                <a:solidFill>
                  <a:srgbClr val="6E7174"/>
                </a:solidFill>
                <a:latin typeface="Open Sans"/>
                <a:ea typeface="Open Sans"/>
                <a:cs typeface="Open Sans"/>
              </a:rPr>
              <a:t>First-stage build, commissioning</a:t>
            </a:r>
            <a:endParaRPr lang="en-US" sz="1150"/>
          </a:p>
        </p:txBody>
      </p:sp>
      <p:sp>
        <p:nvSpPr>
          <p:cNvPr id="716007637" name="Shape 46"/>
          <p:cNvSpPr/>
          <p:nvPr/>
        </p:nvSpPr>
        <p:spPr bwMode="auto">
          <a:xfrm>
            <a:off x="14116050" y="4680744"/>
            <a:ext cx="742950" cy="2164556"/>
          </a:xfrm>
          <a:prstGeom prst="rect">
            <a:avLst/>
          </a:prstGeom>
          <a:solidFill>
            <a:srgbClr val="F6F6F4"/>
          </a:solidFill>
          <a:ln/>
        </p:spPr>
      </p:sp>
      <p:sp>
        <p:nvSpPr>
          <p:cNvPr id="2122030368" name="Shape 47"/>
          <p:cNvSpPr/>
          <p:nvPr/>
        </p:nvSpPr>
        <p:spPr bwMode="auto">
          <a:xfrm>
            <a:off x="14116050" y="4680744"/>
            <a:ext cx="9525" cy="2164556"/>
          </a:xfrm>
          <a:prstGeom prst="rect">
            <a:avLst/>
          </a:prstGeom>
          <a:solidFill>
            <a:srgbClr val="C9CBCD"/>
          </a:solidFill>
          <a:ln/>
        </p:spPr>
      </p:sp>
      <p:sp>
        <p:nvSpPr>
          <p:cNvPr id="593118781" name="Shape 48"/>
          <p:cNvSpPr/>
          <p:nvPr/>
        </p:nvSpPr>
        <p:spPr bwMode="auto">
          <a:xfrm>
            <a:off x="14849475" y="4680744"/>
            <a:ext cx="9525" cy="2164556"/>
          </a:xfrm>
          <a:prstGeom prst="rect">
            <a:avLst/>
          </a:prstGeom>
          <a:solidFill>
            <a:srgbClr val="C9CBCD"/>
          </a:solidFill>
          <a:ln/>
        </p:spPr>
      </p:sp>
      <p:sp>
        <p:nvSpPr>
          <p:cNvPr id="544570966" name="Text 49"/>
          <p:cNvSpPr/>
          <p:nvPr/>
        </p:nvSpPr>
        <p:spPr bwMode="auto">
          <a:xfrm>
            <a:off x="14365605" y="5364956"/>
            <a:ext cx="319881" cy="238125"/>
          </a:xfrm>
          <a:prstGeom prst="rect">
            <a:avLst/>
          </a:prstGeom>
          <a:noFill/>
          <a:ln/>
        </p:spPr>
        <p:txBody>
          <a:bodyPr wrap="square" lIns="25400" tIns="25400" rIns="25400" bIns="25400" rtlCol="0" anchor="t">
            <a:normAutofit/>
          </a:bodyPr>
          <a:lstStyle/>
          <a:p>
            <a:pPr marL="0" indent="0" algn="l">
              <a:buNone/>
              <a:defRPr/>
            </a:pPr>
            <a:r>
              <a:rPr lang="en-US" sz="1300" b="1">
                <a:solidFill>
                  <a:srgbClr val="2E2E2E"/>
                </a:solidFill>
                <a:latin typeface="Sora"/>
                <a:ea typeface="Sora"/>
                <a:cs typeface="Sora"/>
              </a:rPr>
              <a:t>G4</a:t>
            </a:r>
            <a:endParaRPr lang="en-US" sz="1300"/>
          </a:p>
        </p:txBody>
      </p:sp>
      <p:sp>
        <p:nvSpPr>
          <p:cNvPr id="160235721" name="Text 50"/>
          <p:cNvSpPr/>
          <p:nvPr/>
        </p:nvSpPr>
        <p:spPr bwMode="auto">
          <a:xfrm>
            <a:off x="14401642" y="5622131"/>
            <a:ext cx="247809" cy="576897"/>
          </a:xfrm>
          <a:prstGeom prst="rect">
            <a:avLst/>
          </a:prstGeom>
          <a:noFill/>
          <a:ln/>
        </p:spPr>
        <p:txBody>
          <a:bodyPr vert="eaVert" wrap="square" lIns="25400" tIns="25400" rIns="25400" bIns="25400" rtlCol="0" anchor="t">
            <a:normAutofit/>
          </a:bodyPr>
          <a:lstStyle/>
          <a:p>
            <a:pPr marL="0" indent="0" algn="l">
              <a:buNone/>
              <a:defRPr/>
            </a:pPr>
            <a:r>
              <a:rPr lang="en-US" sz="1000" spc="49">
                <a:solidFill>
                  <a:srgbClr val="6E7174"/>
                </a:solidFill>
                <a:latin typeface="Open Sans"/>
                <a:ea typeface="Open Sans"/>
                <a:cs typeface="Open Sans"/>
              </a:rPr>
              <a:t>Revenue</a:t>
            </a:r>
            <a:endParaRPr lang="en-US" sz="1000"/>
          </a:p>
        </p:txBody>
      </p:sp>
      <p:sp>
        <p:nvSpPr>
          <p:cNvPr id="1679481780" name="Shape 51"/>
          <p:cNvSpPr/>
          <p:nvPr/>
        </p:nvSpPr>
        <p:spPr bwMode="auto">
          <a:xfrm>
            <a:off x="14859000" y="4680744"/>
            <a:ext cx="2819400" cy="2164556"/>
          </a:xfrm>
          <a:prstGeom prst="rect">
            <a:avLst/>
          </a:prstGeom>
          <a:solidFill>
            <a:srgbClr val="2E2E2E"/>
          </a:solidFill>
          <a:ln/>
        </p:spPr>
      </p:sp>
      <p:sp>
        <p:nvSpPr>
          <p:cNvPr id="1155898590" name="Text 52"/>
          <p:cNvSpPr/>
          <p:nvPr/>
        </p:nvSpPr>
        <p:spPr bwMode="auto">
          <a:xfrm>
            <a:off x="15068550" y="4928394"/>
            <a:ext cx="2640330" cy="285750"/>
          </a:xfrm>
          <a:prstGeom prst="rect">
            <a:avLst/>
          </a:prstGeom>
          <a:noFill/>
          <a:ln/>
        </p:spPr>
        <p:txBody>
          <a:bodyPr wrap="square" lIns="25400" tIns="25400" rIns="25400" bIns="25400" rtlCol="0" anchor="t">
            <a:normAutofit/>
          </a:bodyPr>
          <a:lstStyle/>
          <a:p>
            <a:pPr marL="0" indent="0" algn="l">
              <a:buNone/>
              <a:defRPr/>
            </a:pPr>
            <a:r>
              <a:rPr lang="en-US" sz="1600" b="1">
                <a:solidFill>
                  <a:srgbClr val="FFFFFF"/>
                </a:solidFill>
                <a:latin typeface="Sora"/>
                <a:ea typeface="Sora"/>
                <a:cs typeface="Sora"/>
              </a:rPr>
              <a:t>Phase 4</a:t>
            </a:r>
            <a:endParaRPr lang="en-US" sz="1600"/>
          </a:p>
        </p:txBody>
      </p:sp>
      <p:sp>
        <p:nvSpPr>
          <p:cNvPr id="325345547" name="Text 53"/>
          <p:cNvSpPr/>
          <p:nvPr/>
        </p:nvSpPr>
        <p:spPr bwMode="auto">
          <a:xfrm>
            <a:off x="15068550" y="5195094"/>
            <a:ext cx="2640330" cy="247650"/>
          </a:xfrm>
          <a:prstGeom prst="rect">
            <a:avLst/>
          </a:prstGeom>
          <a:noFill/>
          <a:ln/>
        </p:spPr>
        <p:txBody>
          <a:bodyPr wrap="square" lIns="25400" tIns="25400" rIns="25400" bIns="25400" rtlCol="0" anchor="t">
            <a:normAutofit/>
          </a:bodyPr>
          <a:lstStyle/>
          <a:p>
            <a:pPr marL="0" indent="0" algn="l">
              <a:buNone/>
              <a:defRPr/>
            </a:pPr>
            <a:r>
              <a:rPr lang="en-US" sz="1200">
                <a:solidFill>
                  <a:srgbClr val="C7C9CB"/>
                </a:solidFill>
                <a:latin typeface="Open Sans"/>
                <a:ea typeface="Open Sans"/>
                <a:cs typeface="Open Sans"/>
              </a:rPr>
              <a:t>Operate &amp; scale</a:t>
            </a:r>
            <a:endParaRPr lang="en-US" sz="1200"/>
          </a:p>
        </p:txBody>
      </p:sp>
      <p:sp>
        <p:nvSpPr>
          <p:cNvPr id="798317969" name="Text 54"/>
          <p:cNvSpPr/>
          <p:nvPr/>
        </p:nvSpPr>
        <p:spPr bwMode="auto">
          <a:xfrm>
            <a:off x="15068550" y="5537994"/>
            <a:ext cx="2640330" cy="228600"/>
          </a:xfrm>
          <a:prstGeom prst="rect">
            <a:avLst/>
          </a:prstGeom>
          <a:noFill/>
          <a:ln/>
        </p:spPr>
        <p:txBody>
          <a:bodyPr wrap="square" lIns="25400" tIns="25400" rIns="25400" bIns="25400" rtlCol="0" anchor="t">
            <a:normAutofit/>
          </a:bodyPr>
          <a:lstStyle/>
          <a:p>
            <a:pPr marL="0" indent="0" algn="l">
              <a:buNone/>
              <a:defRPr/>
            </a:pPr>
            <a:r>
              <a:rPr lang="en-US" sz="1150">
                <a:solidFill>
                  <a:srgbClr val="C7C9CB"/>
                </a:solidFill>
                <a:latin typeface="Open Sans"/>
                <a:ea typeface="Open Sans"/>
                <a:cs typeface="Open Sans"/>
              </a:rPr>
              <a:t>Months 31+</a:t>
            </a:r>
            <a:endParaRPr lang="en-US" sz="1150"/>
          </a:p>
        </p:txBody>
      </p:sp>
      <p:sp>
        <p:nvSpPr>
          <p:cNvPr id="1009645" name="Text 55"/>
          <p:cNvSpPr/>
          <p:nvPr/>
        </p:nvSpPr>
        <p:spPr bwMode="auto">
          <a:xfrm>
            <a:off x="15068550" y="5785644"/>
            <a:ext cx="2640330" cy="276225"/>
          </a:xfrm>
          <a:prstGeom prst="rect">
            <a:avLst/>
          </a:prstGeom>
          <a:noFill/>
          <a:ln/>
        </p:spPr>
        <p:txBody>
          <a:bodyPr wrap="square" lIns="25400" tIns="25400" rIns="25400" bIns="25400" rtlCol="0" anchor="t">
            <a:normAutofit/>
          </a:bodyPr>
          <a:lstStyle/>
          <a:p>
            <a:pPr marL="0" indent="0" algn="l">
              <a:buNone/>
              <a:defRPr/>
            </a:pPr>
            <a:r>
              <a:rPr lang="en-US" sz="1350" b="1">
                <a:solidFill>
                  <a:srgbClr val="FFFFFF"/>
                </a:solidFill>
                <a:latin typeface="Open Sans"/>
                <a:ea typeface="Open Sans"/>
                <a:cs typeface="Open Sans"/>
              </a:rPr>
              <a:t>Variable</a:t>
            </a:r>
            <a:endParaRPr lang="en-US" sz="1350"/>
          </a:p>
        </p:txBody>
      </p:sp>
      <p:sp>
        <p:nvSpPr>
          <p:cNvPr id="642098230" name="Text 56"/>
          <p:cNvSpPr/>
          <p:nvPr/>
        </p:nvSpPr>
        <p:spPr bwMode="auto">
          <a:xfrm>
            <a:off x="15068550" y="6138069"/>
            <a:ext cx="2640330" cy="230981"/>
          </a:xfrm>
          <a:prstGeom prst="rect">
            <a:avLst/>
          </a:prstGeom>
          <a:noFill/>
          <a:ln/>
        </p:spPr>
        <p:txBody>
          <a:bodyPr wrap="square" lIns="25400" tIns="25400" rIns="25400" bIns="25400" rtlCol="0" anchor="t">
            <a:normAutofit/>
          </a:bodyPr>
          <a:lstStyle/>
          <a:p>
            <a:pPr marL="0" indent="0" algn="l">
              <a:lnSpc>
                <a:spcPct val="135000"/>
              </a:lnSpc>
              <a:buNone/>
              <a:defRPr/>
            </a:pPr>
            <a:r>
              <a:rPr lang="en-US" sz="1150">
                <a:solidFill>
                  <a:srgbClr val="C7C9CB"/>
                </a:solidFill>
                <a:latin typeface="Open Sans"/>
                <a:ea typeface="Open Sans"/>
                <a:cs typeface="Open Sans"/>
              </a:rPr>
              <a:t>Operations, monitoring, replication</a:t>
            </a:r>
            <a:endParaRPr lang="en-US" sz="1150"/>
          </a:p>
        </p:txBody>
      </p:sp>
      <p:sp>
        <p:nvSpPr>
          <p:cNvPr id="1829611465" name="Shape 57"/>
          <p:cNvSpPr/>
          <p:nvPr/>
        </p:nvSpPr>
        <p:spPr bwMode="auto">
          <a:xfrm>
            <a:off x="609600" y="9051607"/>
            <a:ext cx="17068800" cy="549592"/>
          </a:xfrm>
          <a:prstGeom prst="rect">
            <a:avLst/>
          </a:prstGeom>
          <a:solidFill>
            <a:srgbClr val="FBEFE0"/>
          </a:solidFill>
          <a:ln/>
        </p:spPr>
      </p:sp>
      <p:sp>
        <p:nvSpPr>
          <p:cNvPr id="1456552746" name="Shape 58"/>
          <p:cNvSpPr/>
          <p:nvPr/>
        </p:nvSpPr>
        <p:spPr bwMode="auto">
          <a:xfrm>
            <a:off x="609600" y="9051607"/>
            <a:ext cx="38100" cy="549592"/>
          </a:xfrm>
          <a:prstGeom prst="rect">
            <a:avLst/>
          </a:prstGeom>
          <a:solidFill>
            <a:srgbClr val="E58520"/>
          </a:solidFill>
          <a:ln/>
        </p:spPr>
      </p:sp>
      <p:sp>
        <p:nvSpPr>
          <p:cNvPr id="1655456804" name="Text 59"/>
          <p:cNvSpPr/>
          <p:nvPr/>
        </p:nvSpPr>
        <p:spPr bwMode="auto">
          <a:xfrm>
            <a:off x="857250" y="9204007"/>
            <a:ext cx="17123664" cy="282892"/>
          </a:xfrm>
          <a:prstGeom prst="rect">
            <a:avLst/>
          </a:prstGeom>
          <a:noFill/>
          <a:ln/>
        </p:spPr>
        <p:txBody>
          <a:bodyPr wrap="square" lIns="25400" tIns="25400" rIns="25400" bIns="25400" rtlCol="0" anchor="t">
            <a:normAutofit/>
          </a:bodyPr>
          <a:lstStyle/>
          <a:p>
            <a:pPr marL="0" indent="0" algn="l">
              <a:lnSpc>
                <a:spcPct val="140000"/>
              </a:lnSpc>
              <a:buNone/>
              <a:defRPr/>
            </a:pPr>
            <a:r>
              <a:rPr lang="en-US" sz="1350">
                <a:solidFill>
                  <a:srgbClr val="6E7174"/>
                </a:solidFill>
                <a:highlight>
                  <a:srgbClr val="FBEFE0"/>
                </a:highlight>
                <a:latin typeface="Open Sans"/>
                <a:ea typeface="Open Sans"/>
                <a:cs typeface="Open Sans"/>
              </a:rPr>
              <a:t>Miss a gate → </a:t>
            </a:r>
            <a:r>
              <a:rPr lang="en-US" sz="1350" b="1">
                <a:solidFill>
                  <a:srgbClr val="6E7174"/>
                </a:solidFill>
                <a:latin typeface="Open Sans"/>
                <a:ea typeface="Open Sans"/>
                <a:cs typeface="Open Sans"/>
              </a:rPr>
              <a:t>hold &amp; re-pitch </a:t>
            </a:r>
            <a:r>
              <a:rPr lang="en-US" sz="1350">
                <a:solidFill>
                  <a:srgbClr val="6E7174"/>
                </a:solidFill>
                <a:highlight>
                  <a:srgbClr val="FBEFE0"/>
                </a:highlight>
                <a:latin typeface="Open Sans"/>
                <a:ea typeface="Open Sans"/>
                <a:cs typeface="Open Sans"/>
              </a:rPr>
              <a:t>or descope. Never accelerate into an under-resourced phase. </a:t>
            </a:r>
            <a:r>
              <a:rPr lang="en-US" sz="1350">
                <a:solidFill>
                  <a:srgbClr val="9B9DA0"/>
                </a:solidFill>
                <a:latin typeface="Noto Sans JP"/>
                <a:ea typeface="Noto Sans JP"/>
                <a:cs typeface="Noto Sans JP"/>
              </a:rPr>
              <a:t>ゲート未達なら保留・縮小。</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FFFFF"/>
        </a:solidFill>
      </p:bgPr>
    </p:bg>
    <p:spTree>
      <p:nvGrpSpPr>
        <p:cNvPr id="1" name=""/>
        <p:cNvGrpSpPr/>
        <p:nvPr/>
      </p:nvGrpSpPr>
      <p:grpSpPr bwMode="auto">
        <a:xfrm>
          <a:off x="0" y="0"/>
          <a:ext cx="0" cy="0"/>
          <a:chOff x="0" y="0"/>
          <a:chExt cx="0" cy="0"/>
        </a:xfrm>
      </p:grpSpPr>
      <p:sp>
        <p:nvSpPr>
          <p:cNvPr id="332174052" name="Shape 0"/>
          <p:cNvSpPr/>
          <p:nvPr/>
        </p:nvSpPr>
        <p:spPr bwMode="auto">
          <a:xfrm>
            <a:off x="0" y="0"/>
            <a:ext cx="18288000" cy="76200"/>
          </a:xfrm>
          <a:prstGeom prst="rect">
            <a:avLst/>
          </a:prstGeom>
          <a:solidFill>
            <a:srgbClr val="9B9DA0"/>
          </a:solidFill>
          <a:ln/>
        </p:spPr>
      </p:sp>
      <p:sp>
        <p:nvSpPr>
          <p:cNvPr id="1699824719" name="Shape 1"/>
          <p:cNvSpPr/>
          <p:nvPr/>
        </p:nvSpPr>
        <p:spPr bwMode="auto">
          <a:xfrm>
            <a:off x="609600" y="895350"/>
            <a:ext cx="438149" cy="47625"/>
          </a:xfrm>
          <a:prstGeom prst="rect">
            <a:avLst/>
          </a:prstGeom>
          <a:solidFill>
            <a:srgbClr val="E58520"/>
          </a:solidFill>
          <a:ln/>
        </p:spPr>
      </p:sp>
      <p:sp>
        <p:nvSpPr>
          <p:cNvPr id="1981536119" name="Text 2"/>
          <p:cNvSpPr/>
          <p:nvPr/>
        </p:nvSpPr>
        <p:spPr bwMode="auto">
          <a:xfrm>
            <a:off x="1181099" y="800100"/>
            <a:ext cx="3344244"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FUNDING STACK · 資金構成 · 11</a:t>
            </a:r>
            <a:endParaRPr lang="en-US" sz="1300"/>
          </a:p>
        </p:txBody>
      </p:sp>
      <p:sp>
        <p:nvSpPr>
          <p:cNvPr id="110283904" name="Text 3"/>
          <p:cNvSpPr/>
          <p:nvPr/>
        </p:nvSpPr>
        <p:spPr bwMode="auto">
          <a:xfrm>
            <a:off x="609600" y="1228725"/>
            <a:ext cx="11006265" cy="621030"/>
          </a:xfrm>
          <a:prstGeom prst="rect">
            <a:avLst/>
          </a:prstGeom>
          <a:noFill/>
          <a:ln/>
        </p:spPr>
        <p:txBody>
          <a:bodyPr wrap="square" lIns="25400" tIns="25400" rIns="25400" bIns="25400" rtlCol="0" anchor="t">
            <a:normAutofit/>
          </a:bodyPr>
          <a:lstStyle/>
          <a:p>
            <a:pPr marL="0" indent="0" algn="l">
              <a:lnSpc>
                <a:spcPct val="102000"/>
              </a:lnSpc>
              <a:buNone/>
              <a:defRPr/>
            </a:pPr>
            <a:r>
              <a:rPr lang="en-US" sz="4500" b="1" spc="-45">
                <a:solidFill>
                  <a:srgbClr val="2E2E2E"/>
                </a:solidFill>
                <a:latin typeface="Sora"/>
                <a:ea typeface="Sora"/>
                <a:cs typeface="Sora"/>
              </a:rPr>
              <a:t>Five layers, staged over three years</a:t>
            </a:r>
            <a:endParaRPr lang="en-US" sz="4500"/>
          </a:p>
        </p:txBody>
      </p:sp>
      <p:sp>
        <p:nvSpPr>
          <p:cNvPr id="111262004" name="Text 4"/>
          <p:cNvSpPr/>
          <p:nvPr/>
        </p:nvSpPr>
        <p:spPr bwMode="auto">
          <a:xfrm>
            <a:off x="609600" y="1887855"/>
            <a:ext cx="11006265" cy="390525"/>
          </a:xfrm>
          <a:prstGeom prst="rect">
            <a:avLst/>
          </a:prstGeom>
          <a:noFill/>
          <a:ln/>
        </p:spPr>
        <p:txBody>
          <a:bodyPr wrap="square" lIns="25400" tIns="25400" rIns="25400" bIns="25400" rtlCol="0" anchor="t">
            <a:normAutofit/>
          </a:bodyPr>
          <a:lstStyle/>
          <a:p>
            <a:pPr marL="0" indent="0" algn="l">
              <a:buNone/>
              <a:defRPr/>
            </a:pPr>
            <a:r>
              <a:rPr lang="en-US" sz="1900">
                <a:solidFill>
                  <a:srgbClr val="6E7174"/>
                </a:solidFill>
                <a:latin typeface="Noto Sans JP"/>
                <a:ea typeface="Noto Sans JP"/>
                <a:cs typeface="Noto Sans JP"/>
              </a:rPr>
              <a:t>五層の資金 — 単一財源に依存しない。</a:t>
            </a:r>
            <a:endParaRPr lang="en-US" sz="1900"/>
          </a:p>
        </p:txBody>
      </p:sp>
      <p:sp>
        <p:nvSpPr>
          <p:cNvPr id="1736529750" name="Text 5"/>
          <p:cNvSpPr/>
          <p:nvPr/>
        </p:nvSpPr>
        <p:spPr bwMode="auto">
          <a:xfrm>
            <a:off x="14694758" y="1468755"/>
            <a:ext cx="2983643" cy="228600"/>
          </a:xfrm>
          <a:prstGeom prst="rect">
            <a:avLst/>
          </a:prstGeom>
          <a:noFill/>
          <a:ln/>
        </p:spPr>
        <p:txBody>
          <a:bodyPr wrap="square" lIns="25400" tIns="25400" rIns="25400" bIns="25400" rtlCol="0" anchor="t">
            <a:normAutofit/>
          </a:bodyPr>
          <a:lstStyle/>
          <a:p>
            <a:pPr marL="0" indent="0" algn="r">
              <a:buNone/>
              <a:defRPr/>
            </a:pPr>
            <a:r>
              <a:rPr lang="en-US" sz="1150" b="1" spc="135">
                <a:solidFill>
                  <a:srgbClr val="A9ABAE"/>
                </a:solidFill>
                <a:latin typeface="Open Sans"/>
                <a:ea typeface="Open Sans"/>
                <a:cs typeface="Open Sans"/>
              </a:rPr>
              <a:t>YEAR 1 → YEAR 3</a:t>
            </a:r>
            <a:endParaRPr lang="en-US" sz="1150"/>
          </a:p>
        </p:txBody>
      </p:sp>
      <p:sp>
        <p:nvSpPr>
          <p:cNvPr id="81432527" name="Text 6"/>
          <p:cNvSpPr/>
          <p:nvPr/>
        </p:nvSpPr>
        <p:spPr bwMode="auto">
          <a:xfrm>
            <a:off x="14694758" y="1697355"/>
            <a:ext cx="2983643" cy="523875"/>
          </a:xfrm>
          <a:prstGeom prst="rect">
            <a:avLst/>
          </a:prstGeom>
          <a:noFill/>
          <a:ln/>
        </p:spPr>
        <p:txBody>
          <a:bodyPr wrap="square" lIns="25400" tIns="25400" rIns="25400" bIns="25400" rtlCol="0" anchor="t">
            <a:normAutofit/>
          </a:bodyPr>
          <a:lstStyle/>
          <a:p>
            <a:pPr marL="0" indent="0" algn="r">
              <a:buNone/>
              <a:defRPr/>
            </a:pPr>
            <a:r>
              <a:rPr lang="en-US" sz="3000" b="1">
                <a:solidFill>
                  <a:srgbClr val="2E2E2E"/>
                </a:solidFill>
                <a:latin typeface="Sora"/>
                <a:ea typeface="Sora"/>
                <a:cs typeface="Sora"/>
              </a:rPr>
              <a:t>¥11M </a:t>
            </a:r>
            <a:r>
              <a:rPr lang="en-US" sz="3000" b="1">
                <a:solidFill>
                  <a:srgbClr val="E58520"/>
                </a:solidFill>
                <a:latin typeface="Sora"/>
                <a:ea typeface="Sora"/>
                <a:cs typeface="Sora"/>
              </a:rPr>
              <a:t>→ </a:t>
            </a:r>
            <a:r>
              <a:rPr lang="en-US" sz="3000" b="1">
                <a:solidFill>
                  <a:srgbClr val="2E2E2E"/>
                </a:solidFill>
                <a:latin typeface="Sora"/>
                <a:ea typeface="Sora"/>
                <a:cs typeface="Sora"/>
              </a:rPr>
              <a:t>¥134M</a:t>
            </a:r>
            <a:endParaRPr lang="en-US" sz="3000"/>
          </a:p>
        </p:txBody>
      </p:sp>
      <p:sp>
        <p:nvSpPr>
          <p:cNvPr id="1966062601" name="Shape 7"/>
          <p:cNvSpPr/>
          <p:nvPr/>
        </p:nvSpPr>
        <p:spPr bwMode="auto">
          <a:xfrm>
            <a:off x="609600" y="4558665"/>
            <a:ext cx="17068800" cy="19050"/>
          </a:xfrm>
          <a:prstGeom prst="rect">
            <a:avLst/>
          </a:prstGeom>
          <a:solidFill>
            <a:srgbClr val="2E2E2E"/>
          </a:solidFill>
          <a:ln/>
        </p:spPr>
      </p:sp>
      <p:sp>
        <p:nvSpPr>
          <p:cNvPr id="369146055" name="Text 8"/>
          <p:cNvSpPr/>
          <p:nvPr/>
        </p:nvSpPr>
        <p:spPr bwMode="auto">
          <a:xfrm>
            <a:off x="1390650" y="4206240"/>
            <a:ext cx="11776710" cy="257175"/>
          </a:xfrm>
          <a:prstGeom prst="rect">
            <a:avLst/>
          </a:prstGeom>
          <a:noFill/>
          <a:ln/>
        </p:spPr>
        <p:txBody>
          <a:bodyPr wrap="square" lIns="25400" tIns="25400" rIns="25400" bIns="25400" rtlCol="0" anchor="t">
            <a:normAutofit/>
          </a:bodyPr>
          <a:lstStyle/>
          <a:p>
            <a:pPr marL="0" indent="0" algn="l">
              <a:buNone/>
              <a:defRPr/>
            </a:pPr>
            <a:r>
              <a:rPr lang="en-US" sz="1150" b="1" spc="113">
                <a:solidFill>
                  <a:srgbClr val="A9ABAE"/>
                </a:solidFill>
                <a:latin typeface="Open Sans"/>
                <a:ea typeface="Open Sans"/>
                <a:cs typeface="Open Sans"/>
              </a:rPr>
              <a:t>SOURCE · 財源</a:t>
            </a:r>
            <a:endParaRPr lang="en-US" sz="1150"/>
          </a:p>
        </p:txBody>
      </p:sp>
      <p:sp>
        <p:nvSpPr>
          <p:cNvPr id="198412912" name="Text 9"/>
          <p:cNvSpPr/>
          <p:nvPr/>
        </p:nvSpPr>
        <p:spPr bwMode="auto">
          <a:xfrm>
            <a:off x="14468475" y="4220528"/>
            <a:ext cx="1571625" cy="228600"/>
          </a:xfrm>
          <a:prstGeom prst="rect">
            <a:avLst/>
          </a:prstGeom>
          <a:noFill/>
          <a:ln/>
        </p:spPr>
        <p:txBody>
          <a:bodyPr wrap="square" lIns="25400" tIns="25400" rIns="25400" bIns="25400" rtlCol="0" anchor="t">
            <a:normAutofit/>
          </a:bodyPr>
          <a:lstStyle/>
          <a:p>
            <a:pPr marL="0" indent="0" algn="r">
              <a:buNone/>
              <a:defRPr/>
            </a:pPr>
            <a:r>
              <a:rPr lang="en-US" sz="1150" b="1" spc="113">
                <a:solidFill>
                  <a:srgbClr val="A9ABAE"/>
                </a:solidFill>
                <a:latin typeface="Open Sans"/>
                <a:ea typeface="Open Sans"/>
                <a:cs typeface="Open Sans"/>
              </a:rPr>
              <a:t>YEAR 1</a:t>
            </a:r>
            <a:endParaRPr lang="en-US" sz="1150"/>
          </a:p>
        </p:txBody>
      </p:sp>
      <p:sp>
        <p:nvSpPr>
          <p:cNvPr id="1292744583" name="Text 10"/>
          <p:cNvSpPr/>
          <p:nvPr/>
        </p:nvSpPr>
        <p:spPr bwMode="auto">
          <a:xfrm>
            <a:off x="16106775" y="4220528"/>
            <a:ext cx="1571625" cy="228600"/>
          </a:xfrm>
          <a:prstGeom prst="rect">
            <a:avLst/>
          </a:prstGeom>
          <a:noFill/>
          <a:ln/>
        </p:spPr>
        <p:txBody>
          <a:bodyPr wrap="square" lIns="25400" tIns="25400" rIns="25400" bIns="25400" rtlCol="0" anchor="t">
            <a:normAutofit/>
          </a:bodyPr>
          <a:lstStyle/>
          <a:p>
            <a:pPr marL="0" indent="0" algn="r">
              <a:buNone/>
              <a:defRPr/>
            </a:pPr>
            <a:r>
              <a:rPr lang="en-US" sz="1150" b="1" spc="113">
                <a:solidFill>
                  <a:srgbClr val="A9ABAE"/>
                </a:solidFill>
                <a:latin typeface="Open Sans"/>
                <a:ea typeface="Open Sans"/>
                <a:cs typeface="Open Sans"/>
              </a:rPr>
              <a:t>YEAR 3</a:t>
            </a:r>
            <a:endParaRPr lang="en-US" sz="1150"/>
          </a:p>
        </p:txBody>
      </p:sp>
      <p:sp>
        <p:nvSpPr>
          <p:cNvPr id="1328012637" name="Shape 11"/>
          <p:cNvSpPr/>
          <p:nvPr/>
        </p:nvSpPr>
        <p:spPr bwMode="auto">
          <a:xfrm>
            <a:off x="609600" y="5187315"/>
            <a:ext cx="17068800" cy="9525"/>
          </a:xfrm>
          <a:prstGeom prst="rect">
            <a:avLst/>
          </a:prstGeom>
          <a:solidFill>
            <a:srgbClr val="E6E6E2"/>
          </a:solidFill>
          <a:ln/>
        </p:spPr>
      </p:sp>
      <p:sp>
        <p:nvSpPr>
          <p:cNvPr id="1906961840" name="Text 12"/>
          <p:cNvSpPr/>
          <p:nvPr/>
        </p:nvSpPr>
        <p:spPr bwMode="auto">
          <a:xfrm>
            <a:off x="609600" y="4782503"/>
            <a:ext cx="647700" cy="238125"/>
          </a:xfrm>
          <a:prstGeom prst="rect">
            <a:avLst/>
          </a:prstGeom>
          <a:noFill/>
          <a:ln/>
        </p:spPr>
        <p:txBody>
          <a:bodyPr wrap="square" lIns="25400" tIns="25400" rIns="25400" bIns="25400" rtlCol="0" anchor="t">
            <a:normAutofit/>
          </a:bodyPr>
          <a:lstStyle/>
          <a:p>
            <a:pPr marL="0" indent="0" algn="l">
              <a:buNone/>
              <a:defRPr/>
            </a:pPr>
            <a:r>
              <a:rPr lang="en-US" sz="1200" b="1">
                <a:solidFill>
                  <a:srgbClr val="9B9DA0"/>
                </a:solidFill>
                <a:latin typeface="Sora"/>
                <a:ea typeface="Sora"/>
                <a:cs typeface="Sora"/>
              </a:rPr>
              <a:t>L1</a:t>
            </a:r>
            <a:endParaRPr lang="en-US" sz="1200"/>
          </a:p>
        </p:txBody>
      </p:sp>
      <p:sp>
        <p:nvSpPr>
          <p:cNvPr id="17773203" name="Text 13"/>
          <p:cNvSpPr/>
          <p:nvPr/>
        </p:nvSpPr>
        <p:spPr bwMode="auto">
          <a:xfrm>
            <a:off x="1390650" y="4739640"/>
            <a:ext cx="11776710" cy="323850"/>
          </a:xfrm>
          <a:prstGeom prst="rect">
            <a:avLst/>
          </a:prstGeom>
          <a:noFill/>
          <a:ln/>
        </p:spPr>
        <p:txBody>
          <a:bodyPr wrap="square" lIns="25400" tIns="25400" rIns="25400" bIns="25400" rtlCol="0" anchor="t">
            <a:normAutofit/>
          </a:bodyPr>
          <a:lstStyle/>
          <a:p>
            <a:pPr marL="0" indent="0" algn="l">
              <a:buNone/>
              <a:defRPr/>
            </a:pPr>
            <a:r>
              <a:rPr lang="en-US" sz="1650" b="1">
                <a:solidFill>
                  <a:srgbClr val="2E2E2E"/>
                </a:solidFill>
                <a:latin typeface="Open Sans"/>
                <a:ea typeface="Open Sans"/>
                <a:cs typeface="Open Sans"/>
              </a:rPr>
              <a:t>Founder / private capital </a:t>
            </a:r>
            <a:r>
              <a:rPr lang="en-US" sz="1200" b="1">
                <a:solidFill>
                  <a:srgbClr val="9B9DA0"/>
                </a:solidFill>
                <a:latin typeface="Noto Sans JP"/>
                <a:ea typeface="Noto Sans JP"/>
                <a:cs typeface="Noto Sans JP"/>
              </a:rPr>
              <a:t>自己資金</a:t>
            </a:r>
            <a:endParaRPr lang="en-US" sz="1650"/>
          </a:p>
        </p:txBody>
      </p:sp>
      <p:sp>
        <p:nvSpPr>
          <p:cNvPr id="569017419" name="Shape 14"/>
          <p:cNvSpPr/>
          <p:nvPr/>
        </p:nvSpPr>
        <p:spPr bwMode="auto">
          <a:xfrm>
            <a:off x="12306299" y="4815840"/>
            <a:ext cx="2095500" cy="133350"/>
          </a:xfrm>
          <a:prstGeom prst="rect">
            <a:avLst/>
          </a:prstGeom>
          <a:solidFill>
            <a:srgbClr val="F1F1EF"/>
          </a:solidFill>
          <a:ln/>
        </p:spPr>
      </p:sp>
      <p:sp>
        <p:nvSpPr>
          <p:cNvPr id="115730160" name="Shape 15"/>
          <p:cNvSpPr/>
          <p:nvPr/>
        </p:nvSpPr>
        <p:spPr bwMode="auto">
          <a:xfrm>
            <a:off x="12306299" y="4815840"/>
            <a:ext cx="167640" cy="133350"/>
          </a:xfrm>
          <a:prstGeom prst="rect">
            <a:avLst/>
          </a:prstGeom>
          <a:solidFill>
            <a:srgbClr val="C7C9CB"/>
          </a:solidFill>
          <a:ln/>
        </p:spPr>
      </p:sp>
      <p:sp>
        <p:nvSpPr>
          <p:cNvPr id="246393652" name="Text 16"/>
          <p:cNvSpPr/>
          <p:nvPr/>
        </p:nvSpPr>
        <p:spPr bwMode="auto">
          <a:xfrm>
            <a:off x="14468475" y="4753928"/>
            <a:ext cx="1571625" cy="295274"/>
          </a:xfrm>
          <a:prstGeom prst="rect">
            <a:avLst/>
          </a:prstGeom>
          <a:noFill/>
          <a:ln/>
        </p:spPr>
        <p:txBody>
          <a:bodyPr wrap="square" lIns="25400" tIns="25400" rIns="25400" bIns="25400" rtlCol="0" anchor="t">
            <a:normAutofit/>
          </a:bodyPr>
          <a:lstStyle/>
          <a:p>
            <a:pPr marL="0" indent="0" algn="r">
              <a:buNone/>
              <a:defRPr/>
            </a:pPr>
            <a:r>
              <a:rPr lang="en-US" sz="1500" b="1">
                <a:solidFill>
                  <a:srgbClr val="6E7174"/>
                </a:solidFill>
                <a:latin typeface="Open Sans"/>
                <a:ea typeface="Open Sans"/>
                <a:cs typeface="Open Sans"/>
              </a:rPr>
              <a:t>¥3M</a:t>
            </a:r>
            <a:endParaRPr lang="en-US" sz="1500"/>
          </a:p>
        </p:txBody>
      </p:sp>
      <p:sp>
        <p:nvSpPr>
          <p:cNvPr id="1218525011" name="Text 17"/>
          <p:cNvSpPr/>
          <p:nvPr/>
        </p:nvSpPr>
        <p:spPr bwMode="auto">
          <a:xfrm>
            <a:off x="16106775" y="4739640"/>
            <a:ext cx="1571625" cy="323850"/>
          </a:xfrm>
          <a:prstGeom prst="rect">
            <a:avLst/>
          </a:prstGeom>
          <a:noFill/>
          <a:ln/>
        </p:spPr>
        <p:txBody>
          <a:bodyPr wrap="square" lIns="25400" tIns="25400" rIns="25400" bIns="25400" rtlCol="0" anchor="t">
            <a:normAutofit/>
          </a:bodyPr>
          <a:lstStyle/>
          <a:p>
            <a:pPr marL="0" indent="0" algn="r">
              <a:buNone/>
              <a:defRPr/>
            </a:pPr>
            <a:r>
              <a:rPr lang="en-US" sz="1650" b="1">
                <a:solidFill>
                  <a:srgbClr val="2E2E2E"/>
                </a:solidFill>
                <a:latin typeface="Open Sans"/>
                <a:ea typeface="Open Sans"/>
                <a:cs typeface="Open Sans"/>
              </a:rPr>
              <a:t>¥1M</a:t>
            </a:r>
            <a:endParaRPr lang="en-US" sz="1650"/>
          </a:p>
        </p:txBody>
      </p:sp>
      <p:sp>
        <p:nvSpPr>
          <p:cNvPr id="2045001067" name="Shape 18"/>
          <p:cNvSpPr/>
          <p:nvPr/>
        </p:nvSpPr>
        <p:spPr bwMode="auto">
          <a:xfrm>
            <a:off x="609600" y="5806440"/>
            <a:ext cx="17068800" cy="9525"/>
          </a:xfrm>
          <a:prstGeom prst="rect">
            <a:avLst/>
          </a:prstGeom>
          <a:solidFill>
            <a:srgbClr val="E6E6E2"/>
          </a:solidFill>
          <a:ln/>
        </p:spPr>
      </p:sp>
      <p:sp>
        <p:nvSpPr>
          <p:cNvPr id="828673524" name="Text 19"/>
          <p:cNvSpPr/>
          <p:nvPr/>
        </p:nvSpPr>
        <p:spPr bwMode="auto">
          <a:xfrm>
            <a:off x="609600" y="5401627"/>
            <a:ext cx="647700" cy="238125"/>
          </a:xfrm>
          <a:prstGeom prst="rect">
            <a:avLst/>
          </a:prstGeom>
          <a:noFill/>
          <a:ln/>
        </p:spPr>
        <p:txBody>
          <a:bodyPr wrap="square" lIns="25400" tIns="25400" rIns="25400" bIns="25400" rtlCol="0" anchor="t">
            <a:normAutofit/>
          </a:bodyPr>
          <a:lstStyle/>
          <a:p>
            <a:pPr marL="0" indent="0" algn="l">
              <a:buNone/>
              <a:defRPr/>
            </a:pPr>
            <a:r>
              <a:rPr lang="en-US" sz="1200" b="1">
                <a:solidFill>
                  <a:srgbClr val="9B9DA0"/>
                </a:solidFill>
                <a:latin typeface="Sora"/>
                <a:ea typeface="Sora"/>
                <a:cs typeface="Sora"/>
              </a:rPr>
              <a:t>L2</a:t>
            </a:r>
            <a:endParaRPr lang="en-US" sz="1200"/>
          </a:p>
        </p:txBody>
      </p:sp>
      <p:sp>
        <p:nvSpPr>
          <p:cNvPr id="261956040" name="Text 20"/>
          <p:cNvSpPr/>
          <p:nvPr/>
        </p:nvSpPr>
        <p:spPr bwMode="auto">
          <a:xfrm>
            <a:off x="1390650" y="5358765"/>
            <a:ext cx="11776710" cy="323850"/>
          </a:xfrm>
          <a:prstGeom prst="rect">
            <a:avLst/>
          </a:prstGeom>
          <a:noFill/>
          <a:ln/>
        </p:spPr>
        <p:txBody>
          <a:bodyPr wrap="square" lIns="25400" tIns="25400" rIns="25400" bIns="25400" rtlCol="0" anchor="t">
            <a:normAutofit/>
          </a:bodyPr>
          <a:lstStyle/>
          <a:p>
            <a:pPr marL="0" indent="0" algn="l">
              <a:buNone/>
              <a:defRPr/>
            </a:pPr>
            <a:r>
              <a:rPr lang="en-US" sz="1650" b="1">
                <a:solidFill>
                  <a:srgbClr val="2E2E2E"/>
                </a:solidFill>
                <a:latin typeface="Open Sans"/>
                <a:ea typeface="Open Sans"/>
                <a:cs typeface="Open Sans"/>
              </a:rPr>
              <a:t>Government grants </a:t>
            </a:r>
            <a:r>
              <a:rPr lang="en-US" sz="1200" b="1">
                <a:solidFill>
                  <a:srgbClr val="9B9DA0"/>
                </a:solidFill>
                <a:latin typeface="Noto Sans JP"/>
                <a:ea typeface="Noto Sans JP"/>
                <a:cs typeface="Noto Sans JP"/>
              </a:rPr>
              <a:t>補助金（NEDO・METI・奈良県・村）</a:t>
            </a:r>
            <a:endParaRPr lang="en-US" sz="1650"/>
          </a:p>
        </p:txBody>
      </p:sp>
      <p:sp>
        <p:nvSpPr>
          <p:cNvPr id="1702077930" name="Shape 21"/>
          <p:cNvSpPr/>
          <p:nvPr/>
        </p:nvSpPr>
        <p:spPr bwMode="auto">
          <a:xfrm>
            <a:off x="12306299" y="5434965"/>
            <a:ext cx="2095500" cy="133350"/>
          </a:xfrm>
          <a:prstGeom prst="rect">
            <a:avLst/>
          </a:prstGeom>
          <a:solidFill>
            <a:srgbClr val="F1F1EF"/>
          </a:solidFill>
          <a:ln/>
        </p:spPr>
      </p:sp>
      <p:sp>
        <p:nvSpPr>
          <p:cNvPr id="183068525" name="Shape 22"/>
          <p:cNvSpPr/>
          <p:nvPr/>
        </p:nvSpPr>
        <p:spPr bwMode="auto">
          <a:xfrm>
            <a:off x="12306299" y="5434965"/>
            <a:ext cx="1257300" cy="133350"/>
          </a:xfrm>
          <a:prstGeom prst="rect">
            <a:avLst/>
          </a:prstGeom>
          <a:solidFill>
            <a:srgbClr val="E58520"/>
          </a:solidFill>
          <a:ln/>
        </p:spPr>
      </p:sp>
      <p:sp>
        <p:nvSpPr>
          <p:cNvPr id="737577956" name="Text 23"/>
          <p:cNvSpPr/>
          <p:nvPr/>
        </p:nvSpPr>
        <p:spPr bwMode="auto">
          <a:xfrm>
            <a:off x="14468475" y="5373052"/>
            <a:ext cx="1571625" cy="295274"/>
          </a:xfrm>
          <a:prstGeom prst="rect">
            <a:avLst/>
          </a:prstGeom>
          <a:noFill/>
          <a:ln/>
        </p:spPr>
        <p:txBody>
          <a:bodyPr wrap="square" lIns="25400" tIns="25400" rIns="25400" bIns="25400" rtlCol="0" anchor="t">
            <a:normAutofit/>
          </a:bodyPr>
          <a:lstStyle/>
          <a:p>
            <a:pPr marL="0" indent="0" algn="r">
              <a:buNone/>
              <a:defRPr/>
            </a:pPr>
            <a:r>
              <a:rPr lang="en-US" sz="1500" b="1">
                <a:solidFill>
                  <a:srgbClr val="6E7174"/>
                </a:solidFill>
                <a:latin typeface="Open Sans"/>
                <a:ea typeface="Open Sans"/>
                <a:cs typeface="Open Sans"/>
              </a:rPr>
              <a:t>¥5M</a:t>
            </a:r>
            <a:endParaRPr lang="en-US" sz="1500"/>
          </a:p>
        </p:txBody>
      </p:sp>
      <p:sp>
        <p:nvSpPr>
          <p:cNvPr id="1150872690" name="Text 24"/>
          <p:cNvSpPr/>
          <p:nvPr/>
        </p:nvSpPr>
        <p:spPr bwMode="auto">
          <a:xfrm>
            <a:off x="16106775" y="5358765"/>
            <a:ext cx="1571625" cy="323850"/>
          </a:xfrm>
          <a:prstGeom prst="rect">
            <a:avLst/>
          </a:prstGeom>
          <a:noFill/>
          <a:ln/>
        </p:spPr>
        <p:txBody>
          <a:bodyPr wrap="square" lIns="25400" tIns="25400" rIns="25400" bIns="25400" rtlCol="0" anchor="t">
            <a:normAutofit/>
          </a:bodyPr>
          <a:lstStyle/>
          <a:p>
            <a:pPr marL="0" indent="0" algn="r">
              <a:buNone/>
              <a:defRPr/>
            </a:pPr>
            <a:r>
              <a:rPr lang="en-US" sz="1650" b="1">
                <a:solidFill>
                  <a:srgbClr val="C26A12"/>
                </a:solidFill>
                <a:latin typeface="Open Sans"/>
                <a:ea typeface="Open Sans"/>
                <a:cs typeface="Open Sans"/>
              </a:rPr>
              <a:t>¥80M</a:t>
            </a:r>
            <a:endParaRPr lang="en-US" sz="1650"/>
          </a:p>
        </p:txBody>
      </p:sp>
      <p:sp>
        <p:nvSpPr>
          <p:cNvPr id="2128617646" name="Shape 25"/>
          <p:cNvSpPr/>
          <p:nvPr/>
        </p:nvSpPr>
        <p:spPr bwMode="auto">
          <a:xfrm>
            <a:off x="609600" y="6425565"/>
            <a:ext cx="17068800" cy="9525"/>
          </a:xfrm>
          <a:prstGeom prst="rect">
            <a:avLst/>
          </a:prstGeom>
          <a:solidFill>
            <a:srgbClr val="E6E6E2"/>
          </a:solidFill>
          <a:ln/>
        </p:spPr>
      </p:sp>
      <p:sp>
        <p:nvSpPr>
          <p:cNvPr id="1913481925" name="Text 26"/>
          <p:cNvSpPr/>
          <p:nvPr/>
        </p:nvSpPr>
        <p:spPr bwMode="auto">
          <a:xfrm>
            <a:off x="609600" y="6020752"/>
            <a:ext cx="647700" cy="238125"/>
          </a:xfrm>
          <a:prstGeom prst="rect">
            <a:avLst/>
          </a:prstGeom>
          <a:noFill/>
          <a:ln/>
        </p:spPr>
        <p:txBody>
          <a:bodyPr wrap="square" lIns="25400" tIns="25400" rIns="25400" bIns="25400" rtlCol="0" anchor="t">
            <a:normAutofit/>
          </a:bodyPr>
          <a:lstStyle/>
          <a:p>
            <a:pPr marL="0" indent="0" algn="l">
              <a:buNone/>
              <a:defRPr/>
            </a:pPr>
            <a:r>
              <a:rPr lang="en-US" sz="1200" b="1">
                <a:solidFill>
                  <a:srgbClr val="9B9DA0"/>
                </a:solidFill>
                <a:latin typeface="Sora"/>
                <a:ea typeface="Sora"/>
                <a:cs typeface="Sora"/>
              </a:rPr>
              <a:t>L3</a:t>
            </a:r>
            <a:endParaRPr lang="en-US" sz="1200"/>
          </a:p>
        </p:txBody>
      </p:sp>
      <p:sp>
        <p:nvSpPr>
          <p:cNvPr id="1679901600" name="Text 27"/>
          <p:cNvSpPr/>
          <p:nvPr/>
        </p:nvSpPr>
        <p:spPr bwMode="auto">
          <a:xfrm>
            <a:off x="1390650" y="5977890"/>
            <a:ext cx="11776710" cy="323850"/>
          </a:xfrm>
          <a:prstGeom prst="rect">
            <a:avLst/>
          </a:prstGeom>
          <a:noFill/>
          <a:ln/>
        </p:spPr>
        <p:txBody>
          <a:bodyPr wrap="square" lIns="25400" tIns="25400" rIns="25400" bIns="25400" rtlCol="0" anchor="t">
            <a:normAutofit/>
          </a:bodyPr>
          <a:lstStyle/>
          <a:p>
            <a:pPr marL="0" indent="0" algn="l">
              <a:buNone/>
              <a:defRPr/>
            </a:pPr>
            <a:r>
              <a:rPr lang="en-US" sz="1650" b="1">
                <a:solidFill>
                  <a:srgbClr val="2E2E2E"/>
                </a:solidFill>
                <a:latin typeface="Open Sans"/>
                <a:ea typeface="Open Sans"/>
                <a:cs typeface="Open Sans"/>
              </a:rPr>
              <a:t>Foundations </a:t>
            </a:r>
            <a:r>
              <a:rPr lang="en-US" sz="1200" b="1">
                <a:solidFill>
                  <a:srgbClr val="9B9DA0"/>
                </a:solidFill>
                <a:latin typeface="Noto Sans JP"/>
                <a:ea typeface="Noto Sans JP"/>
                <a:cs typeface="Noto Sans JP"/>
              </a:rPr>
              <a:t>財団（日本財団 ほか）</a:t>
            </a:r>
            <a:endParaRPr lang="en-US" sz="1650"/>
          </a:p>
        </p:txBody>
      </p:sp>
      <p:sp>
        <p:nvSpPr>
          <p:cNvPr id="1240613754" name="Shape 28"/>
          <p:cNvSpPr/>
          <p:nvPr/>
        </p:nvSpPr>
        <p:spPr bwMode="auto">
          <a:xfrm>
            <a:off x="12306299" y="6054090"/>
            <a:ext cx="2095500" cy="133350"/>
          </a:xfrm>
          <a:prstGeom prst="rect">
            <a:avLst/>
          </a:prstGeom>
          <a:solidFill>
            <a:srgbClr val="F1F1EF"/>
          </a:solidFill>
          <a:ln/>
        </p:spPr>
      </p:sp>
      <p:sp>
        <p:nvSpPr>
          <p:cNvPr id="1194037718" name="Shape 29"/>
          <p:cNvSpPr/>
          <p:nvPr/>
        </p:nvSpPr>
        <p:spPr bwMode="auto">
          <a:xfrm>
            <a:off x="12306299" y="6054090"/>
            <a:ext cx="314325" cy="133350"/>
          </a:xfrm>
          <a:prstGeom prst="rect">
            <a:avLst/>
          </a:prstGeom>
          <a:solidFill>
            <a:srgbClr val="C7C9CB"/>
          </a:solidFill>
          <a:ln/>
        </p:spPr>
      </p:sp>
      <p:sp>
        <p:nvSpPr>
          <p:cNvPr id="198442014" name="Text 30"/>
          <p:cNvSpPr/>
          <p:nvPr/>
        </p:nvSpPr>
        <p:spPr bwMode="auto">
          <a:xfrm>
            <a:off x="14468475" y="5992177"/>
            <a:ext cx="1571625" cy="295274"/>
          </a:xfrm>
          <a:prstGeom prst="rect">
            <a:avLst/>
          </a:prstGeom>
          <a:noFill/>
          <a:ln/>
        </p:spPr>
        <p:txBody>
          <a:bodyPr wrap="square" lIns="25400" tIns="25400" rIns="25400" bIns="25400" rtlCol="0" anchor="t">
            <a:normAutofit/>
          </a:bodyPr>
          <a:lstStyle/>
          <a:p>
            <a:pPr marL="0" indent="0" algn="r">
              <a:buNone/>
              <a:defRPr/>
            </a:pPr>
            <a:r>
              <a:rPr lang="en-US" sz="1500" b="1">
                <a:solidFill>
                  <a:srgbClr val="6E7174"/>
                </a:solidFill>
                <a:latin typeface="Open Sans"/>
                <a:ea typeface="Open Sans"/>
                <a:cs typeface="Open Sans"/>
              </a:rPr>
              <a:t>¥3M</a:t>
            </a:r>
            <a:endParaRPr lang="en-US" sz="1500"/>
          </a:p>
        </p:txBody>
      </p:sp>
      <p:sp>
        <p:nvSpPr>
          <p:cNvPr id="278646185" name="Text 31"/>
          <p:cNvSpPr/>
          <p:nvPr/>
        </p:nvSpPr>
        <p:spPr bwMode="auto">
          <a:xfrm>
            <a:off x="16106775" y="5977890"/>
            <a:ext cx="1571625" cy="323850"/>
          </a:xfrm>
          <a:prstGeom prst="rect">
            <a:avLst/>
          </a:prstGeom>
          <a:noFill/>
          <a:ln/>
        </p:spPr>
        <p:txBody>
          <a:bodyPr wrap="square" lIns="25400" tIns="25400" rIns="25400" bIns="25400" rtlCol="0" anchor="t">
            <a:normAutofit/>
          </a:bodyPr>
          <a:lstStyle/>
          <a:p>
            <a:pPr marL="0" indent="0" algn="r">
              <a:buNone/>
              <a:defRPr/>
            </a:pPr>
            <a:r>
              <a:rPr lang="en-US" sz="1650" b="1">
                <a:solidFill>
                  <a:srgbClr val="2E2E2E"/>
                </a:solidFill>
                <a:latin typeface="Open Sans"/>
                <a:ea typeface="Open Sans"/>
                <a:cs typeface="Open Sans"/>
              </a:rPr>
              <a:t>¥20M</a:t>
            </a:r>
            <a:endParaRPr lang="en-US" sz="1650"/>
          </a:p>
        </p:txBody>
      </p:sp>
      <p:sp>
        <p:nvSpPr>
          <p:cNvPr id="15770767" name="Shape 32"/>
          <p:cNvSpPr/>
          <p:nvPr/>
        </p:nvSpPr>
        <p:spPr bwMode="auto">
          <a:xfrm>
            <a:off x="609600" y="7044690"/>
            <a:ext cx="17068800" cy="9525"/>
          </a:xfrm>
          <a:prstGeom prst="rect">
            <a:avLst/>
          </a:prstGeom>
          <a:solidFill>
            <a:srgbClr val="E6E6E2"/>
          </a:solidFill>
          <a:ln/>
        </p:spPr>
      </p:sp>
      <p:sp>
        <p:nvSpPr>
          <p:cNvPr id="711432963" name="Text 33"/>
          <p:cNvSpPr/>
          <p:nvPr/>
        </p:nvSpPr>
        <p:spPr bwMode="auto">
          <a:xfrm>
            <a:off x="609600" y="6639877"/>
            <a:ext cx="647700" cy="238125"/>
          </a:xfrm>
          <a:prstGeom prst="rect">
            <a:avLst/>
          </a:prstGeom>
          <a:noFill/>
          <a:ln/>
        </p:spPr>
        <p:txBody>
          <a:bodyPr wrap="square" lIns="25400" tIns="25400" rIns="25400" bIns="25400" rtlCol="0" anchor="t">
            <a:normAutofit/>
          </a:bodyPr>
          <a:lstStyle/>
          <a:p>
            <a:pPr marL="0" indent="0" algn="l">
              <a:buNone/>
              <a:defRPr/>
            </a:pPr>
            <a:r>
              <a:rPr lang="en-US" sz="1200" b="1">
                <a:solidFill>
                  <a:srgbClr val="9B9DA0"/>
                </a:solidFill>
                <a:latin typeface="Sora"/>
                <a:ea typeface="Sora"/>
                <a:cs typeface="Sora"/>
              </a:rPr>
              <a:t>L4</a:t>
            </a:r>
            <a:endParaRPr lang="en-US" sz="1200"/>
          </a:p>
        </p:txBody>
      </p:sp>
      <p:sp>
        <p:nvSpPr>
          <p:cNvPr id="1522288152" name="Text 34"/>
          <p:cNvSpPr/>
          <p:nvPr/>
        </p:nvSpPr>
        <p:spPr bwMode="auto">
          <a:xfrm>
            <a:off x="1390650" y="6597015"/>
            <a:ext cx="11776710" cy="323850"/>
          </a:xfrm>
          <a:prstGeom prst="rect">
            <a:avLst/>
          </a:prstGeom>
          <a:noFill/>
          <a:ln/>
        </p:spPr>
        <p:txBody>
          <a:bodyPr wrap="square" lIns="25400" tIns="25400" rIns="25400" bIns="25400" rtlCol="0" anchor="t">
            <a:normAutofit/>
          </a:bodyPr>
          <a:lstStyle/>
          <a:p>
            <a:pPr marL="0" indent="0" algn="l">
              <a:buNone/>
              <a:defRPr/>
            </a:pPr>
            <a:r>
              <a:rPr lang="en-US" sz="1650" b="1">
                <a:solidFill>
                  <a:srgbClr val="2E2E2E"/>
                </a:solidFill>
                <a:latin typeface="Open Sans"/>
                <a:ea typeface="Open Sans"/>
                <a:cs typeface="Open Sans"/>
              </a:rPr>
              <a:t>Corporate partnerships </a:t>
            </a:r>
            <a:r>
              <a:rPr lang="en-US" sz="1200" b="1">
                <a:solidFill>
                  <a:srgbClr val="9B9DA0"/>
                </a:solidFill>
                <a:latin typeface="Noto Sans JP"/>
                <a:ea typeface="Noto Sans JP"/>
                <a:cs typeface="Noto Sans JP"/>
              </a:rPr>
              <a:t>企業連携（CSR・蘭日）</a:t>
            </a:r>
            <a:endParaRPr lang="en-US" sz="1650"/>
          </a:p>
        </p:txBody>
      </p:sp>
      <p:sp>
        <p:nvSpPr>
          <p:cNvPr id="804312489" name="Shape 35"/>
          <p:cNvSpPr/>
          <p:nvPr/>
        </p:nvSpPr>
        <p:spPr bwMode="auto">
          <a:xfrm>
            <a:off x="12306299" y="6673215"/>
            <a:ext cx="2095500" cy="133350"/>
          </a:xfrm>
          <a:prstGeom prst="rect">
            <a:avLst/>
          </a:prstGeom>
          <a:solidFill>
            <a:srgbClr val="F1F1EF"/>
          </a:solidFill>
          <a:ln/>
        </p:spPr>
      </p:sp>
      <p:sp>
        <p:nvSpPr>
          <p:cNvPr id="1517798148" name="Shape 36"/>
          <p:cNvSpPr/>
          <p:nvPr/>
        </p:nvSpPr>
        <p:spPr bwMode="auto">
          <a:xfrm>
            <a:off x="12306299" y="6673215"/>
            <a:ext cx="461010" cy="133350"/>
          </a:xfrm>
          <a:prstGeom prst="rect">
            <a:avLst/>
          </a:prstGeom>
          <a:solidFill>
            <a:srgbClr val="C7C9CB"/>
          </a:solidFill>
          <a:ln/>
        </p:spPr>
      </p:sp>
      <p:sp>
        <p:nvSpPr>
          <p:cNvPr id="1858836495" name="Text 37"/>
          <p:cNvSpPr/>
          <p:nvPr/>
        </p:nvSpPr>
        <p:spPr bwMode="auto">
          <a:xfrm>
            <a:off x="14468475" y="6611302"/>
            <a:ext cx="1571625" cy="295274"/>
          </a:xfrm>
          <a:prstGeom prst="rect">
            <a:avLst/>
          </a:prstGeom>
          <a:noFill/>
          <a:ln/>
        </p:spPr>
        <p:txBody>
          <a:bodyPr wrap="square" lIns="25400" tIns="25400" rIns="25400" bIns="25400" rtlCol="0" anchor="t">
            <a:normAutofit/>
          </a:bodyPr>
          <a:lstStyle/>
          <a:p>
            <a:pPr marL="0" indent="0" algn="r">
              <a:buNone/>
              <a:defRPr/>
            </a:pPr>
            <a:r>
              <a:rPr lang="en-US" sz="1500" b="1">
                <a:solidFill>
                  <a:srgbClr val="6E7174"/>
                </a:solidFill>
                <a:latin typeface="Open Sans"/>
                <a:ea typeface="Open Sans"/>
                <a:cs typeface="Open Sans"/>
              </a:rPr>
              <a:t>—</a:t>
            </a:r>
            <a:endParaRPr lang="en-US" sz="1500"/>
          </a:p>
        </p:txBody>
      </p:sp>
      <p:sp>
        <p:nvSpPr>
          <p:cNvPr id="1644362256" name="Text 38"/>
          <p:cNvSpPr/>
          <p:nvPr/>
        </p:nvSpPr>
        <p:spPr bwMode="auto">
          <a:xfrm>
            <a:off x="16106775" y="6597015"/>
            <a:ext cx="1571625" cy="323850"/>
          </a:xfrm>
          <a:prstGeom prst="rect">
            <a:avLst/>
          </a:prstGeom>
          <a:noFill/>
          <a:ln/>
        </p:spPr>
        <p:txBody>
          <a:bodyPr wrap="square" lIns="25400" tIns="25400" rIns="25400" bIns="25400" rtlCol="0" anchor="t">
            <a:normAutofit/>
          </a:bodyPr>
          <a:lstStyle/>
          <a:p>
            <a:pPr marL="0" indent="0" algn="r">
              <a:buNone/>
              <a:defRPr/>
            </a:pPr>
            <a:r>
              <a:rPr lang="en-US" sz="1650" b="1">
                <a:solidFill>
                  <a:srgbClr val="2E2E2E"/>
                </a:solidFill>
                <a:latin typeface="Open Sans"/>
                <a:ea typeface="Open Sans"/>
                <a:cs typeface="Open Sans"/>
              </a:rPr>
              <a:t>¥30M</a:t>
            </a:r>
            <a:endParaRPr lang="en-US" sz="1650"/>
          </a:p>
        </p:txBody>
      </p:sp>
      <p:sp>
        <p:nvSpPr>
          <p:cNvPr id="150088197" name="Shape 39"/>
          <p:cNvSpPr/>
          <p:nvPr/>
        </p:nvSpPr>
        <p:spPr bwMode="auto">
          <a:xfrm>
            <a:off x="609600" y="7663815"/>
            <a:ext cx="17068800" cy="9525"/>
          </a:xfrm>
          <a:prstGeom prst="rect">
            <a:avLst/>
          </a:prstGeom>
          <a:solidFill>
            <a:srgbClr val="E6E6E2"/>
          </a:solidFill>
          <a:ln/>
        </p:spPr>
      </p:sp>
      <p:sp>
        <p:nvSpPr>
          <p:cNvPr id="811766551" name="Text 40"/>
          <p:cNvSpPr/>
          <p:nvPr/>
        </p:nvSpPr>
        <p:spPr bwMode="auto">
          <a:xfrm>
            <a:off x="609600" y="7259002"/>
            <a:ext cx="647700" cy="238125"/>
          </a:xfrm>
          <a:prstGeom prst="rect">
            <a:avLst/>
          </a:prstGeom>
          <a:noFill/>
          <a:ln/>
        </p:spPr>
        <p:txBody>
          <a:bodyPr wrap="square" lIns="25400" tIns="25400" rIns="25400" bIns="25400" rtlCol="0" anchor="t">
            <a:normAutofit/>
          </a:bodyPr>
          <a:lstStyle/>
          <a:p>
            <a:pPr marL="0" indent="0" algn="l">
              <a:buNone/>
              <a:defRPr/>
            </a:pPr>
            <a:r>
              <a:rPr lang="en-US" sz="1200" b="1">
                <a:solidFill>
                  <a:srgbClr val="E58520"/>
                </a:solidFill>
                <a:latin typeface="Sora"/>
                <a:ea typeface="Sora"/>
                <a:cs typeface="Sora"/>
              </a:rPr>
              <a:t>L5</a:t>
            </a:r>
            <a:endParaRPr lang="en-US" sz="1200"/>
          </a:p>
        </p:txBody>
      </p:sp>
      <p:sp>
        <p:nvSpPr>
          <p:cNvPr id="1344232149" name="Text 41"/>
          <p:cNvSpPr/>
          <p:nvPr/>
        </p:nvSpPr>
        <p:spPr bwMode="auto">
          <a:xfrm>
            <a:off x="1390650" y="7216140"/>
            <a:ext cx="11776710" cy="323850"/>
          </a:xfrm>
          <a:prstGeom prst="rect">
            <a:avLst/>
          </a:prstGeom>
          <a:noFill/>
          <a:ln/>
        </p:spPr>
        <p:txBody>
          <a:bodyPr wrap="square" lIns="25400" tIns="25400" rIns="25400" bIns="25400" rtlCol="0" anchor="t">
            <a:normAutofit/>
          </a:bodyPr>
          <a:lstStyle/>
          <a:p>
            <a:pPr marL="0" indent="0" algn="l">
              <a:buNone/>
              <a:defRPr/>
            </a:pPr>
            <a:r>
              <a:rPr lang="en-US" sz="1650" b="1">
                <a:solidFill>
                  <a:srgbClr val="2E2E2E"/>
                </a:solidFill>
                <a:latin typeface="Open Sans"/>
                <a:ea typeface="Open Sans"/>
                <a:cs typeface="Open Sans"/>
              </a:rPr>
              <a:t>Operating revenue </a:t>
            </a:r>
            <a:r>
              <a:rPr lang="en-US" sz="1200" b="1">
                <a:solidFill>
                  <a:srgbClr val="9B9DA0"/>
                </a:solidFill>
                <a:latin typeface="Noto Sans JP"/>
                <a:ea typeface="Noto Sans JP"/>
                <a:cs typeface="Noto Sans JP"/>
              </a:rPr>
              <a:t>事業収益（ホスティング・FIT・EV・Jクレジット）</a:t>
            </a:r>
            <a:endParaRPr lang="en-US" sz="1650"/>
          </a:p>
        </p:txBody>
      </p:sp>
      <p:sp>
        <p:nvSpPr>
          <p:cNvPr id="1385625053" name="Shape 42"/>
          <p:cNvSpPr/>
          <p:nvPr/>
        </p:nvSpPr>
        <p:spPr bwMode="auto">
          <a:xfrm>
            <a:off x="12306299" y="7292340"/>
            <a:ext cx="2095500" cy="133350"/>
          </a:xfrm>
          <a:prstGeom prst="rect">
            <a:avLst/>
          </a:prstGeom>
          <a:solidFill>
            <a:srgbClr val="F1F1EF"/>
          </a:solidFill>
          <a:ln/>
        </p:spPr>
      </p:sp>
      <p:sp>
        <p:nvSpPr>
          <p:cNvPr id="1097087085" name="Shape 43"/>
          <p:cNvSpPr/>
          <p:nvPr/>
        </p:nvSpPr>
        <p:spPr bwMode="auto">
          <a:xfrm>
            <a:off x="12306299" y="7292340"/>
            <a:ext cx="62865" cy="133350"/>
          </a:xfrm>
          <a:prstGeom prst="rect">
            <a:avLst/>
          </a:prstGeom>
          <a:solidFill>
            <a:srgbClr val="C7C9CB"/>
          </a:solidFill>
          <a:ln/>
        </p:spPr>
      </p:sp>
      <p:sp>
        <p:nvSpPr>
          <p:cNvPr id="1213244989" name="Text 44"/>
          <p:cNvSpPr/>
          <p:nvPr/>
        </p:nvSpPr>
        <p:spPr bwMode="auto">
          <a:xfrm>
            <a:off x="14468475" y="7230427"/>
            <a:ext cx="1571625" cy="295274"/>
          </a:xfrm>
          <a:prstGeom prst="rect">
            <a:avLst/>
          </a:prstGeom>
          <a:noFill/>
          <a:ln/>
        </p:spPr>
        <p:txBody>
          <a:bodyPr wrap="square" lIns="25400" tIns="25400" rIns="25400" bIns="25400" rtlCol="0" anchor="t">
            <a:normAutofit/>
          </a:bodyPr>
          <a:lstStyle/>
          <a:p>
            <a:pPr marL="0" indent="0" algn="r">
              <a:buNone/>
              <a:defRPr/>
            </a:pPr>
            <a:r>
              <a:rPr lang="en-US" sz="1500" b="1">
                <a:solidFill>
                  <a:srgbClr val="6E7174"/>
                </a:solidFill>
                <a:latin typeface="Open Sans"/>
                <a:ea typeface="Open Sans"/>
                <a:cs typeface="Open Sans"/>
              </a:rPr>
              <a:t>—</a:t>
            </a:r>
            <a:endParaRPr lang="en-US" sz="1500"/>
          </a:p>
        </p:txBody>
      </p:sp>
      <p:sp>
        <p:nvSpPr>
          <p:cNvPr id="1271247307" name="Text 45"/>
          <p:cNvSpPr/>
          <p:nvPr/>
        </p:nvSpPr>
        <p:spPr bwMode="auto">
          <a:xfrm>
            <a:off x="16106775" y="7216140"/>
            <a:ext cx="1571625" cy="323850"/>
          </a:xfrm>
          <a:prstGeom prst="rect">
            <a:avLst/>
          </a:prstGeom>
          <a:noFill/>
          <a:ln/>
        </p:spPr>
        <p:txBody>
          <a:bodyPr wrap="square" lIns="25400" tIns="25400" rIns="25400" bIns="25400" rtlCol="0" anchor="t">
            <a:normAutofit/>
          </a:bodyPr>
          <a:lstStyle/>
          <a:p>
            <a:pPr marL="0" indent="0" algn="r">
              <a:buNone/>
              <a:defRPr/>
            </a:pPr>
            <a:r>
              <a:rPr lang="en-US" sz="1650" b="1">
                <a:solidFill>
                  <a:srgbClr val="2E2E2E"/>
                </a:solidFill>
                <a:latin typeface="Open Sans"/>
                <a:ea typeface="Open Sans"/>
                <a:cs typeface="Open Sans"/>
              </a:rPr>
              <a:t>¥3M</a:t>
            </a:r>
            <a:endParaRPr lang="en-US" sz="1650"/>
          </a:p>
        </p:txBody>
      </p:sp>
      <p:sp>
        <p:nvSpPr>
          <p:cNvPr id="1667436926" name="Text 46"/>
          <p:cNvSpPr/>
          <p:nvPr/>
        </p:nvSpPr>
        <p:spPr bwMode="auto">
          <a:xfrm>
            <a:off x="609600" y="9410700"/>
            <a:ext cx="18775680" cy="228600"/>
          </a:xfrm>
          <a:prstGeom prst="rect">
            <a:avLst/>
          </a:prstGeom>
          <a:noFill/>
          <a:ln/>
        </p:spPr>
        <p:txBody>
          <a:bodyPr wrap="square" lIns="25400" tIns="25400" rIns="25400" bIns="25400" rtlCol="0" anchor="t">
            <a:normAutofit/>
          </a:bodyPr>
          <a:lstStyle/>
          <a:p>
            <a:pPr marL="0" indent="0" algn="l">
              <a:buNone/>
              <a:defRPr/>
            </a:pPr>
            <a:r>
              <a:rPr lang="en-US" sz="1000" b="1" spc="20">
                <a:solidFill>
                  <a:srgbClr val="A9ABAE"/>
                </a:solidFill>
                <a:latin typeface="Open Sans"/>
                <a:ea typeface="Open Sans"/>
                <a:cs typeface="Open Sans"/>
              </a:rPr>
              <a:t>Illustrative planning targets, not commitments. Actual mix depends on grant outcomes &amp; partnerships in Phases 1–2. 計画上の目標値（確約ではない）。</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2E2E2E"/>
        </a:solidFill>
      </p:bgPr>
    </p:bg>
    <p:spTree>
      <p:nvGrpSpPr>
        <p:cNvPr id="1" name=""/>
        <p:cNvGrpSpPr/>
        <p:nvPr/>
      </p:nvGrpSpPr>
      <p:grpSpPr bwMode="auto">
        <a:xfrm>
          <a:off x="0" y="0"/>
          <a:ext cx="0" cy="0"/>
          <a:chOff x="0" y="0"/>
          <a:chExt cx="0" cy="0"/>
        </a:xfrm>
      </p:grpSpPr>
      <p:sp>
        <p:nvSpPr>
          <p:cNvPr id="665362419" name="Shape 0"/>
          <p:cNvSpPr/>
          <p:nvPr/>
        </p:nvSpPr>
        <p:spPr bwMode="auto">
          <a:xfrm>
            <a:off x="0" y="0"/>
            <a:ext cx="18288000" cy="76200"/>
          </a:xfrm>
          <a:prstGeom prst="rect">
            <a:avLst/>
          </a:prstGeom>
          <a:solidFill>
            <a:srgbClr val="E58520"/>
          </a:solidFill>
          <a:ln/>
        </p:spPr>
      </p:sp>
      <p:sp>
        <p:nvSpPr>
          <p:cNvPr id="1347216108" name="Shape 1"/>
          <p:cNvSpPr/>
          <p:nvPr/>
        </p:nvSpPr>
        <p:spPr bwMode="auto">
          <a:xfrm>
            <a:off x="609600" y="895350"/>
            <a:ext cx="438149" cy="47625"/>
          </a:xfrm>
          <a:prstGeom prst="rect">
            <a:avLst/>
          </a:prstGeom>
          <a:solidFill>
            <a:srgbClr val="E58520"/>
          </a:solidFill>
          <a:ln/>
        </p:spPr>
      </p:sp>
      <p:sp>
        <p:nvSpPr>
          <p:cNvPr id="1250317577" name="Text 2"/>
          <p:cNvSpPr/>
          <p:nvPr/>
        </p:nvSpPr>
        <p:spPr bwMode="auto">
          <a:xfrm>
            <a:off x="1181099" y="800100"/>
            <a:ext cx="4224179"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LONG-TERM RETURN · 長期リターン · 12</a:t>
            </a:r>
            <a:endParaRPr lang="en-US" sz="1300"/>
          </a:p>
        </p:txBody>
      </p:sp>
      <p:sp>
        <p:nvSpPr>
          <p:cNvPr id="1507036002" name="Text 3"/>
          <p:cNvSpPr/>
          <p:nvPr/>
        </p:nvSpPr>
        <p:spPr bwMode="auto">
          <a:xfrm>
            <a:off x="609600" y="1228725"/>
            <a:ext cx="18775680" cy="646430"/>
          </a:xfrm>
          <a:prstGeom prst="rect">
            <a:avLst/>
          </a:prstGeom>
          <a:noFill/>
          <a:ln/>
        </p:spPr>
        <p:txBody>
          <a:bodyPr wrap="square" lIns="25400" tIns="25400" rIns="25400" bIns="25400" rtlCol="0" anchor="t">
            <a:normAutofit/>
          </a:bodyPr>
          <a:lstStyle/>
          <a:p>
            <a:pPr marL="0" indent="0" algn="l">
              <a:lnSpc>
                <a:spcPct val="103011"/>
              </a:lnSpc>
              <a:buNone/>
              <a:defRPr/>
            </a:pPr>
            <a:r>
              <a:rPr lang="en-US" sz="4650" b="1" spc="-46">
                <a:solidFill>
                  <a:srgbClr val="F4F1EC"/>
                </a:solidFill>
                <a:latin typeface="Sora"/>
                <a:ea typeface="Sora"/>
                <a:cs typeface="Sora"/>
              </a:rPr>
              <a:t>An asset, not an expense</a:t>
            </a:r>
            <a:endParaRPr lang="en-US" sz="4650"/>
          </a:p>
        </p:txBody>
      </p:sp>
      <p:sp>
        <p:nvSpPr>
          <p:cNvPr id="1442708121" name="Text 4"/>
          <p:cNvSpPr/>
          <p:nvPr/>
        </p:nvSpPr>
        <p:spPr bwMode="auto">
          <a:xfrm>
            <a:off x="609600" y="1913255"/>
            <a:ext cx="18775680" cy="390525"/>
          </a:xfrm>
          <a:prstGeom prst="rect">
            <a:avLst/>
          </a:prstGeom>
          <a:noFill/>
          <a:ln/>
        </p:spPr>
        <p:txBody>
          <a:bodyPr wrap="square" lIns="25400" tIns="25400" rIns="25400" bIns="25400" rtlCol="0" anchor="t">
            <a:normAutofit/>
          </a:bodyPr>
          <a:lstStyle/>
          <a:p>
            <a:pPr marL="0" indent="0" algn="l">
              <a:buNone/>
              <a:defRPr/>
            </a:pPr>
            <a:r>
              <a:rPr lang="en-US" sz="1900">
                <a:solidFill>
                  <a:srgbClr val="B9BBBD"/>
                </a:solidFill>
                <a:latin typeface="Noto Sans JP"/>
                <a:ea typeface="Noto Sans JP"/>
                <a:cs typeface="Noto Sans JP"/>
              </a:rPr>
              <a:t>一度きりの支出ではなく、25年生み続ける資産。</a:t>
            </a:r>
            <a:endParaRPr lang="en-US" sz="1900"/>
          </a:p>
        </p:txBody>
      </p:sp>
      <p:sp>
        <p:nvSpPr>
          <p:cNvPr id="1441491293" name="Text 5"/>
          <p:cNvSpPr/>
          <p:nvPr/>
        </p:nvSpPr>
        <p:spPr bwMode="auto">
          <a:xfrm>
            <a:off x="609600" y="4342765"/>
            <a:ext cx="13683615" cy="323850"/>
          </a:xfrm>
          <a:prstGeom prst="rect">
            <a:avLst/>
          </a:prstGeom>
          <a:noFill/>
          <a:ln/>
        </p:spPr>
        <p:txBody>
          <a:bodyPr wrap="square" lIns="25400" tIns="25400" rIns="25400" bIns="25400" rtlCol="0" anchor="t">
            <a:normAutofit/>
          </a:bodyPr>
          <a:lstStyle/>
          <a:p>
            <a:pPr marL="0" indent="0" algn="l">
              <a:buNone/>
              <a:defRPr/>
            </a:pPr>
            <a:r>
              <a:rPr lang="en-US" sz="1500" b="1" spc="180">
                <a:solidFill>
                  <a:srgbClr val="9B9DA0"/>
                </a:solidFill>
                <a:latin typeface="Open Sans"/>
                <a:ea typeface="Open Sans"/>
                <a:cs typeface="Open Sans"/>
              </a:rPr>
              <a:t>THE FUNDING MIX INVERTS · 財源は反転する</a:t>
            </a:r>
            <a:endParaRPr lang="en-US" sz="1500"/>
          </a:p>
        </p:txBody>
      </p:sp>
      <p:sp>
        <p:nvSpPr>
          <p:cNvPr id="1828496897" name="Text 6"/>
          <p:cNvSpPr/>
          <p:nvPr/>
        </p:nvSpPr>
        <p:spPr bwMode="auto">
          <a:xfrm>
            <a:off x="609600" y="4876165"/>
            <a:ext cx="4351655" cy="285750"/>
          </a:xfrm>
          <a:prstGeom prst="rect">
            <a:avLst/>
          </a:prstGeom>
          <a:noFill/>
          <a:ln/>
        </p:spPr>
        <p:txBody>
          <a:bodyPr wrap="square" lIns="25400" tIns="25400" rIns="25400" bIns="25400" rtlCol="0" anchor="t">
            <a:normAutofit/>
          </a:bodyPr>
          <a:lstStyle/>
          <a:p>
            <a:pPr marL="0" indent="0" algn="l">
              <a:buNone/>
              <a:defRPr/>
            </a:pPr>
            <a:r>
              <a:rPr lang="en-US" sz="1450" b="1">
                <a:solidFill>
                  <a:srgbClr val="B9BBBD"/>
                </a:solidFill>
                <a:latin typeface="Open Sans"/>
                <a:ea typeface="Open Sans"/>
                <a:cs typeface="Open Sans"/>
              </a:rPr>
              <a:t>Year 1</a:t>
            </a:r>
            <a:endParaRPr lang="en-US" sz="1450"/>
          </a:p>
        </p:txBody>
      </p:sp>
      <p:sp>
        <p:nvSpPr>
          <p:cNvPr id="1496591640" name="Shape 7"/>
          <p:cNvSpPr/>
          <p:nvPr/>
        </p:nvSpPr>
        <p:spPr bwMode="auto">
          <a:xfrm>
            <a:off x="609600" y="5219065"/>
            <a:ext cx="3956050" cy="2190750"/>
          </a:xfrm>
          <a:prstGeom prst="rect">
            <a:avLst/>
          </a:prstGeom>
          <a:solidFill>
            <a:srgbClr val="3A3A3A"/>
          </a:solidFill>
          <a:ln/>
        </p:spPr>
      </p:sp>
      <p:sp>
        <p:nvSpPr>
          <p:cNvPr id="1628399791" name="Shape 8"/>
          <p:cNvSpPr/>
          <p:nvPr/>
        </p:nvSpPr>
        <p:spPr bwMode="auto">
          <a:xfrm>
            <a:off x="609600" y="5481955"/>
            <a:ext cx="3956050" cy="1927860"/>
          </a:xfrm>
          <a:prstGeom prst="rect">
            <a:avLst/>
          </a:prstGeom>
          <a:solidFill>
            <a:srgbClr val="6E7174"/>
          </a:solidFill>
          <a:ln/>
        </p:spPr>
      </p:sp>
      <p:sp>
        <p:nvSpPr>
          <p:cNvPr id="610465380" name="Text 9"/>
          <p:cNvSpPr/>
          <p:nvPr/>
        </p:nvSpPr>
        <p:spPr bwMode="auto">
          <a:xfrm>
            <a:off x="550259" y="5577205"/>
            <a:ext cx="4074731" cy="1870710"/>
          </a:xfrm>
          <a:prstGeom prst="rect">
            <a:avLst/>
          </a:prstGeom>
          <a:noFill/>
          <a:ln/>
        </p:spPr>
        <p:txBody>
          <a:bodyPr wrap="square" lIns="25400" tIns="25400" rIns="25400" bIns="25400" rtlCol="0" anchor="t">
            <a:normAutofit/>
          </a:bodyPr>
          <a:lstStyle/>
          <a:p>
            <a:pPr marL="0" indent="0" algn="ctr">
              <a:buNone/>
              <a:defRPr/>
            </a:pPr>
            <a:r>
              <a:rPr lang="en-US" sz="1200" b="1">
                <a:solidFill>
                  <a:srgbClr val="FFFFFF"/>
                </a:solidFill>
                <a:latin typeface="Open Sans"/>
                <a:ea typeface="Open Sans"/>
                <a:cs typeface="Open Sans"/>
              </a:rPr>
              <a:t>Grants</a:t>
            </a:r>
            <a:endParaRPr lang="en-US" sz="1200"/>
          </a:p>
        </p:txBody>
      </p:sp>
      <p:sp>
        <p:nvSpPr>
          <p:cNvPr id="4639610" name="Text 10"/>
          <p:cNvSpPr/>
          <p:nvPr/>
        </p:nvSpPr>
        <p:spPr bwMode="auto">
          <a:xfrm>
            <a:off x="609600" y="7486015"/>
            <a:ext cx="4351655" cy="247650"/>
          </a:xfrm>
          <a:prstGeom prst="rect">
            <a:avLst/>
          </a:prstGeom>
          <a:noFill/>
          <a:ln/>
        </p:spPr>
        <p:txBody>
          <a:bodyPr wrap="square" lIns="25400" tIns="25400" rIns="25400" bIns="25400" rtlCol="0" anchor="t">
            <a:normAutofit/>
          </a:bodyPr>
          <a:lstStyle/>
          <a:p>
            <a:pPr marL="0" indent="0" algn="l">
              <a:buNone/>
              <a:defRPr/>
            </a:pPr>
            <a:r>
              <a:rPr lang="en-US" sz="1200">
                <a:solidFill>
                  <a:srgbClr val="9B9DA0"/>
                </a:solidFill>
                <a:latin typeface="Open Sans"/>
                <a:ea typeface="Open Sans"/>
                <a:cs typeface="Open Sans"/>
              </a:rPr>
              <a:t>~Grant-dependent</a:t>
            </a:r>
            <a:endParaRPr lang="en-US" sz="1200"/>
          </a:p>
        </p:txBody>
      </p:sp>
      <p:sp>
        <p:nvSpPr>
          <p:cNvPr id="620247155" name="Text 11"/>
          <p:cNvSpPr/>
          <p:nvPr/>
        </p:nvSpPr>
        <p:spPr bwMode="auto">
          <a:xfrm>
            <a:off x="4851400" y="4876165"/>
            <a:ext cx="4351655" cy="285750"/>
          </a:xfrm>
          <a:prstGeom prst="rect">
            <a:avLst/>
          </a:prstGeom>
          <a:noFill/>
          <a:ln/>
        </p:spPr>
        <p:txBody>
          <a:bodyPr wrap="square" lIns="25400" tIns="25400" rIns="25400" bIns="25400" rtlCol="0" anchor="t">
            <a:normAutofit/>
          </a:bodyPr>
          <a:lstStyle/>
          <a:p>
            <a:pPr marL="0" indent="0" algn="l">
              <a:buNone/>
              <a:defRPr/>
            </a:pPr>
            <a:r>
              <a:rPr lang="en-US" sz="1450" b="1">
                <a:solidFill>
                  <a:srgbClr val="B9BBBD"/>
                </a:solidFill>
                <a:latin typeface="Open Sans"/>
                <a:ea typeface="Open Sans"/>
                <a:cs typeface="Open Sans"/>
              </a:rPr>
              <a:t>Year 3</a:t>
            </a:r>
            <a:endParaRPr lang="en-US" sz="1450"/>
          </a:p>
        </p:txBody>
      </p:sp>
      <p:sp>
        <p:nvSpPr>
          <p:cNvPr id="628587522" name="Shape 12"/>
          <p:cNvSpPr/>
          <p:nvPr/>
        </p:nvSpPr>
        <p:spPr bwMode="auto">
          <a:xfrm>
            <a:off x="4851400" y="5219065"/>
            <a:ext cx="3956050" cy="2190750"/>
          </a:xfrm>
          <a:prstGeom prst="rect">
            <a:avLst/>
          </a:prstGeom>
          <a:solidFill>
            <a:srgbClr val="3A3A3A"/>
          </a:solidFill>
          <a:ln/>
        </p:spPr>
      </p:sp>
      <p:sp>
        <p:nvSpPr>
          <p:cNvPr id="2005864749" name="Shape 13"/>
          <p:cNvSpPr/>
          <p:nvPr/>
        </p:nvSpPr>
        <p:spPr bwMode="auto">
          <a:xfrm>
            <a:off x="4851400" y="5219065"/>
            <a:ext cx="3956050" cy="1358265"/>
          </a:xfrm>
          <a:prstGeom prst="rect">
            <a:avLst/>
          </a:prstGeom>
          <a:solidFill>
            <a:srgbClr val="6E7174"/>
          </a:solidFill>
          <a:ln/>
        </p:spPr>
      </p:sp>
      <p:sp>
        <p:nvSpPr>
          <p:cNvPr id="605103700" name="Text 14"/>
          <p:cNvSpPr/>
          <p:nvPr/>
        </p:nvSpPr>
        <p:spPr bwMode="auto">
          <a:xfrm>
            <a:off x="4792059" y="5314315"/>
            <a:ext cx="4074732" cy="1301115"/>
          </a:xfrm>
          <a:prstGeom prst="rect">
            <a:avLst/>
          </a:prstGeom>
          <a:noFill/>
          <a:ln/>
        </p:spPr>
        <p:txBody>
          <a:bodyPr wrap="square" lIns="25400" tIns="25400" rIns="25400" bIns="25400" rtlCol="0" anchor="t">
            <a:normAutofit/>
          </a:bodyPr>
          <a:lstStyle/>
          <a:p>
            <a:pPr marL="0" indent="0" algn="ctr">
              <a:buNone/>
              <a:defRPr/>
            </a:pPr>
            <a:r>
              <a:rPr lang="en-US" sz="1200" b="1">
                <a:solidFill>
                  <a:srgbClr val="FFFFFF"/>
                </a:solidFill>
                <a:latin typeface="Open Sans"/>
                <a:ea typeface="Open Sans"/>
                <a:cs typeface="Open Sans"/>
              </a:rPr>
              <a:t>Grants</a:t>
            </a:r>
            <a:endParaRPr lang="en-US" sz="1200"/>
          </a:p>
        </p:txBody>
      </p:sp>
      <p:sp>
        <p:nvSpPr>
          <p:cNvPr id="915200100" name="Shape 15"/>
          <p:cNvSpPr/>
          <p:nvPr/>
        </p:nvSpPr>
        <p:spPr bwMode="auto">
          <a:xfrm>
            <a:off x="4851400" y="6577330"/>
            <a:ext cx="3956050" cy="832485"/>
          </a:xfrm>
          <a:prstGeom prst="rect">
            <a:avLst/>
          </a:prstGeom>
          <a:solidFill>
            <a:srgbClr val="E58520"/>
          </a:solidFill>
          <a:ln/>
        </p:spPr>
      </p:sp>
      <p:sp>
        <p:nvSpPr>
          <p:cNvPr id="2102998484" name="Text 16"/>
          <p:cNvSpPr/>
          <p:nvPr/>
        </p:nvSpPr>
        <p:spPr bwMode="auto">
          <a:xfrm>
            <a:off x="4792059" y="6577330"/>
            <a:ext cx="4074732" cy="870585"/>
          </a:xfrm>
          <a:prstGeom prst="rect">
            <a:avLst/>
          </a:prstGeom>
          <a:noFill/>
          <a:ln/>
        </p:spPr>
        <p:txBody>
          <a:bodyPr wrap="square" lIns="25400" tIns="25400" rIns="25400" bIns="25400" rtlCol="0" anchor="ctr">
            <a:normAutofit/>
          </a:bodyPr>
          <a:lstStyle/>
          <a:p>
            <a:pPr marL="0" indent="0" algn="ctr">
              <a:buNone/>
              <a:defRPr/>
            </a:pPr>
            <a:r>
              <a:rPr lang="en-US" sz="1200" b="1">
                <a:solidFill>
                  <a:srgbClr val="FFFFFF"/>
                </a:solidFill>
                <a:latin typeface="Open Sans"/>
                <a:ea typeface="Open Sans"/>
                <a:cs typeface="Open Sans"/>
              </a:rPr>
              <a:t>Revenue + partners</a:t>
            </a:r>
            <a:endParaRPr lang="en-US" sz="1200"/>
          </a:p>
        </p:txBody>
      </p:sp>
      <p:sp>
        <p:nvSpPr>
          <p:cNvPr id="1098729222" name="Text 17"/>
          <p:cNvSpPr/>
          <p:nvPr/>
        </p:nvSpPr>
        <p:spPr bwMode="auto">
          <a:xfrm>
            <a:off x="4851400" y="7486015"/>
            <a:ext cx="4351655" cy="247650"/>
          </a:xfrm>
          <a:prstGeom prst="rect">
            <a:avLst/>
          </a:prstGeom>
          <a:noFill/>
          <a:ln/>
        </p:spPr>
        <p:txBody>
          <a:bodyPr wrap="square" lIns="25400" tIns="25400" rIns="25400" bIns="25400" rtlCol="0" anchor="t">
            <a:normAutofit/>
          </a:bodyPr>
          <a:lstStyle/>
          <a:p>
            <a:pPr marL="0" indent="0" algn="l">
              <a:buNone/>
              <a:defRPr/>
            </a:pPr>
            <a:r>
              <a:rPr lang="en-US" sz="1200">
                <a:solidFill>
                  <a:srgbClr val="9B9DA0"/>
                </a:solidFill>
                <a:latin typeface="Open Sans"/>
                <a:ea typeface="Open Sans"/>
                <a:cs typeface="Open Sans"/>
              </a:rPr>
              <a:t>Revenue begins to carry it</a:t>
            </a:r>
            <a:endParaRPr lang="en-US" sz="1200"/>
          </a:p>
        </p:txBody>
      </p:sp>
      <p:sp>
        <p:nvSpPr>
          <p:cNvPr id="116284810" name="Text 18"/>
          <p:cNvSpPr/>
          <p:nvPr/>
        </p:nvSpPr>
        <p:spPr bwMode="auto">
          <a:xfrm>
            <a:off x="9093200" y="4876165"/>
            <a:ext cx="4351655" cy="285750"/>
          </a:xfrm>
          <a:prstGeom prst="rect">
            <a:avLst/>
          </a:prstGeom>
          <a:noFill/>
          <a:ln/>
        </p:spPr>
        <p:txBody>
          <a:bodyPr wrap="square" lIns="25400" tIns="25400" rIns="25400" bIns="25400" rtlCol="0" anchor="t">
            <a:normAutofit/>
          </a:bodyPr>
          <a:lstStyle/>
          <a:p>
            <a:pPr marL="0" indent="0" algn="l">
              <a:buNone/>
              <a:defRPr/>
            </a:pPr>
            <a:r>
              <a:rPr lang="en-US" sz="1450" b="1">
                <a:solidFill>
                  <a:srgbClr val="F4B872"/>
                </a:solidFill>
                <a:latin typeface="Open Sans"/>
                <a:ea typeface="Open Sans"/>
                <a:cs typeface="Open Sans"/>
              </a:rPr>
              <a:t>Year 25</a:t>
            </a:r>
            <a:endParaRPr lang="en-US" sz="1450"/>
          </a:p>
        </p:txBody>
      </p:sp>
      <p:sp>
        <p:nvSpPr>
          <p:cNvPr id="1559371639" name="Shape 19"/>
          <p:cNvSpPr/>
          <p:nvPr/>
        </p:nvSpPr>
        <p:spPr bwMode="auto">
          <a:xfrm>
            <a:off x="9093200" y="5219065"/>
            <a:ext cx="3956050" cy="2190750"/>
          </a:xfrm>
          <a:prstGeom prst="rect">
            <a:avLst/>
          </a:prstGeom>
          <a:solidFill>
            <a:srgbClr val="3A3A3A"/>
          </a:solidFill>
          <a:ln/>
        </p:spPr>
      </p:sp>
      <p:sp>
        <p:nvSpPr>
          <p:cNvPr id="894438013" name="Shape 20"/>
          <p:cNvSpPr/>
          <p:nvPr/>
        </p:nvSpPr>
        <p:spPr bwMode="auto">
          <a:xfrm>
            <a:off x="9093200" y="5219065"/>
            <a:ext cx="3956050" cy="394335"/>
          </a:xfrm>
          <a:prstGeom prst="rect">
            <a:avLst/>
          </a:prstGeom>
          <a:solidFill>
            <a:srgbClr val="6E7174"/>
          </a:solidFill>
          <a:ln/>
        </p:spPr>
      </p:sp>
      <p:sp>
        <p:nvSpPr>
          <p:cNvPr id="559747101" name="Shape 21"/>
          <p:cNvSpPr/>
          <p:nvPr/>
        </p:nvSpPr>
        <p:spPr bwMode="auto">
          <a:xfrm>
            <a:off x="9093200" y="5613400"/>
            <a:ext cx="3956050" cy="1796415"/>
          </a:xfrm>
          <a:prstGeom prst="rect">
            <a:avLst/>
          </a:prstGeom>
          <a:solidFill>
            <a:srgbClr val="E58520"/>
          </a:solidFill>
          <a:ln/>
        </p:spPr>
      </p:sp>
      <p:sp>
        <p:nvSpPr>
          <p:cNvPr id="2107916266" name="Text 22"/>
          <p:cNvSpPr/>
          <p:nvPr/>
        </p:nvSpPr>
        <p:spPr bwMode="auto">
          <a:xfrm>
            <a:off x="9033859" y="5613400"/>
            <a:ext cx="4074731" cy="1834515"/>
          </a:xfrm>
          <a:prstGeom prst="rect">
            <a:avLst/>
          </a:prstGeom>
          <a:noFill/>
          <a:ln/>
        </p:spPr>
        <p:txBody>
          <a:bodyPr wrap="square" lIns="25400" tIns="25400" rIns="25400" bIns="25400" rtlCol="0" anchor="ctr">
            <a:normAutofit/>
          </a:bodyPr>
          <a:lstStyle/>
          <a:p>
            <a:pPr marL="0" indent="0" algn="ctr">
              <a:lnSpc>
                <a:spcPct val="130000"/>
              </a:lnSpc>
              <a:buNone/>
              <a:defRPr/>
            </a:pPr>
            <a:r>
              <a:rPr lang="en-US" sz="1200" b="1">
                <a:solidFill>
                  <a:srgbClr val="FFFFFF"/>
                </a:solidFill>
                <a:latin typeface="Open Sans"/>
                <a:ea typeface="Open Sans"/>
                <a:cs typeface="Open Sans"/>
              </a:rPr>
              <a:t>Self- sustaining</a:t>
            </a:r>
            <a:endParaRPr lang="en-US" sz="1200"/>
          </a:p>
        </p:txBody>
      </p:sp>
      <p:sp>
        <p:nvSpPr>
          <p:cNvPr id="908965505" name="Text 23"/>
          <p:cNvSpPr/>
          <p:nvPr/>
        </p:nvSpPr>
        <p:spPr bwMode="auto">
          <a:xfrm>
            <a:off x="9093200" y="7486015"/>
            <a:ext cx="4351655" cy="247650"/>
          </a:xfrm>
          <a:prstGeom prst="rect">
            <a:avLst/>
          </a:prstGeom>
          <a:noFill/>
          <a:ln/>
        </p:spPr>
        <p:txBody>
          <a:bodyPr wrap="square" lIns="25400" tIns="25400" rIns="25400" bIns="25400" rtlCol="0" anchor="t">
            <a:normAutofit/>
          </a:bodyPr>
          <a:lstStyle/>
          <a:p>
            <a:pPr marL="0" indent="0" algn="l">
              <a:buNone/>
              <a:defRPr/>
            </a:pPr>
            <a:r>
              <a:rPr lang="en-US" sz="1200">
                <a:solidFill>
                  <a:srgbClr val="9B9DA0"/>
                </a:solidFill>
                <a:latin typeface="Open Sans"/>
                <a:ea typeface="Open Sans"/>
                <a:cs typeface="Open Sans"/>
              </a:rPr>
              <a:t>Operating revenue carries it</a:t>
            </a:r>
            <a:endParaRPr lang="en-US" sz="1200"/>
          </a:p>
        </p:txBody>
      </p:sp>
      <p:sp>
        <p:nvSpPr>
          <p:cNvPr id="2106472743" name="Text 24"/>
          <p:cNvSpPr/>
          <p:nvPr/>
        </p:nvSpPr>
        <p:spPr bwMode="auto">
          <a:xfrm>
            <a:off x="13582650" y="4352290"/>
            <a:ext cx="4505325" cy="323850"/>
          </a:xfrm>
          <a:prstGeom prst="rect">
            <a:avLst/>
          </a:prstGeom>
          <a:noFill/>
          <a:ln/>
        </p:spPr>
        <p:txBody>
          <a:bodyPr wrap="square" lIns="25400" tIns="25400" rIns="25400" bIns="25400" rtlCol="0" anchor="t">
            <a:normAutofit/>
          </a:bodyPr>
          <a:lstStyle/>
          <a:p>
            <a:pPr marL="0" indent="0" algn="l">
              <a:buNone/>
              <a:defRPr/>
            </a:pPr>
            <a:r>
              <a:rPr lang="en-US" sz="1500" b="1" spc="180">
                <a:solidFill>
                  <a:srgbClr val="9B9DA0"/>
                </a:solidFill>
                <a:latin typeface="Open Sans"/>
                <a:ea typeface="Open Sans"/>
                <a:cs typeface="Open Sans"/>
              </a:rPr>
              <a:t>FOUR RECURRING STREAMS · 収益源</a:t>
            </a:r>
            <a:endParaRPr lang="en-US" sz="1500"/>
          </a:p>
        </p:txBody>
      </p:sp>
      <p:sp>
        <p:nvSpPr>
          <p:cNvPr id="761225204" name="Shape 25"/>
          <p:cNvSpPr/>
          <p:nvPr/>
        </p:nvSpPr>
        <p:spPr bwMode="auto">
          <a:xfrm>
            <a:off x="13582650" y="5200015"/>
            <a:ext cx="4095750" cy="9525"/>
          </a:xfrm>
          <a:prstGeom prst="rect">
            <a:avLst/>
          </a:prstGeom>
          <a:solidFill>
            <a:srgbClr val="4A4A4A"/>
          </a:solidFill>
          <a:ln/>
        </p:spPr>
      </p:sp>
      <p:sp>
        <p:nvSpPr>
          <p:cNvPr id="1109057285" name="Shape 26"/>
          <p:cNvSpPr/>
          <p:nvPr/>
        </p:nvSpPr>
        <p:spPr bwMode="auto">
          <a:xfrm>
            <a:off x="13582650" y="4871403"/>
            <a:ext cx="114300" cy="114300"/>
          </a:xfrm>
          <a:prstGeom prst="rect">
            <a:avLst/>
          </a:prstGeom>
          <a:solidFill>
            <a:srgbClr val="E58520"/>
          </a:solidFill>
          <a:ln/>
        </p:spPr>
      </p:sp>
      <p:sp>
        <p:nvSpPr>
          <p:cNvPr id="751251738" name="Text 27"/>
          <p:cNvSpPr/>
          <p:nvPr/>
        </p:nvSpPr>
        <p:spPr bwMode="auto">
          <a:xfrm>
            <a:off x="13830300" y="4790440"/>
            <a:ext cx="2947845"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F4F1EC"/>
                </a:solidFill>
                <a:latin typeface="Open Sans"/>
                <a:ea typeface="Open Sans"/>
                <a:cs typeface="Open Sans"/>
              </a:rPr>
              <a:t>Compute hosting </a:t>
            </a:r>
            <a:r>
              <a:rPr lang="en-US" sz="1300" b="1">
                <a:solidFill>
                  <a:srgbClr val="9B9DA0"/>
                </a:solidFill>
                <a:latin typeface="Open Sans"/>
                <a:ea typeface="Open Sans"/>
                <a:cs typeface="Open Sans"/>
              </a:rPr>
              <a:t>ホスティング</a:t>
            </a:r>
            <a:endParaRPr lang="en-US" sz="1600"/>
          </a:p>
        </p:txBody>
      </p:sp>
      <p:sp>
        <p:nvSpPr>
          <p:cNvPr id="1982442561" name="Shape 28"/>
          <p:cNvSpPr/>
          <p:nvPr/>
        </p:nvSpPr>
        <p:spPr bwMode="auto">
          <a:xfrm>
            <a:off x="13582650" y="5771515"/>
            <a:ext cx="4095750" cy="9525"/>
          </a:xfrm>
          <a:prstGeom prst="rect">
            <a:avLst/>
          </a:prstGeom>
          <a:solidFill>
            <a:srgbClr val="4A4A4A"/>
          </a:solidFill>
          <a:ln/>
        </p:spPr>
      </p:sp>
      <p:sp>
        <p:nvSpPr>
          <p:cNvPr id="1309634015" name="Shape 29"/>
          <p:cNvSpPr/>
          <p:nvPr/>
        </p:nvSpPr>
        <p:spPr bwMode="auto">
          <a:xfrm>
            <a:off x="13582650" y="5442903"/>
            <a:ext cx="114300" cy="114300"/>
          </a:xfrm>
          <a:prstGeom prst="rect">
            <a:avLst/>
          </a:prstGeom>
          <a:solidFill>
            <a:srgbClr val="E58520"/>
          </a:solidFill>
          <a:ln/>
        </p:spPr>
      </p:sp>
      <p:sp>
        <p:nvSpPr>
          <p:cNvPr id="198614316" name="Text 30"/>
          <p:cNvSpPr/>
          <p:nvPr/>
        </p:nvSpPr>
        <p:spPr bwMode="auto">
          <a:xfrm>
            <a:off x="13830300" y="5361940"/>
            <a:ext cx="2846911"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F4F1EC"/>
                </a:solidFill>
                <a:latin typeface="Open Sans"/>
                <a:ea typeface="Open Sans"/>
                <a:cs typeface="Open Sans"/>
              </a:rPr>
              <a:t>Energy feed-in (FIT/FIP) </a:t>
            </a:r>
            <a:r>
              <a:rPr lang="en-US" sz="1300" b="1">
                <a:solidFill>
                  <a:srgbClr val="9B9DA0"/>
                </a:solidFill>
                <a:latin typeface="Open Sans"/>
                <a:ea typeface="Open Sans"/>
                <a:cs typeface="Open Sans"/>
              </a:rPr>
              <a:t>売電</a:t>
            </a:r>
            <a:endParaRPr lang="en-US" sz="1600"/>
          </a:p>
        </p:txBody>
      </p:sp>
      <p:sp>
        <p:nvSpPr>
          <p:cNvPr id="823177057" name="Shape 31"/>
          <p:cNvSpPr/>
          <p:nvPr/>
        </p:nvSpPr>
        <p:spPr bwMode="auto">
          <a:xfrm>
            <a:off x="13582650" y="6343015"/>
            <a:ext cx="4095750" cy="9525"/>
          </a:xfrm>
          <a:prstGeom prst="rect">
            <a:avLst/>
          </a:prstGeom>
          <a:solidFill>
            <a:srgbClr val="4A4A4A"/>
          </a:solidFill>
          <a:ln/>
        </p:spPr>
      </p:sp>
      <p:sp>
        <p:nvSpPr>
          <p:cNvPr id="215070616" name="Shape 32"/>
          <p:cNvSpPr/>
          <p:nvPr/>
        </p:nvSpPr>
        <p:spPr bwMode="auto">
          <a:xfrm>
            <a:off x="13582650" y="6014403"/>
            <a:ext cx="114300" cy="114300"/>
          </a:xfrm>
          <a:prstGeom prst="rect">
            <a:avLst/>
          </a:prstGeom>
          <a:solidFill>
            <a:srgbClr val="E58520"/>
          </a:solidFill>
          <a:ln/>
        </p:spPr>
      </p:sp>
      <p:sp>
        <p:nvSpPr>
          <p:cNvPr id="770254245" name="Text 33"/>
          <p:cNvSpPr/>
          <p:nvPr/>
        </p:nvSpPr>
        <p:spPr bwMode="auto">
          <a:xfrm>
            <a:off x="13830300" y="5933440"/>
            <a:ext cx="1857137"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F4F1EC"/>
                </a:solidFill>
                <a:latin typeface="Open Sans"/>
                <a:ea typeface="Open Sans"/>
                <a:cs typeface="Open Sans"/>
              </a:rPr>
              <a:t>EV charging </a:t>
            </a:r>
            <a:r>
              <a:rPr lang="en-US" sz="1300" b="1">
                <a:solidFill>
                  <a:srgbClr val="9B9DA0"/>
                </a:solidFill>
                <a:latin typeface="Open Sans"/>
                <a:ea typeface="Open Sans"/>
                <a:cs typeface="Open Sans"/>
              </a:rPr>
              <a:t>EV充電</a:t>
            </a:r>
            <a:endParaRPr lang="en-US" sz="1600"/>
          </a:p>
        </p:txBody>
      </p:sp>
      <p:sp>
        <p:nvSpPr>
          <p:cNvPr id="480802488" name="Shape 34"/>
          <p:cNvSpPr/>
          <p:nvPr/>
        </p:nvSpPr>
        <p:spPr bwMode="auto">
          <a:xfrm>
            <a:off x="13582650" y="6585903"/>
            <a:ext cx="114300" cy="114300"/>
          </a:xfrm>
          <a:prstGeom prst="rect">
            <a:avLst/>
          </a:prstGeom>
          <a:solidFill>
            <a:srgbClr val="E58520"/>
          </a:solidFill>
          <a:ln/>
        </p:spPr>
      </p:sp>
      <p:sp>
        <p:nvSpPr>
          <p:cNvPr id="1199243792" name="Text 35"/>
          <p:cNvSpPr/>
          <p:nvPr/>
        </p:nvSpPr>
        <p:spPr bwMode="auto">
          <a:xfrm>
            <a:off x="13830300" y="6504940"/>
            <a:ext cx="3641280"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F4F1EC"/>
                </a:solidFill>
                <a:latin typeface="Open Sans"/>
                <a:ea typeface="Open Sans"/>
                <a:cs typeface="Open Sans"/>
              </a:rPr>
              <a:t>Carbon credits (J-Credits) </a:t>
            </a:r>
            <a:r>
              <a:rPr lang="en-US" sz="1300" b="1">
                <a:solidFill>
                  <a:srgbClr val="9B9DA0"/>
                </a:solidFill>
                <a:latin typeface="Open Sans"/>
                <a:ea typeface="Open Sans"/>
                <a:cs typeface="Open Sans"/>
              </a:rPr>
              <a:t>Jクレジット</a:t>
            </a:r>
            <a:endParaRPr lang="en-US" sz="1600"/>
          </a:p>
        </p:txBody>
      </p:sp>
      <p:sp>
        <p:nvSpPr>
          <p:cNvPr id="2128887964" name="Shape 36"/>
          <p:cNvSpPr/>
          <p:nvPr/>
        </p:nvSpPr>
        <p:spPr bwMode="auto">
          <a:xfrm>
            <a:off x="13582650" y="7009765"/>
            <a:ext cx="4095750" cy="9525"/>
          </a:xfrm>
          <a:prstGeom prst="rect">
            <a:avLst/>
          </a:prstGeom>
          <a:solidFill>
            <a:srgbClr val="4A4A4A"/>
          </a:solidFill>
          <a:ln/>
        </p:spPr>
      </p:sp>
      <p:sp>
        <p:nvSpPr>
          <p:cNvPr id="1925962767" name="Text 37"/>
          <p:cNvSpPr/>
          <p:nvPr/>
        </p:nvSpPr>
        <p:spPr bwMode="auto">
          <a:xfrm>
            <a:off x="13582650" y="7171690"/>
            <a:ext cx="4218623" cy="552450"/>
          </a:xfrm>
          <a:prstGeom prst="rect">
            <a:avLst/>
          </a:prstGeom>
          <a:noFill/>
          <a:ln/>
        </p:spPr>
        <p:txBody>
          <a:bodyPr wrap="square" lIns="25400" tIns="25400" rIns="25400" bIns="25400" rtlCol="0" anchor="t">
            <a:normAutofit/>
          </a:bodyPr>
          <a:lstStyle/>
          <a:p>
            <a:pPr marL="0" indent="0" algn="l">
              <a:lnSpc>
                <a:spcPct val="150000"/>
              </a:lnSpc>
              <a:buNone/>
              <a:defRPr/>
            </a:pPr>
            <a:r>
              <a:rPr lang="en-US" sz="1350">
                <a:solidFill>
                  <a:srgbClr val="B9BBBD"/>
                </a:solidFill>
                <a:latin typeface="Open Sans"/>
                <a:ea typeface="Open Sans"/>
                <a:cs typeface="Open Sans"/>
              </a:rPr>
              <a:t>A 25-year horizon — the bridge to localized small-scale power generation.</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FFFFF"/>
        </a:solidFill>
      </p:bgPr>
    </p:bg>
    <p:spTree>
      <p:nvGrpSpPr>
        <p:cNvPr id="1" name=""/>
        <p:cNvGrpSpPr/>
        <p:nvPr/>
      </p:nvGrpSpPr>
      <p:grpSpPr bwMode="auto">
        <a:xfrm>
          <a:off x="0" y="0"/>
          <a:ext cx="0" cy="0"/>
          <a:chOff x="0" y="0"/>
          <a:chExt cx="0" cy="0"/>
        </a:xfrm>
      </p:grpSpPr>
      <p:sp>
        <p:nvSpPr>
          <p:cNvPr id="1057631820" name="Shape 0"/>
          <p:cNvSpPr/>
          <p:nvPr/>
        </p:nvSpPr>
        <p:spPr bwMode="auto">
          <a:xfrm>
            <a:off x="0" y="0"/>
            <a:ext cx="18288000" cy="76200"/>
          </a:xfrm>
          <a:prstGeom prst="rect">
            <a:avLst/>
          </a:prstGeom>
          <a:solidFill>
            <a:srgbClr val="9B9DA0"/>
          </a:solidFill>
          <a:ln/>
        </p:spPr>
      </p:sp>
      <p:sp>
        <p:nvSpPr>
          <p:cNvPr id="1310587470" name="Shape 1"/>
          <p:cNvSpPr/>
          <p:nvPr/>
        </p:nvSpPr>
        <p:spPr bwMode="auto">
          <a:xfrm>
            <a:off x="609600" y="895350"/>
            <a:ext cx="438149" cy="47625"/>
          </a:xfrm>
          <a:prstGeom prst="rect">
            <a:avLst/>
          </a:prstGeom>
          <a:solidFill>
            <a:srgbClr val="E58520"/>
          </a:solidFill>
          <a:ln/>
        </p:spPr>
      </p:sp>
      <p:sp>
        <p:nvSpPr>
          <p:cNvPr id="1854515941" name="Text 2"/>
          <p:cNvSpPr/>
          <p:nvPr/>
        </p:nvSpPr>
        <p:spPr bwMode="auto">
          <a:xfrm>
            <a:off x="1181099" y="800100"/>
            <a:ext cx="4675235"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GOVERNANCE &amp; ADVISORS · 体制と顧問 · 13</a:t>
            </a:r>
            <a:endParaRPr lang="en-US" sz="1300"/>
          </a:p>
        </p:txBody>
      </p:sp>
      <p:sp>
        <p:nvSpPr>
          <p:cNvPr id="1158463573" name="Text 3"/>
          <p:cNvSpPr/>
          <p:nvPr/>
        </p:nvSpPr>
        <p:spPr bwMode="auto">
          <a:xfrm>
            <a:off x="609600" y="1228725"/>
            <a:ext cx="18775680" cy="626745"/>
          </a:xfrm>
          <a:prstGeom prst="rect">
            <a:avLst/>
          </a:prstGeom>
          <a:noFill/>
          <a:ln/>
        </p:spPr>
        <p:txBody>
          <a:bodyPr wrap="square" lIns="25400" tIns="25400" rIns="25400" bIns="25400" rtlCol="0" anchor="t">
            <a:normAutofit/>
          </a:bodyPr>
          <a:lstStyle/>
          <a:p>
            <a:pPr marL="0" indent="0" algn="l">
              <a:lnSpc>
                <a:spcPct val="103000"/>
              </a:lnSpc>
              <a:buNone/>
              <a:defRPr/>
            </a:pPr>
            <a:r>
              <a:rPr lang="en-US" sz="4500" b="1" spc="-45">
                <a:solidFill>
                  <a:srgbClr val="2E2E2E"/>
                </a:solidFill>
                <a:latin typeface="Sora"/>
                <a:ea typeface="Sora"/>
                <a:cs typeface="Sora"/>
              </a:rPr>
              <a:t>Small team, serious people, open books</a:t>
            </a:r>
            <a:endParaRPr lang="en-US" sz="4500"/>
          </a:p>
        </p:txBody>
      </p:sp>
      <p:sp>
        <p:nvSpPr>
          <p:cNvPr id="857238403" name="Text 4"/>
          <p:cNvSpPr/>
          <p:nvPr/>
        </p:nvSpPr>
        <p:spPr bwMode="auto">
          <a:xfrm>
            <a:off x="609600" y="1893570"/>
            <a:ext cx="18775680" cy="390525"/>
          </a:xfrm>
          <a:prstGeom prst="rect">
            <a:avLst/>
          </a:prstGeom>
          <a:noFill/>
          <a:ln/>
        </p:spPr>
        <p:txBody>
          <a:bodyPr wrap="square" lIns="25400" tIns="25400" rIns="25400" bIns="25400" rtlCol="0" anchor="t">
            <a:normAutofit/>
          </a:bodyPr>
          <a:lstStyle/>
          <a:p>
            <a:pPr marL="0" indent="0" algn="l">
              <a:buNone/>
              <a:defRPr/>
            </a:pPr>
            <a:r>
              <a:rPr lang="en-US" sz="1900">
                <a:solidFill>
                  <a:srgbClr val="6E7174"/>
                </a:solidFill>
                <a:latin typeface="Noto Sans JP"/>
                <a:ea typeface="Noto Sans JP"/>
                <a:cs typeface="Noto Sans JP"/>
              </a:rPr>
              <a:t>少人数・確かな顔ぶれ・公開された会計。</a:t>
            </a:r>
            <a:endParaRPr lang="en-US" sz="1900"/>
          </a:p>
        </p:txBody>
      </p:sp>
      <p:sp>
        <p:nvSpPr>
          <p:cNvPr id="896304120" name="Shape 5"/>
          <p:cNvSpPr/>
          <p:nvPr/>
        </p:nvSpPr>
        <p:spPr bwMode="auto">
          <a:xfrm>
            <a:off x="609600" y="2588894"/>
            <a:ext cx="6486049" cy="5335905"/>
          </a:xfrm>
          <a:prstGeom prst="rect">
            <a:avLst/>
          </a:prstGeom>
          <a:solidFill>
            <a:srgbClr val="2E2E2E"/>
          </a:solidFill>
          <a:ln/>
        </p:spPr>
      </p:sp>
      <p:sp>
        <p:nvSpPr>
          <p:cNvPr id="1600618075" name="Text 6"/>
          <p:cNvSpPr/>
          <p:nvPr/>
        </p:nvSpPr>
        <p:spPr bwMode="auto">
          <a:xfrm>
            <a:off x="895350" y="4723447"/>
            <a:ext cx="6506004" cy="266700"/>
          </a:xfrm>
          <a:prstGeom prst="rect">
            <a:avLst/>
          </a:prstGeom>
          <a:noFill/>
          <a:ln/>
        </p:spPr>
        <p:txBody>
          <a:bodyPr wrap="square" lIns="25400" tIns="25400" rIns="25400" bIns="25400" rtlCol="0" anchor="t">
            <a:normAutofit/>
          </a:bodyPr>
          <a:lstStyle/>
          <a:p>
            <a:pPr marL="0" indent="0" algn="l">
              <a:buNone/>
              <a:defRPr/>
            </a:pPr>
            <a:r>
              <a:rPr lang="en-US" sz="1200" b="1" spc="168">
                <a:solidFill>
                  <a:srgbClr val="F4B872"/>
                </a:solidFill>
                <a:latin typeface="Open Sans"/>
                <a:ea typeface="Open Sans"/>
                <a:cs typeface="Open Sans"/>
              </a:rPr>
              <a:t>PROJECT LEAD · 代表</a:t>
            </a:r>
            <a:endParaRPr lang="en-US" sz="1200"/>
          </a:p>
        </p:txBody>
      </p:sp>
      <p:sp>
        <p:nvSpPr>
          <p:cNvPr id="1621859506" name="Text 7"/>
          <p:cNvSpPr/>
          <p:nvPr/>
        </p:nvSpPr>
        <p:spPr bwMode="auto">
          <a:xfrm>
            <a:off x="895350" y="5066347"/>
            <a:ext cx="6506004" cy="447675"/>
          </a:xfrm>
          <a:prstGeom prst="rect">
            <a:avLst/>
          </a:prstGeom>
          <a:noFill/>
          <a:ln/>
        </p:spPr>
        <p:txBody>
          <a:bodyPr wrap="square" lIns="25400" tIns="25400" rIns="25400" bIns="25400" rtlCol="0" anchor="t">
            <a:normAutofit/>
          </a:bodyPr>
          <a:lstStyle/>
          <a:p>
            <a:pPr marL="0" indent="0" algn="l">
              <a:buNone/>
              <a:defRPr/>
            </a:pPr>
            <a:r>
              <a:rPr lang="en-US" sz="2550" b="1">
                <a:solidFill>
                  <a:srgbClr val="FFFFFF"/>
                </a:solidFill>
                <a:latin typeface="Sora"/>
                <a:ea typeface="Sora"/>
                <a:cs typeface="Sora"/>
              </a:rPr>
              <a:t>Rob Oudendijk</a:t>
            </a:r>
            <a:endParaRPr lang="en-US" sz="2550"/>
          </a:p>
        </p:txBody>
      </p:sp>
      <p:sp>
        <p:nvSpPr>
          <p:cNvPr id="1683482502" name="Text 8"/>
          <p:cNvSpPr/>
          <p:nvPr/>
        </p:nvSpPr>
        <p:spPr bwMode="auto">
          <a:xfrm>
            <a:off x="895350" y="5533073"/>
            <a:ext cx="6506004" cy="295274"/>
          </a:xfrm>
          <a:prstGeom prst="rect">
            <a:avLst/>
          </a:prstGeom>
          <a:noFill/>
          <a:ln/>
        </p:spPr>
        <p:txBody>
          <a:bodyPr wrap="square" lIns="25400" tIns="25400" rIns="25400" bIns="25400" rtlCol="0" anchor="t">
            <a:normAutofit/>
          </a:bodyPr>
          <a:lstStyle/>
          <a:p>
            <a:pPr marL="0" indent="0" algn="l">
              <a:buNone/>
              <a:defRPr/>
            </a:pPr>
            <a:r>
              <a:rPr lang="en-US" sz="1500">
                <a:solidFill>
                  <a:srgbClr val="C7C9CB"/>
                </a:solidFill>
                <a:latin typeface="Open Sans"/>
                <a:ea typeface="Open Sans"/>
                <a:cs typeface="Open Sans"/>
              </a:rPr>
              <a:t>YR-Design · Safecast</a:t>
            </a:r>
            <a:endParaRPr lang="en-US" sz="1500"/>
          </a:p>
        </p:txBody>
      </p:sp>
      <p:sp>
        <p:nvSpPr>
          <p:cNvPr id="1545323987" name="Shape 9"/>
          <p:cNvSpPr/>
          <p:nvPr/>
        </p:nvSpPr>
        <p:spPr bwMode="auto">
          <a:xfrm>
            <a:off x="609600" y="8153399"/>
            <a:ext cx="6486049" cy="1447800"/>
          </a:xfrm>
          <a:prstGeom prst="rect">
            <a:avLst/>
          </a:prstGeom>
          <a:solidFill>
            <a:srgbClr val="F6F6F4"/>
          </a:solidFill>
          <a:ln/>
        </p:spPr>
      </p:sp>
      <p:sp>
        <p:nvSpPr>
          <p:cNvPr id="519844807" name="Text 10"/>
          <p:cNvSpPr/>
          <p:nvPr/>
        </p:nvSpPr>
        <p:spPr bwMode="auto">
          <a:xfrm>
            <a:off x="895350" y="8420100"/>
            <a:ext cx="6506004" cy="266700"/>
          </a:xfrm>
          <a:prstGeom prst="rect">
            <a:avLst/>
          </a:prstGeom>
          <a:noFill/>
          <a:ln/>
        </p:spPr>
        <p:txBody>
          <a:bodyPr wrap="square" lIns="25400" tIns="25400" rIns="25400" bIns="25400" rtlCol="0" anchor="t">
            <a:normAutofit/>
          </a:bodyPr>
          <a:lstStyle/>
          <a:p>
            <a:pPr marL="0" indent="0" algn="l">
              <a:buNone/>
              <a:defRPr/>
            </a:pPr>
            <a:r>
              <a:rPr lang="en-US" sz="1200" b="1" spc="168">
                <a:solidFill>
                  <a:srgbClr val="9B9DA0"/>
                </a:solidFill>
                <a:latin typeface="Open Sans"/>
                <a:ea typeface="Open Sans"/>
                <a:cs typeface="Open Sans"/>
              </a:rPr>
              <a:t>LEGAL PATH · 法人形態</a:t>
            </a:r>
            <a:endParaRPr lang="en-US" sz="1200"/>
          </a:p>
        </p:txBody>
      </p:sp>
      <p:sp>
        <p:nvSpPr>
          <p:cNvPr id="682794746" name="Text 11"/>
          <p:cNvSpPr/>
          <p:nvPr/>
        </p:nvSpPr>
        <p:spPr bwMode="auto">
          <a:xfrm>
            <a:off x="895350" y="8763000"/>
            <a:ext cx="6091985" cy="609600"/>
          </a:xfrm>
          <a:prstGeom prst="rect">
            <a:avLst/>
          </a:prstGeom>
          <a:noFill/>
          <a:ln/>
        </p:spPr>
        <p:txBody>
          <a:bodyPr wrap="square" lIns="25400" tIns="25400" rIns="25400" bIns="25400" rtlCol="0" anchor="t">
            <a:normAutofit/>
          </a:bodyPr>
          <a:lstStyle/>
          <a:p>
            <a:pPr marL="0" indent="0" algn="l">
              <a:lnSpc>
                <a:spcPct val="150000"/>
              </a:lnSpc>
              <a:buNone/>
              <a:defRPr/>
            </a:pPr>
            <a:r>
              <a:rPr lang="en-US" sz="1500">
                <a:solidFill>
                  <a:srgbClr val="4A4A4A"/>
                </a:solidFill>
                <a:latin typeface="Open Sans"/>
                <a:ea typeface="Open Sans"/>
                <a:cs typeface="Open Sans"/>
              </a:rPr>
              <a:t>一般社団法人 → NPO法人 → 認定NPO法人 — toward tax-deductible status.</a:t>
            </a:r>
            <a:endParaRPr lang="en-US" sz="1500"/>
          </a:p>
        </p:txBody>
      </p:sp>
      <p:sp>
        <p:nvSpPr>
          <p:cNvPr id="1473269256" name="Text 12"/>
          <p:cNvSpPr/>
          <p:nvPr/>
        </p:nvSpPr>
        <p:spPr bwMode="auto">
          <a:xfrm>
            <a:off x="7419499" y="2588894"/>
            <a:ext cx="11284792" cy="266700"/>
          </a:xfrm>
          <a:prstGeom prst="rect">
            <a:avLst/>
          </a:prstGeom>
          <a:noFill/>
          <a:ln/>
        </p:spPr>
        <p:txBody>
          <a:bodyPr wrap="square" lIns="25400" tIns="25400" rIns="25400" bIns="25400" rtlCol="0" anchor="t">
            <a:normAutofit/>
          </a:bodyPr>
          <a:lstStyle/>
          <a:p>
            <a:pPr marL="0" indent="0" algn="l">
              <a:buNone/>
              <a:defRPr/>
            </a:pPr>
            <a:r>
              <a:rPr lang="en-US" sz="1200" b="1" spc="168">
                <a:solidFill>
                  <a:srgbClr val="9B9DA0"/>
                </a:solidFill>
                <a:latin typeface="Open Sans"/>
                <a:ea typeface="Open Sans"/>
                <a:cs typeface="Open Sans"/>
              </a:rPr>
              <a:t>ADVISORY BOARD · 顧問</a:t>
            </a:r>
            <a:endParaRPr lang="en-US" sz="1200"/>
          </a:p>
        </p:txBody>
      </p:sp>
      <p:sp>
        <p:nvSpPr>
          <p:cNvPr id="120815306" name="Shape 13"/>
          <p:cNvSpPr/>
          <p:nvPr/>
        </p:nvSpPr>
        <p:spPr bwMode="auto">
          <a:xfrm>
            <a:off x="7419499" y="3522345"/>
            <a:ext cx="10258902" cy="9525"/>
          </a:xfrm>
          <a:prstGeom prst="rect">
            <a:avLst/>
          </a:prstGeom>
          <a:solidFill>
            <a:srgbClr val="E6E6E2"/>
          </a:solidFill>
          <a:ln/>
        </p:spPr>
      </p:sp>
      <p:sp>
        <p:nvSpPr>
          <p:cNvPr id="1261478785" name="Text 14"/>
          <p:cNvSpPr/>
          <p:nvPr/>
        </p:nvSpPr>
        <p:spPr bwMode="auto">
          <a:xfrm>
            <a:off x="7419499" y="3046095"/>
            <a:ext cx="2671763" cy="34290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Sora"/>
                <a:ea typeface="Sora"/>
                <a:cs typeface="Sora"/>
              </a:rPr>
              <a:t>Ray Ozzie</a:t>
            </a:r>
            <a:endParaRPr lang="en-US" sz="1900"/>
          </a:p>
        </p:txBody>
      </p:sp>
      <p:sp>
        <p:nvSpPr>
          <p:cNvPr id="53881561" name="Text 15"/>
          <p:cNvSpPr/>
          <p:nvPr/>
        </p:nvSpPr>
        <p:spPr bwMode="auto">
          <a:xfrm>
            <a:off x="10019823" y="3079432"/>
            <a:ext cx="2135838" cy="295274"/>
          </a:xfrm>
          <a:prstGeom prst="rect">
            <a:avLst/>
          </a:prstGeom>
          <a:noFill/>
          <a:ln/>
        </p:spPr>
        <p:txBody>
          <a:bodyPr wrap="square" lIns="25400" tIns="25400" rIns="25400" bIns="25400" rtlCol="0" anchor="t">
            <a:normAutofit/>
          </a:bodyPr>
          <a:lstStyle/>
          <a:p>
            <a:pPr marL="0" indent="0" algn="l">
              <a:buNone/>
              <a:defRPr/>
            </a:pPr>
            <a:r>
              <a:rPr lang="en-US" sz="1500">
                <a:solidFill>
                  <a:srgbClr val="6E7174"/>
                </a:solidFill>
                <a:latin typeface="Open Sans"/>
                <a:ea typeface="Open Sans"/>
                <a:cs typeface="Open Sans"/>
              </a:rPr>
              <a:t>Executive Chair, Blues</a:t>
            </a:r>
            <a:endParaRPr lang="en-US" sz="1500"/>
          </a:p>
        </p:txBody>
      </p:sp>
      <p:sp>
        <p:nvSpPr>
          <p:cNvPr id="846453677" name="Shape 16"/>
          <p:cNvSpPr/>
          <p:nvPr/>
        </p:nvSpPr>
        <p:spPr bwMode="auto">
          <a:xfrm>
            <a:off x="7419499" y="4179570"/>
            <a:ext cx="10258902" cy="9525"/>
          </a:xfrm>
          <a:prstGeom prst="rect">
            <a:avLst/>
          </a:prstGeom>
          <a:solidFill>
            <a:srgbClr val="E6E6E2"/>
          </a:solidFill>
          <a:ln/>
        </p:spPr>
      </p:sp>
      <p:sp>
        <p:nvSpPr>
          <p:cNvPr id="255993292" name="Text 17"/>
          <p:cNvSpPr/>
          <p:nvPr/>
        </p:nvSpPr>
        <p:spPr bwMode="auto">
          <a:xfrm>
            <a:off x="7419499" y="3703320"/>
            <a:ext cx="2671763" cy="34290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Sora"/>
                <a:ea typeface="Sora"/>
                <a:cs typeface="Sora"/>
              </a:rPr>
              <a:t>San Poisson</a:t>
            </a:r>
            <a:endParaRPr lang="en-US" sz="1900"/>
          </a:p>
        </p:txBody>
      </p:sp>
      <p:sp>
        <p:nvSpPr>
          <p:cNvPr id="1292363376" name="Text 18"/>
          <p:cNvSpPr/>
          <p:nvPr/>
        </p:nvSpPr>
        <p:spPr bwMode="auto">
          <a:xfrm>
            <a:off x="10019823" y="3736657"/>
            <a:ext cx="1604978" cy="295274"/>
          </a:xfrm>
          <a:prstGeom prst="rect">
            <a:avLst/>
          </a:prstGeom>
          <a:noFill/>
          <a:ln/>
        </p:spPr>
        <p:txBody>
          <a:bodyPr wrap="square" lIns="25400" tIns="25400" rIns="25400" bIns="25400" rtlCol="0" anchor="t">
            <a:normAutofit/>
          </a:bodyPr>
          <a:lstStyle/>
          <a:p>
            <a:pPr marL="0" indent="0" algn="l">
              <a:buNone/>
              <a:defRPr/>
            </a:pPr>
            <a:r>
              <a:rPr lang="en-US" sz="1500">
                <a:solidFill>
                  <a:srgbClr val="6E7174"/>
                </a:solidFill>
                <a:latin typeface="Open Sans"/>
                <a:ea typeface="Open Sans"/>
                <a:cs typeface="Open Sans"/>
              </a:rPr>
              <a:t>Project Manager</a:t>
            </a:r>
            <a:endParaRPr lang="en-US" sz="1500"/>
          </a:p>
        </p:txBody>
      </p:sp>
      <p:sp>
        <p:nvSpPr>
          <p:cNvPr id="205426428" name="Shape 19"/>
          <p:cNvSpPr/>
          <p:nvPr/>
        </p:nvSpPr>
        <p:spPr bwMode="auto">
          <a:xfrm>
            <a:off x="7419499" y="4836795"/>
            <a:ext cx="10258902" cy="9525"/>
          </a:xfrm>
          <a:prstGeom prst="rect">
            <a:avLst/>
          </a:prstGeom>
          <a:solidFill>
            <a:srgbClr val="E6E6E2"/>
          </a:solidFill>
          <a:ln/>
        </p:spPr>
      </p:sp>
      <p:sp>
        <p:nvSpPr>
          <p:cNvPr id="303994183" name="Text 20"/>
          <p:cNvSpPr/>
          <p:nvPr/>
        </p:nvSpPr>
        <p:spPr bwMode="auto">
          <a:xfrm>
            <a:off x="7419499" y="4360545"/>
            <a:ext cx="2671763" cy="34290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Sora"/>
                <a:ea typeface="Sora"/>
                <a:cs typeface="Sora"/>
              </a:rPr>
              <a:t>Takuo Dome</a:t>
            </a:r>
            <a:endParaRPr lang="en-US" sz="1900"/>
          </a:p>
        </p:txBody>
      </p:sp>
      <p:sp>
        <p:nvSpPr>
          <p:cNvPr id="1000878897" name="Text 21"/>
          <p:cNvSpPr/>
          <p:nvPr/>
        </p:nvSpPr>
        <p:spPr bwMode="auto">
          <a:xfrm>
            <a:off x="10019823" y="4393882"/>
            <a:ext cx="5490734" cy="295274"/>
          </a:xfrm>
          <a:prstGeom prst="rect">
            <a:avLst/>
          </a:prstGeom>
          <a:noFill/>
          <a:ln/>
        </p:spPr>
        <p:txBody>
          <a:bodyPr wrap="square" lIns="25400" tIns="25400" rIns="25400" bIns="25400" rtlCol="0" anchor="t">
            <a:normAutofit/>
          </a:bodyPr>
          <a:lstStyle/>
          <a:p>
            <a:pPr marL="0" indent="0" algn="l">
              <a:buNone/>
              <a:defRPr/>
            </a:pPr>
            <a:r>
              <a:rPr lang="en-US" sz="1500">
                <a:solidFill>
                  <a:srgbClr val="6E7174"/>
                </a:solidFill>
                <a:latin typeface="Open Sans"/>
                <a:ea typeface="Open Sans"/>
                <a:cs typeface="Open Sans"/>
              </a:rPr>
              <a:t>Prof. Emeritus, Osaka University · Director, Inochi Forum</a:t>
            </a:r>
            <a:endParaRPr lang="en-US" sz="1500"/>
          </a:p>
        </p:txBody>
      </p:sp>
      <p:sp>
        <p:nvSpPr>
          <p:cNvPr id="1501386496" name="Shape 22"/>
          <p:cNvSpPr/>
          <p:nvPr/>
        </p:nvSpPr>
        <p:spPr bwMode="auto">
          <a:xfrm>
            <a:off x="7419499" y="5494020"/>
            <a:ext cx="10258902" cy="9525"/>
          </a:xfrm>
          <a:prstGeom prst="rect">
            <a:avLst/>
          </a:prstGeom>
          <a:solidFill>
            <a:srgbClr val="E6E6E2"/>
          </a:solidFill>
          <a:ln/>
        </p:spPr>
      </p:sp>
      <p:sp>
        <p:nvSpPr>
          <p:cNvPr id="1341973854" name="Text 23"/>
          <p:cNvSpPr/>
          <p:nvPr/>
        </p:nvSpPr>
        <p:spPr bwMode="auto">
          <a:xfrm>
            <a:off x="7419499" y="5017770"/>
            <a:ext cx="2671763" cy="34290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Sora"/>
                <a:ea typeface="Sora"/>
                <a:cs typeface="Sora"/>
              </a:rPr>
              <a:t>Evin Zoet</a:t>
            </a:r>
            <a:endParaRPr lang="en-US" sz="1900"/>
          </a:p>
        </p:txBody>
      </p:sp>
      <p:sp>
        <p:nvSpPr>
          <p:cNvPr id="407542434" name="Text 24"/>
          <p:cNvSpPr/>
          <p:nvPr/>
        </p:nvSpPr>
        <p:spPr bwMode="auto">
          <a:xfrm>
            <a:off x="10019823" y="5051107"/>
            <a:ext cx="3615611" cy="295274"/>
          </a:xfrm>
          <a:prstGeom prst="rect">
            <a:avLst/>
          </a:prstGeom>
          <a:noFill/>
          <a:ln/>
        </p:spPr>
        <p:txBody>
          <a:bodyPr wrap="square" lIns="25400" tIns="25400" rIns="25400" bIns="25400" rtlCol="0" anchor="t">
            <a:normAutofit/>
          </a:bodyPr>
          <a:lstStyle/>
          <a:p>
            <a:pPr marL="0" indent="0" algn="l">
              <a:buNone/>
              <a:defRPr/>
            </a:pPr>
            <a:r>
              <a:rPr lang="en-US" sz="1500">
                <a:solidFill>
                  <a:srgbClr val="6E7174"/>
                </a:solidFill>
                <a:latin typeface="Open Sans"/>
                <a:ea typeface="Open Sans"/>
                <a:cs typeface="Open Sans"/>
              </a:rPr>
              <a:t>Co-Representative Director, Transom</a:t>
            </a:r>
            <a:endParaRPr lang="en-US" sz="1500"/>
          </a:p>
        </p:txBody>
      </p:sp>
      <p:sp>
        <p:nvSpPr>
          <p:cNvPr id="1655490614" name="Text 25"/>
          <p:cNvSpPr/>
          <p:nvPr/>
        </p:nvSpPr>
        <p:spPr bwMode="auto">
          <a:xfrm>
            <a:off x="7419499" y="5674995"/>
            <a:ext cx="2505074" cy="647700"/>
          </a:xfrm>
          <a:prstGeom prst="rect">
            <a:avLst/>
          </a:prstGeom>
          <a:noFill/>
          <a:ln/>
        </p:spPr>
        <p:txBody>
          <a:bodyPr wrap="square" lIns="25400" tIns="25400" rIns="25400" bIns="25400" rtlCol="0" anchor="t">
            <a:normAutofit/>
          </a:bodyPr>
          <a:lstStyle/>
          <a:p>
            <a:pPr marL="0" indent="0" algn="l">
              <a:buNone/>
              <a:defRPr/>
            </a:pPr>
            <a:r>
              <a:rPr lang="en-US" sz="1900" b="1">
                <a:solidFill>
                  <a:srgbClr val="2E2E2E"/>
                </a:solidFill>
                <a:latin typeface="Sora"/>
                <a:ea typeface="Sora"/>
                <a:cs typeface="Sora"/>
              </a:rPr>
              <a:t>Yoshiko Zoet-Suzuki</a:t>
            </a:r>
            <a:endParaRPr lang="en-US" sz="1900"/>
          </a:p>
        </p:txBody>
      </p:sp>
      <p:sp>
        <p:nvSpPr>
          <p:cNvPr id="962118545" name="Text 26"/>
          <p:cNvSpPr/>
          <p:nvPr/>
        </p:nvSpPr>
        <p:spPr bwMode="auto">
          <a:xfrm>
            <a:off x="10019823" y="5708332"/>
            <a:ext cx="3615611" cy="295274"/>
          </a:xfrm>
          <a:prstGeom prst="rect">
            <a:avLst/>
          </a:prstGeom>
          <a:noFill/>
          <a:ln/>
        </p:spPr>
        <p:txBody>
          <a:bodyPr wrap="square" lIns="25400" tIns="25400" rIns="25400" bIns="25400" rtlCol="0" anchor="t">
            <a:normAutofit/>
          </a:bodyPr>
          <a:lstStyle/>
          <a:p>
            <a:pPr marL="0" indent="0" algn="l">
              <a:buNone/>
              <a:defRPr/>
            </a:pPr>
            <a:r>
              <a:rPr lang="en-US" sz="1500">
                <a:solidFill>
                  <a:srgbClr val="6E7174"/>
                </a:solidFill>
                <a:latin typeface="Open Sans"/>
                <a:ea typeface="Open Sans"/>
                <a:cs typeface="Open Sans"/>
              </a:rPr>
              <a:t>Co-Representative Director, Transom</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AFAF9"/>
        </a:solidFill>
      </p:bgPr>
    </p:bg>
    <p:spTree>
      <p:nvGrpSpPr>
        <p:cNvPr id="1" name=""/>
        <p:cNvGrpSpPr/>
        <p:nvPr/>
      </p:nvGrpSpPr>
      <p:grpSpPr bwMode="auto">
        <a:xfrm>
          <a:off x="0" y="0"/>
          <a:ext cx="0" cy="0"/>
          <a:chOff x="0" y="0"/>
          <a:chExt cx="0" cy="0"/>
        </a:xfrm>
      </p:grpSpPr>
      <p:sp>
        <p:nvSpPr>
          <p:cNvPr id="1030508971" name="Shape 0"/>
          <p:cNvSpPr/>
          <p:nvPr/>
        </p:nvSpPr>
        <p:spPr bwMode="auto">
          <a:xfrm>
            <a:off x="0" y="0"/>
            <a:ext cx="18288000" cy="76200"/>
          </a:xfrm>
          <a:prstGeom prst="rect">
            <a:avLst/>
          </a:prstGeom>
          <a:solidFill>
            <a:srgbClr val="9B9DA0"/>
          </a:solidFill>
          <a:ln/>
        </p:spPr>
      </p:sp>
      <p:sp>
        <p:nvSpPr>
          <p:cNvPr id="945353814" name="Shape 1"/>
          <p:cNvSpPr/>
          <p:nvPr/>
        </p:nvSpPr>
        <p:spPr bwMode="auto">
          <a:xfrm>
            <a:off x="609600" y="895350"/>
            <a:ext cx="438149" cy="47625"/>
          </a:xfrm>
          <a:prstGeom prst="rect">
            <a:avLst/>
          </a:prstGeom>
          <a:solidFill>
            <a:srgbClr val="E58520"/>
          </a:solidFill>
          <a:ln/>
        </p:spPr>
      </p:sp>
      <p:sp>
        <p:nvSpPr>
          <p:cNvPr id="1845900453" name="Text 2"/>
          <p:cNvSpPr/>
          <p:nvPr/>
        </p:nvSpPr>
        <p:spPr bwMode="auto">
          <a:xfrm>
            <a:off x="1181099" y="800100"/>
            <a:ext cx="2810415"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REPLICATION · 横展開 · 14</a:t>
            </a:r>
            <a:endParaRPr lang="en-US" sz="1300"/>
          </a:p>
        </p:txBody>
      </p:sp>
      <p:sp>
        <p:nvSpPr>
          <p:cNvPr id="1021360767" name="Text 3"/>
          <p:cNvSpPr/>
          <p:nvPr/>
        </p:nvSpPr>
        <p:spPr bwMode="auto">
          <a:xfrm>
            <a:off x="609600" y="1247775"/>
            <a:ext cx="18775680" cy="665956"/>
          </a:xfrm>
          <a:prstGeom prst="rect">
            <a:avLst/>
          </a:prstGeom>
          <a:noFill/>
          <a:ln/>
        </p:spPr>
        <p:txBody>
          <a:bodyPr wrap="square" lIns="25400" tIns="25400" rIns="25400" bIns="25400" rtlCol="0" anchor="t">
            <a:normAutofit/>
          </a:bodyPr>
          <a:lstStyle/>
          <a:p>
            <a:pPr marL="0" indent="0" algn="l">
              <a:lnSpc>
                <a:spcPct val="102994"/>
              </a:lnSpc>
              <a:buNone/>
              <a:defRPr/>
            </a:pPr>
            <a:r>
              <a:rPr lang="en-US" sz="4800" b="1" spc="-47">
                <a:solidFill>
                  <a:srgbClr val="2E2E2E"/>
                </a:solidFill>
                <a:latin typeface="Sora"/>
                <a:ea typeface="Sora"/>
                <a:cs typeface="Sora"/>
              </a:rPr>
              <a:t>One village, an open blueprint</a:t>
            </a:r>
            <a:endParaRPr lang="en-US" sz="4800"/>
          </a:p>
        </p:txBody>
      </p:sp>
      <p:sp>
        <p:nvSpPr>
          <p:cNvPr id="1269910187" name="Text 4"/>
          <p:cNvSpPr/>
          <p:nvPr/>
        </p:nvSpPr>
        <p:spPr bwMode="auto">
          <a:xfrm>
            <a:off x="609600" y="1970881"/>
            <a:ext cx="18775680" cy="409575"/>
          </a:xfrm>
          <a:prstGeom prst="rect">
            <a:avLst/>
          </a:prstGeom>
          <a:noFill/>
          <a:ln/>
        </p:spPr>
        <p:txBody>
          <a:bodyPr wrap="square" lIns="25400" tIns="25400" rIns="25400" bIns="25400" rtlCol="0" anchor="t">
            <a:normAutofit/>
          </a:bodyPr>
          <a:lstStyle/>
          <a:p>
            <a:pPr marL="0" indent="0" algn="l">
              <a:buNone/>
              <a:defRPr/>
            </a:pPr>
            <a:r>
              <a:rPr lang="en-US" sz="1950">
                <a:solidFill>
                  <a:srgbClr val="6E7174"/>
                </a:solidFill>
                <a:latin typeface="Noto Sans JP"/>
                <a:ea typeface="Noto Sans JP"/>
                <a:cs typeface="Noto Sans JP"/>
              </a:rPr>
              <a:t>御杖は終着点ではなく、原型。公開された設計図。</a:t>
            </a:r>
            <a:endParaRPr lang="en-US" sz="1950"/>
          </a:p>
        </p:txBody>
      </p:sp>
      <p:sp>
        <p:nvSpPr>
          <p:cNvPr id="2062505862" name="Text 5"/>
          <p:cNvSpPr/>
          <p:nvPr/>
        </p:nvSpPr>
        <p:spPr bwMode="auto">
          <a:xfrm>
            <a:off x="609600" y="4799647"/>
            <a:ext cx="1683210" cy="647700"/>
          </a:xfrm>
          <a:prstGeom prst="rect">
            <a:avLst/>
          </a:prstGeom>
          <a:noFill/>
          <a:ln/>
        </p:spPr>
        <p:txBody>
          <a:bodyPr wrap="square" lIns="25400" tIns="25400" rIns="25400" bIns="25400" rtlCol="0" anchor="t">
            <a:normAutofit/>
          </a:bodyPr>
          <a:lstStyle/>
          <a:p>
            <a:pPr marL="0" indent="0" algn="l">
              <a:lnSpc>
                <a:spcPct val="100000"/>
              </a:lnSpc>
              <a:buNone/>
              <a:defRPr/>
            </a:pPr>
            <a:r>
              <a:rPr lang="en-US" sz="4800" b="1">
                <a:solidFill>
                  <a:srgbClr val="E58520"/>
                </a:solidFill>
                <a:latin typeface="Sora"/>
                <a:ea typeface="Sora"/>
                <a:cs typeface="Sora"/>
              </a:rPr>
              <a:t>100s</a:t>
            </a:r>
            <a:endParaRPr lang="en-US" sz="4800"/>
          </a:p>
        </p:txBody>
      </p:sp>
      <p:sp>
        <p:nvSpPr>
          <p:cNvPr id="478368795" name="Text 6"/>
          <p:cNvSpPr/>
          <p:nvPr/>
        </p:nvSpPr>
        <p:spPr bwMode="auto">
          <a:xfrm>
            <a:off x="2330291" y="5070157"/>
            <a:ext cx="7602187" cy="651510"/>
          </a:xfrm>
          <a:prstGeom prst="rect">
            <a:avLst/>
          </a:prstGeom>
          <a:noFill/>
          <a:ln/>
        </p:spPr>
        <p:txBody>
          <a:bodyPr wrap="square" lIns="25400" tIns="25400" rIns="25400" bIns="25400" rtlCol="0" anchor="t">
            <a:normAutofit/>
          </a:bodyPr>
          <a:lstStyle/>
          <a:p>
            <a:pPr marL="0" indent="0" algn="l">
              <a:lnSpc>
                <a:spcPct val="140000"/>
              </a:lnSpc>
              <a:buNone/>
              <a:defRPr/>
            </a:pPr>
            <a:r>
              <a:rPr lang="en-US" sz="1750">
                <a:solidFill>
                  <a:srgbClr val="4A4A4A"/>
                </a:solidFill>
                <a:latin typeface="Open Sans"/>
                <a:ea typeface="Open Sans"/>
                <a:cs typeface="Open Sans"/>
              </a:rPr>
              <a:t>of depopulating municipalities share the same four raw materials. 同じ条件を持つ自治体は数百。</a:t>
            </a:r>
            <a:endParaRPr lang="en-US" sz="1750"/>
          </a:p>
        </p:txBody>
      </p:sp>
      <p:sp>
        <p:nvSpPr>
          <p:cNvPr id="1460355078" name="Shape 7"/>
          <p:cNvSpPr/>
          <p:nvPr/>
        </p:nvSpPr>
        <p:spPr bwMode="auto">
          <a:xfrm>
            <a:off x="609600" y="5893118"/>
            <a:ext cx="9101455" cy="9525"/>
          </a:xfrm>
          <a:prstGeom prst="rect">
            <a:avLst/>
          </a:prstGeom>
          <a:solidFill>
            <a:srgbClr val="E6E6E2"/>
          </a:solidFill>
          <a:ln/>
        </p:spPr>
      </p:sp>
      <p:sp>
        <p:nvSpPr>
          <p:cNvPr id="660992718" name="Text 8"/>
          <p:cNvSpPr/>
          <p:nvPr/>
        </p:nvSpPr>
        <p:spPr bwMode="auto">
          <a:xfrm>
            <a:off x="609600" y="6112193"/>
            <a:ext cx="9374499" cy="723900"/>
          </a:xfrm>
          <a:prstGeom prst="rect">
            <a:avLst/>
          </a:prstGeom>
          <a:noFill/>
          <a:ln/>
        </p:spPr>
        <p:txBody>
          <a:bodyPr wrap="square" lIns="25400" tIns="25400" rIns="25400" bIns="25400" rtlCol="0" anchor="t">
            <a:normAutofit/>
          </a:bodyPr>
          <a:lstStyle/>
          <a:p>
            <a:pPr marL="0" indent="0" algn="l">
              <a:lnSpc>
                <a:spcPct val="150000"/>
              </a:lnSpc>
              <a:buNone/>
              <a:defRPr/>
            </a:pPr>
            <a:r>
              <a:rPr lang="en-US" sz="1800">
                <a:solidFill>
                  <a:srgbClr val="3A3A3A"/>
                </a:solidFill>
                <a:latin typeface="Open Sans"/>
                <a:ea typeface="Open Sans"/>
                <a:cs typeface="Open Sans"/>
              </a:rPr>
              <a:t>Every method, dataset and financial record is released under </a:t>
            </a:r>
            <a:r>
              <a:rPr lang="en-US" sz="1800" b="1">
                <a:solidFill>
                  <a:srgbClr val="3A3A3A"/>
                </a:solidFill>
                <a:latin typeface="Open Sans"/>
                <a:ea typeface="Open Sans"/>
                <a:cs typeface="Open Sans"/>
              </a:rPr>
              <a:t>open licences </a:t>
            </a:r>
            <a:r>
              <a:rPr lang="en-US" sz="1800">
                <a:solidFill>
                  <a:srgbClr val="3A3A3A"/>
                </a:solidFill>
                <a:latin typeface="Open Sans"/>
                <a:ea typeface="Open Sans"/>
                <a:cs typeface="Open Sans"/>
              </a:rPr>
              <a:t>. The deliverable isn't the data center — it's the </a:t>
            </a:r>
            <a:r>
              <a:rPr lang="en-US" sz="1800" b="1">
                <a:solidFill>
                  <a:srgbClr val="3A3A3A"/>
                </a:solidFill>
                <a:latin typeface="Open Sans"/>
                <a:ea typeface="Open Sans"/>
                <a:cs typeface="Open Sans"/>
              </a:rPr>
              <a:t>repeatable playbook</a:t>
            </a:r>
            <a:r>
              <a:rPr lang="en-US" sz="1800">
                <a:solidFill>
                  <a:srgbClr val="3A3A3A"/>
                </a:solidFill>
                <a:latin typeface="Open Sans"/>
                <a:ea typeface="Open Sans"/>
                <a:cs typeface="Open Sans"/>
              </a:rPr>
              <a:t>.</a:t>
            </a:r>
            <a:endParaRPr lang="en-US" sz="1800"/>
          </a:p>
        </p:txBody>
      </p:sp>
      <p:sp>
        <p:nvSpPr>
          <p:cNvPr id="1692189489" name="Text 9"/>
          <p:cNvSpPr/>
          <p:nvPr/>
        </p:nvSpPr>
        <p:spPr bwMode="auto">
          <a:xfrm>
            <a:off x="609600" y="7007543"/>
            <a:ext cx="9374499" cy="345758"/>
          </a:xfrm>
          <a:prstGeom prst="rect">
            <a:avLst/>
          </a:prstGeom>
          <a:noFill/>
          <a:ln/>
        </p:spPr>
        <p:txBody>
          <a:bodyPr wrap="square" lIns="25400" tIns="25400" rIns="25400" bIns="25400" rtlCol="0" anchor="t">
            <a:normAutofit/>
          </a:bodyPr>
          <a:lstStyle/>
          <a:p>
            <a:pPr marL="0" indent="0" algn="l">
              <a:lnSpc>
                <a:spcPct val="170000"/>
              </a:lnSpc>
              <a:buNone/>
              <a:defRPr/>
            </a:pPr>
            <a:r>
              <a:rPr lang="en-US" sz="1450">
                <a:solidFill>
                  <a:srgbClr val="85888C"/>
                </a:solidFill>
                <a:latin typeface="Noto Sans JP"/>
                <a:ea typeface="Noto Sans JP"/>
                <a:cs typeface="Noto Sans JP"/>
              </a:rPr>
              <a:t>手法・データ・会計をすべて公開。成果物はデータセンターではなく、再現可能な「型」。</a:t>
            </a:r>
            <a:endParaRPr lang="en-US" sz="1450"/>
          </a:p>
        </p:txBody>
      </p:sp>
      <p:sp>
        <p:nvSpPr>
          <p:cNvPr id="1510997365" name="Shape 10"/>
          <p:cNvSpPr/>
          <p:nvPr/>
        </p:nvSpPr>
        <p:spPr bwMode="auto">
          <a:xfrm>
            <a:off x="10168255" y="4685824"/>
            <a:ext cx="7510145" cy="2743200"/>
          </a:xfrm>
          <a:prstGeom prst="rect">
            <a:avLst/>
          </a:prstGeom>
          <a:solidFill>
            <a:srgbClr val="FFFFFF"/>
          </a:solidFill>
          <a:ln w="9525">
            <a:solidFill>
              <a:srgbClr val="E6E6E2"/>
            </a:solidFill>
            <a:prstDash val="solid"/>
          </a:ln>
        </p:spPr>
      </p:sp>
      <p:sp>
        <p:nvSpPr>
          <p:cNvPr id="2018027993" name="Text 11"/>
          <p:cNvSpPr/>
          <p:nvPr/>
        </p:nvSpPr>
        <p:spPr bwMode="auto">
          <a:xfrm>
            <a:off x="10520680" y="5057299"/>
            <a:ext cx="7485825" cy="266700"/>
          </a:xfrm>
          <a:prstGeom prst="rect">
            <a:avLst/>
          </a:prstGeom>
          <a:noFill/>
          <a:ln/>
        </p:spPr>
        <p:txBody>
          <a:bodyPr wrap="square" lIns="25400" tIns="25400" rIns="25400" bIns="25400" rtlCol="0" anchor="t">
            <a:normAutofit/>
          </a:bodyPr>
          <a:lstStyle/>
          <a:p>
            <a:pPr marL="0" indent="0" algn="l">
              <a:buNone/>
              <a:defRPr/>
            </a:pPr>
            <a:r>
              <a:rPr lang="en-US" sz="1200" b="1" spc="168">
                <a:solidFill>
                  <a:srgbClr val="9B9DA0"/>
                </a:solidFill>
                <a:latin typeface="Open Sans"/>
                <a:ea typeface="Open Sans"/>
                <a:cs typeface="Open Sans"/>
              </a:rPr>
              <a:t>THE OPEN PLAYBOOK · 公開設計図</a:t>
            </a:r>
            <a:endParaRPr lang="en-US" sz="1200"/>
          </a:p>
        </p:txBody>
      </p:sp>
      <p:sp>
        <p:nvSpPr>
          <p:cNvPr id="26429526" name="Text 12"/>
          <p:cNvSpPr/>
          <p:nvPr/>
        </p:nvSpPr>
        <p:spPr bwMode="auto">
          <a:xfrm>
            <a:off x="10520680" y="5514499"/>
            <a:ext cx="400050" cy="276225"/>
          </a:xfrm>
          <a:prstGeom prst="rect">
            <a:avLst/>
          </a:prstGeom>
          <a:noFill/>
          <a:ln/>
        </p:spPr>
        <p:txBody>
          <a:bodyPr wrap="square" lIns="25400" tIns="25400" rIns="25400" bIns="25400" rtlCol="0" anchor="t">
            <a:normAutofit/>
          </a:bodyPr>
          <a:lstStyle/>
          <a:p>
            <a:pPr marL="0" indent="0" algn="l">
              <a:buNone/>
              <a:defRPr/>
            </a:pPr>
            <a:r>
              <a:rPr lang="en-US" sz="1500" b="1">
                <a:solidFill>
                  <a:srgbClr val="E58520"/>
                </a:solidFill>
                <a:latin typeface="Sora"/>
                <a:ea typeface="Sora"/>
                <a:cs typeface="Sora"/>
              </a:rPr>
              <a:t>01</a:t>
            </a:r>
            <a:endParaRPr lang="en-US" sz="1500"/>
          </a:p>
        </p:txBody>
      </p:sp>
      <p:sp>
        <p:nvSpPr>
          <p:cNvPr id="466917824" name="Text 13"/>
          <p:cNvSpPr/>
          <p:nvPr/>
        </p:nvSpPr>
        <p:spPr bwMode="auto">
          <a:xfrm>
            <a:off x="10996930" y="5495449"/>
            <a:ext cx="3134344" cy="314325"/>
          </a:xfrm>
          <a:prstGeom prst="rect">
            <a:avLst/>
          </a:prstGeom>
          <a:noFill/>
          <a:ln/>
        </p:spPr>
        <p:txBody>
          <a:bodyPr wrap="square" lIns="25400" tIns="25400" rIns="25400" bIns="25400" rtlCol="0" anchor="t">
            <a:normAutofit/>
          </a:bodyPr>
          <a:lstStyle/>
          <a:p>
            <a:pPr marL="0" indent="0" algn="l">
              <a:buNone/>
              <a:defRPr/>
            </a:pPr>
            <a:r>
              <a:rPr lang="en-US" sz="1600">
                <a:solidFill>
                  <a:srgbClr val="3A3A3A"/>
                </a:solidFill>
                <a:latin typeface="Open Sans"/>
                <a:ea typeface="Open Sans"/>
                <a:cs typeface="Open Sans"/>
              </a:rPr>
              <a:t>Restoration &amp; energy methods</a:t>
            </a:r>
            <a:endParaRPr lang="en-US" sz="1600"/>
          </a:p>
        </p:txBody>
      </p:sp>
      <p:sp>
        <p:nvSpPr>
          <p:cNvPr id="1900897582" name="Text 14"/>
          <p:cNvSpPr/>
          <p:nvPr/>
        </p:nvSpPr>
        <p:spPr bwMode="auto">
          <a:xfrm>
            <a:off x="10520680" y="5943124"/>
            <a:ext cx="400050" cy="276225"/>
          </a:xfrm>
          <a:prstGeom prst="rect">
            <a:avLst/>
          </a:prstGeom>
          <a:noFill/>
          <a:ln/>
        </p:spPr>
        <p:txBody>
          <a:bodyPr wrap="square" lIns="25400" tIns="25400" rIns="25400" bIns="25400" rtlCol="0" anchor="t">
            <a:normAutofit/>
          </a:bodyPr>
          <a:lstStyle/>
          <a:p>
            <a:pPr marL="0" indent="0" algn="l">
              <a:buNone/>
              <a:defRPr/>
            </a:pPr>
            <a:r>
              <a:rPr lang="en-US" sz="1500" b="1">
                <a:solidFill>
                  <a:srgbClr val="E58520"/>
                </a:solidFill>
                <a:latin typeface="Sora"/>
                <a:ea typeface="Sora"/>
                <a:cs typeface="Sora"/>
              </a:rPr>
              <a:t>02</a:t>
            </a:r>
            <a:endParaRPr lang="en-US" sz="1500"/>
          </a:p>
        </p:txBody>
      </p:sp>
      <p:sp>
        <p:nvSpPr>
          <p:cNvPr id="1762978378" name="Text 15"/>
          <p:cNvSpPr/>
          <p:nvPr/>
        </p:nvSpPr>
        <p:spPr bwMode="auto">
          <a:xfrm>
            <a:off x="10996930" y="5924074"/>
            <a:ext cx="3382835" cy="314325"/>
          </a:xfrm>
          <a:prstGeom prst="rect">
            <a:avLst/>
          </a:prstGeom>
          <a:noFill/>
          <a:ln/>
        </p:spPr>
        <p:txBody>
          <a:bodyPr wrap="square" lIns="25400" tIns="25400" rIns="25400" bIns="25400" rtlCol="0" anchor="t">
            <a:normAutofit/>
          </a:bodyPr>
          <a:lstStyle/>
          <a:p>
            <a:pPr marL="0" indent="0" algn="l">
              <a:buNone/>
              <a:defRPr/>
            </a:pPr>
            <a:r>
              <a:rPr lang="en-US" sz="1600">
                <a:solidFill>
                  <a:srgbClr val="3A3A3A"/>
                </a:solidFill>
                <a:latin typeface="Open Sans"/>
                <a:ea typeface="Open Sans"/>
                <a:cs typeface="Open Sans"/>
              </a:rPr>
              <a:t>Financial model &amp; open accounts</a:t>
            </a:r>
            <a:endParaRPr lang="en-US" sz="1600"/>
          </a:p>
        </p:txBody>
      </p:sp>
      <p:sp>
        <p:nvSpPr>
          <p:cNvPr id="795960682" name="Text 16"/>
          <p:cNvSpPr/>
          <p:nvPr/>
        </p:nvSpPr>
        <p:spPr bwMode="auto">
          <a:xfrm>
            <a:off x="10520680" y="6371749"/>
            <a:ext cx="400050" cy="276225"/>
          </a:xfrm>
          <a:prstGeom prst="rect">
            <a:avLst/>
          </a:prstGeom>
          <a:noFill/>
          <a:ln/>
        </p:spPr>
        <p:txBody>
          <a:bodyPr wrap="square" lIns="25400" tIns="25400" rIns="25400" bIns="25400" rtlCol="0" anchor="t">
            <a:normAutofit/>
          </a:bodyPr>
          <a:lstStyle/>
          <a:p>
            <a:pPr marL="0" indent="0" algn="l">
              <a:buNone/>
              <a:defRPr/>
            </a:pPr>
            <a:r>
              <a:rPr lang="en-US" sz="1500" b="1">
                <a:solidFill>
                  <a:srgbClr val="E58520"/>
                </a:solidFill>
                <a:latin typeface="Sora"/>
                <a:ea typeface="Sora"/>
                <a:cs typeface="Sora"/>
              </a:rPr>
              <a:t>03</a:t>
            </a:r>
            <a:endParaRPr lang="en-US" sz="1500"/>
          </a:p>
        </p:txBody>
      </p:sp>
      <p:sp>
        <p:nvSpPr>
          <p:cNvPr id="1112221943" name="Text 17"/>
          <p:cNvSpPr/>
          <p:nvPr/>
        </p:nvSpPr>
        <p:spPr bwMode="auto">
          <a:xfrm>
            <a:off x="10996930" y="6352699"/>
            <a:ext cx="3069908" cy="314325"/>
          </a:xfrm>
          <a:prstGeom prst="rect">
            <a:avLst/>
          </a:prstGeom>
          <a:noFill/>
          <a:ln/>
        </p:spPr>
        <p:txBody>
          <a:bodyPr wrap="square" lIns="25400" tIns="25400" rIns="25400" bIns="25400" rtlCol="0" anchor="t">
            <a:normAutofit/>
          </a:bodyPr>
          <a:lstStyle/>
          <a:p>
            <a:pPr marL="0" indent="0" algn="l">
              <a:buNone/>
              <a:defRPr/>
            </a:pPr>
            <a:r>
              <a:rPr lang="en-US" sz="1600">
                <a:solidFill>
                  <a:srgbClr val="3A3A3A"/>
                </a:solidFill>
                <a:latin typeface="Open Sans"/>
                <a:ea typeface="Open Sans"/>
                <a:cs typeface="Open Sans"/>
              </a:rPr>
              <a:t>Governance &amp; legal templates</a:t>
            </a:r>
            <a:endParaRPr lang="en-US" sz="1600"/>
          </a:p>
        </p:txBody>
      </p:sp>
      <p:sp>
        <p:nvSpPr>
          <p:cNvPr id="2078274834" name="Text 18"/>
          <p:cNvSpPr/>
          <p:nvPr/>
        </p:nvSpPr>
        <p:spPr bwMode="auto">
          <a:xfrm>
            <a:off x="10520680" y="6800374"/>
            <a:ext cx="400050" cy="276225"/>
          </a:xfrm>
          <a:prstGeom prst="rect">
            <a:avLst/>
          </a:prstGeom>
          <a:noFill/>
          <a:ln/>
        </p:spPr>
        <p:txBody>
          <a:bodyPr wrap="square" lIns="25400" tIns="25400" rIns="25400" bIns="25400" rtlCol="0" anchor="t">
            <a:normAutofit/>
          </a:bodyPr>
          <a:lstStyle/>
          <a:p>
            <a:pPr marL="0" indent="0" algn="l">
              <a:buNone/>
              <a:defRPr/>
            </a:pPr>
            <a:r>
              <a:rPr lang="en-US" sz="1500" b="1">
                <a:solidFill>
                  <a:srgbClr val="E58520"/>
                </a:solidFill>
                <a:latin typeface="Sora"/>
                <a:ea typeface="Sora"/>
                <a:cs typeface="Sora"/>
              </a:rPr>
              <a:t>04</a:t>
            </a:r>
            <a:endParaRPr lang="en-US" sz="1500"/>
          </a:p>
        </p:txBody>
      </p:sp>
      <p:sp>
        <p:nvSpPr>
          <p:cNvPr id="269805180" name="Text 19"/>
          <p:cNvSpPr/>
          <p:nvPr/>
        </p:nvSpPr>
        <p:spPr bwMode="auto">
          <a:xfrm>
            <a:off x="10996930" y="6781324"/>
            <a:ext cx="2989231" cy="314325"/>
          </a:xfrm>
          <a:prstGeom prst="rect">
            <a:avLst/>
          </a:prstGeom>
          <a:noFill/>
          <a:ln/>
        </p:spPr>
        <p:txBody>
          <a:bodyPr wrap="square" lIns="25400" tIns="25400" rIns="25400" bIns="25400" rtlCol="0" anchor="t">
            <a:normAutofit/>
          </a:bodyPr>
          <a:lstStyle/>
          <a:p>
            <a:pPr marL="0" indent="0" algn="l">
              <a:buNone/>
              <a:defRPr/>
            </a:pPr>
            <a:r>
              <a:rPr lang="en-US" sz="1600">
                <a:solidFill>
                  <a:srgbClr val="3A3A3A"/>
                </a:solidFill>
                <a:latin typeface="Open Sans"/>
                <a:ea typeface="Open Sans"/>
                <a:cs typeface="Open Sans"/>
              </a:rPr>
              <a:t>Environmental &amp; energy data</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2E2E2E"/>
        </a:solidFill>
      </p:bgPr>
    </p:bg>
    <p:spTree>
      <p:nvGrpSpPr>
        <p:cNvPr id="1" name=""/>
        <p:cNvGrpSpPr/>
        <p:nvPr/>
      </p:nvGrpSpPr>
      <p:grpSpPr bwMode="auto">
        <a:xfrm>
          <a:off x="0" y="0"/>
          <a:ext cx="0" cy="0"/>
          <a:chOff x="0" y="0"/>
          <a:chExt cx="0" cy="0"/>
        </a:xfrm>
      </p:grpSpPr>
      <p:sp>
        <p:nvSpPr>
          <p:cNvPr id="1473892306" name="Shape 0"/>
          <p:cNvSpPr/>
          <p:nvPr/>
        </p:nvSpPr>
        <p:spPr bwMode="auto">
          <a:xfrm>
            <a:off x="0" y="0"/>
            <a:ext cx="18288000" cy="76200"/>
          </a:xfrm>
          <a:prstGeom prst="rect">
            <a:avLst/>
          </a:prstGeom>
          <a:solidFill>
            <a:srgbClr val="E58520"/>
          </a:solidFill>
          <a:ln/>
        </p:spPr>
      </p:sp>
      <p:sp>
        <p:nvSpPr>
          <p:cNvPr id="1019634317" name="Shape 1"/>
          <p:cNvSpPr/>
          <p:nvPr/>
        </p:nvSpPr>
        <p:spPr bwMode="auto">
          <a:xfrm>
            <a:off x="609600" y="933450"/>
            <a:ext cx="438149" cy="47625"/>
          </a:xfrm>
          <a:prstGeom prst="rect">
            <a:avLst/>
          </a:prstGeom>
          <a:solidFill>
            <a:srgbClr val="E58520"/>
          </a:solidFill>
          <a:ln/>
        </p:spPr>
      </p:sp>
      <p:sp>
        <p:nvSpPr>
          <p:cNvPr id="808698821" name="Text 2"/>
          <p:cNvSpPr/>
          <p:nvPr/>
        </p:nvSpPr>
        <p:spPr bwMode="auto">
          <a:xfrm>
            <a:off x="1181099" y="838200"/>
            <a:ext cx="3160887" cy="276225"/>
          </a:xfrm>
          <a:prstGeom prst="rect">
            <a:avLst/>
          </a:prstGeom>
          <a:noFill/>
          <a:ln/>
        </p:spPr>
        <p:txBody>
          <a:bodyPr wrap="square" lIns="25400" tIns="25400" rIns="25400" bIns="25400" rtlCol="0" anchor="t">
            <a:normAutofit/>
          </a:bodyPr>
          <a:lstStyle/>
          <a:p>
            <a:pPr marL="0" indent="0" algn="l">
              <a:buNone/>
              <a:defRPr/>
            </a:pPr>
            <a:r>
              <a:rPr lang="en-US" sz="1300" b="1" spc="204">
                <a:solidFill>
                  <a:srgbClr val="9B9DA0"/>
                </a:solidFill>
                <a:latin typeface="Open Sans"/>
                <a:ea typeface="Open Sans"/>
                <a:cs typeface="Open Sans"/>
              </a:rPr>
              <a:t>THE INVITATION · ご提案 · 15</a:t>
            </a:r>
            <a:endParaRPr lang="en-US" sz="1300"/>
          </a:p>
        </p:txBody>
      </p:sp>
      <p:sp>
        <p:nvSpPr>
          <p:cNvPr id="1605623871" name="Text 3"/>
          <p:cNvSpPr/>
          <p:nvPr/>
        </p:nvSpPr>
        <p:spPr bwMode="auto">
          <a:xfrm>
            <a:off x="609600" y="3321685"/>
            <a:ext cx="14716125" cy="1748155"/>
          </a:xfrm>
          <a:prstGeom prst="rect">
            <a:avLst/>
          </a:prstGeom>
          <a:noFill/>
          <a:ln/>
        </p:spPr>
        <p:txBody>
          <a:bodyPr wrap="square" lIns="25400" tIns="25400" rIns="25400" bIns="25400" rtlCol="0" anchor="t">
            <a:normAutofit/>
          </a:bodyPr>
          <a:lstStyle/>
          <a:p>
            <a:pPr marL="0" indent="0" algn="l">
              <a:lnSpc>
                <a:spcPct val="102008"/>
              </a:lnSpc>
              <a:buNone/>
              <a:defRPr/>
            </a:pPr>
            <a:r>
              <a:rPr lang="en-US" sz="6600" b="1" spc="-99">
                <a:solidFill>
                  <a:srgbClr val="F4F1EC"/>
                </a:solidFill>
                <a:latin typeface="Sora"/>
                <a:ea typeface="Sora"/>
                <a:cs typeface="Sora"/>
              </a:rPr>
              <a:t>Help write the blueprint, not just fund a village.</a:t>
            </a:r>
            <a:endParaRPr lang="en-US" sz="6600"/>
          </a:p>
        </p:txBody>
      </p:sp>
      <p:sp>
        <p:nvSpPr>
          <p:cNvPr id="1178921673" name="Text 4"/>
          <p:cNvSpPr/>
          <p:nvPr/>
        </p:nvSpPr>
        <p:spPr bwMode="auto">
          <a:xfrm>
            <a:off x="609600" y="5241290"/>
            <a:ext cx="18775680" cy="457200"/>
          </a:xfrm>
          <a:prstGeom prst="rect">
            <a:avLst/>
          </a:prstGeom>
          <a:noFill/>
          <a:ln/>
        </p:spPr>
        <p:txBody>
          <a:bodyPr wrap="square" lIns="25400" tIns="25400" rIns="25400" bIns="25400" rtlCol="0" anchor="t">
            <a:normAutofit/>
          </a:bodyPr>
          <a:lstStyle/>
          <a:p>
            <a:pPr marL="0" indent="0" algn="l">
              <a:buNone/>
              <a:defRPr/>
            </a:pPr>
            <a:r>
              <a:rPr lang="en-US" sz="2250">
                <a:solidFill>
                  <a:srgbClr val="B9BBBD"/>
                </a:solidFill>
                <a:latin typeface="Noto Sans JP"/>
                <a:ea typeface="Noto Sans JP"/>
                <a:cs typeface="Noto Sans JP"/>
              </a:rPr>
              <a:t>一つの村への出資ではなく、地方再生の設計図づくりに参加を。</a:t>
            </a:r>
            <a:endParaRPr lang="en-US" sz="2250"/>
          </a:p>
        </p:txBody>
      </p:sp>
      <p:sp>
        <p:nvSpPr>
          <p:cNvPr id="1020419798" name="Shape 5"/>
          <p:cNvSpPr/>
          <p:nvPr/>
        </p:nvSpPr>
        <p:spPr bwMode="auto">
          <a:xfrm>
            <a:off x="609600" y="7905750"/>
            <a:ext cx="3904456" cy="1695450"/>
          </a:xfrm>
          <a:prstGeom prst="rect">
            <a:avLst/>
          </a:prstGeom>
          <a:solidFill>
            <a:srgbClr val="E58520"/>
          </a:solidFill>
          <a:ln/>
        </p:spPr>
      </p:sp>
      <p:sp>
        <p:nvSpPr>
          <p:cNvPr id="2097661966" name="Text 6"/>
          <p:cNvSpPr/>
          <p:nvPr/>
        </p:nvSpPr>
        <p:spPr bwMode="auto">
          <a:xfrm>
            <a:off x="971550" y="8191500"/>
            <a:ext cx="3498612" cy="266700"/>
          </a:xfrm>
          <a:prstGeom prst="rect">
            <a:avLst/>
          </a:prstGeom>
          <a:noFill/>
          <a:ln/>
        </p:spPr>
        <p:txBody>
          <a:bodyPr wrap="square" lIns="25400" tIns="25400" rIns="25400" bIns="25400" rtlCol="0" anchor="t">
            <a:normAutofit/>
          </a:bodyPr>
          <a:lstStyle/>
          <a:p>
            <a:pPr marL="0" indent="0" algn="l">
              <a:buNone/>
              <a:defRPr/>
            </a:pPr>
            <a:r>
              <a:rPr lang="en-US" sz="1200" b="1" spc="168">
                <a:solidFill>
                  <a:srgbClr val="FCE6CC"/>
                </a:solidFill>
                <a:latin typeface="Open Sans"/>
                <a:ea typeface="Open Sans"/>
                <a:cs typeface="Open Sans"/>
              </a:rPr>
              <a:t>NOW SEEKING · GATE 1 · 現在募集中</a:t>
            </a:r>
            <a:endParaRPr lang="en-US" sz="1200"/>
          </a:p>
        </p:txBody>
      </p:sp>
      <p:sp>
        <p:nvSpPr>
          <p:cNvPr id="90524631" name="Text 7"/>
          <p:cNvSpPr/>
          <p:nvPr/>
        </p:nvSpPr>
        <p:spPr bwMode="auto">
          <a:xfrm>
            <a:off x="971550" y="8496300"/>
            <a:ext cx="3498612" cy="533400"/>
          </a:xfrm>
          <a:prstGeom prst="rect">
            <a:avLst/>
          </a:prstGeom>
          <a:noFill/>
          <a:ln/>
        </p:spPr>
        <p:txBody>
          <a:bodyPr wrap="square" lIns="25400" tIns="25400" rIns="25400" bIns="25400" rtlCol="0" anchor="t">
            <a:normAutofit/>
          </a:bodyPr>
          <a:lstStyle/>
          <a:p>
            <a:pPr marL="0" indent="0" algn="l">
              <a:lnSpc>
                <a:spcPct val="100000"/>
              </a:lnSpc>
              <a:buNone/>
              <a:defRPr/>
            </a:pPr>
            <a:r>
              <a:rPr lang="en-US" sz="3900" b="1">
                <a:solidFill>
                  <a:srgbClr val="FFFFFF"/>
                </a:solidFill>
                <a:latin typeface="Sora"/>
                <a:ea typeface="Sora"/>
                <a:cs typeface="Sora"/>
              </a:rPr>
              <a:t>¥3–8M</a:t>
            </a:r>
            <a:endParaRPr lang="en-US" sz="3900"/>
          </a:p>
        </p:txBody>
      </p:sp>
      <p:sp>
        <p:nvSpPr>
          <p:cNvPr id="916219448" name="Text 8"/>
          <p:cNvSpPr/>
          <p:nvPr/>
        </p:nvSpPr>
        <p:spPr bwMode="auto">
          <a:xfrm>
            <a:off x="971550" y="9067800"/>
            <a:ext cx="3498612" cy="285750"/>
          </a:xfrm>
          <a:prstGeom prst="rect">
            <a:avLst/>
          </a:prstGeom>
          <a:noFill/>
          <a:ln/>
        </p:spPr>
        <p:txBody>
          <a:bodyPr wrap="square" lIns="25400" tIns="25400" rIns="25400" bIns="25400" rtlCol="0" anchor="t">
            <a:normAutofit/>
          </a:bodyPr>
          <a:lstStyle/>
          <a:p>
            <a:pPr marL="0" indent="0" algn="l">
              <a:buNone/>
              <a:defRPr/>
            </a:pPr>
            <a:r>
              <a:rPr lang="en-US" sz="1450">
                <a:solidFill>
                  <a:srgbClr val="FBE6CC"/>
                </a:solidFill>
                <a:latin typeface="Open Sans"/>
                <a:ea typeface="Open Sans"/>
                <a:cs typeface="Open Sans"/>
              </a:rPr>
              <a:t>Phase 1: entity · feasibility · advisors</a:t>
            </a:r>
            <a:endParaRPr lang="en-US" sz="1450"/>
          </a:p>
        </p:txBody>
      </p:sp>
      <p:sp>
        <p:nvSpPr>
          <p:cNvPr id="1183477097" name="Text 9"/>
          <p:cNvSpPr/>
          <p:nvPr/>
        </p:nvSpPr>
        <p:spPr bwMode="auto">
          <a:xfrm>
            <a:off x="4895056" y="8281987"/>
            <a:ext cx="14061679" cy="366713"/>
          </a:xfrm>
          <a:prstGeom prst="rect">
            <a:avLst/>
          </a:prstGeom>
          <a:noFill/>
          <a:ln/>
        </p:spPr>
        <p:txBody>
          <a:bodyPr wrap="square" lIns="25400" tIns="25400" rIns="25400" bIns="25400" rtlCol="0" anchor="t">
            <a:normAutofit/>
          </a:bodyPr>
          <a:lstStyle/>
          <a:p>
            <a:pPr marL="0" indent="0" algn="l">
              <a:lnSpc>
                <a:spcPct val="150000"/>
              </a:lnSpc>
              <a:buNone/>
              <a:defRPr/>
            </a:pPr>
            <a:r>
              <a:rPr lang="en-US" sz="1750">
                <a:solidFill>
                  <a:srgbClr val="E3E4E2"/>
                </a:solidFill>
                <a:latin typeface="Open Sans"/>
                <a:ea typeface="Open Sans"/>
                <a:cs typeface="Open Sans"/>
              </a:rPr>
              <a:t>Founding partners welcome — government, foundation, corporate, and impact investors. Open books from day one.</a:t>
            </a:r>
            <a:endParaRPr lang="en-US" sz="1750"/>
          </a:p>
        </p:txBody>
      </p:sp>
      <p:sp>
        <p:nvSpPr>
          <p:cNvPr id="1110181354" name="Shape 10"/>
          <p:cNvSpPr/>
          <p:nvPr/>
        </p:nvSpPr>
        <p:spPr bwMode="auto">
          <a:xfrm>
            <a:off x="4895056" y="8858250"/>
            <a:ext cx="12783344" cy="9525"/>
          </a:xfrm>
          <a:prstGeom prst="rect">
            <a:avLst/>
          </a:prstGeom>
          <a:solidFill>
            <a:srgbClr val="4A4A4A"/>
          </a:solidFill>
          <a:ln/>
        </p:spPr>
      </p:sp>
      <p:sp>
        <p:nvSpPr>
          <p:cNvPr id="650066037" name="Text 11"/>
          <p:cNvSpPr/>
          <p:nvPr/>
        </p:nvSpPr>
        <p:spPr bwMode="auto">
          <a:xfrm>
            <a:off x="4895056" y="9077325"/>
            <a:ext cx="1570752" cy="219074"/>
          </a:xfrm>
          <a:prstGeom prst="rect">
            <a:avLst/>
          </a:prstGeom>
          <a:noFill/>
          <a:ln/>
        </p:spPr>
        <p:txBody>
          <a:bodyPr wrap="square" lIns="25400" tIns="25400" rIns="25400" bIns="25400" rtlCol="0" anchor="t">
            <a:normAutofit/>
          </a:bodyPr>
          <a:lstStyle/>
          <a:p>
            <a:pPr marL="0" indent="0" algn="l">
              <a:buNone/>
              <a:defRPr/>
            </a:pPr>
            <a:r>
              <a:rPr lang="en-US" sz="1050" b="1" spc="125">
                <a:solidFill>
                  <a:srgbClr val="9B9DA0"/>
                </a:solidFill>
                <a:latin typeface="Open Sans"/>
                <a:ea typeface="Open Sans"/>
                <a:cs typeface="Open Sans"/>
              </a:rPr>
              <a:t>LEAD</a:t>
            </a:r>
            <a:endParaRPr lang="en-US" sz="1050"/>
          </a:p>
        </p:txBody>
      </p:sp>
      <p:sp>
        <p:nvSpPr>
          <p:cNvPr id="1237383242" name="Text 12"/>
          <p:cNvSpPr/>
          <p:nvPr/>
        </p:nvSpPr>
        <p:spPr bwMode="auto">
          <a:xfrm>
            <a:off x="4895056" y="9296400"/>
            <a:ext cx="1570752"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F4F1EC"/>
                </a:solidFill>
                <a:latin typeface="Open Sans"/>
                <a:ea typeface="Open Sans"/>
                <a:cs typeface="Open Sans"/>
              </a:rPr>
              <a:t>Rob Oudendijk</a:t>
            </a:r>
            <a:endParaRPr lang="en-US" sz="1600"/>
          </a:p>
        </p:txBody>
      </p:sp>
      <p:sp>
        <p:nvSpPr>
          <p:cNvPr id="816809562" name="Text 13"/>
          <p:cNvSpPr/>
          <p:nvPr/>
        </p:nvSpPr>
        <p:spPr bwMode="auto">
          <a:xfrm>
            <a:off x="6780212" y="9077325"/>
            <a:ext cx="2119948" cy="219074"/>
          </a:xfrm>
          <a:prstGeom prst="rect">
            <a:avLst/>
          </a:prstGeom>
          <a:noFill/>
          <a:ln/>
        </p:spPr>
        <p:txBody>
          <a:bodyPr wrap="square" lIns="25400" tIns="25400" rIns="25400" bIns="25400" rtlCol="0" anchor="t">
            <a:normAutofit/>
          </a:bodyPr>
          <a:lstStyle/>
          <a:p>
            <a:pPr marL="0" indent="0" algn="l">
              <a:buNone/>
              <a:defRPr/>
            </a:pPr>
            <a:r>
              <a:rPr lang="en-US" sz="1050" b="1" spc="125">
                <a:solidFill>
                  <a:srgbClr val="9B9DA0"/>
                </a:solidFill>
                <a:latin typeface="Open Sans"/>
                <a:ea typeface="Open Sans"/>
                <a:cs typeface="Open Sans"/>
              </a:rPr>
              <a:t>ORG</a:t>
            </a:r>
            <a:endParaRPr lang="en-US" sz="1050"/>
          </a:p>
        </p:txBody>
      </p:sp>
      <p:sp>
        <p:nvSpPr>
          <p:cNvPr id="471169754" name="Text 14"/>
          <p:cNvSpPr/>
          <p:nvPr/>
        </p:nvSpPr>
        <p:spPr bwMode="auto">
          <a:xfrm>
            <a:off x="6780212" y="9296400"/>
            <a:ext cx="2119948" cy="314325"/>
          </a:xfrm>
          <a:prstGeom prst="rect">
            <a:avLst/>
          </a:prstGeom>
          <a:noFill/>
          <a:ln/>
        </p:spPr>
        <p:txBody>
          <a:bodyPr wrap="square" lIns="25400" tIns="25400" rIns="25400" bIns="25400" rtlCol="0" anchor="t">
            <a:normAutofit/>
          </a:bodyPr>
          <a:lstStyle/>
          <a:p>
            <a:pPr marL="0" indent="0" algn="l">
              <a:buNone/>
              <a:defRPr/>
            </a:pPr>
            <a:r>
              <a:rPr lang="en-US" sz="1600" b="1">
                <a:solidFill>
                  <a:srgbClr val="F4F1EC"/>
                </a:solidFill>
                <a:latin typeface="Open Sans"/>
                <a:ea typeface="Open Sans"/>
                <a:cs typeface="Open Sans"/>
              </a:rPr>
              <a:t>YR-Design · Safecast</a:t>
            </a:r>
            <a:endParaRPr lang="en-US" sz="1600"/>
          </a:p>
        </p:txBody>
      </p:sp>
      <p:sp>
        <p:nvSpPr>
          <p:cNvPr id="882152070" name="Text 15"/>
          <p:cNvSpPr/>
          <p:nvPr/>
        </p:nvSpPr>
        <p:spPr bwMode="auto">
          <a:xfrm>
            <a:off x="9164638" y="9077325"/>
            <a:ext cx="2198703" cy="219074"/>
          </a:xfrm>
          <a:prstGeom prst="rect">
            <a:avLst/>
          </a:prstGeom>
          <a:noFill/>
          <a:ln/>
        </p:spPr>
        <p:txBody>
          <a:bodyPr wrap="square" lIns="25400" tIns="25400" rIns="25400" bIns="25400" rtlCol="0" anchor="t">
            <a:normAutofit/>
          </a:bodyPr>
          <a:lstStyle/>
          <a:p>
            <a:pPr marL="0" indent="0" algn="l">
              <a:buNone/>
              <a:defRPr/>
            </a:pPr>
            <a:r>
              <a:rPr lang="en-US" sz="1050" b="1" spc="125">
                <a:solidFill>
                  <a:srgbClr val="9B9DA0"/>
                </a:solidFill>
                <a:latin typeface="Open Sans"/>
                <a:ea typeface="Open Sans"/>
                <a:cs typeface="Open Sans"/>
              </a:rPr>
              <a:t>LOCATION</a:t>
            </a:r>
            <a:endParaRPr lang="en-US" sz="1050"/>
          </a:p>
        </p:txBody>
      </p:sp>
      <p:sp>
        <p:nvSpPr>
          <p:cNvPr id="180402479" name="Text 16"/>
          <p:cNvSpPr/>
          <p:nvPr/>
        </p:nvSpPr>
        <p:spPr bwMode="auto">
          <a:xfrm>
            <a:off x="9164638" y="9296400"/>
            <a:ext cx="2198703" cy="342900"/>
          </a:xfrm>
          <a:prstGeom prst="rect">
            <a:avLst/>
          </a:prstGeom>
          <a:noFill/>
          <a:ln/>
        </p:spPr>
        <p:txBody>
          <a:bodyPr wrap="square" lIns="25400" tIns="25400" rIns="25400" bIns="25400" rtlCol="0" anchor="t">
            <a:normAutofit/>
          </a:bodyPr>
          <a:lstStyle/>
          <a:p>
            <a:pPr marL="0" indent="0" algn="l">
              <a:buNone/>
              <a:defRPr/>
            </a:pPr>
            <a:r>
              <a:rPr lang="en-US" sz="1600" b="1">
                <a:solidFill>
                  <a:srgbClr val="F4F1EC"/>
                </a:solidFill>
                <a:latin typeface="Open Sans"/>
                <a:ea typeface="Open Sans"/>
                <a:cs typeface="Open Sans"/>
              </a:rPr>
              <a:t>Mitsue, Nara · 御杖村</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15</Slides>
  <Notes>15</Notes>
  <HiddenSlides>0</HiddenSlides>
  <MMClips>2</MMClips>
  <ScaleCrop>0</ScaleCrop>
  <HeadingPairs>
    <vt:vector size="4" baseType="variant">
      <vt:variant>
        <vt:lpstr>Theme</vt:lpstr>
      </vt:variant>
      <vt:variant>
        <vt:i4>1</vt:i4>
      </vt:variant>
      <vt:variant>
        <vt:lpstr>Slide Titles</vt:lpstr>
      </vt:variant>
      <vt:variant>
        <vt:i4>15</vt:i4>
      </vt:variant>
    </vt:vector>
  </HeadingPairs>
  <TitlesOfParts>
    <vt:vector size="1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3</cp:revision>
  <dcterms:created xsi:type="dcterms:W3CDTF">2026-06-18T02:23:31Z</dcterms:created>
  <dcterms:modified xsi:type="dcterms:W3CDTF">2026-06-18T03:04:28Z</dcterms:modified>
</cp:coreProperties>
</file>