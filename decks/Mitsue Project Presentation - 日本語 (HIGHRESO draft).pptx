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500913152" y="0"/>
      </p:cViewPr>
      <p:guideLst>
        <p:guide pos="5760"/>
        <p:guide pos="32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010890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8061854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86207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829099" name="PlaceHolder 4"/>
          <p:cNvSpPr>
            <a:spLocks noGrp="1"/>
          </p:cNvSpPr>
          <p:nvPr>
            <p:ph type="dt" idx="1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878085" name="PlaceHolder 5"/>
          <p:cNvSpPr>
            <a:spLocks noGrp="1"/>
          </p:cNvSpPr>
          <p:nvPr>
            <p:ph type="ftr" idx="2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818689" name="PlaceHolder 6"/>
          <p:cNvSpPr>
            <a:spLocks noGrp="1"/>
          </p:cNvSpPr>
          <p:nvPr>
            <p:ph type="sldNum" idx="3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DEFCC0A2-4230-4564-B8F3-9C068ACE3554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554336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861132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本日はお時間をいただき、ありがとうございます。御杖プロジェクト——日本の山あいで進める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年計画について、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分ほどでご説明します。要約はこのスライドの通りです——森林再生、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電力、そして地域所有の小さなデータセンター。すべて奈良県の一つの山村に集約されます。一見無関係な三つの取り組みですが、実は深く結びついています。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4448161" name="PlaceHolder 3"/>
          <p:cNvSpPr>
            <a:spLocks noGrp="1"/>
          </p:cNvSpPr>
          <p:nvPr>
            <p:ph type="sldNum" idx="4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D080084-4295-4109-B5BF-CD87AC48C429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80196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724330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御杖村は奈良県の山あいに位置します。人口は減少し、小学校は閉校。村を取り囲む杉の人工林は老齢化し、電力網も脆弱です。御杖に固有の問題ではなく、それこそが要点です。ここで機能する仕組みは、同じ課題を抱える千の村でも機能するはずです。現在は第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段階——設立準備期。プレスもサイト発表会もありません。信頼構築、定款の起草、創設チームの編成に集中しています。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292236" name="PlaceHolder 3"/>
          <p:cNvSpPr>
            <a:spLocks noGrp="1"/>
          </p:cNvSpPr>
          <p:nvPr>
            <p:ph type="sldNum" idx="5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1901AB0-15C7-4227-BF79-E458CBF38403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03961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479531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四つの構造的圧力が、日本の農村に同時に押し寄せています。杉人工林は管理されず、花粉、生物多様性の喪失、土砂崩れの原因に。約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年で日本の乗用車の大半が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化しますが、農村の電力網は対応できていません。閉校した学校は人口減少自治体の維持費負担。さらに、農村のブロードバンドとエッジ計算は都市に遅れています。個別には高コストですが、御杖の論点は——一緒に解決する方が安いということで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293597" name="PlaceHolder 3"/>
          <p:cNvSpPr>
            <a:spLocks noGrp="1"/>
          </p:cNvSpPr>
          <p:nvPr>
            <p:ph type="sldNum" idx="6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8FC621A-8380-4D76-96DB-DF876C1FB4F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15972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944348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そこで、一つの主体のもとに三つの活動を統合します。森林再生。分散型再生可能エネルギーと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充電。地域所有の小さなデータセンター。在来林への転換で伐採する杉そのものが、データセンターと自動車を動かすバイオマス燃料となります——転換が転換を支える仕組みです。データセンターは閉校校舎を村の生活に戻します。これらは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年間の方法・財務・成果を一つの台帳に記録し、公開します。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5269428" name="PlaceHolder 3"/>
          <p:cNvSpPr>
            <a:spLocks noGrp="1"/>
          </p:cNvSpPr>
          <p:nvPr>
            <p:ph type="sldNum" idx="7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84C012D-0529-42D4-BC0F-82BCF72C1099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08875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239820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森林について——老齢化した杉人工林を、在来広葉樹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(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ナラ、クリ、コナラ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)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に段階的に置き換えます。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は生態系の時計であって、資金繰りの周期ではありません。地域への恩恵は具体的です——花粉が減り、土砂崩れリスクが下がり、再び森らしい森が戻ります。重要なのは——伐採した杉は無駄になりません。村のエネルギーシステムの主要なバイオマス燃料になります。そして広葉樹がどんぐりを実らせれば、クマ、イノシシ、シカは森で冬を越し、村の畑には来なくなり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515806" name="PlaceHolder 3"/>
          <p:cNvSpPr>
            <a:spLocks noGrp="1"/>
          </p:cNvSpPr>
          <p:nvPr>
            <p:ph type="sldNum" idx="8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AD09F6A-A19C-4446-8E33-6187CEF3249B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23419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190211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統合された一つの電力システム。森林転換で伐採する杉が主燃料——共通バスに接続された小さなバイオマス発電所です。地域の太陽光が補い、共同バッテリーで夜間をカバー、電力網はバックアップに。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充電器は送電線延伸を待たず、地域発電と直結。そして村が最も気にする部分——現地発電が、停電時にも学校・診療所・緊急設備の電源を維持します。配電線の老朽化で停電リスクは増しています。レジリエンスは後付けではなく、最初から組み込み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94366" name="PlaceHolder 3"/>
          <p:cNvSpPr>
            <a:spLocks noGrp="1"/>
          </p:cNvSpPr>
          <p:nvPr>
            <p:ph type="sldNum" idx="9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4E15730-BE32-4C52-99C9-AF9E675B8256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068235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252172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閉校した御杖小学校の校舎を、エネルギー効率の高い小規模エッジ計算施設として再利用。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100%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地域の再生可能エネルギーで稼働。説明責任を果たせる規模——ハイパースケールではありません。村が所有し、監査でき、何をしているかを説明できる規模。サーバーの排熱は温室や公共施設の暖房に再利用。御杖でうまくいけば、設計図を公開し、次の村が複製できるようにし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0666858" name="PlaceHolder 3"/>
          <p:cNvSpPr>
            <a:spLocks noGrp="1"/>
          </p:cNvSpPr>
          <p:nvPr>
            <p:ph type="sldNum" idx="10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428CDF5-5343-45B5-9371-D33B082ED26C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21276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23931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ここを覚えていただきたいです。恩恵は、データセンターが商業的に成功するかどうかに依存しません。森林再生は変わらず進みます。野生動物による農地被害は減ります。校舎は維持費を食うだけの存在ではなくなります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EV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充電は車が必要になる前に整備されます。停電耐性は恒久的なインフラ改善になります。地域がアップサイドを保ち、私たちはすべてを記録し、他の村は教科書を無料で得られます。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698913" name="PlaceHolder 3"/>
          <p:cNvSpPr>
            <a:spLocks noGrp="1"/>
          </p:cNvSpPr>
          <p:nvPr>
            <p:ph type="sldNum" idx="11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6E57F79-FEE4-42D1-8E5C-035E629C204D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35407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0168358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現状、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2026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9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月。第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意図的に静かに進めています。副村長、御杖観光・林業組合、モアツリーズ／天川との面談は完了。定款・実行計画・EVM計画（総予算¥220M）を起草済み。GX地域共創脱炭素化補助金の問合せも提出済みです。アドバイザー体制は11名に拡大——うち無償の弁護士3名を含みます。村長とは正式面談ではなく、資料をお届けして状況をお伝えしています。NAISTでの講演も2027年1月13日に確定しました。次の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日でやるべきことは、日本人共同創設者探しの決着、一般社団法人Mitsue-itの細則確定、GX地域共創第2回応募（締切11月30日）です。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348723" name="PlaceHolder 3"/>
          <p:cNvSpPr>
            <a:spLocks noGrp="1"/>
          </p:cNvSpPr>
          <p:nvPr>
            <p:ph type="sldNum" idx="12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357DE01-6D75-41C4-8D2E-F292E921B522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0827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9444128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五段階、四つの明確な資金ゲート。ゲートを通過できなければ保留し、再提案——資源不足のまま次段階に加速はしません。資金スタックは意図的に五層構造で、単一の資金源で初期に止まらない設計です。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年目までの目標額はおよそ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億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3400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万円。これらは計画上の目標であり、確約ではありません。ゲートの目的は——支えられない段階に村を賭けないことです。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316954" name="PlaceHolder 3"/>
          <p:cNvSpPr>
            <a:spLocks noGrp="1"/>
          </p:cNvSpPr>
          <p:nvPr>
            <p:ph type="sldNum" idx="13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936CA08-A83E-4755-8148-E4F554D074A7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161728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1107445288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694603" name="PlaceHolder 3"/>
          <p:cNvSpPr>
            <a:spLocks noGrp="1"/>
          </p:cNvSpPr>
          <p:nvPr>
            <p:ph type="sldNum" idx="14"/>
          </p:nvPr>
        </p:nvSpPr>
        <p:spPr bwMode="auto"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  <a:defRPr/>
            </a:pP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18418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0198127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皆さまにお願いしたいこと——四半期ではなく十年単位で考える、忍耐強い資本。農村に信頼のある日本人共同創設者のご紹介。林業、エッジ計算、日本の非営利法のアドバイザー。そして率直なご批判——論点のどこが間違っているか教えてください。文書はすべて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Codeberg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にオープンライセンスで公開。プロジェクトのサイトは </a:t>
            </a: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mitsue.it</a:t>
            </a:r>
            <a:r>
              <a:rPr lang="zh-CN" sz="2000" b="0" u="none" strike="noStrike">
                <a:solidFill>
                  <a:srgbClr val="000000"/>
                </a:solidFill>
                <a:latin typeface="Arial"/>
              </a:rPr>
              <a:t>。ご清聴ありがとうございました——ご質問をお受けします。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682641" name="PlaceHolder 3"/>
          <p:cNvSpPr>
            <a:spLocks noGrp="1"/>
          </p:cNvSpPr>
          <p:nvPr>
            <p:ph type="sldNum" idx="15"/>
          </p:nvPr>
        </p:nvSpPr>
        <p:spPr bwMode="auto"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BBF4AA8-B01B-4EF7-BB69-25F625FF0E01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058404" name="PlaceHolder 1"/>
          <p:cNvSpPr>
            <a:spLocks noGrp="1"/>
          </p:cNvSpPr>
          <p:nvPr>
            <p:ph type="title"/>
          </p:nvPr>
        </p:nvSpPr>
        <p:spPr bwMode="auto"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503689" name="PlaceHolder 2"/>
          <p:cNvSpPr>
            <a:spLocks noGrp="1"/>
          </p:cNvSpPr>
          <p:nvPr>
            <p:ph type="body"/>
          </p:nvPr>
        </p:nvSpPr>
        <p:spPr bwMode="auto"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222741" name="Shape 0"/>
          <p:cNvSpPr/>
          <p:nvPr/>
        </p:nvSpPr>
        <p:spPr bwMode="auto">
          <a:xfrm>
            <a:off x="1047600" y="762120"/>
            <a:ext cx="532800" cy="53280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352486" name="Text 1"/>
          <p:cNvSpPr/>
          <p:nvPr/>
        </p:nvSpPr>
        <p:spPr bwMode="auto">
          <a:xfrm>
            <a:off x="1047600" y="762120"/>
            <a:ext cx="60876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10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515036" name="Text 2"/>
          <p:cNvSpPr/>
          <p:nvPr/>
        </p:nvSpPr>
        <p:spPr bwMode="auto">
          <a:xfrm>
            <a:off x="1714680" y="8618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3064868" name="Text 3"/>
          <p:cNvSpPr/>
          <p:nvPr/>
        </p:nvSpPr>
        <p:spPr bwMode="auto">
          <a:xfrm>
            <a:off x="13438079" y="762120"/>
            <a:ext cx="3915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設立準備期 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· 2026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年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9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7505602" name="Text 4"/>
          <p:cNvSpPr/>
          <p:nvPr/>
        </p:nvSpPr>
        <p:spPr bwMode="auto">
          <a:xfrm>
            <a:off x="1047600" y="1866960"/>
            <a:ext cx="8829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25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年計画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A 25-Year initiative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798140" name="Text 5"/>
          <p:cNvSpPr/>
          <p:nvPr/>
        </p:nvSpPr>
        <p:spPr bwMode="auto">
          <a:xfrm>
            <a:off x="1047600" y="2467080"/>
            <a:ext cx="8829000" cy="456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8100" b="1" u="none" strike="noStrike" spc="-40">
                <a:solidFill>
                  <a:srgbClr val="1F2A24"/>
                </a:solidFill>
                <a:latin typeface="Noto Serif JP"/>
                <a:ea typeface="Noto Serif JP"/>
              </a:rPr>
              <a:t>山あいの 小さな村のための、 </a:t>
            </a:r>
            <a:r>
              <a:rPr lang="zh-CN" sz="8100" b="1" u="none" strike="noStrike" spc="-40">
                <a:solidFill>
                  <a:srgbClr val="C4663A"/>
                </a:solidFill>
                <a:latin typeface="Noto Serif JP"/>
                <a:ea typeface="Noto Serif JP"/>
              </a:rPr>
              <a:t>ささやかな計画。</a:t>
            </a:r>
            <a:endParaRPr lang="en-US" sz="8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681744" name="Text 6"/>
          <p:cNvSpPr/>
          <p:nvPr/>
        </p:nvSpPr>
        <p:spPr bwMode="auto">
          <a:xfrm>
            <a:off x="1047600" y="7336080"/>
            <a:ext cx="489672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4C554F"/>
                </a:solidFill>
                <a:latin typeface="Noto Serif JP"/>
                <a:ea typeface="Noto Serif JP"/>
              </a:rPr>
              <a:t>奈良県御杖村 森林再生・分散型エネルギー・地域に根ざした小規模データセンター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7711889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382400" y="1866960"/>
            <a:ext cx="6857280" cy="609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1739200" name="Text 7"/>
          <p:cNvSpPr/>
          <p:nvPr/>
        </p:nvSpPr>
        <p:spPr bwMode="auto">
          <a:xfrm>
            <a:off x="1047600" y="9191520"/>
            <a:ext cx="1275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01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96925" name="Text 8"/>
          <p:cNvSpPr/>
          <p:nvPr/>
        </p:nvSpPr>
        <p:spPr bwMode="auto">
          <a:xfrm>
            <a:off x="15267960" y="9191520"/>
            <a:ext cx="2048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森林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バイオマス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CHP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AI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7711890" name="TextBox 2057711889"/>
          <p:cNvSpPr txBox="1"/>
          <p:nvPr/>
        </p:nvSpPr>
        <p:spPr>
          <a:xfrm>
            <a:off x="0" y="8987000"/>
            <a:ext cx="18288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300">
                <a:solidFill>
                  <a:srgbClr val="3A7A5A"/>
                </a:solidFill>
              </a:rPr>
              <a:t>先人が植えた森が、今、村に豊かさをもたらす。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866875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6102519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2426682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520820" name="Text 3"/>
          <p:cNvSpPr/>
          <p:nvPr/>
        </p:nvSpPr>
        <p:spPr bwMode="auto"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01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舞台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6218452" name="Text 4"/>
          <p:cNvSpPr/>
          <p:nvPr/>
        </p:nvSpPr>
        <p:spPr bwMode="auto">
          <a:xfrm>
            <a:off x="1047600" y="1600200"/>
            <a:ext cx="7945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御杖村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奈良県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131113" name="Text 5"/>
          <p:cNvSpPr/>
          <p:nvPr/>
        </p:nvSpPr>
        <p:spPr bwMode="auto">
          <a:xfrm>
            <a:off x="1047600" y="2104920"/>
            <a:ext cx="7945920" cy="44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25560" tIns="25560" rIns="25560" bIns="25560" numCol="1" spcCol="0" rtlCol="0" fromWordArt="0" anchor="t" anchorCtr="0" forceAA="0" upright="0" compatLnSpc="0">
            <a:normAutofit fontScale="65000" lnSpcReduction="7000"/>
          </a:bodyPr>
          <a:p>
            <a:pPr defTabSz="914400">
              <a:lnSpc>
                <a:spcPct val="117000"/>
              </a:lnSpc>
              <a:tabLst>
                <a:tab pos="0" algn="l"/>
              </a:tabLst>
              <a:defRPr/>
            </a:pPr>
            <a:r>
              <a:rPr lang="zh-CN" sz="90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空き校舎がひとつ。 </a:t>
            </a:r>
            <a:r>
              <a:rPr lang="zh-CN" sz="90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疲れた森林がひとつ。 </a:t>
            </a:r>
            <a:r>
              <a:rPr lang="zh-CN" sz="90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短いアイデアのリストがひとつ。</a:t>
            </a:r>
            <a:endParaRPr lang="en-US" sz="9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210327" name="Text 6"/>
          <p:cNvSpPr/>
          <p:nvPr/>
        </p:nvSpPr>
        <p:spPr bwMode="auto">
          <a:xfrm>
            <a:off x="1047599" y="6448590"/>
            <a:ext cx="70095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御杖は奈良県の山あいの村。小学校は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2021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年に中学校と統合・新校舎へ移転し、旧校舎は空き家となっています。周辺の杉人工林は老齢化して管理されていません。電力網も脆弱です。日本の農村ではよくあること——それこそが要点です。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017736" name="Text 7"/>
          <p:cNvSpPr/>
          <p:nvPr/>
        </p:nvSpPr>
        <p:spPr bwMode="auto">
          <a:xfrm>
            <a:off x="1047600" y="8445625"/>
            <a:ext cx="7009560" cy="91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ここで小規模かつ丁寧な介入が機能すれば、同じ課題を抱える千の村にコピーできるはずです。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07859" name="Shape 8"/>
          <p:cNvSpPr/>
          <p:nvPr/>
        </p:nvSpPr>
        <p:spPr bwMode="auto">
          <a:xfrm>
            <a:off x="9524880" y="1600200"/>
            <a:ext cx="7714440" cy="457884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134366" name="Text 9"/>
          <p:cNvSpPr/>
          <p:nvPr/>
        </p:nvSpPr>
        <p:spPr bwMode="auto">
          <a:xfrm>
            <a:off x="9839160" y="1914480"/>
            <a:ext cx="7298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座標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2995849" name="Text 10"/>
          <p:cNvSpPr/>
          <p:nvPr/>
        </p:nvSpPr>
        <p:spPr bwMode="auto">
          <a:xfrm>
            <a:off x="9839160" y="2381400"/>
            <a:ext cx="729864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  <a:defRPr/>
            </a:pPr>
            <a:r>
              <a:rPr lang="en-US" sz="4800" b="0" u="none" strike="noStrike" spc="-23">
                <a:solidFill>
                  <a:srgbClr val="1F2A24"/>
                </a:solidFill>
                <a:latin typeface="Georgia"/>
                <a:ea typeface="Georgia"/>
              </a:rPr>
              <a:t>34.4194° N 136.0511° E</a:t>
            </a:r>
            <a:endParaRPr lang="en-US" sz="4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025036" name="Shape 11"/>
          <p:cNvSpPr/>
          <p:nvPr/>
        </p:nvSpPr>
        <p:spPr bwMode="auto">
          <a:xfrm>
            <a:off x="9839160" y="3890160"/>
            <a:ext cx="708588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6652737" name="Text 12"/>
          <p:cNvSpPr/>
          <p:nvPr/>
        </p:nvSpPr>
        <p:spPr bwMode="auto">
          <a:xfrm>
            <a:off x="9839160" y="412812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人口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5386778" name="Text 13"/>
          <p:cNvSpPr/>
          <p:nvPr/>
        </p:nvSpPr>
        <p:spPr bwMode="auto">
          <a:xfrm>
            <a:off x="9839160" y="446148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0" u="none" strike="noStrike" spc="-17">
                <a:solidFill>
                  <a:srgbClr val="1F2A24"/>
                </a:solidFill>
                <a:latin typeface="Georgia"/>
                <a:ea typeface="Georgia"/>
              </a:rPr>
              <a:t>≈ 1,400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39613" name="Text 14"/>
          <p:cNvSpPr/>
          <p:nvPr/>
        </p:nvSpPr>
        <p:spPr bwMode="auto">
          <a:xfrm>
            <a:off x="13478040" y="412812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統合移転年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640649" name="Text 15"/>
          <p:cNvSpPr/>
          <p:nvPr/>
        </p:nvSpPr>
        <p:spPr bwMode="auto">
          <a:xfrm>
            <a:off x="13478040" y="446148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0" u="none" strike="noStrike" spc="-17">
                <a:solidFill>
                  <a:srgbClr val="1F2A24"/>
                </a:solidFill>
                <a:latin typeface="Georgia"/>
                <a:ea typeface="Georgia"/>
              </a:rPr>
              <a:t>2020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76743" name="Text 16"/>
          <p:cNvSpPr/>
          <p:nvPr/>
        </p:nvSpPr>
        <p:spPr bwMode="auto">
          <a:xfrm>
            <a:off x="9839160" y="509220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森林率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041353" name="Text 17"/>
          <p:cNvSpPr/>
          <p:nvPr/>
        </p:nvSpPr>
        <p:spPr bwMode="auto">
          <a:xfrm>
            <a:off x="9839160" y="542556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0" u="none" strike="noStrike" spc="-17">
                <a:solidFill>
                  <a:srgbClr val="1F2A24"/>
                </a:solidFill>
                <a:latin typeface="Georgia"/>
                <a:ea typeface="Georgia"/>
              </a:rPr>
              <a:t>≈ 93%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617023" name="Text 18"/>
          <p:cNvSpPr/>
          <p:nvPr/>
        </p:nvSpPr>
        <p:spPr bwMode="auto">
          <a:xfrm>
            <a:off x="13478040" y="5092200"/>
            <a:ext cx="3550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計画期間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592293" name="Text 19"/>
          <p:cNvSpPr/>
          <p:nvPr/>
        </p:nvSpPr>
        <p:spPr bwMode="auto">
          <a:xfrm>
            <a:off x="13478040" y="5425560"/>
            <a:ext cx="355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25</a:t>
            </a: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年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443418" name="Text 20"/>
          <p:cNvSpPr/>
          <p:nvPr/>
        </p:nvSpPr>
        <p:spPr bwMode="auto">
          <a:xfrm>
            <a:off x="9524880" y="6313320"/>
            <a:ext cx="7945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農村再生、ただし静かに。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015976" name="Text 21"/>
          <p:cNvSpPr/>
          <p:nvPr/>
        </p:nvSpPr>
        <p:spPr bwMode="auto">
          <a:xfrm>
            <a:off x="1047600" y="9530280"/>
            <a:ext cx="1057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02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433619" name="Text 22"/>
          <p:cNvSpPr/>
          <p:nvPr/>
        </p:nvSpPr>
        <p:spPr bwMode="auto">
          <a:xfrm>
            <a:off x="16219440" y="9530280"/>
            <a:ext cx="10962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mitsue.it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445605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6287210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293727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2016352" name="Text 3"/>
          <p:cNvSpPr/>
          <p:nvPr/>
        </p:nvSpPr>
        <p:spPr bwMode="auto">
          <a:xfrm>
            <a:off x="13480200" y="762120"/>
            <a:ext cx="38721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02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四つの圧力、ひとつの解答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0836413" name="Text 4"/>
          <p:cNvSpPr/>
          <p:nvPr/>
        </p:nvSpPr>
        <p:spPr bwMode="auto">
          <a:xfrm>
            <a:off x="1047600" y="1619280"/>
            <a:ext cx="10343880" cy="17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57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別々だと高くつく問題が、 </a:t>
            </a:r>
            <a:r>
              <a:rPr lang="zh-CN" sz="57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一緒に取り組むと安くなる。</a:t>
            </a:r>
            <a:endParaRPr lang="en-US" sz="57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6262622" name="Text 5"/>
          <p:cNvSpPr/>
          <p:nvPr/>
        </p:nvSpPr>
        <p:spPr bwMode="auto">
          <a:xfrm>
            <a:off x="1047600" y="3489840"/>
            <a:ext cx="166777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0" u="none" strike="noStrike">
                <a:solidFill>
                  <a:srgbClr val="4C554F"/>
                </a:solidFill>
                <a:latin typeface="Noto Serif JP"/>
                <a:ea typeface="Noto Serif JP"/>
              </a:rPr>
              <a:t>四つの構造的圧力、ひとつの農村型解答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29904" name="Shape 6"/>
          <p:cNvSpPr/>
          <p:nvPr/>
        </p:nvSpPr>
        <p:spPr bwMode="auto">
          <a:xfrm>
            <a:off x="104760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1126924" name="Text 7"/>
          <p:cNvSpPr/>
          <p:nvPr/>
        </p:nvSpPr>
        <p:spPr bwMode="auto">
          <a:xfrm>
            <a:off x="104760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01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エネルギー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173812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4760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88187" name="Text 8"/>
          <p:cNvSpPr/>
          <p:nvPr/>
        </p:nvSpPr>
        <p:spPr bwMode="auto">
          <a:xfrm>
            <a:off x="1047600" y="6375960"/>
            <a:ext cx="394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日本は2035年までに新車乗用車の100%を電動車（EV・PHEV・FCV）とすることを目標としています。農村部には分散型発電と充電インフラが必要であり、系統延伸は遅く高コストです。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27530" name="Shape 10"/>
          <p:cNvSpPr/>
          <p:nvPr/>
        </p:nvSpPr>
        <p:spPr bwMode="auto">
          <a:xfrm>
            <a:off x="516744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483232" name="Text 11"/>
          <p:cNvSpPr/>
          <p:nvPr/>
        </p:nvSpPr>
        <p:spPr bwMode="auto">
          <a:xfrm>
            <a:off x="516744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02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森林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2825563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516744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4996577" name="Text 12"/>
          <p:cNvSpPr/>
          <p:nvPr/>
        </p:nvSpPr>
        <p:spPr bwMode="auto">
          <a:xfrm>
            <a:off x="5167440" y="6375960"/>
            <a:ext cx="394812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240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杉は負債——そして燃料。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780369" name="Text 13"/>
          <p:cNvSpPr/>
          <p:nvPr/>
        </p:nvSpPr>
        <p:spPr bwMode="auto">
          <a:xfrm>
            <a:off x="5167440" y="7080840"/>
            <a:ext cx="3948120" cy="14547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老齢化した杉人工林——花粉、生物多様性の喪失、土砂崩れリスク。伐採すれば村を動かし、植え替えれば森を再生します。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71252" name="Shape 14"/>
          <p:cNvSpPr/>
          <p:nvPr/>
        </p:nvSpPr>
        <p:spPr bwMode="auto">
          <a:xfrm>
            <a:off x="928692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0048983" name="Text 15"/>
          <p:cNvSpPr/>
          <p:nvPr/>
        </p:nvSpPr>
        <p:spPr bwMode="auto">
          <a:xfrm>
            <a:off x="928692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03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遊休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4475236" name="Image 2" descr="preencoded.png"/>
          <p:cNvPicPr/>
          <p:nvPr/>
        </p:nvPicPr>
        <p:blipFill rotWithShape="1">
          <a:blip r:embed="rId5"/>
          <a:stretch/>
        </p:blipFill>
        <p:spPr bwMode="auto">
          <a:xfrm>
            <a:off x="928692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410797" name="Text 16"/>
          <p:cNvSpPr/>
          <p:nvPr/>
        </p:nvSpPr>
        <p:spPr bwMode="auto">
          <a:xfrm>
            <a:off x="9286920" y="6267960"/>
            <a:ext cx="39481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240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村の空き施設はただ放置されている。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181510" name="Text 17"/>
          <p:cNvSpPr/>
          <p:nvPr/>
        </p:nvSpPr>
        <p:spPr bwMode="auto">
          <a:xfrm>
            <a:off x="9286920" y="7101720"/>
            <a:ext cx="394812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空き校舎や工場は人口減少自治体の維持費負担。生産的な再利用で、地域の拠点に変わります。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048276" name="Shape 18"/>
          <p:cNvSpPr/>
          <p:nvPr/>
        </p:nvSpPr>
        <p:spPr bwMode="auto">
          <a:xfrm>
            <a:off x="13406400" y="4232880"/>
            <a:ext cx="3832920" cy="1836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548507" name="Text 19"/>
          <p:cNvSpPr/>
          <p:nvPr/>
        </p:nvSpPr>
        <p:spPr bwMode="auto">
          <a:xfrm>
            <a:off x="13406400" y="4518720"/>
            <a:ext cx="3948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04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デジタル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7261292" name="Image 3" descr="preencoded.png"/>
          <p:cNvPicPr/>
          <p:nvPr/>
        </p:nvPicPr>
        <p:blipFill rotWithShape="1">
          <a:blip r:embed="rId6"/>
          <a:stretch/>
        </p:blipFill>
        <p:spPr bwMode="auto">
          <a:xfrm>
            <a:off x="13406400" y="5042520"/>
            <a:ext cx="383292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916187" name="Text 20"/>
          <p:cNvSpPr/>
          <p:nvPr/>
        </p:nvSpPr>
        <p:spPr bwMode="auto">
          <a:xfrm>
            <a:off x="13406400" y="6339960"/>
            <a:ext cx="39481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zh-CN" sz="240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農村の計算資源は不足している。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112326" name="Text 21"/>
          <p:cNvSpPr/>
          <p:nvPr/>
        </p:nvSpPr>
        <p:spPr bwMode="auto">
          <a:xfrm>
            <a:off x="13406400" y="7139880"/>
            <a:ext cx="394812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7500" lnSpcReduction="1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ブロードバンドとエッジ計算は都市に遅れる。小さなデータセンターが、地域電源で両方を一気に補います。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596209" name="Text 22"/>
          <p:cNvSpPr/>
          <p:nvPr/>
        </p:nvSpPr>
        <p:spPr bwMode="auto">
          <a:xfrm>
            <a:off x="1047600" y="9191520"/>
            <a:ext cx="1374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03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733001" name="Text 23"/>
          <p:cNvSpPr/>
          <p:nvPr/>
        </p:nvSpPr>
        <p:spPr bwMode="auto">
          <a:xfrm>
            <a:off x="13487400" y="8229600"/>
            <a:ext cx="369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別々だと高い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まとめれば解ける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91222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195684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885141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5852896" name="Text 3"/>
          <p:cNvSpPr/>
          <p:nvPr/>
        </p:nvSpPr>
        <p:spPr bwMode="auto"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03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構想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0280703" name="Text 4"/>
          <p:cNvSpPr/>
          <p:nvPr/>
        </p:nvSpPr>
        <p:spPr bwMode="auto">
          <a:xfrm>
            <a:off x="1047600" y="1383120"/>
            <a:ext cx="16677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三つの活動 </a:t>
            </a: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ひとつの主体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988788" name="Text 5"/>
          <p:cNvSpPr/>
          <p:nvPr/>
        </p:nvSpPr>
        <p:spPr bwMode="auto">
          <a:xfrm>
            <a:off x="1047600" y="2383560"/>
            <a:ext cx="15513120" cy="30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 anchorCtr="1">
            <a:norm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  <a:defRPr/>
            </a:pPr>
            <a:r>
              <a:rPr lang="zh-CN" sz="7200" b="1" u="none" strike="noStrike" spc="-57">
                <a:solidFill>
                  <a:srgbClr val="F3ECE0"/>
                </a:solidFill>
                <a:latin typeface="Noto Serif JP"/>
                <a:ea typeface="Noto Serif JP"/>
              </a:rPr>
              <a:t>森林。電力。 計算。</a:t>
            </a:r>
            <a:r>
              <a:rPr lang="zh-CN" sz="7200" b="1" u="none" strike="noStrike" spc="-57">
                <a:solidFill>
                  <a:srgbClr val="F3B486"/>
                </a:solidFill>
                <a:latin typeface="Noto Serif JP"/>
                <a:ea typeface="Noto Serif JP"/>
              </a:rPr>
              <a:t>一つの台帳で。</a:t>
            </a:r>
            <a:endParaRPr lang="en-US" sz="7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7866298" name="Text 6"/>
          <p:cNvSpPr/>
          <p:nvPr/>
        </p:nvSpPr>
        <p:spPr bwMode="auto">
          <a:xfrm>
            <a:off x="972360" y="5218739"/>
            <a:ext cx="166777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森林再生・分散型再生可能エネルギー・地域に根ざしたデータセンター — 一つの台帳で。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0624719" name="Text 7"/>
          <p:cNvSpPr/>
          <p:nvPr/>
        </p:nvSpPr>
        <p:spPr bwMode="auto">
          <a:xfrm>
            <a:off x="972360" y="606096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9416015" name="Text 8"/>
          <p:cNvSpPr/>
          <p:nvPr/>
        </p:nvSpPr>
        <p:spPr bwMode="auto">
          <a:xfrm>
            <a:off x="972360" y="647064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森林再生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452049" name="Text 9"/>
          <p:cNvSpPr/>
          <p:nvPr/>
        </p:nvSpPr>
        <p:spPr bwMode="auto">
          <a:xfrm>
            <a:off x="972360" y="717336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老齢杉 → 在来広葉樹、生態系の時計に合わせて。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064709" name="Text 10"/>
          <p:cNvSpPr/>
          <p:nvPr/>
        </p:nvSpPr>
        <p:spPr bwMode="auto">
          <a:xfrm>
            <a:off x="6560640" y="606096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797365" name="Text 11"/>
          <p:cNvSpPr/>
          <p:nvPr/>
        </p:nvSpPr>
        <p:spPr bwMode="auto">
          <a:xfrm>
            <a:off x="6560640" y="647064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地域電源 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+ EV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6563976" name="Text 12"/>
          <p:cNvSpPr/>
          <p:nvPr/>
        </p:nvSpPr>
        <p:spPr bwMode="auto">
          <a:xfrm>
            <a:off x="6560640" y="717336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杉バイオマスCHPが主軸、太陽光・EV充電が補完。停電耐性を内蔵。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3739914" name="Text 13"/>
          <p:cNvSpPr/>
          <p:nvPr/>
        </p:nvSpPr>
        <p:spPr bwMode="auto">
          <a:xfrm>
            <a:off x="12148560" y="606096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3976638" name="Text 14"/>
          <p:cNvSpPr/>
          <p:nvPr/>
        </p:nvSpPr>
        <p:spPr bwMode="auto">
          <a:xfrm>
            <a:off x="12148560" y="6470640"/>
            <a:ext cx="5166360" cy="11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エッジ・データセンター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883876" name="Text 15"/>
          <p:cNvSpPr/>
          <p:nvPr/>
        </p:nvSpPr>
        <p:spPr bwMode="auto">
          <a:xfrm>
            <a:off x="12148560" y="7202520"/>
            <a:ext cx="516636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地域に根ざした小規模拠点——設置場所は調査中。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3527223" name="Text 16"/>
          <p:cNvSpPr/>
          <p:nvPr/>
        </p:nvSpPr>
        <p:spPr bwMode="auto">
          <a:xfrm>
            <a:off x="1047600" y="9191520"/>
            <a:ext cx="1156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04 / 12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869604" name="Text 17"/>
          <p:cNvSpPr/>
          <p:nvPr/>
        </p:nvSpPr>
        <p:spPr bwMode="auto">
          <a:xfrm>
            <a:off x="12153960" y="7704360"/>
            <a:ext cx="5383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互いに支え合う。規模は控えめ、時間軸は長く。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880252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5318297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0681077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767069" name="Text 3"/>
          <p:cNvSpPr/>
          <p:nvPr/>
        </p:nvSpPr>
        <p:spPr bwMode="auto">
          <a:xfrm>
            <a:off x="15925680" y="762120"/>
            <a:ext cx="1389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I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森林再生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977788" name="Text 4"/>
          <p:cNvSpPr/>
          <p:nvPr/>
        </p:nvSpPr>
        <p:spPr bwMode="auto">
          <a:xfrm>
            <a:off x="1047600" y="1695600"/>
            <a:ext cx="8324280" cy="14547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4650" b="1" u="none" strike="noStrike" spc="-23">
                <a:solidFill>
                  <a:srgbClr val="1F2A24"/>
                </a:solidFill>
                <a:latin typeface="Noto Serif JP"/>
                <a:ea typeface="Noto Serif JP"/>
              </a:rPr>
              <a:t>森でクマにご飯を出し、 </a:t>
            </a:r>
            <a:r>
              <a:rPr lang="zh-CN" sz="4650" b="1" u="none" strike="noStrike" spc="-23">
                <a:solidFill>
                  <a:srgbClr val="C4663A"/>
                </a:solidFill>
                <a:latin typeface="Noto Serif JP"/>
                <a:ea typeface="Noto Serif JP"/>
              </a:rPr>
              <a:t>村への訪問を止めてもらう。</a:t>
            </a:r>
            <a:endParaRPr lang="en-US" sz="46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257782" name="Text 5"/>
          <p:cNvSpPr/>
          <p:nvPr/>
        </p:nvSpPr>
        <p:spPr bwMode="auto">
          <a:xfrm>
            <a:off x="1047600" y="3265200"/>
            <a:ext cx="700956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老齢化した杉人工林を、在来広葉樹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(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ナラ、クリ、コナラ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)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に段階的に置き換えます。地主と林野庁との協働。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25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年という時間軸は、生態系の時計であって資金繰りの周期ではありません。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2379911" name="Text 6"/>
          <p:cNvSpPr/>
          <p:nvPr/>
        </p:nvSpPr>
        <p:spPr bwMode="auto">
          <a:xfrm>
            <a:off x="1047600" y="5292000"/>
            <a:ext cx="700956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伐採した杉は無駄になりません——バイオマスCHPとデータセンターの燃料になります。その収益で地主への支払いを引き上げ、組合の機械化設備にも充てます。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553266" name="Text 7"/>
          <p:cNvSpPr/>
          <p:nvPr/>
        </p:nvSpPr>
        <p:spPr bwMode="auto">
          <a:xfrm>
            <a:off x="1065960" y="6640920"/>
            <a:ext cx="700956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広葉樹はどんぐりや木の実を生み、シカ、イノシシ、クマの冬の食料となります。森が彼らを養えば、彼らは森に留まり、村の畑には来ません。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340192" name="Shape 8"/>
          <p:cNvSpPr/>
          <p:nvPr/>
        </p:nvSpPr>
        <p:spPr bwMode="auto">
          <a:xfrm>
            <a:off x="1065960" y="8227800"/>
            <a:ext cx="808200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757293" name="Text 9"/>
          <p:cNvSpPr/>
          <p:nvPr/>
        </p:nvSpPr>
        <p:spPr bwMode="auto">
          <a:xfrm>
            <a:off x="1065960" y="838980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花粉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156434" name="Text 10"/>
          <p:cNvSpPr/>
          <p:nvPr/>
        </p:nvSpPr>
        <p:spPr bwMode="auto">
          <a:xfrm>
            <a:off x="1065960" y="872316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4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↓ 減少</a:t>
            </a:r>
            <a:endParaRPr lang="en-US" sz="3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708519" name="Text 11"/>
          <p:cNvSpPr/>
          <p:nvPr/>
        </p:nvSpPr>
        <p:spPr bwMode="auto">
          <a:xfrm>
            <a:off x="3855600" y="838980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土砂崩れリスク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575869" name="Text 12"/>
          <p:cNvSpPr/>
          <p:nvPr/>
        </p:nvSpPr>
        <p:spPr bwMode="auto">
          <a:xfrm>
            <a:off x="3855600" y="872316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4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↓ 減少</a:t>
            </a:r>
            <a:endParaRPr lang="en-US" sz="3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409485" name="Text 13"/>
          <p:cNvSpPr/>
          <p:nvPr/>
        </p:nvSpPr>
        <p:spPr bwMode="auto">
          <a:xfrm>
            <a:off x="6644880" y="8389800"/>
            <a:ext cx="2579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在来林冠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7939478" name="Text 14"/>
          <p:cNvSpPr/>
          <p:nvPr/>
        </p:nvSpPr>
        <p:spPr bwMode="auto">
          <a:xfrm>
            <a:off x="6644880" y="8723160"/>
            <a:ext cx="25790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4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↑ 増加</a:t>
            </a:r>
            <a:endParaRPr lang="en-US" sz="34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96191" name="Shape 15"/>
          <p:cNvSpPr/>
          <p:nvPr/>
        </p:nvSpPr>
        <p:spPr bwMode="auto">
          <a:xfrm>
            <a:off x="9892440" y="1695600"/>
            <a:ext cx="7347240" cy="37587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585285" name="Text 16"/>
          <p:cNvSpPr/>
          <p:nvPr/>
        </p:nvSpPr>
        <p:spPr bwMode="auto">
          <a:xfrm>
            <a:off x="10168560" y="1971720"/>
            <a:ext cx="6998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変更前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杉人工林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6883949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168560" y="2476440"/>
            <a:ext cx="679464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265424" name="Text 17"/>
          <p:cNvSpPr/>
          <p:nvPr/>
        </p:nvSpPr>
        <p:spPr bwMode="auto">
          <a:xfrm>
            <a:off x="10168560" y="404820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単一栽培。花粉。静かな地表。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987447" name="Shape 18"/>
          <p:cNvSpPr/>
          <p:nvPr/>
        </p:nvSpPr>
        <p:spPr bwMode="auto">
          <a:xfrm>
            <a:off x="9892440" y="5683680"/>
            <a:ext cx="7347240" cy="37587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876634" name="Text 19"/>
          <p:cNvSpPr/>
          <p:nvPr/>
        </p:nvSpPr>
        <p:spPr bwMode="auto">
          <a:xfrm>
            <a:off x="10168560" y="5959800"/>
            <a:ext cx="6998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変更後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在来広葉樹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9610802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10168560" y="6464520"/>
            <a:ext cx="679464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41932" name="Text 20"/>
          <p:cNvSpPr/>
          <p:nvPr/>
        </p:nvSpPr>
        <p:spPr bwMode="auto">
          <a:xfrm>
            <a:off x="10168560" y="803628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混交林。どんぐり。シカは森で食べ、大根は無事。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825889" name="Text 21"/>
          <p:cNvSpPr/>
          <p:nvPr/>
        </p:nvSpPr>
        <p:spPr bwMode="auto">
          <a:xfrm>
            <a:off x="1047600" y="9443160"/>
            <a:ext cx="12362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05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5487958" name="Text 22"/>
          <p:cNvSpPr/>
          <p:nvPr/>
        </p:nvSpPr>
        <p:spPr bwMode="auto">
          <a:xfrm>
            <a:off x="13005720" y="9443160"/>
            <a:ext cx="4361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杉 → 広葉樹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25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年周期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生態系の均衡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452840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2557829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09371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6867549" name="Text 3"/>
          <p:cNvSpPr/>
          <p:nvPr/>
        </p:nvSpPr>
        <p:spPr bwMode="auto">
          <a:xfrm>
            <a:off x="15309360" y="762120"/>
            <a:ext cx="2006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II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地域電源と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EV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6160284" name="Text 4"/>
          <p:cNvSpPr/>
          <p:nvPr/>
        </p:nvSpPr>
        <p:spPr bwMode="auto">
          <a:xfrm>
            <a:off x="1047600" y="1695600"/>
            <a:ext cx="9437400" cy="22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4800" b="1" u="none" strike="noStrike" spc="-23">
                <a:solidFill>
                  <a:srgbClr val="1F2A24"/>
                </a:solidFill>
                <a:latin typeface="Noto Serif JP"/>
                <a:ea typeface="Noto Serif JP"/>
              </a:rPr>
              <a:t>森が村を動かす。 </a:t>
            </a:r>
            <a:r>
              <a:rPr lang="zh-CN" sz="4800" b="1" u="none" strike="noStrike" spc="-23">
                <a:solidFill>
                  <a:srgbClr val="C4663A"/>
                </a:solidFill>
                <a:latin typeface="Noto Serif JP"/>
                <a:ea typeface="Noto Serif JP"/>
              </a:rPr>
              <a:t>電力網が瞬いても </a:t>
            </a:r>
            <a:r>
              <a:rPr lang="zh-CN" sz="4800" b="1" u="none" strike="noStrike" spc="-23">
                <a:solidFill>
                  <a:srgbClr val="1F2A24"/>
                </a:solidFill>
                <a:latin typeface="Noto Serif JP"/>
                <a:ea typeface="Noto Serif JP"/>
              </a:rPr>
              <a:t>明かりは消えない。</a:t>
            </a:r>
            <a:endParaRPr lang="en-US" sz="4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787094" name="Text 5"/>
          <p:cNvSpPr/>
          <p:nvPr/>
        </p:nvSpPr>
        <p:spPr bwMode="auto">
          <a:xfrm>
            <a:off x="1047600" y="4290120"/>
            <a:ext cx="10477800" cy="15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zh-CN" sz="195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森林転換で出る杉が、バイオマスCHPの主燃料となり、計算拠点とEV充電器を動かします。まず約50kWeの試作機で検証し、その後、約1.2MWeの本格CHPへ2段階で拡大する計画です。太陽光が補い、電力網はバックアップに。現地発電が、停電時にも診療所などの重要設備の電源を維持します。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615848" name="Shape 6"/>
          <p:cNvSpPr/>
          <p:nvPr/>
        </p:nvSpPr>
        <p:spPr bwMode="auto">
          <a:xfrm>
            <a:off x="1047600" y="5863320"/>
            <a:ext cx="16191720" cy="281304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5435574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400040" y="6215400"/>
            <a:ext cx="15486840" cy="210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458386" name="Text 7"/>
          <p:cNvSpPr/>
          <p:nvPr/>
        </p:nvSpPr>
        <p:spPr bwMode="auto">
          <a:xfrm>
            <a:off x="1047600" y="9191520"/>
            <a:ext cx="1057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06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462273" name="Text 8"/>
          <p:cNvSpPr/>
          <p:nvPr/>
        </p:nvSpPr>
        <p:spPr bwMode="auto">
          <a:xfrm>
            <a:off x="12618000" y="9191520"/>
            <a:ext cx="4760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杉バイオマス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太陽光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EV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充電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停電耐性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87292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0869241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267421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924568" name="Text 3"/>
          <p:cNvSpPr/>
          <p:nvPr/>
        </p:nvSpPr>
        <p:spPr bwMode="auto">
          <a:xfrm>
            <a:off x="14553000" y="762120"/>
            <a:ext cx="27669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III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地域データセンター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9639985" name="Text 4"/>
          <p:cNvSpPr/>
          <p:nvPr/>
        </p:nvSpPr>
        <p:spPr bwMode="auto">
          <a:xfrm>
            <a:off x="1047600" y="1695600"/>
            <a:ext cx="7945920" cy="168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54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森で動く </a:t>
            </a:r>
            <a:r>
              <a:rPr lang="zh-CN" sz="54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データセンター。</a:t>
            </a:r>
            <a:endParaRPr lang="en-US" sz="5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126193" name="Text 5"/>
          <p:cNvSpPr/>
          <p:nvPr/>
        </p:nvSpPr>
        <p:spPr bwMode="auto">
          <a:xfrm>
            <a:off x="1047600" y="3452760"/>
            <a:ext cx="7009560" cy="19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92500" lnSpcReduction="9999"/>
          </a:bodyPr>
          <a:p>
            <a:pPr>
              <a:lnSpc>
                <a:spcPct val="100000"/>
              </a:lnSpc>
              <a:defRPr/>
            </a:pP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"森の電力で動く、小さなデータセンター。"</a:t>
            </a:r>
            <a:endParaRPr lang="en-US" sz="19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9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"試作機の設置場所は、現時点では地元の森林組合の敷地を想定しています（確定ではありません）。本格プラントの立地は調査中です。エネルギー効率の高い小規模エッジ計算施設として運営します。"</a:t>
            </a:r>
            <a:endParaRPr lang="en-US" sz="19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142003" name="Text 6"/>
          <p:cNvSpPr/>
          <p:nvPr/>
        </p:nvSpPr>
        <p:spPr bwMode="auto">
          <a:xfrm>
            <a:off x="1047600" y="5194800"/>
            <a:ext cx="7009560" cy="22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ハイパースケールではなく、説明責任を果たせる規模に。地域に運営内容を説明でき、監査を受けられる規模です。排熱は乾燥や暖房への再利用を検討します。設計図はオープンライセンスで公開し、他の人口減少自治体でも複製できるようにしま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910805" name="Shape 7"/>
          <p:cNvSpPr/>
          <p:nvPr/>
        </p:nvSpPr>
        <p:spPr bwMode="auto">
          <a:xfrm>
            <a:off x="1047600" y="7738200"/>
            <a:ext cx="771444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3008045" name="Text 8"/>
          <p:cNvSpPr/>
          <p:nvPr/>
        </p:nvSpPr>
        <p:spPr bwMode="auto">
          <a:xfrm>
            <a:off x="1047600" y="795708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規模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1001831" name="Text 9"/>
          <p:cNvSpPr/>
          <p:nvPr/>
        </p:nvSpPr>
        <p:spPr bwMode="auto">
          <a:xfrm>
            <a:off x="1047600" y="829044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エッジ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431244" name="Text 10"/>
          <p:cNvSpPr/>
          <p:nvPr/>
        </p:nvSpPr>
        <p:spPr bwMode="auto">
          <a:xfrm>
            <a:off x="3695760" y="795708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電源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488718" name="Text 11"/>
          <p:cNvSpPr/>
          <p:nvPr/>
        </p:nvSpPr>
        <p:spPr bwMode="auto">
          <a:xfrm>
            <a:off x="3695760" y="829044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木質CHP主体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76007" name="Text 12"/>
          <p:cNvSpPr/>
          <p:nvPr/>
        </p:nvSpPr>
        <p:spPr bwMode="auto">
          <a:xfrm>
            <a:off x="6343560" y="7957080"/>
            <a:ext cx="249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運営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153813" name="Text 13"/>
          <p:cNvSpPr/>
          <p:nvPr/>
        </p:nvSpPr>
        <p:spPr bwMode="auto">
          <a:xfrm>
            <a:off x="6343560" y="8290440"/>
            <a:ext cx="249480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315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地域主体</a:t>
            </a:r>
            <a:endParaRPr lang="en-US" sz="31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123634" name="Shape 14"/>
          <p:cNvSpPr/>
          <p:nvPr/>
        </p:nvSpPr>
        <p:spPr bwMode="auto">
          <a:xfrm>
            <a:off x="9524880" y="1695600"/>
            <a:ext cx="7714440" cy="6590160"/>
          </a:xfrm>
          <a:prstGeom prst="rect">
            <a:avLst/>
          </a:prstGeom>
          <a:solidFill>
            <a:srgbClr val="2F4A37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3571858" name="Text 15"/>
          <p:cNvSpPr/>
          <p:nvPr/>
        </p:nvSpPr>
        <p:spPr bwMode="auto">
          <a:xfrm>
            <a:off x="10010880" y="2181240"/>
            <a:ext cx="69451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森から計算機へ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9112061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0010880" y="2743200"/>
            <a:ext cx="6743160" cy="500903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8936093" name="Text 16"/>
          <p:cNvSpPr/>
          <p:nvPr/>
        </p:nvSpPr>
        <p:spPr bwMode="auto">
          <a:xfrm>
            <a:off x="1047600" y="9191520"/>
            <a:ext cx="1117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07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0980943" name="Text 17"/>
          <p:cNvSpPr/>
          <p:nvPr/>
        </p:nvSpPr>
        <p:spPr bwMode="auto">
          <a:xfrm>
            <a:off x="11237760" y="9191520"/>
            <a:ext cx="6181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エッジ計算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排熱再利用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複製可能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進歩と持続可能性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947714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653097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5903993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152954" name="Text 3"/>
          <p:cNvSpPr/>
          <p:nvPr/>
        </p:nvSpPr>
        <p:spPr bwMode="auto">
          <a:xfrm>
            <a:off x="14319360" y="762120"/>
            <a:ext cx="3007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07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恩恵 — 地域と環境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928310" name="Text 4"/>
          <p:cNvSpPr/>
          <p:nvPr/>
        </p:nvSpPr>
        <p:spPr bwMode="auto">
          <a:xfrm>
            <a:off x="1047600" y="1695600"/>
            <a:ext cx="12521880" cy="31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8000"/>
              </a:lnSpc>
              <a:tabLst>
                <a:tab pos="0" algn="l"/>
              </a:tabLst>
              <a:defRPr/>
            </a:pPr>
            <a:r>
              <a:rPr lang="zh-CN" sz="6900" b="1" u="none" strike="noStrike" spc="-34">
                <a:solidFill>
                  <a:srgbClr val="F3ECE0"/>
                </a:solidFill>
                <a:latin typeface="Noto Serif JP"/>
                <a:ea typeface="Noto Serif JP"/>
              </a:rPr>
              <a:t>成功は、データセンターが </a:t>
            </a:r>
            <a:r>
              <a:rPr lang="zh-CN" sz="6900" b="1" u="none" strike="noStrike" spc="-34">
                <a:solidFill>
                  <a:srgbClr val="F3B486"/>
                </a:solidFill>
                <a:latin typeface="Noto Serif JP"/>
                <a:ea typeface="Noto Serif JP"/>
              </a:rPr>
              <a:t>商業的にヒットすることに依存しない。</a:t>
            </a:r>
            <a:endParaRPr lang="en-US" sz="6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9594465" name="Text 5"/>
          <p:cNvSpPr/>
          <p:nvPr/>
        </p:nvSpPr>
        <p:spPr bwMode="auto">
          <a:xfrm>
            <a:off x="1047600" y="5197680"/>
            <a:ext cx="1219068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大半の恩恵は、計算事業の黒字化に関わらず、村にもたらされます。それが設計思想です。</a:t>
            </a:r>
            <a:endParaRPr lang="en-US" sz="21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429002" name="Shape 6"/>
          <p:cNvSpPr/>
          <p:nvPr/>
        </p:nvSpPr>
        <p:spPr bwMode="auto">
          <a:xfrm>
            <a:off x="104760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751401" name="Text 7"/>
          <p:cNvSpPr/>
          <p:nvPr/>
        </p:nvSpPr>
        <p:spPr bwMode="auto">
          <a:xfrm>
            <a:off x="1047600" y="6266520"/>
            <a:ext cx="529703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地域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879390" name="Text 8"/>
          <p:cNvSpPr/>
          <p:nvPr/>
        </p:nvSpPr>
        <p:spPr bwMode="auto">
          <a:xfrm>
            <a:off x="88776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通年の有給林業業務＋組合設備の更新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住民・来訪者向け</a:t>
            </a: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充電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地域資源を活かした新たな収入源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停電に強い診療所と通信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地主への支払い向上＋C/D級材の買い手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9684471" name="Shape 9"/>
          <p:cNvSpPr/>
          <p:nvPr/>
        </p:nvSpPr>
        <p:spPr bwMode="auto">
          <a:xfrm>
            <a:off x="657216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067932" name="Text 10"/>
          <p:cNvSpPr/>
          <p:nvPr/>
        </p:nvSpPr>
        <p:spPr bwMode="auto">
          <a:xfrm>
            <a:off x="6572160" y="6266520"/>
            <a:ext cx="529703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環境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407" name="Text 11"/>
          <p:cNvSpPr/>
          <p:nvPr/>
        </p:nvSpPr>
        <p:spPr bwMode="auto">
          <a:xfrm>
            <a:off x="641232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在来広葉樹が大規模に戻る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杉花粉の負担が軽減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野生動物による農地被害の減少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土砂崩れリスクが時間とともに減少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地域産の木質バイオマスが主電源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1376604" name="Shape 12"/>
          <p:cNvSpPr/>
          <p:nvPr/>
        </p:nvSpPr>
        <p:spPr bwMode="auto">
          <a:xfrm>
            <a:off x="12096720" y="6018840"/>
            <a:ext cx="5142960" cy="183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9822435" name="Text 13"/>
          <p:cNvSpPr/>
          <p:nvPr/>
        </p:nvSpPr>
        <p:spPr bwMode="auto">
          <a:xfrm>
            <a:off x="12096720" y="6266520"/>
            <a:ext cx="529703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御杖の先へ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803777" name="Text 14"/>
          <p:cNvSpPr/>
          <p:nvPr/>
        </p:nvSpPr>
        <p:spPr bwMode="auto">
          <a:xfrm>
            <a:off x="11936880" y="6828480"/>
            <a:ext cx="5379120" cy="186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方法とデータをオープン公開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複製可能な農村テンプレート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CC-BY</a:t>
            </a:r>
            <a:r>
              <a:rPr lang="zh-CN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文書、オープンライセンス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コピーされる設計、フランチャイズではない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小規模核融合時代への橋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970709" name="Text 15"/>
          <p:cNvSpPr/>
          <p:nvPr/>
        </p:nvSpPr>
        <p:spPr bwMode="auto">
          <a:xfrm>
            <a:off x="1047600" y="9191520"/>
            <a:ext cx="1117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08 / 12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1887433" name="Text 16"/>
          <p:cNvSpPr/>
          <p:nvPr/>
        </p:nvSpPr>
        <p:spPr bwMode="auto">
          <a:xfrm>
            <a:off x="13398480" y="9191520"/>
            <a:ext cx="3956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地域第一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開放と透明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忍耐と長期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777111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8504101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516142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505196" name="Text 3"/>
          <p:cNvSpPr/>
          <p:nvPr/>
        </p:nvSpPr>
        <p:spPr bwMode="auto">
          <a:xfrm>
            <a:off x="14443920" y="762120"/>
            <a:ext cx="2879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08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現状 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· 2026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年</a:t>
            </a: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9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818060" name="Text 4"/>
          <p:cNvSpPr/>
          <p:nvPr/>
        </p:nvSpPr>
        <p:spPr bwMode="auto">
          <a:xfrm>
            <a:off x="1047600" y="165744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設立準備期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8547039" name="Text 5"/>
          <p:cNvSpPr/>
          <p:nvPr/>
        </p:nvSpPr>
        <p:spPr bwMode="auto">
          <a:xfrm>
            <a:off x="1047600" y="2124000"/>
            <a:ext cx="8324280" cy="351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57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意図的に静かに。 </a:t>
            </a:r>
            <a:r>
              <a:rPr lang="zh-CN" sz="5700" b="1" u="none" strike="noStrike" spc="-28">
                <a:solidFill>
                  <a:srgbClr val="C4663A"/>
                </a:solidFill>
                <a:latin typeface="Noto Serif JP"/>
                <a:ea typeface="Noto Serif JP"/>
              </a:rPr>
              <a:t>プレスも、 </a:t>
            </a:r>
            <a:r>
              <a:rPr lang="zh-CN" sz="5700" b="1" u="none" strike="noStrike" spc="-28">
                <a:solidFill>
                  <a:srgbClr val="1F2A24"/>
                </a:solidFill>
                <a:latin typeface="Noto Serif JP"/>
                <a:ea typeface="Noto Serif JP"/>
              </a:rPr>
              <a:t>サイト発表会もなし、 創業者パーカーもなし。</a:t>
            </a:r>
            <a:endParaRPr lang="en-US" sz="57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724523" name="Text 6"/>
          <p:cNvSpPr/>
          <p:nvPr/>
        </p:nvSpPr>
        <p:spPr bwMode="auto">
          <a:xfrm>
            <a:off x="1047600" y="5865480"/>
            <a:ext cx="731412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第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0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段階は、地域での信頼構築、アドバイザー体制の強化、資金調達先の選定。自己資金、</a:t>
            </a:r>
            <a:r>
              <a:rPr lang="en-US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¥0–0.25M</a:t>
            </a:r>
            <a:r>
              <a:rPr lang="zh-CN" sz="21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。今の重要な仕事は、発表ではなく面談です。</a:t>
            </a:r>
            <a:endParaRPr lang="en-US" sz="2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764865" name="Shape 7"/>
          <p:cNvSpPr/>
          <p:nvPr/>
        </p:nvSpPr>
        <p:spPr bwMode="auto">
          <a:xfrm>
            <a:off x="1047600" y="7471440"/>
            <a:ext cx="8082000" cy="8640"/>
          </a:xfrm>
          <a:prstGeom prst="rect">
            <a:avLst/>
          </a:prstGeom>
          <a:solidFill>
            <a:srgbClr val="1F2A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025197" name="Text 8"/>
          <p:cNvSpPr/>
          <p:nvPr/>
        </p:nvSpPr>
        <p:spPr bwMode="auto">
          <a:xfrm>
            <a:off x="1047600" y="7467600"/>
            <a:ext cx="8324280" cy="2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アドバイザー就任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714767" name="Text 11"/>
          <p:cNvSpPr/>
          <p:nvPr/>
        </p:nvSpPr>
        <p:spPr bwMode="auto">
          <a:xfrm>
            <a:off x="1066800" y="7772400"/>
            <a:ext cx="3810000" cy="3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70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レイ・オジー</a:t>
            </a:r>
            <a:endParaRPr lang="en-US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886664" name="Text 12"/>
          <p:cNvSpPr/>
          <p:nvPr/>
        </p:nvSpPr>
        <p:spPr bwMode="auto">
          <a:xfrm>
            <a:off x="1066800" y="8064500"/>
            <a:ext cx="381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850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2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ソフトウェアの先駆者 · 元Microsoft CSA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636508" name="Shape 13"/>
          <p:cNvSpPr/>
          <p:nvPr/>
        </p:nvSpPr>
        <p:spPr bwMode="auto">
          <a:xfrm>
            <a:off x="9892440" y="1657440"/>
            <a:ext cx="7347240" cy="262836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825270" name="Text 14"/>
          <p:cNvSpPr/>
          <p:nvPr/>
        </p:nvSpPr>
        <p:spPr bwMode="auto">
          <a:xfrm>
            <a:off x="10187640" y="189540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2F4A37"/>
                </a:solidFill>
                <a:latin typeface="Noto Sans JP"/>
                <a:ea typeface="Noto Sans JP"/>
              </a:rPr>
              <a:t>✓ 完了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8491008" name="Text 15"/>
          <p:cNvSpPr/>
          <p:nvPr/>
        </p:nvSpPr>
        <p:spPr bwMode="auto">
          <a:xfrm>
            <a:off x="10237320" y="2343240"/>
            <a:ext cx="6783480" cy="17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御杖村副村長との初回面談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(2025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年後半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)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御杖観光・林業組合・モアツリーズ／天川との面談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(2026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年5〜8月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)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創設定款・実行計画・EVM計画を起草（総予算¥220M）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GX地域共創脱炭素化補助金の問合せを提出（2026年8月）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アドバイザー 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11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名体制に拡大（無償弁護士3名含む）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161464" name="Shape 16"/>
          <p:cNvSpPr/>
          <p:nvPr/>
        </p:nvSpPr>
        <p:spPr bwMode="auto">
          <a:xfrm>
            <a:off x="9892440" y="4495680"/>
            <a:ext cx="7347240" cy="20872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190796" name="Text 17"/>
          <p:cNvSpPr/>
          <p:nvPr/>
        </p:nvSpPr>
        <p:spPr bwMode="auto">
          <a:xfrm>
            <a:off x="10187640" y="473400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C4663A"/>
                </a:solidFill>
                <a:latin typeface="Noto Sans JP"/>
                <a:ea typeface="Noto Sans JP"/>
              </a:rPr>
              <a:t>→ 進行中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069591" name="Text 18"/>
          <p:cNvSpPr/>
          <p:nvPr/>
        </p:nvSpPr>
        <p:spPr bwMode="auto">
          <a:xfrm>
            <a:off x="10237320" y="5181480"/>
            <a:ext cx="678348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農村に信頼のある日本人共同創設者の特定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村長へ資料をお届けし、状況を共有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一般社団法人Mitsue-itの細則起草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奈良の行政書士への依頼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615478" name="Shape 19"/>
          <p:cNvSpPr/>
          <p:nvPr/>
        </p:nvSpPr>
        <p:spPr bwMode="auto">
          <a:xfrm>
            <a:off x="9892440" y="6858000"/>
            <a:ext cx="7347240" cy="20872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42283" name="Text 20"/>
          <p:cNvSpPr/>
          <p:nvPr/>
        </p:nvSpPr>
        <p:spPr bwMode="auto">
          <a:xfrm>
            <a:off x="10187640" y="7095960"/>
            <a:ext cx="6959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◌ 次の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30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日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2385429" name="Text 21"/>
          <p:cNvSpPr/>
          <p:nvPr/>
        </p:nvSpPr>
        <p:spPr bwMode="auto">
          <a:xfrm>
            <a:off x="10237320" y="7543800"/>
            <a:ext cx="6783480" cy="14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日本人共同創設者候補へのアプローチ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村役場との静かな関係構築を継続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GX地域共創第2回応募（締切2026年11月30日）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160200" indent="-160200" defTabSz="914400">
              <a:lnSpc>
                <a:spcPct val="145000"/>
              </a:lnSpc>
              <a:buClr>
                <a:srgbClr val="1F2A24"/>
              </a:buClr>
              <a:buFont typeface="Symbol"/>
              <a:buChar char=""/>
              <a:tabLst>
                <a:tab pos="16020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NAISTセミナーの準備（確定：</a:t>
            </a: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2027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年1月13日）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796730" name="Text 22"/>
          <p:cNvSpPr/>
          <p:nvPr/>
        </p:nvSpPr>
        <p:spPr bwMode="auto">
          <a:xfrm>
            <a:off x="1047600" y="9591840"/>
            <a:ext cx="1117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09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843968" name="Text 23"/>
          <p:cNvSpPr/>
          <p:nvPr/>
        </p:nvSpPr>
        <p:spPr bwMode="auto">
          <a:xfrm>
            <a:off x="14340240" y="9591840"/>
            <a:ext cx="3641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1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6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ヶ月目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自己資金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2" name="Text 11"/>
          <p:cNvSpPr/>
          <p:nvPr/>
        </p:nvSpPr>
        <p:spPr bwMode="auto">
          <a:xfrm>
            <a:off x="5016500" y="7772400"/>
            <a:ext cx="3810000" cy="3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70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堂目卓生</a:t>
            </a:r>
            <a:endParaRPr lang="en-US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3" name="Text 12"/>
          <p:cNvSpPr/>
          <p:nvPr/>
        </p:nvSpPr>
        <p:spPr bwMode="auto">
          <a:xfrm>
            <a:off x="5016500" y="8064500"/>
            <a:ext cx="381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850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2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大阪大学名誉教授 · いのち会議代表理事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4" name="Text 11"/>
          <p:cNvSpPr/>
          <p:nvPr/>
        </p:nvSpPr>
        <p:spPr bwMode="auto">
          <a:xfrm>
            <a:off x="1066800" y="8407400"/>
            <a:ext cx="3810000" cy="3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70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ヘンリー・誠一・高田</a:t>
            </a:r>
            <a:endParaRPr lang="en-US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5" name="Text 12"/>
          <p:cNvSpPr/>
          <p:nvPr/>
        </p:nvSpPr>
        <p:spPr bwMode="auto">
          <a:xfrm>
            <a:off x="1066800" y="8699500"/>
            <a:ext cx="381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850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2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SynTech Japan代表 · バイオマスCHP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6" name="Text 11"/>
          <p:cNvSpPr/>
          <p:nvPr/>
        </p:nvSpPr>
        <p:spPr bwMode="auto">
          <a:xfrm>
            <a:off x="5016500" y="8407400"/>
            <a:ext cx="3810000" cy="3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70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エヴィン・ズート ・ ヨシコ・ズート鈴木</a:t>
            </a:r>
            <a:endParaRPr lang="en-US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7" name="Text 12"/>
          <p:cNvSpPr/>
          <p:nvPr/>
        </p:nvSpPr>
        <p:spPr bwMode="auto">
          <a:xfrm>
            <a:off x="5016500" y="8699500"/>
            <a:ext cx="381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850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2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Transom 共同代表理事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8" name="Text 11"/>
          <p:cNvSpPr/>
          <p:nvPr/>
        </p:nvSpPr>
        <p:spPr bwMode="auto">
          <a:xfrm>
            <a:off x="1066800" y="9042400"/>
            <a:ext cx="3810000" cy="3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70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ジェームズ・ヒル</a:t>
            </a:r>
            <a:endParaRPr lang="en-US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9" name="Text 12"/>
          <p:cNvSpPr/>
          <p:nvPr/>
        </p:nvSpPr>
        <p:spPr bwMode="auto">
          <a:xfrm>
            <a:off x="1066800" y="9334500"/>
            <a:ext cx="381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850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2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大阪公立大学 · 古生態学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0" name="Text 11"/>
          <p:cNvSpPr/>
          <p:nvPr/>
        </p:nvSpPr>
        <p:spPr bwMode="auto">
          <a:xfrm>
            <a:off x="5016500" y="9042400"/>
            <a:ext cx="3810000" cy="3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700" b="1" u="none" strike="noStrike" spc="-17">
                <a:solidFill>
                  <a:srgbClr val="1F2A24"/>
                </a:solidFill>
                <a:latin typeface="Noto Serif JP"/>
                <a:ea typeface="Noto Serif JP"/>
              </a:rPr>
              <a:t>法律顧問（3名）</a:t>
            </a:r>
            <a:endParaRPr lang="en-US" sz="3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1" name="Text 12"/>
          <p:cNvSpPr/>
          <p:nvPr/>
        </p:nvSpPr>
        <p:spPr bwMode="auto">
          <a:xfrm>
            <a:off x="5016500" y="9334500"/>
            <a:ext cx="3810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850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2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無償 · 法人形態・非営利法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3ECE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857656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2F4A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020062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F3ECE0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827802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052996" name="Text 3"/>
          <p:cNvSpPr/>
          <p:nvPr/>
        </p:nvSpPr>
        <p:spPr bwMode="auto">
          <a:xfrm>
            <a:off x="15175800" y="762120"/>
            <a:ext cx="21398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§ 09 · </a:t>
            </a:r>
            <a:r>
              <a:rPr lang="zh-CN" sz="1800" b="0" u="none" strike="noStrike" spc="108">
                <a:solidFill>
                  <a:srgbClr val="4C554F"/>
                </a:solidFill>
                <a:latin typeface="Noto Sans JP"/>
                <a:ea typeface="Noto Sans JP"/>
              </a:rPr>
              <a:t>段階と関門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118551" name="Text 4"/>
          <p:cNvSpPr/>
          <p:nvPr/>
        </p:nvSpPr>
        <p:spPr bwMode="auto">
          <a:xfrm>
            <a:off x="1047600" y="1371600"/>
            <a:ext cx="7620120" cy="13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4200" b="1" u="none" strike="noStrike" spc="-20">
                <a:solidFill>
                  <a:srgbClr val="1F2A24"/>
                </a:solidFill>
                <a:latin typeface="Noto Serif JP"/>
                <a:ea typeface="Noto Serif JP"/>
              </a:rPr>
              <a:t>五段階。 四つの</a:t>
            </a:r>
            <a:r>
              <a:rPr lang="zh-CN" sz="4200" b="1" u="none" strike="noStrike" spc="-20">
                <a:solidFill>
                  <a:srgbClr val="C4663A"/>
                </a:solidFill>
                <a:latin typeface="Noto Serif JP"/>
                <a:ea typeface="Noto Serif JP"/>
              </a:rPr>
              <a:t>本物の </a:t>
            </a:r>
            <a:r>
              <a:rPr lang="zh-CN" sz="4200" b="1" u="none" strike="noStrike" spc="-20">
                <a:solidFill>
                  <a:srgbClr val="1F2A24"/>
                </a:solidFill>
                <a:latin typeface="Noto Serif JP"/>
                <a:ea typeface="Noto Serif JP"/>
              </a:rPr>
              <a:t>資金ゲート。</a:t>
            </a:r>
            <a:endParaRPr lang="en-US" sz="4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26864" name="Text 5"/>
          <p:cNvSpPr/>
          <p:nvPr/>
        </p:nvSpPr>
        <p:spPr bwMode="auto">
          <a:xfrm>
            <a:off x="1047600" y="2975760"/>
            <a:ext cx="1045116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各ゲートはチェックポイント。通過できなければ保留し、再提案——資源不足のまま次へ加速はしません。資金スタックは意図的に五層構造で、単一の資金源で初期に止まらない設計です。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768667" name="Shape 6"/>
          <p:cNvSpPr/>
          <p:nvPr/>
        </p:nvSpPr>
        <p:spPr bwMode="auto">
          <a:xfrm>
            <a:off x="1047600" y="4073040"/>
            <a:ext cx="3131280" cy="1797480"/>
          </a:xfrm>
          <a:prstGeom prst="rect">
            <a:avLst/>
          </a:prstGeom>
          <a:solidFill>
            <a:srgbClr val="C4663A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85513" name="Text 7"/>
          <p:cNvSpPr/>
          <p:nvPr/>
        </p:nvSpPr>
        <p:spPr bwMode="auto">
          <a:xfrm>
            <a:off x="12096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0</a:t>
            </a:r>
            <a:r>
              <a:rPr lang="zh-CN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段階 </a:t>
            </a:r>
            <a:r>
              <a:rPr lang="en-US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145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現在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27414" name="Text 8"/>
          <p:cNvSpPr/>
          <p:nvPr/>
        </p:nvSpPr>
        <p:spPr bwMode="auto">
          <a:xfrm>
            <a:off x="12096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F3ECE0"/>
                </a:solidFill>
                <a:latin typeface="Noto Serif JP"/>
                <a:ea typeface="Noto Serif JP"/>
              </a:rPr>
              <a:t>設立準備期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5050207" name="Text 9"/>
          <p:cNvSpPr/>
          <p:nvPr/>
        </p:nvSpPr>
        <p:spPr bwMode="auto">
          <a:xfrm>
            <a:off x="12096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1</a:t>
            </a:r>
            <a:r>
              <a:rPr lang="zh-CN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3</a:t>
            </a:r>
            <a:r>
              <a:rPr lang="zh-CN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F3ECE0">
                    <a:alpha val="90000"/>
                  </a:srgbClr>
                </a:solidFill>
                <a:latin typeface="Noto Sans JP"/>
                <a:ea typeface="Noto Sans JP"/>
              </a:rPr>
              <a:t>¥0.25M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982958" name="Shape 10"/>
          <p:cNvSpPr/>
          <p:nvPr/>
        </p:nvSpPr>
        <p:spPr bwMode="auto">
          <a:xfrm>
            <a:off x="43128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3328607" name="Text 11"/>
          <p:cNvSpPr/>
          <p:nvPr/>
        </p:nvSpPr>
        <p:spPr bwMode="auto">
          <a:xfrm>
            <a:off x="44748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1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918622" name="Text 12"/>
          <p:cNvSpPr/>
          <p:nvPr/>
        </p:nvSpPr>
        <p:spPr bwMode="auto">
          <a:xfrm>
            <a:off x="44748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設立期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271358" name="Text 13"/>
          <p:cNvSpPr/>
          <p:nvPr/>
        </p:nvSpPr>
        <p:spPr bwMode="auto">
          <a:xfrm>
            <a:off x="44748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4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9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¥5.5M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366483" name="Shape 14"/>
          <p:cNvSpPr/>
          <p:nvPr/>
        </p:nvSpPr>
        <p:spPr bwMode="auto">
          <a:xfrm>
            <a:off x="75780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976144" name="Text 15"/>
          <p:cNvSpPr/>
          <p:nvPr/>
        </p:nvSpPr>
        <p:spPr bwMode="auto">
          <a:xfrm>
            <a:off x="77400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2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597641" name="Text 16"/>
          <p:cNvSpPr/>
          <p:nvPr/>
        </p:nvSpPr>
        <p:spPr bwMode="auto">
          <a:xfrm>
            <a:off x="77400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試行設計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100809" name="Text 17"/>
          <p:cNvSpPr/>
          <p:nvPr/>
        </p:nvSpPr>
        <p:spPr bwMode="auto">
          <a:xfrm>
            <a:off x="77400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10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18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¥22.25M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593720" name="Shape 18"/>
          <p:cNvSpPr/>
          <p:nvPr/>
        </p:nvSpPr>
        <p:spPr bwMode="auto">
          <a:xfrm>
            <a:off x="108432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112808" name="Text 19"/>
          <p:cNvSpPr/>
          <p:nvPr/>
        </p:nvSpPr>
        <p:spPr bwMode="auto">
          <a:xfrm>
            <a:off x="110052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3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687839" name="Text 20"/>
          <p:cNvSpPr/>
          <p:nvPr/>
        </p:nvSpPr>
        <p:spPr bwMode="auto">
          <a:xfrm>
            <a:off x="110052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試行構築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265840" name="Text 21"/>
          <p:cNvSpPr/>
          <p:nvPr/>
        </p:nvSpPr>
        <p:spPr bwMode="auto">
          <a:xfrm>
            <a:off x="110052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19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30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 </a:t>
            </a: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¥177M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998778" name="Shape 22"/>
          <p:cNvSpPr/>
          <p:nvPr/>
        </p:nvSpPr>
        <p:spPr bwMode="auto">
          <a:xfrm>
            <a:off x="14108400" y="4073040"/>
            <a:ext cx="3131280" cy="1797480"/>
          </a:xfrm>
          <a:prstGeom prst="rect">
            <a:avLst/>
          </a:prstGeom>
          <a:solidFill>
            <a:srgbClr val="ECE3D3"/>
          </a:solidFill>
          <a:ln w="9525">
            <a:solidFill>
              <a:srgbClr val="1F2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690338" name="Text 23"/>
          <p:cNvSpPr/>
          <p:nvPr/>
        </p:nvSpPr>
        <p:spPr bwMode="auto">
          <a:xfrm>
            <a:off x="14270400" y="4234680"/>
            <a:ext cx="2891519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第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4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段階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191533" name="Text 24"/>
          <p:cNvSpPr/>
          <p:nvPr/>
        </p:nvSpPr>
        <p:spPr bwMode="auto">
          <a:xfrm>
            <a:off x="14270400" y="4625280"/>
            <a:ext cx="2891519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zh-CN" sz="1950" b="1" u="none" strike="noStrike" spc="-11">
                <a:solidFill>
                  <a:srgbClr val="1F2A24"/>
                </a:solidFill>
                <a:latin typeface="Noto Serif JP"/>
                <a:ea typeface="Noto Serif JP"/>
              </a:rPr>
              <a:t>運営・拡大</a:t>
            </a:r>
            <a:endParaRPr lang="en-US" sz="19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897070" name="Text 25"/>
          <p:cNvSpPr/>
          <p:nvPr/>
        </p:nvSpPr>
        <p:spPr bwMode="auto">
          <a:xfrm>
            <a:off x="14270400" y="4955039"/>
            <a:ext cx="2891519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31</a:t>
            </a:r>
            <a:r>
              <a:rPr lang="zh-CN" sz="1800" b="0" u="none" strike="noStrike">
                <a:solidFill>
                  <a:srgbClr val="4C554F"/>
                </a:solidFill>
                <a:latin typeface="Noto Sans JP"/>
                <a:ea typeface="Noto Sans JP"/>
              </a:rPr>
              <a:t>ヶ月〜 収益主導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833249" name="Text 26"/>
          <p:cNvSpPr/>
          <p:nvPr/>
        </p:nvSpPr>
        <p:spPr bwMode="auto">
          <a:xfrm>
            <a:off x="42660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G1 · ¥3–8M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3429" name="Text 27"/>
          <p:cNvSpPr/>
          <p:nvPr/>
        </p:nvSpPr>
        <p:spPr bwMode="auto">
          <a:xfrm>
            <a:off x="75312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G2 · ¥30–50M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991134" name="Text 28"/>
          <p:cNvSpPr/>
          <p:nvPr/>
        </p:nvSpPr>
        <p:spPr bwMode="auto">
          <a:xfrm>
            <a:off x="107964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G3 · ¥120–290M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6743332" name="Text 29"/>
          <p:cNvSpPr/>
          <p:nvPr/>
        </p:nvSpPr>
        <p:spPr bwMode="auto">
          <a:xfrm>
            <a:off x="14061600" y="5947560"/>
            <a:ext cx="32248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G4 ·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収益化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436347" name="Text 30"/>
          <p:cNvSpPr/>
          <p:nvPr/>
        </p:nvSpPr>
        <p:spPr bwMode="auto">
          <a:xfrm>
            <a:off x="1047600" y="6356880"/>
            <a:ext cx="94536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五層資金スタック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 · 目標 ≈ </a:t>
            </a: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¥192M</a:t>
            </a:r>
            <a:r>
              <a:rPr lang="en-US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 · 調達済み 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083656" name="Shape 31"/>
          <p:cNvSpPr/>
          <p:nvPr/>
        </p:nvSpPr>
        <p:spPr bwMode="auto">
          <a:xfrm>
            <a:off x="1047600" y="7062840"/>
            <a:ext cx="9178200" cy="8640"/>
          </a:xfrm>
          <a:prstGeom prst="rect">
            <a:avLst/>
          </a:prstGeom>
          <a:solidFill>
            <a:srgbClr val="1F2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951458" name="Text 32"/>
          <p:cNvSpPr/>
          <p:nvPr/>
        </p:nvSpPr>
        <p:spPr bwMode="auto">
          <a:xfrm>
            <a:off x="1123920" y="6785640"/>
            <a:ext cx="10339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層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287904" name="Text 33"/>
          <p:cNvSpPr/>
          <p:nvPr/>
        </p:nvSpPr>
        <p:spPr bwMode="auto">
          <a:xfrm>
            <a:off x="2234880" y="6785640"/>
            <a:ext cx="41889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出所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472014" name="Text 34"/>
          <p:cNvSpPr/>
          <p:nvPr/>
        </p:nvSpPr>
        <p:spPr bwMode="auto">
          <a:xfrm>
            <a:off x="6374160" y="6785640"/>
            <a:ext cx="1849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/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目標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4648041" name="Text 35"/>
          <p:cNvSpPr/>
          <p:nvPr/>
        </p:nvSpPr>
        <p:spPr bwMode="auto">
          <a:xfrm>
            <a:off x="8300520" y="6785640"/>
            <a:ext cx="1849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/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調達済み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080827" name="Shape 36"/>
          <p:cNvSpPr/>
          <p:nvPr/>
        </p:nvSpPr>
        <p:spPr bwMode="auto">
          <a:xfrm>
            <a:off x="1047600" y="73540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605054" name="Text 37"/>
          <p:cNvSpPr/>
          <p:nvPr/>
        </p:nvSpPr>
        <p:spPr bwMode="auto">
          <a:xfrm>
            <a:off x="1123920" y="708192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0498095" name="Text 38"/>
          <p:cNvSpPr/>
          <p:nvPr/>
        </p:nvSpPr>
        <p:spPr bwMode="auto">
          <a:xfrm>
            <a:off x="2168280" y="708192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創設者・私的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921468" name="Text 39"/>
          <p:cNvSpPr/>
          <p:nvPr/>
        </p:nvSpPr>
        <p:spPr bwMode="auto">
          <a:xfrm>
            <a:off x="6307560" y="708192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¥6M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632699" name="Text 40"/>
          <p:cNvSpPr/>
          <p:nvPr/>
        </p:nvSpPr>
        <p:spPr bwMode="auto">
          <a:xfrm>
            <a:off x="8233560" y="708192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719885" name="Shape 41"/>
          <p:cNvSpPr/>
          <p:nvPr/>
        </p:nvSpPr>
        <p:spPr bwMode="auto">
          <a:xfrm>
            <a:off x="1047600" y="76456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3220351" name="Text 42"/>
          <p:cNvSpPr/>
          <p:nvPr/>
        </p:nvSpPr>
        <p:spPr bwMode="auto">
          <a:xfrm>
            <a:off x="1123920" y="73731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338999" name="Text 43"/>
          <p:cNvSpPr/>
          <p:nvPr/>
        </p:nvSpPr>
        <p:spPr bwMode="auto">
          <a:xfrm>
            <a:off x="2168280" y="73731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政府助成金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00173" name="Text 44"/>
          <p:cNvSpPr/>
          <p:nvPr/>
        </p:nvSpPr>
        <p:spPr bwMode="auto">
          <a:xfrm>
            <a:off x="6307560" y="73731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¥115M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055194" name="Text 45"/>
          <p:cNvSpPr/>
          <p:nvPr/>
        </p:nvSpPr>
        <p:spPr bwMode="auto">
          <a:xfrm>
            <a:off x="8233560" y="73731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770340" name="Shape 46"/>
          <p:cNvSpPr/>
          <p:nvPr/>
        </p:nvSpPr>
        <p:spPr bwMode="auto">
          <a:xfrm>
            <a:off x="1047600" y="793728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738706" name="Text 47"/>
          <p:cNvSpPr/>
          <p:nvPr/>
        </p:nvSpPr>
        <p:spPr bwMode="auto">
          <a:xfrm>
            <a:off x="1123920" y="76647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L3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534924" name="Text 48"/>
          <p:cNvSpPr/>
          <p:nvPr/>
        </p:nvSpPr>
        <p:spPr bwMode="auto">
          <a:xfrm>
            <a:off x="2168280" y="76647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財団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7856192" name="Text 49"/>
          <p:cNvSpPr/>
          <p:nvPr/>
        </p:nvSpPr>
        <p:spPr bwMode="auto">
          <a:xfrm>
            <a:off x="6307560" y="76647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¥33M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21294" name="Text 50"/>
          <p:cNvSpPr/>
          <p:nvPr/>
        </p:nvSpPr>
        <p:spPr bwMode="auto">
          <a:xfrm>
            <a:off x="8233560" y="76647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009943" name="Shape 51"/>
          <p:cNvSpPr/>
          <p:nvPr/>
        </p:nvSpPr>
        <p:spPr bwMode="auto">
          <a:xfrm>
            <a:off x="1047600" y="822852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650798" name="Text 52"/>
          <p:cNvSpPr/>
          <p:nvPr/>
        </p:nvSpPr>
        <p:spPr bwMode="auto">
          <a:xfrm>
            <a:off x="1123920" y="795636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L4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137075" name="Text 53"/>
          <p:cNvSpPr/>
          <p:nvPr/>
        </p:nvSpPr>
        <p:spPr bwMode="auto">
          <a:xfrm>
            <a:off x="2168280" y="795636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企業パートナー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073202" name="Text 54"/>
          <p:cNvSpPr/>
          <p:nvPr/>
        </p:nvSpPr>
        <p:spPr bwMode="auto">
          <a:xfrm>
            <a:off x="6307560" y="79563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¥35M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049455" name="Text 55"/>
          <p:cNvSpPr/>
          <p:nvPr/>
        </p:nvSpPr>
        <p:spPr bwMode="auto">
          <a:xfrm>
            <a:off x="8233560" y="795636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907322" name="Shape 56"/>
          <p:cNvSpPr/>
          <p:nvPr/>
        </p:nvSpPr>
        <p:spPr bwMode="auto">
          <a:xfrm>
            <a:off x="1047600" y="8520120"/>
            <a:ext cx="9178200" cy="8640"/>
          </a:xfrm>
          <a:prstGeom prst="rect">
            <a:avLst/>
          </a:prstGeom>
          <a:solidFill>
            <a:srgbClr val="1F2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164843" name="Text 57"/>
          <p:cNvSpPr/>
          <p:nvPr/>
        </p:nvSpPr>
        <p:spPr bwMode="auto">
          <a:xfrm>
            <a:off x="1123920" y="8247600"/>
            <a:ext cx="1033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L5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4856562" name="Text 58"/>
          <p:cNvSpPr/>
          <p:nvPr/>
        </p:nvSpPr>
        <p:spPr bwMode="auto">
          <a:xfrm>
            <a:off x="2168280" y="8247600"/>
            <a:ext cx="4322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運営収益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550955" name="Text 59"/>
          <p:cNvSpPr/>
          <p:nvPr/>
        </p:nvSpPr>
        <p:spPr bwMode="auto">
          <a:xfrm>
            <a:off x="6307560" y="824760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¥3M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739589" name="Text 60"/>
          <p:cNvSpPr/>
          <p:nvPr/>
        </p:nvSpPr>
        <p:spPr bwMode="auto">
          <a:xfrm>
            <a:off x="8233560" y="8247600"/>
            <a:ext cx="19828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78628" name="Text 61"/>
          <p:cNvSpPr/>
          <p:nvPr/>
        </p:nvSpPr>
        <p:spPr bwMode="auto">
          <a:xfrm>
            <a:off x="1123920" y="8539200"/>
            <a:ext cx="10339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∑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1383825" name="Text 62"/>
          <p:cNvSpPr/>
          <p:nvPr/>
        </p:nvSpPr>
        <p:spPr bwMode="auto">
          <a:xfrm>
            <a:off x="2168280" y="8539200"/>
            <a:ext cx="43221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概算合計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246726" name="Text 63"/>
          <p:cNvSpPr/>
          <p:nvPr/>
        </p:nvSpPr>
        <p:spPr bwMode="auto">
          <a:xfrm>
            <a:off x="6307560" y="8539200"/>
            <a:ext cx="19828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¥192M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054260" name="Text 64"/>
          <p:cNvSpPr/>
          <p:nvPr/>
        </p:nvSpPr>
        <p:spPr bwMode="auto">
          <a:xfrm>
            <a:off x="8233560" y="8539200"/>
            <a:ext cx="19828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 fontScale="85000" lnSpcReduction="9999"/>
          </a:bodyPr>
          <a:p>
            <a:pPr algn="r"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1F2A24"/>
                </a:solidFill>
                <a:latin typeface="Courier New"/>
                <a:ea typeface="Courier New"/>
              </a:rPr>
              <a:t>¥0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190604" name="Text 65"/>
          <p:cNvSpPr/>
          <p:nvPr/>
        </p:nvSpPr>
        <p:spPr bwMode="auto">
          <a:xfrm>
            <a:off x="10683720" y="6356880"/>
            <a:ext cx="67525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4C554F"/>
                </a:solidFill>
                <a:latin typeface="Noto Sans JP"/>
                <a:ea typeface="Noto Sans JP"/>
              </a:rPr>
              <a:t>六つの運営原則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7620190" name="Text 66"/>
          <p:cNvSpPr/>
          <p:nvPr/>
        </p:nvSpPr>
        <p:spPr bwMode="auto">
          <a:xfrm>
            <a:off x="10683720" y="676656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地域第一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219953" name="Text 67"/>
          <p:cNvSpPr/>
          <p:nvPr/>
        </p:nvSpPr>
        <p:spPr bwMode="auto">
          <a:xfrm>
            <a:off x="14095440" y="676656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開放と透明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7216" name="Text 68"/>
          <p:cNvSpPr/>
          <p:nvPr/>
        </p:nvSpPr>
        <p:spPr bwMode="auto">
          <a:xfrm>
            <a:off x="10683720" y="718200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III.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忍耐と長期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581599" name="Text 69"/>
          <p:cNvSpPr/>
          <p:nvPr/>
        </p:nvSpPr>
        <p:spPr bwMode="auto">
          <a:xfrm>
            <a:off x="14095440" y="718200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IV.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複製可能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487681" name="Text 70"/>
          <p:cNvSpPr/>
          <p:nvPr/>
        </p:nvSpPr>
        <p:spPr bwMode="auto">
          <a:xfrm>
            <a:off x="10683720" y="759708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V.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規模は控えめ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364820" name="Text 71"/>
          <p:cNvSpPr/>
          <p:nvPr/>
        </p:nvSpPr>
        <p:spPr bwMode="auto">
          <a:xfrm>
            <a:off x="14095440" y="7597080"/>
            <a:ext cx="323856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VI. </a:t>
            </a:r>
            <a:r>
              <a:rPr lang="zh-CN" sz="1800" b="0" u="none" strike="noStrike">
                <a:solidFill>
                  <a:srgbClr val="1F2A24"/>
                </a:solidFill>
                <a:latin typeface="Noto Sans JP"/>
                <a:ea typeface="Noto Sans JP"/>
              </a:rPr>
              <a:t>非党派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763102" name="Text 72"/>
          <p:cNvSpPr/>
          <p:nvPr/>
        </p:nvSpPr>
        <p:spPr bwMode="auto">
          <a:xfrm>
            <a:off x="1047600" y="9191520"/>
            <a:ext cx="1355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10 / 12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9630892" name="Text 73"/>
          <p:cNvSpPr/>
          <p:nvPr/>
        </p:nvSpPr>
        <p:spPr bwMode="auto">
          <a:xfrm>
            <a:off x="13503240" y="9191520"/>
            <a:ext cx="3848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25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年の視野 </a:t>
            </a:r>
            <a:r>
              <a:rPr lang="en-US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&gt; </a:t>
            </a:r>
            <a:r>
              <a:rPr lang="zh-CN" sz="1800" b="0" u="none" strike="noStrike" spc="71">
                <a:solidFill>
                  <a:srgbClr val="4C554F"/>
                </a:solidFill>
                <a:latin typeface="Noto Sans JP"/>
                <a:ea typeface="Noto Sans JP"/>
              </a:rPr>
              <a:t>一つの流行サイクル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688511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890394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161944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2825803" name="Text 3"/>
          <p:cNvSpPr/>
          <p:nvPr/>
        </p:nvSpPr>
        <p:spPr bwMode="auto">
          <a:xfrm>
            <a:off x="15902640" y="762120"/>
            <a:ext cx="1413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10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村の再エネ計画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301510" name="Text 4"/>
          <p:cNvSpPr/>
          <p:nvPr/>
        </p:nvSpPr>
        <p:spPr bwMode="auto">
          <a:xfrm>
            <a:off x="1047600" y="1383120"/>
            <a:ext cx="166777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御杖村再エネ導入最大化計画との整合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3120437" name="Text 5"/>
          <p:cNvSpPr/>
          <p:nvPr/>
        </p:nvSpPr>
        <p:spPr bwMode="auto">
          <a:xfrm>
            <a:off x="1047600" y="2383560"/>
            <a:ext cx="15513120" cy="30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25560" tIns="25560" rIns="25560" bIns="25560" numCol="1" spcCol="0" anchor="t">
            <a:normAutofit fontScale="92500" lnSpcReduction="9999"/>
          </a:bodyPr>
          <a:p>
            <a:pPr defTabSz="914400">
              <a:lnSpc>
                <a:spcPct val="105000"/>
              </a:lnSpc>
              <a:tabLst>
                <a:tab pos="0" algn="l"/>
              </a:tabLst>
              <a:defRPr/>
            </a:pPr>
            <a:r>
              <a:rPr lang="zh-CN" sz="7200" b="1" u="none" strike="noStrike" spc="-57">
                <a:solidFill>
                  <a:srgbClr val="F3ECE0"/>
                </a:solidFill>
                <a:latin typeface="Noto Serif JP"/>
                <a:ea typeface="Noto Serif JP"/>
              </a:rPr>
              <a:t>村に新しい構想を求めない。</a:t>
            </a:r>
            <a:r>
              <a:rPr lang="zh-CN" sz="7200" b="1" i="1" u="none" strike="noStrike" spc="-57">
                <a:solidFill>
                  <a:srgbClr val="F3B486"/>
                </a:solidFill>
                <a:latin typeface="Noto Serif JP"/>
                <a:ea typeface="Noto Serif JP"/>
              </a:rPr>
              <a:t>村がすでに書いた計画を、私たちが実行する</a:t>
            </a:r>
            <a:r>
              <a:rPr lang="zh-CN" sz="8000" b="1" i="1" u="none" strike="noStrike" spc="-57">
                <a:solidFill>
                  <a:srgbClr val="F3B486"/>
                </a:solidFill>
                <a:latin typeface="Noto Serif JP"/>
                <a:ea typeface="Noto Serif JP"/>
              </a:rPr>
              <a:t>。</a:t>
            </a:r>
            <a:endParaRPr lang="en-US" sz="8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8303711" name="Text 6"/>
          <p:cNvSpPr/>
          <p:nvPr/>
        </p:nvSpPr>
        <p:spPr bwMode="auto">
          <a:xfrm>
            <a:off x="1047600" y="4976280"/>
            <a:ext cx="166777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御杖村再エネ導入最大化計画（</a:t>
            </a:r>
            <a:r>
              <a:rPr lang="en-US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2025</a:t>
            </a:r>
            <a:r>
              <a:rPr lang="zh-CN" sz="2400" b="0" u="none" strike="noStrike">
                <a:solidFill>
                  <a:srgbClr val="F3ECE0">
                    <a:alpha val="60000"/>
                  </a:srgbClr>
                </a:solidFill>
                <a:latin typeface="Noto Serif JP"/>
                <a:ea typeface="Noto Serif JP"/>
              </a:rPr>
              <a:t>年・環境省補助）の官民連携 運営体制として。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757980" name="Text 7"/>
          <p:cNvSpPr/>
          <p:nvPr/>
        </p:nvSpPr>
        <p:spPr bwMode="auto">
          <a:xfrm>
            <a:off x="972360" y="564624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18433" name="Text 8"/>
          <p:cNvSpPr/>
          <p:nvPr/>
        </p:nvSpPr>
        <p:spPr bwMode="auto">
          <a:xfrm>
            <a:off x="972360" y="605592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レジリエント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1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拠点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4814305" name="Text 9"/>
          <p:cNvSpPr/>
          <p:nvPr/>
        </p:nvSpPr>
        <p:spPr bwMode="auto">
          <a:xfrm>
            <a:off x="972360" y="675864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75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計画は再エネ＋蓄電池＋EVのレジリエント拠点を1つ（現状ゼロ）目標とする。我々のデータセンターは、その拠点の候補になり得る。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836545" name="Text 10"/>
          <p:cNvSpPr/>
          <p:nvPr/>
        </p:nvSpPr>
        <p:spPr bwMode="auto">
          <a:xfrm>
            <a:off x="6560640" y="564624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1175142" name="Text 11"/>
          <p:cNvSpPr/>
          <p:nvPr/>
        </p:nvSpPr>
        <p:spPr bwMode="auto">
          <a:xfrm>
            <a:off x="6560640" y="6055920"/>
            <a:ext cx="516636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EV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充電の優先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9300925" name="Text 12"/>
          <p:cNvSpPr/>
          <p:nvPr/>
        </p:nvSpPr>
        <p:spPr bwMode="auto">
          <a:xfrm>
            <a:off x="6560640" y="6758640"/>
            <a:ext cx="5166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運輸が村の排出の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46%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。計画が掲げる公共施設への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充電優先を実現する。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353625" name="Text 13"/>
          <p:cNvSpPr/>
          <p:nvPr/>
        </p:nvSpPr>
        <p:spPr bwMode="auto">
          <a:xfrm>
            <a:off x="12148560" y="5646240"/>
            <a:ext cx="51663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iii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3733685" name="Text 14"/>
          <p:cNvSpPr/>
          <p:nvPr/>
        </p:nvSpPr>
        <p:spPr bwMode="auto">
          <a:xfrm>
            <a:off x="12148560" y="6055920"/>
            <a:ext cx="5166360" cy="11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13999"/>
              </a:lnSpc>
              <a:tabLst>
                <a:tab pos="0" algn="l"/>
              </a:tabLst>
              <a:defRPr/>
            </a:pP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森林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J-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クレジット </a:t>
            </a:r>
            <a:r>
              <a:rPr lang="en-US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+ </a:t>
            </a:r>
            <a:r>
              <a:rPr lang="zh-CN" sz="3900" b="1" u="none" strike="noStrike" spc="-20">
                <a:solidFill>
                  <a:srgbClr val="F3ECE0"/>
                </a:solidFill>
                <a:latin typeface="Noto Serif JP"/>
                <a:ea typeface="Noto Serif JP"/>
              </a:rPr>
              <a:t>交付金</a:t>
            </a:r>
            <a:endParaRPr lang="en-US" sz="39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448826" name="Text 15"/>
          <p:cNvSpPr/>
          <p:nvPr/>
        </p:nvSpPr>
        <p:spPr bwMode="auto">
          <a:xfrm>
            <a:off x="12148560" y="6787800"/>
            <a:ext cx="516636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47500" lnSpcReduction="1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バイオマス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CHP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が森林炭素／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J-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クレジット機構を供給。村主導の交付金（太陽光・蓄電池・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の補助率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2/3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〜</a:t>
            </a:r>
            <a:r>
              <a:rPr lang="en-US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3/4</a:t>
            </a:r>
            <a:r>
              <a:rPr lang="zh-CN" sz="1800" b="0" u="none" strike="noStrike">
                <a:solidFill>
                  <a:srgbClr val="F3ECE0">
                    <a:alpha val="85000"/>
                  </a:srgbClr>
                </a:solidFill>
                <a:latin typeface="Noto Sans JP"/>
                <a:ea typeface="Noto Sans JP"/>
              </a:rPr>
              <a:t>、村経由）を引き出す。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636682" name="Text 16"/>
          <p:cNvSpPr/>
          <p:nvPr/>
        </p:nvSpPr>
        <p:spPr bwMode="auto">
          <a:xfrm>
            <a:off x="1047600" y="9191520"/>
            <a:ext cx="11566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11 / 12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464559" name="Text 17"/>
          <p:cNvSpPr/>
          <p:nvPr/>
        </p:nvSpPr>
        <p:spPr bwMode="auto">
          <a:xfrm>
            <a:off x="12153960" y="7289640"/>
            <a:ext cx="53830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バイオマス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CHP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が主軸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太陽光／蓄電池／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EV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は補完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</a:t>
            </a: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資金は村を通じて流れる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2F4A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742319" name="Shape 0"/>
          <p:cNvSpPr/>
          <p:nvPr/>
        </p:nvSpPr>
        <p:spPr bwMode="auto">
          <a:xfrm>
            <a:off x="1047600" y="762120"/>
            <a:ext cx="456480" cy="456480"/>
          </a:xfrm>
          <a:prstGeom prst="ellipse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05904" name="Text 1"/>
          <p:cNvSpPr/>
          <p:nvPr/>
        </p:nvSpPr>
        <p:spPr bwMode="auto">
          <a:xfrm>
            <a:off x="1047600" y="762120"/>
            <a:ext cx="532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950" b="1" u="none" strike="noStrike" spc="108">
                <a:solidFill>
                  <a:srgbClr val="2F4A37"/>
                </a:solidFill>
                <a:latin typeface="Noto Serif JP"/>
                <a:ea typeface="Noto Serif JP"/>
              </a:rPr>
              <a:t>御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6805166" name="Text 2"/>
          <p:cNvSpPr/>
          <p:nvPr/>
        </p:nvSpPr>
        <p:spPr bwMode="auto">
          <a:xfrm>
            <a:off x="1638360" y="824040"/>
            <a:ext cx="20066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御杖プロジェクト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8523615" name="Text 3"/>
          <p:cNvSpPr/>
          <p:nvPr/>
        </p:nvSpPr>
        <p:spPr bwMode="auto">
          <a:xfrm>
            <a:off x="13964760" y="762120"/>
            <a:ext cx="33732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§ 11 · </a:t>
            </a:r>
            <a:r>
              <a:rPr lang="zh-CN" sz="1800" b="0" u="none" strike="noStrike" spc="108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十年単位で考える方へ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619856" name="Text 4"/>
          <p:cNvSpPr/>
          <p:nvPr/>
        </p:nvSpPr>
        <p:spPr bwMode="auto">
          <a:xfrm>
            <a:off x="1047600" y="1769040"/>
            <a:ext cx="8324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あなたの時間軸が私たちと合うなら…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307711" name="Text 5"/>
          <p:cNvSpPr/>
          <p:nvPr/>
        </p:nvSpPr>
        <p:spPr bwMode="auto">
          <a:xfrm>
            <a:off x="1047599" y="2824559"/>
            <a:ext cx="8324280" cy="57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25560" tIns="25560" rIns="25560" bIns="25560" numCol="1" spcCol="0" rtlCol="0" fromWordArt="0" anchor="t" anchorCtr="0" forceAA="0" upright="0" compatLnSpc="0">
            <a:normAutofit fontScale="85000" lnSpcReduction="3000"/>
          </a:bodyPr>
          <a:p>
            <a:pPr defTabSz="914400">
              <a:lnSpc>
                <a:spcPct val="120000"/>
              </a:lnSpc>
              <a:tabLst>
                <a:tab pos="0" algn="l"/>
              </a:tabLst>
              <a:defRPr/>
            </a:pPr>
            <a:r>
              <a:rPr lang="zh-CN" sz="7200" b="1" u="none" strike="noStrike" spc="-31">
                <a:solidFill>
                  <a:srgbClr val="F3ECE0"/>
                </a:solidFill>
                <a:latin typeface="Noto Serif JP"/>
                <a:ea typeface="Noto Serif JP"/>
              </a:rPr>
              <a:t>私たちが求めているのは、 実務の知見、 率直なご批判、 そして数人の </a:t>
            </a:r>
            <a:r>
              <a:rPr lang="zh-CN" sz="7200" b="1" u="none" strike="noStrike" spc="-31">
                <a:solidFill>
                  <a:srgbClr val="F3B486"/>
                </a:solidFill>
                <a:latin typeface="Noto Serif JP"/>
                <a:ea typeface="Noto Serif JP"/>
              </a:rPr>
              <a:t>良き隣人。</a:t>
            </a:r>
            <a:endParaRPr lang="en-US" sz="63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656669" name="Text 6"/>
          <p:cNvSpPr/>
          <p:nvPr/>
        </p:nvSpPr>
        <p:spPr bwMode="auto">
          <a:xfrm>
            <a:off x="9892440" y="1769040"/>
            <a:ext cx="75675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いま助かるご支援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9015600" name="Text 7"/>
          <p:cNvSpPr/>
          <p:nvPr/>
        </p:nvSpPr>
        <p:spPr bwMode="auto">
          <a:xfrm>
            <a:off x="9718920" y="2235960"/>
            <a:ext cx="7596720" cy="15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ご紹介</a:t>
            </a: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:</a:t>
            </a:r>
            <a:r>
              <a:rPr lang="zh-CN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農村に信頼のある日本人共同創設者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アドバイザー</a:t>
            </a: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:</a:t>
            </a:r>
            <a:r>
              <a:rPr lang="zh-CN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林業、エッジ計算、日本の非営利法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技術パートナー:小規模DC運用・電源設計の知見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pos="0" algn="l"/>
              </a:tabLst>
              <a:defRPr/>
            </a:pPr>
            <a:r>
              <a:rPr lang="en-US" sz="1950" b="0" u="none" strike="noStrike">
                <a:solidFill>
                  <a:srgbClr val="F3ECE0"/>
                </a:solidFill>
                <a:latin typeface="Noto Sans JP"/>
                <a:ea typeface="Noto Sans JP"/>
              </a:rPr>
              <a:t>↳ 率直なご批判——論点のどこが間違っているか</a:t>
            </a:r>
            <a:endParaRPr lang="en-US" sz="19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881895" name="Shape 8"/>
          <p:cNvSpPr/>
          <p:nvPr/>
        </p:nvSpPr>
        <p:spPr bwMode="auto">
          <a:xfrm>
            <a:off x="9892440" y="4056840"/>
            <a:ext cx="7347240" cy="8640"/>
          </a:xfrm>
          <a:prstGeom prst="rect">
            <a:avLst/>
          </a:prstGeom>
          <a:solidFill>
            <a:srgbClr val="F3ECE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2312966" name="Shape 9"/>
          <p:cNvSpPr/>
          <p:nvPr/>
        </p:nvSpPr>
        <p:spPr bwMode="auto">
          <a:xfrm>
            <a:off x="9892440" y="4276080"/>
            <a:ext cx="1618560" cy="1618560"/>
          </a:xfrm>
          <a:prstGeom prst="rect">
            <a:avLst/>
          </a:prstGeom>
          <a:solidFill>
            <a:srgbClr val="F3EC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2395825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9987480" y="4371480"/>
            <a:ext cx="1428120" cy="142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484641" name="Text 10"/>
          <p:cNvSpPr/>
          <p:nvPr/>
        </p:nvSpPr>
        <p:spPr bwMode="auto">
          <a:xfrm>
            <a:off x="11778120" y="4357080"/>
            <a:ext cx="5625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QR</a:t>
            </a: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コードでアクセス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148866" name="Text 11"/>
          <p:cNvSpPr/>
          <p:nvPr/>
        </p:nvSpPr>
        <p:spPr bwMode="auto">
          <a:xfrm>
            <a:off x="11778120" y="4747680"/>
            <a:ext cx="56250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50" b="0" u="none" strike="noStrike">
                <a:solidFill>
                  <a:srgbClr val="F3ECE0"/>
                </a:solidFill>
                <a:latin typeface="Courier New"/>
                <a:ea typeface="Courier New"/>
              </a:rPr>
              <a:t>mitsue.it</a:t>
            </a:r>
            <a:endParaRPr lang="en-US" sz="225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47613" name="Text 12"/>
          <p:cNvSpPr/>
          <p:nvPr/>
        </p:nvSpPr>
        <p:spPr bwMode="auto">
          <a:xfrm>
            <a:off x="11778120" y="5138280"/>
            <a:ext cx="5625000" cy="4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0" u="none" strike="noStrike">
                <a:solidFill>
                  <a:srgbClr val="F3ECE0">
                    <a:alpha val="70000"/>
                  </a:srgbClr>
                </a:solidFill>
                <a:latin typeface="Courier New"/>
                <a:ea typeface="Courier New"/>
              </a:rPr>
              <a:t>codeberg.org / YR-Design / mitsue-ai-data-center</a:t>
            </a:r>
            <a:endParaRPr lang="en-US" sz="15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9078231" name="Text 13"/>
          <p:cNvSpPr/>
          <p:nvPr/>
        </p:nvSpPr>
        <p:spPr bwMode="auto">
          <a:xfrm>
            <a:off x="11778120" y="5595480"/>
            <a:ext cx="56250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0" u="none" strike="noStrike">
                <a:solidFill>
                  <a:srgbClr val="F3ECE0">
                    <a:alpha val="70000"/>
                  </a:srgbClr>
                </a:solidFill>
                <a:latin typeface="Courier New"/>
                <a:ea typeface="Courier New"/>
              </a:rPr>
              <a:t>info@mitsue.it</a:t>
            </a:r>
            <a:endParaRPr lang="en-US" sz="15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9284563" name="Shape 14"/>
          <p:cNvSpPr/>
          <p:nvPr/>
        </p:nvSpPr>
        <p:spPr bwMode="auto">
          <a:xfrm>
            <a:off x="9892440" y="6123960"/>
            <a:ext cx="7347240" cy="8640"/>
          </a:xfrm>
          <a:prstGeom prst="rect">
            <a:avLst/>
          </a:prstGeom>
          <a:solidFill>
            <a:srgbClr val="F3ECE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7405616" name="Text 15"/>
          <p:cNvSpPr/>
          <p:nvPr/>
        </p:nvSpPr>
        <p:spPr bwMode="auto">
          <a:xfrm>
            <a:off x="9892440" y="6305039"/>
            <a:ext cx="75675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145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プロジェクトリード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7828907" name="Text 16"/>
          <p:cNvSpPr/>
          <p:nvPr/>
        </p:nvSpPr>
        <p:spPr bwMode="auto">
          <a:xfrm>
            <a:off x="9892440" y="6695280"/>
            <a:ext cx="7567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overflow" horzOverflow="overflow" vert="horz" wrap="square" lIns="25560" tIns="25560" rIns="25560" bIns="25560" numCol="1" spcCol="0" rtlCol="0" fromWordArt="0" anchor="t" anchorCtr="0" forceAA="0" upright="0" compatLnSpc="0">
            <a:normAutofit fontScale="90000" lnSpcReduction="2000"/>
          </a:bodyPr>
          <a:p>
            <a:pPr defTabSz="914400"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3000" b="1" u="none" strike="noStrike" spc="-14">
                <a:solidFill>
                  <a:srgbClr val="F3ECE0"/>
                </a:solidFill>
                <a:latin typeface="Arial"/>
                <a:ea typeface="Arial"/>
                <a:cs typeface="Arial"/>
              </a:rPr>
              <a:t>Rob Oudendijk</a:t>
            </a:r>
            <a:endParaRPr lang="en-US" sz="3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4991249" name="Text 17"/>
          <p:cNvSpPr/>
          <p:nvPr/>
        </p:nvSpPr>
        <p:spPr bwMode="auto">
          <a:xfrm>
            <a:off x="9892440" y="7114680"/>
            <a:ext cx="60091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65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YR-Design · Safecast · </a:t>
            </a:r>
            <a:r>
              <a:rPr lang="zh-CN" sz="1800" b="0" u="none" strike="noStrike">
                <a:solidFill>
                  <a:srgbClr val="F3ECE0">
                    <a:alpha val="80000"/>
                  </a:srgbClr>
                </a:solidFill>
                <a:latin typeface="Noto Sans JP"/>
                <a:ea typeface="Noto Sans JP"/>
              </a:rPr>
              <a:t>奈良県御杖村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651937" name="Text 18"/>
          <p:cNvSpPr/>
          <p:nvPr/>
        </p:nvSpPr>
        <p:spPr bwMode="auto">
          <a:xfrm>
            <a:off x="1047600" y="9191520"/>
            <a:ext cx="14148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12 / 12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194271" name="Text 19"/>
          <p:cNvSpPr/>
          <p:nvPr/>
        </p:nvSpPr>
        <p:spPr bwMode="auto">
          <a:xfrm>
            <a:off x="13171320" y="9191520"/>
            <a:ext cx="419004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zh-CN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ありがとうございました </a:t>
            </a:r>
            <a:r>
              <a:rPr lang="en-US" sz="1800" b="0" u="none" strike="noStrike" spc="71">
                <a:solidFill>
                  <a:srgbClr val="F3ECE0">
                    <a:alpha val="67000"/>
                  </a:srgbClr>
                </a:solidFill>
                <a:latin typeface="Noto Sans JP"/>
                <a:ea typeface="Noto Sans JP"/>
              </a:rPr>
              <a:t>· Thank you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dc:language>en-US</dc:language>
  <cp:lastModifiedBy/>
  <cp:revision>9</cp:revision>
  <dcterms:created xsi:type="dcterms:W3CDTF">2026-05-28T12:44:57Z</dcterms:created>
  <dcterms:modified xsi:type="dcterms:W3CDTF">2026-06-17T21:07:24Z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12</vt:i4>
  </property>
  <property fmtid="{D5CDD505-2E9C-101B-9397-08002B2CF9AE}" pid="4" name="PresentationFormat">
    <vt:lpwstr>On-screen Show (4:3)</vt:lpwstr>
  </property>
  <property fmtid="{D5CDD505-2E9C-101B-9397-08002B2CF9AE}" pid="5" name="Slides">
    <vt:i4>12</vt:i4>
  </property>
</Properties>
</file>