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B82F3D-5FBE-4BBF-9964-B4BBF36A3A7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本日はお時間をいただき、ありがとうございます。御杖プロジェクト——日本の山あいで進める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年計画について、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分ほどでご説明します。要約はこのスライドの通りです——森林再生、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電力、そして地域所有の小さなデータセンター。すべて奈良県の一つの山村に集約されます。一見無関係な三つの取り組みですが、実は深く結びついています。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C23732-BBE2-4060-AA30-A73D72C8AB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御杖村は奈良県の山あいに位置します。人口は減少し、小学校は閉校。村を取り囲む杉の人工林は老齢化し、電力網も脆弱です。御杖に固有の問題ではなく、それこそが要点です。ここで機能する仕組みは、同じ課題を抱える千の村でも機能するはずです。現在は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段階——設立準備期。プレスもサイト発表会もありません。信頼構築、定款の起草、創設チームの編成に集中しています。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7DC09A-9138-4014-BCF5-DF713B3054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四つの構造的圧力が、日本の農村に同時に押し寄せています。杉人工林は管理されず、花粉、生物多様性の喪失、土砂崩れの原因に。約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年で日本の乗用車の大半が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化しますが、農村の電力網は対応できていません。閉校した学校は人口減少自治体の維持費負担。さらに、農村のブロードバンドとエッジ計算は都市に遅れています。個別には高コストですが、御杖の論点は——一緒に解決する方が安いということで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D5F79B-D258-4E2E-9B72-4221E41AD1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そこで、一つの主体のもとに三つの活動を統合します。森林再生。分散型再生可能エネルギーと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充電。地域所有の小さなデータセンター。地域の太陽光がデータセンターと自動車に電力を供給。データセンターは閉校校舎を村の生活に戻します。これらは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年間の方法・財務・成果を一つの台帳に記録し、公開します。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E1F980-9D80-40CF-B2A5-7CDA9227A9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森林について——老齢化した杉人工林を、在来広葉樹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ナラ、クリ、コナラ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に段階的に置き換えます。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は生態系の時計であって、資金繰りの周期ではありません。地域への恩恵は具体的です——花粉が減り、土砂崩れリスクが下がり、再び森らしい森が戻ります。どんぐりが実れば、クマ、イノシシ、シカは森で冬を越し、村の畑には来なくなります。誰もまだ大規模に試していない、最も安価な野生動物管理策と言え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E7215F-C69D-4CEE-B7E0-E29F90ED28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統合された一つの電力システム。民間所有の太陽光が共通バスに接続、共同バッテリーで夜間をカバー、電力網はバックアップに。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充電器は送電線延伸を待たず、地域発電と直結。そして村が最も気にする部分——データセンターの現地発電が、停電時にも学校・診療所・緊急設備の電源を維持します。配電線の老朽化で停電リスクは増しています。レジリエンスは後付けではなく、最初から組み込み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D758FF-CB2D-46C0-8949-2CD77B4024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閉校した御杖小学校の校舎を、エネルギー効率の高い小規模エッジ計算施設として再利用。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100%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地域の再生可能エネルギーで稼働。説明責任を果たせる規模——ハイパースケールではありません。村が所有し、監査でき、何をしているかを説明できる規模。サーバーの排熱は温室や公共施設の暖房に再利用。御杖でうまくいけば、設計図を公開し、次の村が複製できるようにし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DD16AE-2329-4695-8B3A-A1CFE0E510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ここを覚えていただきたいです。恩恵は、データセンターが商業的に成功するかどうかに依存しません。森林再生は変わらず進みます。野生動物による農地被害は減ります。校舎は維持費を食うだけの存在ではなくなります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充電は車が必要になる前に整備されます。停電耐性は恒久的なインフラ改善になります。地域がアップサイドを保ち、私たちはすべてを記録し、他の村は教科書を無料で得られます。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B90024-706F-48EA-A5A1-682B351404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現状、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月。第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段階、意図的に静かに進めています。御杖村副村長との初回面談、地元林業組合との初回面談は完了。定款と実行計画は起草済み。段階と資金ゲートの図表も公開済み。アドバイザーとして二名が確定——伊藤穰一氏とレイ・オジー氏。次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日——日本人共同創設者へのアプローチ、村長との面談、奈良の行政書士への相談、二言語版定款の最終化です。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F94F78-6246-4EBE-9FB8-C992199260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五段階、四つの明確な資金ゲート。ゲートを通過できなければ保留し、再提案——資源不足のまま次段階に加速はしません。資金スタックは意図的に五層構造で、単一の資金源で初期に止まらない設計です。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年目までの目標額はおよそ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3400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万円。これらは計画上の目標であり、確約ではありません。ゲートの目的は——支えられない段階に村を賭けないことです。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8088CC-BA66-4DA4-87F3-F3D6E3B573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皆さまにお願いしたいこと——四半期ではなく十年単位で考える、忍耐強い資本。農村に信頼のある日本人共同創設者のご紹介。林業、エッジ計算、日本の非営利法のアドバイザー。そして率直なご批判——論点のどこが間違っているか教えてください。文書はすべて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Codeberg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にオープンライセンスで公開。プロジェクトのサイトは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mitsue.it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。ご清聴ありがとうございました——ご質問をお受けします。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56AF07-811A-4138-A28A-0953879757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1047600" y="762120"/>
            <a:ext cx="532800" cy="53280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155600" y="834120"/>
            <a:ext cx="6087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714680" y="8618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3438080" y="762120"/>
            <a:ext cx="3915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 </a:t>
            </a: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設立準備期 </a:t>
            </a: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2026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年</a:t>
            </a: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5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047600" y="1866960"/>
            <a:ext cx="8829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25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年計画 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A 25-Year initiative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047600" y="2467080"/>
            <a:ext cx="8829000" cy="45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8100" b="1" u="none" spc="-40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山あい</a:t>
            </a:r>
            <a:r>
              <a:rPr lang="zh-CN" sz="8100" b="1" u="none" spc="-40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の 小さ</a:t>
            </a:r>
            <a:r>
              <a:rPr lang="zh-CN" sz="8100" b="1" u="none" spc="-40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な村の</a:t>
            </a:r>
            <a:r>
              <a:rPr lang="zh-CN" sz="8100" b="1" u="none" spc="-40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ため</a:t>
            </a:r>
            <a:r>
              <a:rPr lang="zh-CN" sz="8100" b="1" u="none" spc="-40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の、 </a:t>
            </a:r>
            <a:r>
              <a:rPr lang="zh-CN" sz="8100" b="1" u="none" spc="-40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さ</a:t>
            </a:r>
            <a:r>
              <a:rPr lang="zh-CN" sz="8100" b="1" u="none" spc="-40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さやか</a:t>
            </a:r>
            <a:r>
              <a:rPr lang="zh-CN" sz="8100" b="1" u="none" spc="-40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な計</a:t>
            </a:r>
            <a:r>
              <a:rPr lang="zh-CN" sz="8100" b="1" u="none" spc="-40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画。</a:t>
            </a:r>
            <a:endParaRPr lang="en-US" sz="8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047600" y="7336080"/>
            <a:ext cx="48967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4C554F"/>
                </a:solidFill>
                <a:effectLst/>
                <a:uFillTx/>
                <a:latin typeface="Noto Serif JP"/>
                <a:ea typeface="Noto Serif JP"/>
              </a:rPr>
              <a:t>奈良県御杖村 森林再生・分散型エネルギー・地域所有のデータ</a:t>
            </a:r>
            <a:r>
              <a:rPr lang="zh-CN" sz="2100" b="0" u="none" strike="noStrike">
                <a:solidFill>
                  <a:srgbClr val="4C554F"/>
                </a:solidFill>
                <a:effectLst/>
                <a:uFillTx/>
                <a:latin typeface="Noto Serif JP"/>
                <a:ea typeface="Noto Serif JP"/>
              </a:rPr>
              <a:t>センター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10382400" y="1866960"/>
            <a:ext cx="6857280" cy="609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01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5267960" y="9191520"/>
            <a:ext cx="2048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森林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EV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電力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AI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1107000" y="78804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§ 01 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舞台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047600" y="160020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御杖村 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奈良県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1047600" y="2104920"/>
            <a:ext cx="7945920" cy="44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zh-CN" sz="585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閉校した学校がひとつ。 </a:t>
            </a:r>
            <a:r>
              <a:rPr lang="zh-CN" sz="585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疲れた森林</a:t>
            </a:r>
            <a:r>
              <a:rPr lang="zh-CN" sz="585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がひとつ。 </a:t>
            </a:r>
            <a:r>
              <a:rPr lang="zh-CN" sz="585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短いアイデアのリストが</a:t>
            </a:r>
            <a:r>
              <a:rPr lang="zh-CN" sz="585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ひとつ。</a:t>
            </a:r>
            <a:endParaRPr lang="en-US" sz="5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1047600" y="619920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御杖は奈良県の山あいの村。小学校は閉校し、周辺の杉人工林は老齢化して管理されていません。電力網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も脆弱です。日本の農村ではよくあること——それこそが要点です。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1047600" y="8226000"/>
            <a:ext cx="7009560" cy="91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ここで小規模かつ丁寧な介入が機能すれば、同じ課題を抱える千の村にコピーでき</a:t>
            </a:r>
            <a:r>
              <a:rPr lang="zh-CN" sz="21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るはずです。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9524880" y="1600200"/>
            <a:ext cx="7714440" cy="457884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9839160" y="1914480"/>
            <a:ext cx="7298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座標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9839160" y="2381400"/>
            <a:ext cx="729864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800" b="0" u="none" spc="-23" strike="noStrike">
                <a:solidFill>
                  <a:srgbClr val="1F2A24"/>
                </a:solidFill>
                <a:effectLst/>
                <a:uFillTx/>
                <a:latin typeface="Georgia"/>
                <a:ea typeface="Georgia"/>
              </a:rPr>
              <a:t>34.4194° N 136.0511° 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9839160" y="3890160"/>
            <a:ext cx="708588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983916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人口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983916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150" b="0" u="none" spc="-17" strike="noStrike">
                <a:solidFill>
                  <a:srgbClr val="1F2A24"/>
                </a:solidFill>
                <a:effectLst/>
                <a:uFillTx/>
                <a:latin typeface="Georgia"/>
                <a:ea typeface="Georgia"/>
              </a:rPr>
              <a:t>≈ 1,400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1347804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閉校年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1347804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150" b="0" u="none" spc="-17" strike="noStrike">
                <a:solidFill>
                  <a:srgbClr val="1F2A24"/>
                </a:solidFill>
                <a:effectLst/>
                <a:uFillTx/>
                <a:latin typeface="Georgia"/>
                <a:ea typeface="Georgia"/>
              </a:rPr>
              <a:t>2020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983916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森林率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983916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150" b="0" u="none" spc="-17" strike="noStrike">
                <a:solidFill>
                  <a:srgbClr val="1F2A24"/>
                </a:solidFill>
                <a:effectLst/>
                <a:uFillTx/>
                <a:latin typeface="Georgia"/>
                <a:ea typeface="Georgia"/>
              </a:rPr>
              <a:t>≈ 93%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1347804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計画期間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1347804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1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25</a:t>
            </a:r>
            <a:r>
              <a:rPr lang="zh-CN" sz="31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年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9524880" y="631332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農村再生、ただし静かに。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1105200" y="923004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02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16277040" y="9230040"/>
            <a:ext cx="1096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mitsue.it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1107000" y="78804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13480200" y="762120"/>
            <a:ext cx="38721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§ 02 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四つの圧力、ひと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つの解答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1047600" y="1619280"/>
            <a:ext cx="10343880" cy="17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57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別々だと高くつく問題</a:t>
            </a:r>
            <a:r>
              <a:rPr lang="zh-CN" sz="57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が、 </a:t>
            </a:r>
            <a:r>
              <a:rPr lang="zh-CN" sz="570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一緒に取り組むと</a:t>
            </a:r>
            <a:r>
              <a:rPr lang="zh-CN" sz="570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安くなる。</a:t>
            </a:r>
            <a:endParaRPr lang="en-US" sz="5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1047600" y="3489840"/>
            <a:ext cx="16677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0" u="none" strike="noStrike">
                <a:solidFill>
                  <a:srgbClr val="4C554F"/>
                </a:solidFill>
                <a:effectLst/>
                <a:uFillTx/>
                <a:latin typeface="Noto Serif JP"/>
                <a:ea typeface="Noto Serif JP"/>
              </a:rPr>
              <a:t>四つの構造</a:t>
            </a:r>
            <a:r>
              <a:rPr lang="zh-CN" sz="1950" b="0" u="none" strike="noStrike">
                <a:solidFill>
                  <a:srgbClr val="4C554F"/>
                </a:solidFill>
                <a:effectLst/>
                <a:uFillTx/>
                <a:latin typeface="Noto Serif JP"/>
                <a:ea typeface="Noto Serif JP"/>
              </a:rPr>
              <a:t>的圧力、ひ</a:t>
            </a:r>
            <a:r>
              <a:rPr lang="zh-CN" sz="1950" b="0" u="none" strike="noStrike">
                <a:solidFill>
                  <a:srgbClr val="4C554F"/>
                </a:solidFill>
                <a:effectLst/>
                <a:uFillTx/>
                <a:latin typeface="Noto Serif JP"/>
                <a:ea typeface="Noto Serif JP"/>
              </a:rPr>
              <a:t>とつの農村</a:t>
            </a:r>
            <a:r>
              <a:rPr lang="zh-CN" sz="1950" b="0" u="none" strike="noStrike">
                <a:solidFill>
                  <a:srgbClr val="4C554F"/>
                </a:solidFill>
                <a:effectLst/>
                <a:uFillTx/>
                <a:latin typeface="Noto Serif JP"/>
                <a:ea typeface="Noto Serif JP"/>
              </a:rPr>
              <a:t>型解答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10476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10476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01 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エネルギー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10476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8"/>
          <p:cNvSpPr/>
          <p:nvPr/>
        </p:nvSpPr>
        <p:spPr>
          <a:xfrm>
            <a:off x="104760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40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EV</a:t>
            </a:r>
            <a:r>
              <a:rPr lang="zh-CN" sz="240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時代が来る。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1047600" y="7080840"/>
            <a:ext cx="3948120" cy="14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約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10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年で日本の乗用車の大半が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に。農村の電力網には新たな分散電源が必要。送電線の延伸は遅く、高コストです。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516744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16744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02 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森林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1" descr="preencoded.png"/>
          <p:cNvPicPr/>
          <p:nvPr/>
        </p:nvPicPr>
        <p:blipFill>
          <a:blip r:embed="rId2"/>
          <a:stretch/>
        </p:blipFill>
        <p:spPr>
          <a:xfrm>
            <a:off x="516744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2"/>
          <p:cNvSpPr/>
          <p:nvPr/>
        </p:nvSpPr>
        <p:spPr>
          <a:xfrm>
            <a:off x="516744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40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杉は負債である。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5167440" y="7080840"/>
            <a:ext cx="3948120" cy="14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老齢化した杉人工林——花粉、生物多様性の喪失、土砂崩れリスク。在来広葉樹への置き換えで、負債は生きた森に変わります。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4"/>
          <p:cNvSpPr/>
          <p:nvPr/>
        </p:nvSpPr>
        <p:spPr>
          <a:xfrm>
            <a:off x="928692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928692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03 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遊休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2" descr="preencoded.png"/>
          <p:cNvPicPr/>
          <p:nvPr/>
        </p:nvPicPr>
        <p:blipFill>
          <a:blip r:embed="rId3"/>
          <a:stretch/>
        </p:blipFill>
        <p:spPr>
          <a:xfrm>
            <a:off x="928692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6"/>
          <p:cNvSpPr/>
          <p:nvPr/>
        </p:nvSpPr>
        <p:spPr>
          <a:xfrm>
            <a:off x="9286920" y="6375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40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学校はただ放置されている。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9286920" y="7461720"/>
            <a:ext cx="394812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閉校した学校は人口減少自治体の維持費負担。生産的な再利用で、地域の拠点に変わります。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134064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134064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04 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デジタル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3" descr="preencoded.png"/>
          <p:cNvPicPr/>
          <p:nvPr/>
        </p:nvPicPr>
        <p:blipFill>
          <a:blip r:embed="rId4"/>
          <a:stretch/>
        </p:blipFill>
        <p:spPr>
          <a:xfrm>
            <a:off x="134064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0"/>
          <p:cNvSpPr/>
          <p:nvPr/>
        </p:nvSpPr>
        <p:spPr>
          <a:xfrm>
            <a:off x="13406400" y="6375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40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農村の計算資源は不足している。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13406400" y="7461720"/>
            <a:ext cx="3948120" cy="14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ブロードバンドとエッジ計算は都市に遅れる。小さなデータセンターが、地域電源で両方を一気に補います。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03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13656960" y="9191520"/>
            <a:ext cx="3690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別々だと高い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まとめれば解ける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4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1119600" y="806400"/>
            <a:ext cx="5328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2F4A37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§ 03 · </a:t>
            </a:r>
            <a:r>
              <a:rPr lang="zh-CN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構想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1047600" y="1383120"/>
            <a:ext cx="16677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三つの活動 </a:t>
            </a:r>
            <a:r>
              <a:rPr lang="en-US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ひとつの主体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1047600" y="2021040"/>
            <a:ext cx="155131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CN" sz="11400" b="1" u="none" spc="-57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森林。電力。 計算。</a:t>
            </a:r>
            <a:r>
              <a:rPr lang="zh-CN" sz="11400" b="1" u="none" spc="-57" strike="noStrike">
                <a:solidFill>
                  <a:srgbClr val="F3B486"/>
                </a:solidFill>
                <a:effectLst/>
                <a:uFillTx/>
                <a:latin typeface="Noto Serif JP"/>
                <a:ea typeface="Noto Serif JP"/>
              </a:rPr>
              <a:t>一つの台帳で。</a:t>
            </a:r>
            <a:endParaRPr lang="en-US" sz="1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047600" y="5461560"/>
            <a:ext cx="16677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effectLst/>
                <a:uFillTx/>
                <a:latin typeface="Noto Serif JP"/>
                <a:ea typeface="Noto Serif JP"/>
              </a:rPr>
              <a:t>森林再生・分散型再生可能エネルギー・地域所有のデータセンター — 一つの台帳で。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1047600" y="657612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1047600" y="698580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3900" b="1" u="none" spc="-20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森林再生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1047600" y="768852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老齢杉 → 在来広葉樹、生態系の時計に合わせて。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6635880" y="657612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II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6635880" y="698580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3900" b="1" u="none" spc="-20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地域電源 </a:t>
            </a:r>
            <a:r>
              <a:rPr lang="en-US" sz="3900" b="1" u="none" spc="-20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+ EV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6635880" y="768852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太陽光 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+ 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蓄電池 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+ 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充電器を一つのバスに。停電耐性を内蔵。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12223800" y="657612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III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12223800" y="6985800"/>
            <a:ext cx="516636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3900" b="1" u="none" spc="-20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エッジ・データセンター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12223800" y="8258040"/>
            <a:ext cx="51663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閉校校舎を再利用。村が所有できる規模で。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04 / 11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12013200" y="9191520"/>
            <a:ext cx="5383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互いに支え合う。規模は控えめ、時間軸は長く。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1105200" y="82404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15925680" y="762120"/>
            <a:ext cx="1389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I 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森林再生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047600" y="1695600"/>
            <a:ext cx="8324280" cy="24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54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森でクマにご飯を出し、 </a:t>
            </a:r>
            <a:r>
              <a:rPr lang="zh-CN" sz="540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村への訪問を止めてもらう。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1047600" y="429480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老齢化した杉人工林を、在来広葉樹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(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ナラ、クリ、コナラ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)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に段階的に置き換えます。地主と林野庁との協働。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25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年という時間軸は、生態系の時計であって資金繰りの周期ではありません。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47600" y="632160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広葉樹はどんぐりや木の実を生み、シカ、イノシシ、クマの冬の食料となります。森が彼らを養えば、彼らは森に留まり、村の畑には来ません。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1047600" y="790848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1047600" y="807048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花粉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1047600" y="840384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4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3837240" y="807048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土砂崩れリスク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3837240" y="840384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4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6626520" y="807048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在来林冠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6626520" y="840384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4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↑ 増加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9892440" y="1695600"/>
            <a:ext cx="7347240" cy="363312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10168560" y="197172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変更前 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杉人工林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10168560" y="247644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16"/>
          <p:cNvSpPr/>
          <p:nvPr/>
        </p:nvSpPr>
        <p:spPr>
          <a:xfrm>
            <a:off x="10168560" y="404820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単一栽培。花粉。静かな地表。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9892440" y="5557680"/>
            <a:ext cx="7347240" cy="363312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10168560" y="583416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変更後 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在来広葉樹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1" descr="preencoded.png"/>
          <p:cNvPicPr/>
          <p:nvPr/>
        </p:nvPicPr>
        <p:blipFill>
          <a:blip r:embed="rId2"/>
          <a:stretch/>
        </p:blipFill>
        <p:spPr>
          <a:xfrm>
            <a:off x="10168560" y="633888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9"/>
          <p:cNvSpPr/>
          <p:nvPr/>
        </p:nvSpPr>
        <p:spPr>
          <a:xfrm>
            <a:off x="10168560" y="791064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混交林。どんぐり。シカは森で食べ、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大根は無事。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05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13005720" y="9191520"/>
            <a:ext cx="4361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杉 → 広葉樹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25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年周期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生態系の均衡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1141200" y="82404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15309360" y="762120"/>
            <a:ext cx="2006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II 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地域電源と</a:t>
            </a: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EV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047600" y="1695600"/>
            <a:ext cx="10614960" cy="25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54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地域の太陽。地域の充電器。 </a:t>
            </a:r>
            <a:r>
              <a:rPr lang="zh-CN" sz="540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電力網が瞬いても </a:t>
            </a:r>
            <a:r>
              <a:rPr lang="zh-CN" sz="54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、明かりは消えない。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1047600" y="4602600"/>
            <a:ext cx="1127628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民間所有の太陽光が共通バスに接続。夜間は共同バッテリー、電力網はバックアップに。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EV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充電器は送電線延伸を待たず、地域発電と直結。データセンターの現地発電が、停電時にも学校・診療所・緊急設備の電源を維持します——老朽化した配電線で停電リスクは増しています。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975240" y="6172200"/>
            <a:ext cx="16191720" cy="27903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preencoded.png"/>
          <p:cNvPicPr/>
          <p:nvPr/>
        </p:nvPicPr>
        <p:blipFill>
          <a:blip r:embed="rId1"/>
          <a:stretch/>
        </p:blipFill>
        <p:spPr>
          <a:xfrm>
            <a:off x="-2514600" y="6172200"/>
            <a:ext cx="24460200" cy="266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7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06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13569120" y="9191520"/>
            <a:ext cx="3780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太陽光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蓄電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EV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充電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停電耐性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1119600" y="798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14553000" y="762120"/>
            <a:ext cx="2766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III 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地域データセンター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914400" y="1695600"/>
            <a:ext cx="8403120" cy="16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54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小学校に通う </a:t>
            </a:r>
            <a:r>
              <a:rPr lang="zh-CN" sz="540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データセンター。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1047600" y="284112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閉校した御杖小学校の校舎を、エネルギー効率の高い小規模エッジ計算施設として再利用。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100%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地域の再生可能エネルギーで稼働します。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1047600" y="4428000"/>
            <a:ext cx="7009560" cy="22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ハイパースケールではなく、説明責任を果たせる規模に。村が所有し、監査し、何をしているかを説明できる規模。排熱は温室や公共施設の暖房に再利用。設計図はオープンライセンスで公開し、他の人口減少自治体でも複製できるようにしま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1047600" y="6665760"/>
            <a:ext cx="771444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1047600" y="685800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規模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1047600" y="719136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31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エッジ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3695760" y="685800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電源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3695760" y="719136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1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100%</a:t>
            </a:r>
            <a:r>
              <a:rPr lang="zh-CN" sz="31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地域産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6343560" y="685800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所有者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343560" y="719136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315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村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9524880" y="1695600"/>
            <a:ext cx="7714440" cy="6590160"/>
          </a:xfrm>
          <a:prstGeom prst="rect">
            <a:avLst/>
          </a:prstGeom>
          <a:solidFill>
            <a:srgbClr val="2F4A37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10010880" y="2181240"/>
            <a:ext cx="6945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教室から計算機へ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0" descr="preencoded.png"/>
          <p:cNvPicPr/>
          <p:nvPr/>
        </p:nvPicPr>
        <p:blipFill>
          <a:blip r:embed="rId1"/>
          <a:stretch/>
        </p:blipFill>
        <p:spPr>
          <a:xfrm>
            <a:off x="10010880" y="2743200"/>
            <a:ext cx="6743160" cy="50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6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07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11237760" y="9191520"/>
            <a:ext cx="6181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エッジ計算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排熱再利用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複製可能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進歩と持続可能性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4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1119600" y="798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2F4A37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14319360" y="762120"/>
            <a:ext cx="3007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§ 07 · </a:t>
            </a:r>
            <a:r>
              <a:rPr lang="zh-CN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恩恵 — 地域と環境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1047600" y="1695600"/>
            <a:ext cx="12521880" cy="31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zh-CN" sz="6900" b="1" u="none" spc="-34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成功は、データセンターが </a:t>
            </a:r>
            <a:r>
              <a:rPr lang="zh-CN" sz="6900" b="1" u="none" spc="-34" strike="noStrike">
                <a:solidFill>
                  <a:srgbClr val="F3B486"/>
                </a:solidFill>
                <a:effectLst/>
                <a:uFillTx/>
                <a:latin typeface="Noto Serif JP"/>
                <a:ea typeface="Noto Serif JP"/>
              </a:rPr>
              <a:t>商業的にヒットすることに依存しない。</a:t>
            </a:r>
            <a:endParaRPr lang="en-US" sz="6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1047600" y="5197680"/>
            <a:ext cx="1219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F3ECE0">
                    <a:alpha val="85000"/>
                  </a:srgbClr>
                </a:solidFill>
                <a:effectLst/>
                <a:uFillTx/>
                <a:latin typeface="Noto Sans JP"/>
                <a:ea typeface="Noto Sans JP"/>
              </a:rPr>
              <a:t>大半の恩恵は、計算事業の黒字化に関わらず、村にもたらされます。それが設計思想です。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104760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1047600" y="6266520"/>
            <a:ext cx="5297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地域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88776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通年の有給林業業務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住民・来訪者向け</a:t>
            </a: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充電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学校の維持費の出血が止まる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停電に強い診療所と通信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控えめで、説明責任があり、村が所有する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657216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6572160" y="6266520"/>
            <a:ext cx="5297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環境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641232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在来広葉樹が大規模に戻る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杉花粉の負担が軽減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野生動物による農地被害の減少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土砂崩れリスクが時間とともに減少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100%</a:t>
            </a:r>
            <a:r>
              <a:rPr lang="zh-CN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地域産再生可能エネルギー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1209672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12096720" y="6266520"/>
            <a:ext cx="5297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御杖の先へ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1193688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方法とデータをオープン公開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複製可能な農村テンプレート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CC-BY</a:t>
            </a:r>
            <a:r>
              <a:rPr lang="zh-CN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文書、オープンライセンス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コピーされる設計、フランチャイズではない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小規模核融合時代への橋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08 / 11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13398480" y="9191520"/>
            <a:ext cx="3956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地域第一 </a:t>
            </a:r>
            <a:r>
              <a:rPr lang="en-US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開放と透明 </a:t>
            </a:r>
            <a:r>
              <a:rPr lang="en-US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1107000" y="78804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4443920" y="762120"/>
            <a:ext cx="2879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§ 08 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現状 </a:t>
            </a: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2026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年</a:t>
            </a: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5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1047600" y="16574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 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設立準備期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1047600" y="2124000"/>
            <a:ext cx="8324280" cy="35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57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意図的に静かに。 </a:t>
            </a:r>
            <a:r>
              <a:rPr lang="zh-CN" sz="5700" b="1" u="none" spc="-28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プレスも、 </a:t>
            </a:r>
            <a:r>
              <a:rPr lang="zh-CN" sz="5700" b="1" u="none" spc="-28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サイト発表会もなし、 創業者パーカーもなし。</a:t>
            </a:r>
            <a:endParaRPr lang="en-US" sz="5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1047600" y="5865480"/>
            <a:ext cx="731412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0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段階は、地域での信頼構築、創設チーム編成、定款の清書。自己資金、</a:t>
            </a:r>
            <a:r>
              <a:rPr lang="en-US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¥0–0.5M</a:t>
            </a:r>
            <a:r>
              <a:rPr lang="zh-CN" sz="21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。今の重要な仕事は、発表ではなく面談です。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1047600" y="747144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1047600" y="769032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アドバイザー就任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1047600" y="8195400"/>
            <a:ext cx="16581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330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伊藤穰一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1047600" y="8656200"/>
            <a:ext cx="16581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62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元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MIT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メディアラボ所長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2869200" y="8195400"/>
            <a:ext cx="284580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330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レイ・オジー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2869200" y="8656200"/>
            <a:ext cx="284580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62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ソフトウェアの先駆者 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元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Microsoft CSA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9892440" y="1657440"/>
            <a:ext cx="7347240" cy="26283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10187640" y="18954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2F4A37"/>
                </a:solidFill>
                <a:effectLst/>
                <a:uFillTx/>
                <a:latin typeface="Noto Sans JP"/>
                <a:ea typeface="Noto Sans JP"/>
              </a:rPr>
              <a:t>✓ 完了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10237320" y="2343240"/>
            <a:ext cx="6783480" cy="17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御杖村副村長との初回面談</a:t>
            </a: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(2025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年後半</a:t>
            </a: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地元林業組合との初回面談</a:t>
            </a: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(2026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年初頭</a:t>
            </a: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創設定款と実行計画を起草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段階・資金ゲート図表を公開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アドバイザー就任</a:t>
            </a: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: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伊藤穰一、レイ・オジー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9892440" y="449568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10187640" y="47340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C4663A"/>
                </a:solidFill>
                <a:effectLst/>
                <a:uFillTx/>
                <a:latin typeface="Noto Sans JP"/>
                <a:ea typeface="Noto Sans JP"/>
              </a:rPr>
              <a:t>→ 進行中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10237320" y="518148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農村に信頼のある日本人共同創設者の特定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村長との正式面談の調整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一般社団法人の細則起草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奈良の行政書士への依頼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9892440" y="682776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10187640" y="706572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◌ 次の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30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10237320" y="751356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日本人共同創設者候補へのアプローチ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村長との非公式面談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行政書士への初期相談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 charset="2"/>
              <a:buChar char=""/>
              <a:tabLst>
                <a:tab pos="16020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二言語</a:t>
            </a: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2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ページの定款を最終化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1075320" y="923004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09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13731480" y="9230040"/>
            <a:ext cx="3641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0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1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〜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3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ヶ月目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自己資金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1"/>
          <p:cNvSpPr/>
          <p:nvPr/>
        </p:nvSpPr>
        <p:spPr>
          <a:xfrm>
            <a:off x="6069600" y="8229600"/>
            <a:ext cx="284580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zh-CN" sz="3300" b="1" u="none" spc="-17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堂目卓生</a:t>
            </a:r>
            <a:endParaRPr lang="en-US" sz="33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6"/>
          <p:cNvSpPr/>
          <p:nvPr/>
        </p:nvSpPr>
        <p:spPr>
          <a:xfrm>
            <a:off x="6069600" y="8690400"/>
            <a:ext cx="353160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6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「大阪大学名誉教授・いのち会議代表理事」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1119600" y="798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15175800" y="762120"/>
            <a:ext cx="2139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§ 09 · </a:t>
            </a:r>
            <a:r>
              <a:rPr lang="zh-CN" sz="1800" b="0" u="none" spc="108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段階と関門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1047600" y="1371600"/>
            <a:ext cx="76201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4200" b="1" u="none" spc="-20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五段階。 四つの</a:t>
            </a:r>
            <a:r>
              <a:rPr lang="zh-CN" sz="4200" b="1" u="none" spc="-20" strike="noStrike">
                <a:solidFill>
                  <a:srgbClr val="C4663A"/>
                </a:solidFill>
                <a:effectLst/>
                <a:uFillTx/>
                <a:latin typeface="Noto Serif JP"/>
                <a:ea typeface="Noto Serif JP"/>
              </a:rPr>
              <a:t>本物の </a:t>
            </a:r>
            <a:r>
              <a:rPr lang="zh-CN" sz="4200" b="1" u="none" spc="-20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資金ゲート。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1047600" y="2975760"/>
            <a:ext cx="1045116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各ゲートはチェックポイント。通過できなければ保留し、再提案——資源不足のまま次へ加速はしません。資金スタックは意図的に五層構造で、単一の資金源で初期に止まらない設計です。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1047600" y="4073040"/>
            <a:ext cx="3131280" cy="1797480"/>
          </a:xfrm>
          <a:prstGeom prst="rect">
            <a:avLst/>
          </a:prstGeom>
          <a:solidFill>
            <a:srgbClr val="C4663A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1209600" y="4234680"/>
            <a:ext cx="2891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80000"/>
                  </a:srgbClr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145" strike="noStrike">
                <a:solidFill>
                  <a:srgbClr val="F3ECE0">
                    <a:alpha val="80000"/>
                  </a:srgbClr>
                </a:solidFill>
                <a:effectLst/>
                <a:uFillTx/>
                <a:latin typeface="Noto Sans JP"/>
                <a:ea typeface="Noto Sans JP"/>
              </a:rPr>
              <a:t>0</a:t>
            </a:r>
            <a:r>
              <a:rPr lang="zh-CN" sz="1800" b="0" u="none" spc="145" strike="noStrike">
                <a:solidFill>
                  <a:srgbClr val="F3ECE0">
                    <a:alpha val="80000"/>
                  </a:srgbClr>
                </a:solidFill>
                <a:effectLst/>
                <a:uFillTx/>
                <a:latin typeface="Noto Sans JP"/>
                <a:ea typeface="Noto Sans JP"/>
              </a:rPr>
              <a:t>段階 </a:t>
            </a:r>
            <a:r>
              <a:rPr lang="en-US" sz="1800" b="0" u="none" spc="145" strike="noStrike">
                <a:solidFill>
                  <a:srgbClr val="F3ECE0">
                    <a:alpha val="80000"/>
                  </a:srgbClr>
                </a:solidFill>
                <a:effectLst/>
                <a:uFillTx/>
                <a:latin typeface="Noto Sans JP"/>
                <a:ea typeface="Noto Sans JP"/>
              </a:rPr>
              <a:t>· </a:t>
            </a:r>
            <a:r>
              <a:rPr lang="zh-CN" sz="1800" b="0" u="none" spc="145" strike="noStrike">
                <a:solidFill>
                  <a:srgbClr val="F3ECE0">
                    <a:alpha val="80000"/>
                  </a:srgbClr>
                </a:solidFill>
                <a:effectLst/>
                <a:uFillTx/>
                <a:latin typeface="Noto Sans JP"/>
                <a:ea typeface="Noto Sans JP"/>
              </a:rPr>
              <a:t>現在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1209600" y="4625280"/>
            <a:ext cx="2891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950" b="1" u="none" spc="-11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設立準備期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1209600" y="4955040"/>
            <a:ext cx="289152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effectLst/>
                <a:uFillTx/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effectLst/>
                <a:uFillTx/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effectLst/>
                <a:uFillTx/>
                <a:latin typeface="Noto Sans JP"/>
                <a:ea typeface="Noto Sans JP"/>
              </a:rPr>
              <a:t>3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effectLst/>
                <a:uFillTx/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effectLst/>
                <a:uFillTx/>
                <a:latin typeface="Noto Sans JP"/>
                <a:ea typeface="Noto Sans JP"/>
              </a:rPr>
              <a:t>¥0–0.5M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43128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4474800" y="4234680"/>
            <a:ext cx="2891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1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4474800" y="4625280"/>
            <a:ext cx="2891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95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設立期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3"/>
          <p:cNvSpPr/>
          <p:nvPr/>
        </p:nvSpPr>
        <p:spPr>
          <a:xfrm>
            <a:off x="4474800" y="4955040"/>
            <a:ext cx="289152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4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9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¥3–8M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4"/>
          <p:cNvSpPr/>
          <p:nvPr/>
        </p:nvSpPr>
        <p:spPr>
          <a:xfrm>
            <a:off x="75780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5"/>
          <p:cNvSpPr/>
          <p:nvPr/>
        </p:nvSpPr>
        <p:spPr>
          <a:xfrm>
            <a:off x="7740000" y="4234680"/>
            <a:ext cx="2891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2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6"/>
          <p:cNvSpPr/>
          <p:nvPr/>
        </p:nvSpPr>
        <p:spPr>
          <a:xfrm>
            <a:off x="7740000" y="4625280"/>
            <a:ext cx="2891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95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試行設計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7"/>
          <p:cNvSpPr/>
          <p:nvPr/>
        </p:nvSpPr>
        <p:spPr>
          <a:xfrm>
            <a:off x="7740000" y="4955040"/>
            <a:ext cx="289152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10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18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¥15–30M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108432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11005200" y="4234680"/>
            <a:ext cx="2891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3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0"/>
          <p:cNvSpPr/>
          <p:nvPr/>
        </p:nvSpPr>
        <p:spPr>
          <a:xfrm>
            <a:off x="11005200" y="4625280"/>
            <a:ext cx="2891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95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試行構築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1"/>
          <p:cNvSpPr/>
          <p:nvPr/>
        </p:nvSpPr>
        <p:spPr>
          <a:xfrm>
            <a:off x="11005200" y="4955040"/>
            <a:ext cx="289152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19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30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¥80–200M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2"/>
          <p:cNvSpPr/>
          <p:nvPr/>
        </p:nvSpPr>
        <p:spPr>
          <a:xfrm>
            <a:off x="141084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3"/>
          <p:cNvSpPr/>
          <p:nvPr/>
        </p:nvSpPr>
        <p:spPr>
          <a:xfrm>
            <a:off x="14270400" y="4234680"/>
            <a:ext cx="2891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第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4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14270400" y="4625280"/>
            <a:ext cx="2891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950" b="1" u="none" spc="-11" strike="noStrike">
                <a:solidFill>
                  <a:srgbClr val="1F2A24"/>
                </a:solidFill>
                <a:effectLst/>
                <a:uFillTx/>
                <a:latin typeface="Noto Serif JP"/>
                <a:ea typeface="Noto Serif JP"/>
              </a:rPr>
              <a:t>運営・拡大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5"/>
          <p:cNvSpPr/>
          <p:nvPr/>
        </p:nvSpPr>
        <p:spPr>
          <a:xfrm>
            <a:off x="14270400" y="4955040"/>
            <a:ext cx="289152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31</a:t>
            </a:r>
            <a:r>
              <a:rPr lang="zh-CN" sz="1800" b="0" u="none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ヶ月〜 収益主導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6"/>
          <p:cNvSpPr/>
          <p:nvPr/>
        </p:nvSpPr>
        <p:spPr>
          <a:xfrm>
            <a:off x="42660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G1 · ¥3–8M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7"/>
          <p:cNvSpPr/>
          <p:nvPr/>
        </p:nvSpPr>
        <p:spPr>
          <a:xfrm>
            <a:off x="75312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G2 · ¥30–50M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8"/>
          <p:cNvSpPr/>
          <p:nvPr/>
        </p:nvSpPr>
        <p:spPr>
          <a:xfrm>
            <a:off x="107964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G3 · ¥80–200M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9"/>
          <p:cNvSpPr/>
          <p:nvPr/>
        </p:nvSpPr>
        <p:spPr>
          <a:xfrm>
            <a:off x="140616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G4 · 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収益化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0"/>
          <p:cNvSpPr/>
          <p:nvPr/>
        </p:nvSpPr>
        <p:spPr>
          <a:xfrm>
            <a:off x="1047600" y="6356880"/>
            <a:ext cx="94536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五層資金スタック 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· 3</a:t>
            </a: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年目目標 ≈ </a:t>
            </a:r>
            <a:r>
              <a:rPr lang="en-US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¥134M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1"/>
          <p:cNvSpPr/>
          <p:nvPr/>
        </p:nvSpPr>
        <p:spPr>
          <a:xfrm>
            <a:off x="1047600" y="7062840"/>
            <a:ext cx="9178200" cy="864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2"/>
          <p:cNvSpPr/>
          <p:nvPr/>
        </p:nvSpPr>
        <p:spPr>
          <a:xfrm>
            <a:off x="1123920" y="678564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3"/>
          <p:cNvSpPr/>
          <p:nvPr/>
        </p:nvSpPr>
        <p:spPr>
          <a:xfrm>
            <a:off x="2234880" y="6785640"/>
            <a:ext cx="41889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出所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4"/>
          <p:cNvSpPr/>
          <p:nvPr/>
        </p:nvSpPr>
        <p:spPr>
          <a:xfrm>
            <a:off x="637416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年目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5"/>
          <p:cNvSpPr/>
          <p:nvPr/>
        </p:nvSpPr>
        <p:spPr>
          <a:xfrm>
            <a:off x="830052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3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年目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6"/>
          <p:cNvSpPr/>
          <p:nvPr/>
        </p:nvSpPr>
        <p:spPr>
          <a:xfrm>
            <a:off x="1047600" y="73540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7"/>
          <p:cNvSpPr/>
          <p:nvPr/>
        </p:nvSpPr>
        <p:spPr>
          <a:xfrm>
            <a:off x="1123920" y="708192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L1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8"/>
          <p:cNvSpPr/>
          <p:nvPr/>
        </p:nvSpPr>
        <p:spPr>
          <a:xfrm>
            <a:off x="2168280" y="708192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創設者・私的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9"/>
          <p:cNvSpPr/>
          <p:nvPr/>
        </p:nvSpPr>
        <p:spPr>
          <a:xfrm>
            <a:off x="6307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0"/>
          <p:cNvSpPr/>
          <p:nvPr/>
        </p:nvSpPr>
        <p:spPr>
          <a:xfrm>
            <a:off x="8233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¥1M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1"/>
          <p:cNvSpPr/>
          <p:nvPr/>
        </p:nvSpPr>
        <p:spPr>
          <a:xfrm>
            <a:off x="1047600" y="76456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2"/>
          <p:cNvSpPr/>
          <p:nvPr/>
        </p:nvSpPr>
        <p:spPr>
          <a:xfrm>
            <a:off x="1123920" y="73731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L2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3"/>
          <p:cNvSpPr/>
          <p:nvPr/>
        </p:nvSpPr>
        <p:spPr>
          <a:xfrm>
            <a:off x="2168280" y="73731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政府助成金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4"/>
          <p:cNvSpPr/>
          <p:nvPr/>
        </p:nvSpPr>
        <p:spPr>
          <a:xfrm>
            <a:off x="6307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¥5M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5"/>
          <p:cNvSpPr/>
          <p:nvPr/>
        </p:nvSpPr>
        <p:spPr>
          <a:xfrm>
            <a:off x="8233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¥80M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6"/>
          <p:cNvSpPr/>
          <p:nvPr/>
        </p:nvSpPr>
        <p:spPr>
          <a:xfrm>
            <a:off x="1047600" y="79372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7"/>
          <p:cNvSpPr/>
          <p:nvPr/>
        </p:nvSpPr>
        <p:spPr>
          <a:xfrm>
            <a:off x="1123920" y="76647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L3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8"/>
          <p:cNvSpPr/>
          <p:nvPr/>
        </p:nvSpPr>
        <p:spPr>
          <a:xfrm>
            <a:off x="2168280" y="76647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財団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9"/>
          <p:cNvSpPr/>
          <p:nvPr/>
        </p:nvSpPr>
        <p:spPr>
          <a:xfrm>
            <a:off x="6307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0"/>
          <p:cNvSpPr/>
          <p:nvPr/>
        </p:nvSpPr>
        <p:spPr>
          <a:xfrm>
            <a:off x="8233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¥20M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1"/>
          <p:cNvSpPr/>
          <p:nvPr/>
        </p:nvSpPr>
        <p:spPr>
          <a:xfrm>
            <a:off x="1047600" y="82285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2"/>
          <p:cNvSpPr/>
          <p:nvPr/>
        </p:nvSpPr>
        <p:spPr>
          <a:xfrm>
            <a:off x="1123920" y="79563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L4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3"/>
          <p:cNvSpPr/>
          <p:nvPr/>
        </p:nvSpPr>
        <p:spPr>
          <a:xfrm>
            <a:off x="2168280" y="79563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企業パートナー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4"/>
          <p:cNvSpPr/>
          <p:nvPr/>
        </p:nvSpPr>
        <p:spPr>
          <a:xfrm>
            <a:off x="6307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5"/>
          <p:cNvSpPr/>
          <p:nvPr/>
        </p:nvSpPr>
        <p:spPr>
          <a:xfrm>
            <a:off x="8233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¥30M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56"/>
          <p:cNvSpPr/>
          <p:nvPr/>
        </p:nvSpPr>
        <p:spPr>
          <a:xfrm>
            <a:off x="1047600" y="85201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57"/>
          <p:cNvSpPr/>
          <p:nvPr/>
        </p:nvSpPr>
        <p:spPr>
          <a:xfrm>
            <a:off x="1123920" y="824760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L5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8"/>
          <p:cNvSpPr/>
          <p:nvPr/>
        </p:nvSpPr>
        <p:spPr>
          <a:xfrm>
            <a:off x="2168280" y="824760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運営収益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9"/>
          <p:cNvSpPr/>
          <p:nvPr/>
        </p:nvSpPr>
        <p:spPr>
          <a:xfrm>
            <a:off x="6307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0"/>
          <p:cNvSpPr/>
          <p:nvPr/>
        </p:nvSpPr>
        <p:spPr>
          <a:xfrm>
            <a:off x="8233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1"/>
          <p:cNvSpPr/>
          <p:nvPr/>
        </p:nvSpPr>
        <p:spPr>
          <a:xfrm>
            <a:off x="1123920" y="853920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2"/>
          <p:cNvSpPr/>
          <p:nvPr/>
        </p:nvSpPr>
        <p:spPr>
          <a:xfrm>
            <a:off x="2168280" y="8539200"/>
            <a:ext cx="43221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概算合計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63"/>
          <p:cNvSpPr/>
          <p:nvPr/>
        </p:nvSpPr>
        <p:spPr>
          <a:xfrm>
            <a:off x="6307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¥11M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4"/>
          <p:cNvSpPr/>
          <p:nvPr/>
        </p:nvSpPr>
        <p:spPr>
          <a:xfrm>
            <a:off x="8233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A24"/>
                </a:solidFill>
                <a:effectLst/>
                <a:uFillTx/>
                <a:latin typeface="Courier New"/>
                <a:ea typeface="Courier New"/>
              </a:rPr>
              <a:t>¥134M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65"/>
          <p:cNvSpPr/>
          <p:nvPr/>
        </p:nvSpPr>
        <p:spPr>
          <a:xfrm>
            <a:off x="10683720" y="6356880"/>
            <a:ext cx="6752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六つの運営原則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6"/>
          <p:cNvSpPr/>
          <p:nvPr/>
        </p:nvSpPr>
        <p:spPr>
          <a:xfrm>
            <a:off x="1068372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I. 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地域第一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7"/>
          <p:cNvSpPr/>
          <p:nvPr/>
        </p:nvSpPr>
        <p:spPr>
          <a:xfrm>
            <a:off x="1409544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II. 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開放と透明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8"/>
          <p:cNvSpPr/>
          <p:nvPr/>
        </p:nvSpPr>
        <p:spPr>
          <a:xfrm>
            <a:off x="1068372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III. 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9"/>
          <p:cNvSpPr/>
          <p:nvPr/>
        </p:nvSpPr>
        <p:spPr>
          <a:xfrm>
            <a:off x="1409544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IV. 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複製可能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0"/>
          <p:cNvSpPr/>
          <p:nvPr/>
        </p:nvSpPr>
        <p:spPr>
          <a:xfrm>
            <a:off x="1068372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V. 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規模は控えめ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1"/>
          <p:cNvSpPr/>
          <p:nvPr/>
        </p:nvSpPr>
        <p:spPr>
          <a:xfrm>
            <a:off x="1409544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VI. </a:t>
            </a:r>
            <a:r>
              <a:rPr lang="zh-CN" sz="1800" b="0" u="none" strike="noStrike">
                <a:solidFill>
                  <a:srgbClr val="1F2A24"/>
                </a:solidFill>
                <a:effectLst/>
                <a:uFillTx/>
                <a:latin typeface="Noto Sans JP"/>
                <a:ea typeface="Noto Sans JP"/>
              </a:rPr>
              <a:t>非党派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72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10 /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73"/>
          <p:cNvSpPr/>
          <p:nvPr/>
        </p:nvSpPr>
        <p:spPr>
          <a:xfrm>
            <a:off x="13503240" y="9191520"/>
            <a:ext cx="3848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25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年の視野 </a:t>
            </a:r>
            <a:r>
              <a:rPr lang="en-US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&gt; </a:t>
            </a:r>
            <a:r>
              <a:rPr lang="zh-CN" sz="1800" b="0" u="none" spc="71" strike="noStrike">
                <a:solidFill>
                  <a:srgbClr val="4C554F"/>
                </a:solidFill>
                <a:effectLst/>
                <a:uFillTx/>
                <a:latin typeface="Noto Sans JP"/>
                <a:ea typeface="Noto Sans JP"/>
              </a:rPr>
              <a:t>一つの流行サイクル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4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1119600" y="798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pc="108" strike="noStrike">
                <a:solidFill>
                  <a:srgbClr val="2F4A37"/>
                </a:solidFill>
                <a:effectLst/>
                <a:uFillTx/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13964760" y="762120"/>
            <a:ext cx="3373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§ 10 · </a:t>
            </a:r>
            <a:r>
              <a:rPr lang="zh-CN" sz="1800" b="0" u="none" spc="108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十年単位で考える方へ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1047600" y="17690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あなたの時間軸が私たちと合うなら…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1047600" y="2331000"/>
            <a:ext cx="8324280" cy="57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6300" b="1" u="none" spc="-31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私たちが求めているのは、 忍耐強い資本、 率直なご批判、 そして数人の </a:t>
            </a:r>
            <a:r>
              <a:rPr lang="zh-CN" sz="6300" b="1" u="none" spc="-31" strike="noStrike">
                <a:solidFill>
                  <a:srgbClr val="F3B486"/>
                </a:solidFill>
                <a:effectLst/>
                <a:uFillTx/>
                <a:latin typeface="Noto Serif JP"/>
                <a:ea typeface="Noto Serif JP"/>
              </a:rPr>
              <a:t>良き隣人。</a:t>
            </a:r>
            <a:endParaRPr lang="en-U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9892440" y="1769040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いま助かるご支援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9718920" y="2235960"/>
            <a:ext cx="759672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ご紹介</a:t>
            </a: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農村に信頼のある日本人共同創設者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アドバイザー</a:t>
            </a: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林業、エッジ計算、日本の非営利法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第</a:t>
            </a: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1</a:t>
            </a:r>
            <a:r>
              <a:rPr lang="zh-CN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段階の忍耐強い出資者</a:t>
            </a: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(¥3–8M)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F3ECE0"/>
                </a:solidFill>
                <a:effectLst/>
                <a:uFillTx/>
                <a:latin typeface="Noto Sans JP"/>
                <a:ea typeface="Noto Sans JP"/>
              </a:rPr>
              <a:t>↳ 率直なご批判——論点のどこが間違っているか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9892440" y="405684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9892440" y="4276080"/>
            <a:ext cx="1618560" cy="16185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Image 0" descr="preencoded.png"/>
          <p:cNvPicPr/>
          <p:nvPr/>
        </p:nvPicPr>
        <p:blipFill>
          <a:blip r:embed="rId1"/>
          <a:stretch/>
        </p:blipFill>
        <p:spPr>
          <a:xfrm>
            <a:off x="9987480" y="4371480"/>
            <a:ext cx="142812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 10"/>
          <p:cNvSpPr/>
          <p:nvPr/>
        </p:nvSpPr>
        <p:spPr>
          <a:xfrm>
            <a:off x="11778120" y="43570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QR</a:t>
            </a: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コードでアクセス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1"/>
          <p:cNvSpPr/>
          <p:nvPr/>
        </p:nvSpPr>
        <p:spPr>
          <a:xfrm>
            <a:off x="11778120" y="47476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F3ECE0"/>
                </a:solidFill>
                <a:effectLst/>
                <a:uFillTx/>
                <a:latin typeface="Courier New"/>
                <a:ea typeface="Courier New"/>
              </a:rPr>
              <a:t>mitsue.it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11778120" y="5138280"/>
            <a:ext cx="5625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effectLst/>
                <a:uFillTx/>
                <a:latin typeface="Courier New"/>
                <a:ea typeface="Courier New"/>
              </a:rPr>
              <a:t>codeberg.org / YR-Design / mitsue-ai-data-center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11778120" y="5595480"/>
            <a:ext cx="56250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effectLst/>
                <a:uFillTx/>
                <a:latin typeface="Courier New"/>
                <a:ea typeface="Courier New"/>
              </a:rPr>
              <a:t>info@mitsue.it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4"/>
          <p:cNvSpPr/>
          <p:nvPr/>
        </p:nvSpPr>
        <p:spPr>
          <a:xfrm>
            <a:off x="9892440" y="612396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9892440" y="6305040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145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プロジェクトリード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9892440" y="6695280"/>
            <a:ext cx="7567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000" b="1" u="none" spc="-14" strike="noStrike">
                <a:solidFill>
                  <a:srgbClr val="F3ECE0"/>
                </a:solidFill>
                <a:effectLst/>
                <a:uFillTx/>
                <a:latin typeface="Noto Serif JP"/>
                <a:ea typeface="Noto Serif JP"/>
              </a:rPr>
              <a:t>Rob Oudendijk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9892440" y="711468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3ECE0">
                    <a:alpha val="80000"/>
                  </a:srgbClr>
                </a:solidFill>
                <a:effectLst/>
                <a:uFillTx/>
                <a:latin typeface="Noto Sans JP"/>
                <a:ea typeface="Noto Sans JP"/>
              </a:rPr>
              <a:t>YR-Design · Safecast · </a:t>
            </a:r>
            <a:r>
              <a:rPr lang="zh-CN" sz="1800" b="0" u="none" strike="noStrike">
                <a:solidFill>
                  <a:srgbClr val="F3ECE0">
                    <a:alpha val="80000"/>
                  </a:srgbClr>
                </a:solidFill>
                <a:effectLst/>
                <a:uFillTx/>
                <a:latin typeface="Noto Sans JP"/>
                <a:ea typeface="Noto Sans JP"/>
              </a:rPr>
              <a:t>奈良県御杖村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1047600" y="9191520"/>
            <a:ext cx="83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11 / 11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13171320" y="9191520"/>
            <a:ext cx="4190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ありがとうございました </a:t>
            </a:r>
            <a:r>
              <a:rPr lang="en-US" sz="1800" b="0" u="none" spc="71" strike="noStrike">
                <a:solidFill>
                  <a:srgbClr val="F3ECE0">
                    <a:alpha val="67000"/>
                  </a:srgbClr>
                </a:solidFill>
                <a:effectLst/>
                <a:uFillTx/>
                <a:latin typeface="Noto Sans JP"/>
                <a:ea typeface="Noto Sans JP"/>
              </a:rPr>
              <a:t>· Thank you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LibreOffice/26.2.3.2$Linux_X86_64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2026-05-27T12:46:48Z</dcterms:created>
  <dc:creator>PptxGenJS</dc:creator>
  <dc:description/>
  <dc:language>en-US</dc:language>
  <cp:lastModifiedBy/>
  <dcterms:modified xsi:type="dcterms:W3CDTF">2026-05-27T22:14:32Z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